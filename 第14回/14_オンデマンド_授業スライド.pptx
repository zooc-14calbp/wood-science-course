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104914eecd4b0f" /><Relationship Type="http://schemas.openxmlformats.org/officeDocument/2006/relationships/extended-properties" Target="/docProps/app.xml" Id="Re2e498157457436a" /><Relationship Type="http://schemas.openxmlformats.org/officeDocument/2006/relationships/officeDocument" Target="/ppt/presentation.xml" Id="R2a3440e385ae40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e3fe76dac44f48"/>
    <p:sldMasterId xmlns:r="http://schemas.openxmlformats.org/officeDocument/2006/relationships" id="2147483655" r:id="Rdb699089106c4ef1"/>
  </p:sldMasterIdLst>
  <p:notesMasterIdLst>
    <p:notesMasterId xmlns:r="http://schemas.openxmlformats.org/officeDocument/2006/relationships" r:id="R312e1a9368ea4455"/>
  </p:notesMasterIdLst>
  <p:sldIdLst>
    <p:sldId xmlns:r="http://schemas.openxmlformats.org/officeDocument/2006/relationships" id="256" r:id="Reb14d22fe5fc42e4"/>
    <p:sldId xmlns:r="http://schemas.openxmlformats.org/officeDocument/2006/relationships" id="257" r:id="R59f2bc32cfd74e68"/>
    <p:sldId xmlns:r="http://schemas.openxmlformats.org/officeDocument/2006/relationships" id="258" r:id="Ra48c31e5ff11484c"/>
    <p:sldId xmlns:r="http://schemas.openxmlformats.org/officeDocument/2006/relationships" id="259" r:id="R8f0cb37fb3c14fc1"/>
    <p:sldId xmlns:r="http://schemas.openxmlformats.org/officeDocument/2006/relationships" id="260" r:id="R9f73ce3eb8df4162"/>
    <p:sldId xmlns:r="http://schemas.openxmlformats.org/officeDocument/2006/relationships" id="261" r:id="R341c3ef10f3c4d32"/>
    <p:sldId xmlns:r="http://schemas.openxmlformats.org/officeDocument/2006/relationships" id="262" r:id="Rac58767986634560"/>
    <p:sldId xmlns:r="http://schemas.openxmlformats.org/officeDocument/2006/relationships" id="263" r:id="R502cd4847b294039"/>
    <p:sldId xmlns:r="http://schemas.openxmlformats.org/officeDocument/2006/relationships" id="264" r:id="Rd01dad5d77e84fb3"/>
    <p:sldId xmlns:r="http://schemas.openxmlformats.org/officeDocument/2006/relationships" id="265" r:id="R4e2ed09f04b04acd"/>
    <p:sldId xmlns:r="http://schemas.openxmlformats.org/officeDocument/2006/relationships" id="266" r:id="R5cb388c53da24d03"/>
    <p:sldId xmlns:r="http://schemas.openxmlformats.org/officeDocument/2006/relationships" id="267" r:id="R11a38f36495042db"/>
    <p:sldId xmlns:r="http://schemas.openxmlformats.org/officeDocument/2006/relationships" id="268" r:id="Rc2b369e29e7b4e5e"/>
    <p:sldId xmlns:r="http://schemas.openxmlformats.org/officeDocument/2006/relationships" id="269" r:id="Rb5e0071f7dab45d6"/>
    <p:sldId xmlns:r="http://schemas.openxmlformats.org/officeDocument/2006/relationships" id="270" r:id="R65065a0f44624351"/>
    <p:sldId xmlns:r="http://schemas.openxmlformats.org/officeDocument/2006/relationships" id="271" r:id="R2adfb515edcf461e"/>
    <p:sldId xmlns:r="http://schemas.openxmlformats.org/officeDocument/2006/relationships" id="272" r:id="Rde45f9ef56d64e72"/>
    <p:sldId xmlns:r="http://schemas.openxmlformats.org/officeDocument/2006/relationships" id="273" r:id="R8849ac0e79ad4f00"/>
    <p:sldId xmlns:r="http://schemas.openxmlformats.org/officeDocument/2006/relationships" id="274" r:id="R9da40c8bca2a430b"/>
    <p:sldId xmlns:r="http://schemas.openxmlformats.org/officeDocument/2006/relationships" id="275" r:id="R170e26d14688408b"/>
    <p:sldId xmlns:r="http://schemas.openxmlformats.org/officeDocument/2006/relationships" id="276" r:id="R2fe2c754e0b64614"/>
    <p:sldId xmlns:r="http://schemas.openxmlformats.org/officeDocument/2006/relationships" id="277" r:id="R116d3702fb294e0f"/>
    <p:sldId xmlns:r="http://schemas.openxmlformats.org/officeDocument/2006/relationships" id="278" r:id="Rbb05185826894df0"/>
    <p:sldId xmlns:r="http://schemas.openxmlformats.org/officeDocument/2006/relationships" id="279" r:id="Rf646f7eb2fa34a9d"/>
    <p:sldId xmlns:r="http://schemas.openxmlformats.org/officeDocument/2006/relationships" id="280" r:id="R2ed21539bb7243ce"/>
    <p:sldId xmlns:r="http://schemas.openxmlformats.org/officeDocument/2006/relationships" id="281" r:id="R5d55035f13c34880"/>
    <p:sldId xmlns:r="http://schemas.openxmlformats.org/officeDocument/2006/relationships" id="282" r:id="R63d1e70087974595"/>
    <p:sldId xmlns:r="http://schemas.openxmlformats.org/officeDocument/2006/relationships" id="283" r:id="Rfa2ebac166ba4178"/>
    <p:sldId xmlns:r="http://schemas.openxmlformats.org/officeDocument/2006/relationships" id="284" r:id="Rcf464ae713474a85"/>
    <p:sldId xmlns:r="http://schemas.openxmlformats.org/officeDocument/2006/relationships" id="285" r:id="R9c76d5bffca04272"/>
    <p:sldId xmlns:r="http://schemas.openxmlformats.org/officeDocument/2006/relationships" id="286" r:id="R97a8813f65c5481b"/>
    <p:sldId xmlns:r="http://schemas.openxmlformats.org/officeDocument/2006/relationships" id="287" r:id="Rc5f57cc59e8b4abb"/>
    <p:sldId xmlns:r="http://schemas.openxmlformats.org/officeDocument/2006/relationships" id="288" r:id="Rfc117a9ea97744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aa79c8f6a04f4f" /><Relationship Type="http://schemas.openxmlformats.org/officeDocument/2006/relationships/slideMaster" Target="/ppt/slideMasters/slideMaster1.xml" Id="R49e3fe76dac44f48" /><Relationship Type="http://schemas.openxmlformats.org/officeDocument/2006/relationships/slideMaster" Target="/ppt/slideMasters/slideMaster2.xml" Id="Rdb699089106c4ef1" /><Relationship Type="http://schemas.openxmlformats.org/officeDocument/2006/relationships/notesMaster" Target="/ppt/notesMasters/notesMaster1.xml" Id="R312e1a9368ea4455" /><Relationship Type="http://schemas.openxmlformats.org/officeDocument/2006/relationships/presProps" Target="/ppt/presProps.xml" Id="R90a2f79e0b4c4fba" /><Relationship Type="http://schemas.openxmlformats.org/officeDocument/2006/relationships/tableStyles" Target="/ppt/tableStyles.xml" Id="R2818e7287a4d40d9" /><Relationship Type="http://schemas.openxmlformats.org/officeDocument/2006/relationships/slide" Target="/ppt/slides/slide1.xml" Id="Reb14d22fe5fc42e4" /><Relationship Type="http://schemas.openxmlformats.org/officeDocument/2006/relationships/slide" Target="/ppt/slides/slide2.xml" Id="R59f2bc32cfd74e68" /><Relationship Type="http://schemas.openxmlformats.org/officeDocument/2006/relationships/slide" Target="/ppt/slides/slide3.xml" Id="Ra48c31e5ff11484c" /><Relationship Type="http://schemas.openxmlformats.org/officeDocument/2006/relationships/slide" Target="/ppt/slides/slide4.xml" Id="R8f0cb37fb3c14fc1" /><Relationship Type="http://schemas.openxmlformats.org/officeDocument/2006/relationships/slide" Target="/ppt/slides/slide5.xml" Id="R9f73ce3eb8df4162" /><Relationship Type="http://schemas.openxmlformats.org/officeDocument/2006/relationships/slide" Target="/ppt/slides/slide6.xml" Id="R341c3ef10f3c4d32" /><Relationship Type="http://schemas.openxmlformats.org/officeDocument/2006/relationships/slide" Target="/ppt/slides/slide7.xml" Id="Rac58767986634560" /><Relationship Type="http://schemas.openxmlformats.org/officeDocument/2006/relationships/slide" Target="/ppt/slides/slide8.xml" Id="R502cd4847b294039" /><Relationship Type="http://schemas.openxmlformats.org/officeDocument/2006/relationships/slide" Target="/ppt/slides/slide9.xml" Id="Rd01dad5d77e84fb3" /><Relationship Type="http://schemas.openxmlformats.org/officeDocument/2006/relationships/slide" Target="/ppt/slides/slide10.xml" Id="R4e2ed09f04b04acd" /><Relationship Type="http://schemas.openxmlformats.org/officeDocument/2006/relationships/slide" Target="/ppt/slides/slide11.xml" Id="R5cb388c53da24d03" /><Relationship Type="http://schemas.openxmlformats.org/officeDocument/2006/relationships/slide" Target="/ppt/slides/slide12.xml" Id="R11a38f36495042db" /><Relationship Type="http://schemas.openxmlformats.org/officeDocument/2006/relationships/slide" Target="/ppt/slides/slide13.xml" Id="Rc2b369e29e7b4e5e" /><Relationship Type="http://schemas.openxmlformats.org/officeDocument/2006/relationships/slide" Target="/ppt/slides/slide14.xml" Id="Rb5e0071f7dab45d6" /><Relationship Type="http://schemas.openxmlformats.org/officeDocument/2006/relationships/slide" Target="/ppt/slides/slide15.xml" Id="R65065a0f44624351" /><Relationship Type="http://schemas.openxmlformats.org/officeDocument/2006/relationships/slide" Target="/ppt/slides/slide16.xml" Id="R2adfb515edcf461e" /><Relationship Type="http://schemas.openxmlformats.org/officeDocument/2006/relationships/slide" Target="/ppt/slides/slide17.xml" Id="Rde45f9ef56d64e72" /><Relationship Type="http://schemas.openxmlformats.org/officeDocument/2006/relationships/slide" Target="/ppt/slides/slide18.xml" Id="R8849ac0e79ad4f00" /><Relationship Type="http://schemas.openxmlformats.org/officeDocument/2006/relationships/slide" Target="/ppt/slides/slide19.xml" Id="R9da40c8bca2a430b" /><Relationship Type="http://schemas.openxmlformats.org/officeDocument/2006/relationships/slide" Target="/ppt/slides/slide20.xml" Id="R170e26d14688408b" /><Relationship Type="http://schemas.openxmlformats.org/officeDocument/2006/relationships/slide" Target="/ppt/slides/slide21.xml" Id="R2fe2c754e0b64614" /><Relationship Type="http://schemas.openxmlformats.org/officeDocument/2006/relationships/slide" Target="/ppt/slides/slide22.xml" Id="R116d3702fb294e0f" /><Relationship Type="http://schemas.openxmlformats.org/officeDocument/2006/relationships/slide" Target="/ppt/slides/slide23.xml" Id="Rbb05185826894df0" /><Relationship Type="http://schemas.openxmlformats.org/officeDocument/2006/relationships/slide" Target="/ppt/slides/slide24.xml" Id="Rf646f7eb2fa34a9d" /><Relationship Type="http://schemas.openxmlformats.org/officeDocument/2006/relationships/slide" Target="/ppt/slides/slide25.xml" Id="R2ed21539bb7243ce" /><Relationship Type="http://schemas.openxmlformats.org/officeDocument/2006/relationships/slide" Target="/ppt/slides/slide26.xml" Id="R5d55035f13c34880" /><Relationship Type="http://schemas.openxmlformats.org/officeDocument/2006/relationships/slide" Target="/ppt/slides/slide27.xml" Id="R63d1e70087974595" /><Relationship Type="http://schemas.openxmlformats.org/officeDocument/2006/relationships/slide" Target="/ppt/slides/slide28.xml" Id="Rfa2ebac166ba4178" /><Relationship Type="http://schemas.openxmlformats.org/officeDocument/2006/relationships/slide" Target="/ppt/slides/slide29.xml" Id="Rcf464ae713474a85" /><Relationship Type="http://schemas.openxmlformats.org/officeDocument/2006/relationships/slide" Target="/ppt/slides/slide30.xml" Id="R9c76d5bffca04272" /><Relationship Type="http://schemas.openxmlformats.org/officeDocument/2006/relationships/slide" Target="/ppt/slides/slide31.xml" Id="R97a8813f65c5481b" /><Relationship Type="http://schemas.openxmlformats.org/officeDocument/2006/relationships/slide" Target="/ppt/slides/slide32.xml" Id="Rc5f57cc59e8b4abb" /><Relationship Type="http://schemas.openxmlformats.org/officeDocument/2006/relationships/slide" Target="/ppt/slides/slide33.xml" Id="Rfc117a9ea97744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8a80e95b67949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042f54b8ac44f0" /><Relationship Type="http://schemas.openxmlformats.org/officeDocument/2006/relationships/notesMaster" Target="/ppt/notesMasters/notesMaster1.xml" Id="R57e996c1de3645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f372b312644027" /><Relationship Type="http://schemas.openxmlformats.org/officeDocument/2006/relationships/notesMaster" Target="/ppt/notesMasters/notesMaster1.xml" Id="R8dd337270dc74d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91b0ff71cc48e4" /><Relationship Type="http://schemas.openxmlformats.org/officeDocument/2006/relationships/notesMaster" Target="/ppt/notesMasters/notesMaster1.xml" Id="R46be4465af6045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6d1e05dd534573" /><Relationship Type="http://schemas.openxmlformats.org/officeDocument/2006/relationships/notesMaster" Target="/ppt/notesMasters/notesMaster1.xml" Id="Rfc8e261cf50841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f6f0463d0d4353" /><Relationship Type="http://schemas.openxmlformats.org/officeDocument/2006/relationships/notesMaster" Target="/ppt/notesMasters/notesMaster1.xml" Id="R6b5c37fa153e4c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756e3e8936494d" /><Relationship Type="http://schemas.openxmlformats.org/officeDocument/2006/relationships/notesMaster" Target="/ppt/notesMasters/notesMaster1.xml" Id="R93690224515e49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2bc0ade47648e9" /><Relationship Type="http://schemas.openxmlformats.org/officeDocument/2006/relationships/notesMaster" Target="/ppt/notesMasters/notesMaster1.xml" Id="R39fb2cbff53140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dba46ed6dc44ea" /><Relationship Type="http://schemas.openxmlformats.org/officeDocument/2006/relationships/notesMaster" Target="/ppt/notesMasters/notesMaster1.xml" Id="Rf0dfb804d8554c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d393d131df9441e" /><Relationship Type="http://schemas.openxmlformats.org/officeDocument/2006/relationships/notesMaster" Target="/ppt/notesMasters/notesMaster1.xml" Id="Rb140cc322b1c47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eafbc0f7774943" /><Relationship Type="http://schemas.openxmlformats.org/officeDocument/2006/relationships/notesMaster" Target="/ppt/notesMasters/notesMaster1.xml" Id="Rfb56e0031c8043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2ad871b56f40bc" /><Relationship Type="http://schemas.openxmlformats.org/officeDocument/2006/relationships/notesMaster" Target="/ppt/notesMasters/notesMaster1.xml" Id="R4de108de061a48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dd3b82fcc54fd2" /><Relationship Type="http://schemas.openxmlformats.org/officeDocument/2006/relationships/notesMaster" Target="/ppt/notesMasters/notesMaster1.xml" Id="R775b0ef832144d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a82d4f54184eef" /><Relationship Type="http://schemas.openxmlformats.org/officeDocument/2006/relationships/notesMaster" Target="/ppt/notesMasters/notesMaster1.xml" Id="R0b3c00c6159546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bd085b36f04ca9" /><Relationship Type="http://schemas.openxmlformats.org/officeDocument/2006/relationships/notesMaster" Target="/ppt/notesMasters/notesMaster1.xml" Id="R31b4e45e72ba4d3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e36b30ea9147b7" /><Relationship Type="http://schemas.openxmlformats.org/officeDocument/2006/relationships/notesMaster" Target="/ppt/notesMasters/notesMaster1.xml" Id="R78aee0a7217143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f876701d714392" /><Relationship Type="http://schemas.openxmlformats.org/officeDocument/2006/relationships/notesMaster" Target="/ppt/notesMasters/notesMaster1.xml" Id="R19ef8f7e565143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ee289c7d1f4f77" /><Relationship Type="http://schemas.openxmlformats.org/officeDocument/2006/relationships/notesMaster" Target="/ppt/notesMasters/notesMaster1.xml" Id="R8c243c0273ff44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413dc497b34e7a" /><Relationship Type="http://schemas.openxmlformats.org/officeDocument/2006/relationships/notesMaster" Target="/ppt/notesMasters/notesMaster1.xml" Id="R3ed39d35c7d74f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0ead4ce41e4341" /><Relationship Type="http://schemas.openxmlformats.org/officeDocument/2006/relationships/notesMaster" Target="/ppt/notesMasters/notesMaster1.xml" Id="R8cec35047e0243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e6414a6f104a66" /><Relationship Type="http://schemas.openxmlformats.org/officeDocument/2006/relationships/notesMaster" Target="/ppt/notesMasters/notesMaster1.xml" Id="R495e251dc5484a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a76fde91054ac5" /><Relationship Type="http://schemas.openxmlformats.org/officeDocument/2006/relationships/notesMaster" Target="/ppt/notesMasters/notesMaster1.xml" Id="R036c37f159fa420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70ef4d86a24282" /><Relationship Type="http://schemas.openxmlformats.org/officeDocument/2006/relationships/notesMaster" Target="/ppt/notesMasters/notesMaster1.xml" Id="R6a3d76646857477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6967313ac0b445f" /><Relationship Type="http://schemas.openxmlformats.org/officeDocument/2006/relationships/notesMaster" Target="/ppt/notesMasters/notesMaster1.xml" Id="R7a036a96c263472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5a83abaeab24bea" /><Relationship Type="http://schemas.openxmlformats.org/officeDocument/2006/relationships/notesMaster" Target="/ppt/notesMasters/notesMaster1.xml" Id="R668e8c83a67a456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a53b6bdd3144745" /><Relationship Type="http://schemas.openxmlformats.org/officeDocument/2006/relationships/notesMaster" Target="/ppt/notesMasters/notesMaster1.xml" Id="R652b1fe5249140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172ee3c745f4d4d" /><Relationship Type="http://schemas.openxmlformats.org/officeDocument/2006/relationships/notesMaster" Target="/ppt/notesMasters/notesMaster1.xml" Id="R240691ffdf2a4a1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bc23d902df44c3" /><Relationship Type="http://schemas.openxmlformats.org/officeDocument/2006/relationships/notesMaster" Target="/ppt/notesMasters/notesMaster1.xml" Id="R9a7e5e359d6046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613e3a48834080" /><Relationship Type="http://schemas.openxmlformats.org/officeDocument/2006/relationships/notesMaster" Target="/ppt/notesMasters/notesMaster1.xml" Id="R73617ce36fb94a3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1e1c4d27dd54382" /><Relationship Type="http://schemas.openxmlformats.org/officeDocument/2006/relationships/notesMaster" Target="/ppt/notesMasters/notesMaster1.xml" Id="R7e6afa73e9d0478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f698b7928d5425b" /><Relationship Type="http://schemas.openxmlformats.org/officeDocument/2006/relationships/notesMaster" Target="/ppt/notesMasters/notesMaster1.xml" Id="Re9779259aeb0447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e69efaede2f4a56" /><Relationship Type="http://schemas.openxmlformats.org/officeDocument/2006/relationships/notesMaster" Target="/ppt/notesMasters/notesMaster1.xml" Id="R97b7d0cc401947c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f161e3b30ca4b12" /><Relationship Type="http://schemas.openxmlformats.org/officeDocument/2006/relationships/notesMaster" Target="/ppt/notesMasters/notesMaster1.xml" Id="R7bc6ee0c75314b3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3240030fd604f4a" /><Relationship Type="http://schemas.openxmlformats.org/officeDocument/2006/relationships/notesMaster" Target="/ppt/notesMasters/notesMaster1.xml" Id="R3c56b4d850ae42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皆さん、こんにちは。木材及び木質材料学、第十四回です。前回までに、木材の構造、水分、力、接着、木質材料の構成を学びました。今回は、用途を決めて材料を選び、加工、接合、使用中の保守まで考えます。ノートと電卓を用意してください。計算だけで採用案が決まるのか、計算で分からないことは何かを、区別して進めます。途中には自己確認と解説、短い休憩を設けます。無音の区間では画面上部の残り時間を確認し、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れまでに学んだ内容を、実際に使う一つの部材へ集めます。無垢材と、合板やボード類を比べるとき、材料名の印象から順位を付けるのではなく、同じ仕事をする候補として比べます。荷重、寸法、支持、水分、加工設備を先に指定してください。棚板を支える方法が違えば、同じ材料でもたわみは変わります。室内に置く棚にも、水拭きやこぼれ水という条件があります。使う条件を具体的に書くことが、比較の出発点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の柱は三つです。一つ目は、何を満たせば使えるかという要求条件です。二つ目は、構造や繊維方向が加工と接合へどう関わるかです。三つ目は、比較した結果をどのような理由で材料選択へ結び付けるかです。曲げ剛性の計算をしますが、計算値が小さい案をそのまま唯一の正解にはしません。たわみ、重さ、加工、接合、水分、保守の条件を並べて、満たすものと、まだ確認していないものを分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持ち運ぶ小物棚を例に、用途・荷重と寸法・水分・加工と接合・保守の五つの欄を作り、条件を一つずつ書い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解説します。置く物、荷重と支持、水拭き、工具とねじ位置、修理や交換などを指定します。未定の値は勝手に実測値とせず、仮定または要確認とします。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条件を五つに分けて整理します。用途では、置く物と位置、使う期間を決めます。荷重と寸法では、力の大きさ、支点間距離、幅と高さ、支持方法を記録します。環境には雨だけでなく湿度変動と乾きやすさも含めます。加工と接合では、使える工具、作業時間、経験、ねじを留める場所を考えます。最後に、点検、修理、交換、再利用を加えます。全ての条件を一つの数値に置き換える必要はありません。必ず満たす条件と、案を比べる観点を分けておくと判断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必ず満たす要求を二つ、候補同士を比べたい観点を二つ選び、それらが異なる理由を書いてください。考える時間の間は画面上部に残り時間を表示します。必要なら一時停止してください。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解説します。例えば所定の荷重を支えることは要求です。その要求を満たす案の中で、軽さや加工のしやすさを比べることができます。どの条件を優先したかを明記します。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図は、両端で単純に支持した部材の中央へ、一つの集中荷重を加えるモデルです。支点間距離をエル、荷重をエフとします。材料のヤング率イーだけでなく、断面二次モーメントのアイがたわみへ関わります。断面の幅と高さをどの向きに測るかを、図へ書き加えてください。ここでは、小変形と線形弾性を仮定した曲げのモデルを使います。接合部のすべりや、せん断変形、実際の製品のばらつきまで、この一つの式で全て扱うわけ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央のたわみは、荷重掛ける支点間距離の三乗を、四十八掛けるヤング率掛ける断面二次モーメントで割ります。長方形の断面二次モーメントは、幅掛ける高さの三乗を十二で割ります。荷重と支点間距離が同じなら、イーアイが大きいほどたわみは小さくなります。高さが三乗で効くため、材料のイーだけでは比較できません。ニュートン、ミリメートル、ニュートン毎平方ミリメートルを使えば、たわみはミリメートルに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加工の向きを、繊維方向との関係で見ます。縦挽きと横挽きは、刃が切り進む向きと繊維方向の関係が異なります。かんな掛けでは、繊維の傾きと切削方向によって逆目が生じることがあります。木口と側面、節の周囲と通直な部分を、一律に同じ条件で削れるとは考えません。試し削りを記録するなら、どの面か、どちらへ刃を進めたか、水分と刃の状態を添えます。仕上がりが悪かった理由を、材の種類だけへ帰属させず、局所の繊維と加工条件を確かめましょ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じ樹種なのに、かんな掛けの仕上がりが違ったとします。原因を決める前に記録する条件を四つ挙げ、比較方法を書い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解説します。面、局所の繊維の傾き、切削方向、水分、刃と工具の状態などを記録します。条件を一つずつそろえて比べ、樹種のせいと即断しません。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の数値は、特定の製品の保証値ではなく、比較のためのモデル値です。候補エーは厚さ十五ミリメートル、曲げのヤング率一万メガパスカル。候補ビーは厚さ十八ミリメートル、ヤング率五千メガパスカルです。幅は共に八十ミリメートル、支点間距離は六百ミリメートル、中央荷重は百ニュートンとします。用途は屋内の小物棚です。ヤング率だけならエーが二倍ですが、ビーは厚いという違いがあります。この二つの違いを、イーアイでまとめて比較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ここで短い休憩を入れます。画面から目を離して、姿勢を変えましょう。肩を軽く上げて下ろす、手を開いて閉じるなど、できる範囲で構いません。動作は任意です。再開するときには、声を掛けます。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それでは、再開します。自己確認　計算前の単位へ進みます。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モデルの幅・厚さ・支点間距離・荷重・Eを表に整理し、IとEI、たわみの単位を説明してください。考える時間の間は画面上部に残り時間を表示します。必要なら一時停止してください。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解説します。長さはミリメートル、力はニュートン、Eはメガパスカル、すなわちニュートン毎平方ミリメートルです。Iは長さの四乗、EIは力掛ける長さの二乗、たわみは長さになります。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習です。まず幅掛ける高さの三乗を十二で割り、二つの断面二次モーメントを求めてください。次に、それぞれへヤング率を掛けて曲げ剛性を求めます。共通の荷重と支点間距離を使い、中央たわみも計算してください。ヤング率はメガパスカル、長さはミリメートル、荷重はニュートンへそろえます。式と単位を残し、たわみが小さい候補を示します。最後に、実際の採用に足りない情報を二つ挙げてください。計算する時間の後に解説へ進み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説です。エーの断面二次モーメントは、八十掛ける十五の三乗を十二で割って、二万二千五百、単位はミリメートルの四乗です。ビーは三万八千八百八十です。ヤング率を掛けると、エーの曲げ剛性は二億二千五百万、ビーは一億九千四百四十万、単位はニュートン掛ける平方ミリメートルです。中央たわみはエーが二点零零ミリメートル、ビーが約二点三一ミリメートルです。ビーは断面の効果で差を縮めましたが、この条件ではエーの方がたわみにくい結果です。実物では接合や湿潤条件、製品の試験方向も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合部は、部材に入った力を次の部材へ渡す場所です。ねじや釘には、横へずらそうとする力と、引き抜こうとする力などが作用します。どの向きの力を扱うかを先に図示してください。材端や縁に近い留付けでは割裂も問題になります。ねじ径、下穴、材厚、端や縁からの距離は、材料と製品の仕様を確かめます。接着なら、面の合い、表面、含水状態、圧締と硬化も必要です。接着剤を強いものに変えることだけで、接合の全てが決まるわけ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棚板から側板へ荷重が伝わる図を描き、ねじまたは接着を使う位置、作用する力、不足情報を記入してください。考える時間の間は画面上部に残り時間を表示します。必要なら一時停止してください。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解説します。接合へ横向きの力が入るのか、引抜きが関わるのかを図示します。材厚、留付け位置、ねじや接着の適用条件を確認し、模式図の寸法を施工仕様と混同しません。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図は接合条件を整理する模式図です。描いたねじの位置や寸法を、そのまま実施仕様として採用しないでください。部材の厚さ、材端と縁、ねじの位置、作用する力の矢印を対応させます。無垢材の幅方向の動きを拘束する場合と、合板やボードの端面へねじを留める場合では、確かめる性質が違います。材に合う下穴と留付け方法を、製品の情報や試験と結び付けます。図に未知の条件を残しておくと、追加で何を調べるべきかが具体的に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無垢材の幅方向を固定する場面と、ボード端面へねじを留める場面で、別に確認したいことを書いてください。考える時間の間は画面上部に残り時間を表示します。必要なら一時停止してください。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解説します。無垢材では水分による方向別の動きを考えます。ボードの端面では要素と層構成、ねじ保持や下穴などを製品ごとに確認します。どちらも水分と使用条件を添えます。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ここで短い休憩を入れます。画面から目を離して、姿勢を変えましょう。肩を軽く上げて下ろす、手を開いて閉じるなど、できる範囲で構いません。動作は任意です。再開するときには、声を掛けます。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それでは、再開します。環境への影響と使用期間へ進みます。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環境への影響を比べるときも、同じ仕事と使用期間をそろえます。材料の生産だけでなく、乾燥、接着、加工、輸送、使用と保守、廃棄まで考えます。材料が少なくても、短期間で交換するなら使用期間中の負担は変わります。修理や分解がしやすい接合を、製作の段階で考えておくことも大切です。ここでは、特定の材料の環境負荷の数値順位を出しません。木材だから全ての環境指標で必ず優位、という判断を避け、比較の範囲と条件を明記する練習を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少ない材料で短期間使う案と、修理して長く使う案を比べる場合、そろえる機能と調べる範囲を整理してください。考える時間の間は画面上部に残り時間を表示します。必要なら一時停止してください。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解説します。同じ荷重、用途、対象期間へそろえ、製造、輸送、交換、保守、使用後の処理まで比較範囲を明記します。材料量だけでは全体の環境負荷の順位を決められません。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物棚の採用案を考えます。無垢材、合板、パーティクルボードなどから、棚板と側板の候補を選んでください。棚板の支持と荷重、繊維や主軸方向、ねじを留める面、接合位置を図示します。まだ製品の数値がない場合には、仮定したことと、採用前に調べることを分けます。水拭きと持ち運び、修理も条件に加えましょう。採用理由だけでなく、どの条件ならその案を見送るかも書いてください。写真や提供データを使った紙上の比較で構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用案の解説です。一つの材料名を唯一の正答にする問題ではありません。指定した荷重と方向へ、使った物性値の条件が対応しているかを見ます。材料の厚さを変えると、ヤング率だけの順位と、曲げ剛性の順位は一致しないことがあります。また、軽いことや加工しやすいこと、接合の確かさ、水分への対応も別に評価します。採用を保留する情報が残ったと説明できることも、判断の一部です。条件が不足したまま、最も安い、最も強いという一語で即決しないように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内容を中学生の学習へ移すとき、まず持ち運ぶ小物棚という用途を提示します。軽さ、たわみ、接合の三つの観点で、満たす条件と満たさない条件を表にします。その後に水拭きや修理という条件を一つ加え、採用案を見直させます。評価するのは最終的な材料名だけではありません。何の条件が変わり、どの根拠で案を変えたかが分かる説明を集めます。設計、製作、評価と改善という技術科の学習へ、木材科学の根拠を結び付ける考え方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小物棚の案に、水拭きと部品交換という条件を加えます。変更する点と、その根拠を二つずつ書いてください。考える時間の間は画面上部に残り時間を表示します。必要なら一時停止してください。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解説します。水の入口や乾く経路、表面仕上げと接合、交換できる部材を見直せます。同じ結論でも、追加した条件に根拠が対応するかを確かめます。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ここで短い休憩を入れます。画面から目を離して、姿勢を変えましょう。肩を軽く上げて下ろす、手を開いて閉じるなど、できる範囲で構いません。動作は任意です。再開するときには、声を掛けます。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それでは、再開します。確認問題へ進みます。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問題です。第一に、材料を比べる前に決める条件を三つ書いてください。第二に、ヤング率が半分なら、必ずたわみが二倍になると言えるか、式と条件で説明します。第三に、接着剤の名前だけで接合性能を保証できるかを答えます。三つとも結論に理由を添えてください。答えに迷う場合は、比較モデルと接合の画面を見直して構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用途、荷重、寸法、支持、水分などを指定します。Eが半分ならたわみが二倍になるのは、Iと荷重、支点間距離などを同じにしたモデルの場合です。接着剤名のほか、材、面、水分、圧締、硬化、使用条件も必要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日の要点を整理します。構造や方向、水分という材料の性質は、加工と使用の条件を通して製品の働きへつながります。たわみを比較するときは、材料のヤング率と断面の効果を分け、荷重と支点間距離をそろえました。接合と保守も採用条件に含めました。データと観察を一緒に使い、何が分かり、何がまだ分からないかを説明してください。次回は、この選択の考え方を、中学校の指導計画へ統合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回へ向けた準備です。中学校の五十分の授業で、材料選択のどの理解を確かめたいかを一つ選んでください。学習目標、生徒が比べる活動、生徒の提出物、達成を見分ける基準をメモします。使う写真、試料、提供データと、そろえる比較条件も書きます。五十分で材料の全てを説明する必要はありません。今日の採用案を、生徒が自分で根拠を確かめられる活動へ変えていきます。このメモは次回の課題エーフォーの授業構想に使え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次回へ向け、学習目標一文、比較活動、提出物、達成基準を同じ理解にそろえて書いてください。考える時間の間は画面上部に残り時間を表示します。必要なら一時停止してください。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>解説します。例えば、同じ条件で二案のたわみを比べ、結果で向きを選べることを目標にします。比較表と理由付きの図を集め、その理由が結果へ対応するかを基準にできます。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を案内します。ウッドハンドブックの第五章は力学的な性質、第八章は接合、第十章は接着を調べる入口です。式を使うときは、その式が想定する荷重、支持、変形の範囲も確かめます。数値だけを抜き出さず、方向と含水状態、試験方法を添えてください。講義で使ったモデル値を、実際の製品の保証値として引用しないことも確認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調べ学習では、学習指導要領解説と出版社の公開指導計画を使い、材料の特性、設計と製作、評価と改善のどこへ活動を位置付けるかを確かめます。公開資料による関連付けと、教科書本文の全体照合は区別しています。教材を選んだら、出典、該当箇所、閲覧日を残しましょう。専門用語を増やすことより、比較する条件と説明の根拠を、生徒にどう確かめさせるかを考えます。第十四回はここまで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自己確認の解説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参照</a:t>
            </a:r>
          </a:p>
          <a:p xmlns:a="http://schemas.openxmlformats.org/drawingml/2006/main">
            <a:r>
              <a:t>USDA Wood Handbook 2021 第5章 https://research.fs.usda.gov/treesearch/62244</a:t>
            </a:r>
          </a:p>
          <a:p xmlns:a="http://schemas.openxmlformats.org/drawingml/2006/main">
            <a:r>
              <a:t>USDA Wood Handbook 2021 第8章 https://research.fs.usda.gov/treesearch/62253</a:t>
            </a:r>
          </a:p>
          <a:p xmlns:a="http://schemas.openxmlformats.org/drawingml/2006/main">
            <a:r>
              <a:t>USDA Wood Handbook 2021 第10章 https://research.fs.usda.gov/treesearch/62250</a:t>
            </a:r>
          </a:p>
          <a:p xmlns:a="http://schemas.openxmlformats.org/drawingml/2006/main">
            <a:r>
              <a:t>文部科学省 中学校学習指導要領解説 技術・家庭編 https://www.mext.go.jp/component/a_menu/education/micro_detail/__icsFiles/afieldfile/2019/03/18/1387018_009.pdf</a:t>
            </a:r>
          </a:p>
          <a:p xmlns:a="http://schemas.openxmlformats.org/drawingml/2006/main">
            <a:r>
              <a:t>東京書籍 R7年間指導計画 https://ten.tokyo-shoseki.co.jp/text/chu/gijutsu/download/documents/R7gijutsu_keikaku.pdf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85cd3aa7e45b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2a32597384c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c6ddc387d4c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e3ccba13240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4395f7031240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ada8b276e425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a0bab48f954e0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efae20c9cd47e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1532c6734e4a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f2c1e72ff04c0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dab8a935d54ff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3ab203822b45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44828C-7EBE-410B-91F6-819B97F01A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598CCE-F6D2-4475-94EE-AC48375D23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7EE863-7A35-4A66-A422-6B16823E1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3EBA93-76A8-4B51-9CC9-AAEB2EC84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FE9519-7F81-40FE-A502-CA9D86DFCF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F82D4D-F8A0-477E-8BB1-4E460EAFB7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D119A29-27C8-48F7-AAD0-39F5FEA878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AB790B-3ACC-4B57-9443-23CD0AB582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827239-0661-4CD3-BE8C-1A5B1BFAA7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76520B-A6CB-4906-B8B2-7C0B64953C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f67440f2b94df0" /><Relationship Type="http://schemas.openxmlformats.org/officeDocument/2006/relationships/slideLayout" Target="/ppt/slideLayouts/slideLayout1.xml" Id="R981653f2b1b74a20" /><Relationship Type="http://schemas.openxmlformats.org/officeDocument/2006/relationships/slideLayout" Target="/ppt/slideLayouts/slideLayout2.xml" Id="R909a6058264e4815" /><Relationship Type="http://schemas.openxmlformats.org/officeDocument/2006/relationships/slideLayout" Target="/ppt/slideLayouts/slideLayout3.xml" Id="R2d066f0466194926" /><Relationship Type="http://schemas.openxmlformats.org/officeDocument/2006/relationships/slideLayout" Target="/ppt/slideLayouts/slideLayout4.xml" Id="Rd36063efe066448a" /><Relationship Type="http://schemas.openxmlformats.org/officeDocument/2006/relationships/slideLayout" Target="/ppt/slideLayouts/slideLayout5.xml" Id="R014fc1574c3c4e8d" /><Relationship Type="http://schemas.openxmlformats.org/officeDocument/2006/relationships/slideLayout" Target="/ppt/slideLayouts/slideLayout6.xml" Id="R392fb5b99a24495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d9d464a4f4b4273" /><Relationship Type="http://schemas.openxmlformats.org/officeDocument/2006/relationships/slideLayout" Target="/ppt/slideLayouts/slideLayout7.xml" Id="R9952fd823a9d461f" /><Relationship Type="http://schemas.openxmlformats.org/officeDocument/2006/relationships/slideLayout" Target="/ppt/slideLayouts/slideLayout8.xml" Id="R4dafe6d639c245f7" /><Relationship Type="http://schemas.openxmlformats.org/officeDocument/2006/relationships/slideLayout" Target="/ppt/slideLayouts/slideLayout9.xml" Id="R72d117e8b88d4a84" /><Relationship Type="http://schemas.openxmlformats.org/officeDocument/2006/relationships/slideLayout" Target="/ppt/slideLayouts/slideLayout10.xml" Id="Rf5591be3968e4502" /><Relationship Type="http://schemas.openxmlformats.org/officeDocument/2006/relationships/slideLayout" Target="/ppt/slideLayouts/slideLayout11.xml" Id="R0732d40857af47aa" /><Relationship Type="http://schemas.openxmlformats.org/officeDocument/2006/relationships/slideLayout" Target="/ppt/slideLayouts/slideLayout12.xml" Id="R1d18f7d518bc45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1653f2b1b74a20"/>
    <p:sldLayoutId xmlns:r="http://schemas.openxmlformats.org/officeDocument/2006/relationships" id="2147483650" r:id="R909a6058264e4815"/>
    <p:sldLayoutId xmlns:r="http://schemas.openxmlformats.org/officeDocument/2006/relationships" id="2147483651" r:id="R2d066f0466194926"/>
    <p:sldLayoutId xmlns:r="http://schemas.openxmlformats.org/officeDocument/2006/relationships" id="2147483652" r:id="Rd36063efe066448a"/>
    <p:sldLayoutId xmlns:r="http://schemas.openxmlformats.org/officeDocument/2006/relationships" id="2147483653" r:id="R014fc1574c3c4e8d"/>
    <p:sldLayoutId xmlns:r="http://schemas.openxmlformats.org/officeDocument/2006/relationships" id="2147483654" r:id="R392fb5b99a2449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9952fd823a9d461f"/>
    <p:sldLayoutId xmlns:r="http://schemas.openxmlformats.org/officeDocument/2006/relationships" id="2147483657" r:id="R4dafe6d639c245f7"/>
    <p:sldLayoutId xmlns:r="http://schemas.openxmlformats.org/officeDocument/2006/relationships" id="2147483658" r:id="R72d117e8b88d4a84"/>
    <p:sldLayoutId xmlns:r="http://schemas.openxmlformats.org/officeDocument/2006/relationships" id="2147483659" r:id="Rf5591be3968e4502"/>
    <p:sldLayoutId xmlns:r="http://schemas.openxmlformats.org/officeDocument/2006/relationships" id="2147483660" r:id="R0732d40857af47aa"/>
    <p:sldLayoutId xmlns:r="http://schemas.openxmlformats.org/officeDocument/2006/relationships" id="2147483661" r:id="R1d18f7d518bc45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542fc094924186" /><Relationship Type="http://schemas.openxmlformats.org/officeDocument/2006/relationships/notesSlide" Target="/ppt/notesSlides/notesSlide1.xml" Id="Rc3c17b00ffc94f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8f1d2735664b5f" /><Relationship Type="http://schemas.openxmlformats.org/officeDocument/2006/relationships/notesSlide" Target="/ppt/notesSlides/notesSlide2.xml" Id="Rc767b43a2bd64f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bb2bddc6f34032" /><Relationship Type="http://schemas.openxmlformats.org/officeDocument/2006/relationships/notesSlide" Target="/ppt/notesSlides/notesSlide3.xml" Id="R078b7fde15f348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93884bce714137" /><Relationship Type="http://schemas.openxmlformats.org/officeDocument/2006/relationships/notesSlide" Target="/ppt/notesSlides/notesSlide4.xml" Id="Ra758a610e72643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756fce785f49b3" /><Relationship Type="http://schemas.openxmlformats.org/officeDocument/2006/relationships/notesSlide" Target="/ppt/notesSlides/notesSlide5.xml" Id="R43411881363646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1e012bc254dfb" /><Relationship Type="http://schemas.openxmlformats.org/officeDocument/2006/relationships/notesSlide" Target="/ppt/notesSlides/notesSlide6.xml" Id="R641a90d1b6f44b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68ecf2a57249a8" /><Relationship Type="http://schemas.openxmlformats.org/officeDocument/2006/relationships/notesSlide" Target="/ppt/notesSlides/notesSlide7.xml" Id="R48d8226c698745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c203e2c19403d" /><Relationship Type="http://schemas.openxmlformats.org/officeDocument/2006/relationships/notesSlide" Target="/ppt/notesSlides/notesSlide8.xml" Id="Rfa9726107b9548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b2eb0c6be5415a" /><Relationship Type="http://schemas.openxmlformats.org/officeDocument/2006/relationships/notesSlide" Target="/ppt/notesSlides/notesSlide9.xml" Id="Rc4ed3d9165d541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3b02baadf4cab" /><Relationship Type="http://schemas.openxmlformats.org/officeDocument/2006/relationships/notesSlide" Target="/ppt/notesSlides/notesSlide10.xml" Id="Re6bf914ffa3542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636524ebba4905" /><Relationship Type="http://schemas.openxmlformats.org/officeDocument/2006/relationships/notesSlide" Target="/ppt/notesSlides/notesSlide11.xml" Id="Rb2c37127239f4e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c8534ef582429a" /><Relationship Type="http://schemas.openxmlformats.org/officeDocument/2006/relationships/notesSlide" Target="/ppt/notesSlides/notesSlide12.xml" Id="R391ee2a4e28148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306abec8a4f89" /><Relationship Type="http://schemas.openxmlformats.org/officeDocument/2006/relationships/notesSlide" Target="/ppt/notesSlides/notesSlide13.xml" Id="Re5a82dce17f64c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48b647616a4937" /><Relationship Type="http://schemas.openxmlformats.org/officeDocument/2006/relationships/notesSlide" Target="/ppt/notesSlides/notesSlide14.xml" Id="R19dcef6b99ee4b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eee297f7664911" /><Relationship Type="http://schemas.openxmlformats.org/officeDocument/2006/relationships/notesSlide" Target="/ppt/notesSlides/notesSlide15.xml" Id="R8c73b9f3df244de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d06682b0e6a4d74" /><Relationship Type="http://schemas.openxmlformats.org/officeDocument/2006/relationships/notesSlide" Target="/ppt/notesSlides/notesSlide16.xml" Id="R70cf0b48af8a46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44ca1fa9e4e85" /><Relationship Type="http://schemas.openxmlformats.org/officeDocument/2006/relationships/notesSlide" Target="/ppt/notesSlides/notesSlide17.xml" Id="R33ea41586f1f4e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5e9776711415a" /><Relationship Type="http://schemas.openxmlformats.org/officeDocument/2006/relationships/notesSlide" Target="/ppt/notesSlides/notesSlide18.xml" Id="R8257bf374a4f4f4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dc33792054f12" /><Relationship Type="http://schemas.openxmlformats.org/officeDocument/2006/relationships/notesSlide" Target="/ppt/notesSlides/notesSlide19.xml" Id="R8f0b4b58f7a540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645a472394c89" /><Relationship Type="http://schemas.openxmlformats.org/officeDocument/2006/relationships/notesSlide" Target="/ppt/notesSlides/notesSlide20.xml" Id="Rc47ba81405b5446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fcd2eee5df9412f" /><Relationship Type="http://schemas.openxmlformats.org/officeDocument/2006/relationships/notesSlide" Target="/ppt/notesSlides/notesSlide21.xml" Id="Rbf3f6e705d2e450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ae33178c3f4d3c" /><Relationship Type="http://schemas.openxmlformats.org/officeDocument/2006/relationships/notesSlide" Target="/ppt/notesSlides/notesSlide22.xml" Id="R6e345c462cca4c7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bb88885b44f15" /><Relationship Type="http://schemas.openxmlformats.org/officeDocument/2006/relationships/notesSlide" Target="/ppt/notesSlides/notesSlide23.xml" Id="Ra1b1db568992401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72ef23b2684ae7" /><Relationship Type="http://schemas.openxmlformats.org/officeDocument/2006/relationships/notesSlide" Target="/ppt/notesSlides/notesSlide24.xml" Id="R5181ca56e28241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e9d4157bc924264" /><Relationship Type="http://schemas.openxmlformats.org/officeDocument/2006/relationships/notesSlide" Target="/ppt/notesSlides/notesSlide25.xml" Id="R90cc53fe4d49475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69d0a40144bcf" /><Relationship Type="http://schemas.openxmlformats.org/officeDocument/2006/relationships/notesSlide" Target="/ppt/notesSlides/notesSlide26.xml" Id="R38dbd36233da441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c1c83250984c69" /><Relationship Type="http://schemas.openxmlformats.org/officeDocument/2006/relationships/notesSlide" Target="/ppt/notesSlides/notesSlide27.xml" Id="R42324f009c824c0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a410700464252" /><Relationship Type="http://schemas.openxmlformats.org/officeDocument/2006/relationships/notesSlide" Target="/ppt/notesSlides/notesSlide28.xml" Id="Rbec821fceb5d454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10abd3fa640fe" /><Relationship Type="http://schemas.openxmlformats.org/officeDocument/2006/relationships/notesSlide" Target="/ppt/notesSlides/notesSlide29.xml" Id="R378896308397440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1d5c618f0d43bf" /><Relationship Type="http://schemas.openxmlformats.org/officeDocument/2006/relationships/notesSlide" Target="/ppt/notesSlides/notesSlide30.xml" Id="R8879a8e42128444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d26a5837a04a10" /><Relationship Type="http://schemas.openxmlformats.org/officeDocument/2006/relationships/notesSlide" Target="/ppt/notesSlides/notesSlide31.xml" Id="Rdb8fd57e9ed6435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d245a0cfc4d43b1" /><Relationship Type="http://schemas.openxmlformats.org/officeDocument/2006/relationships/notesSlide" Target="/ppt/notesSlides/notesSlide32.xml" Id="Rbfaf94c4917e4e2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c849d5805ed4e8d" /><Relationship Type="http://schemas.openxmlformats.org/officeDocument/2006/relationships/notesSlide" Target="/ppt/notesSlides/notesSlide33.xml" Id="R383fd71ccf0d4c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1B2FC-8E00-4AD7-9269-7783BECD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第14回　加工と材料選択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D066A-5729-4DCA-962F-3F75BD28D3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F6BBC-2B93-4A3D-B176-20DD2F9D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ADD1F-6C92-42BB-83D8-E1284013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00D9B-831F-4C66-A6C4-1163498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木質材料の選択・加工・利用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E88BC-A16B-4000-9675-AEB5B93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無垢材と木質材料を、同じ機能・荷重・湿り方・加工設備・保守条件で比較して選ぶ。</a:t>
            </a:r>
          </a:p>
        </p:txBody>
      </p:sp>
    </p:spTree>
    <p:extLst>
      <p:ext uri="{BB962C8B-B14F-4D97-AF65-F5344CB8AC3E}">
        <p14:creationId xmlns:p14="http://schemas.microsoft.com/office/powerpoint/2010/main" val="6859703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8957E-BB57-4860-873B-8B590BA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62265-18E9-4915-86FD-3B9E9A3D43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DB40B-08E9-44E0-95B9-15155CD2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56CF2-E77C-43E1-A1AA-F3F4EE3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0208A-ADAB-43AD-8803-29C366C4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木材の構造と、木質材料の構成を学んだ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43D20-F03D-49C3-BD7E-2D1709EF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同じ用途・荷重・環境にそろえて比較する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3A493-A9A7-4A11-B124-E0416AC7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今回は、加工・接合と保守まで選択に含める</a:t>
            </a:r>
          </a:p>
        </p:txBody>
      </p:sp>
    </p:spTree>
    <p:extLst>
      <p:ext uri="{BB962C8B-B14F-4D97-AF65-F5344CB8AC3E}">
        <p14:creationId xmlns:p14="http://schemas.microsoft.com/office/powerpoint/2010/main" val="1532454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B9589-EBDC-45B5-9AF8-0023314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93CDF-6ABB-4F17-8107-BD3EC1CCF5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5F5F4-C67E-43DE-B1F4-855A6D6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58459-0C51-4B91-A75C-7779DB0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0EAD4-070D-4294-9717-2CEDF97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用途：何を、どの位置で、どのくらいの期間支えるか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6EB56-DEA0-4642-9CEF-F3B30BE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縦挽きと横挽きは、刃が切り進む向きと繊維方向の関係で区別する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18265-4502-4DC5-85E8-1CAB765D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同じ機能・荷重・使用期間で比較する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266E7-F389-49CF-AE5F-08F322F1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363651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E292B-DBD5-468D-9D36-2F9DE2CB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比較の出発点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20324C-6DD1-467B-B336-4F872F81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9EC3B-7213-4EA5-BF18-1009BF89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EF373-BE7A-41C8-A4CF-7A8826F2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B9CD7-156D-4DAC-A3B3-53A98ED0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持ち運ぶ小物棚を例に、用途・荷重と寸法・水分・加工と接合・保守の五つ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8B54A-45F3-4FA3-A56E-56393272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の欄を作り、条件を一つずつ書いてください。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2F035-D2F0-4D21-80A9-7FFED445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9328002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BEC9F-89B6-41D5-B778-971BEE20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材料選択の要求条件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1AB8D-3349-4B4F-8074-A9191DD972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EB1A0-B6A6-4992-AB1D-B45D5F9F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C78EE-304B-4AA4-A43F-BA94E39F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0B5F5-9E8C-47AF-845B-3939B423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用途：何を、どの位置で、どのくらいの期間支えるか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541E3-32EA-424C-8884-926A03F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荷重と寸法：重さ、支点間距離、幅、高さ、支持方法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8457F-FCB8-4984-8D53-39996659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環境：屋内外、水拭き、雨、湿度変動、乾燥しやすさ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1057A-FFA9-43BF-858A-42747186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加工と接合：使える工具、経験、作業時間、留付け位置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E9E24-08BB-40F2-A586-967EA562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保守と資源：点検、修理、交換、歩留まり、再利用</a:t>
            </a:r>
          </a:p>
        </p:txBody>
      </p:sp>
    </p:spTree>
    <p:extLst>
      <p:ext uri="{BB962C8B-B14F-4D97-AF65-F5344CB8AC3E}">
        <p14:creationId xmlns:p14="http://schemas.microsoft.com/office/powerpoint/2010/main" val="791576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4D3E6-0F4B-49B7-B24D-F551C47A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要求と比較の観点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89ABB-BE0A-433A-9594-3D02CFD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32EC5-E2A3-42E7-A5C6-C589FEE9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4534F-D007-43D5-B3C1-8CD90F10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A52CD-FEEF-4407-8AFC-7C57AFAF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必ず満たす要求を二つ、候補同士を比べたい観点を二つ選び、それらが異な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F007B-610E-4842-B2C9-7F03D436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る理由を書いてください。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D99F3-653E-4919-85DB-7B1E5A0D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2092449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A38A7-47ED-49CA-89D7-AA5AD89E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断面とEを含む材料比較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3D8A0-3436-4B7B-8C94-E5A23CE853B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8A9E7-FA94-4E79-BB9F-0DAEA388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E5460-A29A-40E1-93BA-257E2C8E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9FDA9-ECE0-4284-8902-3B1DB450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857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1"/>
          </a:solidFill>
          <a:ln xmlns:a="http://schemas.openxmlformats.org/drawingml/2006/main" w="14288">
            <a:solidFill>
              <a:srgbClr val="18364F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08FB2-482E-493A-B6B4-2A1DD0884CF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555A0-0C61-4847-978D-BEE1A83EA1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5005A-76FC-4377-A588-4EF2596F1A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" y="33337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1EF86-B6E2-429D-8A9D-463A4F8E414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6202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5EDD4-8DB3-4B46-8E2F-D6C08E5D6A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107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A30D2-EA5D-4A7C-827E-B4BE73B9DD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44050" y="33337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AF05B-5DBB-48E7-975A-3F164437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C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EC9A7-413D-4369-9CF9-35A2DFD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C98"/>
            </a:solidFill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0EFD5-2574-41DB-9B3F-E6DD3025D3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05950" y="35147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1BD55-6BFA-4CC5-882B-43F0311E239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24500" y="1857375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53D3D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B2930-7EC9-4BE8-AFB5-4178BD42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0500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rPr>
              <a:t>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68062B-4D16-443F-BA49-7BC753DE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814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C6A7D-C3C9-4A84-956F-D99AAEBB51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3705225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C78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4D793-D2C8-4178-BEA9-567A00C5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中央集中荷重・単純支持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90346-759C-4554-9C2D-6E83C33C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材料のEと、断面のIを分けて比較</a:t>
            </a:r>
          </a:p>
        </p:txBody>
      </p:sp>
    </p:spTree>
    <p:extLst>
      <p:ext uri="{BB962C8B-B14F-4D97-AF65-F5344CB8AC3E}">
        <p14:creationId xmlns:p14="http://schemas.microsoft.com/office/powerpoint/2010/main" val="699252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0233B-547E-40B0-9D57-3911C978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中央たわみの比較に使う式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191BE-A1D7-4E08-BB37-15FE268E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903CE-3995-43D3-9279-C972DB45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F36E9-D1EA-4954-8C4E-42E2167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BD029-1649-4FC0-AB1C-F305E134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δ = FL³ / (48EI)　単純支持・中央集中荷重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540CC-F11B-42B1-9050-AC476CFC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 = bh³ / 12　長方形断面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FAADF-CE78-4E4C-B8D1-2B7D70F6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E：N/mm²（MPa）　I：mm⁴　EI：N·mm²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1000C-57CF-4789-9114-D550021C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FとLが同じなら、δはEIに反比例する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E0143-21A4-43E0-9919-02247D87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小変形・線形弾性の曲げモデル。製品の保証値ではない。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4766216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C84B1-4276-4C62-A267-55D3C585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加工方向と繊維の向き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6C91C-4EEA-4842-8D39-4094CB93D3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EBA0B-090B-4BFD-BD1B-8C316A43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79D15-DC51-457C-B0C9-2133642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1B584-0372-479F-8866-4EF63392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縦挽きと横挽きは、刃が切り進む向きと繊維方向の関係で区別する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588B5-620B-432F-9960-5E7FA36F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かんな掛けでは、繊維の傾きと切削方向により逆目が生じうる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13952-F344-4DBC-97F5-CCD05B67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木口では繊維を横切るため、側面とは切削の条件が変わる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F42D0-E269-4ED7-8BBA-FB8C01FB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節や目切れの部分では、局所の繊維方向と仕上がりも確認する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502CE-27B2-4C96-989D-582EAF15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試し削りの記録には、面・切削方向・水分・刃の状態を添える</a:t>
            </a:r>
          </a:p>
        </p:txBody>
      </p:sp>
    </p:spTree>
    <p:extLst>
      <p:ext uri="{BB962C8B-B14F-4D97-AF65-F5344CB8AC3E}">
        <p14:creationId xmlns:p14="http://schemas.microsoft.com/office/powerpoint/2010/main" val="6136673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B91A2-DED6-4189-BE45-8E58DEC6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加工結果の記録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5F921-8A44-4817-91BF-43F15848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E4BB7-0595-42C3-A373-E913D57C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1ADF8-22D7-4F1B-8013-3C637048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B0C9F-0F15-4074-B536-4AD6EFB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同じ樹種なのに、かんな掛けの仕上がりが違ったとします。原因を決める前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FF3DB-A15C-455A-B12C-EA360CF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に記録する条件を四つ挙げ、比較方法を書いてください。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6942F-6502-4AA4-9EAB-AA48B7B3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0007261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A6CED-9B54-4B6B-AF07-8FC3C803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E91C1-AA8C-464D-83E1-F2F265AB6D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67B49-8493-4832-9E91-E3B44D77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1DAEA-441B-4E5F-AAB8-E89CC3CA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0871B-D1D2-4AD3-8563-2302EF6E4B6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候補のモデル値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厚さ /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曲げE / MPa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10,000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5,000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幅80、長さ600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中央100 N・単純支持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屋内の小物棚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水拭きと接合条件も確認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1174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1B7C9-6624-4C4A-9925-84FDA73B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2A2A6-3B55-4194-8EBD-9AEB4578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C34D63-3035-4DD7-9202-AA9569D1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8EB99-E1CD-4809-ABAE-A39C2D1A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BA3EB-FF1D-4316-AA1D-4E918FE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FC07D-DADD-4B70-8783-F0E14E00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肩を軽く上げて下ろす。手を開いて閉じる。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CB08E-1760-42A8-9122-A064F97F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527C7-0BD7-4DAA-855D-037B6228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再開したら：自己確認　計算前の単位へ進みます。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8583644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20E63-5DCD-435B-81E4-45371C2B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計算前の単位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705E7-32F8-4A50-A039-C6096B15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C6F0D-D88D-4487-822E-77D29D62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CFE6F-526C-48E5-B9C5-0F5B64E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D19AB-8744-4E5B-8F84-F35C0954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モデルの幅・厚さ・支点間距離・荷重・Eを表に整理し、IとEI、たわみ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C1A50-84BB-49C6-B3A4-E9CBE020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の単位を説明してください。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9BCA0-C23C-4765-B668-F0231232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5185020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DFF33-3261-48A7-8FE2-6FC15B1B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曲げ剛性EIの比較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39104-9350-42BF-9494-A22C0475681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4B14F-147B-404A-BE37-B9360EE3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CDF2A-F474-4154-9B60-299DD63D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C679D-4B64-4028-B114-D0C3CBC1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候補AとBのEIを比較する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8DE4C-AFCA-4DBF-A454-74776E3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同じ荷重で、どちらがたわみにくいか？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B1245-B0F3-4D43-A163-723CD052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 = bh³/12で、式から判断する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8E6CD-05D3-4BD4-BF2D-C5A739AD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実際の製品を決めるために、不足情報を挙げる</a:t>
            </a:r>
          </a:p>
        </p:txBody>
      </p:sp>
    </p:spTree>
    <p:extLst>
      <p:ext uri="{BB962C8B-B14F-4D97-AF65-F5344CB8AC3E}">
        <p14:creationId xmlns:p14="http://schemas.microsoft.com/office/powerpoint/2010/main" val="9928440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CE013-BD98-4772-BDDF-86133B7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曲げ剛性EIの比較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8A473-3CB0-4461-A3AA-6680C522BCF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F29D4-2506-44C6-8B84-3D42520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8D9BE-CCF7-4391-B079-3ECD7C12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F027B-17B5-4B57-B51A-9E2AB50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IはA：22,500、B：38,880 mm⁴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3DF78-E2AC-4BB6-89F0-2819C84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EIはA：2.25×10⁸、B：1.944×10⁸ N·mm²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8E010-6020-43D8-8632-90056325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たわみはA：約2.00、B：約2.31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5E805-B4B3-41D3-BA7C-F44E5DC8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Eだけでなく、厚さ・接合・耐湿性等を確認</a:t>
            </a:r>
          </a:p>
        </p:txBody>
      </p:sp>
    </p:spTree>
    <p:extLst>
      <p:ext uri="{BB962C8B-B14F-4D97-AF65-F5344CB8AC3E}">
        <p14:creationId xmlns:p14="http://schemas.microsoft.com/office/powerpoint/2010/main" val="18979656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5D746-17B1-4CE5-A16D-9714F88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接合部に力を伝える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F81E6-BADB-48EB-A0F5-67F490A73B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75B35-6EA1-4090-8AF8-253EB0B8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24FC8-1068-41FB-B688-4DABA954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2CB2F-33F7-4571-A807-E6DA6E34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ねじや釘は、せん断・引抜きなど、作用する力の種類を確かめる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07647-5606-4103-9A47-93ABDE14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材端や縁に近い留付けは、割裂などの原因になりうる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4D10A-B530-4A89-B3B8-C0020FC3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下穴、ねじ径、材厚、端距離は、材料と製品に合わせて検討する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3E72E-CB21-4984-B8A4-C44DA83F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接着は、面の適合・表面状態・含水率・圧締・硬化時間を確認する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C9E92-799E-4913-929F-E79A34E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無垢材の幅方向の動きと、合板・ボードの端面への接合を区別する</a:t>
            </a:r>
          </a:p>
        </p:txBody>
      </p:sp>
    </p:spTree>
    <p:extLst>
      <p:ext uri="{BB962C8B-B14F-4D97-AF65-F5344CB8AC3E}">
        <p14:creationId xmlns:p14="http://schemas.microsoft.com/office/powerpoint/2010/main" val="5019548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2C6F9-0CB0-43C7-8BC7-18E1D595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接合で伝える力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74E47-B73B-429D-A0BD-CA8FBC51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2687A-EF5E-40CF-81F2-430E20A9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E4478-710F-48C5-BADF-2A54A408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83471-E5D6-4CD8-A961-B52BDD1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棚板から側板へ荷重が伝わる図を描き、ねじまたは接着を使う位置、作用す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0DF80-AC2C-4616-8A4D-B93B4E9B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る力、不足情報を記入してください。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4969A-E657-45E0-A820-524578DF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3989933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9613E-2E3D-40E1-8795-BFF6C586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接合部と加工条件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CEF6C-2161-435D-9E07-6B0C2C584A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D53AE-3F6F-4C35-A22A-A1FF927A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4180E-DCBE-48BF-BF4A-6EBA6D0C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DC125-D897-401C-BDEE-AD5F8FB5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953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14EE4-1C94-477F-983E-6EB7C888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857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2F07A-2FEA-4769-84E7-49143E869AC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19500" y="34766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85725">
            <a:solidFill>
              <a:srgbClr val="245C98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C294B-00D8-4F56-9112-D88F84DD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5257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接合部の模式図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55F6F-9B95-4C95-B2E0-0CCA5DAA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材厚と、端・縁からの位置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ECFD8-7EF0-4F8C-8369-C7ECFDA2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作用する力の向き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F3327-25FB-4F78-B569-9FFF59DA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下穴・工具・接合条件</a:t>
            </a:r>
          </a:p>
        </p:txBody>
      </p:sp>
    </p:spTree>
    <p:extLst>
      <p:ext uri="{BB962C8B-B14F-4D97-AF65-F5344CB8AC3E}">
        <p14:creationId xmlns:p14="http://schemas.microsoft.com/office/powerpoint/2010/main" val="13290111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7A2D4-0C45-4889-81DC-A89B2345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湿りと接合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CA8D3-8F57-48DA-AED0-08122FDF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2CA3B-6326-42D1-9D2D-3B726653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92637-B4F6-42BD-8742-8177F8CB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95F48-16EA-46EE-825E-47114AC0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無垢材の幅方向を固定する場面と、ボード端面へねじを留める場面で、別に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C84C0-57AA-492A-9238-56F530F3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確認したいことを書いてください。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5B9DB-A022-4795-AE34-0FD2D523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2174341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0BEA3-EC5C-4EDC-ABCB-192A3015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24002-8B8A-4DEE-888D-F4C78CD2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0261C-1E75-4FF2-9AB5-0A307666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27682-18BE-4B70-9566-F3C37E61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2ED75-CDE7-4723-82E9-2E8B1CDF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86B89-5A30-4E18-A790-73C709D7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肩を軽く上げて下ろす。手を開いて閉じる。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C9B67-B8DF-43B8-87C5-4532A1FB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E80A4F-FEED-4EE8-B6A1-956ED8BB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再開したら：環境への影響と使用期間へ進みます。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8291302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6AFAB-4DA9-4353-ABD5-2CAB382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環境への影響と使用期間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4C6F2-7005-40E5-A3B9-78B32548D07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736D2-BE8F-497E-9302-96223ECB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5424E-D706-41EE-95B4-9C05B396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8BB4D-3688-4CDE-B973-0853890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同じ機能・荷重・使用期間で比較する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48160-6074-4FE8-9D2C-F6EB1737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材料の生産、乾燥・接着・加工、輸送、使用と保守、廃棄を考える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0683F-380E-4A14-B1C3-874A5779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少ない材料量でも、寿命が短ければ交換の負担が増える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2499E-DB5E-465D-A7D7-2930E22A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修理、分解、再利用のしやすさを、製作段階で考える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C3CBB-94E2-424B-845E-9AC844C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木材という材料名だけで、全ての環境指標の優劣を決めない</a:t>
            </a:r>
          </a:p>
        </p:txBody>
      </p:sp>
    </p:spTree>
    <p:extLst>
      <p:ext uri="{BB962C8B-B14F-4D97-AF65-F5344CB8AC3E}">
        <p14:creationId xmlns:p14="http://schemas.microsoft.com/office/powerpoint/2010/main" val="41279315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6090A-CAC4-40A6-8019-03984901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使用期間をそろえる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4A5F3-DAC3-4B65-844A-B7E4EA3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87EBA-DE9B-4DF8-AB85-450AAF13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C2439-7A30-46D4-8A77-DC42175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BBCC7-E7B1-4D2E-8B38-ED66217F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少ない材料で短期間使う案と、修理して長く使う案を比べる場合、そろえる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E0AFE-95B7-4B6E-8C0E-699AD1E3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機能と調べる範囲を整理してください。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52780-B3A2-4754-8DAF-C7C53A9E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4816456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C3F0E-F0C7-4C3D-8B11-332EBFA3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小物棚の採用案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B8EF0-90C8-4157-9ED7-CEEF0A2AF8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A6270-561F-42E0-86B0-66950573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1A3FE-52C7-40D9-9E22-80732798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E4EF4-1E60-4BE6-BD86-A85FDFD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無垢材・合板・PB等から棚板と側板を選ぶ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6A29B-6774-4464-8D68-B1CD1623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加工方向・接合位置・支持点を図示する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B428E-35CC-4779-B341-641CB64C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選んだ理由と、採用を見送る条件を書く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63114-47DB-4B50-AD84-CE560D1C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物性データと加工観察を、両方の根拠にする</a:t>
            </a:r>
          </a:p>
        </p:txBody>
      </p:sp>
    </p:spTree>
    <p:extLst>
      <p:ext uri="{BB962C8B-B14F-4D97-AF65-F5344CB8AC3E}">
        <p14:creationId xmlns:p14="http://schemas.microsoft.com/office/powerpoint/2010/main" val="80640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BEADEC-46E0-4D22-B091-463E666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小物棚の採用案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B8588-189B-44A1-8986-2B6C7AA92F8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F55E4-4ED1-4319-80AB-20E01C44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7835E-BA93-4CF4-A70E-6E5A7CBA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2A2E3-CA4A-4EFC-BFCA-004AFAD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厚さを変えると、材料の順位も変わりうる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A01D1-459A-4935-8AE5-81E80700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荷重条件と製品の試験方向を一致させる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05B8F-90E9-4F79-92C0-3C948259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最安・最高強度等、一つの指標で即決しない</a:t>
            </a:r>
          </a:p>
        </p:txBody>
      </p:sp>
    </p:spTree>
    <p:extLst>
      <p:ext uri="{BB962C8B-B14F-4D97-AF65-F5344CB8AC3E}">
        <p14:creationId xmlns:p14="http://schemas.microsoft.com/office/powerpoint/2010/main" val="7568247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8CCBF-0A93-474A-B14C-32656CDB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用途に合わせた材料選択の発問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42C98-4403-4127-8F38-EAE7A0281B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CD5FD-DABF-452F-9D83-9D2D04F1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13F61-CEDC-4814-A69E-AFE2AD84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44C00-5F92-441C-82C5-3CF6755C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課題：持ち運ぶ小物棚を、軽さ・たわみ・接合から選ぶ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7CDC-983D-46B3-B947-62D5C947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各案の満たす条件と、満たさない条件を表にする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3FABA-23EE-4BEE-ADBA-854D1E98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新しい条件として水拭きや修理を加え、選択を見直す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25C7A-7828-4A1B-951E-04765E00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評価：最終案だけでなく、変更した条件と根拠を説明する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8FD3A-B582-49EC-B5D8-04B57CDB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教科書の接点：設計・製作・評価と改善／A(2)ア・イ／A(3)ア・イ</a:t>
            </a:r>
          </a:p>
        </p:txBody>
      </p:sp>
    </p:spTree>
    <p:extLst>
      <p:ext uri="{BB962C8B-B14F-4D97-AF65-F5344CB8AC3E}">
        <p14:creationId xmlns:p14="http://schemas.microsoft.com/office/powerpoint/2010/main" val="121339944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5E28C-6B37-40A8-A904-D0C0B8FA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条件の追加と再選択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95D2A-C656-47CE-BA83-13FC9CB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FFFF6-2488-4338-B35F-17661A2D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F213F-D4E6-4FB0-8F3F-779BAB61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419D0-E231-40D0-A17B-9C42C1B3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小物棚の案に、水拭きと部品交換という条件を加えます。変更する点と、そ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83CAE-BCFC-40BC-8009-60C3CAC3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の根拠を二つずつ書いてください。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F44DA-EF22-451E-BDFA-B768F0B9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62875521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06D72-E80F-434E-9999-147DFEBA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90BF1-DCB0-4E07-9B4B-75F5DB3A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96195-9EBE-4700-B886-22DF0A41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7025B-6C5A-4F92-AB9B-AFC8A2C9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37F35-CA68-4281-9FB2-91D3EF3A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533D9-B77C-4E62-9528-29F9A1DE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肩を軽く上げて下ろす。手を開いて閉じる。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78C13-CCF4-4CD6-A748-05C53F26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B1004-33CF-4D85-A4D0-250DF350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再開したら：確認問題へ進みます。</a:t>
            </a:r>
          </a:p>
        </p:txBody>
      </p:sp>
    </p:spTree>
    <p:extLst>
      <p:ext uri="{BB962C8B-B14F-4D97-AF65-F5344CB8AC3E}">
        <p14:creationId xmlns:p14="http://schemas.microsoft.com/office/powerpoint/2010/main" val="3935089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F2B57-89F7-4688-99F2-ADF371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FFDC2-1B25-4E79-9E9D-04F294952B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359C3-4B75-4C5F-AB32-7E3993E2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E98A1-3B93-4A7D-840D-B27F505E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3B8D3-7B51-4313-94A4-20E552F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材料を比べる前に決める条件を三つ挙げる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AE79C-29AF-4EDC-B16C-715FDA0E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材料のEが半分なら、必ずたわみが2倍か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5C2D0-69F0-4860-AB2B-A6B1DDCE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接着剤の名前だけで性能を保証できるか</a:t>
            </a:r>
          </a:p>
        </p:txBody>
      </p:sp>
    </p:spTree>
    <p:extLst>
      <p:ext uri="{BB962C8B-B14F-4D97-AF65-F5344CB8AC3E}">
        <p14:creationId xmlns:p14="http://schemas.microsoft.com/office/powerpoint/2010/main" val="11964163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6C5E1-D475-4042-A54E-3DEB26F7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E3AF7-9DF4-4CF8-8A59-992605C97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9D5BC5-EFD8-4F33-B2A2-05F0A1C5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05A7D-4C04-4CCC-9E13-734C3BF1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1FE0B-4061-4488-8AFC-CF6BAAD7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構造・物性・加工・環境を、利用条件で結ぶ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D0CE1-93A2-40E8-AEA4-68195632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データと観察から、採用理由を説明する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59E6F-4BA6-4876-BC2D-DB429ADC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次回は、技術科の指導計画へ統合する</a:t>
            </a:r>
          </a:p>
        </p:txBody>
      </p:sp>
    </p:spTree>
    <p:extLst>
      <p:ext uri="{BB962C8B-B14F-4D97-AF65-F5344CB8AC3E}">
        <p14:creationId xmlns:p14="http://schemas.microsoft.com/office/powerpoint/2010/main" val="42048337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18399-4B96-4965-AAF4-CD2A3503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次回の授業構想の準備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BC4BA-B46F-4A54-B61B-3B273186EA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C30A7-BEA4-4347-8FF1-74BBC950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11968-1BE5-49C3-B847-9267AAE0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87B53-692F-4E7B-8996-97C3532C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中学校50分授業で、材料選択のどの理解を確かめるか一つ選ぶ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F6048-1035-4B01-8E87-FCC101B2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学習目標、生徒の比較活動、提出物、達成の基準をメモする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C7AFF-1F5D-41B8-B12E-7129113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使用する写真・試料・提供データと、比較条件をそろえる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1E6ED-9352-4239-8F38-9B098E0A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このメモを課題A4の授業構想へ発展させる</a:t>
            </a:r>
          </a:p>
        </p:txBody>
      </p:sp>
    </p:spTree>
    <p:extLst>
      <p:ext uri="{BB962C8B-B14F-4D97-AF65-F5344CB8AC3E}">
        <p14:creationId xmlns:p14="http://schemas.microsoft.com/office/powerpoint/2010/main" val="6146352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3B817-B0BE-43AB-ADE7-DC13F95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自己確認　五十分授業の下書き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47B64-5A63-4D31-BBCC-7CC76869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31B58-E511-4234-A26F-53C06318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1A284-6E73-4CE0-B485-E730E318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42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B6506-674E-491A-B2C1-938B4FA5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次回へ向け、学習目標一文、比較活動、提出物、達成基準を同じ理解にそろ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09833-03BF-40C4-A8E1-96719031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えて書いてください。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7BF86-A006-40D2-A925-48F0364A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動画内の自己確認用。提出課題の追加ではありません。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02609371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74B1F-50B6-41F1-95CD-F54B2DA1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A158D-7DC3-478F-9058-262B89D38C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07A59-C54B-4DC2-86B1-DAB91AD6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34AC-0329-49E8-89B9-44A1B2C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A8170-C81A-4E3D-8DD1-053E946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第8章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2736E-CE88-48B6-871B-0E50E6CA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051C9A-D9FA-469B-819B-9C4E72C2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第10章 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42AE6E-A3E6-498B-8C80-FE7E7C8A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CE4CA-629A-4CAC-AFA6-B82E37C4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6F75F-DA41-45DA-B78C-D63C09E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F8E11-9C8E-4048-982A-0AD39BA0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38FE0C-71A8-49D2-B4B0-14214528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214AE-211D-4B58-968E-BA60BBD6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7540275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B9DA8-EDFF-4D3E-AAD3-D9185B6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参考資料と調べ学習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A35AF-18BF-4407-B205-3B8D37D37D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6676C-2C15-4303-84AF-69848B27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東京書籍 R7年間指導計画 PDF3～5頁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98341-19E3-429C-B5CC-C303CF14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https://ten.tokyo-shoseki.co.jp/text/chu/gijutsu/download/documents/R7gijutsu_keikaku.pdf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540D3-1BFE-41C0-A9A5-9DDC724D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CC0AC-EBCC-4080-AA57-9E34BD6E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第14回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A24D3-7460-4004-AF06-9EA463F1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403143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2026-10-28T00:20:32.6380000Z</dcterms:created>
  <dcterms:modified xsi:type="dcterms:W3CDTF">2026-10-28T00:20:32.6380000Z</dcterms:modified>
</coreProperties>
</file>