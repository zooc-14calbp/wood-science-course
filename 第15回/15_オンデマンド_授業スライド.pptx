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bb0499021f4e14" /><Relationship Type="http://schemas.openxmlformats.org/officeDocument/2006/relationships/extended-properties" Target="/docProps/app.xml" Id="R9e7e7d06248f46c7" /><Relationship Type="http://schemas.openxmlformats.org/officeDocument/2006/relationships/officeDocument" Target="/ppt/presentation.xml" Id="R8cb0e2b0909f4fdc" /></Relationships>
</file>

<file path=ppt/presentation.xml><?xml version="1.0" encoding="utf-8"?>
<p:presentation xmlns:p="http://schemas.openxmlformats.org/presentationml/2006/main">
  <p:sldMasterIdLst>
    <p:sldMasterId xmlns:r="http://schemas.openxmlformats.org/officeDocument/2006/relationships" id="2147483648" r:id="R1c0fe4fb7ec6438b"/>
    <p:sldMasterId xmlns:r="http://schemas.openxmlformats.org/officeDocument/2006/relationships" id="2147483655" r:id="R2609cdcae8d9482f"/>
  </p:sldMasterIdLst>
  <p:notesMasterIdLst>
    <p:notesMasterId xmlns:r="http://schemas.openxmlformats.org/officeDocument/2006/relationships" r:id="Rcaff23dcd74c455f"/>
  </p:notesMasterIdLst>
  <p:sldIdLst>
    <p:sldId xmlns:r="http://schemas.openxmlformats.org/officeDocument/2006/relationships" id="256" r:id="Rd98348e9184a4a32"/>
    <p:sldId xmlns:r="http://schemas.openxmlformats.org/officeDocument/2006/relationships" id="257" r:id="R721603e0b56e4d96"/>
    <p:sldId xmlns:r="http://schemas.openxmlformats.org/officeDocument/2006/relationships" id="258" r:id="Rc2cafdf06b784124"/>
    <p:sldId xmlns:r="http://schemas.openxmlformats.org/officeDocument/2006/relationships" id="259" r:id="Rfb9cc3a3b8d1439d"/>
    <p:sldId xmlns:r="http://schemas.openxmlformats.org/officeDocument/2006/relationships" id="260" r:id="R8fe8b0abde574679"/>
    <p:sldId xmlns:r="http://schemas.openxmlformats.org/officeDocument/2006/relationships" id="261" r:id="R586149ffcdec4bc4"/>
    <p:sldId xmlns:r="http://schemas.openxmlformats.org/officeDocument/2006/relationships" id="262" r:id="Rd329690cf41646b2"/>
    <p:sldId xmlns:r="http://schemas.openxmlformats.org/officeDocument/2006/relationships" id="263" r:id="Rf03bf439a66848f8"/>
    <p:sldId xmlns:r="http://schemas.openxmlformats.org/officeDocument/2006/relationships" id="264" r:id="R00d1b07527444316"/>
    <p:sldId xmlns:r="http://schemas.openxmlformats.org/officeDocument/2006/relationships" id="265" r:id="R2b04932bb74c4c07"/>
    <p:sldId xmlns:r="http://schemas.openxmlformats.org/officeDocument/2006/relationships" id="266" r:id="Rd6cc79d5c6ae4215"/>
    <p:sldId xmlns:r="http://schemas.openxmlformats.org/officeDocument/2006/relationships" id="267" r:id="R467813fabb8a4275"/>
    <p:sldId xmlns:r="http://schemas.openxmlformats.org/officeDocument/2006/relationships" id="268" r:id="R62195b2f363b417c"/>
    <p:sldId xmlns:r="http://schemas.openxmlformats.org/officeDocument/2006/relationships" id="269" r:id="R9474ab0021d34108"/>
    <p:sldId xmlns:r="http://schemas.openxmlformats.org/officeDocument/2006/relationships" id="270" r:id="Rc0c2b293e4614f87"/>
    <p:sldId xmlns:r="http://schemas.openxmlformats.org/officeDocument/2006/relationships" id="271" r:id="R71dcdf5ad38747c7"/>
    <p:sldId xmlns:r="http://schemas.openxmlformats.org/officeDocument/2006/relationships" id="272" r:id="Rf5c47611b0d44145"/>
    <p:sldId xmlns:r="http://schemas.openxmlformats.org/officeDocument/2006/relationships" id="273" r:id="R9072bef68a42469c"/>
    <p:sldId xmlns:r="http://schemas.openxmlformats.org/officeDocument/2006/relationships" id="274" r:id="R28dbd28695f8488d"/>
    <p:sldId xmlns:r="http://schemas.openxmlformats.org/officeDocument/2006/relationships" id="275" r:id="R9146fa648f9a4a2e"/>
    <p:sldId xmlns:r="http://schemas.openxmlformats.org/officeDocument/2006/relationships" id="276" r:id="R3e842f3dfcdd49d4"/>
    <p:sldId xmlns:r="http://schemas.openxmlformats.org/officeDocument/2006/relationships" id="277" r:id="R264dc246a69e4843"/>
    <p:sldId xmlns:r="http://schemas.openxmlformats.org/officeDocument/2006/relationships" id="278" r:id="R9e84ffcc299f460a"/>
    <p:sldId xmlns:r="http://schemas.openxmlformats.org/officeDocument/2006/relationships" id="279" r:id="Rf1191f1ba7f24da1"/>
    <p:sldId xmlns:r="http://schemas.openxmlformats.org/officeDocument/2006/relationships" id="280" r:id="Rc9556d9ffd284c7b"/>
    <p:sldId xmlns:r="http://schemas.openxmlformats.org/officeDocument/2006/relationships" id="281" r:id="R8d0d4cba371e42aa"/>
    <p:sldId xmlns:r="http://schemas.openxmlformats.org/officeDocument/2006/relationships" id="282" r:id="R23df49e5da204fbd"/>
    <p:sldId xmlns:r="http://schemas.openxmlformats.org/officeDocument/2006/relationships" id="283" r:id="Rf96cfe5176604e67"/>
    <p:sldId xmlns:r="http://schemas.openxmlformats.org/officeDocument/2006/relationships" id="284" r:id="R75212750b808403c"/>
    <p:sldId xmlns:r="http://schemas.openxmlformats.org/officeDocument/2006/relationships" id="285" r:id="R3546948752544082"/>
    <p:sldId xmlns:r="http://schemas.openxmlformats.org/officeDocument/2006/relationships" id="286" r:id="Re5a13ed3573b48ee"/>
    <p:sldId xmlns:r="http://schemas.openxmlformats.org/officeDocument/2006/relationships" id="287" r:id="R788e97b113bc4398"/>
    <p:sldId xmlns:r="http://schemas.openxmlformats.org/officeDocument/2006/relationships" id="288" r:id="R14260b2346ca4d98"/>
    <p:sldId xmlns:r="http://schemas.openxmlformats.org/officeDocument/2006/relationships" id="289" r:id="R1fe10a63bbfd45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22a7ac20b843f1" /><Relationship Type="http://schemas.openxmlformats.org/officeDocument/2006/relationships/slideMaster" Target="/ppt/slideMasters/slideMaster1.xml" Id="R1c0fe4fb7ec6438b" /><Relationship Type="http://schemas.openxmlformats.org/officeDocument/2006/relationships/slideMaster" Target="/ppt/slideMasters/slideMaster2.xml" Id="R2609cdcae8d9482f" /><Relationship Type="http://schemas.openxmlformats.org/officeDocument/2006/relationships/notesMaster" Target="/ppt/notesMasters/notesMaster1.xml" Id="Rcaff23dcd74c455f" /><Relationship Type="http://schemas.openxmlformats.org/officeDocument/2006/relationships/presProps" Target="/ppt/presProps.xml" Id="Ra9cded4450464cf4" /><Relationship Type="http://schemas.openxmlformats.org/officeDocument/2006/relationships/tableStyles" Target="/ppt/tableStyles.xml" Id="Rd7f3babeb13b4fcf" /><Relationship Type="http://schemas.openxmlformats.org/officeDocument/2006/relationships/slide" Target="/ppt/slides/slide1.xml" Id="Rd98348e9184a4a32" /><Relationship Type="http://schemas.openxmlformats.org/officeDocument/2006/relationships/slide" Target="/ppt/slides/slide2.xml" Id="R721603e0b56e4d96" /><Relationship Type="http://schemas.openxmlformats.org/officeDocument/2006/relationships/slide" Target="/ppt/slides/slide3.xml" Id="Rc2cafdf06b784124" /><Relationship Type="http://schemas.openxmlformats.org/officeDocument/2006/relationships/slide" Target="/ppt/slides/slide4.xml" Id="Rfb9cc3a3b8d1439d" /><Relationship Type="http://schemas.openxmlformats.org/officeDocument/2006/relationships/slide" Target="/ppt/slides/slide5.xml" Id="R8fe8b0abde574679" /><Relationship Type="http://schemas.openxmlformats.org/officeDocument/2006/relationships/slide" Target="/ppt/slides/slide6.xml" Id="R586149ffcdec4bc4" /><Relationship Type="http://schemas.openxmlformats.org/officeDocument/2006/relationships/slide" Target="/ppt/slides/slide7.xml" Id="Rd329690cf41646b2" /><Relationship Type="http://schemas.openxmlformats.org/officeDocument/2006/relationships/slide" Target="/ppt/slides/slide8.xml" Id="Rf03bf439a66848f8" /><Relationship Type="http://schemas.openxmlformats.org/officeDocument/2006/relationships/slide" Target="/ppt/slides/slide9.xml" Id="R00d1b07527444316" /><Relationship Type="http://schemas.openxmlformats.org/officeDocument/2006/relationships/slide" Target="/ppt/slides/slide10.xml" Id="R2b04932bb74c4c07" /><Relationship Type="http://schemas.openxmlformats.org/officeDocument/2006/relationships/slide" Target="/ppt/slides/slide11.xml" Id="Rd6cc79d5c6ae4215" /><Relationship Type="http://schemas.openxmlformats.org/officeDocument/2006/relationships/slide" Target="/ppt/slides/slide12.xml" Id="R467813fabb8a4275" /><Relationship Type="http://schemas.openxmlformats.org/officeDocument/2006/relationships/slide" Target="/ppt/slides/slide13.xml" Id="R62195b2f363b417c" /><Relationship Type="http://schemas.openxmlformats.org/officeDocument/2006/relationships/slide" Target="/ppt/slides/slide14.xml" Id="R9474ab0021d34108" /><Relationship Type="http://schemas.openxmlformats.org/officeDocument/2006/relationships/slide" Target="/ppt/slides/slide15.xml" Id="Rc0c2b293e4614f87" /><Relationship Type="http://schemas.openxmlformats.org/officeDocument/2006/relationships/slide" Target="/ppt/slides/slide16.xml" Id="R71dcdf5ad38747c7" /><Relationship Type="http://schemas.openxmlformats.org/officeDocument/2006/relationships/slide" Target="/ppt/slides/slide17.xml" Id="Rf5c47611b0d44145" /><Relationship Type="http://schemas.openxmlformats.org/officeDocument/2006/relationships/slide" Target="/ppt/slides/slide18.xml" Id="R9072bef68a42469c" /><Relationship Type="http://schemas.openxmlformats.org/officeDocument/2006/relationships/slide" Target="/ppt/slides/slide19.xml" Id="R28dbd28695f8488d" /><Relationship Type="http://schemas.openxmlformats.org/officeDocument/2006/relationships/slide" Target="/ppt/slides/slide20.xml" Id="R9146fa648f9a4a2e" /><Relationship Type="http://schemas.openxmlformats.org/officeDocument/2006/relationships/slide" Target="/ppt/slides/slide21.xml" Id="R3e842f3dfcdd49d4" /><Relationship Type="http://schemas.openxmlformats.org/officeDocument/2006/relationships/slide" Target="/ppt/slides/slide22.xml" Id="R264dc246a69e4843" /><Relationship Type="http://schemas.openxmlformats.org/officeDocument/2006/relationships/slide" Target="/ppt/slides/slide23.xml" Id="R9e84ffcc299f460a" /><Relationship Type="http://schemas.openxmlformats.org/officeDocument/2006/relationships/slide" Target="/ppt/slides/slide24.xml" Id="Rf1191f1ba7f24da1" /><Relationship Type="http://schemas.openxmlformats.org/officeDocument/2006/relationships/slide" Target="/ppt/slides/slide25.xml" Id="Rc9556d9ffd284c7b" /><Relationship Type="http://schemas.openxmlformats.org/officeDocument/2006/relationships/slide" Target="/ppt/slides/slide26.xml" Id="R8d0d4cba371e42aa" /><Relationship Type="http://schemas.openxmlformats.org/officeDocument/2006/relationships/slide" Target="/ppt/slides/slide27.xml" Id="R23df49e5da204fbd" /><Relationship Type="http://schemas.openxmlformats.org/officeDocument/2006/relationships/slide" Target="/ppt/slides/slide28.xml" Id="Rf96cfe5176604e67" /><Relationship Type="http://schemas.openxmlformats.org/officeDocument/2006/relationships/slide" Target="/ppt/slides/slide29.xml" Id="R75212750b808403c" /><Relationship Type="http://schemas.openxmlformats.org/officeDocument/2006/relationships/slide" Target="/ppt/slides/slide30.xml" Id="R3546948752544082" /><Relationship Type="http://schemas.openxmlformats.org/officeDocument/2006/relationships/slide" Target="/ppt/slides/slide31.xml" Id="Re5a13ed3573b48ee" /><Relationship Type="http://schemas.openxmlformats.org/officeDocument/2006/relationships/slide" Target="/ppt/slides/slide32.xml" Id="R788e97b113bc4398" /><Relationship Type="http://schemas.openxmlformats.org/officeDocument/2006/relationships/slide" Target="/ppt/slides/slide33.xml" Id="R14260b2346ca4d98" /><Relationship Type="http://schemas.openxmlformats.org/officeDocument/2006/relationships/slide" Target="/ppt/slides/slide34.xml" Id="R1fe10a63bbfd45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22eff8515b84c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3fff2f50954c43" /><Relationship Type="http://schemas.openxmlformats.org/officeDocument/2006/relationships/notesMaster" Target="/ppt/notesMasters/notesMaster1.xml" Id="R254b9548a5784f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a23bb88f07427c" /><Relationship Type="http://schemas.openxmlformats.org/officeDocument/2006/relationships/notesMaster" Target="/ppt/notesMasters/notesMaster1.xml" Id="R637c98737cf946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20e430d1fe4669" /><Relationship Type="http://schemas.openxmlformats.org/officeDocument/2006/relationships/notesMaster" Target="/ppt/notesMasters/notesMaster1.xml" Id="R0149f6188bdf46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2685c99c4e48e0" /><Relationship Type="http://schemas.openxmlformats.org/officeDocument/2006/relationships/notesMaster" Target="/ppt/notesMasters/notesMaster1.xml" Id="R6e70df094dca44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416e2d0f564b0a" /><Relationship Type="http://schemas.openxmlformats.org/officeDocument/2006/relationships/notesMaster" Target="/ppt/notesMasters/notesMaster1.xml" Id="Recc9b6262cab4a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77fdb8e7c7406d" /><Relationship Type="http://schemas.openxmlformats.org/officeDocument/2006/relationships/notesMaster" Target="/ppt/notesMasters/notesMaster1.xml" Id="R2762ad38a3c34a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608bb37f4649fa" /><Relationship Type="http://schemas.openxmlformats.org/officeDocument/2006/relationships/notesMaster" Target="/ppt/notesMasters/notesMaster1.xml" Id="Rb4b9afc7216b4e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973f63f3c94b95" /><Relationship Type="http://schemas.openxmlformats.org/officeDocument/2006/relationships/notesMaster" Target="/ppt/notesMasters/notesMaster1.xml" Id="Rdb26bfcadd1a4e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42fdc73c8c4e47" /><Relationship Type="http://schemas.openxmlformats.org/officeDocument/2006/relationships/notesMaster" Target="/ppt/notesMasters/notesMaster1.xml" Id="R90b8680a8ed447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0c1e8204134be8" /><Relationship Type="http://schemas.openxmlformats.org/officeDocument/2006/relationships/notesMaster" Target="/ppt/notesMasters/notesMaster1.xml" Id="Rbff32e5cf97d4f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4158faa6084975" /><Relationship Type="http://schemas.openxmlformats.org/officeDocument/2006/relationships/notesMaster" Target="/ppt/notesMasters/notesMaster1.xml" Id="Rcce4f867e8fb45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9c23c2ca2245f9" /><Relationship Type="http://schemas.openxmlformats.org/officeDocument/2006/relationships/notesMaster" Target="/ppt/notesMasters/notesMaster1.xml" Id="R1f45ef86bb1543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e65c018ccf4e9e" /><Relationship Type="http://schemas.openxmlformats.org/officeDocument/2006/relationships/notesMaster" Target="/ppt/notesMasters/notesMaster1.xml" Id="Recec69f7d40440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007bfb3a704882" /><Relationship Type="http://schemas.openxmlformats.org/officeDocument/2006/relationships/notesMaster" Target="/ppt/notesMasters/notesMaster1.xml" Id="R5b36cc5228d24a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8a6c1989794164" /><Relationship Type="http://schemas.openxmlformats.org/officeDocument/2006/relationships/notesMaster" Target="/ppt/notesMasters/notesMaster1.xml" Id="R0564d07ac6804c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c41c56c51b447b" /><Relationship Type="http://schemas.openxmlformats.org/officeDocument/2006/relationships/notesMaster" Target="/ppt/notesMasters/notesMaster1.xml" Id="R5c2eb9f6a7d84b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3ddf0d3525491e" /><Relationship Type="http://schemas.openxmlformats.org/officeDocument/2006/relationships/notesMaster" Target="/ppt/notesMasters/notesMaster1.xml" Id="Re79ac69b293e45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79f15734964bcc" /><Relationship Type="http://schemas.openxmlformats.org/officeDocument/2006/relationships/notesMaster" Target="/ppt/notesMasters/notesMaster1.xml" Id="Read9a09f8c134f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9571c32fbd4550" /><Relationship Type="http://schemas.openxmlformats.org/officeDocument/2006/relationships/notesMaster" Target="/ppt/notesMasters/notesMaster1.xml" Id="R194639eed6a24d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a656c5367d4fb7" /><Relationship Type="http://schemas.openxmlformats.org/officeDocument/2006/relationships/notesMaster" Target="/ppt/notesMasters/notesMaster1.xml" Id="R9649c21650ef4d3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7c30c994664779" /><Relationship Type="http://schemas.openxmlformats.org/officeDocument/2006/relationships/notesMaster" Target="/ppt/notesMasters/notesMaster1.xml" Id="Ra95e572b2df441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65eccc3d824434" /><Relationship Type="http://schemas.openxmlformats.org/officeDocument/2006/relationships/notesMaster" Target="/ppt/notesMasters/notesMaster1.xml" Id="R79422ddf0c454c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b6a6fcfd674a69" /><Relationship Type="http://schemas.openxmlformats.org/officeDocument/2006/relationships/notesMaster" Target="/ppt/notesMasters/notesMaster1.xml" Id="R71fdfeffb45e48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016ffc43fe4c7b" /><Relationship Type="http://schemas.openxmlformats.org/officeDocument/2006/relationships/notesMaster" Target="/ppt/notesMasters/notesMaster1.xml" Id="R8b6976415b6d4d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62dfac3022d47b8" /><Relationship Type="http://schemas.openxmlformats.org/officeDocument/2006/relationships/notesMaster" Target="/ppt/notesMasters/notesMaster1.xml" Id="R40009b86a4f341d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fbe239388c6499a" /><Relationship Type="http://schemas.openxmlformats.org/officeDocument/2006/relationships/notesMaster" Target="/ppt/notesMasters/notesMaster1.xml" Id="R216555fdf73f48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40e6ec54d644de" /><Relationship Type="http://schemas.openxmlformats.org/officeDocument/2006/relationships/notesMaster" Target="/ppt/notesMasters/notesMaster1.xml" Id="R8edbc818ce814e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fcdd6e9e8de4493" /><Relationship Type="http://schemas.openxmlformats.org/officeDocument/2006/relationships/notesMaster" Target="/ppt/notesMasters/notesMaster1.xml" Id="R32e4dffbc18b456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efd42641d84930" /><Relationship Type="http://schemas.openxmlformats.org/officeDocument/2006/relationships/notesMaster" Target="/ppt/notesMasters/notesMaster1.xml" Id="R45dc52dd444d4f1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df595bd0e54d6c" /><Relationship Type="http://schemas.openxmlformats.org/officeDocument/2006/relationships/notesMaster" Target="/ppt/notesMasters/notesMaster1.xml" Id="R449c45232f5f47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465ce8cb032422c" /><Relationship Type="http://schemas.openxmlformats.org/officeDocument/2006/relationships/notesMaster" Target="/ppt/notesMasters/notesMaster1.xml" Id="Ra22f6846b9aa422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3eb258a90cf4d04" /><Relationship Type="http://schemas.openxmlformats.org/officeDocument/2006/relationships/notesMaster" Target="/ppt/notesMasters/notesMaster1.xml" Id="Rf883fa110ec0431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eeeeedefa77453a" /><Relationship Type="http://schemas.openxmlformats.org/officeDocument/2006/relationships/notesMaster" Target="/ppt/notesMasters/notesMaster1.xml" Id="R3ee1463209b8410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bcb7dd643a04693" /><Relationship Type="http://schemas.openxmlformats.org/officeDocument/2006/relationships/notesMaster" Target="/ppt/notesMasters/notesMaster1.xml" Id="R3087010c9aa249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十五回です。最終回では、これまでの木材科学の理解を、技術科の授業へ組み立てます。構造と成分、強度と変形、水分、劣化、接着、木質材料と加工を、一つの授業で全て説明する必要はありません。生徒に何を観察させ、何を比べ、どんな理由を説明させるかを絞ります。前回の授業構想のメモと、課題エーフォーの回答フォームを用意してください。自己確認の時間と、正式な課題の作業時間は区別して進め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提を復習します。木材を、方向も状態もない均一な固まりとして扱うことはできません。木質材料も、要素、配向、接着、層構成によって性能が変わります。数値を比べるときには、同じ方向、単位、含水状態、荷重と支持の条件を確認しました。今日の授業構想でも、その比較条件を残します。大学で学んだ式の全てを中学生へ教えるのでなく、教員が持つ根拠と、生徒が確かめる事実を対応させ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柱は、科学的な根拠、授業の活動、評価の三つです。例えば多孔質という理解を、密度や水の移動という性質へつなげ、それを用途に合う材料選択の理由へ使います。活動をしただけで理解したと決めず、生徒の比較表や説明を集めます。期末テストは行わず、まとまりごとの四回の課題を通して理解を確かめます。最後の課題は、木質材料を選ぶ根拠と、五十分の授業構想を合わせるもの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木材の性質を一つ選び、その根拠、生徒が比べる活動、理解を確認する提出物を一組で書いてください。考える時間の間は画面上部に残り時間を表示します。必要なら一時停止してください。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解説します。異方性なら繊維方向を根拠とし、方向をそろえる、または一つずつ変える比較を設定できます。結果と方向を結んだ説明を集め、用語を書いたかだけで評価しません。</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科学的な内容を四つの観点で整理します。多孔質では壁と空隙、異方性では細胞やミクロフィブリルの配向を考えました。水分では細胞壁中の水と寸法変化、使用中の劣化条件を結び付けました。木質材料では要素、配向、接着から製品の働きを読みました。材料を選ぶ際には、これら全てを同じ重みで並べる必要はありません。その用途で重要な性質を選び、根拠と条件が対応する説明へまとめます。密度が高いから常に最適、という一つの指標だけの説明を見直しましょう。</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「密度が高い材料が常に最適」という説明へ、返却コメントと再考させる問いを一つずつ書いてください。考える時間の間は画面上部に残り時間を表示します。必要なら一時停止してください。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解説します。密度は比較の一要素です。重さ、たわみ、方向、水分、加工、接合も用途に照らして見直します。持ち運ぶ棚なら、たわみの要求を満たした後に何を比べたいか、と問い返せます。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左には構造と成分、中央には物性と加工、右には選択と利用があります。このつながりを、生徒の活動に置き換えます。端面の観察から予想を立て、条件をそろえたデータを比較し、その結果で材料選択の説明を修正する流れです。観察したことと、そこから推測したことは分けて書きます。見える木目や表面だけで内部や強度を断定せず、不足した情報を調べる方法も示します。説明が変わった理由を残せば、学びの過程を確かめられ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目標を、生徒が何を説明、判断できるようになるかで書きます。例えば、二つの材料を用途に照らして比べ、採用した理由を根拠付きで説明できる、という目標です。提出物には比較表、選んだ案、追加で確認する条件などを設定します。基本的な達成として、一つの性質を用途へ正しく結び付けることを確認できます。さらに複数条件の兼ね合いや不足情報まで扱う説明を、十分な達成として見分けます。大学の正式な課題の配点とは別に、生徒の理解をどう評価するかを設計し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断面積の二つの長方形を比べる授業モデルです。エーは幅四十、高さ十ミリメートル、ビーは幅二十、高さ二十ミリメートルとします。断面積はどちらも四百平方ミリメートルです。同じ材、方向、含水状態、長さなら、体積と質量も同じです。支点と荷重をそろえたとき、どちらがたわみにくいと予想しますか。高さの違いを図にし、理由を書いてください。</a:t>
            </a:r>
          </a:p>
          <a:p xmlns:a="http://schemas.openxmlformats.org/drawingml/2006/main">
            <a:r>
              <a:t/>
            </a:r>
          </a:p>
          <a:p xmlns:a="http://schemas.openxmlformats.org/drawingml/2006/main">
            <a:r>
              <a:t>自己確認の解説</a:t>
            </a:r>
          </a:p>
          <a:p xmlns:a="http://schemas.openxmlformats.org/drawingml/2006/main">
            <a:r>
              <a:t>教員側の計算を確かめます。エーのアイは約三千三百三十三、ビーは約一万三千三百三十三、単位はミリメートルの四乗です。ビーはエーの四倍です。同じイー、荷重、支点間距離の曲げモデルなら、ビーのたわみはエーの四分の一です。中学生には数式の暗記を必須とせず、そろえた条件と観察結果から選択の理由を説明させ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ほどの比を整理します。断面積を同じにしたまま高さを二倍、幅を半分にすると、断面二次モーメントは、二分の一掛ける二の三乗で四倍です。高さだけを二倍にして幅を固定した八倍の例とは、条件が違います。図では何を同じにし、何を変えたかを必ず書きます。実物の比較では木材のばらつきと測定条件もあり、計算比と完全に一致しなければ観察を誤りと決めることはでき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「木材を理解する」を、何を比べ、何を根拠に、何を説明できるかが分かる学習目標へ書き換えてください。考える時間の間は画面上部に残り時間を表示します。必要なら一時停止してください。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解説します。例えば、同じ断面積の二形状を同条件で比べ、たわみの結果を根拠に棚板の向きを説明できる、とします。活動名だけでなく、確かめる内容と行動を含めます。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それでは、再開します。50分授業の構成例：断面とたわみへ進みます。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表は、単元の製作活動の中に位置付ける、五十分の一授業例です。最初の八分で二つの形のたわみを予想し、材料と断面積、支点間距離を確認します。八分から二十五分で、同じ荷重の下で比較して記録します。二十五分から四十分で、棚板の向きと支持を選びます。最後の十分は説明の共有と改訂です。実施時には準備、測定、片付けをこの時間内へ組み込みます。教員は事前に、破壊せず測れる荷重と手順を確認し、生徒が自由に大きな力を加える活動にしないように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の授業例へ準備・片付け・説明の改訂を含め、合計五十分になる配分を書いてください。実施が難しければ、写真や提供データへ置き換える部分も示します。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解説します。準備と片付けを活動時間へ含め、比較だけで終わらず、結果を理由へ変える時間を残します。提供データでも条件を確認し、生徒が判断する活動を設けられます。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す。学習目標は、木材の特徴を知る。活動は、板を自由に曲げて感想を書く。この案を、比較する条件と、理解を確かめる方法が分かる案へ書き直してください。何を同じにし、何を変えるかを示します。生徒の提出物と、その中のどの説明を見て達成と判断するかも加えます。大学の式を暗記することを、そのまま中学生の目標へ置き換える必要はあり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解説です。方向、寸法、支え方、荷重を指定すると、結果の違いを何へ結び付けるかが明確になります。同じ材料と断面積の二形状を比べるなら、断面の高さとたわみの関係を観察できます。目標は、条件をそろえて比較し、観察結果を根拠に棚板の向きを説明できる、などと書けます。教員側では断面二次モーメントが根拠になりますが、生徒に数式を必ず計算させる必要はありません。過大な荷重や破壊を前提にしない、再現できる比較へ直すことも大切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の流れは、観察、比較、選択、試作と評価です。表面と端面から構成を読み、形や方向を一つずつ変えて比べます。その結果を理由に材料と寸法、接合を提案し、加工や使用時の結果で見直します。五十分の一授業で、この全てを最初から最後まで実施し切る必要はありません。今日の目標がどの段階の理解を確かめるかを絞ります。写真と提供データを使う場合も、生徒が受け身に眺めるだけでなく、予想と比較、説明の修正を行う活動へ組み立て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察・比較・選択・試作と評価のうち、今回の五十分で重点的に確かめる範囲を選び、前後の学習とのつながりを示し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解説します。一授業で全てを詰め込まず、例えば比較から理由付き選択までを扱います。前に材料の観察を置き、後に試作結果で選択を見直すと、単元内の位置が明確になります。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のために集める記録を具体化します。予想には寸法と向きを添え、比較では同じ荷重と支点間距離の結果を表に残します。説明では、断面の高さと観察したたわみを対応させ、棚板の向きを選びます。基本的な達成は、条件を示し、結果を根拠に一つの案を選べることです。さらに測定誤差や材料のばらつき、追加で確かめる条件まで触れた説明を区別できます。字数の多さや専門用語の数を、そのまま理解の深さと同一視しないように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それでは、再開します。自己確認　提出物と達成基準へ進みます。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短い比較表と選択理由を提出物にします。基本的な達成と、より十分な達成を、内容で見分ける基準を書いてください。考える時間の間は画面上部に残り時間を表示します。必要なら一時停止してください。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解説します。基本では条件と結果を示し、一つの性質を用途へ正しく結び付ける説明を確認します。十分な達成では、複数条件の兼ね合いや未確認情報、比較の限界などを確認できます。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大学の講義では、四回の課題で学びのまとまりを確かめます。エーワンは構造と成分、エーツーは力と変形、エースリーは密度、水、劣化でした。エーフォーは木質材料の選択と、中学校の五十分授業の構想です。各課題は基本七十点、発展三十点です。何かを書けば自動的に六十点になるという意味ではなく、基本の回答欄十二個で必要な要素を十分満たすと六十点になります。途中式、単位、出典と理由を残し、返却された回答の番号を手掛かりに学び直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過去の回答から一つ選び、回答番号、修正する式または説明、見直す講義資料を三つの欄へ整理してください。考える時間の間は画面上部に残り時間を表示します。必要なら一時停止してください。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解説します。例えば単位換算なら定義へ、方向の混同なら構造図へ戻ります。何を直したかだけでなく、どの根拠で直したかを記録すると次の課題へ生かせます。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案を見直す演習です。対面なら互いの案を交換できます。オンデマンドで一人の場合は、自分の案を、初めて読む同僚の立場で点検してください。目標と活動が同じ理解を扱うか、比較条件が足りるか、科学的な誤りがないかを見ます。生徒の提出物で評価基準を本当に判断できるか、五十分に準備と片付け、説明の書き直しが収まるかも確かめます。修正前の案を消さず、変える箇所と理由を横へ書い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改善の観点を整理します。目標、比較活動、提出物、評価基準は、一続きに対応させます。三方向と三断面、ヤング率と強度の混同も確認します。五十分の時間は、生徒が説明を聞く時間だけではありません。準備、測定、記録、片付け、共有と説明の改訂を含めて計画します。大学で計算した断面二次モーメントは教員の根拠にしつつ、生徒が観察した結果へ結び付けます。修正した後には、どの条件をどう変えたから目標へ近づいたかを言葉にしましょう。</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情報機器は、比較の根拠を残すために使います。写真なら木口や端面、加工面を同じ方向と撮影条件で記録します。表計算なら、値だけでなく単位、材料の方向、含水状態、寸法、荷重を列として残します。採用案と不採用案を共有するときは、違う結論を間違いと決める前に、条件と根拠を確かめます。最後に、初めの予想が変わった場所と理由を記録します。情報機器を使ったこと自体を目的にせず、観察、比較、説明の改訂を支える道具として位置付け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比較表を表計算で作る場合の列名を六つ以上挙げ、写真でそろえる条件を二つ書いてください。考える時間の間は画面上部に残り時間を表示します。必要なら一時停止してください。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解説します。試料番号、材料、方向、含水状態、幅、高さ、支点間距離、荷重、たわみ、単位と出典などを残せます。写真では撮影方向や位置、必要な尺度をそろえます。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それでは、再開します。確認問題へ進みます。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問題です。第一に、多孔質と異方性から、それぞれ一つの性質を説明してください。第二に、木質材料の配向を一つ選び、採用時に確認する条件を示します。第三に、学習の前後で自分の説明が変わった点を一つ書いてください。結論だけでなく、構造や観察、数値、使用条件のどれを根拠にしたかを添えます。過去のスライドや、自分の回答を参照して構いません。</a:t>
            </a:r>
          </a:p>
          <a:p xmlns:a="http://schemas.openxmlformats.org/drawingml/2006/main">
            <a:r>
              <a:t/>
            </a:r>
          </a:p>
          <a:p xmlns:a="http://schemas.openxmlformats.org/drawingml/2006/main">
            <a:r>
              <a:t>自己確認の解説</a:t>
            </a:r>
          </a:p>
          <a:p xmlns:a="http://schemas.openxmlformats.org/drawingml/2006/main">
            <a:r>
              <a:t>多孔質は壁と空隙から密度や水の移動へ、異方性は配向から方向別の性質へつなげます。木質材料は要素と配向を荷重や水分の条件に対応させます。説明の改訂は初めの予想と新しい根拠を一組で示します。</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回の要点です。木材の構造と状態、木質材料の構成を、観察と計算、加工の事実を使って説明しました。材料を選ぶときは条件を指定し、新しい根拠が加われば案を見直します。技術科の授業でも、生徒がどんな説明を残せば理解を確認できるかを考えます。一つの正解を当てさせるだけでなく、条件に照らして選び、不足情報を認め、根拠を得て修正する学習を設計し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題エーフォーへの案内です。既存の学生用設問と回答フォームを使います。問一で木質材料の構成、問二で曲げ剛性とたわみ、問三で質量と使用条件を整理します。問四は実際の製品または製品区分を公式仕様書などで調べ、確認できたことと未確認のことを分けます。問五は五十分授業の目標、活動と時間、提出物、達成基準、返却コメントを考えます。作業目安は百分から百三十分で、この動画の九十分とは別です。提出方法と締切、生成エーアイの利用は授業の案内に従っ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答フォームの問一から問五について、既に書けること、講義へ戻ること、調べることを分けて作業順を決めてください。考える時間の間は画面上部に残り時間を表示しま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構成の図を確認し、計算ではI、EI、たわみ、体積と質量を順に整理します。製品調査は表示された事実と判断を分け、授業案は目標、活動、記録、評価を対応させます。課題全体をこの時間だけで終える必要はありません。</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ウッドハンドブックの第三章、第四章、第五章、第十一章は、構造、水分、力、木質材料を振り返る入口です。全ての英文を最初から読み切る必要はありません。自分の説明や計算に関係する図と見出し、定義と条件を探し、該当箇所を残します。数値と、その資料から自分が判断したことを分けて書いてください。一般的な材料の説明を、個別の製品の性能保証へ読み替えないことも、最後に確認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指導要領解説と公開指導計画は、今回の活動を、材料と加工の技術の学習へ位置付ける資料です。教科書本文の全体照合を済ませたという意味ではありません。授業案は、使う教科書や学校の設備、学習経験に合わせて具体化してください。木材を、多孔質で異方性があり水分へ応答する材料として捉え、使う条件を根拠に選ぶことを、この十五回の軸にしてきました。最後に課題の回答番号と単位、出典、説明の根拠を見直してください。講義はここまで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第3章 https://research.fs.usda.gov/treesearch/62242</a:t>
            </a:r>
          </a:p>
          <a:p xmlns:a="http://schemas.openxmlformats.org/drawingml/2006/main">
            <a:r>
              <a:t>USDA Wood Handbook 2021 第4章 https://research.fs.usda.gov/treesearch/62243</a:t>
            </a:r>
          </a:p>
          <a:p xmlns:a="http://schemas.openxmlformats.org/drawingml/2006/main">
            <a:r>
              <a:t>USDA Wood Handbook 2021 第5章 https://research.fs.usda.gov/treesearch/62244</a:t>
            </a:r>
          </a:p>
          <a:p xmlns:a="http://schemas.openxmlformats.org/drawingml/2006/main">
            <a:r>
              <a:t>USDA Wood Handbook 2021 第11章 https://research.fs.usda.gov/treesearch/62258</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東京書籍 R7年間指導計画 https://ten.tokyo-shoseki.co.jp/text/chu/gijutsu/download/documents/R7gijutsu_keikaku.pdf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d6301b3eee46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e4116063554d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012d5580604c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d255eeaf7143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b06d5f2d394a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9ae64818964e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ff951643d34d4fb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113fedb43558402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5024a558049b46c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95972d4a73114cf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2b99cd1ca5924fb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1064e278ad6c4b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6804AD-4FC6-41B5-A571-2F3C99D2BD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93F155-F0A0-49FF-B8FE-6AD455BF3C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DCC832-CEBD-4961-A003-E13B71AA41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1B567B-2E59-467D-A96F-BA690D3B3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74D91D-6443-49B6-96A0-3EEE41E3A1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92BC16-751A-49FF-938C-7752704BB6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0D9F30-80E4-4497-B0D3-1B1DEFE4DF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3FD3A2-F6B3-450C-B2E5-C68D7F798A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4841D5-1969-46DE-8D23-861F8DF6D2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C5FF13-7F84-47E5-AC66-9FB2EF5600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a8eb219a2e45d9" /><Relationship Type="http://schemas.openxmlformats.org/officeDocument/2006/relationships/slideLayout" Target="/ppt/slideLayouts/slideLayout1.xml" Id="R47ead3f275e344ab" /><Relationship Type="http://schemas.openxmlformats.org/officeDocument/2006/relationships/slideLayout" Target="/ppt/slideLayouts/slideLayout2.xml" Id="Rd8e221f2824b43bc" /><Relationship Type="http://schemas.openxmlformats.org/officeDocument/2006/relationships/slideLayout" Target="/ppt/slideLayouts/slideLayout3.xml" Id="R1335bb7a733c4c79" /><Relationship Type="http://schemas.openxmlformats.org/officeDocument/2006/relationships/slideLayout" Target="/ppt/slideLayouts/slideLayout4.xml" Id="Re3ef31ec39e44f57" /><Relationship Type="http://schemas.openxmlformats.org/officeDocument/2006/relationships/slideLayout" Target="/ppt/slideLayouts/slideLayout5.xml" Id="R843c07f22eed47ed" /><Relationship Type="http://schemas.openxmlformats.org/officeDocument/2006/relationships/slideLayout" Target="/ppt/slideLayouts/slideLayout6.xml" Id="Rbaf4d24fb6f0475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edb016cad754030" /><Relationship Type="http://schemas.openxmlformats.org/officeDocument/2006/relationships/slideLayout" Target="/ppt/slideLayouts/slideLayout7.xml" Id="R180290314b30434c" /><Relationship Type="http://schemas.openxmlformats.org/officeDocument/2006/relationships/slideLayout" Target="/ppt/slideLayouts/slideLayout8.xml" Id="R211503b5fe1948e8" /><Relationship Type="http://schemas.openxmlformats.org/officeDocument/2006/relationships/slideLayout" Target="/ppt/slideLayouts/slideLayout9.xml" Id="R24fbc77eb9ec496b" /><Relationship Type="http://schemas.openxmlformats.org/officeDocument/2006/relationships/slideLayout" Target="/ppt/slideLayouts/slideLayout10.xml" Id="R2ca3e53468d34d6e" /><Relationship Type="http://schemas.openxmlformats.org/officeDocument/2006/relationships/slideLayout" Target="/ppt/slideLayouts/slideLayout11.xml" Id="Rb98b3895e3274cc2" /><Relationship Type="http://schemas.openxmlformats.org/officeDocument/2006/relationships/slideLayout" Target="/ppt/slideLayouts/slideLayout12.xml" Id="Red3f85dca35842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ead3f275e344ab"/>
    <p:sldLayoutId xmlns:r="http://schemas.openxmlformats.org/officeDocument/2006/relationships" id="2147483650" r:id="Rd8e221f2824b43bc"/>
    <p:sldLayoutId xmlns:r="http://schemas.openxmlformats.org/officeDocument/2006/relationships" id="2147483651" r:id="R1335bb7a733c4c79"/>
    <p:sldLayoutId xmlns:r="http://schemas.openxmlformats.org/officeDocument/2006/relationships" id="2147483652" r:id="Re3ef31ec39e44f57"/>
    <p:sldLayoutId xmlns:r="http://schemas.openxmlformats.org/officeDocument/2006/relationships" id="2147483653" r:id="R843c07f22eed47ed"/>
    <p:sldLayoutId xmlns:r="http://schemas.openxmlformats.org/officeDocument/2006/relationships" id="2147483654" r:id="Rbaf4d24fb6f047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180290314b30434c"/>
    <p:sldLayoutId xmlns:r="http://schemas.openxmlformats.org/officeDocument/2006/relationships" id="2147483657" r:id="R211503b5fe1948e8"/>
    <p:sldLayoutId xmlns:r="http://schemas.openxmlformats.org/officeDocument/2006/relationships" id="2147483658" r:id="R24fbc77eb9ec496b"/>
    <p:sldLayoutId xmlns:r="http://schemas.openxmlformats.org/officeDocument/2006/relationships" id="2147483659" r:id="R2ca3e53468d34d6e"/>
    <p:sldLayoutId xmlns:r="http://schemas.openxmlformats.org/officeDocument/2006/relationships" id="2147483660" r:id="Rb98b3895e3274cc2"/>
    <p:sldLayoutId xmlns:r="http://schemas.openxmlformats.org/officeDocument/2006/relationships" id="2147483661" r:id="Red3f85dca35842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a1c51ec246d84a85" /><Relationship Type="http://schemas.openxmlformats.org/officeDocument/2006/relationships/notesSlide" Target="/ppt/notesSlides/notesSlide1.xml" Id="R2af16d5e12a641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b504251b6d448b" /><Relationship Type="http://schemas.openxmlformats.org/officeDocument/2006/relationships/notesSlide" Target="/ppt/notesSlides/notesSlide2.xml" Id="R5bc00da4f9e84c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20d5ae12a31244e5" /><Relationship Type="http://schemas.openxmlformats.org/officeDocument/2006/relationships/notesSlide" Target="/ppt/notesSlides/notesSlide3.xml" Id="Rc22e6dde914048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1e2d48656b4377" /><Relationship Type="http://schemas.openxmlformats.org/officeDocument/2006/relationships/notesSlide" Target="/ppt/notesSlides/notesSlide4.xml" Id="R21f983de20054b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fb28c71d1f684eb2" /><Relationship Type="http://schemas.openxmlformats.org/officeDocument/2006/relationships/notesSlide" Target="/ppt/notesSlides/notesSlide5.xml" Id="R30a2b6d2082645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30c6449e964ae9" /><Relationship Type="http://schemas.openxmlformats.org/officeDocument/2006/relationships/notesSlide" Target="/ppt/notesSlides/notesSlide6.xml" Id="R4bd57cf1549a45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7a3cce5ca1472c" /><Relationship Type="http://schemas.openxmlformats.org/officeDocument/2006/relationships/notesSlide" Target="/ppt/notesSlides/notesSlide7.xml" Id="Re20c01d4e09940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0b22a59b576342cc" /><Relationship Type="http://schemas.openxmlformats.org/officeDocument/2006/relationships/notesSlide" Target="/ppt/notesSlides/notesSlide8.xml" Id="R0056b4a194d445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7cf52fa20448e7" /><Relationship Type="http://schemas.openxmlformats.org/officeDocument/2006/relationships/notesSlide" Target="/ppt/notesSlides/notesSlide9.xml" Id="R881f20244e1341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ae17f3b6c541ab" /><Relationship Type="http://schemas.openxmlformats.org/officeDocument/2006/relationships/notesSlide" Target="/ppt/notesSlides/notesSlide10.xml" Id="R1c35c602ebde44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f0d9cbed9b449b" /><Relationship Type="http://schemas.openxmlformats.org/officeDocument/2006/relationships/notesSlide" Target="/ppt/notesSlides/notesSlide11.xml" Id="R7f6b4d568ade4d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a7a95decf34f70" /><Relationship Type="http://schemas.openxmlformats.org/officeDocument/2006/relationships/notesSlide" Target="/ppt/notesSlides/notesSlide12.xml" Id="R05b9f157680047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219b7c11d3714cf8" /><Relationship Type="http://schemas.openxmlformats.org/officeDocument/2006/relationships/notesSlide" Target="/ppt/notesSlides/notesSlide13.xml" Id="R1efc23ec7b4344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87892bf5ba241a3" /><Relationship Type="http://schemas.openxmlformats.org/officeDocument/2006/relationships/notesSlide" Target="/ppt/notesSlides/notesSlide14.xml" Id="Ra52ae20b80b247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50157345d5048ab" /><Relationship Type="http://schemas.openxmlformats.org/officeDocument/2006/relationships/notesSlide" Target="/ppt/notesSlides/notesSlide15.xml" Id="Rbf3ba69523ad45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49c3043a97a4d2b" /><Relationship Type="http://schemas.openxmlformats.org/officeDocument/2006/relationships/notesSlide" Target="/ppt/notesSlides/notesSlide16.xml" Id="R8230e189774f42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9148d90bd76243f8" /><Relationship Type="http://schemas.openxmlformats.org/officeDocument/2006/relationships/notesSlide" Target="/ppt/notesSlides/notesSlide17.xml" Id="R295aefa344344f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7f3f2f59654066" /><Relationship Type="http://schemas.openxmlformats.org/officeDocument/2006/relationships/notesSlide" Target="/ppt/notesSlides/notesSlide18.xml" Id="R01066072ff614b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58122e3ab0ba4883" /><Relationship Type="http://schemas.openxmlformats.org/officeDocument/2006/relationships/notesSlide" Target="/ppt/notesSlides/notesSlide19.xml" Id="R6b2dd9f68e594c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7ec3c90724a42fc" /><Relationship Type="http://schemas.openxmlformats.org/officeDocument/2006/relationships/notesSlide" Target="/ppt/notesSlides/notesSlide20.xml" Id="R0bda6c0acb3e4dd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1becaec7381426e" /><Relationship Type="http://schemas.openxmlformats.org/officeDocument/2006/relationships/notesSlide" Target="/ppt/notesSlides/notesSlide21.xml" Id="R9362cb9b4f844b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481c96b8493d4053" /><Relationship Type="http://schemas.openxmlformats.org/officeDocument/2006/relationships/notesSlide" Target="/ppt/notesSlides/notesSlide22.xml" Id="R540ab4cda49f431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753aa94cd8648c5" /><Relationship Type="http://schemas.openxmlformats.org/officeDocument/2006/relationships/notesSlide" Target="/ppt/notesSlides/notesSlide23.xml" Id="Ra18528dd364642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828d775980a453d" /><Relationship Type="http://schemas.openxmlformats.org/officeDocument/2006/relationships/notesSlide" Target="/ppt/notesSlides/notesSlide24.xml" Id="Rec23e06bfb164f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ff6ed3d9696643a2" /><Relationship Type="http://schemas.openxmlformats.org/officeDocument/2006/relationships/notesSlide" Target="/ppt/notesSlides/notesSlide25.xml" Id="R1d3052708a824b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8ee32e085f30491e" /><Relationship Type="http://schemas.openxmlformats.org/officeDocument/2006/relationships/notesSlide" Target="/ppt/notesSlides/notesSlide26.xml" Id="Rc8c9ca01a56741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f8f222e85544d97" /><Relationship Type="http://schemas.openxmlformats.org/officeDocument/2006/relationships/notesSlide" Target="/ppt/notesSlides/notesSlide27.xml" Id="R3ac7206b24fd469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9b79faddb624774" /><Relationship Type="http://schemas.openxmlformats.org/officeDocument/2006/relationships/notesSlide" Target="/ppt/notesSlides/notesSlide28.xml" Id="R6c454e42bd68458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fba0052e9d64368" /><Relationship Type="http://schemas.openxmlformats.org/officeDocument/2006/relationships/notesSlide" Target="/ppt/notesSlides/notesSlide29.xml" Id="Rfb64039a97024b6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f44c359e78f4fd5" /><Relationship Type="http://schemas.openxmlformats.org/officeDocument/2006/relationships/notesSlide" Target="/ppt/notesSlides/notesSlide30.xml" Id="Rd1bb057031454ef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2.xml" Id="R87f6cb65cb264914" /><Relationship Type="http://schemas.openxmlformats.org/officeDocument/2006/relationships/notesSlide" Target="/ppt/notesSlides/notesSlide31.xml" Id="Ra80caf8287264e8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fa1edc4bca74f42" /><Relationship Type="http://schemas.openxmlformats.org/officeDocument/2006/relationships/notesSlide" Target="/ppt/notesSlides/notesSlide32.xml" Id="R61859079a17f4f0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2.xml" Id="R67c04aa8482843c0" /><Relationship Type="http://schemas.openxmlformats.org/officeDocument/2006/relationships/notesSlide" Target="/ppt/notesSlides/notesSlide33.xml" Id="R24a87b35508f44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2.xml" Id="R5564a551a0db43f0" /><Relationship Type="http://schemas.openxmlformats.org/officeDocument/2006/relationships/notesSlide" Target="/ppt/notesSlides/notesSlide34.xml" Id="R3661667581004db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C85E96-AB59-4052-A80D-90F0A28BC6F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第15回　技術科への統合</a:t>
            </a:r>
          </a:p>
        </p:txBody>
      </p:sp>
      <p:cxnSp>
        <p:nvCxnSpPr>
          <p:cNvPr id="2" name="">
            <a:extLst xmlns:a="http://schemas.openxmlformats.org/drawingml/2006/main">
              <a:ext uri="{FF2B5EF4-FFF2-40B4-BE49-F238E27FC236}">
                <a16:creationId xmlns:a16="http://schemas.microsoft.com/office/drawing/2014/main" id="{22D2D186-9E9C-4D72-B7EF-9A62C7B6062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E928AA1-4E5C-41AB-96A7-5784334A052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BCADCEC9-9906-40B1-B59A-828A6DE5D41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CB8E3514-D401-4A67-85A4-78291B7B64C8}"/>
              </a:ext>
            </a:extLst>
          </p:cNvPr>
          <p:cNvSpPr>
            <a:spLocks xmlns:a="http://schemas.openxmlformats.org/drawingml/2006/main" noGrp="1"/>
          </p:cNvSpPr>
          <p:nvPr/>
        </p:nvSpPr>
        <p:spPr>
          <a:xfrm xmlns:a="http://schemas.openxmlformats.org/drawingml/2006/main">
            <a:off x="685800" y="2076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統合：構造・性能を技術科の授業へ</a:t>
            </a:r>
          </a:p>
        </p:txBody>
      </p:sp>
      <p:sp>
        <p:nvSpPr>
          <p:cNvPr id="6" name="">
            <a:extLst xmlns:a="http://schemas.openxmlformats.org/drawingml/2006/main">
              <a:ext uri="{FF2B5EF4-FFF2-40B4-BE49-F238E27FC236}">
                <a16:creationId xmlns:a16="http://schemas.microsoft.com/office/drawing/2014/main" id="{24051255-E391-4D7F-B441-3499C0DB9A8D}"/>
              </a:ext>
            </a:extLst>
          </p:cNvPr>
          <p:cNvSpPr>
            <a:spLocks xmlns:a="http://schemas.openxmlformats.org/drawingml/2006/main" noGrp="1"/>
          </p:cNvSpPr>
          <p:nvPr/>
        </p:nvSpPr>
        <p:spPr>
          <a:xfrm xmlns:a="http://schemas.openxmlformats.org/drawingml/2006/main">
            <a:off x="685800" y="375285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木材・木質材料の選択理由を説明し、中学校50分授業の観察・比較・評価へ結び付ける。</a:t>
            </a:r>
          </a:p>
        </p:txBody>
      </p:sp>
    </p:spTree>
    <p:extLst>
      <p:ext uri="{BB962C8B-B14F-4D97-AF65-F5344CB8AC3E}">
        <p14:creationId xmlns:p14="http://schemas.microsoft.com/office/powerpoint/2010/main" val="18748210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848307-35AC-4C91-B0B1-84AB0E52DE4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4FC1B084-9B66-4212-B454-2BC3731636A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331DDA1-A4F2-45C3-9F35-07D7CF7B307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638571F2-ABA0-47B0-8C2A-6507E2CBDBC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EB4E9A3A-876E-495C-8B11-4A696AF89B7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木材と木質材料を、構造・状態・製法で説明</a:t>
            </a:r>
          </a:p>
        </p:txBody>
      </p:sp>
      <p:sp>
        <p:nvSpPr>
          <p:cNvPr id="6" name="">
            <a:extLst xmlns:a="http://schemas.openxmlformats.org/drawingml/2006/main">
              <a:ext uri="{FF2B5EF4-FFF2-40B4-BE49-F238E27FC236}">
                <a16:creationId xmlns:a16="http://schemas.microsoft.com/office/drawing/2014/main" id="{B602468D-C087-4003-AA9E-C289978B883E}"/>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値の比較では、方向・単位・条件をそろえた</a:t>
            </a:r>
          </a:p>
        </p:txBody>
      </p:sp>
      <p:sp>
        <p:nvSpPr>
          <p:cNvPr id="7" name="">
            <a:extLst xmlns:a="http://schemas.openxmlformats.org/drawingml/2006/main">
              <a:ext uri="{FF2B5EF4-FFF2-40B4-BE49-F238E27FC236}">
                <a16:creationId xmlns:a16="http://schemas.microsoft.com/office/drawing/2014/main" id="{289610A0-5DF6-4241-BB3A-90CC37C82764}"/>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最後は、生徒が確かめられる授業へ組み立てる</a:t>
            </a:r>
          </a:p>
        </p:txBody>
      </p:sp>
    </p:spTree>
    <p:extLst>
      <p:ext uri="{BB962C8B-B14F-4D97-AF65-F5344CB8AC3E}">
        <p14:creationId xmlns:p14="http://schemas.microsoft.com/office/powerpoint/2010/main" val="9766445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DFD261-725B-4CFA-8BD6-F6043114928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541C6B9F-AC2D-4E6A-8844-00617BC6B6E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3C3983A-79E8-4C9A-A959-944557BFFA2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073C89E2-28A3-4736-93DC-42A64BB9E9A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2814CF89-9583-4CE0-BDCC-1100E1162B36}"/>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多孔質：壁と空隙の割合から、密度や水の移動を説明する</a:t>
            </a:r>
          </a:p>
        </p:txBody>
      </p:sp>
      <p:sp>
        <p:nvSpPr>
          <p:cNvPr id="6" name="">
            <a:extLst xmlns:a="http://schemas.openxmlformats.org/drawingml/2006/main">
              <a:ext uri="{FF2B5EF4-FFF2-40B4-BE49-F238E27FC236}">
                <a16:creationId xmlns:a16="http://schemas.microsoft.com/office/drawing/2014/main" id="{FF31C891-CBD1-415B-9CEE-BE8569B49AB9}"/>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目標例：二つの材料を用途に照らして比べ、採用理由を説明できる</a:t>
            </a:r>
          </a:p>
        </p:txBody>
      </p:sp>
      <p:sp>
        <p:nvSpPr>
          <p:cNvPr id="7" name="">
            <a:extLst xmlns:a="http://schemas.openxmlformats.org/drawingml/2006/main">
              <a:ext uri="{FF2B5EF4-FFF2-40B4-BE49-F238E27FC236}">
                <a16:creationId xmlns:a16="http://schemas.microsoft.com/office/drawing/2014/main" id="{5F5FF477-8BD7-4F46-AFAF-BE8D936A6CB3}"/>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期末テストの代わりに、4回の課題でまとまりごとの理解を確かめる</a:t>
            </a:r>
          </a:p>
        </p:txBody>
      </p:sp>
      <p:sp>
        <p:nvSpPr>
          <p:cNvPr id="8" name="">
            <a:extLst xmlns:a="http://schemas.openxmlformats.org/drawingml/2006/main">
              <a:ext uri="{FF2B5EF4-FFF2-40B4-BE49-F238E27FC236}">
                <a16:creationId xmlns:a16="http://schemas.microsoft.com/office/drawing/2014/main" id="{DB34C9FE-E8E7-4280-A931-C65D0A861C81}"/>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425311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D6624B-A348-4BE6-8D6B-19C3CE5DA47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科学と活動と評価</a:t>
            </a:r>
          </a:p>
        </p:txBody>
      </p:sp>
      <p:sp>
        <p:nvSpPr>
          <p:cNvPr id="2" name="">
            <a:extLst xmlns:a="http://schemas.openxmlformats.org/drawingml/2006/main">
              <a:ext uri="{FF2B5EF4-FFF2-40B4-BE49-F238E27FC236}">
                <a16:creationId xmlns:a16="http://schemas.microsoft.com/office/drawing/2014/main" id="{BBC0C555-DE0A-4FDA-B421-BA637C60CDD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BAF0C8-0E95-4B41-99A3-9C598D89FEF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0AB15CA6-8C3C-4327-A399-59A5F76AAC9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05EA5517-A48C-4097-91CF-C46F4F3B7A9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木材の性質を一つ選び、その根拠、生徒が比べる活動、理解を確認する提出</a:t>
            </a:r>
          </a:p>
        </p:txBody>
      </p:sp>
      <p:sp>
        <p:nvSpPr>
          <p:cNvPr id="6" name="">
            <a:extLst xmlns:a="http://schemas.openxmlformats.org/drawingml/2006/main">
              <a:ext uri="{FF2B5EF4-FFF2-40B4-BE49-F238E27FC236}">
                <a16:creationId xmlns:a16="http://schemas.microsoft.com/office/drawing/2014/main" id="{F9F34671-8022-4685-889D-421EE5C0F56C}"/>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物を一組で書いてください。</a:t>
            </a:r>
          </a:p>
        </p:txBody>
      </p:sp>
      <p:sp>
        <p:nvSpPr>
          <p:cNvPr id="7" name="">
            <a:extLst xmlns:a="http://schemas.openxmlformats.org/drawingml/2006/main">
              <a:ext uri="{FF2B5EF4-FFF2-40B4-BE49-F238E27FC236}">
                <a16:creationId xmlns:a16="http://schemas.microsoft.com/office/drawing/2014/main" id="{094FC57F-4258-4A21-9161-E00641855D61}"/>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13980842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960234-C6B4-4352-98BC-B7C59905CEE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科学的な理解を材料選択へ結ぶ</a:t>
            </a:r>
          </a:p>
        </p:txBody>
      </p:sp>
      <p:cxnSp>
        <p:nvCxnSpPr>
          <p:cNvPr id="2" name="">
            <a:extLst xmlns:a="http://schemas.openxmlformats.org/drawingml/2006/main">
              <a:ext uri="{FF2B5EF4-FFF2-40B4-BE49-F238E27FC236}">
                <a16:creationId xmlns:a16="http://schemas.microsoft.com/office/drawing/2014/main" id="{9F6639AF-997C-43F8-BD4F-5B44A9DFF49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DD21607-26B6-47C1-B80C-09BA09F8219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AA5CFA04-90E6-4F4A-B84E-897F0524FC6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B240A174-3EE9-49A3-B50B-513FAC8F78DA}"/>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多孔質：壁と空隙の割合から、密度や水の移動を説明する</a:t>
            </a:r>
          </a:p>
        </p:txBody>
      </p:sp>
      <p:sp>
        <p:nvSpPr>
          <p:cNvPr id="6" name="">
            <a:extLst xmlns:a="http://schemas.openxmlformats.org/drawingml/2006/main">
              <a:ext uri="{FF2B5EF4-FFF2-40B4-BE49-F238E27FC236}">
                <a16:creationId xmlns:a16="http://schemas.microsoft.com/office/drawing/2014/main" id="{8E037F48-7485-4E6D-97AA-0551F9D0BA82}"/>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異方性：細胞とミクロフィブリルの配向から、方向差を説明する</a:t>
            </a:r>
          </a:p>
        </p:txBody>
      </p:sp>
      <p:sp>
        <p:nvSpPr>
          <p:cNvPr id="7" name="">
            <a:extLst xmlns:a="http://schemas.openxmlformats.org/drawingml/2006/main">
              <a:ext uri="{FF2B5EF4-FFF2-40B4-BE49-F238E27FC236}">
                <a16:creationId xmlns:a16="http://schemas.microsoft.com/office/drawing/2014/main" id="{5F447BA4-1B2B-4A84-85A4-1FED4C144C69}"/>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水分：細胞壁中の水から、寸法・変形・劣化条件へつなぐ</a:t>
            </a:r>
          </a:p>
        </p:txBody>
      </p:sp>
      <p:sp>
        <p:nvSpPr>
          <p:cNvPr id="8" name="">
            <a:extLst xmlns:a="http://schemas.openxmlformats.org/drawingml/2006/main">
              <a:ext uri="{FF2B5EF4-FFF2-40B4-BE49-F238E27FC236}">
                <a16:creationId xmlns:a16="http://schemas.microsoft.com/office/drawing/2014/main" id="{60AB72EF-70CD-4BCC-8EBC-AEFC9060BC18}"/>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木質材料：要素と配向・接着から、調整した性能を説明する</a:t>
            </a:r>
          </a:p>
        </p:txBody>
      </p:sp>
      <p:sp>
        <p:nvSpPr>
          <p:cNvPr id="9" name="">
            <a:extLst xmlns:a="http://schemas.openxmlformats.org/drawingml/2006/main">
              <a:ext uri="{FF2B5EF4-FFF2-40B4-BE49-F238E27FC236}">
                <a16:creationId xmlns:a16="http://schemas.microsoft.com/office/drawing/2014/main" id="{EE2B6D00-BEEF-45BA-BCD2-B4E18B9F419E}"/>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用途の条件に照らし、複数の根拠を用いて材料を選ぶ</a:t>
            </a:r>
          </a:p>
        </p:txBody>
      </p:sp>
    </p:spTree>
    <p:extLst>
      <p:ext uri="{BB962C8B-B14F-4D97-AF65-F5344CB8AC3E}">
        <p14:creationId xmlns:p14="http://schemas.microsoft.com/office/powerpoint/2010/main" val="14162827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9F7CA4-5BB5-44F9-948F-A32CEE049FD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密度だけの判断</a:t>
            </a:r>
          </a:p>
        </p:txBody>
      </p:sp>
      <p:sp>
        <p:nvSpPr>
          <p:cNvPr id="2" name="">
            <a:extLst xmlns:a="http://schemas.openxmlformats.org/drawingml/2006/main">
              <a:ext uri="{FF2B5EF4-FFF2-40B4-BE49-F238E27FC236}">
                <a16:creationId xmlns:a16="http://schemas.microsoft.com/office/drawing/2014/main" id="{6095E120-8DCC-4ECD-B4EA-F261CAEB8BC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62270D-FFA9-4F39-B667-3E738DDC790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CD2F4D88-8D94-4111-A76C-752B570D653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F455D0A5-1928-4868-BBB6-C92F1D145F95}"/>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「密度が高い材料が常に最適」という説明へ、返却コメントと再考させる問</a:t>
            </a:r>
          </a:p>
        </p:txBody>
      </p:sp>
      <p:sp>
        <p:nvSpPr>
          <p:cNvPr id="6" name="">
            <a:extLst xmlns:a="http://schemas.openxmlformats.org/drawingml/2006/main">
              <a:ext uri="{FF2B5EF4-FFF2-40B4-BE49-F238E27FC236}">
                <a16:creationId xmlns:a16="http://schemas.microsoft.com/office/drawing/2014/main" id="{B88630FB-CDE6-4F06-9918-2A69C996684D}"/>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いを一つずつ書いてください。</a:t>
            </a:r>
          </a:p>
        </p:txBody>
      </p:sp>
      <p:sp>
        <p:nvSpPr>
          <p:cNvPr id="7" name="">
            <a:extLst xmlns:a="http://schemas.openxmlformats.org/drawingml/2006/main">
              <a:ext uri="{FF2B5EF4-FFF2-40B4-BE49-F238E27FC236}">
                <a16:creationId xmlns:a16="http://schemas.microsoft.com/office/drawing/2014/main" id="{B81B38F5-D0BD-4CB4-BFE6-53B44397BBE7}"/>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6385403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2529BE-CA01-4A78-8134-36F47F6EFCB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構造から授業の説明へ</a:t>
            </a:r>
          </a:p>
        </p:txBody>
      </p:sp>
      <p:cxnSp>
        <p:nvCxnSpPr>
          <p:cNvPr id="2" name="">
            <a:extLst xmlns:a="http://schemas.openxmlformats.org/drawingml/2006/main">
              <a:ext uri="{FF2B5EF4-FFF2-40B4-BE49-F238E27FC236}">
                <a16:creationId xmlns:a16="http://schemas.microsoft.com/office/drawing/2014/main" id="{9AA2251A-F3EE-40D0-BF5B-3B61FE54C38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3B2BEAA-70C7-4404-A372-872530717BA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7FA2AC85-D781-43FE-AAFC-D870CA546E1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21473504-8ACF-425B-840F-473DC4F80138}"/>
              </a:ext>
            </a:extLst>
          </p:cNvPr>
          <p:cNvSpPr>
            <a:spLocks xmlns:a="http://schemas.openxmlformats.org/drawingml/2006/main" noGrp="1"/>
          </p:cNvSpPr>
          <p:nvPr/>
        </p:nvSpPr>
        <p:spPr>
          <a:xfrm xmlns:a="http://schemas.openxmlformats.org/drawingml/2006/main">
            <a:off x="857250" y="2143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構造・成分</a:t>
            </a:r>
          </a:p>
        </p:txBody>
      </p:sp>
      <p:sp>
        <p:nvSpPr>
          <p:cNvPr id="6" name="">
            <a:extLst xmlns:a="http://schemas.openxmlformats.org/drawingml/2006/main">
              <a:ext uri="{FF2B5EF4-FFF2-40B4-BE49-F238E27FC236}">
                <a16:creationId xmlns:a16="http://schemas.microsoft.com/office/drawing/2014/main" id="{BF203335-63C8-4635-9ED6-4F6EA90374A9}"/>
              </a:ext>
            </a:extLst>
          </p:cNvPr>
          <p:cNvSpPr>
            <a:spLocks xmlns:a="http://schemas.openxmlformats.org/drawingml/2006/main" noGrp="1"/>
          </p:cNvSpPr>
          <p:nvPr/>
        </p:nvSpPr>
        <p:spPr>
          <a:xfrm xmlns:a="http://schemas.openxmlformats.org/drawingml/2006/main">
            <a:off x="4572000" y="2143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物性・加工</a:t>
            </a:r>
          </a:p>
        </p:txBody>
      </p:sp>
      <p:sp>
        <p:nvSpPr>
          <p:cNvPr id="7" name="">
            <a:extLst xmlns:a="http://schemas.openxmlformats.org/drawingml/2006/main">
              <a:ext uri="{FF2B5EF4-FFF2-40B4-BE49-F238E27FC236}">
                <a16:creationId xmlns:a16="http://schemas.microsoft.com/office/drawing/2014/main" id="{3A58B809-0579-412C-9505-674EDF337B01}"/>
              </a:ext>
            </a:extLst>
          </p:cNvPr>
          <p:cNvSpPr>
            <a:spLocks xmlns:a="http://schemas.openxmlformats.org/drawingml/2006/main" noGrp="1"/>
          </p:cNvSpPr>
          <p:nvPr/>
        </p:nvSpPr>
        <p:spPr>
          <a:xfrm xmlns:a="http://schemas.openxmlformats.org/drawingml/2006/main">
            <a:off x="8286750" y="2143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選択・利用</a:t>
            </a:r>
          </a:p>
        </p:txBody>
      </p:sp>
      <p:cxnSp>
        <p:nvCxnSpPr>
          <p:cNvPr id="8" name="">
            <a:extLst xmlns:a="http://schemas.openxmlformats.org/drawingml/2006/main">
              <a:ext uri="{FF2B5EF4-FFF2-40B4-BE49-F238E27FC236}">
                <a16:creationId xmlns:a16="http://schemas.microsoft.com/office/drawing/2014/main" id="{E24EB668-8F94-4FAF-AA4B-B1B3C28BB6E6}"/>
              </a:ext>
            </a:extLst>
          </p:cNvPr>
          <p:cNvCxnSpPr/>
          <p:nvPr/>
        </p:nvCxnSpPr>
        <p:spPr>
          <a:xfrm xmlns:a="http://schemas.openxmlformats.org/drawingml/2006/main" flipH="0" flipV="0">
            <a:off x="3762375" y="2505075"/>
            <a:ext cx="571500" cy="0"/>
          </a:xfrm>
          <a:prstGeom xmlns:a="http://schemas.openxmlformats.org/drawingml/2006/main" prst="straightConnector1">
            <a:avLst/>
          </a:prstGeom>
          <a:ln xmlns:a="http://schemas.openxmlformats.org/drawingml/2006/main" w="38100">
            <a:solidFill>
              <a:srgbClr val="087E8B"/>
            </a:solidFill>
            <a:tailEnd type="triangle" w="med" len="med"/>
          </a:ln>
        </p:spPr>
      </p:cxnSp>
      <p:cxnSp>
        <p:nvCxnSpPr>
          <p:cNvPr id="9" name="">
            <a:extLst xmlns:a="http://schemas.openxmlformats.org/drawingml/2006/main">
              <a:ext uri="{FF2B5EF4-FFF2-40B4-BE49-F238E27FC236}">
                <a16:creationId xmlns:a16="http://schemas.microsoft.com/office/drawing/2014/main" id="{EA675878-2D4F-4724-B236-24C1031449CC}"/>
              </a:ext>
            </a:extLst>
          </p:cNvPr>
          <p:cNvCxnSpPr/>
          <p:nvPr/>
        </p:nvCxnSpPr>
        <p:spPr>
          <a:xfrm xmlns:a="http://schemas.openxmlformats.org/drawingml/2006/main" flipH="0" flipV="0">
            <a:off x="7477125" y="2505075"/>
            <a:ext cx="571500" cy="0"/>
          </a:xfrm>
          <a:prstGeom xmlns:a="http://schemas.openxmlformats.org/drawingml/2006/main" prst="straightConnector1">
            <a:avLst/>
          </a:prstGeom>
          <a:ln xmlns:a="http://schemas.openxmlformats.org/drawingml/2006/main" w="38100">
            <a:solidFill>
              <a:srgbClr val="087E8B"/>
            </a:solidFill>
            <a:tailEnd type="triangle" w="med" len="med"/>
          </a:ln>
        </p:spPr>
      </p:cxnSp>
      <p:sp>
        <p:nvSpPr>
          <p:cNvPr id="10" name="">
            <a:extLst xmlns:a="http://schemas.openxmlformats.org/drawingml/2006/main">
              <a:ext uri="{FF2B5EF4-FFF2-40B4-BE49-F238E27FC236}">
                <a16:creationId xmlns:a16="http://schemas.microsoft.com/office/drawing/2014/main" id="{1CA5F49B-DE9F-4D5D-AEE1-F709896DB477}"/>
              </a:ext>
            </a:extLst>
          </p:cNvPr>
          <p:cNvSpPr>
            <a:spLocks xmlns:a="http://schemas.openxmlformats.org/drawingml/2006/main" noGrp="1"/>
          </p:cNvSpPr>
          <p:nvPr/>
        </p:nvSpPr>
        <p:spPr>
          <a:xfrm xmlns:a="http://schemas.openxmlformats.org/drawingml/2006/main">
            <a:off x="685800" y="39147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18364F"/>
                </a:solidFill>
                <a:latin typeface="Yu Gothic"/>
                <a:ea typeface="Yu Gothic"/>
                <a:cs typeface="Yu Gothic"/>
              </a:defRPr>
            </a:defPPr>
            <a:lvl1pPr algn="l">
              <a:buNone/>
              <a:defRPr sz="2625" b="1">
                <a:solidFill>
                  <a:srgbClr val="18364F"/>
                </a:solidFill>
                <a:latin typeface="Yu Gothic"/>
                <a:ea typeface="Yu Gothic"/>
                <a:cs typeface="Yu Gothic"/>
              </a:defRPr>
            </a:lvl1pPr>
            <a:lvl2pPr algn="l">
              <a:buNone/>
              <a:defRPr sz="2625" b="1">
                <a:solidFill>
                  <a:srgbClr val="18364F"/>
                </a:solidFill>
                <a:latin typeface="Yu Gothic"/>
                <a:ea typeface="Yu Gothic"/>
                <a:cs typeface="Yu Gothic"/>
              </a:defRPr>
            </a:lvl2pPr>
            <a:lvl3pPr algn="l">
              <a:buNone/>
              <a:defRPr sz="2625" b="1">
                <a:solidFill>
                  <a:srgbClr val="18364F"/>
                </a:solidFill>
                <a:latin typeface="Yu Gothic"/>
                <a:ea typeface="Yu Gothic"/>
                <a:cs typeface="Yu Gothic"/>
              </a:defRPr>
            </a:lvl3pPr>
            <a:lvl4pPr algn="l">
              <a:buNone/>
              <a:defRPr sz="2625" b="1">
                <a:solidFill>
                  <a:srgbClr val="18364F"/>
                </a:solidFill>
                <a:latin typeface="Yu Gothic"/>
                <a:ea typeface="Yu Gothic"/>
                <a:cs typeface="Yu Gothic"/>
              </a:defRPr>
            </a:lvl4pPr>
            <a:lvl5pPr algn="l">
              <a:buNone/>
              <a:defRPr sz="2625" b="1">
                <a:solidFill>
                  <a:srgbClr val="18364F"/>
                </a:solidFill>
                <a:latin typeface="Yu Gothic"/>
                <a:ea typeface="Yu Gothic"/>
                <a:cs typeface="Yu Gothic"/>
              </a:defRPr>
            </a:lvl5pPr>
            <a:lvl6pPr algn="l">
              <a:buNone/>
              <a:defRPr sz="2625" b="1">
                <a:solidFill>
                  <a:srgbClr val="18364F"/>
                </a:solidFill>
                <a:latin typeface="Yu Gothic"/>
                <a:ea typeface="Yu Gothic"/>
                <a:cs typeface="Yu Gothic"/>
              </a:defRPr>
            </a:lvl6pPr>
            <a:lvl7pPr algn="l">
              <a:buNone/>
              <a:defRPr sz="2625" b="1">
                <a:solidFill>
                  <a:srgbClr val="18364F"/>
                </a:solidFill>
                <a:latin typeface="Yu Gothic"/>
                <a:ea typeface="Yu Gothic"/>
                <a:cs typeface="Yu Gothic"/>
              </a:defRPr>
            </a:lvl7pPr>
            <a:lvl8pPr algn="l">
              <a:buNone/>
              <a:defRPr sz="2625" b="1">
                <a:solidFill>
                  <a:srgbClr val="18364F"/>
                </a:solidFill>
                <a:latin typeface="Yu Gothic"/>
                <a:ea typeface="Yu Gothic"/>
                <a:cs typeface="Yu Gothic"/>
              </a:defRPr>
            </a:lvl8pPr>
            <a:lvl9pPr algn="l">
              <a:buNone/>
              <a:defRPr sz="2625" b="1">
                <a:solidFill>
                  <a:srgbClr val="18364F"/>
                </a:solidFill>
                <a:latin typeface="Yu Gothic"/>
                <a:ea typeface="Yu Gothic"/>
                <a:cs typeface="Yu Gothic"/>
              </a:defRPr>
            </a:lvl9pPr>
          </a:lstStyle>
          <a:p xmlns:a="http://schemas.openxmlformats.org/drawingml/2006/main">
            <a:pPr algn="l">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方向・状態・寸法・荷重をそろえ、根拠を確かめる</a:t>
            </a:r>
          </a:p>
        </p:txBody>
      </p:sp>
      <p:sp>
        <p:nvSpPr>
          <p:cNvPr id="11" name="">
            <a:extLst xmlns:a="http://schemas.openxmlformats.org/drawingml/2006/main">
              <a:ext uri="{FF2B5EF4-FFF2-40B4-BE49-F238E27FC236}">
                <a16:creationId xmlns:a16="http://schemas.microsoft.com/office/drawing/2014/main" id="{C52A7323-BED9-4252-98D6-C3F1305E1D0C}"/>
              </a:ext>
            </a:extLst>
          </p:cNvPr>
          <p:cNvSpPr>
            <a:spLocks xmlns:a="http://schemas.openxmlformats.org/drawingml/2006/main" noGrp="1"/>
          </p:cNvSpPr>
          <p:nvPr/>
        </p:nvSpPr>
        <p:spPr>
          <a:xfrm xmlns:a="http://schemas.openxmlformats.org/drawingml/2006/main">
            <a:off x="685800" y="49053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観察と予想、データと計算、説明の改訂</a:t>
            </a:r>
          </a:p>
        </p:txBody>
      </p:sp>
    </p:spTree>
    <p:extLst>
      <p:ext uri="{BB962C8B-B14F-4D97-AF65-F5344CB8AC3E}">
        <p14:creationId xmlns:p14="http://schemas.microsoft.com/office/powerpoint/2010/main" val="12008571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7A5942-8DB9-4EAE-B67B-3CF0563E788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学習目標と評価する説明</a:t>
            </a:r>
          </a:p>
        </p:txBody>
      </p:sp>
      <p:cxnSp>
        <p:nvCxnSpPr>
          <p:cNvPr id="2" name="">
            <a:extLst xmlns:a="http://schemas.openxmlformats.org/drawingml/2006/main">
              <a:ext uri="{FF2B5EF4-FFF2-40B4-BE49-F238E27FC236}">
                <a16:creationId xmlns:a16="http://schemas.microsoft.com/office/drawing/2014/main" id="{85E698A6-B88A-433C-B0B5-EE189AF070A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3F082B9-B164-49F9-80C8-1CEE9728D27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4BB919CA-DE5C-4826-94AA-F0F3CB490D3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F0750B5B-CFF9-49DC-994E-A02045DF221F}"/>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目標例：二つの材料を用途に照らして比べ、採用理由を説明できる</a:t>
            </a:r>
          </a:p>
        </p:txBody>
      </p:sp>
      <p:sp>
        <p:nvSpPr>
          <p:cNvPr id="6" name="">
            <a:extLst xmlns:a="http://schemas.openxmlformats.org/drawingml/2006/main">
              <a:ext uri="{FF2B5EF4-FFF2-40B4-BE49-F238E27FC236}">
                <a16:creationId xmlns:a16="http://schemas.microsoft.com/office/drawing/2014/main" id="{38725B19-70BF-4D0A-8F8F-8FBAF38FF26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根拠の例：繊維方向、厚さとたわみ、水への対応、接合方法</a:t>
            </a:r>
          </a:p>
        </p:txBody>
      </p:sp>
      <p:sp>
        <p:nvSpPr>
          <p:cNvPr id="7" name="">
            <a:extLst xmlns:a="http://schemas.openxmlformats.org/drawingml/2006/main">
              <a:ext uri="{FF2B5EF4-FFF2-40B4-BE49-F238E27FC236}">
                <a16:creationId xmlns:a16="http://schemas.microsoft.com/office/drawing/2014/main" id="{FEC4FD3F-3970-473E-B497-06A242F08A2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提出物の例：比較表、選択した案、追加確認する条件</a:t>
            </a:r>
          </a:p>
        </p:txBody>
      </p:sp>
      <p:sp>
        <p:nvSpPr>
          <p:cNvPr id="8" name="">
            <a:extLst xmlns:a="http://schemas.openxmlformats.org/drawingml/2006/main">
              <a:ext uri="{FF2B5EF4-FFF2-40B4-BE49-F238E27FC236}">
                <a16:creationId xmlns:a16="http://schemas.microsoft.com/office/drawing/2014/main" id="{9AC35814-7133-4150-ABE7-6761D3AD49C0}"/>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基本達成：一つの性質を用途へ正しく結び付ける</a:t>
            </a:r>
          </a:p>
        </p:txBody>
      </p:sp>
      <p:sp>
        <p:nvSpPr>
          <p:cNvPr id="9" name="">
            <a:extLst xmlns:a="http://schemas.openxmlformats.org/drawingml/2006/main">
              <a:ext uri="{FF2B5EF4-FFF2-40B4-BE49-F238E27FC236}">
                <a16:creationId xmlns:a16="http://schemas.microsoft.com/office/drawing/2014/main" id="{458EEC2D-8F3F-48B9-8F73-CC19D38AEE39}"/>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十分達成：条件の兼ね合いと不足情報を含めて判断する</a:t>
            </a:r>
          </a:p>
        </p:txBody>
      </p:sp>
    </p:spTree>
    <p:extLst>
      <p:ext uri="{BB962C8B-B14F-4D97-AF65-F5344CB8AC3E}">
        <p14:creationId xmlns:p14="http://schemas.microsoft.com/office/powerpoint/2010/main" val="16171450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E8B730-9351-4618-BE4A-643E9DD871A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同じ断面積・同じ材料の二形状</a:t>
            </a:r>
          </a:p>
        </p:txBody>
      </p:sp>
      <p:sp>
        <p:nvSpPr>
          <p:cNvPr id="2" name="">
            <a:extLst xmlns:a="http://schemas.openxmlformats.org/drawingml/2006/main">
              <a:ext uri="{FF2B5EF4-FFF2-40B4-BE49-F238E27FC236}">
                <a16:creationId xmlns:a16="http://schemas.microsoft.com/office/drawing/2014/main" id="{818B92AC-0ED0-457B-9310-35041A9D5DF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76CE38-7A21-4430-82EF-2344D6A8A81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CFB6D2C7-3392-43AA-83EC-400F542DE71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graphicFrame>
        <p:nvGraphicFramePr>
          <p:cNvPr id="5" name="">
            <a:extLst xmlns:a="http://schemas.openxmlformats.org/drawingml/2006/main">
              <a:ext uri="{FF2B5EF4-FFF2-40B4-BE49-F238E27FC236}">
                <a16:creationId xmlns:a16="http://schemas.microsoft.com/office/drawing/2014/main" id="{64AFD5DB-E4C4-4C23-9E46-4DCFBF302A79}"/>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333750"/>
                <a:gridCol w="2381250"/>
                <a:gridCol w="2381250"/>
                <a:gridCol w="2381250"/>
              </a:tblGrid>
              <a:tr h="1079500">
                <a:tc>
                  <a:txBody>
                    <a:bodyPr lIns="95250" tIns="95250" rIns="95250" bIns="95250"/>
                    <a:lstStyle/>
                    <a:p>
                      <a:r>
                        <a:rPr sz="1950" b="1">
                          <a:solidFill>
                            <a:srgbClr val="FFFFFF"/>
                          </a:solidFill>
                          <a:latin typeface="Yu Gothic"/>
                          <a:ea typeface="Yu Gothic"/>
                          <a:cs typeface="Yu Gothic"/>
                        </a:rPr>
                        <a:t>授業モデル</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幅b / mm</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高さh / mm</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断面積 / mm²</a:t>
                      </a:r>
                    </a:p>
                  </a:txBody>
                  <a:tcPr marL="91440" marR="91440" marT="45720" marB="45720">
                    <a:solidFill>
                      <a:srgbClr val="18364F"/>
                    </a:solidFill>
                  </a:tcPr>
                </a:tc>
              </a:tr>
              <a:tr h="1079500">
                <a:tc>
                  <a:txBody>
                    <a:bodyPr lIns="95250" tIns="95250" rIns="95250" bIns="95250"/>
                    <a:lstStyle/>
                    <a:p>
                      <a:r>
                        <a:rPr sz="1950" b="0">
                          <a:solidFill>
                            <a:srgbClr val="253C4D"/>
                          </a:solidFill>
                          <a:latin typeface="Yu Gothic"/>
                          <a:ea typeface="Yu Gothic"/>
                          <a:cs typeface="Yu Gothic"/>
                        </a:rPr>
                        <a:t>A</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40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10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400</a:t>
                      </a:r>
                    </a:p>
                  </a:txBody>
                  <a:tcPr marL="91440" marR="91440" marT="45720" marB="45720">
                    <a:solidFill>
                      <a:srgbClr val="F1F5F7"/>
                    </a:solidFill>
                  </a:tcPr>
                </a:tc>
              </a:tr>
              <a:tr h="1079500">
                <a:tc>
                  <a:txBody>
                    <a:bodyPr lIns="95250" tIns="95250" rIns="95250" bIns="95250"/>
                    <a:lstStyle/>
                    <a:p>
                      <a:r>
                        <a:rPr sz="1950" b="0">
                          <a:solidFill>
                            <a:srgbClr val="253C4D"/>
                          </a:solidFill>
                          <a:latin typeface="Yu Gothic"/>
                          <a:ea typeface="Yu Gothic"/>
                          <a:cs typeface="Yu Gothic"/>
                        </a:rPr>
                        <a:t>B</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20</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20</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400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B12E26A-D20F-49F3-8925-5D68381DB9EC}"/>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同じE・F・L、小変形の曲げモデル。A4の数値問題とは別の例。</a:t>
            </a:r>
          </a:p>
        </p:txBody>
      </p:sp>
    </p:spTree>
    <p:extLst>
      <p:ext uri="{BB962C8B-B14F-4D97-AF65-F5344CB8AC3E}">
        <p14:creationId xmlns:p14="http://schemas.microsoft.com/office/powerpoint/2010/main" val="1335377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77240E-F5A3-430B-A99D-B4E81BECD2E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断面積一定の比較と、幅一定の比較</a:t>
            </a:r>
          </a:p>
        </p:txBody>
      </p:sp>
      <p:sp>
        <p:nvSpPr>
          <p:cNvPr id="2" name="">
            <a:extLst xmlns:a="http://schemas.openxmlformats.org/drawingml/2006/main">
              <a:ext uri="{FF2B5EF4-FFF2-40B4-BE49-F238E27FC236}">
                <a16:creationId xmlns:a16="http://schemas.microsoft.com/office/drawing/2014/main" id="{649FF19D-B92C-4A6D-A795-F44001448EB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E52F47-0112-4D14-8596-187AC0599AD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6CDCD4B0-9CF9-41CF-838B-5761EB9E398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F5F68271-669C-4FAB-A5B0-4446B9CE500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断面積一定：高さ2倍・幅1/2なら I は4倍</a:t>
            </a:r>
          </a:p>
        </p:txBody>
      </p:sp>
      <p:sp>
        <p:nvSpPr>
          <p:cNvPr id="6" name="">
            <a:extLst xmlns:a="http://schemas.openxmlformats.org/drawingml/2006/main">
              <a:ext uri="{FF2B5EF4-FFF2-40B4-BE49-F238E27FC236}">
                <a16:creationId xmlns:a16="http://schemas.microsoft.com/office/drawing/2014/main" id="{05F96D7C-AECE-4AFB-B50D-562C05280F6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幅一定：高さ2倍なら I は8倍</a:t>
            </a:r>
          </a:p>
        </p:txBody>
      </p:sp>
      <p:sp>
        <p:nvSpPr>
          <p:cNvPr id="7" name="">
            <a:extLst xmlns:a="http://schemas.openxmlformats.org/drawingml/2006/main">
              <a:ext uri="{FF2B5EF4-FFF2-40B4-BE49-F238E27FC236}">
                <a16:creationId xmlns:a16="http://schemas.microsoft.com/office/drawing/2014/main" id="{81BB992F-0FEB-44BC-8481-93893A8E894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同じE・F・Lの曲げモデルでは、δはIに反比例</a:t>
            </a:r>
          </a:p>
        </p:txBody>
      </p:sp>
      <p:sp>
        <p:nvSpPr>
          <p:cNvPr id="8" name="">
            <a:extLst xmlns:a="http://schemas.openxmlformats.org/drawingml/2006/main">
              <a:ext uri="{FF2B5EF4-FFF2-40B4-BE49-F238E27FC236}">
                <a16:creationId xmlns:a16="http://schemas.microsoft.com/office/drawing/2014/main" id="{A7F11D45-2C0B-4FCC-B73F-533F1A72810A}"/>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観察の前に「そろえる条件・変える条件」を指定</a:t>
            </a:r>
          </a:p>
        </p:txBody>
      </p:sp>
      <p:sp>
        <p:nvSpPr>
          <p:cNvPr id="9" name="">
            <a:extLst xmlns:a="http://schemas.openxmlformats.org/drawingml/2006/main">
              <a:ext uri="{FF2B5EF4-FFF2-40B4-BE49-F238E27FC236}">
                <a16:creationId xmlns:a16="http://schemas.microsoft.com/office/drawing/2014/main" id="{75FBF2C4-BF04-4C36-8353-701815604628}"/>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式は教員の根拠。生徒の観察と説明へ結び付ける。</a:t>
            </a:r>
          </a:p>
        </p:txBody>
      </p:sp>
    </p:spTree>
    <p:extLst>
      <p:ext uri="{BB962C8B-B14F-4D97-AF65-F5344CB8AC3E}">
        <p14:creationId xmlns:p14="http://schemas.microsoft.com/office/powerpoint/2010/main" val="19335228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DE77B3-362E-495D-B5B0-0A56BDE252B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観察できる目標</a:t>
            </a:r>
          </a:p>
        </p:txBody>
      </p:sp>
      <p:sp>
        <p:nvSpPr>
          <p:cNvPr id="2" name="">
            <a:extLst xmlns:a="http://schemas.openxmlformats.org/drawingml/2006/main">
              <a:ext uri="{FF2B5EF4-FFF2-40B4-BE49-F238E27FC236}">
                <a16:creationId xmlns:a16="http://schemas.microsoft.com/office/drawing/2014/main" id="{61F421CC-BA46-4E33-B696-389FA683EE6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72E4B1-38A9-4C30-8065-75B69B46A7B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D15799AF-488E-460C-9578-9C86DF522AE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6DFF0ED1-49C4-4C79-AF87-E2F89F5BB54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「木材を理解する」を、何を比べ、何を根拠に、何を説明できるかが分かる</a:t>
            </a:r>
          </a:p>
        </p:txBody>
      </p:sp>
      <p:sp>
        <p:nvSpPr>
          <p:cNvPr id="6" name="">
            <a:extLst xmlns:a="http://schemas.openxmlformats.org/drawingml/2006/main">
              <a:ext uri="{FF2B5EF4-FFF2-40B4-BE49-F238E27FC236}">
                <a16:creationId xmlns:a16="http://schemas.microsoft.com/office/drawing/2014/main" id="{7EE79C0B-9979-45F8-8072-0C7209D96664}"/>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学習目標へ書き換えてください。</a:t>
            </a:r>
          </a:p>
        </p:txBody>
      </p:sp>
      <p:sp>
        <p:nvSpPr>
          <p:cNvPr id="7" name="">
            <a:extLst xmlns:a="http://schemas.openxmlformats.org/drawingml/2006/main">
              <a:ext uri="{FF2B5EF4-FFF2-40B4-BE49-F238E27FC236}">
                <a16:creationId xmlns:a16="http://schemas.microsoft.com/office/drawing/2014/main" id="{BA1A108B-C5D8-453E-B2DE-74E2B260366F}"/>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20317852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44BB39-5D41-470C-A01E-7F54DF2667F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B6F225EA-1E67-4F60-8A9E-1366EA283C8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04C6B2-3715-40F8-BEEC-B4BC1C304BE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0A9E61DC-BE36-4A9A-A163-B35B6713DAF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941410B1-5C7E-46A4-9FF8-B1541300E9AE}"/>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F6DE032C-4481-441C-8F2E-B5ACC14EDEF6}"/>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8546B590-01D3-4839-9547-F98D84E462F1}"/>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22A2F26-ADCB-4439-8C5A-C938C28A5E84}"/>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再開したら：50分授業の構成例：断面とたわみへ進みます。</a:t>
            </a:r>
          </a:p>
        </p:txBody>
      </p:sp>
    </p:spTree>
    <p:extLst>
      <p:ext uri="{BB962C8B-B14F-4D97-AF65-F5344CB8AC3E}">
        <p14:creationId xmlns:p14="http://schemas.microsoft.com/office/powerpoint/2010/main" val="1023416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69E60B-A848-4B85-B1AC-8C20B2DE5FD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50分授業の構成例：断面とたわみ</a:t>
            </a:r>
          </a:p>
        </p:txBody>
      </p:sp>
      <p:cxnSp>
        <p:nvCxnSpPr>
          <p:cNvPr id="2" name="">
            <a:extLst xmlns:a="http://schemas.openxmlformats.org/drawingml/2006/main">
              <a:ext uri="{FF2B5EF4-FFF2-40B4-BE49-F238E27FC236}">
                <a16:creationId xmlns:a16="http://schemas.microsoft.com/office/drawing/2014/main" id="{C07C2379-8196-4411-ACC9-D14C74846D6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E89B693-A1C1-41F9-BA0C-A6D1E1BAF4E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E33A9443-0B06-4219-A370-DC419F5D555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graphicFrame>
        <p:nvGraphicFramePr>
          <p:cNvPr id="5" name="">
            <a:extLst xmlns:a="http://schemas.openxmlformats.org/drawingml/2006/main">
              <a:ext uri="{FF2B5EF4-FFF2-40B4-BE49-F238E27FC236}">
                <a16:creationId xmlns:a16="http://schemas.microsoft.com/office/drawing/2014/main" id="{933F92B3-E0BD-469C-8345-F7E7E9085B15}"/>
              </a:ext>
            </a:extLst>
          </p:cNvPr>
          <p:cNvGraphicFramePr/>
          <p:nvPr/>
        </p:nvGraphicFramePr>
        <p:xfrm>
          <a:off xmlns:a="http://schemas.openxmlformats.org/drawingml/2006/main" x="685800" y="1657350"/>
          <a:ext xmlns:a="http://schemas.openxmlformats.org/drawingml/2006/main" cx="10820400" cy="4000500"/>
        </p:xfrm>
        <a:graphic xmlns:a="http://schemas.openxmlformats.org/drawingml/2006/main">
          <a:graphicData uri="http://schemas.openxmlformats.org/drawingml/2006/table">
            <a:tbl>
              <a:tblPr/>
              <a:tblGrid>
                <a:gridCol w="2524125"/>
                <a:gridCol w="3905250"/>
                <a:gridCol w="4391025"/>
              </a:tblGrid>
              <a:tr h="800100">
                <a:tc>
                  <a:txBody>
                    <a:bodyPr lIns="95250" tIns="95250" rIns="95250" bIns="95250"/>
                    <a:lstStyle/>
                    <a:p>
                      <a:r>
                        <a:rPr sz="1875" b="1">
                          <a:solidFill>
                            <a:srgbClr val="FFFFFF"/>
                          </a:solidFill>
                          <a:latin typeface="Yu Gothic"/>
                          <a:ea typeface="Yu Gothic"/>
                          <a:cs typeface="Yu Gothic"/>
                        </a:rPr>
                        <a:t>時間</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75" b="1">
                          <a:solidFill>
                            <a:srgbClr val="FFFFFF"/>
                          </a:solidFill>
                          <a:latin typeface="Yu Gothic"/>
                          <a:ea typeface="Yu Gothic"/>
                          <a:cs typeface="Yu Gothic"/>
                        </a:rPr>
                        <a:t>生徒の活動</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75" b="1">
                          <a:solidFill>
                            <a:srgbClr val="FFFFFF"/>
                          </a:solidFill>
                          <a:latin typeface="Yu Gothic"/>
                          <a:ea typeface="Yu Gothic"/>
                          <a:cs typeface="Yu Gothic"/>
                        </a:rPr>
                        <a:t>確認する理解・記録</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00100">
                <a:tc>
                  <a:txBody>
                    <a:bodyPr lIns="95250" tIns="95250" rIns="95250" bIns="95250"/>
                    <a:lstStyle/>
                    <a:p>
                      <a:r>
                        <a:rPr sz="1875" b="0">
                          <a:solidFill>
                            <a:srgbClr val="253C4D"/>
                          </a:solidFill>
                          <a:latin typeface="Yu Gothic"/>
                          <a:ea typeface="Yu Gothic"/>
                          <a:cs typeface="Yu Gothic"/>
                        </a:rPr>
                        <a:t>0～8分</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2形状のたわみを予想</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支点間距離・断面積・材料を確認</a:t>
                      </a:r>
                    </a:p>
                  </a:txBody>
                  <a:tcPr marL="91440" marR="91440" marT="45720" marB="45720" anchor="ctr">
                    <a:lnR w="9525">
                      <a:solidFill>
                        <a:srgbClr val="C8D3DD"/>
                      </a:solidFill>
                    </a:lnR>
                    <a:lnB w="9525">
                      <a:solidFill>
                        <a:srgbClr val="C8D3DD"/>
                      </a:solidFill>
                    </a:lnB>
                    <a:solidFill>
                      <a:srgbClr val="EDF2F6"/>
                    </a:solidFill>
                  </a:tcPr>
                </a:tc>
              </a:tr>
              <a:tr h="800100">
                <a:tc>
                  <a:txBody>
                    <a:bodyPr lIns="95250" tIns="95250" rIns="95250" bIns="95250"/>
                    <a:lstStyle/>
                    <a:p>
                      <a:r>
                        <a:rPr sz="1875" b="0">
                          <a:solidFill>
                            <a:srgbClr val="253C4D"/>
                          </a:solidFill>
                          <a:latin typeface="Yu Gothic"/>
                          <a:ea typeface="Yu Gothic"/>
                          <a:cs typeface="Yu Gothic"/>
                        </a:rPr>
                        <a:t>8～25分</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同じ荷重で比較・記録</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幅と高さ、たわみ、荷重を表に残す</a:t>
                      </a:r>
                    </a:p>
                  </a:txBody>
                  <a:tcPr marL="91440" marR="91440" marT="45720" marB="45720" anchor="ctr">
                    <a:lnR w="9525">
                      <a:solidFill>
                        <a:srgbClr val="C8D3DD"/>
                      </a:solidFill>
                    </a:lnR>
                    <a:lnB w="9525">
                      <a:solidFill>
                        <a:srgbClr val="C8D3DD"/>
                      </a:solidFill>
                    </a:lnB>
                    <a:solidFill>
                      <a:srgbClr val="FFFFFF"/>
                    </a:solidFill>
                  </a:tcPr>
                </a:tc>
              </a:tr>
              <a:tr h="800100">
                <a:tc>
                  <a:txBody>
                    <a:bodyPr lIns="95250" tIns="95250" rIns="95250" bIns="95250"/>
                    <a:lstStyle/>
                    <a:p>
                      <a:r>
                        <a:rPr sz="1875" b="0">
                          <a:solidFill>
                            <a:srgbClr val="253C4D"/>
                          </a:solidFill>
                          <a:latin typeface="Yu Gothic"/>
                          <a:ea typeface="Yu Gothic"/>
                          <a:cs typeface="Yu Gothic"/>
                        </a:rPr>
                        <a:t>25～40分</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棚板の向きと支持を選ぶ</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観察結果を選択理由に結び付ける</a:t>
                      </a:r>
                    </a:p>
                  </a:txBody>
                  <a:tcPr marL="91440" marR="91440" marT="45720" marB="45720" anchor="ctr">
                    <a:lnR w="9525">
                      <a:solidFill>
                        <a:srgbClr val="C8D3DD"/>
                      </a:solidFill>
                    </a:lnR>
                    <a:lnB w="9525">
                      <a:solidFill>
                        <a:srgbClr val="C8D3DD"/>
                      </a:solidFill>
                    </a:lnB>
                    <a:solidFill>
                      <a:srgbClr val="EDF2F6"/>
                    </a:solidFill>
                  </a:tcPr>
                </a:tc>
              </a:tr>
              <a:tr h="800100">
                <a:tc>
                  <a:txBody>
                    <a:bodyPr lIns="95250" tIns="95250" rIns="95250" bIns="95250"/>
                    <a:lstStyle/>
                    <a:p>
                      <a:r>
                        <a:rPr sz="1875" b="0">
                          <a:solidFill>
                            <a:srgbClr val="253C4D"/>
                          </a:solidFill>
                          <a:latin typeface="Yu Gothic"/>
                          <a:ea typeface="Yu Gothic"/>
                          <a:cs typeface="Yu Gothic"/>
                        </a:rPr>
                        <a:t>40～50分</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説明を共有し、改訂する</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条件と根拠を出口カードに記す</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2013157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43DE6D-EBC4-428C-836A-7ADE0804A34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五十分の時間配分</a:t>
            </a:r>
          </a:p>
        </p:txBody>
      </p:sp>
      <p:sp>
        <p:nvSpPr>
          <p:cNvPr id="2" name="">
            <a:extLst xmlns:a="http://schemas.openxmlformats.org/drawingml/2006/main">
              <a:ext uri="{FF2B5EF4-FFF2-40B4-BE49-F238E27FC236}">
                <a16:creationId xmlns:a16="http://schemas.microsoft.com/office/drawing/2014/main" id="{D58940AA-A8E4-4C49-8037-FC66CC42D25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D219EB-2AC2-4308-9CDA-5E685EA8A79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65BD3E2D-903D-495F-9E21-AAACAD32D04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02046BB4-0D66-4E46-B8DC-BEC267F859C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表の授業例へ準備・片付け・説明の改訂を含め、合計五十分になる配分を書</a:t>
            </a:r>
          </a:p>
        </p:txBody>
      </p:sp>
      <p:sp>
        <p:nvSpPr>
          <p:cNvPr id="6" name="">
            <a:extLst xmlns:a="http://schemas.openxmlformats.org/drawingml/2006/main">
              <a:ext uri="{FF2B5EF4-FFF2-40B4-BE49-F238E27FC236}">
                <a16:creationId xmlns:a16="http://schemas.microsoft.com/office/drawing/2014/main" id="{7DB616ED-8FDA-4636-B79B-A7E57CAB612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いてください。実施が難しければ、写真や提供データへ置き換える部分も示</a:t>
            </a:r>
          </a:p>
        </p:txBody>
      </p:sp>
      <p:sp>
        <p:nvSpPr>
          <p:cNvPr id="7" name="">
            <a:extLst xmlns:a="http://schemas.openxmlformats.org/drawingml/2006/main">
              <a:ext uri="{FF2B5EF4-FFF2-40B4-BE49-F238E27FC236}">
                <a16:creationId xmlns:a16="http://schemas.microsoft.com/office/drawing/2014/main" id="{9CD6BBF9-9A41-49E0-85F9-BA7DB542BE5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します。</a:t>
            </a:r>
          </a:p>
        </p:txBody>
      </p:sp>
      <p:sp>
        <p:nvSpPr>
          <p:cNvPr id="8" name="">
            <a:extLst xmlns:a="http://schemas.openxmlformats.org/drawingml/2006/main">
              <a:ext uri="{FF2B5EF4-FFF2-40B4-BE49-F238E27FC236}">
                <a16:creationId xmlns:a16="http://schemas.microsoft.com/office/drawing/2014/main" id="{A85FEF52-1196-4C68-A3B3-6FD49504B51E}"/>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11382275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0A3EB7-9EF2-49A7-8E60-F0B07012BCF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学習目標の書き換え</a:t>
            </a:r>
          </a:p>
        </p:txBody>
      </p:sp>
      <p:cxnSp>
        <p:nvCxnSpPr>
          <p:cNvPr id="2" name="">
            <a:extLst xmlns:a="http://schemas.openxmlformats.org/drawingml/2006/main">
              <a:ext uri="{FF2B5EF4-FFF2-40B4-BE49-F238E27FC236}">
                <a16:creationId xmlns:a16="http://schemas.microsoft.com/office/drawing/2014/main" id="{EEE648D8-FEC5-45FE-AD7A-0F39CA7BDC5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4F1E9D4B-6FFE-4D80-8181-E38C6620254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B4C9C9D8-75AE-45AA-8644-9ABC7C96A12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15812E19-4A02-4B9A-B140-11DCEF332ABA}"/>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学習目標：「木材の特徴を知る」</a:t>
            </a:r>
          </a:p>
        </p:txBody>
      </p:sp>
      <p:sp>
        <p:nvSpPr>
          <p:cNvPr id="6" name="">
            <a:extLst xmlns:a="http://schemas.openxmlformats.org/drawingml/2006/main">
              <a:ext uri="{FF2B5EF4-FFF2-40B4-BE49-F238E27FC236}">
                <a16:creationId xmlns:a16="http://schemas.microsoft.com/office/drawing/2014/main" id="{D079FA01-3006-4661-B5BE-685574358C9E}"/>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活動：「板を自由に曲げて感想を書く」</a:t>
            </a:r>
          </a:p>
        </p:txBody>
      </p:sp>
      <p:sp>
        <p:nvSpPr>
          <p:cNvPr id="7" name="">
            <a:extLst xmlns:a="http://schemas.openxmlformats.org/drawingml/2006/main">
              <a:ext uri="{FF2B5EF4-FFF2-40B4-BE49-F238E27FC236}">
                <a16:creationId xmlns:a16="http://schemas.microsoft.com/office/drawing/2014/main" id="{3ECB9CCC-16AB-4551-9FE3-8CD9F2C38141}"/>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この案に不足する条件と評価を挙げる</a:t>
            </a:r>
          </a:p>
        </p:txBody>
      </p:sp>
      <p:sp>
        <p:nvSpPr>
          <p:cNvPr id="8" name="">
            <a:extLst xmlns:a="http://schemas.openxmlformats.org/drawingml/2006/main">
              <a:ext uri="{FF2B5EF4-FFF2-40B4-BE49-F238E27FC236}">
                <a16:creationId xmlns:a16="http://schemas.microsoft.com/office/drawing/2014/main" id="{BBA76425-A577-490F-929C-E57141055B63}"/>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中学生が確かめられる目標へ書き直す</a:t>
            </a:r>
          </a:p>
        </p:txBody>
      </p:sp>
    </p:spTree>
    <p:extLst>
      <p:ext uri="{BB962C8B-B14F-4D97-AF65-F5344CB8AC3E}">
        <p14:creationId xmlns:p14="http://schemas.microsoft.com/office/powerpoint/2010/main" val="4798439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A80E42-AB80-4A1D-B88A-7B763FAE708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学習目標の書き換え</a:t>
            </a:r>
          </a:p>
        </p:txBody>
      </p:sp>
      <p:cxnSp>
        <p:nvCxnSpPr>
          <p:cNvPr id="2" name="">
            <a:extLst xmlns:a="http://schemas.openxmlformats.org/drawingml/2006/main">
              <a:ext uri="{FF2B5EF4-FFF2-40B4-BE49-F238E27FC236}">
                <a16:creationId xmlns:a16="http://schemas.microsoft.com/office/drawing/2014/main" id="{3A5E2247-8654-4455-8D47-5D7569CD134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0DEE830-B915-4359-B4C2-D8DA1B4F93B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1D7CCF07-8EF4-43FA-8BBC-0BC0E99CE3F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996C53A6-A154-458F-960E-E63DA4668774}"/>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方向・寸法・支え方・荷重等の比較条件を指定</a:t>
            </a:r>
          </a:p>
        </p:txBody>
      </p:sp>
      <p:sp>
        <p:nvSpPr>
          <p:cNvPr id="6" name="">
            <a:extLst xmlns:a="http://schemas.openxmlformats.org/drawingml/2006/main">
              <a:ext uri="{FF2B5EF4-FFF2-40B4-BE49-F238E27FC236}">
                <a16:creationId xmlns:a16="http://schemas.microsoft.com/office/drawing/2014/main" id="{660808A8-2CA9-4514-A93C-9495F5B4D74F}"/>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同じ断面積の2形状を図示し、たわみを比較</a:t>
            </a:r>
          </a:p>
        </p:txBody>
      </p:sp>
      <p:sp>
        <p:nvSpPr>
          <p:cNvPr id="7" name="">
            <a:extLst xmlns:a="http://schemas.openxmlformats.org/drawingml/2006/main">
              <a:ext uri="{FF2B5EF4-FFF2-40B4-BE49-F238E27FC236}">
                <a16:creationId xmlns:a16="http://schemas.microsoft.com/office/drawing/2014/main" id="{19F23373-CC9C-4F77-8EA6-6784B0B208D6}"/>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「条件をそろえ、違いを構造やIで説明できる」</a:t>
            </a:r>
          </a:p>
        </p:txBody>
      </p:sp>
      <p:sp>
        <p:nvSpPr>
          <p:cNvPr id="8" name="">
            <a:extLst xmlns:a="http://schemas.openxmlformats.org/drawingml/2006/main">
              <a:ext uri="{FF2B5EF4-FFF2-40B4-BE49-F238E27FC236}">
                <a16:creationId xmlns:a16="http://schemas.microsoft.com/office/drawing/2014/main" id="{E77D24AB-DEB8-4548-81EA-9754594B2501}"/>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過大な荷重や破壊を前提にしない活動にする</a:t>
            </a:r>
          </a:p>
        </p:txBody>
      </p:sp>
    </p:spTree>
    <p:extLst>
      <p:ext uri="{BB962C8B-B14F-4D97-AF65-F5344CB8AC3E}">
        <p14:creationId xmlns:p14="http://schemas.microsoft.com/office/powerpoint/2010/main" val="13034280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A9C5C9-1795-45C8-9345-B64E00CD769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観察から改善までの学習</a:t>
            </a:r>
          </a:p>
        </p:txBody>
      </p:sp>
      <p:cxnSp>
        <p:nvCxnSpPr>
          <p:cNvPr id="2" name="">
            <a:extLst xmlns:a="http://schemas.openxmlformats.org/drawingml/2006/main">
              <a:ext uri="{FF2B5EF4-FFF2-40B4-BE49-F238E27FC236}">
                <a16:creationId xmlns:a16="http://schemas.microsoft.com/office/drawing/2014/main" id="{78D84075-89B7-4517-84D2-81D387DCB79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E46CF6B-E348-40A0-AB3D-F6C22F63495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FFDA8CB7-C6CB-499C-9CAF-4BCEDB5442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02FC1F92-0038-40C7-9193-D2404433B664}"/>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観察：表面と端面を比べ、木材・木質材料の構成を読む</a:t>
            </a:r>
          </a:p>
        </p:txBody>
      </p:sp>
      <p:sp>
        <p:nvSpPr>
          <p:cNvPr id="6" name="">
            <a:extLst xmlns:a="http://schemas.openxmlformats.org/drawingml/2006/main">
              <a:ext uri="{FF2B5EF4-FFF2-40B4-BE49-F238E27FC236}">
                <a16:creationId xmlns:a16="http://schemas.microsoft.com/office/drawing/2014/main" id="{B2831E7C-421E-4BC7-9E29-9CBAA4181942}"/>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比較：形や方向を一つずつ変え、結果を根拠付きで記録する</a:t>
            </a:r>
          </a:p>
        </p:txBody>
      </p:sp>
      <p:sp>
        <p:nvSpPr>
          <p:cNvPr id="7" name="">
            <a:extLst xmlns:a="http://schemas.openxmlformats.org/drawingml/2006/main">
              <a:ext uri="{FF2B5EF4-FFF2-40B4-BE49-F238E27FC236}">
                <a16:creationId xmlns:a16="http://schemas.microsoft.com/office/drawing/2014/main" id="{A62622E1-5568-4F72-8503-9D2DC19D0259}"/>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選択：用途に合う材料・寸法・接合を、理由とともに提案する</a:t>
            </a:r>
          </a:p>
        </p:txBody>
      </p:sp>
      <p:sp>
        <p:nvSpPr>
          <p:cNvPr id="8" name="">
            <a:extLst xmlns:a="http://schemas.openxmlformats.org/drawingml/2006/main">
              <a:ext uri="{FF2B5EF4-FFF2-40B4-BE49-F238E27FC236}">
                <a16:creationId xmlns:a16="http://schemas.microsoft.com/office/drawing/2014/main" id="{F5846093-851F-4F21-BDFC-C1AD9D132108}"/>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試作と評価：加工結果や使用時の振る舞いから、選択を見直す</a:t>
            </a:r>
          </a:p>
        </p:txBody>
      </p:sp>
      <p:sp>
        <p:nvSpPr>
          <p:cNvPr id="9" name="">
            <a:extLst xmlns:a="http://schemas.openxmlformats.org/drawingml/2006/main">
              <a:ext uri="{FF2B5EF4-FFF2-40B4-BE49-F238E27FC236}">
                <a16:creationId xmlns:a16="http://schemas.microsoft.com/office/drawing/2014/main" id="{A09C3092-F6FA-4286-B61A-2B121C4968B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50分の一授業では、この流れのどこを確かめるかを絞る</a:t>
            </a:r>
          </a:p>
        </p:txBody>
      </p:sp>
    </p:spTree>
    <p:extLst>
      <p:ext uri="{BB962C8B-B14F-4D97-AF65-F5344CB8AC3E}">
        <p14:creationId xmlns:p14="http://schemas.microsoft.com/office/powerpoint/2010/main" val="9776992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A3B208-C03A-4727-BDFF-A19146ACFAE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一授業で確かめる範囲</a:t>
            </a:r>
          </a:p>
        </p:txBody>
      </p:sp>
      <p:sp>
        <p:nvSpPr>
          <p:cNvPr id="2" name="">
            <a:extLst xmlns:a="http://schemas.openxmlformats.org/drawingml/2006/main">
              <a:ext uri="{FF2B5EF4-FFF2-40B4-BE49-F238E27FC236}">
                <a16:creationId xmlns:a16="http://schemas.microsoft.com/office/drawing/2014/main" id="{9DF6C8E5-4A20-4C1F-B618-37FA74376F6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74E1A4-AF81-40F2-8584-F3A610FB43F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F83E61AC-3A3F-4A4C-9E85-75B48723412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EB1E694A-05D8-4417-A630-FF3E90ED113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観察・比較・選択・試作と評価のうち、今回の五十分で重点的に確かめる範</a:t>
            </a:r>
          </a:p>
        </p:txBody>
      </p:sp>
      <p:sp>
        <p:nvSpPr>
          <p:cNvPr id="6" name="">
            <a:extLst xmlns:a="http://schemas.openxmlformats.org/drawingml/2006/main">
              <a:ext uri="{FF2B5EF4-FFF2-40B4-BE49-F238E27FC236}">
                <a16:creationId xmlns:a16="http://schemas.microsoft.com/office/drawing/2014/main" id="{D89CF145-DBA5-4692-B255-06872AE4895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囲を選び、前後の学習とのつながりを示してください。</a:t>
            </a:r>
          </a:p>
        </p:txBody>
      </p:sp>
      <p:sp>
        <p:nvSpPr>
          <p:cNvPr id="7" name="">
            <a:extLst xmlns:a="http://schemas.openxmlformats.org/drawingml/2006/main">
              <a:ext uri="{FF2B5EF4-FFF2-40B4-BE49-F238E27FC236}">
                <a16:creationId xmlns:a16="http://schemas.microsoft.com/office/drawing/2014/main" id="{1DB49A6E-4761-43FB-8C51-97344BB1A6EA}"/>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19121790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EBDD8B-FCB7-47E1-8740-FC06CC9A714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授業で集める記録と評価</a:t>
            </a:r>
          </a:p>
        </p:txBody>
      </p:sp>
      <p:cxnSp>
        <p:nvCxnSpPr>
          <p:cNvPr id="2" name="">
            <a:extLst xmlns:a="http://schemas.openxmlformats.org/drawingml/2006/main">
              <a:ext uri="{FF2B5EF4-FFF2-40B4-BE49-F238E27FC236}">
                <a16:creationId xmlns:a16="http://schemas.microsoft.com/office/drawing/2014/main" id="{9F06F305-CF97-452D-B33B-6A216492507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4B1BEA39-D94B-4A67-8DB5-582BC0517BB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97536683-8169-434B-A426-8FDA5604D61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9A2900C2-3D63-40D8-B319-9ECF87B83488}"/>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予想：どちらがたわみにくいかを、寸法と向きを添えて書く</a:t>
            </a:r>
          </a:p>
        </p:txBody>
      </p:sp>
      <p:sp>
        <p:nvSpPr>
          <p:cNvPr id="6" name="">
            <a:extLst xmlns:a="http://schemas.openxmlformats.org/drawingml/2006/main">
              <a:ext uri="{FF2B5EF4-FFF2-40B4-BE49-F238E27FC236}">
                <a16:creationId xmlns:a16="http://schemas.microsoft.com/office/drawing/2014/main" id="{5C1801BA-04FF-47EC-80A2-88FFFA7A3300}"/>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比較：同じ荷重・支点間距離で、たわみを測って表にする</a:t>
            </a:r>
          </a:p>
        </p:txBody>
      </p:sp>
      <p:sp>
        <p:nvSpPr>
          <p:cNvPr id="7" name="">
            <a:extLst xmlns:a="http://schemas.openxmlformats.org/drawingml/2006/main">
              <a:ext uri="{FF2B5EF4-FFF2-40B4-BE49-F238E27FC236}">
                <a16:creationId xmlns:a16="http://schemas.microsoft.com/office/drawing/2014/main" id="{8F412F49-6543-4DAB-95B4-C931B4EADD58}"/>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説明：結果を断面の高さと対応させ、棚板の向きを提案する</a:t>
            </a:r>
          </a:p>
        </p:txBody>
      </p:sp>
      <p:sp>
        <p:nvSpPr>
          <p:cNvPr id="8" name="">
            <a:extLst xmlns:a="http://schemas.openxmlformats.org/drawingml/2006/main">
              <a:ext uri="{FF2B5EF4-FFF2-40B4-BE49-F238E27FC236}">
                <a16:creationId xmlns:a16="http://schemas.microsoft.com/office/drawing/2014/main" id="{73829D18-527B-485C-8452-2A200DE5145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基本達成：比較条件を示し、測定結果を理由に一つの案を選べる</a:t>
            </a:r>
          </a:p>
        </p:txBody>
      </p:sp>
      <p:sp>
        <p:nvSpPr>
          <p:cNvPr id="9" name="">
            <a:extLst xmlns:a="http://schemas.openxmlformats.org/drawingml/2006/main">
              <a:ext uri="{FF2B5EF4-FFF2-40B4-BE49-F238E27FC236}">
                <a16:creationId xmlns:a16="http://schemas.microsoft.com/office/drawing/2014/main" id="{9A815ECF-0385-4654-86A4-1B78B35CD00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十分達成：誤差や材料のばらつき、追加で確かめる条件にも触れる</a:t>
            </a:r>
          </a:p>
        </p:txBody>
      </p:sp>
    </p:spTree>
    <p:extLst>
      <p:ext uri="{BB962C8B-B14F-4D97-AF65-F5344CB8AC3E}">
        <p14:creationId xmlns:p14="http://schemas.microsoft.com/office/powerpoint/2010/main" val="18242815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124C1A-2107-4C3C-B88A-2C946D819B2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48D42057-72AE-4B1E-B86C-D178639D113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1672E8-0528-4FD1-83E8-4DFF307F44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B75746AF-CB80-47C9-820E-F852DC37232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2FB5BC50-2E0E-423B-AC0A-EC4C1273C02D}"/>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584C92DF-499D-4E7E-A69C-386E49D208BB}"/>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ED2D9EC9-0169-4DF3-8073-C27403F26865}"/>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11E6D904-4EC2-47C4-9A79-E8D48C6A5146}"/>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再開したら：自己確認　提出物と達成基準へ進みます。</a:t>
            </a:r>
          </a:p>
        </p:txBody>
      </p:sp>
    </p:spTree>
    <p:extLst>
      <p:ext uri="{BB962C8B-B14F-4D97-AF65-F5344CB8AC3E}">
        <p14:creationId xmlns:p14="http://schemas.microsoft.com/office/powerpoint/2010/main" val="20542339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FAF551-65E6-4549-8390-7ED00BA6D6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提出物と達成基準</a:t>
            </a:r>
          </a:p>
        </p:txBody>
      </p:sp>
      <p:sp>
        <p:nvSpPr>
          <p:cNvPr id="2" name="">
            <a:extLst xmlns:a="http://schemas.openxmlformats.org/drawingml/2006/main">
              <a:ext uri="{FF2B5EF4-FFF2-40B4-BE49-F238E27FC236}">
                <a16:creationId xmlns:a16="http://schemas.microsoft.com/office/drawing/2014/main" id="{69A42342-6586-4D53-973F-7E67AD98382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2CD366-5AE5-40AD-96DF-70E3B1D4323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CBE25665-F2A7-4AA8-860E-C47D85CD9D0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D17B5559-6A9B-48D2-B36D-205C0D28A0A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短い比較表と選択理由を提出物にします。基本的な達成と、より十分な達成</a:t>
            </a:r>
          </a:p>
        </p:txBody>
      </p:sp>
      <p:sp>
        <p:nvSpPr>
          <p:cNvPr id="6" name="">
            <a:extLst xmlns:a="http://schemas.openxmlformats.org/drawingml/2006/main">
              <a:ext uri="{FF2B5EF4-FFF2-40B4-BE49-F238E27FC236}">
                <a16:creationId xmlns:a16="http://schemas.microsoft.com/office/drawing/2014/main" id="{73DC8439-2EFC-4283-954E-4C293C8554C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を、内容で見分ける基準を書いてください。</a:t>
            </a:r>
          </a:p>
        </p:txBody>
      </p:sp>
      <p:sp>
        <p:nvSpPr>
          <p:cNvPr id="7" name="">
            <a:extLst xmlns:a="http://schemas.openxmlformats.org/drawingml/2006/main">
              <a:ext uri="{FF2B5EF4-FFF2-40B4-BE49-F238E27FC236}">
                <a16:creationId xmlns:a16="http://schemas.microsoft.com/office/drawing/2014/main" id="{BFBF39D9-504E-4ADB-99C7-C9BA12DC8C68}"/>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42314960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2B51FF-6F7F-4759-B720-C77E841890A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課題と評価と学び直し</a:t>
            </a:r>
          </a:p>
        </p:txBody>
      </p:sp>
      <p:cxnSp>
        <p:nvCxnSpPr>
          <p:cNvPr id="2" name="">
            <a:extLst xmlns:a="http://schemas.openxmlformats.org/drawingml/2006/main">
              <a:ext uri="{FF2B5EF4-FFF2-40B4-BE49-F238E27FC236}">
                <a16:creationId xmlns:a16="http://schemas.microsoft.com/office/drawing/2014/main" id="{0B92E9E5-2E05-4E9A-800E-B52B9C1E421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4CBB090-8634-41E9-8BA2-B7713D52FE0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A876942D-A6D6-4B8B-B7BA-46D5C36E001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6B644A8D-38EB-4A29-B1B1-555ADEE0D835}"/>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期末テストの代わりに、4回の課題でまとまりごとの理解を確かめる</a:t>
            </a:r>
          </a:p>
        </p:txBody>
      </p:sp>
      <p:sp>
        <p:nvSpPr>
          <p:cNvPr id="6" name="">
            <a:extLst xmlns:a="http://schemas.openxmlformats.org/drawingml/2006/main">
              <a:ext uri="{FF2B5EF4-FFF2-40B4-BE49-F238E27FC236}">
                <a16:creationId xmlns:a16="http://schemas.microsoft.com/office/drawing/2014/main" id="{07C29B58-7C8C-461B-A796-AC8ADBEBD105}"/>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A1は構造と成分、A2は力と変形、A3は密度・水・劣化</a:t>
            </a:r>
          </a:p>
        </p:txBody>
      </p:sp>
      <p:sp>
        <p:nvSpPr>
          <p:cNvPr id="7" name="">
            <a:extLst xmlns:a="http://schemas.openxmlformats.org/drawingml/2006/main">
              <a:ext uri="{FF2B5EF4-FFF2-40B4-BE49-F238E27FC236}">
                <a16:creationId xmlns:a16="http://schemas.microsoft.com/office/drawing/2014/main" id="{F13CB982-5584-44C8-BDA7-FBFA510508A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A4は木質材料の選択と、中学校50分授業の構想</a:t>
            </a:r>
          </a:p>
        </p:txBody>
      </p:sp>
      <p:sp>
        <p:nvSpPr>
          <p:cNvPr id="8" name="">
            <a:extLst xmlns:a="http://schemas.openxmlformats.org/drawingml/2006/main">
              <a:ext uri="{FF2B5EF4-FFF2-40B4-BE49-F238E27FC236}">
                <a16:creationId xmlns:a16="http://schemas.microsoft.com/office/drawing/2014/main" id="{021E45C8-0B3A-4843-8463-AAE8875294EB}"/>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各課題は基本70点・発展30点。式・単位・出典・理由を残す</a:t>
            </a:r>
          </a:p>
        </p:txBody>
      </p:sp>
      <p:sp>
        <p:nvSpPr>
          <p:cNvPr id="9" name="">
            <a:extLst xmlns:a="http://schemas.openxmlformats.org/drawingml/2006/main">
              <a:ext uri="{FF2B5EF4-FFF2-40B4-BE49-F238E27FC236}">
                <a16:creationId xmlns:a16="http://schemas.microsoft.com/office/drawing/2014/main" id="{2FE111EE-E373-45C7-8D19-03EF8EFB878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返却された回答IDを手掛かりに、説明や計算を修正する</a:t>
            </a:r>
          </a:p>
        </p:txBody>
      </p:sp>
    </p:spTree>
    <p:extLst>
      <p:ext uri="{BB962C8B-B14F-4D97-AF65-F5344CB8AC3E}">
        <p14:creationId xmlns:p14="http://schemas.microsoft.com/office/powerpoint/2010/main" val="56368305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5F009E-AF04-448C-9274-5CABD589D6E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課題の学び直し</a:t>
            </a:r>
          </a:p>
        </p:txBody>
      </p:sp>
      <p:sp>
        <p:nvSpPr>
          <p:cNvPr id="2" name="">
            <a:extLst xmlns:a="http://schemas.openxmlformats.org/drawingml/2006/main">
              <a:ext uri="{FF2B5EF4-FFF2-40B4-BE49-F238E27FC236}">
                <a16:creationId xmlns:a16="http://schemas.microsoft.com/office/drawing/2014/main" id="{4A12278D-5A9C-4374-AEE3-08C3A6169B5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B7DFDB-55CB-4C59-8154-E508FBC77D6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11403009-C9B5-460E-85AB-89AC53B291C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CF37F470-41A9-4595-84B2-B6CD55CC0F8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過去の回答から一つ選び、回答番号、修正する式または説明、見直す講義資</a:t>
            </a:r>
          </a:p>
        </p:txBody>
      </p:sp>
      <p:sp>
        <p:nvSpPr>
          <p:cNvPr id="6" name="">
            <a:extLst xmlns:a="http://schemas.openxmlformats.org/drawingml/2006/main">
              <a:ext uri="{FF2B5EF4-FFF2-40B4-BE49-F238E27FC236}">
                <a16:creationId xmlns:a16="http://schemas.microsoft.com/office/drawing/2014/main" id="{9808ACAA-0601-49C0-ACB7-5D3F6A6A9C5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料を三つの欄へ整理してください。</a:t>
            </a:r>
          </a:p>
        </p:txBody>
      </p:sp>
      <p:sp>
        <p:nvSpPr>
          <p:cNvPr id="7" name="">
            <a:extLst xmlns:a="http://schemas.openxmlformats.org/drawingml/2006/main">
              <a:ext uri="{FF2B5EF4-FFF2-40B4-BE49-F238E27FC236}">
                <a16:creationId xmlns:a16="http://schemas.microsoft.com/office/drawing/2014/main" id="{92416FEE-9017-4E81-A1A8-C0DD391C74CB}"/>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10890337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AD6BC4-C682-40A6-9F19-CEB2E7A670B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授業案の相互検討</a:t>
            </a:r>
          </a:p>
        </p:txBody>
      </p:sp>
      <p:cxnSp>
        <p:nvCxnSpPr>
          <p:cNvPr id="2" name="">
            <a:extLst xmlns:a="http://schemas.openxmlformats.org/drawingml/2006/main">
              <a:ext uri="{FF2B5EF4-FFF2-40B4-BE49-F238E27FC236}">
                <a16:creationId xmlns:a16="http://schemas.microsoft.com/office/drawing/2014/main" id="{D318ADF9-FC6F-43FD-B735-08D11513A07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6176716-09BC-46A7-8EF4-87158043770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21F45F9E-4248-483D-B8F3-0CA4F1678E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E4C7C6FC-172D-400E-AB5E-A487E08D1514}"/>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指導計画を交換し、活動と目標の対応を確認</a:t>
            </a:r>
          </a:p>
        </p:txBody>
      </p:sp>
      <p:sp>
        <p:nvSpPr>
          <p:cNvPr id="6" name="">
            <a:extLst xmlns:a="http://schemas.openxmlformats.org/drawingml/2006/main">
              <a:ext uri="{FF2B5EF4-FFF2-40B4-BE49-F238E27FC236}">
                <a16:creationId xmlns:a16="http://schemas.microsoft.com/office/drawing/2014/main" id="{CBD3C7CF-E515-4A8F-B4A8-10AC58EECE70}"/>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条件の不足、科学的な誤り、時間配分を指摘</a:t>
            </a:r>
          </a:p>
        </p:txBody>
      </p:sp>
      <p:sp>
        <p:nvSpPr>
          <p:cNvPr id="7" name="">
            <a:extLst xmlns:a="http://schemas.openxmlformats.org/drawingml/2006/main">
              <a:ext uri="{FF2B5EF4-FFF2-40B4-BE49-F238E27FC236}">
                <a16:creationId xmlns:a16="http://schemas.microsoft.com/office/drawing/2014/main" id="{548069E9-B92D-4309-A9CF-1951E7FAAE4A}"/>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生徒が残す記録と、評価基準を照合する</a:t>
            </a:r>
          </a:p>
        </p:txBody>
      </p:sp>
      <p:sp>
        <p:nvSpPr>
          <p:cNvPr id="8" name="">
            <a:extLst xmlns:a="http://schemas.openxmlformats.org/drawingml/2006/main">
              <a:ext uri="{FF2B5EF4-FFF2-40B4-BE49-F238E27FC236}">
                <a16:creationId xmlns:a16="http://schemas.microsoft.com/office/drawing/2014/main" id="{408C9018-8551-4AA8-BB96-6F768A54EE14}"/>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根拠が変わった点を示し、計画を改訂する</a:t>
            </a:r>
          </a:p>
        </p:txBody>
      </p:sp>
    </p:spTree>
    <p:extLst>
      <p:ext uri="{BB962C8B-B14F-4D97-AF65-F5344CB8AC3E}">
        <p14:creationId xmlns:p14="http://schemas.microsoft.com/office/powerpoint/2010/main" val="62603239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95BB2B-D1B6-434C-B5C7-06A28B4062F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　授業案を改善する観点</a:t>
            </a:r>
          </a:p>
        </p:txBody>
      </p:sp>
      <p:cxnSp>
        <p:nvCxnSpPr>
          <p:cNvPr id="2" name="">
            <a:extLst xmlns:a="http://schemas.openxmlformats.org/drawingml/2006/main">
              <a:ext uri="{FF2B5EF4-FFF2-40B4-BE49-F238E27FC236}">
                <a16:creationId xmlns:a16="http://schemas.microsoft.com/office/drawing/2014/main" id="{5202D182-2985-4200-8DD2-6F8431C4670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2A8DE93-3B26-4CD8-B90C-7FD5F14406E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A722D038-E877-4506-BB74-A3E88E74BA9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16921B2C-9B6D-43E4-880E-B99AA3313D8B}"/>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目標・比較活動・提出物・評価基準が、同じ理解を確かめているか</a:t>
            </a:r>
          </a:p>
        </p:txBody>
      </p:sp>
      <p:sp>
        <p:nvSpPr>
          <p:cNvPr id="6" name="">
            <a:extLst xmlns:a="http://schemas.openxmlformats.org/drawingml/2006/main">
              <a:ext uri="{FF2B5EF4-FFF2-40B4-BE49-F238E27FC236}">
                <a16:creationId xmlns:a16="http://schemas.microsoft.com/office/drawing/2014/main" id="{30CF0357-373E-4988-822E-5E08ACCC5AC3}"/>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三方向と三断面、弾性率と強度を混同していないか</a:t>
            </a:r>
          </a:p>
        </p:txBody>
      </p:sp>
      <p:sp>
        <p:nvSpPr>
          <p:cNvPr id="7" name="">
            <a:extLst xmlns:a="http://schemas.openxmlformats.org/drawingml/2006/main">
              <a:ext uri="{FF2B5EF4-FFF2-40B4-BE49-F238E27FC236}">
                <a16:creationId xmlns:a16="http://schemas.microsoft.com/office/drawing/2014/main" id="{C521D50E-F242-4081-9DB6-96BFD91AA113}"/>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50分に準備・測定・片付けを含め、説明を書き直す時間を確保する</a:t>
            </a:r>
          </a:p>
        </p:txBody>
      </p:sp>
      <p:sp>
        <p:nvSpPr>
          <p:cNvPr id="8" name="">
            <a:extLst xmlns:a="http://schemas.openxmlformats.org/drawingml/2006/main">
              <a:ext uri="{FF2B5EF4-FFF2-40B4-BE49-F238E27FC236}">
                <a16:creationId xmlns:a16="http://schemas.microsoft.com/office/drawing/2014/main" id="{8703D5A3-975E-4E2F-82F7-1033957D05E1}"/>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大学で扱ったIの計算は教員側の根拠とし、生徒の観察結果へ結び付ける</a:t>
            </a:r>
          </a:p>
        </p:txBody>
      </p:sp>
      <p:sp>
        <p:nvSpPr>
          <p:cNvPr id="9" name="">
            <a:extLst xmlns:a="http://schemas.openxmlformats.org/drawingml/2006/main">
              <a:ext uri="{FF2B5EF4-FFF2-40B4-BE49-F238E27FC236}">
                <a16:creationId xmlns:a16="http://schemas.microsoft.com/office/drawing/2014/main" id="{3C851623-4191-44BF-AFFA-AE7226303DE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修正前と修正後の案を残し、変更した条件と理由を説明する</a:t>
            </a:r>
          </a:p>
        </p:txBody>
      </p:sp>
    </p:spTree>
    <p:extLst>
      <p:ext uri="{BB962C8B-B14F-4D97-AF65-F5344CB8AC3E}">
        <p14:creationId xmlns:p14="http://schemas.microsoft.com/office/powerpoint/2010/main" val="3635537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935DDB-927D-458A-9FD5-B9898B16C8D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ICTで比較の根拠を残す</a:t>
            </a:r>
          </a:p>
        </p:txBody>
      </p:sp>
      <p:cxnSp>
        <p:nvCxnSpPr>
          <p:cNvPr id="2" name="">
            <a:extLst xmlns:a="http://schemas.openxmlformats.org/drawingml/2006/main">
              <a:ext uri="{FF2B5EF4-FFF2-40B4-BE49-F238E27FC236}">
                <a16:creationId xmlns:a16="http://schemas.microsoft.com/office/drawing/2014/main" id="{43F2F50A-CF8A-48EB-ABF6-D2125388B28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D5AB64F-B8F9-4384-B3B9-8BF732AD56B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6A0FE79B-69C2-416C-B013-0713F2E1C56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47423ECA-AB3C-4970-9BC7-E318D70336E4}"/>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画像：木口・端面・加工面を同じ方向で記録する</a:t>
            </a:r>
          </a:p>
        </p:txBody>
      </p:sp>
      <p:sp>
        <p:nvSpPr>
          <p:cNvPr id="6" name="">
            <a:extLst xmlns:a="http://schemas.openxmlformats.org/drawingml/2006/main">
              <a:ext uri="{FF2B5EF4-FFF2-40B4-BE49-F238E27FC236}">
                <a16:creationId xmlns:a16="http://schemas.microsoft.com/office/drawing/2014/main" id="{4B89C53D-C2E4-48CD-8154-3377C167FEF2}"/>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表計算：単位と測定条件を残し、密度や変形を比較する</a:t>
            </a:r>
          </a:p>
        </p:txBody>
      </p:sp>
      <p:sp>
        <p:nvSpPr>
          <p:cNvPr id="7" name="">
            <a:extLst xmlns:a="http://schemas.openxmlformats.org/drawingml/2006/main">
              <a:ext uri="{FF2B5EF4-FFF2-40B4-BE49-F238E27FC236}">
                <a16:creationId xmlns:a16="http://schemas.microsoft.com/office/drawing/2014/main" id="{4059AF14-253B-4DAC-9EA7-6A6B32B0ACD7}"/>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共有：採用案と不採用案の理由を、データと対応させる</a:t>
            </a:r>
          </a:p>
        </p:txBody>
      </p:sp>
      <p:sp>
        <p:nvSpPr>
          <p:cNvPr id="8" name="">
            <a:extLst xmlns:a="http://schemas.openxmlformats.org/drawingml/2006/main">
              <a:ext uri="{FF2B5EF4-FFF2-40B4-BE49-F238E27FC236}">
                <a16:creationId xmlns:a16="http://schemas.microsoft.com/office/drawing/2014/main" id="{18DCDE6C-BC92-4387-A31E-22CA725612F8}"/>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振り返り：初めの予想が変わった箇所と、その根拠を示す</a:t>
            </a:r>
          </a:p>
        </p:txBody>
      </p:sp>
      <p:sp>
        <p:nvSpPr>
          <p:cNvPr id="9" name="">
            <a:extLst xmlns:a="http://schemas.openxmlformats.org/drawingml/2006/main">
              <a:ext uri="{FF2B5EF4-FFF2-40B4-BE49-F238E27FC236}">
                <a16:creationId xmlns:a16="http://schemas.microsoft.com/office/drawing/2014/main" id="{6278E7D2-953C-46AD-BFD6-4517F893FA8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教科書の接点：問題発見・設計・製作・評価と改善／A(1)～(3)／Dとの横断</a:t>
            </a:r>
          </a:p>
        </p:txBody>
      </p:sp>
    </p:spTree>
    <p:extLst>
      <p:ext uri="{BB962C8B-B14F-4D97-AF65-F5344CB8AC3E}">
        <p14:creationId xmlns:p14="http://schemas.microsoft.com/office/powerpoint/2010/main" val="69854521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C20F52-F220-4B5E-A0CD-114A7A434FE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ICTで残す条件</a:t>
            </a:r>
          </a:p>
        </p:txBody>
      </p:sp>
      <p:sp>
        <p:nvSpPr>
          <p:cNvPr id="2" name="">
            <a:extLst xmlns:a="http://schemas.openxmlformats.org/drawingml/2006/main">
              <a:ext uri="{FF2B5EF4-FFF2-40B4-BE49-F238E27FC236}">
                <a16:creationId xmlns:a16="http://schemas.microsoft.com/office/drawing/2014/main" id="{26E3784D-0EAB-4A02-BBBF-645D7784C8F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8D88EA-B958-46DF-923C-AB29608E5DD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A1C070E1-C8FF-4E6A-AA06-A3B41871563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9FDAA5C3-149A-4F6C-9706-E9743004675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比較表を表計算で作る場合の列名を六つ以上挙げ、写真でそろえる条件を二</a:t>
            </a:r>
          </a:p>
        </p:txBody>
      </p:sp>
      <p:sp>
        <p:nvSpPr>
          <p:cNvPr id="6" name="">
            <a:extLst xmlns:a="http://schemas.openxmlformats.org/drawingml/2006/main">
              <a:ext uri="{FF2B5EF4-FFF2-40B4-BE49-F238E27FC236}">
                <a16:creationId xmlns:a16="http://schemas.microsoft.com/office/drawing/2014/main" id="{F0F5AC75-8C3E-4258-82B6-DE9DE55FB01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つ書いてください。</a:t>
            </a:r>
          </a:p>
        </p:txBody>
      </p:sp>
      <p:sp>
        <p:nvSpPr>
          <p:cNvPr id="7" name="">
            <a:extLst xmlns:a="http://schemas.openxmlformats.org/drawingml/2006/main">
              <a:ext uri="{FF2B5EF4-FFF2-40B4-BE49-F238E27FC236}">
                <a16:creationId xmlns:a16="http://schemas.microsoft.com/office/drawing/2014/main" id="{7D175AA3-C9B2-4B4E-B402-05EC057B1B43}"/>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6279109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B9CFF2-6B18-4275-8C60-2B557BA85C8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D5714942-E223-4508-B3A7-77B9C4F5C0D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EB89DA-F17D-4CA0-84E3-58BD5BD5695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105E3118-2838-43CD-A4A0-4C0B4BB08A1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C650ED13-CB44-42AB-81EC-F44DF3C50CBC}"/>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DA48B36A-A260-4805-9EDA-736B3E5DB112}"/>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35799F4A-8E35-4E7D-BC18-BA276F20B7B7}"/>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FBB4DDC-5AD1-49A4-8A79-21795D2641A9}"/>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再開したら：確認問題へ進みます。</a:t>
            </a:r>
          </a:p>
        </p:txBody>
      </p:sp>
    </p:spTree>
    <p:extLst>
      <p:ext uri="{BB962C8B-B14F-4D97-AF65-F5344CB8AC3E}">
        <p14:creationId xmlns:p14="http://schemas.microsoft.com/office/powerpoint/2010/main" val="33486454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963511-F051-4C14-8C63-46DE83CCF3B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FBB6B93B-02CD-4A9E-BE1E-3A6FE9601F3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DE1BF59-C9F1-448F-B8EC-AD6803E03AF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DE47B64B-6759-46D0-B4CA-2AA6CDE6BD9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C0A671AB-569B-43AA-B60B-1D71FE2FD5D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多孔質・異方性から、それぞれ性質を説明</a:t>
            </a:r>
          </a:p>
        </p:txBody>
      </p:sp>
      <p:sp>
        <p:nvSpPr>
          <p:cNvPr id="6" name="">
            <a:extLst xmlns:a="http://schemas.openxmlformats.org/drawingml/2006/main">
              <a:ext uri="{FF2B5EF4-FFF2-40B4-BE49-F238E27FC236}">
                <a16:creationId xmlns:a16="http://schemas.microsoft.com/office/drawing/2014/main" id="{BDEF581E-E888-425E-B510-6B1EABF08E93}"/>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木質材料の配向と、採用条件を説明</a:t>
            </a:r>
          </a:p>
        </p:txBody>
      </p:sp>
      <p:sp>
        <p:nvSpPr>
          <p:cNvPr id="7" name="">
            <a:extLst xmlns:a="http://schemas.openxmlformats.org/drawingml/2006/main">
              <a:ext uri="{FF2B5EF4-FFF2-40B4-BE49-F238E27FC236}">
                <a16:creationId xmlns:a16="http://schemas.microsoft.com/office/drawing/2014/main" id="{277DE09A-58E5-403A-AD2E-B5426F35E16F}"/>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自分の説明が変わった点を一つ示す</a:t>
            </a:r>
          </a:p>
        </p:txBody>
      </p:sp>
    </p:spTree>
    <p:extLst>
      <p:ext uri="{BB962C8B-B14F-4D97-AF65-F5344CB8AC3E}">
        <p14:creationId xmlns:p14="http://schemas.microsoft.com/office/powerpoint/2010/main" val="5817784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74B98F-C51C-4537-BB25-31501EC1C26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5057D297-5A97-437A-94D8-595F48DF059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DD94FF3-0B8B-4545-AEA8-949A59B81FF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85B6E27F-7228-4D99-81B3-432292ABB0F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DFE9D83E-AA42-4D05-8999-96880206BA0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観察・計算・加工を、根拠ある説明でつなぐ</a:t>
            </a:r>
          </a:p>
        </p:txBody>
      </p:sp>
      <p:sp>
        <p:nvSpPr>
          <p:cNvPr id="6" name="">
            <a:extLst xmlns:a="http://schemas.openxmlformats.org/drawingml/2006/main">
              <a:ext uri="{FF2B5EF4-FFF2-40B4-BE49-F238E27FC236}">
                <a16:creationId xmlns:a16="http://schemas.microsoft.com/office/drawing/2014/main" id="{94C4C901-6728-4BD3-9DF0-388E16BD8120}"/>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条件を指定し、材料選択と授業計画を改訂</a:t>
            </a:r>
          </a:p>
        </p:txBody>
      </p:sp>
      <p:sp>
        <p:nvSpPr>
          <p:cNvPr id="7" name="">
            <a:extLst xmlns:a="http://schemas.openxmlformats.org/drawingml/2006/main">
              <a:ext uri="{FF2B5EF4-FFF2-40B4-BE49-F238E27FC236}">
                <a16:creationId xmlns:a16="http://schemas.microsoft.com/office/drawing/2014/main" id="{ACA3B3E2-C44E-4A62-84A2-3ACD7F236C4B}"/>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自分の授業で、生徒のどんな説明を確かめるか</a:t>
            </a:r>
          </a:p>
        </p:txBody>
      </p:sp>
    </p:spTree>
    <p:extLst>
      <p:ext uri="{BB962C8B-B14F-4D97-AF65-F5344CB8AC3E}">
        <p14:creationId xmlns:p14="http://schemas.microsoft.com/office/powerpoint/2010/main" val="7369516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48FD75-F100-4D93-B300-EEC48CFF06E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課題A4と学習の振り返り</a:t>
            </a:r>
          </a:p>
        </p:txBody>
      </p:sp>
      <p:cxnSp>
        <p:nvCxnSpPr>
          <p:cNvPr id="2" name="">
            <a:extLst xmlns:a="http://schemas.openxmlformats.org/drawingml/2006/main">
              <a:ext uri="{FF2B5EF4-FFF2-40B4-BE49-F238E27FC236}">
                <a16:creationId xmlns:a16="http://schemas.microsoft.com/office/drawing/2014/main" id="{78A193A8-6156-4735-A221-0DFFFF10002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D91041D5-B9C2-40F2-8504-C839E6EA7AC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040B7B79-12ED-43D1-9B66-432B1CAE7EF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D0281BDE-53E4-42B6-94F9-1D3AD0827A40}"/>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木質材料の構成、EIと質量の比較、製品調査を課題A4で整理する</a:t>
            </a:r>
          </a:p>
        </p:txBody>
      </p:sp>
      <p:sp>
        <p:nvSpPr>
          <p:cNvPr id="6" name="">
            <a:extLst xmlns:a="http://schemas.openxmlformats.org/drawingml/2006/main">
              <a:ext uri="{FF2B5EF4-FFF2-40B4-BE49-F238E27FC236}">
                <a16:creationId xmlns:a16="http://schemas.microsoft.com/office/drawing/2014/main" id="{364627B3-69F3-42DA-84D5-A22A929877D3}"/>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50分授業の目標・時間配分・活動・評価を対応させる</a:t>
            </a:r>
          </a:p>
        </p:txBody>
      </p:sp>
      <p:sp>
        <p:nvSpPr>
          <p:cNvPr id="7" name="">
            <a:extLst xmlns:a="http://schemas.openxmlformats.org/drawingml/2006/main">
              <a:ext uri="{FF2B5EF4-FFF2-40B4-BE49-F238E27FC236}">
                <a16:creationId xmlns:a16="http://schemas.microsoft.com/office/drawing/2014/main" id="{87DF959A-8D49-420E-8F3F-62440575E196}"/>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未確認の性能は、確認方法とともに示す</a:t>
            </a:r>
          </a:p>
        </p:txBody>
      </p:sp>
      <p:sp>
        <p:nvSpPr>
          <p:cNvPr id="8" name="">
            <a:extLst xmlns:a="http://schemas.openxmlformats.org/drawingml/2006/main">
              <a:ext uri="{FF2B5EF4-FFF2-40B4-BE49-F238E27FC236}">
                <a16:creationId xmlns:a16="http://schemas.microsoft.com/office/drawing/2014/main" id="{58A01A76-7FCB-4E04-A14C-D9AB2A6DD7D0}"/>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初めの予想から、どの根拠によって説明が変わったかを残す</a:t>
            </a:r>
          </a:p>
        </p:txBody>
      </p:sp>
    </p:spTree>
    <p:extLst>
      <p:ext uri="{BB962C8B-B14F-4D97-AF65-F5344CB8AC3E}">
        <p14:creationId xmlns:p14="http://schemas.microsoft.com/office/powerpoint/2010/main" val="7389135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0E3D72-1C14-4AE6-8724-329BCBA9439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課題A4の作業計画</a:t>
            </a:r>
          </a:p>
        </p:txBody>
      </p:sp>
      <p:sp>
        <p:nvSpPr>
          <p:cNvPr id="2" name="">
            <a:extLst xmlns:a="http://schemas.openxmlformats.org/drawingml/2006/main">
              <a:ext uri="{FF2B5EF4-FFF2-40B4-BE49-F238E27FC236}">
                <a16:creationId xmlns:a16="http://schemas.microsoft.com/office/drawing/2014/main" id="{C6DB7C8C-56F3-4078-AAFE-E463BE6C204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D8589D-CC62-47CD-90A1-2C6D7E5BD89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4" name="">
            <a:extLst xmlns:a="http://schemas.openxmlformats.org/drawingml/2006/main">
              <a:ext uri="{FF2B5EF4-FFF2-40B4-BE49-F238E27FC236}">
                <a16:creationId xmlns:a16="http://schemas.microsoft.com/office/drawing/2014/main" id="{FE443054-F08D-4A31-9EBC-1C94BB58F77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B9D62D99-33DB-41FF-BC5D-B8961C1DA77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回答フォームの問一から問五について、既に書けること、講義へ戻ること、</a:t>
            </a:r>
          </a:p>
        </p:txBody>
      </p:sp>
      <p:sp>
        <p:nvSpPr>
          <p:cNvPr id="6" name="">
            <a:extLst xmlns:a="http://schemas.openxmlformats.org/drawingml/2006/main">
              <a:ext uri="{FF2B5EF4-FFF2-40B4-BE49-F238E27FC236}">
                <a16:creationId xmlns:a16="http://schemas.microsoft.com/office/drawing/2014/main" id="{A6FEA9BE-FB9A-4C30-9091-D1E2C0DE06A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調べることを分けて作業順を決めてください。</a:t>
            </a:r>
          </a:p>
        </p:txBody>
      </p:sp>
      <p:sp>
        <p:nvSpPr>
          <p:cNvPr id="7" name="">
            <a:extLst xmlns:a="http://schemas.openxmlformats.org/drawingml/2006/main">
              <a:ext uri="{FF2B5EF4-FFF2-40B4-BE49-F238E27FC236}">
                <a16:creationId xmlns:a16="http://schemas.microsoft.com/office/drawing/2014/main" id="{DB25B493-6E91-48F8-8E9B-77B9915C3375}"/>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動画内の自己確認用。提出課題の追加ではありません。</a:t>
            </a:r>
          </a:p>
        </p:txBody>
      </p:sp>
    </p:spTree>
    <p:extLst>
      <p:ext uri="{BB962C8B-B14F-4D97-AF65-F5344CB8AC3E}">
        <p14:creationId xmlns:p14="http://schemas.microsoft.com/office/powerpoint/2010/main" val="20871909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9DA3F05-0F89-4D8D-836B-AB9CDE87475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BFFFF710-C128-4E70-BA60-643BF7A283E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DD03999-A92E-4E69-9A9A-B8D29CEF2D41}"/>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第3章 </a:t>
            </a:r>
          </a:p>
        </p:txBody>
      </p:sp>
      <p:sp>
        <p:nvSpPr>
          <p:cNvPr id="4" name="">
            <a:extLst xmlns:a="http://schemas.openxmlformats.org/drawingml/2006/main">
              <a:ext uri="{FF2B5EF4-FFF2-40B4-BE49-F238E27FC236}">
                <a16:creationId xmlns:a16="http://schemas.microsoft.com/office/drawing/2014/main" id="{5415207D-C45E-4F87-8460-0B2DFEBEB5F5}"/>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https://research.fs.usda.gov/treesearch/62242</a:t>
            </a:r>
          </a:p>
        </p:txBody>
      </p:sp>
      <p:sp>
        <p:nvSpPr>
          <p:cNvPr id="5" name="">
            <a:extLst xmlns:a="http://schemas.openxmlformats.org/drawingml/2006/main">
              <a:ext uri="{FF2B5EF4-FFF2-40B4-BE49-F238E27FC236}">
                <a16:creationId xmlns:a16="http://schemas.microsoft.com/office/drawing/2014/main" id="{4F53B5C5-8AC3-402C-9738-6D795A8D4913}"/>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第4章 </a:t>
            </a:r>
          </a:p>
        </p:txBody>
      </p:sp>
      <p:sp>
        <p:nvSpPr>
          <p:cNvPr id="6" name="">
            <a:extLst xmlns:a="http://schemas.openxmlformats.org/drawingml/2006/main">
              <a:ext uri="{FF2B5EF4-FFF2-40B4-BE49-F238E27FC236}">
                <a16:creationId xmlns:a16="http://schemas.microsoft.com/office/drawing/2014/main" id="{2C8008CA-18BB-4AA9-91F5-A1C13E3CFBD8}"/>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https://research.fs.usda.gov/treesearch/62243</a:t>
            </a:r>
          </a:p>
        </p:txBody>
      </p:sp>
      <p:sp>
        <p:nvSpPr>
          <p:cNvPr id="7" name="">
            <a:extLst xmlns:a="http://schemas.openxmlformats.org/drawingml/2006/main">
              <a:ext uri="{FF2B5EF4-FFF2-40B4-BE49-F238E27FC236}">
                <a16:creationId xmlns:a16="http://schemas.microsoft.com/office/drawing/2014/main" id="{D8C8677D-24B9-4A01-9591-D68C4A31A001}"/>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第5章 </a:t>
            </a:r>
          </a:p>
        </p:txBody>
      </p:sp>
      <p:sp>
        <p:nvSpPr>
          <p:cNvPr id="8" name="">
            <a:extLst xmlns:a="http://schemas.openxmlformats.org/drawingml/2006/main">
              <a:ext uri="{FF2B5EF4-FFF2-40B4-BE49-F238E27FC236}">
                <a16:creationId xmlns:a16="http://schemas.microsoft.com/office/drawing/2014/main" id="{5E605177-FBB0-436C-9DCE-34F1CE3E5C5D}"/>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https://research.fs.usda.gov/treesearch/62244</a:t>
            </a:r>
          </a:p>
        </p:txBody>
      </p:sp>
      <p:sp>
        <p:nvSpPr>
          <p:cNvPr id="9" name="">
            <a:extLst xmlns:a="http://schemas.openxmlformats.org/drawingml/2006/main">
              <a:ext uri="{FF2B5EF4-FFF2-40B4-BE49-F238E27FC236}">
                <a16:creationId xmlns:a16="http://schemas.microsoft.com/office/drawing/2014/main" id="{185A1196-1366-44B0-97CB-F6508D7BAC02}"/>
              </a:ext>
            </a:extLst>
          </p:cNvPr>
          <p:cNvSpPr>
            <a:spLocks xmlns:a="http://schemas.openxmlformats.org/drawingml/2006/main" noGrp="1"/>
          </p:cNvSpPr>
          <p:nvPr/>
        </p:nvSpPr>
        <p:spPr>
          <a:xfrm xmlns:a="http://schemas.openxmlformats.org/drawingml/2006/main">
            <a:off x="685800" y="4591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第11章 </a:t>
            </a:r>
          </a:p>
        </p:txBody>
      </p:sp>
      <p:sp>
        <p:nvSpPr>
          <p:cNvPr id="10" name="">
            <a:extLst xmlns:a="http://schemas.openxmlformats.org/drawingml/2006/main">
              <a:ext uri="{FF2B5EF4-FFF2-40B4-BE49-F238E27FC236}">
                <a16:creationId xmlns:a16="http://schemas.microsoft.com/office/drawing/2014/main" id="{3FF8B08B-3D82-46BD-BA23-ED88D9B24C1E}"/>
              </a:ext>
            </a:extLst>
          </p:cNvPr>
          <p:cNvSpPr>
            <a:spLocks xmlns:a="http://schemas.openxmlformats.org/drawingml/2006/main" noGrp="1"/>
          </p:cNvSpPr>
          <p:nvPr/>
        </p:nvSpPr>
        <p:spPr>
          <a:xfrm xmlns:a="http://schemas.openxmlformats.org/drawingml/2006/main">
            <a:off x="685800" y="5000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https://research.fs.usda.gov/treesearch/62258</a:t>
            </a:r>
          </a:p>
        </p:txBody>
      </p:sp>
      <p:sp>
        <p:nvSpPr>
          <p:cNvPr id="11" name="">
            <a:extLst xmlns:a="http://schemas.openxmlformats.org/drawingml/2006/main">
              <a:ext uri="{FF2B5EF4-FFF2-40B4-BE49-F238E27FC236}">
                <a16:creationId xmlns:a16="http://schemas.microsoft.com/office/drawing/2014/main" id="{D01E36E3-CA24-4BE8-A09C-A5E3F5FBECF0}"/>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2" name="">
            <a:extLst xmlns:a="http://schemas.openxmlformats.org/drawingml/2006/main">
              <a:ext uri="{FF2B5EF4-FFF2-40B4-BE49-F238E27FC236}">
                <a16:creationId xmlns:a16="http://schemas.microsoft.com/office/drawing/2014/main" id="{E6D1C801-8934-49AF-9633-9B942E94CFD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13" name="">
            <a:extLst xmlns:a="http://schemas.openxmlformats.org/drawingml/2006/main">
              <a:ext uri="{FF2B5EF4-FFF2-40B4-BE49-F238E27FC236}">
                <a16:creationId xmlns:a16="http://schemas.microsoft.com/office/drawing/2014/main" id="{148A609E-0164-48F7-BBB8-524E8A25B2A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Tree>
    <p:extLst>
      <p:ext uri="{BB962C8B-B14F-4D97-AF65-F5344CB8AC3E}">
        <p14:creationId xmlns:p14="http://schemas.microsoft.com/office/powerpoint/2010/main" val="15886501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C6B668-160A-4232-8A4B-133C1B12127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参考資料と調べ学習</a:t>
            </a:r>
          </a:p>
        </p:txBody>
      </p:sp>
      <p:cxnSp>
        <p:nvCxnSpPr>
          <p:cNvPr id="2" name="">
            <a:extLst xmlns:a="http://schemas.openxmlformats.org/drawingml/2006/main">
              <a:ext uri="{FF2B5EF4-FFF2-40B4-BE49-F238E27FC236}">
                <a16:creationId xmlns:a16="http://schemas.microsoft.com/office/drawing/2014/main" id="{F82BF791-2FCD-400F-AB10-DFD5AA40DB7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8999807-748D-48DE-BFAC-E45DFE4099FB}"/>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4" name="">
            <a:extLst xmlns:a="http://schemas.openxmlformats.org/drawingml/2006/main">
              <a:ext uri="{FF2B5EF4-FFF2-40B4-BE49-F238E27FC236}">
                <a16:creationId xmlns:a16="http://schemas.microsoft.com/office/drawing/2014/main" id="{44EB3A3B-7673-4F70-9BD5-4E71FD244758}"/>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5" name="">
            <a:extLst xmlns:a="http://schemas.openxmlformats.org/drawingml/2006/main">
              <a:ext uri="{FF2B5EF4-FFF2-40B4-BE49-F238E27FC236}">
                <a16:creationId xmlns:a16="http://schemas.microsoft.com/office/drawing/2014/main" id="{39731A47-6BAC-4EF4-B76B-C842CC5E158C}"/>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東京書籍 R7年間指導計画 PDF3～5頁</a:t>
            </a:r>
          </a:p>
        </p:txBody>
      </p:sp>
      <p:sp>
        <p:nvSpPr>
          <p:cNvPr id="6" name="">
            <a:extLst xmlns:a="http://schemas.openxmlformats.org/drawingml/2006/main">
              <a:ext uri="{FF2B5EF4-FFF2-40B4-BE49-F238E27FC236}">
                <a16:creationId xmlns:a16="http://schemas.microsoft.com/office/drawing/2014/main" id="{4AEF5CA5-BA69-41A2-B601-99F322A68BB7}"/>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https://ten.tokyo-shoseki.co.jp/text/chu/gijutsu/download/documents/R7gijutsu_keikaku.pdf</a:t>
            </a:r>
          </a:p>
        </p:txBody>
      </p:sp>
      <p:sp>
        <p:nvSpPr>
          <p:cNvPr id="7" name="">
            <a:extLst xmlns:a="http://schemas.openxmlformats.org/drawingml/2006/main">
              <a:ext uri="{FF2B5EF4-FFF2-40B4-BE49-F238E27FC236}">
                <a16:creationId xmlns:a16="http://schemas.microsoft.com/office/drawing/2014/main" id="{DD11AEC7-8306-4D7B-8DF9-320EFEBC17EC}"/>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8" name="">
            <a:extLst xmlns:a="http://schemas.openxmlformats.org/drawingml/2006/main">
              <a:ext uri="{FF2B5EF4-FFF2-40B4-BE49-F238E27FC236}">
                <a16:creationId xmlns:a16="http://schemas.microsoft.com/office/drawing/2014/main" id="{BE9693A7-DFF7-4D65-BA78-9850313AE2F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第15回</a:t>
            </a:r>
          </a:p>
        </p:txBody>
      </p:sp>
      <p:sp>
        <p:nvSpPr>
          <p:cNvPr id="9" name="">
            <a:extLst xmlns:a="http://schemas.openxmlformats.org/drawingml/2006/main">
              <a:ext uri="{FF2B5EF4-FFF2-40B4-BE49-F238E27FC236}">
                <a16:creationId xmlns:a16="http://schemas.microsoft.com/office/drawing/2014/main" id="{6F6D611C-D8C0-4438-A47F-D51225A63DB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Tree>
    <p:extLst>
      <p:ext uri="{BB962C8B-B14F-4D97-AF65-F5344CB8AC3E}">
        <p14:creationId xmlns:p14="http://schemas.microsoft.com/office/powerpoint/2010/main" val="18279137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2026-10-28T00:20:32.7140000Z</dcterms:created>
  <dcterms:modified xsi:type="dcterms:W3CDTF">2026-10-28T00:20:32.7140000Z</dcterms:modified>
</coreProperties>
</file>