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v6_slide1.xml" ContentType="application/vnd.openxmlformats-officedocument.presentationml.slide+xml"/>
  <Override PartName="/ppt/slideLayouts/v6_slideLayout6.xml" ContentType="application/vnd.openxmlformats-officedocument.presentationml.slideLayout+xml"/>
  <Override PartName="/ppt/slideMasters/v6_slideMaster1.xml" ContentType="application/vnd.openxmlformats-officedocument.presentationml.slideMaster+xml"/>
  <Override PartName="/ppt/slideMasters/theme/v6_theme2.xml" ContentType="application/vnd.openxmlformats-officedocument.theme+xml"/>
  <Override PartName="/ppt/slideLayouts/v6_slideLayout1.xml" ContentType="application/vnd.openxmlformats-officedocument.presentationml.slideLayout+xml"/>
  <Override PartName="/ppt/slideLayouts/v6_slideLayout2.xml" ContentType="application/vnd.openxmlformats-officedocument.presentationml.slideLayout+xml"/>
  <Override PartName="/ppt/slideLayouts/v6_slideLayout3.xml" ContentType="application/vnd.openxmlformats-officedocument.presentationml.slideLayout+xml"/>
  <Override PartName="/ppt/slideLayouts/v6_slideLayout4.xml" ContentType="application/vnd.openxmlformats-officedocument.presentationml.slideLayout+xml"/>
  <Override PartName="/ppt/slideLayouts/v6_slideLayout5.xml" ContentType="application/vnd.openxmlformats-officedocument.presentationml.slideLayout+xml"/>
  <Override PartName="/ppt/slides/charts/v6_chart1.xml" ContentType="application/vnd.openxmlformats-officedocument.drawingml.chart+xml"/>
  <Override PartName="/ppt/notesSlides/v6_notesSlide1.xml" ContentType="application/vnd.openxmlformats-officedocument.presentationml.notesSlide+xml"/>
  <Override PartName="/ppt/slides/v6_slide2.xml" ContentType="application/vnd.openxmlformats-officedocument.presentationml.slide+xml"/>
  <Override PartName="/ppt/slides/charts/v6_chart2.xml" ContentType="application/vnd.openxmlformats-officedocument.drawingml.chart+xml"/>
  <Override PartName="/ppt/notesSlides/v6_notesSlide2.xml" ContentType="application/vnd.openxmlformats-officedocument.presentationml.notesSlide+xml"/>
  <Override PartName="/ppt/slides/v6_slide3.xml" ContentType="application/vnd.openxmlformats-officedocument.presentationml.slide+xml"/>
  <Override PartName="/ppt/notesSlides/v6_notesSlide3.xml" ContentType="application/vnd.openxmlformats-officedocument.presentationml.notesSlide+xml"/>
  <Override PartName="/ppt/slides/v6_slide4.xml" ContentType="application/vnd.openxmlformats-officedocument.presentationml.slide+xml"/>
  <Override PartName="/ppt/slides/charts/v6_chart3.xml" ContentType="application/vnd.openxmlformats-officedocument.drawingml.chart+xml"/>
  <Override PartName="/ppt/notesSlides/v6_notesSlide4.xml" ContentType="application/vnd.openxmlformats-officedocument.presentationml.notesSlide+xml"/>
  <Override PartName="/ppt/slides/v6_slide5.xml" ContentType="application/vnd.openxmlformats-officedocument.presentationml.slide+xml"/>
  <Override PartName="/ppt/slides/charts/v6_chart4.xml" ContentType="application/vnd.openxmlformats-officedocument.drawingml.chart+xml"/>
  <Override PartName="/ppt/slides/charts/v6_chart5.xml" ContentType="application/vnd.openxmlformats-officedocument.drawingml.chart+xml"/>
  <Override PartName="/ppt/notesSlides/v6_notesSlide5.xml" ContentType="application/vnd.openxmlformats-officedocument.presentationml.notesSlide+xml"/>
  <Override PartName="/ppt/embeddings/v6_chart1.xlsx" ContentType="application/vnd.openxmlformats-officedocument.spreadsheetml.sheet"/>
  <Override PartName="/ppt/embeddings/v6_chart2.xlsx" ContentType="application/vnd.openxmlformats-officedocument.spreadsheetml.sheet"/>
  <Override PartName="/ppt/embeddings/v6_chart3.xlsx" ContentType="application/vnd.openxmlformats-officedocument.spreadsheetml.sheet"/>
  <Override PartName="/ppt/embeddings/v6_chart4.xlsx" ContentType="application/vnd.openxmlformats-officedocument.spreadsheetml.sheet"/>
  <Override PartName="/ppt/embeddings/v6_chart5.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62" r:id="rIdV6Master0"/>
  </p:sldMasterIdLst>
  <p:notesMasterIdLst>
    <p:notesMasterId r:id="rId31"/>
  </p:notesMasterIdLst>
  <p:sldIdLst>
    <p:sldId id="701" r:id="rIdV6Slide1"/>
    <p:sldId id="702" r:id="rIdV6Slide2"/>
    <p:sldId id="703" r:id="rIdV6Slide3"/>
    <p:sldId id="704" r:id="rIdV6Slide4"/>
    <p:sldId id="705" r:id="rIdV6Slide5"/>
    <p:sldId id="706" r:id="rIdV6Slide6"/>
    <p:sldId id="707" r:id="rIdV6Slide7"/>
    <p:sldId id="708" r:id="rIdV6Slide8"/>
    <p:sldId id="709" r:id="rIdV6Slide9"/>
    <p:sldId id="710" r:id="rIdV6Slide10"/>
    <p:sldId id="711" r:id="rIdV6Slide11"/>
    <p:sldId id="712" r:id="rIdV6Slide12"/>
    <p:sldId id="713" r:id="rIdV6Slide13"/>
    <p:sldId id="714" r:id="rIdV6Slide14"/>
    <p:sldId id="715" r:id="rIdV6Slide15"/>
    <p:sldId id="716" r:id="rIdV6Slide16"/>
    <p:sldId id="717" r:id="rIdV6Slide17"/>
    <p:sldId id="718" r:id="rIdV6Slide18"/>
    <p:sldId id="719" r:id="rIdV6Slide19"/>
    <p:sldId id="720" r:id="rIdV6Slide20"/>
    <p:sldId id="721" r:id="rIdV6Slide21"/>
    <p:sldId id="722" r:id="rIdV6Slide22"/>
    <p:sldId id="723" r:id="rIdV6Slide23"/>
    <p:sldId id="724" r:id="rIdV6Slide24"/>
    <p:sldId id="725" r:id="rIdV6Slide25"/>
    <p:sldId id="726" r:id="rIdV6Slide26"/>
    <p:sldId id="727" r:id="rIdV6Slide27"/>
    <p:sldId id="728" r:id="rIdV6Slide28"/>
    <p:sldId id="729" r:id="rIdV6Slide29"/>
    <p:sldId id="730" r:id="rIdV6Slide30"/>
    <p:sldId id="731" r:id="rIdV6Slide31"/>
    <p:sldId id="732" r:id="rIdV6Slide3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theme" Target="theme/theme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V6Slide1" Type="http://schemas.openxmlformats.org/officeDocument/2006/relationships/slide" Target="slides/slide1.xml"/><Relationship Id="rIdV6Slide2" Type="http://schemas.openxmlformats.org/officeDocument/2006/relationships/slide" Target="slides/slide2.xml"/><Relationship Id="rIdV6Slide3" Type="http://schemas.openxmlformats.org/officeDocument/2006/relationships/slide" Target="slides/slide3.xml"/><Relationship Id="rIdV6Slide4" Type="http://schemas.openxmlformats.org/officeDocument/2006/relationships/slide" Target="slides/slide4.xml"/><Relationship Id="rIdV6Slide5" Type="http://schemas.openxmlformats.org/officeDocument/2006/relationships/slide" Target="slides/slide5.xml"/><Relationship Id="rIdV6Slide6" Type="http://schemas.openxmlformats.org/officeDocument/2006/relationships/slide" Target="slides/slide6.xml"/><Relationship Id="rIdV6Slide7" Type="http://schemas.openxmlformats.org/officeDocument/2006/relationships/slide" Target="slides/slide7.xml"/><Relationship Id="rIdV6Slide8" Type="http://schemas.openxmlformats.org/officeDocument/2006/relationships/slide" Target="slides/slide8.xml"/><Relationship Id="rIdV6Slide9" Type="http://schemas.openxmlformats.org/officeDocument/2006/relationships/slide" Target="slides/slide9.xml"/><Relationship Id="rIdV6Slide10" Type="http://schemas.openxmlformats.org/officeDocument/2006/relationships/slide" Target="slides/slide10.xml"/><Relationship Id="rIdV6Slide11" Type="http://schemas.openxmlformats.org/officeDocument/2006/relationships/slide" Target="slides/slide11.xml"/><Relationship Id="rIdV6Slide12" Type="http://schemas.openxmlformats.org/officeDocument/2006/relationships/slide" Target="slides/slide12.xml"/><Relationship Id="rIdV6Slide13" Type="http://schemas.openxmlformats.org/officeDocument/2006/relationships/slide" Target="slides/slide13.xml"/><Relationship Id="rIdV6Slide14" Type="http://schemas.openxmlformats.org/officeDocument/2006/relationships/slide" Target="slides/slide14.xml"/><Relationship Id="rIdV6Slide15" Type="http://schemas.openxmlformats.org/officeDocument/2006/relationships/slide" Target="slides/slide15.xml"/><Relationship Id="rIdV6Slide16" Type="http://schemas.openxmlformats.org/officeDocument/2006/relationships/slide" Target="slides/slide16.xml"/><Relationship Id="rIdV6Slide17" Type="http://schemas.openxmlformats.org/officeDocument/2006/relationships/slide" Target="slides/slide17.xml"/><Relationship Id="rIdV6Slide18" Type="http://schemas.openxmlformats.org/officeDocument/2006/relationships/slide" Target="slides/slide18.xml"/><Relationship Id="rIdV6Slide19" Type="http://schemas.openxmlformats.org/officeDocument/2006/relationships/slide" Target="slides/slide19.xml"/><Relationship Id="rIdV6Slide20" Type="http://schemas.openxmlformats.org/officeDocument/2006/relationships/slide" Target="slides/v6_slide1.xml"/><Relationship Id="rIdV6Slide21" Type="http://schemas.openxmlformats.org/officeDocument/2006/relationships/slide" Target="slides/v6_slide2.xml"/><Relationship Id="rIdV6Slide22" Type="http://schemas.openxmlformats.org/officeDocument/2006/relationships/slide" Target="slides/slide20.xml"/><Relationship Id="rIdV6Slide23" Type="http://schemas.openxmlformats.org/officeDocument/2006/relationships/slide" Target="slides/v6_slide3.xml"/><Relationship Id="rIdV6Slide24" Type="http://schemas.openxmlformats.org/officeDocument/2006/relationships/slide" Target="slides/v6_slide4.xml"/><Relationship Id="rIdV6Slide25" Type="http://schemas.openxmlformats.org/officeDocument/2006/relationships/slide" Target="slides/v6_slide5.xml"/><Relationship Id="rIdV6Slide26" Type="http://schemas.openxmlformats.org/officeDocument/2006/relationships/slide" Target="slides/slide22.xml"/><Relationship Id="rIdV6Slide27" Type="http://schemas.openxmlformats.org/officeDocument/2006/relationships/slide" Target="slides/slide23.xml"/><Relationship Id="rIdV6Slide28" Type="http://schemas.openxmlformats.org/officeDocument/2006/relationships/slide" Target="slides/slide24.xml"/><Relationship Id="rIdV6Slide29" Type="http://schemas.openxmlformats.org/officeDocument/2006/relationships/slide" Target="slides/slide25.xml"/><Relationship Id="rIdV6Slide30" Type="http://schemas.openxmlformats.org/officeDocument/2006/relationships/slide" Target="slides/slide26.xml"/><Relationship Id="rIdV6Slide31" Type="http://schemas.openxmlformats.org/officeDocument/2006/relationships/slide" Target="slides/slide27.xml"/><Relationship Id="rIdV6Slide32" Type="http://schemas.openxmlformats.org/officeDocument/2006/relationships/slide" Target="slides/slide28.xml"/><Relationship Id="rIdV6Master0" Type="http://schemas.openxmlformats.org/officeDocument/2006/relationships/slideMaster" Target="slideMasters/v6_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v6_notesSlide1.xml.rels><?xml version='1.0' encoding='UTF-8' standalone='yes'?>
<Relationships xmlns="http://schemas.openxmlformats.org/package/2006/relationships"><Relationship Type="http://schemas.openxmlformats.org/officeDocument/2006/relationships/slide" Target="../slides/v6_slide1.xml" Id="R3c1a28bda1b042a5"/><Relationship Type="http://schemas.openxmlformats.org/officeDocument/2006/relationships/notesMaster" Target="../notesMasters/notesMaster1.xml" Id="R8b82643b308a4ff2"/></Relationships>
</file>

<file path=ppt/notesSlides/_rels/v6_notesSlide2.xml.rels><?xml version='1.0' encoding='UTF-8' standalone='yes'?>
<Relationships xmlns="http://schemas.openxmlformats.org/package/2006/relationships"><Relationship Type="http://schemas.openxmlformats.org/officeDocument/2006/relationships/slide" Target="../slides/v6_slide2.xml" Id="R63d3e818bbbc46a4"/><Relationship Type="http://schemas.openxmlformats.org/officeDocument/2006/relationships/notesMaster" Target="../notesMasters/notesMaster1.xml" Id="Raf3761cb412243c4"/></Relationships>
</file>

<file path=ppt/notesSlides/_rels/v6_notesSlide3.xml.rels><?xml version='1.0' encoding='UTF-8' standalone='yes'?>
<Relationships xmlns="http://schemas.openxmlformats.org/package/2006/relationships"><Relationship Type="http://schemas.openxmlformats.org/officeDocument/2006/relationships/slide" Target="../slides/v6_slide3.xml" Id="Rc13df032cf9c4fdd"/><Relationship Type="http://schemas.openxmlformats.org/officeDocument/2006/relationships/notesMaster" Target="../notesMasters/notesMaster1.xml" Id="Rdd7e183fb0e045d0"/></Relationships>
</file>

<file path=ppt/notesSlides/_rels/v6_notesSlide4.xml.rels><?xml version='1.0' encoding='UTF-8' standalone='yes'?>
<Relationships xmlns="http://schemas.openxmlformats.org/package/2006/relationships"><Relationship Type="http://schemas.openxmlformats.org/officeDocument/2006/relationships/slide" Target="../slides/v6_slide4.xml" Id="R6f1e8f81ef954783"/><Relationship Type="http://schemas.openxmlformats.org/officeDocument/2006/relationships/notesMaster" Target="../notesMasters/notesMaster1.xml" Id="Redc1255ef8174aca"/></Relationships>
</file>

<file path=ppt/notesSlides/_rels/v6_notesSlide5.xml.rels><?xml version='1.0' encoding='UTF-8' standalone='yes'?>
<Relationships xmlns="http://schemas.openxmlformats.org/package/2006/relationships"><Relationship Type="http://schemas.openxmlformats.org/officeDocument/2006/relationships/slide" Target="../slides/v6_slide5.xml" Id="R4c911710ebf34aa9"/><Relationship Type="http://schemas.openxmlformats.org/officeDocument/2006/relationships/notesMaster" Target="../notesMasters/notesMaster1.xml" Id="R3e7fa75c0d4e43a9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図版について：図版再利用元：樹木の構造.pptx 9枚目。元資料の原図出典と公開利用条件は未確定。オンデマンド公開前に確認し、必要なら差し替える。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https://www.kairyudo.co.jp/contents/04_shiryo/nenkei/chu/data/r7chu-gi_hyokakijun.pdf</a:t>
            </a:r>
          </a:p>
          <a:p>
            <a:r>
              <a:t>https://www.kyoiku-tosho.co.jp/wp/wp-content/uploads/2024/04/G_R7kaisetu.pdf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Glass and Zelinka (2021), Wood Handbook, Chapter 4. https://research.fs.usda.gov/treesearch/62243</a:t>
            </a:r>
          </a:p>
          <a:p>
            <a:r>
              <a:t>Senalik and Farber (2021), Wood Handbook, Chapter 5. https://research.fs.usda.gov/treesearch/62244</a:t>
            </a:r>
          </a:p>
          <a:p>
            <a:r>
              <a:t>Stark and Cai (2021), Wood Handbook, Chapter 11. https://research.fs.usda.gov/treesearch/62258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図版について：図版再利用元：樹木の構造.pptx 7枚目。元資料の原図出典と公開利用条件は未確定。オンデマンド公開前に確認し、必要なら差し替える。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スギSEM画像：森林総合研究所 日本産木材データベース。スライド内リンク https://db.ffpri.go.jp/WoodDB/JWDB_SEM/detailB2_SEM.php?-action=browse&amp;-recid=201223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画像：森林総合研究所 日本産木材データベース。カラマツ https://db.ffpri.go.jp/WoodDB/JWDB_OM/detailB1_OM.php?-action=browse&amp;-recid=340901</a:t>
            </a:r>
          </a:p>
          <a:p>
            <a:r>
              <a:t>ブナ https://db.ffpri.go.jp/WoodDB/JWDB_OM/detailB1_OM.php?-action=browse&amp;-recid=340329</a:t>
            </a:r>
          </a:p>
          <a:p>
            <a:r>
              <a:t>ケヤキ https://db.ffpri.go.jp/WoodDB/JWDB_OM/detailB1_OM.php?-action=browse&amp;-recid=338751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Senalik and Farber (2021), Wood Handbook, Chapter 5. https://research.fs.usda.gov/treesearch/62244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出典：Senalik and Farber (2021), Wood Handbook, Chapter 5. https://research.fs.usda.gov/treesearch/62244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Senalik and Farber (2021), Wood Handbook, Chapter 5. https://research.fs.usda.gov/treesearch/62244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出典：Senalik and Farber (2021), Wood Handbook, Chapter 5. https://research.fs.usda.gov/treesearch/62244</a:t>
            </a:r>
          </a:p>
          <a:p>
            <a:r>
              <a:t>参考：MIT, Unit M4.4 Simple Beam Theory. https://web.mit.edu/16.unified/www/archives2006-2007/SPRING/materials/Lectures/M4%204-Unified07.pdf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出典：Senalik and Farber (2021), Wood Handbook, Chapter 5. https://research.fs.usda.gov/treesearch/62244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出典：Stark and Cai (2021), Wood Handbook, Chapter 11. https://research.fs.usda.gov/treesearch/62258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>
            <a:r>
              <a:t>Stark and Cai (2021), Wood Handbook, Chapter 11. https://research.fs.usda.gov/treesearch/62258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出典：Brashaw and Bergman (2021), Wood Handbook, Chapter 1. https://research.fs.usda.gov/treesearch/62241</a:t>
            </a:r>
          </a:p>
          <a:p>
            <a:r>
              <a:t>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Senalik and Farber (2021), Wood Handbook, Chapter 5. https://research.fs.usda.gov/treesearch/62244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v6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v6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bdd40e98fd704454"/></Relationships>
</file>

<file path=ppt/slideLayouts/_rels/v6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d7376b1ebaa84a0a"/></Relationships>
</file>

<file path=ppt/slideLayouts/_rels/v6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872838b53dc453c"/></Relationships>
</file>

<file path=ppt/slideLayouts/_rels/v6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1c2c6c72487d4da5"/></Relationships>
</file>

<file path=ppt/slideLayouts/_rels/v6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64001dac24b24c82"/></Relationships>
</file>

<file path=ppt/slideLayouts/_rels/v6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2c7e21bf37f4442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79885E-84AD-4327-8A4F-B0C65074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9AE28F0-FF06-4683-906C-C3D214AA5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902BCAD-F763-461A-B5BA-494FBAC8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89B964C-EAC3-44D3-B19B-52381734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4C6A02-4DC0-4D46-9AB2-95E4AC9F2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5E2505-2511-446D-B2B4-C8778DC0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0E4D6DE-FC38-4DB8-ABFA-88C65A409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E4D5F1F-1000-4968-9B87-40A24F1AF5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0C9317-54FD-4D0D-9B42-189D9F0A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02A4194-956D-448E-B845-CC43EBB4D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v6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v6_slideMaster1.xml.rels><?xml version='1.0' encoding='UTF-8' standalone='yes'?>
<Relationships xmlns="http://schemas.openxmlformats.org/package/2006/relationships"><Relationship Type="http://schemas.openxmlformats.org/officeDocument/2006/relationships/theme" Target="theme/v6_theme2.xml" Id="Rc9a3af294cd04053"/><Relationship Type="http://schemas.openxmlformats.org/officeDocument/2006/relationships/slideLayout" Target="../slideLayouts/v6_slideLayout1.xml" Id="Rf3757162ca264c0b"/><Relationship Type="http://schemas.openxmlformats.org/officeDocument/2006/relationships/slideLayout" Target="../slideLayouts/v6_slideLayout2.xml" Id="R80c0da7a5cef4cda"/><Relationship Type="http://schemas.openxmlformats.org/officeDocument/2006/relationships/slideLayout" Target="../slideLayouts/v6_slideLayout3.xml" Id="Red55a1a1d61945c4"/><Relationship Type="http://schemas.openxmlformats.org/officeDocument/2006/relationships/slideLayout" Target="../slideLayouts/v6_slideLayout4.xml" Id="R09755fc431844084"/><Relationship Type="http://schemas.openxmlformats.org/officeDocument/2006/relationships/slideLayout" Target="../slideLayouts/v6_slideLayout5.xml" Id="R1c87df2135994226"/><Relationship Type="http://schemas.openxmlformats.org/officeDocument/2006/relationships/slideLayout" Target="../slideLayouts/v6_slideLayout6.xml" Id="Rca7c19652fc548a2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v6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6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3757162ca264c0b"/>
    <p:sldLayoutId xmlns:r="http://schemas.openxmlformats.org/officeDocument/2006/relationships" id="2147483664" r:id="R80c0da7a5cef4cda"/>
    <p:sldLayoutId xmlns:r="http://schemas.openxmlformats.org/officeDocument/2006/relationships" id="2147483665" r:id="Red55a1a1d61945c4"/>
    <p:sldLayoutId xmlns:r="http://schemas.openxmlformats.org/officeDocument/2006/relationships" id="2147483666" r:id="R09755fc431844084"/>
    <p:sldLayoutId xmlns:r="http://schemas.openxmlformats.org/officeDocument/2006/relationships" id="2147483667" r:id="R1c87df2135994226"/>
    <p:sldLayoutId xmlns:r="http://schemas.openxmlformats.org/officeDocument/2006/relationships" id="2147483668" r:id="Rca7c19652fc5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b.ffpri.go.jp/WoodDB/JWDB_SEM/detailB2_SEM.php?-action=browse&amp;-recid=201223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b.ffpri.go.jp/WoodDB/JWDB_OM/detailB1_OM.php?-action=browse&amp;-recid=340901" TargetMode="External"/><Relationship Id="rId3" Type="http://schemas.openxmlformats.org/officeDocument/2006/relationships/hyperlink" Target="https://db.ffpri.go.jp/WoodDB/JWDB_OM/detailB1_OM.php?-action=browse&amp;-recid=340329" TargetMode="External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b.ffpri.go.jp/WoodDB/JWDB_OM/detailB1_OM.php?-action=browse&amp;-recid=338751" TargetMode="External"/><Relationship Id="rId5" Type="http://schemas.openxmlformats.org/officeDocument/2006/relationships/hyperlink" Target="https://db.ffpri.go.jp/WoodDB/JWDB_SEM/detailB2_SEM.php?-action=browse&amp;-recid=201223" TargetMode="External"/><Relationship Id="rId4" Type="http://schemas.openxmlformats.org/officeDocument/2006/relationships/image" Target="../media/image6.JPG"/><Relationship Id="rId9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v6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6571022eb480401c"/><Relationship Type="http://schemas.openxmlformats.org/officeDocument/2006/relationships/chart" Target="charts/v6_chart1.xml" Id="R5ff06459f67842d7"/><Relationship Type="http://schemas.openxmlformats.org/officeDocument/2006/relationships/notesSlide" Target="../notesSlides/v6_notesSlide1.xml" Id="R31d0e3ab6a684fe2"/></Relationships>
</file>

<file path=ppt/slides/_rels/v6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acce1db4e1954b7c"/><Relationship Type="http://schemas.openxmlformats.org/officeDocument/2006/relationships/chart" Target="charts/v6_chart2.xml" Id="R41e9032a9af0431e"/><Relationship Type="http://schemas.openxmlformats.org/officeDocument/2006/relationships/notesSlide" Target="../notesSlides/v6_notesSlide2.xml" Id="R2ddecef06bc2460d"/></Relationships>
</file>

<file path=ppt/slides/_rels/v6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e67294ef1aad4266"/><Relationship Type="http://schemas.openxmlformats.org/officeDocument/2006/relationships/notesSlide" Target="../notesSlides/v6_notesSlide3.xml" Id="R06df0fab37974dc8"/></Relationships>
</file>

<file path=ppt/slides/_rels/v6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9ddf3cca74804ee5"/><Relationship Type="http://schemas.openxmlformats.org/officeDocument/2006/relationships/chart" Target="charts/v6_chart3.xml" Id="Rce123c95830f4eb3"/><Relationship Type="http://schemas.openxmlformats.org/officeDocument/2006/relationships/notesSlide" Target="../notesSlides/v6_notesSlide4.xml" Id="R5a0381bb346b4333"/></Relationships>
</file>

<file path=ppt/slides/_rels/v6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a2ef9e9f8ca847dc"/><Relationship Type="http://schemas.openxmlformats.org/officeDocument/2006/relationships/chart" Target="charts/v6_chart4.xml" Id="R467237ca3f5c4e90"/><Relationship Type="http://schemas.openxmlformats.org/officeDocument/2006/relationships/chart" Target="charts/v6_chart5.xml" Id="R5d9a3210c37a45e6"/><Relationship Type="http://schemas.openxmlformats.org/officeDocument/2006/relationships/notesSlide" Target="../notesSlides/v6_notesSlide5.xml" Id="R4e1c2a1de8094df4"/></Relationships>
</file>

<file path=ppt/slides/charts/_rels/v6_chart1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1.xlsx"/></ns0:Relationships>
</file>

<file path=ppt/slides/charts/_rels/v6_chart2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2.xlsx"/></ns0:Relationships>
</file>

<file path=ppt/slides/charts/_rels/v6_chart3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3.xlsx"/></ns0:Relationships>
</file>

<file path=ppt/slides/charts/_rels/v6_chart4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4.xlsx"/></ns0:Relationships>
</file>

<file path=ppt/slides/charts/_rels/v6_chart5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5.xlsx"/></ns0:Relationships>
</file>

<file path=ppt/slides/charts/v6_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k = 10 N/mm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</c:numCache>
            </c:numRef>
          </c:yVal>
          <c:smooth val="0"/>
        </c:ser>
        <c:ser>
          <c:idx val="1"/>
          <c:order val="1"/>
          <c:tx>
            <c:v>k = 20 N/mm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伸び x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2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E = 5,000 MPa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v>E = 10,000 MPa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応力 σ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0.00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ひずみ 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%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00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3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幅40 × 高さ10 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Model!$B$2:$B$10</c:f>
              <c:numCache>
                <c:formatCode>0.###</c:formatCode>
                <c:ptCount val="9"/>
                <c:pt idx="0">
                  <c:v>0</c:v>
                </c:pt>
                <c:pt idx="1">
                  <c:v>0.675</c:v>
                </c:pt>
                <c:pt idx="2">
                  <c:v>1.35</c:v>
                </c:pt>
                <c:pt idx="3">
                  <c:v>2.025</c:v>
                </c:pt>
                <c:pt idx="4">
                  <c:v>2.7</c:v>
                </c:pt>
                <c:pt idx="5">
                  <c:v>3.375</c:v>
                </c:pt>
                <c:pt idx="6">
                  <c:v>4.05</c:v>
                </c:pt>
                <c:pt idx="7">
                  <c:v>4.725</c:v>
                </c:pt>
                <c:pt idx="8">
                  <c:v>5.4</c:v>
                </c:pt>
              </c:numCache>
            </c:numRef>
          </c:yVal>
          <c:smooth val="0"/>
        </c:ser>
        <c:ser>
          <c:idx val="1"/>
          <c:order val="1"/>
          <c:tx>
            <c:v>幅20 × 高さ20 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Model!$D$2:$D$10</c:f>
              <c:numCache>
                <c:formatCode>0.###</c:formatCode>
                <c:ptCount val="9"/>
                <c:pt idx="0">
                  <c:v>0</c:v>
                </c:pt>
                <c:pt idx="1">
                  <c:v>0.16875</c:v>
                </c:pt>
                <c:pt idx="2">
                  <c:v>0.3375</c:v>
                </c:pt>
                <c:pt idx="3">
                  <c:v>0.50625</c:v>
                </c:pt>
                <c:pt idx="4">
                  <c:v>0.675</c:v>
                </c:pt>
                <c:pt idx="5">
                  <c:v>0.84375</c:v>
                </c:pt>
                <c:pt idx="6">
                  <c:v>1.0125</c:v>
                </c:pt>
                <c:pt idx="7">
                  <c:v>1.18125</c:v>
                </c:pt>
                <c:pt idx="8">
                  <c:v>1.35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4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300</c:v>
                </c:pt>
                <c:pt idx="1">
                  <c:v>320</c:v>
                </c:pt>
                <c:pt idx="2">
                  <c:v>340</c:v>
                </c:pt>
                <c:pt idx="3">
                  <c:v>360</c:v>
                </c:pt>
                <c:pt idx="4">
                  <c:v>380</c:v>
                </c:pt>
                <c:pt idx="5">
                  <c:v>400</c:v>
                </c:pt>
                <c:pt idx="6">
                  <c:v>420</c:v>
                </c:pt>
                <c:pt idx="7">
                  <c:v>440</c:v>
                </c:pt>
                <c:pt idx="8">
                  <c:v>460</c:v>
                </c:pt>
                <c:pt idx="9">
                  <c:v>480</c:v>
                </c:pt>
                <c:pt idx="10">
                  <c:v>500</c:v>
                </c:pt>
                <c:pt idx="11">
                  <c:v>520</c:v>
                </c:pt>
                <c:pt idx="12">
                  <c:v>540</c:v>
                </c:pt>
                <c:pt idx="13">
                  <c:v>560</c:v>
                </c:pt>
                <c:pt idx="14">
                  <c:v>580</c:v>
                </c:pt>
                <c:pt idx="15">
                  <c:v>600</c:v>
                </c:pt>
                <c:pt idx="16">
                  <c:v>620</c:v>
                </c:pt>
                <c:pt idx="17">
                  <c:v>640</c:v>
                </c:pt>
                <c:pt idx="18">
                  <c:v>660</c:v>
                </c:pt>
                <c:pt idx="19">
                  <c:v>680</c:v>
                </c:pt>
                <c:pt idx="20">
                  <c:v>700</c:v>
                </c:pt>
                <c:pt idx="21">
                  <c:v>720</c:v>
                </c:pt>
                <c:pt idx="22">
                  <c:v>740</c:v>
                </c:pt>
                <c:pt idx="23">
                  <c:v>760</c:v>
                </c:pt>
                <c:pt idx="24">
                  <c:v>780</c:v>
                </c:pt>
                <c:pt idx="25">
                  <c:v>800</c:v>
                </c:pt>
                <c:pt idx="26">
                  <c:v>820</c:v>
                </c:pt>
                <c:pt idx="27">
                  <c:v>840</c:v>
                </c:pt>
                <c:pt idx="28">
                  <c:v>860</c:v>
                </c:pt>
                <c:pt idx="29">
                  <c:v>880</c:v>
                </c:pt>
                <c:pt idx="30">
                  <c:v>900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0.3375</c:v>
                </c:pt>
                <c:pt idx="1">
                  <c:v>0.4096</c:v>
                </c:pt>
                <c:pt idx="2">
                  <c:v>0.4913</c:v>
                </c:pt>
                <c:pt idx="3">
                  <c:v>0.5832000000000001</c:v>
                </c:pt>
                <c:pt idx="4">
                  <c:v>0.6859</c:v>
                </c:pt>
                <c:pt idx="5">
                  <c:v>0.8</c:v>
                </c:pt>
                <c:pt idx="6">
                  <c:v>0.9261</c:v>
                </c:pt>
                <c:pt idx="7">
                  <c:v>1.0648</c:v>
                </c:pt>
                <c:pt idx="8">
                  <c:v>1.2167</c:v>
                </c:pt>
                <c:pt idx="9">
                  <c:v>1.3824</c:v>
                </c:pt>
                <c:pt idx="10">
                  <c:v>1.5625</c:v>
                </c:pt>
                <c:pt idx="11">
                  <c:v>1.7576</c:v>
                </c:pt>
                <c:pt idx="12">
                  <c:v>1.9683</c:v>
                </c:pt>
                <c:pt idx="13">
                  <c:v>2.1952</c:v>
                </c:pt>
                <c:pt idx="14">
                  <c:v>2.4389</c:v>
                </c:pt>
                <c:pt idx="15">
                  <c:v>2.7</c:v>
                </c:pt>
                <c:pt idx="16">
                  <c:v>2.9791</c:v>
                </c:pt>
                <c:pt idx="17">
                  <c:v>3.2768</c:v>
                </c:pt>
                <c:pt idx="18">
                  <c:v>3.5937</c:v>
                </c:pt>
                <c:pt idx="19">
                  <c:v>3.9304</c:v>
                </c:pt>
                <c:pt idx="20">
                  <c:v>4.2875</c:v>
                </c:pt>
                <c:pt idx="21">
                  <c:v>4.6656</c:v>
                </c:pt>
                <c:pt idx="22">
                  <c:v>5.0653</c:v>
                </c:pt>
                <c:pt idx="23">
                  <c:v>5.4872</c:v>
                </c:pt>
                <c:pt idx="24">
                  <c:v>5.9319</c:v>
                </c:pt>
                <c:pt idx="25">
                  <c:v>6.4</c:v>
                </c:pt>
                <c:pt idx="26">
                  <c:v>6.8921</c:v>
                </c:pt>
                <c:pt idx="27">
                  <c:v>7.4088</c:v>
                </c:pt>
                <c:pt idx="28">
                  <c:v>7.9507</c:v>
                </c:pt>
                <c:pt idx="29">
                  <c:v>8.5184</c:v>
                </c:pt>
                <c:pt idx="30">
                  <c:v>9.112500000000001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900"/>
          <c:min val="3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支点間距離 L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5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4000</c:v>
                </c:pt>
                <c:pt idx="1">
                  <c:v>4400</c:v>
                </c:pt>
                <c:pt idx="2">
                  <c:v>4800</c:v>
                </c:pt>
                <c:pt idx="3">
                  <c:v>5200</c:v>
                </c:pt>
                <c:pt idx="4">
                  <c:v>5600</c:v>
                </c:pt>
                <c:pt idx="5">
                  <c:v>6000</c:v>
                </c:pt>
                <c:pt idx="6">
                  <c:v>6400</c:v>
                </c:pt>
                <c:pt idx="7">
                  <c:v>6800</c:v>
                </c:pt>
                <c:pt idx="8">
                  <c:v>7200</c:v>
                </c:pt>
                <c:pt idx="9">
                  <c:v>7600</c:v>
                </c:pt>
                <c:pt idx="10">
                  <c:v>8000</c:v>
                </c:pt>
                <c:pt idx="11">
                  <c:v>8400</c:v>
                </c:pt>
                <c:pt idx="12">
                  <c:v>8800</c:v>
                </c:pt>
                <c:pt idx="13">
                  <c:v>9200</c:v>
                </c:pt>
                <c:pt idx="14">
                  <c:v>9600</c:v>
                </c:pt>
                <c:pt idx="15">
                  <c:v>10000</c:v>
                </c:pt>
                <c:pt idx="16">
                  <c:v>10400</c:v>
                </c:pt>
                <c:pt idx="17">
                  <c:v>10800</c:v>
                </c:pt>
                <c:pt idx="18">
                  <c:v>11200</c:v>
                </c:pt>
                <c:pt idx="19">
                  <c:v>11600</c:v>
                </c:pt>
                <c:pt idx="20">
                  <c:v>12000</c:v>
                </c:pt>
                <c:pt idx="21">
                  <c:v>12400</c:v>
                </c:pt>
                <c:pt idx="22">
                  <c:v>12800</c:v>
                </c:pt>
                <c:pt idx="23">
                  <c:v>13200</c:v>
                </c:pt>
                <c:pt idx="24">
                  <c:v>13600</c:v>
                </c:pt>
                <c:pt idx="25">
                  <c:v>14000</c:v>
                </c:pt>
                <c:pt idx="26">
                  <c:v>14400</c:v>
                </c:pt>
                <c:pt idx="27">
                  <c:v>14800</c:v>
                </c:pt>
                <c:pt idx="28">
                  <c:v>15200</c:v>
                </c:pt>
                <c:pt idx="29">
                  <c:v>15600</c:v>
                </c:pt>
                <c:pt idx="30">
                  <c:v>16000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6.75</c:v>
                </c:pt>
                <c:pt idx="1">
                  <c:v>6.136363636363637</c:v>
                </c:pt>
                <c:pt idx="2">
                  <c:v>5.625</c:v>
                </c:pt>
                <c:pt idx="3">
                  <c:v>5.192307692307693</c:v>
                </c:pt>
                <c:pt idx="4">
                  <c:v>4.821428571428571</c:v>
                </c:pt>
                <c:pt idx="5">
                  <c:v>4.5</c:v>
                </c:pt>
                <c:pt idx="6">
                  <c:v>4.21875</c:v>
                </c:pt>
                <c:pt idx="7">
                  <c:v>3.970588235294118</c:v>
                </c:pt>
                <c:pt idx="8">
                  <c:v>3.75</c:v>
                </c:pt>
                <c:pt idx="9">
                  <c:v>3.552631578947369</c:v>
                </c:pt>
                <c:pt idx="10">
                  <c:v>3.375</c:v>
                </c:pt>
                <c:pt idx="11">
                  <c:v>3.214285714285714</c:v>
                </c:pt>
                <c:pt idx="12">
                  <c:v>3.068181818181818</c:v>
                </c:pt>
                <c:pt idx="13">
                  <c:v>2.934782608695652</c:v>
                </c:pt>
                <c:pt idx="14">
                  <c:v>2.8125</c:v>
                </c:pt>
                <c:pt idx="15">
                  <c:v>2.7</c:v>
                </c:pt>
                <c:pt idx="16">
                  <c:v>2.596153846153846</c:v>
                </c:pt>
                <c:pt idx="17">
                  <c:v>2.5</c:v>
                </c:pt>
                <c:pt idx="18">
                  <c:v>2.410714285714286</c:v>
                </c:pt>
                <c:pt idx="19">
                  <c:v>2.327586206896552</c:v>
                </c:pt>
                <c:pt idx="20">
                  <c:v>2.25</c:v>
                </c:pt>
                <c:pt idx="21">
                  <c:v>2.17741935483871</c:v>
                </c:pt>
                <c:pt idx="22">
                  <c:v>2.109375</c:v>
                </c:pt>
                <c:pt idx="23">
                  <c:v>2.045454545454545</c:v>
                </c:pt>
                <c:pt idx="24">
                  <c:v>1.985294117647059</c:v>
                </c:pt>
                <c:pt idx="25">
                  <c:v>1.928571428571429</c:v>
                </c:pt>
                <c:pt idx="26">
                  <c:v>1.875</c:v>
                </c:pt>
                <c:pt idx="27">
                  <c:v>1.824324324324324</c:v>
                </c:pt>
                <c:pt idx="28">
                  <c:v>1.776315789473684</c:v>
                </c:pt>
                <c:pt idx="29">
                  <c:v>1.730769230769231</c:v>
                </c:pt>
                <c:pt idx="30">
                  <c:v>1.6875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000"/>
          <c:min val="40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ヤング率 E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4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70DC0E-7905-4F14-A5E0-BB7B001516E6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4B6DE176-1670-443F-AA9D-43FAB5FE6773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20C4DD-4216-455D-82B1-534A3F450748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8CD7CB-C689-4A00-B9DC-0465C7A46AC0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2986A9-9F93-4D4B-B613-674FA96E1A83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5905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第1回　導入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CAAECF-C623-4CDC-941C-0F50B7C5E19E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6286500" cy="165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木材の性質を</a:t>
            </a:r>
          </a:p>
          <a:p>
            <a: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根拠から説明する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7681DB-1AFD-4AB4-9642-4F624CF8E22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観察・計算・材料選択を、技術科の授業へ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B37C220-60CE-405B-99A4-22E2BA68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4750" y="1831181"/>
            <a:ext cx="3981450" cy="2986088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4B968C-74B2-4910-9CD5-D950F483636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樹木の構造と、水分・方向・加工の関係から考える</a:t>
            </a:r>
          </a:p>
        </p:txBody>
      </p:sp>
    </p:spTree>
    <p:extLst>
      <p:ext uri="{BB962C8B-B14F-4D97-AF65-F5344CB8AC3E}">
        <p14:creationId xmlns:p14="http://schemas.microsoft.com/office/powerpoint/2010/main" val="154126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E1F23E-9DF7-4B83-B985-5F059DC4642B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身近な木製品の、どこを見るか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D5FD6EDC-75AE-479D-AB85-6AEEBACEC6A6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688416-4334-4DBE-ACD7-365486639E54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5E78AA2-3B60-4C5B-9CDC-3EA038F885EC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7C6555-5455-4DA2-B1E2-93CDAFBD95B2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棚板は、なぜこの向き・厚さなのか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4AF2D8-C42B-4ADD-AD43-92E63B3357BB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机の天板は、木目が見えたら無垢材なのか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6470B1-D225-43A5-B021-786ABE0C9D05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木の扉は、季節によって動き方が変わるのか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6439968-98CD-42AA-9B57-DDBF598784CF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その説明を、中学生にどのような観察で確かめさせるか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12F1DBE-56D9-475D-92AE-80BFFDE7365E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まず1つ選び、「見えたこと」と「そう考えた理由」を分けて書く</a:t>
            </a:r>
          </a:p>
        </p:txBody>
      </p:sp>
    </p:spTree>
    <p:extLst>
      <p:ext uri="{BB962C8B-B14F-4D97-AF65-F5344CB8AC3E}">
        <p14:creationId xmlns:p14="http://schemas.microsoft.com/office/powerpoint/2010/main" val="105758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3DAE0D-61CD-4284-AB79-6CB365A17951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この講義で身に付けること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1923E67E-07AA-4108-97DD-013BD449AC13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7459E36-8457-430C-AC3D-0E6A2DEE765C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B16E50-FBC3-48B3-8825-644883CB830B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AD5D417-95F5-40C4-91BA-05A0A9140A6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多孔質・異方性から、木材の性質を説明する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E1380E-85F1-40E4-BC64-871FC09A029F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密度・水分・強度・変形を、条件をそろえて扱う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60ED739-2D59-40FD-963F-379D69C4E44A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繊維の向きや使用条件から、加工・接合を考える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360347-6601-4D20-91CF-6C2AA61F348D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観察や製作を通して理解できる、技術科の授業を考える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DD1B20F-441D-4970-83BB-6FFBB29C0B0C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知っている用語の数だけでなく、理由を説明できることを目指す</a:t>
            </a:r>
          </a:p>
        </p:txBody>
      </p:sp>
    </p:spTree>
    <p:extLst>
      <p:ext uri="{BB962C8B-B14F-4D97-AF65-F5344CB8AC3E}">
        <p14:creationId xmlns:p14="http://schemas.microsoft.com/office/powerpoint/2010/main" val="116992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CFDDA9-5FEE-4369-A691-7DB1A24B424C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関連する3つの講義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569896ED-B6CC-4ADA-BD2F-66B3612A38E4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A1BDBD-8D62-49A1-9233-15E57E9D20AC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049054-AAD6-40FC-8ADC-B65EC102B35C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A414518-32C8-46F2-96F8-A9188A1B6BA1}"/>
              </a:ext>
            </a:extLst>
          </p:cNvPr>
          <p:cNvGraphicFramePr/>
          <p:nvPr/>
        </p:nvGraphicFramePr>
        <p:xfrm>
          <a:off x="685800" y="1743075"/>
          <a:ext cx="10820400" cy="3095624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講義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中心になる問い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工業材料概論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材料をどう比べ、力と変形をどう扱うか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木材及び木質材料学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木材と木質材料の性能は、どの構造・製法から生じるか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生物育成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樹木はどう育ち、環境・資源とどう関わるか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05EA14-BF2C-44A4-9EC0-5018B9A6046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木質材料の製法・配向・利用条件は、この講義で詳しく扱う</a:t>
            </a:r>
          </a:p>
        </p:txBody>
      </p:sp>
    </p:spTree>
    <p:extLst>
      <p:ext uri="{BB962C8B-B14F-4D97-AF65-F5344CB8AC3E}">
        <p14:creationId xmlns:p14="http://schemas.microsoft.com/office/powerpoint/2010/main" val="7107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8D3801-81CC-4E70-A51C-A51EA93F37F6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15回でたどる流れ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E8C89E9C-2EDE-40B4-82B3-04AFF63D15A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48E892-0718-4EC3-A126-87FD5D2C2CC2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1A84EF6-49E5-4D82-963F-DEB3152B71FD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FC05F1A-F64E-4C12-BC62-D3E50A0D062D}"/>
              </a:ext>
            </a:extLst>
          </p:cNvPr>
          <p:cNvGraphicFramePr/>
          <p:nvPr/>
        </p:nvGraphicFramePr>
        <p:xfrm>
          <a:off x="685800" y="1552575"/>
          <a:ext cx="10820400" cy="406717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回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深める関係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1～2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外観・節・組織・年輪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構造と材質への問い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3～4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超微細構造・主要成分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細胞壁の配向と成分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5～6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木材の強度と異方性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方向・欠点・試験条件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7～10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密度・水分・寸法変化・生物劣化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構造と水、使用環境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11～14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合板・ボード類・集成材・CLT等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要素・配向・製法と性能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材料選択と技術科の授業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根拠を統合して説明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F98D30-1193-41FC-8B33-ABC7A10D302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木質材料の詳説は本講義へ。工業材料概論は概要と他材料比較を中心に</a:t>
            </a:r>
          </a:p>
        </p:txBody>
      </p:sp>
    </p:spTree>
    <p:extLst>
      <p:ext uri="{BB962C8B-B14F-4D97-AF65-F5344CB8AC3E}">
        <p14:creationId xmlns:p14="http://schemas.microsoft.com/office/powerpoint/2010/main" val="71056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3F022AA-B101-4ABF-B697-8C870DA9BD4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中学校の学習と本講義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4BA4B9ED-A0FD-43D1-AB94-47B912C6161E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78E6B8-EBE0-47BC-9980-865D9BBBF11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FAD287-C087-4C98-BE64-F2A8A85B90F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A89594-7151-4363-B6EF-75BA209E8AA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中学校：材料の特性・加工法と、部材や構造を丈夫にする工夫を学ぶ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1BE5F6-667F-40FC-A85D-60C43D8C13BC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本講義：木材の多孔質・異方性・水分から、その理由を説明する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0631ACC-417B-4479-8821-07F5A75B2EB1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細胞壁やMFAの詳説は、教える根拠を深めるための学習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288E-472A-4BFE-9720-B82BB3D7736C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材料を選び、製作し、評価・改善する活動へ、科学的な根拠を結び付ける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A9E6739-E1D7-4676-9564-08AD2C3685C4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教科書の接点：材料の特性と加工／丈夫な部材・構造／問題解決</a:t>
            </a:r>
          </a:p>
        </p:txBody>
      </p:sp>
    </p:spTree>
    <p:extLst>
      <p:ext uri="{BB962C8B-B14F-4D97-AF65-F5344CB8AC3E}">
        <p14:creationId xmlns:p14="http://schemas.microsoft.com/office/powerpoint/2010/main" val="92774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5852DF-FA99-4604-84CE-FB3F6F6886D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観察と説明の記録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50135885-C9D2-42BE-B9B5-15E0D1A37530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3F23E3C-5E6E-4ECE-9670-1CF0CFE1F17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7F443C-7547-4104-8BA8-B27D73FC2AC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1C96E3-BF82-4A4F-885B-41BB86B2A24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例：同じ厚さの二つの板を比べ、一方だけ大きくたわんだ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728E54-34F1-4BE8-B615-6DCAE9C63587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記録：樹種、繊維の向き、支点間距離、荷重、含水状態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63D8C5-2F0D-431F-8962-837D6C3F34C9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説明：材料の弾性率と、長さ・断面の効果を分けて考える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CF139EA-3BD4-4AFE-A05F-38D333231152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再検討：比較条件をそろえ、同じ試料でもう一度確かめる</a:t>
            </a:r>
          </a:p>
        </p:txBody>
      </p:sp>
    </p:spTree>
    <p:extLst>
      <p:ext uri="{BB962C8B-B14F-4D97-AF65-F5344CB8AC3E}">
        <p14:creationId xmlns:p14="http://schemas.microsoft.com/office/powerpoint/2010/main" val="104199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B1905E-56CF-45B1-AAAA-54182A6568C1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木材についての予想を確かめる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EFCF41E-9EB4-41A8-89FB-8650C996FD29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A30A7F-571B-4CC8-9328-6E8F961E1185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11093B-4492-4B54-BE06-324B92CA091C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F74F6D-C2B1-47D5-9F76-3D09F3242F78}"/>
              </a:ext>
            </a:extLst>
          </p:cNvPr>
          <p:cNvSpPr>
            <a:spLocks noGrp="1"/>
          </p:cNvSpPr>
          <p:nvPr/>
        </p:nvSpPr>
        <p:spPr>
          <a:xfrm>
            <a:off x="685800" y="16478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木材の性質は、どの方向でも同じである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686980-11D1-494D-A14E-11192B22CA85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同じ樹種名なら、密度も強度も同じ値である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8868C2E-8920-45C1-A0F3-F52F438B20F6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含水率は、100％を超えることはない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0E43BA-75D2-4899-BE3C-5F90FF763474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木目のある天板は、必ず無垢材である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8277B4-E31F-46AD-8D88-BC0CA758C4F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正しい／誤り／条件による、を選び、根拠も1行書く</a:t>
            </a:r>
          </a:p>
        </p:txBody>
      </p:sp>
    </p:spTree>
    <p:extLst>
      <p:ext uri="{BB962C8B-B14F-4D97-AF65-F5344CB8AC3E}">
        <p14:creationId xmlns:p14="http://schemas.microsoft.com/office/powerpoint/2010/main" val="34715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E8DADF4-22B7-4502-AEBE-2C9EAE0FD18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樹木と木材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FE24ABE6-0106-4B0A-B519-B9FB19373F09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DBC3271-1221-4397-819C-A636E64CFDB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94CF33C-4066-418F-936B-1AD0489191A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F8A188-14FC-493C-AB0C-062EF550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58732" y="1504950"/>
            <a:ext cx="2102386" cy="43624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88B45F-6D14-4765-BA00-17073DA85F26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樹木は、多年にわたり地上部に木化した幹や枝を保つ植物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52F679-B962-4C56-BA24-8BBBEF9187EC}"/>
              </a:ext>
            </a:extLst>
          </p:cNvPr>
          <p:cNvSpPr>
            <a:spLocks noGrp="1"/>
          </p:cNvSpPr>
          <p:nvPr/>
        </p:nvSpPr>
        <p:spPr>
          <a:xfrm>
            <a:off x="6096000" y="25622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本講義では、典型的な針葉樹と広葉樹の二次木部を中心に扱う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00B531-24C7-40A9-980D-0239193E21C2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樹冠の葉は光合成、幹・枝は支持と輸送、根は吸水と支持を担う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E7D73A8-DA1E-44DE-90D7-B791A5E556BF}"/>
              </a:ext>
            </a:extLst>
          </p:cNvPr>
          <p:cNvSpPr>
            <a:spLocks noGrp="1"/>
          </p:cNvSpPr>
          <p:nvPr/>
        </p:nvSpPr>
        <p:spPr>
          <a:xfrm>
            <a:off x="6096000" y="46196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木材は、樹木の生活を支えた構造を材料として利用するもの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2D100E-9019-4DE1-8B70-BE6DDBABCB82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 dirty="0" err="1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樹冠・幹・根系</a:t>
            </a:r>
            <a:endParaRPr sz="1575" b="0" dirty="0">
              <a:solidFill>
                <a:srgbClr val="596875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78785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0428E01-C24F-4399-9A06-62C94C6C93EC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樹木の中で、木材は何をしているか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F37708E-81E2-4C70-BF0F-14A8529E47C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5A582C0-15FD-4D8C-9754-ACA17A51753E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51A8C3-2361-48A8-9379-4E3B9617690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E6C4C6-80DC-47F5-B637-1871E1D4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2581" y="1609725"/>
            <a:ext cx="6044339" cy="4572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8E8421-CD17-49A5-BD5B-0EDF87A5283C}"/>
              </a:ext>
            </a:extLst>
          </p:cNvPr>
          <p:cNvSpPr>
            <a:spLocks noGrp="1"/>
          </p:cNvSpPr>
          <p:nvPr/>
        </p:nvSpPr>
        <p:spPr>
          <a:xfrm>
            <a:off x="7620000" y="193357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樹体を支える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730706B-0B7C-471D-84AC-3F5A8E8733B1}"/>
              </a:ext>
            </a:extLst>
          </p:cNvPr>
          <p:cNvSpPr>
            <a:spLocks noGrp="1"/>
          </p:cNvSpPr>
          <p:nvPr/>
        </p:nvSpPr>
        <p:spPr>
          <a:xfrm>
            <a:off x="7620000" y="263842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水を通す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295E0CA-F229-4961-8EF6-115CA68C5713}"/>
              </a:ext>
            </a:extLst>
          </p:cNvPr>
          <p:cNvSpPr>
            <a:spLocks noGrp="1"/>
          </p:cNvSpPr>
          <p:nvPr/>
        </p:nvSpPr>
        <p:spPr>
          <a:xfrm>
            <a:off x="7620000" y="334327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物質を蓄える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57346D-B4B6-41DE-98B1-4B2AAB177CA5}"/>
              </a:ext>
            </a:extLst>
          </p:cNvPr>
          <p:cNvSpPr>
            <a:spLocks noGrp="1"/>
          </p:cNvSpPr>
          <p:nvPr/>
        </p:nvSpPr>
        <p:spPr>
          <a:xfrm>
            <a:off x="7620000" y="404812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働きを支える構造が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3C344D-7D70-4C85-AD5F-15B4F4D9D5A8}"/>
              </a:ext>
            </a:extLst>
          </p:cNvPr>
          <p:cNvSpPr>
            <a:spLocks noGrp="1"/>
          </p:cNvSpPr>
          <p:nvPr/>
        </p:nvSpPr>
        <p:spPr>
          <a:xfrm>
            <a:off x="7620000" y="475297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材料の性質にも関わる</a:t>
            </a:r>
          </a:p>
        </p:txBody>
      </p:sp>
    </p:spTree>
    <p:extLst>
      <p:ext uri="{BB962C8B-B14F-4D97-AF65-F5344CB8AC3E}">
        <p14:creationId xmlns:p14="http://schemas.microsoft.com/office/powerpoint/2010/main" val="42862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8E7D1E9-C422-4773-BE5F-195E96AA3B7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一次成長と二次成長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10695B63-0C92-49A5-9464-5132D912FB57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994EF3A-42A1-4FDF-A43F-5F72AFD1BA6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3A8FFD-8A6C-4225-9D01-706D5F1044D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42D0C98-0C34-4112-8C86-731A86C3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25260"/>
            <a:ext cx="5048250" cy="432183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AD2C5BB-D3CD-41C5-8835-7285366B24F0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一次成長：茎や根の先端側で伸長し、新しい葉や枝を展開する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0DCCD6-B17F-41E7-AFCC-6589D5BCF3DE}"/>
              </a:ext>
            </a:extLst>
          </p:cNvPr>
          <p:cNvSpPr>
            <a:spLocks noGrp="1"/>
          </p:cNvSpPr>
          <p:nvPr/>
        </p:nvSpPr>
        <p:spPr>
          <a:xfrm>
            <a:off x="6096000" y="25622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二次成長：維管束形成層の活動で幹・枝・根が太くなる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E6C52F-6D42-4B08-9A02-DFDBFDB23640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一次成長でできた部分へ、後から二次木部が外側に積み重なる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B44AB1F-CA77-4C0B-A6E5-22BB9083E73A}"/>
              </a:ext>
            </a:extLst>
          </p:cNvPr>
          <p:cNvSpPr>
            <a:spLocks noGrp="1"/>
          </p:cNvSpPr>
          <p:nvPr/>
        </p:nvSpPr>
        <p:spPr>
          <a:xfrm>
            <a:off x="6096000" y="46196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幹に付いた同じ位置の印が、木の成長で上へ移るわけではない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244BDA1-C293-49D9-B185-2F6933F22705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伸長と肥大を重ねて見る</a:t>
            </a:r>
          </a:p>
        </p:txBody>
      </p:sp>
    </p:spTree>
    <p:extLst>
      <p:ext uri="{BB962C8B-B14F-4D97-AF65-F5344CB8AC3E}">
        <p14:creationId xmlns:p14="http://schemas.microsoft.com/office/powerpoint/2010/main" val="48798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1D5B65-77C5-4AD0-AAA9-C6E65FE975A3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形成層から、新しい木部がつくられる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FBB6A28-6FE6-4704-85B2-6367D802BA5C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7F78ABA-EF10-40E3-AC6C-3A0CB73D97DA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76ED6D-C20B-4AAC-BF0F-0D2EF5D2DDA7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F0A067-0112-455A-BC88-B74B495EE8FA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外側　←　師部｜形成層｜木部　→　内側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8E7B595-D8E8-44A8-9CE0-AADE384006A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形成層の分裂によって、幹は太くなる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130A1C-3434-4305-B9BE-690052C9E290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木部の細胞は、形と働きが一様ではない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DCF5CA9-0E11-4965-B360-650A9CBDA39B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成長の変化は、断面に帯状の構造として残る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971317-70F2-4203-9F2A-CA787648A14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成長輪が1年に1つ形成される場合に「年輪」と呼ぶ</a:t>
            </a:r>
          </a:p>
        </p:txBody>
      </p:sp>
    </p:spTree>
    <p:extLst>
      <p:ext uri="{BB962C8B-B14F-4D97-AF65-F5344CB8AC3E}">
        <p14:creationId xmlns:p14="http://schemas.microsoft.com/office/powerpoint/2010/main" val="75491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9821A43-2786-4DF0-87B5-990261D60E0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辺材と心材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B63C77D-8FAA-4DB8-9D9E-6BA71A43255C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833F67C-7F64-4D46-87A8-13EC5B8C153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3938A12-5221-4A61-AD28-629767C5814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48CA21-DFAA-48A0-89CF-6CAE67C2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6901"/>
            <a:ext cx="5048250" cy="381854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479F15-B552-4BBD-B09B-E12628B712C1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形成層の内側にある木部が木材。新しい木部は既存木部の外側へ加わる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E37FC5-645F-422D-9FE0-79CB542B24B8}"/>
              </a:ext>
            </a:extLst>
          </p:cNvPr>
          <p:cNvSpPr>
            <a:spLocks noGrp="1"/>
          </p:cNvSpPr>
          <p:nvPr/>
        </p:nvSpPr>
        <p:spPr>
          <a:xfrm>
            <a:off x="6096000" y="25622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辺材：幹の外寄り。通水と、生きた柔細胞による貯蔵などを担う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D34E610-11CE-4734-AA52-E34C7C67F239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心材：内寄り。通水しなくなり、抽出成分の蓄積などが進んだ部分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6E197B-F0D2-4DCF-9FB6-BE867B781188}"/>
              </a:ext>
            </a:extLst>
          </p:cNvPr>
          <p:cNvSpPr>
            <a:spLocks noGrp="1"/>
          </p:cNvSpPr>
          <p:nvPr/>
        </p:nvSpPr>
        <p:spPr>
          <a:xfrm>
            <a:off x="6096000" y="46196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心材化で細胞壁が全面的に厚くなるわけではない。耐久性にも樹種差がある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4A7DCE-DFA6-45DE-A4E1-3E1372BB0824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髄・心材・辺材・形成層・師部</a:t>
            </a:r>
          </a:p>
        </p:txBody>
      </p:sp>
    </p:spTree>
    <p:extLst>
      <p:ext uri="{BB962C8B-B14F-4D97-AF65-F5344CB8AC3E}">
        <p14:creationId xmlns:p14="http://schemas.microsoft.com/office/powerpoint/2010/main" val="170230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24E1F90-ACE0-4CF1-BC55-021F69532EB4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三方向と三断面を区別する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223215BB-0626-495B-8836-A796C76BF960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F83DAD-FB17-4F21-BE2E-F154D8A33CAB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2678F8-35D2-449D-A79F-D089F26BBC35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A5915E3-1DE4-46A2-A1E3-ECFC8DF9B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1884325"/>
              </p:ext>
            </p:extLst>
          </p:nvPr>
        </p:nvGraphicFramePr>
        <p:xfrm>
          <a:off x="4605546" y="3356398"/>
          <a:ext cx="3409953" cy="1508760"/>
        </p:xfrm>
        <a:graphic>
          <a:graphicData uri="http://schemas.openxmlformats.org/drawingml/2006/table">
            <a:tbl>
              <a:tblPr firstCol="1"/>
              <a:tblGrid>
                <a:gridCol w="6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358">
                <a:tc gridSpan="2">
                  <a:txBody>
                    <a:bodyPr/>
                    <a:lstStyle/>
                    <a:p>
                      <a:r>
                        <a:rPr lang="ja-JP" altLang="en-US" sz="1875" b="1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断面の名称</a:t>
                      </a:r>
                      <a:endParaRPr lang="en-US" sz="1875" b="1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木口面（横）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68517"/>
                  </a:ext>
                </a:extLst>
              </a:tr>
              <a:tr h="265357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LR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柾目面（縦）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935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LT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板目面（縦）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350D58B-06A9-4FB1-8B92-9C149C76E252}"/>
              </a:ext>
            </a:extLst>
          </p:cNvPr>
          <p:cNvSpPr>
            <a:spLocks noGrp="1"/>
          </p:cNvSpPr>
          <p:nvPr/>
        </p:nvSpPr>
        <p:spPr>
          <a:xfrm>
            <a:off x="4605547" y="5021023"/>
            <a:ext cx="3857624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 dirty="0" err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木口面は横断面</a:t>
            </a:r>
            <a:endParaRPr sz="1800" b="0" dirty="0">
              <a:solidFill>
                <a:srgbClr val="253C4D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 dirty="0" err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柾目面と板目面は、どちらも縦断面</a:t>
            </a:r>
            <a:endParaRPr sz="1800" b="0" dirty="0">
              <a:solidFill>
                <a:srgbClr val="253C4D"/>
              </a:solidFill>
              <a:latin typeface="Yu Gothic"/>
              <a:ea typeface="Yu Gothic"/>
              <a:cs typeface="Yu Gothic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9BF1AB4-5E3F-6179-9622-71553C26F644}"/>
              </a:ext>
            </a:extLst>
          </p:cNvPr>
          <p:cNvGrpSpPr/>
          <p:nvPr/>
        </p:nvGrpSpPr>
        <p:grpSpPr>
          <a:xfrm>
            <a:off x="986656" y="1657349"/>
            <a:ext cx="3307047" cy="4452132"/>
            <a:chOff x="986656" y="1657349"/>
            <a:chExt cx="3307047" cy="4452132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93F4BCA5-A100-8E24-BBAA-565CC89B3506}"/>
                </a:ext>
              </a:extLst>
            </p:cNvPr>
            <p:cNvGrpSpPr/>
            <p:nvPr/>
          </p:nvGrpSpPr>
          <p:grpSpPr>
            <a:xfrm>
              <a:off x="986656" y="1657349"/>
              <a:ext cx="3307047" cy="4452132"/>
              <a:chOff x="986656" y="1657349"/>
              <a:chExt cx="3307047" cy="4452132"/>
            </a:xfrm>
          </p:grpSpPr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20355A57-712A-8338-8D8F-667FE6FBF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6656" y="1657349"/>
                <a:ext cx="3307047" cy="4021245"/>
              </a:xfrm>
              <a:prstGeom prst="rect">
                <a:avLst/>
              </a:prstGeom>
            </p:spPr>
          </p:pic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95D3D12-58C5-9F12-12B2-E3717FC31C3B}"/>
                  </a:ext>
                </a:extLst>
              </p:cNvPr>
              <p:cNvSpPr txBox="1"/>
              <p:nvPr/>
            </p:nvSpPr>
            <p:spPr>
              <a:xfrm>
                <a:off x="986656" y="5678594"/>
                <a:ext cx="33070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100" dirty="0"/>
                  <a:t>スギ（</a:t>
                </a:r>
                <a:r>
                  <a:rPr kumimoji="1" lang="en-US" altLang="ja-JP" sz="1100" i="1" dirty="0"/>
                  <a:t>Cryptomeria japonica</a:t>
                </a:r>
                <a:r>
                  <a:rPr kumimoji="1" lang="ja-JP" altLang="en-US" sz="1100" dirty="0"/>
                  <a:t>）（</a:t>
                </a:r>
                <a:r>
                  <a:rPr kumimoji="1" lang="ja-JP" altLang="en-US" sz="1100" dirty="0">
                    <a:hlinkClick r:id="rId4"/>
                  </a:rPr>
                  <a:t>森林総合研究所・日本産木材データベース</a:t>
                </a:r>
                <a:r>
                  <a:rPr kumimoji="1" lang="ja-JP" altLang="en-US" sz="1100" dirty="0"/>
                  <a:t>）</a:t>
                </a: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0A1D64B-1234-0634-A92A-FE44D5601ACE}"/>
                </a:ext>
              </a:extLst>
            </p:cNvPr>
            <p:cNvGrpSpPr/>
            <p:nvPr/>
          </p:nvGrpSpPr>
          <p:grpSpPr>
            <a:xfrm>
              <a:off x="1962978" y="3384894"/>
              <a:ext cx="1126328" cy="784913"/>
              <a:chOff x="1962978" y="3384894"/>
              <a:chExt cx="1126328" cy="784913"/>
            </a:xfrm>
          </p:grpSpPr>
          <p:sp>
            <p:nvSpPr>
              <p:cNvPr id="13" name="矢印: 右 12">
                <a:extLst>
                  <a:ext uri="{FF2B5EF4-FFF2-40B4-BE49-F238E27FC236}">
                    <a16:creationId xmlns:a16="http://schemas.microsoft.com/office/drawing/2014/main" id="{FF84B03D-59EB-BEE0-6DE4-E7AB63D040B1}"/>
                  </a:ext>
                </a:extLst>
              </p:cNvPr>
              <p:cNvSpPr/>
              <p:nvPr/>
            </p:nvSpPr>
            <p:spPr>
              <a:xfrm rot="2177942">
                <a:off x="1962978" y="3384894"/>
                <a:ext cx="949187" cy="149087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27717D5-C6E6-EB13-4C40-8794A3029E7F}"/>
                  </a:ext>
                </a:extLst>
              </p:cNvPr>
              <p:cNvSpPr txBox="1"/>
              <p:nvPr/>
            </p:nvSpPr>
            <p:spPr>
              <a:xfrm>
                <a:off x="2796101" y="3800475"/>
                <a:ext cx="293205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T</a:t>
                </a:r>
                <a:endParaRPr kumimoji="1" lang="ja-JP" altLang="en-US" b="1" dirty="0"/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15807F25-AE87-0605-50E2-9958CFF2829C}"/>
                </a:ext>
              </a:extLst>
            </p:cNvPr>
            <p:cNvGrpSpPr/>
            <p:nvPr/>
          </p:nvGrpSpPr>
          <p:grpSpPr>
            <a:xfrm>
              <a:off x="1536354" y="1922357"/>
              <a:ext cx="1194422" cy="747799"/>
              <a:chOff x="1624925" y="2731729"/>
              <a:chExt cx="1194422" cy="747799"/>
            </a:xfrm>
          </p:grpSpPr>
          <p:sp>
            <p:nvSpPr>
              <p:cNvPr id="17" name="矢印: 右 16">
                <a:extLst>
                  <a:ext uri="{FF2B5EF4-FFF2-40B4-BE49-F238E27FC236}">
                    <a16:creationId xmlns:a16="http://schemas.microsoft.com/office/drawing/2014/main" id="{37923432-0842-FAED-4311-D47015B5DC70}"/>
                  </a:ext>
                </a:extLst>
              </p:cNvPr>
              <p:cNvSpPr/>
              <p:nvPr/>
            </p:nvSpPr>
            <p:spPr>
              <a:xfrm rot="19661315">
                <a:off x="1624925" y="3330441"/>
                <a:ext cx="949187" cy="149087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E6123A5-16F3-ECDF-7459-6179023D6CE3}"/>
                  </a:ext>
                </a:extLst>
              </p:cNvPr>
              <p:cNvSpPr txBox="1"/>
              <p:nvPr/>
            </p:nvSpPr>
            <p:spPr>
              <a:xfrm>
                <a:off x="2526142" y="2731729"/>
                <a:ext cx="293205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R</a:t>
                </a:r>
                <a:endParaRPr kumimoji="1" lang="ja-JP" altLang="en-US" b="1" dirty="0"/>
              </a:p>
            </p:txBody>
          </p:sp>
        </p:grp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F4E0AEAD-FBE8-CB94-5730-3E7CA2A68D5A}"/>
                </a:ext>
              </a:extLst>
            </p:cNvPr>
            <p:cNvGrpSpPr/>
            <p:nvPr/>
          </p:nvGrpSpPr>
          <p:grpSpPr>
            <a:xfrm>
              <a:off x="1298499" y="3741446"/>
              <a:ext cx="420585" cy="1457792"/>
              <a:chOff x="1788003" y="2574080"/>
              <a:chExt cx="420585" cy="1457792"/>
            </a:xfrm>
          </p:grpSpPr>
          <p:sp>
            <p:nvSpPr>
              <p:cNvPr id="20" name="矢印: 右 19">
                <a:extLst>
                  <a:ext uri="{FF2B5EF4-FFF2-40B4-BE49-F238E27FC236}">
                    <a16:creationId xmlns:a16="http://schemas.microsoft.com/office/drawing/2014/main" id="{FE2B34CD-C436-145B-EC34-0CCE3EE2AA06}"/>
                  </a:ext>
                </a:extLst>
              </p:cNvPr>
              <p:cNvSpPr/>
              <p:nvPr/>
            </p:nvSpPr>
            <p:spPr>
              <a:xfrm rot="16200000">
                <a:off x="1659451" y="3482735"/>
                <a:ext cx="949187" cy="149087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CE396A6-D63B-D968-6DD3-D5C8E31E74AF}"/>
                  </a:ext>
                </a:extLst>
              </p:cNvPr>
              <p:cNvSpPr txBox="1"/>
              <p:nvPr/>
            </p:nvSpPr>
            <p:spPr>
              <a:xfrm>
                <a:off x="1788003" y="2574080"/>
                <a:ext cx="293205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L</a:t>
                </a:r>
                <a:endParaRPr kumimoji="1" lang="ja-JP" altLang="en-US" b="1" dirty="0"/>
              </a:p>
            </p:txBody>
          </p:sp>
        </p:grpSp>
      </p:grp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6DA8A6EC-843D-0C6E-FBC6-F4DF40556E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9633645"/>
              </p:ext>
            </p:extLst>
          </p:nvPr>
        </p:nvGraphicFramePr>
        <p:xfrm>
          <a:off x="4605546" y="1657349"/>
          <a:ext cx="3410363" cy="1508760"/>
        </p:xfrm>
        <a:graphic>
          <a:graphicData uri="http://schemas.openxmlformats.org/drawingml/2006/table">
            <a:tbl>
              <a:tblPr firstCol="1"/>
              <a:tblGrid>
                <a:gridCol w="50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147">
                <a:tc gridSpan="2">
                  <a:txBody>
                    <a:bodyPr/>
                    <a:lstStyle/>
                    <a:p>
                      <a:r>
                        <a:rPr lang="ja-JP" altLang="en-US" sz="1875" b="1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方向の名称</a:t>
                      </a:r>
                      <a:endParaRPr lang="en-US" sz="1875" b="1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 </a:t>
                      </a:r>
                      <a:r>
                        <a:rPr lang="en-US" altLang="ja-JP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(longitudinal)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68517"/>
                  </a:ext>
                </a:extLst>
              </a:tr>
              <a:tr h="265357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 </a:t>
                      </a:r>
                      <a:r>
                        <a:rPr lang="en-US" altLang="ja-JP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(radial)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935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接線方向 </a:t>
                      </a:r>
                      <a:r>
                        <a:rPr lang="en-US" altLang="ja-JP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(tangential)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A59C8C66-3E81-9F53-74DF-0506415F134B}"/>
              </a:ext>
            </a:extLst>
          </p:cNvPr>
          <p:cNvGrpSpPr/>
          <p:nvPr/>
        </p:nvGrpSpPr>
        <p:grpSpPr>
          <a:xfrm>
            <a:off x="9142400" y="2007997"/>
            <a:ext cx="1623258" cy="1620000"/>
            <a:chOff x="8922027" y="1657349"/>
            <a:chExt cx="1623258" cy="1620000"/>
          </a:xfrm>
        </p:grpSpPr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8F330E3D-A20A-C6A2-DA47-54C48C08B61F}"/>
                </a:ext>
              </a:extLst>
            </p:cNvPr>
            <p:cNvGrpSpPr/>
            <p:nvPr/>
          </p:nvGrpSpPr>
          <p:grpSpPr>
            <a:xfrm>
              <a:off x="8922027" y="1657349"/>
              <a:ext cx="1620000" cy="1620000"/>
              <a:chOff x="8922027" y="1657349"/>
              <a:chExt cx="1620000" cy="1620000"/>
            </a:xfrm>
          </p:grpSpPr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682D013E-986C-0CC3-2975-9C4560F49A03}"/>
                  </a:ext>
                </a:extLst>
              </p:cNvPr>
              <p:cNvGrpSpPr/>
              <p:nvPr/>
            </p:nvGrpSpPr>
            <p:grpSpPr>
              <a:xfrm>
                <a:off x="8922027" y="1657349"/>
                <a:ext cx="1620000" cy="1620000"/>
                <a:chOff x="8922027" y="1657349"/>
                <a:chExt cx="1620000" cy="1620000"/>
              </a:xfrm>
            </p:grpSpPr>
            <p:grpSp>
              <p:nvGrpSpPr>
                <p:cNvPr id="42" name="グループ化 41">
                  <a:extLst>
                    <a:ext uri="{FF2B5EF4-FFF2-40B4-BE49-F238E27FC236}">
                      <a16:creationId xmlns:a16="http://schemas.microsoft.com/office/drawing/2014/main" id="{2C66EA36-E3C4-37FC-CE03-C0BAEEB4DA69}"/>
                    </a:ext>
                  </a:extLst>
                </p:cNvPr>
                <p:cNvGrpSpPr/>
                <p:nvPr/>
              </p:nvGrpSpPr>
              <p:grpSpPr>
                <a:xfrm>
                  <a:off x="8922027" y="1657349"/>
                  <a:ext cx="1620000" cy="1620000"/>
                  <a:chOff x="8922027" y="1657349"/>
                  <a:chExt cx="1620000" cy="1620000"/>
                </a:xfrm>
              </p:grpSpPr>
              <p:grpSp>
                <p:nvGrpSpPr>
                  <p:cNvPr id="39" name="グループ化 38">
                    <a:extLst>
                      <a:ext uri="{FF2B5EF4-FFF2-40B4-BE49-F238E27FC236}">
                        <a16:creationId xmlns:a16="http://schemas.microsoft.com/office/drawing/2014/main" id="{CBBD28A6-BFF7-7D43-EB41-4DB2C1FBD008}"/>
                      </a:ext>
                    </a:extLst>
                  </p:cNvPr>
                  <p:cNvGrpSpPr/>
                  <p:nvPr/>
                </p:nvGrpSpPr>
                <p:grpSpPr>
                  <a:xfrm>
                    <a:off x="8922027" y="1657349"/>
                    <a:ext cx="1620000" cy="1620000"/>
                    <a:chOff x="8922027" y="1657349"/>
                    <a:chExt cx="1620000" cy="1620000"/>
                  </a:xfrm>
                </p:grpSpPr>
                <p:grpSp>
                  <p:nvGrpSpPr>
                    <p:cNvPr id="34" name="グループ化 33">
                      <a:extLst>
                        <a:ext uri="{FF2B5EF4-FFF2-40B4-BE49-F238E27FC236}">
                          <a16:creationId xmlns:a16="http://schemas.microsoft.com/office/drawing/2014/main" id="{FF8CE22E-27AC-DF03-D80D-E57E213539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22027" y="1657349"/>
                      <a:ext cx="1620000" cy="1620000"/>
                      <a:chOff x="8922027" y="1657349"/>
                      <a:chExt cx="1620000" cy="1620000"/>
                    </a:xfrm>
                  </p:grpSpPr>
                  <p:grpSp>
                    <p:nvGrpSpPr>
                      <p:cNvPr id="33" name="グループ化 32">
                        <a:extLst>
                          <a:ext uri="{FF2B5EF4-FFF2-40B4-BE49-F238E27FC236}">
                            <a16:creationId xmlns:a16="http://schemas.microsoft.com/office/drawing/2014/main" id="{344F27CE-584B-2CC6-BC50-DDF69B6521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22027" y="1657349"/>
                        <a:ext cx="1620000" cy="1620000"/>
                        <a:chOff x="8922027" y="1657349"/>
                        <a:chExt cx="1620000" cy="1620000"/>
                      </a:xfrm>
                    </p:grpSpPr>
                    <p:grpSp>
                      <p:nvGrpSpPr>
                        <p:cNvPr id="30" name="グループ化 29">
                          <a:extLst>
                            <a:ext uri="{FF2B5EF4-FFF2-40B4-BE49-F238E27FC236}">
                              <a16:creationId xmlns:a16="http://schemas.microsoft.com/office/drawing/2014/main" id="{EAC4CEFC-9954-8581-AAA0-E3010C5B1D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922027" y="1657349"/>
                          <a:ext cx="1620000" cy="1620000"/>
                          <a:chOff x="8922027" y="1657349"/>
                          <a:chExt cx="1620000" cy="1620000"/>
                        </a:xfrm>
                      </p:grpSpPr>
                      <p:sp>
                        <p:nvSpPr>
                          <p:cNvPr id="25" name="楕円 24">
                            <a:extLst>
                              <a:ext uri="{FF2B5EF4-FFF2-40B4-BE49-F238E27FC236}">
                                <a16:creationId xmlns:a16="http://schemas.microsoft.com/office/drawing/2014/main" id="{78EA2F9F-8B2A-E531-412C-398D633D53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22027" y="1657349"/>
                            <a:ext cx="1620000" cy="1620000"/>
                          </a:xfrm>
                          <a:prstGeom prst="ellipse">
                            <a:avLst/>
                          </a:prstGeom>
                        </p:spPr>
                        <p:style>
                          <a:lnRef idx="2">
                            <a:schemeClr val="accent2">
                              <a:shade val="15000"/>
                            </a:schemeClr>
                          </a:lnRef>
                          <a:fillRef idx="1">
                            <a:schemeClr val="accent2"/>
                          </a:fillRef>
                          <a:effectRef idx="0">
                            <a:schemeClr val="accent2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29" name="楕円 28">
                            <a:extLst>
                              <a:ext uri="{FF2B5EF4-FFF2-40B4-BE49-F238E27FC236}">
                                <a16:creationId xmlns:a16="http://schemas.microsoft.com/office/drawing/2014/main" id="{01FA12D9-0AB0-77C1-DE5F-84F53D9F2E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12027" y="1747349"/>
                            <a:ext cx="1440000" cy="1440000"/>
                          </a:xfrm>
                          <a:prstGeom prst="ellipse">
                            <a:avLst/>
                          </a:prstGeom>
                          <a:noFill/>
                          <a:ln w="28575"/>
                        </p:spPr>
                        <p:style>
                          <a:lnRef idx="2">
                            <a:schemeClr val="accent2">
                              <a:shade val="15000"/>
                            </a:schemeClr>
                          </a:lnRef>
                          <a:fillRef idx="1">
                            <a:schemeClr val="accent2"/>
                          </a:fillRef>
                          <a:effectRef idx="0">
                            <a:schemeClr val="accent2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  <p:sp>
                      <p:nvSpPr>
                        <p:cNvPr id="32" name="楕円 31">
                          <a:extLst>
                            <a:ext uri="{FF2B5EF4-FFF2-40B4-BE49-F238E27FC236}">
                              <a16:creationId xmlns:a16="http://schemas.microsoft.com/office/drawing/2014/main" id="{5577220A-8A43-2552-CE99-A8803C4549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02027" y="1837349"/>
                          <a:ext cx="1260000" cy="1260000"/>
                        </a:xfrm>
                        <a:prstGeom prst="ellipse">
                          <a:avLst/>
                        </a:prstGeom>
                        <a:noFill/>
                        <a:ln w="28575"/>
                      </p:spPr>
                      <p:style>
                        <a:lnRef idx="2">
                          <a:schemeClr val="accent2">
                            <a:shade val="15000"/>
                          </a:schemeClr>
                        </a:lnRef>
                        <a:fillRef idx="1">
                          <a:schemeClr val="accent2"/>
                        </a:fillRef>
                        <a:effectRef idx="0">
                          <a:schemeClr val="accent2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ja-JP" altLang="en-US"/>
                        </a:p>
                      </p:txBody>
                    </p:sp>
                  </p:grpSp>
                  <p:sp>
                    <p:nvSpPr>
                      <p:cNvPr id="27" name="楕円 26">
                        <a:extLst>
                          <a:ext uri="{FF2B5EF4-FFF2-40B4-BE49-F238E27FC236}">
                            <a16:creationId xmlns:a16="http://schemas.microsoft.com/office/drawing/2014/main" id="{BDF2C425-6E6B-480E-F3D2-95751537B6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92027" y="1922357"/>
                        <a:ext cx="1080000" cy="1080000"/>
                      </a:xfrm>
                      <a:prstGeom prst="ellipse">
                        <a:avLst/>
                      </a:prstGeom>
                      <a:noFill/>
                      <a:ln w="28575"/>
                    </p:spPr>
                    <p:style>
                      <a:lnRef idx="2">
                        <a:schemeClr val="accent2">
                          <a:shade val="15000"/>
                        </a:schemeClr>
                      </a:lnRef>
                      <a:fillRef idx="1">
                        <a:schemeClr val="accent2"/>
                      </a:fillRef>
                      <a:effectRef idx="0">
                        <a:schemeClr val="accent2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38" name="楕円 37">
                      <a:extLst>
                        <a:ext uri="{FF2B5EF4-FFF2-40B4-BE49-F238E27FC236}">
                          <a16:creationId xmlns:a16="http://schemas.microsoft.com/office/drawing/2014/main" id="{FA195B91-3437-F371-03A5-06578840D2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2027" y="2021783"/>
                      <a:ext cx="900000" cy="900000"/>
                    </a:xfrm>
                    <a:prstGeom prst="ellipse">
                      <a:avLst/>
                    </a:prstGeom>
                    <a:noFill/>
                    <a:ln w="28575"/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41" name="楕円 40">
                    <a:extLst>
                      <a:ext uri="{FF2B5EF4-FFF2-40B4-BE49-F238E27FC236}">
                        <a16:creationId xmlns:a16="http://schemas.microsoft.com/office/drawing/2014/main" id="{6B343101-5432-E9F8-D795-4FEB80C7A361}"/>
                      </a:ext>
                    </a:extLst>
                  </p:cNvPr>
                  <p:cNvSpPr/>
                  <p:nvPr/>
                </p:nvSpPr>
                <p:spPr>
                  <a:xfrm>
                    <a:off x="9372027" y="2111783"/>
                    <a:ext cx="720000" cy="720000"/>
                  </a:xfrm>
                  <a:prstGeom prst="ellipse">
                    <a:avLst/>
                  </a:prstGeom>
                  <a:noFill/>
                  <a:ln w="28575"/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44" name="楕円 43">
                  <a:extLst>
                    <a:ext uri="{FF2B5EF4-FFF2-40B4-BE49-F238E27FC236}">
                      <a16:creationId xmlns:a16="http://schemas.microsoft.com/office/drawing/2014/main" id="{18C796ED-7079-E557-CD2A-95184238EE8A}"/>
                    </a:ext>
                  </a:extLst>
                </p:cNvPr>
                <p:cNvSpPr/>
                <p:nvPr/>
              </p:nvSpPr>
              <p:spPr>
                <a:xfrm>
                  <a:off x="9462027" y="2201783"/>
                  <a:ext cx="540000" cy="540000"/>
                </a:xfrm>
                <a:prstGeom prst="ellipse">
                  <a:avLst/>
                </a:prstGeom>
                <a:noFill/>
                <a:ln w="28575"/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7" name="楕円 46">
                <a:extLst>
                  <a:ext uri="{FF2B5EF4-FFF2-40B4-BE49-F238E27FC236}">
                    <a16:creationId xmlns:a16="http://schemas.microsoft.com/office/drawing/2014/main" id="{474AC31F-DF96-9DD9-3882-77E3B4AF6029}"/>
                  </a:ext>
                </a:extLst>
              </p:cNvPr>
              <p:cNvSpPr/>
              <p:nvPr/>
            </p:nvSpPr>
            <p:spPr>
              <a:xfrm>
                <a:off x="9552027" y="2291689"/>
                <a:ext cx="360000" cy="360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BAD474E-2A15-4718-3B2E-43426564D69C}"/>
                </a:ext>
              </a:extLst>
            </p:cNvPr>
            <p:cNvSpPr/>
            <p:nvPr/>
          </p:nvSpPr>
          <p:spPr>
            <a:xfrm>
              <a:off x="8922027" y="1699576"/>
              <a:ext cx="1620000" cy="1803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4DA7564-3614-4B57-4852-57CA714390D9}"/>
                </a:ext>
              </a:extLst>
            </p:cNvPr>
            <p:cNvSpPr/>
            <p:nvPr/>
          </p:nvSpPr>
          <p:spPr>
            <a:xfrm>
              <a:off x="8925285" y="2027640"/>
              <a:ext cx="162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7099E116-0DA9-1209-6CED-A52A31FDC3FD}"/>
                </a:ext>
              </a:extLst>
            </p:cNvPr>
            <p:cNvSpPr/>
            <p:nvPr/>
          </p:nvSpPr>
          <p:spPr>
            <a:xfrm>
              <a:off x="8922027" y="2360942"/>
              <a:ext cx="162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8" name="グループ化 187">
            <a:extLst>
              <a:ext uri="{FF2B5EF4-FFF2-40B4-BE49-F238E27FC236}">
                <a16:creationId xmlns:a16="http://schemas.microsoft.com/office/drawing/2014/main" id="{48590EF0-C1F2-53E6-B599-E0DF82AB98C7}"/>
              </a:ext>
            </a:extLst>
          </p:cNvPr>
          <p:cNvGrpSpPr/>
          <p:nvPr/>
        </p:nvGrpSpPr>
        <p:grpSpPr>
          <a:xfrm>
            <a:off x="9153054" y="4169807"/>
            <a:ext cx="1620000" cy="187923"/>
            <a:chOff x="9145658" y="1730296"/>
            <a:chExt cx="1620000" cy="187923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07409A2D-05D0-478E-7D6D-ED4E0189613F}"/>
                </a:ext>
              </a:extLst>
            </p:cNvPr>
            <p:cNvSpPr/>
            <p:nvPr/>
          </p:nvSpPr>
          <p:spPr>
            <a:xfrm>
              <a:off x="9145658" y="1732203"/>
              <a:ext cx="1620000" cy="1803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4A5D457-97DE-50E6-065E-8201C59DFA7D}"/>
                </a:ext>
              </a:extLst>
            </p:cNvPr>
            <p:cNvSpPr/>
            <p:nvPr/>
          </p:nvSpPr>
          <p:spPr>
            <a:xfrm>
              <a:off x="9711267" y="1852163"/>
              <a:ext cx="491066" cy="65537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フリーフォーム: 図形 71">
              <a:extLst>
                <a:ext uri="{FF2B5EF4-FFF2-40B4-BE49-F238E27FC236}">
                  <a16:creationId xmlns:a16="http://schemas.microsoft.com/office/drawing/2014/main" id="{D03B5710-0F08-4F86-CDF9-88E5E23C4345}"/>
                </a:ext>
              </a:extLst>
            </p:cNvPr>
            <p:cNvSpPr/>
            <p:nvPr/>
          </p:nvSpPr>
          <p:spPr>
            <a:xfrm>
              <a:off x="9505658" y="1803975"/>
              <a:ext cx="900000" cy="114244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フリーフォーム: 図形 73">
              <a:extLst>
                <a:ext uri="{FF2B5EF4-FFF2-40B4-BE49-F238E27FC236}">
                  <a16:creationId xmlns:a16="http://schemas.microsoft.com/office/drawing/2014/main" id="{1FF0EC2C-381E-05AA-ADB6-277352294F29}"/>
                </a:ext>
              </a:extLst>
            </p:cNvPr>
            <p:cNvSpPr/>
            <p:nvPr/>
          </p:nvSpPr>
          <p:spPr>
            <a:xfrm>
              <a:off x="9355667" y="1761574"/>
              <a:ext cx="1193799" cy="15101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フリーフォーム: 図形 74">
              <a:extLst>
                <a:ext uri="{FF2B5EF4-FFF2-40B4-BE49-F238E27FC236}">
                  <a16:creationId xmlns:a16="http://schemas.microsoft.com/office/drawing/2014/main" id="{A9FCBAB6-93C7-E839-5136-6560FBEE2A35}"/>
                </a:ext>
              </a:extLst>
            </p:cNvPr>
            <p:cNvSpPr/>
            <p:nvPr/>
          </p:nvSpPr>
          <p:spPr>
            <a:xfrm>
              <a:off x="9222614" y="1733636"/>
              <a:ext cx="450993" cy="169640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678601D3-D813-B280-E422-77D445124A84}"/>
                </a:ext>
              </a:extLst>
            </p:cNvPr>
            <p:cNvSpPr/>
            <p:nvPr/>
          </p:nvSpPr>
          <p:spPr>
            <a:xfrm flipH="1">
              <a:off x="10244990" y="1730296"/>
              <a:ext cx="399651" cy="169640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B584BFD0-7E9A-A81F-4CD6-902F28D8A6CE}"/>
                </a:ext>
              </a:extLst>
            </p:cNvPr>
            <p:cNvSpPr/>
            <p:nvPr/>
          </p:nvSpPr>
          <p:spPr>
            <a:xfrm flipH="1">
              <a:off x="10440134" y="1742941"/>
              <a:ext cx="325524" cy="169641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BD33A983-AA17-D247-E18F-11AC7952D995}"/>
              </a:ext>
            </a:extLst>
          </p:cNvPr>
          <p:cNvGrpSpPr/>
          <p:nvPr/>
        </p:nvGrpSpPr>
        <p:grpSpPr>
          <a:xfrm>
            <a:off x="9139475" y="3762549"/>
            <a:ext cx="1633579" cy="192365"/>
            <a:chOff x="9135337" y="2054721"/>
            <a:chExt cx="1633579" cy="192365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B9E1FC53-2FB2-B052-5999-87910E0E6DC0}"/>
                </a:ext>
              </a:extLst>
            </p:cNvPr>
            <p:cNvSpPr/>
            <p:nvPr/>
          </p:nvSpPr>
          <p:spPr>
            <a:xfrm>
              <a:off x="9148916" y="2056578"/>
              <a:ext cx="1620000" cy="1803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8EB6F76A-87F6-47E6-A94F-541C14DA4BF8}"/>
                </a:ext>
              </a:extLst>
            </p:cNvPr>
            <p:cNvSpPr/>
            <p:nvPr/>
          </p:nvSpPr>
          <p:spPr>
            <a:xfrm rot="3776569" flipH="1">
              <a:off x="10565963" y="2108423"/>
              <a:ext cx="157353" cy="80375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4913E009-33D8-F25C-85DF-F708D3CC5DF9}"/>
                </a:ext>
              </a:extLst>
            </p:cNvPr>
            <p:cNvSpPr/>
            <p:nvPr/>
          </p:nvSpPr>
          <p:spPr>
            <a:xfrm rot="3776569" flipH="1">
              <a:off x="10472007" y="2102880"/>
              <a:ext cx="157353" cy="80375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A860701A-ED8A-019B-E1D5-C60F583570DF}"/>
                </a:ext>
              </a:extLst>
            </p:cNvPr>
            <p:cNvSpPr/>
            <p:nvPr/>
          </p:nvSpPr>
          <p:spPr>
            <a:xfrm rot="3776569" flipH="1">
              <a:off x="10639747" y="2116009"/>
              <a:ext cx="157353" cy="80375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5CA9A368-FD01-B1C0-4B93-766FD919918F}"/>
                </a:ext>
              </a:extLst>
            </p:cNvPr>
            <p:cNvSpPr/>
            <p:nvPr/>
          </p:nvSpPr>
          <p:spPr>
            <a:xfrm rot="5400000">
              <a:off x="9996924" y="2128059"/>
              <a:ext cx="180000" cy="3600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73B331A6-8861-49CE-2467-BE9E2E490423}"/>
                </a:ext>
              </a:extLst>
            </p:cNvPr>
            <p:cNvSpPr/>
            <p:nvPr/>
          </p:nvSpPr>
          <p:spPr>
            <a:xfrm rot="5400000">
              <a:off x="10211388" y="2127368"/>
              <a:ext cx="180000" cy="3600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919CD237-EED4-DA80-9BC2-077092DFA8BC}"/>
                </a:ext>
              </a:extLst>
            </p:cNvPr>
            <p:cNvSpPr/>
            <p:nvPr/>
          </p:nvSpPr>
          <p:spPr>
            <a:xfrm rot="5400000">
              <a:off x="10332486" y="2140886"/>
              <a:ext cx="180000" cy="3240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422069B0-F6BE-C79C-81CE-CA4C53A53873}"/>
                </a:ext>
              </a:extLst>
            </p:cNvPr>
            <p:cNvGrpSpPr/>
            <p:nvPr/>
          </p:nvGrpSpPr>
          <p:grpSpPr>
            <a:xfrm flipH="1">
              <a:off x="9135337" y="2054721"/>
              <a:ext cx="732973" cy="191718"/>
              <a:chOff x="10148631" y="5107838"/>
              <a:chExt cx="557281" cy="191718"/>
            </a:xfrm>
          </p:grpSpPr>
          <p:sp>
            <p:nvSpPr>
              <p:cNvPr id="105" name="フリーフォーム: 図形 104">
                <a:extLst>
                  <a:ext uri="{FF2B5EF4-FFF2-40B4-BE49-F238E27FC236}">
                    <a16:creationId xmlns:a16="http://schemas.microsoft.com/office/drawing/2014/main" id="{3A34CCC6-72E9-5642-2078-347E27822F79}"/>
                  </a:ext>
                </a:extLst>
              </p:cNvPr>
              <p:cNvSpPr/>
              <p:nvPr/>
            </p:nvSpPr>
            <p:spPr>
              <a:xfrm rot="3776569" flipH="1">
                <a:off x="10513264" y="5160893"/>
                <a:ext cx="157353" cy="80375"/>
              </a:xfrm>
              <a:custGeom>
                <a:avLst/>
                <a:gdLst>
                  <a:gd name="csX0" fmla="*/ 0 w 450993"/>
                  <a:gd name="csY0" fmla="*/ 169640 h 169640"/>
                  <a:gd name="csX1" fmla="*/ 215153 w 450993"/>
                  <a:gd name="csY1" fmla="*/ 66201 h 169640"/>
                  <a:gd name="csX2" fmla="*/ 450993 w 450993"/>
                  <a:gd name="csY2" fmla="*/ 0 h 169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0993" h="169640">
                    <a:moveTo>
                      <a:pt x="0" y="169640"/>
                    </a:moveTo>
                    <a:cubicBezTo>
                      <a:pt x="69994" y="132057"/>
                      <a:pt x="139988" y="94474"/>
                      <a:pt x="215153" y="66201"/>
                    </a:cubicBezTo>
                    <a:cubicBezTo>
                      <a:pt x="290318" y="37928"/>
                      <a:pt x="370655" y="18964"/>
                      <a:pt x="45099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7" name="フリーフォーム: 図形 106">
                <a:extLst>
                  <a:ext uri="{FF2B5EF4-FFF2-40B4-BE49-F238E27FC236}">
                    <a16:creationId xmlns:a16="http://schemas.microsoft.com/office/drawing/2014/main" id="{EF3DBFD9-00C2-5E26-6C7E-1529D3ACEB6B}"/>
                  </a:ext>
                </a:extLst>
              </p:cNvPr>
              <p:cNvSpPr/>
              <p:nvPr/>
            </p:nvSpPr>
            <p:spPr>
              <a:xfrm rot="3776569" flipH="1">
                <a:off x="10419308" y="5155350"/>
                <a:ext cx="157353" cy="80375"/>
              </a:xfrm>
              <a:custGeom>
                <a:avLst/>
                <a:gdLst>
                  <a:gd name="csX0" fmla="*/ 0 w 450993"/>
                  <a:gd name="csY0" fmla="*/ 169640 h 169640"/>
                  <a:gd name="csX1" fmla="*/ 215153 w 450993"/>
                  <a:gd name="csY1" fmla="*/ 66201 h 169640"/>
                  <a:gd name="csX2" fmla="*/ 450993 w 450993"/>
                  <a:gd name="csY2" fmla="*/ 0 h 169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0993" h="169640">
                    <a:moveTo>
                      <a:pt x="0" y="169640"/>
                    </a:moveTo>
                    <a:cubicBezTo>
                      <a:pt x="69994" y="132057"/>
                      <a:pt x="139988" y="94474"/>
                      <a:pt x="215153" y="66201"/>
                    </a:cubicBezTo>
                    <a:cubicBezTo>
                      <a:pt x="290318" y="37928"/>
                      <a:pt x="370655" y="18964"/>
                      <a:pt x="45099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9" name="フリーフォーム: 図形 108">
                <a:extLst>
                  <a:ext uri="{FF2B5EF4-FFF2-40B4-BE49-F238E27FC236}">
                    <a16:creationId xmlns:a16="http://schemas.microsoft.com/office/drawing/2014/main" id="{D997DC04-C94E-CC62-1BF7-495BFDA8A53A}"/>
                  </a:ext>
                </a:extLst>
              </p:cNvPr>
              <p:cNvSpPr/>
              <p:nvPr/>
            </p:nvSpPr>
            <p:spPr>
              <a:xfrm rot="3776569" flipH="1">
                <a:off x="10587048" y="5168479"/>
                <a:ext cx="157353" cy="80375"/>
              </a:xfrm>
              <a:custGeom>
                <a:avLst/>
                <a:gdLst>
                  <a:gd name="csX0" fmla="*/ 0 w 450993"/>
                  <a:gd name="csY0" fmla="*/ 169640 h 169640"/>
                  <a:gd name="csX1" fmla="*/ 215153 w 450993"/>
                  <a:gd name="csY1" fmla="*/ 66201 h 169640"/>
                  <a:gd name="csX2" fmla="*/ 450993 w 450993"/>
                  <a:gd name="csY2" fmla="*/ 0 h 169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0993" h="169640">
                    <a:moveTo>
                      <a:pt x="0" y="169640"/>
                    </a:moveTo>
                    <a:cubicBezTo>
                      <a:pt x="69994" y="132057"/>
                      <a:pt x="139988" y="94474"/>
                      <a:pt x="215153" y="66201"/>
                    </a:cubicBezTo>
                    <a:cubicBezTo>
                      <a:pt x="290318" y="37928"/>
                      <a:pt x="370655" y="18964"/>
                      <a:pt x="45099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1" name="フリーフォーム: 図形 110">
                <a:extLst>
                  <a:ext uri="{FF2B5EF4-FFF2-40B4-BE49-F238E27FC236}">
                    <a16:creationId xmlns:a16="http://schemas.microsoft.com/office/drawing/2014/main" id="{17922AB3-EFE4-3DF5-E9DD-52F1C20C5BD0}"/>
                  </a:ext>
                </a:extLst>
              </p:cNvPr>
              <p:cNvSpPr/>
              <p:nvPr/>
            </p:nvSpPr>
            <p:spPr>
              <a:xfrm rot="5400000">
                <a:off x="10076631" y="5180529"/>
                <a:ext cx="180000" cy="36000"/>
              </a:xfrm>
              <a:custGeom>
                <a:avLst/>
                <a:gdLst>
                  <a:gd name="csX0" fmla="*/ 0 w 491066"/>
                  <a:gd name="csY0" fmla="*/ 50800 h 50800"/>
                  <a:gd name="csX1" fmla="*/ 245533 w 491066"/>
                  <a:gd name="csY1" fmla="*/ 0 h 50800"/>
                  <a:gd name="csX2" fmla="*/ 491066 w 491066"/>
                  <a:gd name="csY2" fmla="*/ 50800 h 50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91066" h="50800">
                    <a:moveTo>
                      <a:pt x="0" y="50800"/>
                    </a:moveTo>
                    <a:cubicBezTo>
                      <a:pt x="81844" y="25400"/>
                      <a:pt x="163689" y="0"/>
                      <a:pt x="245533" y="0"/>
                    </a:cubicBezTo>
                    <a:cubicBezTo>
                      <a:pt x="327377" y="0"/>
                      <a:pt x="409221" y="25400"/>
                      <a:pt x="491066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3" name="フリーフォーム: 図形 112">
                <a:extLst>
                  <a:ext uri="{FF2B5EF4-FFF2-40B4-BE49-F238E27FC236}">
                    <a16:creationId xmlns:a16="http://schemas.microsoft.com/office/drawing/2014/main" id="{46C02F62-3039-CB51-5B2C-6B7655413EA6}"/>
                  </a:ext>
                </a:extLst>
              </p:cNvPr>
              <p:cNvSpPr/>
              <p:nvPr/>
            </p:nvSpPr>
            <p:spPr>
              <a:xfrm rot="5400000">
                <a:off x="10158689" y="5179838"/>
                <a:ext cx="180000" cy="36000"/>
              </a:xfrm>
              <a:custGeom>
                <a:avLst/>
                <a:gdLst>
                  <a:gd name="csX0" fmla="*/ 0 w 491066"/>
                  <a:gd name="csY0" fmla="*/ 50800 h 50800"/>
                  <a:gd name="csX1" fmla="*/ 245533 w 491066"/>
                  <a:gd name="csY1" fmla="*/ 0 h 50800"/>
                  <a:gd name="csX2" fmla="*/ 491066 w 491066"/>
                  <a:gd name="csY2" fmla="*/ 50800 h 50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91066" h="50800">
                    <a:moveTo>
                      <a:pt x="0" y="50800"/>
                    </a:moveTo>
                    <a:cubicBezTo>
                      <a:pt x="81844" y="25400"/>
                      <a:pt x="163689" y="0"/>
                      <a:pt x="245533" y="0"/>
                    </a:cubicBezTo>
                    <a:cubicBezTo>
                      <a:pt x="327377" y="0"/>
                      <a:pt x="409221" y="25400"/>
                      <a:pt x="491066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5" name="フリーフォーム: 図形 114">
                <a:extLst>
                  <a:ext uri="{FF2B5EF4-FFF2-40B4-BE49-F238E27FC236}">
                    <a16:creationId xmlns:a16="http://schemas.microsoft.com/office/drawing/2014/main" id="{4529AA10-C7D4-9229-2E1E-A0AE23D8EC44}"/>
                  </a:ext>
                </a:extLst>
              </p:cNvPr>
              <p:cNvSpPr/>
              <p:nvPr/>
            </p:nvSpPr>
            <p:spPr>
              <a:xfrm rot="5400000">
                <a:off x="10279787" y="5193356"/>
                <a:ext cx="180000" cy="32400"/>
              </a:xfrm>
              <a:custGeom>
                <a:avLst/>
                <a:gdLst>
                  <a:gd name="csX0" fmla="*/ 0 w 491066"/>
                  <a:gd name="csY0" fmla="*/ 50800 h 50800"/>
                  <a:gd name="csX1" fmla="*/ 245533 w 491066"/>
                  <a:gd name="csY1" fmla="*/ 0 h 50800"/>
                  <a:gd name="csX2" fmla="*/ 491066 w 491066"/>
                  <a:gd name="csY2" fmla="*/ 50800 h 50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91066" h="50800">
                    <a:moveTo>
                      <a:pt x="0" y="50800"/>
                    </a:moveTo>
                    <a:cubicBezTo>
                      <a:pt x="81844" y="25400"/>
                      <a:pt x="163689" y="0"/>
                      <a:pt x="245533" y="0"/>
                    </a:cubicBezTo>
                    <a:cubicBezTo>
                      <a:pt x="327377" y="0"/>
                      <a:pt x="409221" y="25400"/>
                      <a:pt x="491066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8" name="楕円 117">
              <a:extLst>
                <a:ext uri="{FF2B5EF4-FFF2-40B4-BE49-F238E27FC236}">
                  <a16:creationId xmlns:a16="http://schemas.microsoft.com/office/drawing/2014/main" id="{5835EBA8-0D10-BC7E-477A-D347DECE160C}"/>
                </a:ext>
              </a:extLst>
            </p:cNvPr>
            <p:cNvSpPr/>
            <p:nvPr/>
          </p:nvSpPr>
          <p:spPr>
            <a:xfrm>
              <a:off x="9897116" y="2090492"/>
              <a:ext cx="108000" cy="1080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0" name="グループ化 189">
            <a:extLst>
              <a:ext uri="{FF2B5EF4-FFF2-40B4-BE49-F238E27FC236}">
                <a16:creationId xmlns:a16="http://schemas.microsoft.com/office/drawing/2014/main" id="{6B7ACCB7-C4ED-E490-AF5C-8E263326B026}"/>
              </a:ext>
            </a:extLst>
          </p:cNvPr>
          <p:cNvGrpSpPr/>
          <p:nvPr/>
        </p:nvGrpSpPr>
        <p:grpSpPr>
          <a:xfrm>
            <a:off x="9153054" y="4569540"/>
            <a:ext cx="1620000" cy="1620000"/>
            <a:chOff x="9170001" y="4377329"/>
            <a:chExt cx="1620000" cy="1620000"/>
          </a:xfrm>
        </p:grpSpPr>
        <p:grpSp>
          <p:nvGrpSpPr>
            <p:cNvPr id="161" name="グループ化 160">
              <a:extLst>
                <a:ext uri="{FF2B5EF4-FFF2-40B4-BE49-F238E27FC236}">
                  <a16:creationId xmlns:a16="http://schemas.microsoft.com/office/drawing/2014/main" id="{195A41F8-944C-90AC-EBBD-09B9B4A30866}"/>
                </a:ext>
              </a:extLst>
            </p:cNvPr>
            <p:cNvGrpSpPr/>
            <p:nvPr/>
          </p:nvGrpSpPr>
          <p:grpSpPr>
            <a:xfrm>
              <a:off x="9170001" y="4377329"/>
              <a:ext cx="1620000" cy="1620000"/>
              <a:chOff x="8922027" y="1657349"/>
              <a:chExt cx="1620000" cy="1620000"/>
            </a:xfrm>
            <a:noFill/>
          </p:grpSpPr>
          <p:grpSp>
            <p:nvGrpSpPr>
              <p:cNvPr id="165" name="グループ化 164">
                <a:extLst>
                  <a:ext uri="{FF2B5EF4-FFF2-40B4-BE49-F238E27FC236}">
                    <a16:creationId xmlns:a16="http://schemas.microsoft.com/office/drawing/2014/main" id="{D698D95A-6BEA-94FC-6814-02C4D09BEE6B}"/>
                  </a:ext>
                </a:extLst>
              </p:cNvPr>
              <p:cNvGrpSpPr/>
              <p:nvPr/>
            </p:nvGrpSpPr>
            <p:grpSpPr>
              <a:xfrm>
                <a:off x="8922027" y="1657349"/>
                <a:ext cx="1620000" cy="1620000"/>
                <a:chOff x="8922027" y="1657349"/>
                <a:chExt cx="1620000" cy="1620000"/>
              </a:xfrm>
              <a:grpFill/>
            </p:grpSpPr>
            <p:grpSp>
              <p:nvGrpSpPr>
                <p:cNvPr id="169" name="グループ化 168">
                  <a:extLst>
                    <a:ext uri="{FF2B5EF4-FFF2-40B4-BE49-F238E27FC236}">
                      <a16:creationId xmlns:a16="http://schemas.microsoft.com/office/drawing/2014/main" id="{D5DA09A5-B7E7-084F-7DE1-31BC15806BAE}"/>
                    </a:ext>
                  </a:extLst>
                </p:cNvPr>
                <p:cNvGrpSpPr/>
                <p:nvPr/>
              </p:nvGrpSpPr>
              <p:grpSpPr>
                <a:xfrm>
                  <a:off x="8922027" y="1657349"/>
                  <a:ext cx="1620000" cy="1620000"/>
                  <a:chOff x="8922027" y="1657349"/>
                  <a:chExt cx="1620000" cy="1620000"/>
                </a:xfrm>
                <a:grpFill/>
              </p:grpSpPr>
              <p:grpSp>
                <p:nvGrpSpPr>
                  <p:cNvPr id="173" name="グループ化 172">
                    <a:extLst>
                      <a:ext uri="{FF2B5EF4-FFF2-40B4-BE49-F238E27FC236}">
                        <a16:creationId xmlns:a16="http://schemas.microsoft.com/office/drawing/2014/main" id="{0DE96E42-4392-18BD-724C-6E442B966F6F}"/>
                      </a:ext>
                    </a:extLst>
                  </p:cNvPr>
                  <p:cNvGrpSpPr/>
                  <p:nvPr/>
                </p:nvGrpSpPr>
                <p:grpSpPr>
                  <a:xfrm>
                    <a:off x="8922027" y="1657349"/>
                    <a:ext cx="1620000" cy="1620000"/>
                    <a:chOff x="8922027" y="1657349"/>
                    <a:chExt cx="1620000" cy="1620000"/>
                  </a:xfrm>
                  <a:grpFill/>
                </p:grpSpPr>
                <p:sp>
                  <p:nvSpPr>
                    <p:cNvPr id="177" name="楕円 176">
                      <a:extLst>
                        <a:ext uri="{FF2B5EF4-FFF2-40B4-BE49-F238E27FC236}">
                          <a16:creationId xmlns:a16="http://schemas.microsoft.com/office/drawing/2014/main" id="{8A09E8FD-F8CA-27D0-752D-BDA7E80C40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2027" y="1657349"/>
                      <a:ext cx="1620000" cy="16200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76" name="楕円 175">
                      <a:extLst>
                        <a:ext uri="{FF2B5EF4-FFF2-40B4-BE49-F238E27FC236}">
                          <a16:creationId xmlns:a16="http://schemas.microsoft.com/office/drawing/2014/main" id="{5F516269-D04B-A73A-9D70-40D57F2B8A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2027" y="1837349"/>
                      <a:ext cx="1260000" cy="1260000"/>
                    </a:xfrm>
                    <a:prstGeom prst="ellipse">
                      <a:avLst/>
                    </a:prstGeom>
                    <a:grpFill/>
                    <a:ln w="28575"/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172" name="楕円 171">
                    <a:extLst>
                      <a:ext uri="{FF2B5EF4-FFF2-40B4-BE49-F238E27FC236}">
                        <a16:creationId xmlns:a16="http://schemas.microsoft.com/office/drawing/2014/main" id="{1DAB0EE9-8006-2352-B1D1-36440BFC826C}"/>
                      </a:ext>
                    </a:extLst>
                  </p:cNvPr>
                  <p:cNvSpPr/>
                  <p:nvPr/>
                </p:nvSpPr>
                <p:spPr>
                  <a:xfrm>
                    <a:off x="9282027" y="2021783"/>
                    <a:ext cx="900000" cy="900000"/>
                  </a:xfrm>
                  <a:prstGeom prst="ellipse">
                    <a:avLst/>
                  </a:prstGeom>
                  <a:grpFill/>
                  <a:ln w="28575"/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68" name="楕円 167">
                  <a:extLst>
                    <a:ext uri="{FF2B5EF4-FFF2-40B4-BE49-F238E27FC236}">
                      <a16:creationId xmlns:a16="http://schemas.microsoft.com/office/drawing/2014/main" id="{2FD56A16-9C2E-A5E9-5CF0-CCDFADA9756E}"/>
                    </a:ext>
                  </a:extLst>
                </p:cNvPr>
                <p:cNvSpPr/>
                <p:nvPr/>
              </p:nvSpPr>
              <p:spPr>
                <a:xfrm>
                  <a:off x="9462027" y="2201783"/>
                  <a:ext cx="540000" cy="540000"/>
                </a:xfrm>
                <a:prstGeom prst="ellipse">
                  <a:avLst/>
                </a:prstGeom>
                <a:grpFill/>
                <a:ln w="28575"/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66" name="楕円 165">
                <a:extLst>
                  <a:ext uri="{FF2B5EF4-FFF2-40B4-BE49-F238E27FC236}">
                    <a16:creationId xmlns:a16="http://schemas.microsoft.com/office/drawing/2014/main" id="{2AD9E23F-7720-A0BA-969D-2F643F516ECE}"/>
                  </a:ext>
                </a:extLst>
              </p:cNvPr>
              <p:cNvSpPr/>
              <p:nvPr/>
            </p:nvSpPr>
            <p:spPr>
              <a:xfrm>
                <a:off x="9644822" y="2381783"/>
                <a:ext cx="180000" cy="180000"/>
              </a:xfrm>
              <a:prstGeom prst="ellipse">
                <a:avLst/>
              </a:prstGeom>
              <a:grpFill/>
              <a:ln w="28575"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79" name="矢印: 右 178">
              <a:extLst>
                <a:ext uri="{FF2B5EF4-FFF2-40B4-BE49-F238E27FC236}">
                  <a16:creationId xmlns:a16="http://schemas.microsoft.com/office/drawing/2014/main" id="{5BC4E4D6-D50F-1AA1-8169-8D6211E2D564}"/>
                </a:ext>
              </a:extLst>
            </p:cNvPr>
            <p:cNvSpPr/>
            <p:nvPr/>
          </p:nvSpPr>
          <p:spPr>
            <a:xfrm>
              <a:off x="9710001" y="4810507"/>
              <a:ext cx="540000" cy="108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矢印: 右 182">
              <a:extLst>
                <a:ext uri="{FF2B5EF4-FFF2-40B4-BE49-F238E27FC236}">
                  <a16:creationId xmlns:a16="http://schemas.microsoft.com/office/drawing/2014/main" id="{6FACF449-3F24-CE75-F226-EB90A328C9C9}"/>
                </a:ext>
              </a:extLst>
            </p:cNvPr>
            <p:cNvSpPr/>
            <p:nvPr/>
          </p:nvSpPr>
          <p:spPr>
            <a:xfrm rot="2700000">
              <a:off x="10213222" y="4699123"/>
              <a:ext cx="540000" cy="108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矢印: 右 184">
              <a:extLst>
                <a:ext uri="{FF2B5EF4-FFF2-40B4-BE49-F238E27FC236}">
                  <a16:creationId xmlns:a16="http://schemas.microsoft.com/office/drawing/2014/main" id="{E8592651-A2A2-0077-18B5-3F953C3D989F}"/>
                </a:ext>
              </a:extLst>
            </p:cNvPr>
            <p:cNvSpPr/>
            <p:nvPr/>
          </p:nvSpPr>
          <p:spPr>
            <a:xfrm rot="12600000">
              <a:off x="9344946" y="5712347"/>
              <a:ext cx="540000" cy="108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矢印: 右 186">
              <a:extLst>
                <a:ext uri="{FF2B5EF4-FFF2-40B4-BE49-F238E27FC236}">
                  <a16:creationId xmlns:a16="http://schemas.microsoft.com/office/drawing/2014/main" id="{10C13D62-5413-DE5F-6923-22FDA9CB1334}"/>
                </a:ext>
              </a:extLst>
            </p:cNvPr>
            <p:cNvSpPr/>
            <p:nvPr/>
          </p:nvSpPr>
          <p:spPr>
            <a:xfrm>
              <a:off x="9711561" y="5053732"/>
              <a:ext cx="540000" cy="10800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5D9D83A6-C057-5D48-6BBD-07EC76E5727D}"/>
              </a:ext>
            </a:extLst>
          </p:cNvPr>
          <p:cNvCxnSpPr>
            <a:cxnSpLocks/>
          </p:cNvCxnSpPr>
          <p:nvPr/>
        </p:nvCxnSpPr>
        <p:spPr>
          <a:xfrm>
            <a:off x="10820330" y="2801590"/>
            <a:ext cx="10654" cy="1053006"/>
          </a:xfrm>
          <a:prstGeom prst="bentConnector3">
            <a:avLst>
              <a:gd name="adj1" fmla="val 2245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コネクタ: カギ線 205">
            <a:extLst>
              <a:ext uri="{FF2B5EF4-FFF2-40B4-BE49-F238E27FC236}">
                <a16:creationId xmlns:a16="http://schemas.microsoft.com/office/drawing/2014/main" id="{30B7DF8D-330D-87A0-6BC7-82207E80475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096882" y="2140414"/>
            <a:ext cx="10654" cy="2121490"/>
          </a:xfrm>
          <a:prstGeom prst="bentConnector3">
            <a:avLst>
              <a:gd name="adj1" fmla="val -2145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思考の吹き出し: 雲形 4">
            <a:extLst>
              <a:ext uri="{FF2B5EF4-FFF2-40B4-BE49-F238E27FC236}">
                <a16:creationId xmlns:a16="http://schemas.microsoft.com/office/drawing/2014/main" id="{159091F1-F3C8-1B2F-B801-4DB8F2BF0120}"/>
              </a:ext>
            </a:extLst>
          </p:cNvPr>
          <p:cNvSpPr/>
          <p:nvPr/>
        </p:nvSpPr>
        <p:spPr>
          <a:xfrm>
            <a:off x="7898299" y="5920514"/>
            <a:ext cx="1342696" cy="766036"/>
          </a:xfrm>
          <a:prstGeom prst="cloudCallout">
            <a:avLst>
              <a:gd name="adj1" fmla="val 59177"/>
              <a:gd name="adj2" fmla="val -484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いずれも</a:t>
            </a:r>
            <a:r>
              <a:rPr kumimoji="1" lang="en-US" altLang="ja-JP" sz="1400" dirty="0"/>
              <a:t>T</a:t>
            </a:r>
            <a:r>
              <a:rPr kumimoji="1" lang="ja-JP" altLang="en-US" sz="1400" dirty="0"/>
              <a:t>方向</a:t>
            </a:r>
          </a:p>
        </p:txBody>
      </p:sp>
      <p:sp>
        <p:nvSpPr>
          <p:cNvPr id="6" name="吹き出し: 折線 5">
            <a:extLst>
              <a:ext uri="{FF2B5EF4-FFF2-40B4-BE49-F238E27FC236}">
                <a16:creationId xmlns:a16="http://schemas.microsoft.com/office/drawing/2014/main" id="{32BEF2BC-FFE8-89BD-572C-2F2D8C018832}"/>
              </a:ext>
            </a:extLst>
          </p:cNvPr>
          <p:cNvSpPr/>
          <p:nvPr/>
        </p:nvSpPr>
        <p:spPr>
          <a:xfrm>
            <a:off x="10858499" y="5653974"/>
            <a:ext cx="1169309" cy="48634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3837"/>
              <a:gd name="adj6" fmla="val -534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これは？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9A10476-719B-F94B-7520-3ABA4B128BBB}"/>
              </a:ext>
            </a:extLst>
          </p:cNvPr>
          <p:cNvSpPr txBox="1"/>
          <p:nvPr/>
        </p:nvSpPr>
        <p:spPr>
          <a:xfrm>
            <a:off x="8707393" y="1575352"/>
            <a:ext cx="249795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/>
              <a:t>T</a:t>
            </a:r>
            <a:r>
              <a:rPr kumimoji="1" lang="ja-JP" altLang="en-US" dirty="0"/>
              <a:t>方向は案外、難しい</a:t>
            </a:r>
          </a:p>
        </p:txBody>
      </p:sp>
    </p:spTree>
    <p:extLst>
      <p:ext uri="{BB962C8B-B14F-4D97-AF65-F5344CB8AC3E}">
        <p14:creationId xmlns:p14="http://schemas.microsoft.com/office/powerpoint/2010/main" val="191897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E110E4-61EB-409E-B32A-C2262000C512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観察：木片に、方向と面の名前を付ける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2E37157F-62B1-4182-A5FC-6450B20ADFA7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47F1CC3-FEC7-4675-B477-A2A7F4B0DDF6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FE6178-B3D2-47C9-9BF2-8A69945F9AEB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B303B4-44B7-44A5-9004-542B5E96AB9F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繊維に沿う方向 L を、矢印で描く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048645-685E-4B4F-8500-2637D564D5A1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木口面で、R と T の向きを示す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8A8A6ED-FDF3-47AD-8702-D47C720969FE}"/>
              </a:ext>
            </a:extLst>
          </p:cNvPr>
          <p:cNvSpPr>
            <a:spLocks noGrp="1"/>
          </p:cNvSpPr>
          <p:nvPr/>
        </p:nvSpPr>
        <p:spPr>
          <a:xfrm>
            <a:off x="685800" y="34385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木口面・柾目面・板目面を、図に書き入れる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F9BDF4-3C9B-4E9B-8C1A-1A1D92A9EC68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見えた模様と、切る面の関係を説明する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95B5636-6484-4FB9-9CEA-0F9DF1A3A1C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L・R・TとRT・LR・LTを、木片の同じ位置に記入する</a:t>
            </a:r>
          </a:p>
        </p:txBody>
      </p:sp>
    </p:spTree>
    <p:extLst>
      <p:ext uri="{BB962C8B-B14F-4D97-AF65-F5344CB8AC3E}">
        <p14:creationId xmlns:p14="http://schemas.microsoft.com/office/powerpoint/2010/main" val="126298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8BA4B3-E9F0-4CD0-B9C8-3BDB97DE345E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木口面の組織は、樹種群によって違う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AB9DBF1-219C-4544-A6DE-043FC01881FB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CD41A87-1786-455F-89D6-6B554D9E7A57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D91DF-7D0C-421E-AA35-40FC71EFA286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1B798C2-6DAA-4BF8-910B-FEEE265FC5C1}"/>
              </a:ext>
            </a:extLst>
          </p:cNvPr>
          <p:cNvSpPr>
            <a:spLocks noGrp="1"/>
          </p:cNvSpPr>
          <p:nvPr/>
        </p:nvSpPr>
        <p:spPr>
          <a:xfrm>
            <a:off x="685800" y="1640891"/>
            <a:ext cx="287999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 dirty="0" err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</a:t>
            </a:r>
            <a:endParaRPr sz="2025" b="1" dirty="0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C83B65-94EE-4F7D-9D6A-4BBB5414EFBB}"/>
              </a:ext>
            </a:extLst>
          </p:cNvPr>
          <p:cNvSpPr>
            <a:spLocks noGrp="1"/>
          </p:cNvSpPr>
          <p:nvPr/>
        </p:nvSpPr>
        <p:spPr>
          <a:xfrm>
            <a:off x="4174787" y="1640891"/>
            <a:ext cx="239280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dirty="0"/>
              <a:t>広葉樹材・</a:t>
            </a:r>
            <a:r>
              <a:rPr sz="2025" b="1" dirty="0" err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散孔材</a:t>
            </a:r>
            <a:endParaRPr sz="2025" b="1" dirty="0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FC8EAD-51A8-4761-BBD7-720106A565DF}"/>
              </a:ext>
            </a:extLst>
          </p:cNvPr>
          <p:cNvSpPr>
            <a:spLocks noGrp="1"/>
          </p:cNvSpPr>
          <p:nvPr/>
        </p:nvSpPr>
        <p:spPr>
          <a:xfrm>
            <a:off x="7176573" y="1663930"/>
            <a:ext cx="287999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dirty="0"/>
              <a:t>広葉樹材・</a:t>
            </a:r>
            <a:r>
              <a:rPr sz="2025" b="1" dirty="0" err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環孔材</a:t>
            </a:r>
            <a:endParaRPr sz="2025" b="1" dirty="0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CDDADD2-25DD-18F2-AD7B-B2B981EBCF0B}"/>
              </a:ext>
            </a:extLst>
          </p:cNvPr>
          <p:cNvGrpSpPr/>
          <p:nvPr/>
        </p:nvGrpSpPr>
        <p:grpSpPr>
          <a:xfrm>
            <a:off x="4174786" y="2040941"/>
            <a:ext cx="2392801" cy="3969332"/>
            <a:chOff x="4636044" y="2334075"/>
            <a:chExt cx="2392801" cy="3969332"/>
          </a:xfrm>
        </p:grpSpPr>
        <p:pic>
          <p:nvPicPr>
            <p:cNvPr id="13" name="図 12">
              <a:hlinkClick r:id="rId3"/>
              <a:extLst>
                <a:ext uri="{FF2B5EF4-FFF2-40B4-BE49-F238E27FC236}">
                  <a16:creationId xmlns:a16="http://schemas.microsoft.com/office/drawing/2014/main" id="{BE377655-660C-01C2-8E6A-382E8B317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6044" y="2334075"/>
              <a:ext cx="2392801" cy="3600000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CBB3E41E-4806-0618-4746-C704AED4AA23}"/>
                </a:ext>
              </a:extLst>
            </p:cNvPr>
            <p:cNvSpPr txBox="1"/>
            <p:nvPr/>
          </p:nvSpPr>
          <p:spPr>
            <a:xfrm>
              <a:off x="4636044" y="5934075"/>
              <a:ext cx="2392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ブナ </a:t>
              </a:r>
              <a:r>
                <a:rPr lang="en-US" altLang="ja-JP" dirty="0"/>
                <a:t>(</a:t>
              </a:r>
              <a:r>
                <a:rPr lang="en-US" altLang="ja-JP" i="1" dirty="0"/>
                <a:t>Fagus crenata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77BC9CE-660C-417C-D1A1-55F8B10693A8}"/>
              </a:ext>
            </a:extLst>
          </p:cNvPr>
          <p:cNvSpPr txBox="1"/>
          <p:nvPr/>
        </p:nvSpPr>
        <p:spPr>
          <a:xfrm>
            <a:off x="8199153" y="6355720"/>
            <a:ext cx="33070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hlinkClick r:id="rId5"/>
              </a:rPr>
              <a:t>森林総合研究所・日本産木材データベース</a:t>
            </a:r>
            <a:endParaRPr kumimoji="1" lang="ja-JP" altLang="en-US" sz="1100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9055FBE-CE84-6FCD-6A3F-0BD0641BB053}"/>
              </a:ext>
            </a:extLst>
          </p:cNvPr>
          <p:cNvGrpSpPr/>
          <p:nvPr/>
        </p:nvGrpSpPr>
        <p:grpSpPr>
          <a:xfrm>
            <a:off x="7176573" y="2056301"/>
            <a:ext cx="2880000" cy="3969332"/>
            <a:chOff x="7464828" y="2240967"/>
            <a:chExt cx="2880000" cy="3969332"/>
          </a:xfrm>
        </p:grpSpPr>
        <p:pic>
          <p:nvPicPr>
            <p:cNvPr id="18" name="図 17">
              <a:hlinkClick r:id="rId6"/>
              <a:extLst>
                <a:ext uri="{FF2B5EF4-FFF2-40B4-BE49-F238E27FC236}">
                  <a16:creationId xmlns:a16="http://schemas.microsoft.com/office/drawing/2014/main" id="{89BA7EFA-84D0-2C7D-6EFE-4DAA4413A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64828" y="2240967"/>
              <a:ext cx="2880000" cy="36000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5BF9C01-3357-F055-81B5-8330091BD06C}"/>
                </a:ext>
              </a:extLst>
            </p:cNvPr>
            <p:cNvSpPr txBox="1"/>
            <p:nvPr/>
          </p:nvSpPr>
          <p:spPr>
            <a:xfrm>
              <a:off x="7464828" y="5840967"/>
              <a:ext cx="28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ケヤキ </a:t>
              </a:r>
              <a:r>
                <a:rPr lang="en-US" altLang="ja-JP" dirty="0"/>
                <a:t>(Zelkova serrata)</a:t>
              </a:r>
              <a:endParaRPr kumimoji="1" lang="ja-JP" altLang="en-US" dirty="0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B4C16B1F-0024-FD6A-A47C-DB526596AD87}"/>
              </a:ext>
            </a:extLst>
          </p:cNvPr>
          <p:cNvGrpSpPr/>
          <p:nvPr/>
        </p:nvGrpSpPr>
        <p:grpSpPr>
          <a:xfrm>
            <a:off x="685800" y="2040942"/>
            <a:ext cx="2880000" cy="3969332"/>
            <a:chOff x="1080330" y="2300513"/>
            <a:chExt cx="2880000" cy="3969332"/>
          </a:xfrm>
        </p:grpSpPr>
        <p:pic>
          <p:nvPicPr>
            <p:cNvPr id="22" name="図 21">
              <a:hlinkClick r:id="rId8"/>
              <a:extLst>
                <a:ext uri="{FF2B5EF4-FFF2-40B4-BE49-F238E27FC236}">
                  <a16:creationId xmlns:a16="http://schemas.microsoft.com/office/drawing/2014/main" id="{78896CAB-8534-C88A-F8F4-D937823F6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0330" y="2300513"/>
              <a:ext cx="2880000" cy="3600000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5A8D51C7-B281-7BD9-AA46-39F222539078}"/>
                </a:ext>
              </a:extLst>
            </p:cNvPr>
            <p:cNvSpPr txBox="1"/>
            <p:nvPr/>
          </p:nvSpPr>
          <p:spPr>
            <a:xfrm>
              <a:off x="1080330" y="5900513"/>
              <a:ext cx="2879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カラマツ </a:t>
              </a:r>
              <a:r>
                <a:rPr lang="en-US" altLang="ja-JP" dirty="0"/>
                <a:t>(L</a:t>
              </a:r>
              <a:r>
                <a:rPr lang="en-US" altLang="ja-JP" i="1" dirty="0"/>
                <a:t>arix </a:t>
              </a:r>
              <a:r>
                <a:rPr lang="en-US" altLang="ja-JP" i="1" dirty="0" err="1"/>
                <a:t>kaempferi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5886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8A69B2-3E9D-4A1C-88D9-86DBD83D4A1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節・目切れ・割れを、外観から観察する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F6512AEF-8EBC-438D-8B8F-45E4188DDAD3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8E950C-2111-4AB4-B7F1-FFCB17F71334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3E8C09-A2B2-419A-B19E-D18CF0AC9D47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BC7F5A-4F88-48EE-BC21-6525B72DAEF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節：枝の跡。周囲では繊維の向きも変わる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A882AD6-EC87-4BCA-A232-8823882C192E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目切れ：材の軸と、繊維の方向がずれる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C60E44-7181-47A9-B1AB-FF9ADF4042F5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割れ：位置・向き・深さを確かめる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D9F42D9-6832-4872-AF0C-DA3F9EF0C401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用途と荷重を決めて、利用上の影響を考える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C51C940-4147-43A2-99B7-C5C56EC52D5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見える特徴を記録し、強度への影響は後の回で確かめる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962685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2FC7E8A-1ED5-4024-9696-0C94A16B9E8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節の周囲では、繊維の向きが変わる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F1D165D-3C84-4C5B-BB7E-6297373372B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29413F-9A74-4BE8-B661-4C4C9E8248FD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01B3BA-7AA6-478D-ADEE-E30F7F4F2C4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46399B-6E7F-4AAD-826E-84F9AEF60AE9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繊維の向きがそろう部分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41F87A-DBF5-4192-9320-AA3FBFF9C0A2}"/>
              </a:ext>
            </a:extLst>
          </p:cNvPr>
          <p:cNvSpPr>
            <a:spLocks noGrp="1"/>
          </p:cNvSpPr>
          <p:nvPr/>
        </p:nvSpPr>
        <p:spPr>
          <a:xfrm>
            <a:off x="6553200" y="15906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節の周囲の例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A87294E-F82D-4465-945E-EB996798E2AC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4572000" cy="2095500"/>
          </a:xfrm>
          <a:prstGeom prst="rect">
            <a:avLst/>
          </a:prstGeom>
          <a:solidFill>
            <a:srgbClr val="F5EFE4"/>
          </a:solidFill>
          <a:ln w="13335">
            <a:solidFill>
              <a:srgbClr val="B1A18B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5320BDF-313B-402A-964B-0ED0A0664BC0}"/>
              </a:ext>
            </a:extLst>
          </p:cNvPr>
          <p:cNvSpPr>
            <a:spLocks noGrp="1"/>
          </p:cNvSpPr>
          <p:nvPr/>
        </p:nvSpPr>
        <p:spPr>
          <a:xfrm>
            <a:off x="6553200" y="2552700"/>
            <a:ext cx="4572000" cy="2095500"/>
          </a:xfrm>
          <a:prstGeom prst="rect">
            <a:avLst/>
          </a:prstGeom>
          <a:solidFill>
            <a:srgbClr val="F5EFE4"/>
          </a:solidFill>
          <a:ln w="13335">
            <a:solidFill>
              <a:srgbClr val="B1A18B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A1901DDE-8E42-4006-9E1D-F8BF967B8B30}"/>
              </a:ext>
            </a:extLst>
          </p:cNvPr>
          <p:cNvCxnSpPr/>
          <p:nvPr/>
        </p:nvCxnSpPr>
        <p:spPr>
          <a:xfrm>
            <a:off x="1057275" y="27813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432DC1E-79EB-4446-9B95-7692EE06853D}"/>
              </a:ext>
            </a:extLst>
          </p:cNvPr>
          <p:cNvCxnSpPr/>
          <p:nvPr/>
        </p:nvCxnSpPr>
        <p:spPr>
          <a:xfrm>
            <a:off x="1057275" y="30480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FE2C706-33A2-408F-8341-49F9E148EA6E}"/>
              </a:ext>
            </a:extLst>
          </p:cNvPr>
          <p:cNvCxnSpPr/>
          <p:nvPr/>
        </p:nvCxnSpPr>
        <p:spPr>
          <a:xfrm>
            <a:off x="1057275" y="33147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A24118C-E5B8-4F4B-B4B6-467E2187B9B1}"/>
              </a:ext>
            </a:extLst>
          </p:cNvPr>
          <p:cNvCxnSpPr/>
          <p:nvPr/>
        </p:nvCxnSpPr>
        <p:spPr>
          <a:xfrm>
            <a:off x="1057275" y="35814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5C3EB88-9DBD-464A-AD08-8002C9494CD0}"/>
              </a:ext>
            </a:extLst>
          </p:cNvPr>
          <p:cNvCxnSpPr/>
          <p:nvPr/>
        </p:nvCxnSpPr>
        <p:spPr>
          <a:xfrm>
            <a:off x="1057275" y="38481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727ED60-0A8E-4732-8389-71FBA9AA6EDF}"/>
              </a:ext>
            </a:extLst>
          </p:cNvPr>
          <p:cNvCxnSpPr/>
          <p:nvPr/>
        </p:nvCxnSpPr>
        <p:spPr>
          <a:xfrm>
            <a:off x="1057275" y="41148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3B92407-22EF-4F27-ACF6-EC6D2A4F9450}"/>
              </a:ext>
            </a:extLst>
          </p:cNvPr>
          <p:cNvCxnSpPr/>
          <p:nvPr/>
        </p:nvCxnSpPr>
        <p:spPr>
          <a:xfrm>
            <a:off x="1057275" y="43815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B6E62090-7D5D-4113-A2D3-A653F47120A1}"/>
              </a:ext>
            </a:extLst>
          </p:cNvPr>
          <p:cNvSpPr>
            <a:spLocks noGrp="1"/>
          </p:cNvSpPr>
          <p:nvPr/>
        </p:nvSpPr>
        <p:spPr>
          <a:xfrm>
            <a:off x="8372475" y="3171825"/>
            <a:ext cx="952500" cy="857250"/>
          </a:xfrm>
          <a:prstGeom prst="ellipse">
            <a:avLst/>
          </a:prstGeom>
          <a:solidFill>
            <a:srgbClr val="D7BE9C"/>
          </a:solidFill>
          <a:ln w="19050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75F2FA8E-BFD3-449F-A692-ACF2D92F75A7}"/>
              </a:ext>
            </a:extLst>
          </p:cNvPr>
          <p:cNvSpPr>
            <a:spLocks noGrp="1"/>
          </p:cNvSpPr>
          <p:nvPr/>
        </p:nvSpPr>
        <p:spPr>
          <a:xfrm>
            <a:off x="6724650" y="2552700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C8CF652E-F134-4FDF-8872-D1CC8607D112}"/>
              </a:ext>
            </a:extLst>
          </p:cNvPr>
          <p:cNvSpPr>
            <a:spLocks noGrp="1"/>
          </p:cNvSpPr>
          <p:nvPr/>
        </p:nvSpPr>
        <p:spPr>
          <a:xfrm>
            <a:off x="6724650" y="2809875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74E63B80-2E48-47B3-B2F2-AD3678A0A933}"/>
              </a:ext>
            </a:extLst>
          </p:cNvPr>
          <p:cNvSpPr>
            <a:spLocks noGrp="1"/>
          </p:cNvSpPr>
          <p:nvPr/>
        </p:nvSpPr>
        <p:spPr>
          <a:xfrm>
            <a:off x="6724650" y="3067050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378BE91C-AD7E-4B62-9F17-E4FB526E224F}"/>
              </a:ext>
            </a:extLst>
          </p:cNvPr>
          <p:cNvSpPr>
            <a:spLocks noGrp="1"/>
          </p:cNvSpPr>
          <p:nvPr/>
        </p:nvSpPr>
        <p:spPr>
          <a:xfrm>
            <a:off x="6724650" y="3876675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0D4E138A-5C81-4FA9-9522-3DD640E0222F}"/>
              </a:ext>
            </a:extLst>
          </p:cNvPr>
          <p:cNvSpPr>
            <a:spLocks noGrp="1"/>
          </p:cNvSpPr>
          <p:nvPr/>
        </p:nvSpPr>
        <p:spPr>
          <a:xfrm>
            <a:off x="6724650" y="4133850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B3FB5C27-BF9A-4D3E-8AF3-8DCE6227ECA1}"/>
              </a:ext>
            </a:extLst>
          </p:cNvPr>
          <p:cNvSpPr>
            <a:spLocks noGrp="1"/>
          </p:cNvSpPr>
          <p:nvPr/>
        </p:nvSpPr>
        <p:spPr>
          <a:xfrm>
            <a:off x="6724650" y="4391025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4C3AD50-378E-4823-BA71-38E5238F7347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主な繊維の方向を、矢印で描こう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8392BFB-BE0E-47ED-B607-C0833597F79A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節のある位置・大きさ・荷重方向で、利用上の影響は変わる</a:t>
            </a:r>
          </a:p>
        </p:txBody>
      </p:sp>
    </p:spTree>
    <p:extLst>
      <p:ext uri="{BB962C8B-B14F-4D97-AF65-F5344CB8AC3E}">
        <p14:creationId xmlns:p14="http://schemas.microsoft.com/office/powerpoint/2010/main" val="162172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F7D467-BC00-4D1D-A056-FEA2FAB4B79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多孔質・異方性から、材質を考える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84746078-5425-44E4-A6F2-47B13BEED4A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69BC92-F566-416D-BC53-1D45C1C264E0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45D83B2-408A-481C-BADF-F684CFC14AE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89582A-2AA5-4C5F-852A-5CDCB3E390D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壁と空隙の割合は、密度とどう関わるか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0C7CE3-E3AF-4F6C-BBD1-2D2D59C92D02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細胞の配列は、方向別の強度とどう関わるか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CEE920-CF1B-4007-B04E-EEDB819720E2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切る・削る・接合する向きは、どこを見て決めるか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7F6668-14C5-4E25-872A-F911D963E23B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年輪や節の観察を、加工・使い方の説明へ結ぶ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7655D59-A48A-44A7-AFDA-57D905E6686F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構造から予想し、同じ条件のデータと観察で確かめる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18193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7C15FF9-D95B-47B0-9AC6-ACFAA12CF92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同じ断面積の棚板：高さを変えると？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9F77888-69E6-4143-B4E9-A916E9CB574B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D3934B-838F-4CFB-B0FE-EE79869ACFE2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76C727-6AD9-4E9B-97F7-43EF4EC159B3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E7FBAD-0141-4D0B-8F8A-7F4D24E812C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同じ材料・同じ長さ・同じ荷重・同じ支え方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BB35D6-7B4D-4821-B9D5-D9C8DAA2AFA6}"/>
              </a:ext>
            </a:extLst>
          </p:cNvPr>
          <p:cNvSpPr>
            <a:spLocks noGrp="1"/>
          </p:cNvSpPr>
          <p:nvPr/>
        </p:nvSpPr>
        <p:spPr>
          <a:xfrm>
            <a:off x="1714500" y="3143250"/>
            <a:ext cx="3048000" cy="762000"/>
          </a:xfrm>
          <a:prstGeom prst="rect">
            <a:avLst/>
          </a:prstGeom>
          <a:solidFill>
            <a:srgbClr val="EDF2F6"/>
          </a:solidFill>
          <a:ln w="13335">
            <a:solidFill>
              <a:srgbClr val="C8D3DD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B57C54C-2322-4200-9369-B4F7EDCA1806}"/>
              </a:ext>
            </a:extLst>
          </p:cNvPr>
          <p:cNvCxnSpPr/>
          <p:nvPr/>
        </p:nvCxnSpPr>
        <p:spPr>
          <a:xfrm>
            <a:off x="1333500" y="3524250"/>
            <a:ext cx="3810000" cy="0"/>
          </a:xfrm>
          <a:prstGeom prst="straightConnector1">
            <a:avLst/>
          </a:prstGeom>
          <a:ln w="19050">
            <a:solidFill>
              <a:srgbClr val="5D6C78"/>
            </a:solidFill>
            <a:prstDash val="dash"/>
          </a:ln>
        </p:spPr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50F8AA-FC28-4FF6-96FF-0CAE21F6725F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1524000" cy="1524000"/>
          </a:xfrm>
          <a:prstGeom prst="rect">
            <a:avLst/>
          </a:prstGeom>
          <a:solidFill>
            <a:srgbClr val="EDF2F6"/>
          </a:solidFill>
          <a:ln w="13335">
            <a:solidFill>
              <a:srgbClr val="C8D3DD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B658FB8-8DD6-462A-BCA9-E1EFD8A6AB6F}"/>
              </a:ext>
            </a:extLst>
          </p:cNvPr>
          <p:cNvCxnSpPr/>
          <p:nvPr/>
        </p:nvCxnSpPr>
        <p:spPr>
          <a:xfrm>
            <a:off x="7239000" y="3524250"/>
            <a:ext cx="2476500" cy="0"/>
          </a:xfrm>
          <a:prstGeom prst="straightConnector1">
            <a:avLst/>
          </a:prstGeom>
          <a:ln w="19050">
            <a:solidFill>
              <a:srgbClr val="5D6C78"/>
            </a:solidFill>
            <a:prstDash val="dash"/>
          </a:ln>
        </p:spPr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64C42D-47CE-4AB2-ADF3-B40E58BA7EFD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52387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幅40 mm、高さ10 mm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2D6CDF-721A-452D-93B8-7EF2741DBD42}"/>
              </a:ext>
            </a:extLst>
          </p:cNvPr>
          <p:cNvSpPr>
            <a:spLocks noGrp="1"/>
          </p:cNvSpPr>
          <p:nvPr/>
        </p:nvSpPr>
        <p:spPr>
          <a:xfrm>
            <a:off x="6524625" y="4505325"/>
            <a:ext cx="498157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幅20 mm、高さ20 mm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4451B1-F9A0-4C72-8FE7-C9E67151CDB9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断面積は、どちらも400 mm²。たわみは同じだろうか？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D44703-45BB-473B-85BB-C92340BF82E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断面の水平な図心軸について比べる。E が同じという仮定も確認する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107434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70B9374-BD32-4CFE-AC18-6535BFF0B7A1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E・強度・硬さは、同じ量ではない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9445D3BF-9AFF-46F4-9E22-7B842D06A5C4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0EA716-1D1D-4EBC-9C82-C76536B37CF5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6421FC4-C910-4225-B775-EAA39F308E26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BFD5D02-31D9-4C31-80A6-27C981F484F4}"/>
              </a:ext>
            </a:extLst>
          </p:cNvPr>
          <p:cNvGraphicFramePr/>
          <p:nvPr/>
        </p:nvGraphicFramePr>
        <p:xfrm>
          <a:off x="685800" y="1790700"/>
          <a:ext cx="10820400" cy="2924176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0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比べたいこと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確かめる量・条件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変形しにくいか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E、部材の長さ・断面・支え方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破壊等に耐えられるか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強度と作用する応力、評価条件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表面がへこみにくいか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硬さの試験方法と方向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1F399D-60FE-4DB3-B83D-2E95B96EEBCD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木材では、方向・水分・欠点も比較条件になる</a:t>
            </a:r>
          </a:p>
        </p:txBody>
      </p:sp>
    </p:spTree>
    <p:extLst>
      <p:ext uri="{BB962C8B-B14F-4D97-AF65-F5344CB8AC3E}">
        <p14:creationId xmlns:p14="http://schemas.microsoft.com/office/powerpoint/2010/main" val="890817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7B3F2AE-95D2-44D0-B1C2-8F483DD8F67A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木質材料は、木を組み直した材料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98E97E3E-91E4-4003-9682-131A2FD71366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D58FE90-DAA9-4D1E-A4F0-4C0494D0B413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3DC7B89-46EF-4961-AB6E-07F9494BAE11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35D53B9-E08C-4BDB-B230-9BFDF0FB816B}"/>
              </a:ext>
            </a:extLst>
          </p:cNvPr>
          <p:cNvGraphicFramePr/>
          <p:nvPr/>
        </p:nvGraphicFramePr>
        <p:xfrm>
          <a:off x="685800" y="1704975"/>
          <a:ext cx="10820400" cy="3143252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材料の例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主な構成要素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見るポイント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繊維方向の重ね方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LVL・集成材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単板・ひき板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要素と配向、接着の条件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繊維板・パーティクルボード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繊維・小片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要素の大きさと製法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19DA2C-7BED-442B-8B3C-4B1CA1B1E0B8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表面の木目だけで決めず、断面・製法・使用条件も調べる</a:t>
            </a:r>
          </a:p>
        </p:txBody>
      </p:sp>
    </p:spTree>
    <p:extLst>
      <p:ext uri="{BB962C8B-B14F-4D97-AF65-F5344CB8AC3E}">
        <p14:creationId xmlns:p14="http://schemas.microsoft.com/office/powerpoint/2010/main" val="122392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EA1FC16-65A4-426B-BA87-40112963A6A7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材料選択：教室用の小物棚を考える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75B059B0-6A20-4BBF-943F-D069733F7039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3FAECD5-58C7-4336-85B5-A0DAC313DB4E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9BC03B-3FCE-4179-9C29-07F11EE62B12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AD4E11-E4E0-4FDC-AEEA-3697E18CC90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候補：無垢材／合板／繊維板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5F9FC1-E5B7-48BC-9976-01D63DC7A51E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どんな使用条件を、先に決める必要があるか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2832579-23A4-4FB1-9F50-A8C6A3482CF9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材料選びのために、どんな性質・データを調べたいか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EECD09-6FDC-4E42-B46F-C08E23F88B01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今の選択と、その理由を記録する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CE332A-1B05-4FA4-90A5-D2C91BEA9CAD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「よい材料」を一つ決めるのでなく、用途に合う理由を説明する</a:t>
            </a:r>
          </a:p>
        </p:txBody>
      </p:sp>
    </p:spTree>
    <p:extLst>
      <p:ext uri="{BB962C8B-B14F-4D97-AF65-F5344CB8AC3E}">
        <p14:creationId xmlns:p14="http://schemas.microsoft.com/office/powerpoint/2010/main" val="707516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D41D8C-4280-4FB6-9B1E-E5F78A61E5A3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木材利用を、資源と環境から考える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61E9C22-E2E6-40CA-B7D9-C73E76980E68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12428A-361A-42CA-963A-31C1875196D3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7221B4-C1DE-4D8A-B585-311FEFD61C35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9BA1D0A-C44A-4E7A-98A9-76EED4C68A07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どこで育ち、どう生産・加工されたか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F721A58-836D-4DF2-A28E-A501F6F0DEBC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どれくらい使い、どう手入れするか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345930-FCC4-4789-AEB0-35673E70188A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使い終わったあと、どう再利用・処理するか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6075B3-79E6-4806-B4F1-A8A23637380B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同じ機能と使用期間で、比較できているか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214D26-7009-452E-A0BA-C02DE783217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材料名だけで結論を出さず、生産から使用後までの条件を見る</a:t>
            </a:r>
          </a:p>
        </p:txBody>
      </p:sp>
    </p:spTree>
    <p:extLst>
      <p:ext uri="{BB962C8B-B14F-4D97-AF65-F5344CB8AC3E}">
        <p14:creationId xmlns:p14="http://schemas.microsoft.com/office/powerpoint/2010/main" val="440847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E87ECE5-50C0-4A45-8F23-38828EF6EA00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今日の確認と、次回への問い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84183987-40D1-4797-81B2-DF2E20AD3A17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8D0C434-1B2F-47E4-A47B-CB1A08E81E2B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06409C-4A1F-40D5-AA9C-D969D54B4E14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70ED33-8577-4A84-953E-A4DFD10D692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三方向と三断面を、図で区別して説明する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E27A538-E92D-4A8A-B886-989A5D1CEAAA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節の周囲で、何を観察すればよいか述べる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A5FD16-2974-4262-8533-B80EF18C6284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同じ断面積でも、棚板のたわみが違う理由を述べる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4FD7EE8-E3BD-4287-83D5-DE272965629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最初の予想から変わった説明を、1つ書く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7A625B7-1F0A-4517-9A10-8BA67734EBA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次回：樹木の成長と断面の構造を、観察で確かめる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422938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D68851B-7BFB-4D73-A8CD-CA09E95CB19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DF8C42A-CFBF-412A-B655-10B550698C70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FB4E818-26CE-457B-AE3A-02C122BF1818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E27735-80F0-4DEF-AB3A-550DD5AE28F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6076F1-BB4E-41F8-9941-EF702B70E92F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030B58-24B0-4428-978E-854F312ED75F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DF8D82-87A4-440B-9B4D-7AF5D16C46C6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A0F9331-54F6-400F-A188-EA6003E3BC07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A41EAC7-DD64-43E4-94F4-CA998F35D0F9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森林総合研究所 日本産木材データベース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DD25F2-5141-4804-ABEC-DC0AF12F60A3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https://db.ffpri.go.jp/WoodDB/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16A2C14-AC2F-415C-906A-D22CA3EE439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A28579A-E87E-4B65-BCF0-4F062CA5D4A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A9221D-C9CD-426B-94CF-D3E4CFF8C16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23635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9C450C-51C4-4B38-9F30-EE008A655FB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9378D247-9B14-4B93-9BED-D40BC8A4C981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ED99C3-45CE-4E85-BDAB-66E8246B5841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城南SSH講義資料 2022年 18～22枚目 樹木の構造と成長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AADAE54-A2B3-46DF-A14F-1892981E21D6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60B0DB-DF81-48F3-82B8-215C51AF4DB7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30F257-2551-4F1A-9FE1-012B8384B9CE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8C10DFF-02D6-4F85-9AF3-9D6D107B98B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8FE859-23AE-4C9C-BAB0-153DAE1BC1D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517560-58C4-4B26-86BA-850E226E133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1557CD-3520-405D-9E10-7C4B59143DE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3463274"/>
      </p:ext>
    </p:extLst>
  </p:cSld>
  <p:clrMapOvr>
    <a:masterClrMapping/>
  </p:clrMapOvr>
</p:sld>
</file>

<file path=ppt/slides/v6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3C7D9-1759-4FB1-848E-9E1D817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復習：ばねのフックの法則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4221D-EB3C-40D9-B47A-C6CCFB1FE1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BAAF-10D7-4D4B-826B-C9B59A90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DC81F-0036-4C53-84E8-0EDC376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FC56-649F-48C8-A8C4-099262F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383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kx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E1DC-C1E1-4262-80FC-9D0A700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F：ばねを引く力 / N</a:t>
            </a:r>
          </a:p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x：元の長さからの伸び / mm</a:t>
            </a:r>
          </a:p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k：ばね定数 / (N/mm)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0500-7FE8-490D-A1CF-637A768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伸びに比例して、必要な力が増す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EA54-DB22-48BD-9E49-51B7B31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x = F/k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CB86E533-A94D-4CC6-BC0D-C3B92035E423}"/>
              </a:ext>
            </a:extLst>
          </p:cNvPr>
          <p:cNvGraphicFramePr/>
          <p:nvPr/>
        </p:nvGraphicFramePr>
        <p:xfrm>
          <a:off xmlns:a="http://schemas.openxmlformats.org/drawingml/2006/main" x="5810250" y="1609725"/>
          <a:ext xmlns:a="http://schemas.openxmlformats.org/drawingml/2006/main" cx="55435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f06459f67842d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89A4E-0AEC-4F70-8B0F-68B1AC6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554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同じ力なら、k が大きいほど伸びは小さい</a:t>
            </a:r>
          </a:p>
        </p:txBody>
      </p:sp>
    </p:spTree>
    <p:extLst>
      <p:ext uri="{BB962C8B-B14F-4D97-AF65-F5344CB8AC3E}">
        <p14:creationId xmlns:p14="http://schemas.microsoft.com/office/powerpoint/2010/main" val="294709526"/>
      </p:ext>
    </p:extLst>
  </p:cSld>
</p:sld>
</file>

<file path=ppt/slides/v6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F5037-CF92-4993-98D5-A65B819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復習：棒の変形とヤング率 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EC4D7-2E89-4914-9F0F-54D0261B10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F1A0D-DF41-437D-B960-C476810B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59594-03F7-4090-B347-810ADF3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E3B96-28D9-41F6-BECE-8C83B3E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応力 σ = F/A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9A2E1-0222-4C33-AE28-62253C6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ひずみ ε = Δl/l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E249-8D25-448C-8A3E-65C9868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　σ = Eε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ADAB7-C149-41AD-A52F-3A04EE6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F/A = E(Δl/l)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190B-F6E6-4BD8-B061-D67896C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Δl = Fl/(EA)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733E0-9732-45C2-AE3D-D56FA53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棒全体のばね定数は k = EA/l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0358E903-4C97-4ED8-85B1-BF44085FDE9F}"/>
              </a:ext>
            </a:extLst>
          </p:cNvPr>
          <p:cNvGraphicFramePr/>
          <p:nvPr/>
        </p:nvGraphicFramePr>
        <p:xfrm>
          <a:off xmlns:a="http://schemas.openxmlformats.org/drawingml/2006/main" x="6096000" y="1619250"/>
          <a:ext xmlns:a="http://schemas.openxmlformats.org/drawingml/2006/main" cx="5257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e9032a9af0431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3BA2C-A4EF-4AC8-816A-1F055B4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25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E：同じ応力に対する、変形しにくさ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単位は MPa（= N/mm²）</a:t>
            </a:r>
          </a:p>
        </p:txBody>
      </p:sp>
    </p:spTree>
    <p:extLst>
      <p:ext uri="{BB962C8B-B14F-4D97-AF65-F5344CB8AC3E}">
        <p14:creationId xmlns:p14="http://schemas.microsoft.com/office/powerpoint/2010/main" val="42178302"/>
      </p:ext>
    </p:extLst>
  </p:cSld>
</p:sld>
</file>

<file path=ppt/slides/v6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43264D-4212-4423-95F5-C6C9C21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単純支持ばりの中央たわみ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62D94-6D85-455C-B29F-DDDB764E9F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F757E-3FDE-4C9E-A3E4-A75CD84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8E1C-A2FF-4585-BF66-D2BD06F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B4645-671B-4C5A-BBBB-C1F7BCF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中央に力 F を加える。δ は中央が下がる量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5DF96-B6F1-4862-A0F5-E17D6F03E8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1478-D761-4D14-A9D8-FB23095C85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19240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53D3D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0336-A59F-4C3A-9FDF-FB90843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812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A668-4A65-43AD-A140-6C097F7C2A1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5727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65FCC-FDA4-47E0-B7C3-7931D6DA7A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8752F-95D4-42F9-B683-8F95F46152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513FE-6FD9-4822-BA4C-6B43A2D040D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43902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682CF-8A34-431A-981A-30DDD4FFD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AC3FE-607A-41EC-9965-7F8DFF8E61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8187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903F7-6B5D-4D2B-AEB9-FE92E71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108E-9B35-429E-88DB-E0FBD755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B67CB-E94D-4681-85B5-626636A6D0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62825" y="3190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A2384-B546-4B44-A37E-07FC999274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343275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32136-1749-43E3-8399-9B38CEB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L：支点間距離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9442C-57DA-4566-BC60-481B2FC393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E06ED-6752-4465-B2C9-8AF82DFE66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97794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20913-09DA-45FC-AFFF-B3A964ADB7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7338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0F055-E1E6-4C17-B7A8-C53717A7F1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6881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8408C-9A50-4C37-88A4-524DD529C4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76425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2E9A2-C819-4122-A4C6-2CE307244D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5969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5AE07-E59A-410D-BDC3-CA0EEA8AB0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5513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D8648-1F3B-40A8-9F2B-0184EB7FB7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55056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9EF3D-B63C-4BCA-9DA4-F040725BC7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14600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02D79-3C40-4E12-BF0E-9697579A28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74144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03285-39E7-4539-A7F1-07FEFB9F26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33688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24DDAA-A963-46E7-877E-EB99187092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93231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747B8-8D3F-4681-BB6C-CB5707963D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52775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2E35BB-A072-45ED-A91A-94C0B03EE9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12319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AF0B1D-C2D6-4708-BDD7-D31B6D22AF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71863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A37CF-77EE-4A07-BFF7-093F002655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31406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AE2DD-6C68-4FDC-AF10-868BC8E00D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90950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7E7F04-61A9-43CA-B167-1AA2CD8A6C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50494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A836B-2B94-416E-804C-685664F341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0038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9A2E8-482A-4F55-8CB9-046E97B819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69581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F50F2-3600-446C-A0F7-ABB19E1636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429125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1BF7AC-6100-4629-BF22-1518F7FD455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88669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CEEA9D-4EE2-4362-9C2C-1C8909F1547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748213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74DF2-4729-40A5-AD30-CE4FA9B901B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07756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D17CCC-DA37-4062-BFC8-470E6CFB792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67300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4FD45A-E86D-4163-9A23-BB66406F814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226844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06E3C9-EBAE-4206-9800-368E1134011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86388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9D6D9D-D70E-416D-B74C-EF8A69AA7D2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545931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68E22-C339-43DA-A3FE-AFBBD0AE7AA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705475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D453FE-78AF-42CA-BFA8-F528D20D14B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865019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43C922-BBB3-4FDC-B5B1-DA5EE92F2FC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24563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7FA279-0787-46A5-9F77-87F3F490715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84106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BF3085-04E7-45CC-B793-CECA63A6C2B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343650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18069B-0D18-4BED-B9BE-2FA3D469A75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03194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A95AD5-2EBF-48D8-84D5-133988F0EDE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662738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C03D3C-237A-45AD-B838-0B2C1866B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22281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598792-F382-4355-A797-29390A52144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6688A5-B69C-4A51-9423-80E8286F4E2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41369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C21576-A361-49F7-BD0B-C52CEC315DC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300913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229521-E1E6-4CB7-AA87-D7BDBC9DE8F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460456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C09E3A-C561-49C6-BB91-9F3F95BF29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25717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B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558B93-9C9C-4ABB-9178-908E773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86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E341C0-C5F9-46AD-A245-30EF3D3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383">
            <a:solidFill>
              <a:srgbClr val="245C9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9AA34A-9733-4CE7-BE26-3EEE74B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432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3E8454-9A5A-452A-B5D2-AEE7273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2764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36612B-2DC7-4D50-9713-A098D0E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= bh³/12 = Ah²/12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53C9F5-F899-49B9-80BB-7C565EA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= FL³/(48EI)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D47572-524D-4A56-A322-B793092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F：N、L：mm、E：N/mm²、I：mm⁴ → δ：mm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BE1A2E-638C-43FE-A447-0F7F9BF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 A で高さ2倍なら、I は4倍、δ は1/4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105897-7B14-4706-9634-6934B29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単純支持・一定断面・小さな変形の弾性範囲</a:t>
            </a:r>
          </a:p>
        </p:txBody>
      </p:sp>
    </p:spTree>
    <p:extLst>
      <p:ext uri="{BB962C8B-B14F-4D97-AF65-F5344CB8AC3E}">
        <p14:creationId xmlns:p14="http://schemas.microsoft.com/office/powerpoint/2010/main" val="290519300"/>
      </p:ext>
    </p:extLst>
  </p:cSld>
</p:sld>
</file>

<file path=ppt/slides/v6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2FCBF-1EAE-44DD-8C37-FF63C96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同じ断面積で比べる、荷重とたわみ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8276A-23C8-41A4-AF96-4941B1AF5C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2749-6547-4AB8-AD54-960A329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E9C4-2FAE-4DA4-860D-473FAF9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A932-1D7B-4245-AFC4-BB7FB7E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計算条件：E = 10,000 MPa、L = 600 mm、中央集中荷重・単純支持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76865E8-B6AB-4AC3-8E0A-6A90FA132C93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68294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123c95830f4eb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3404-619F-4C23-9872-C3D9BB5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20 N のとき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598C-BD02-4928-90D9-75C6F36832E0}"/>
              </a:ext>
            </a:extLst>
          </p:cNvPr>
          <p:cNvGraphicFramePr/>
          <p:nvPr/>
        </p:nvGraphicFramePr>
        <p:xfrm>
          <a:off xmlns:a="http://schemas.openxmlformats.org/drawingml/2006/main" x="8039100" y="2857500"/>
          <a:ext xmlns:a="http://schemas.openxmlformats.org/drawingml/2006/main" cx="34671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1257300"/>
                <a:gridCol w="1009650"/>
              </a:tblGrid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b × h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δ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40 × 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3.33×10³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2.700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20 × 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1.33×10⁴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0.675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F57D4-F8D4-42C4-9031-9E0CA86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が4倍なので</a:t>
            </a:r>
          </a:p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たわみは 1/4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8067E-F2B1-476C-AEDC-2FDFECA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は F に比例。傾きは L³/(48EI)</a:t>
            </a:r>
          </a:p>
        </p:txBody>
      </p:sp>
    </p:spTree>
    <p:extLst>
      <p:ext uri="{BB962C8B-B14F-4D97-AF65-F5344CB8AC3E}">
        <p14:creationId xmlns:p14="http://schemas.microsoft.com/office/powerpoint/2010/main" val="214899774"/>
      </p:ext>
    </p:extLst>
  </p:cSld>
</p:sld>
</file>

<file path=ppt/slides/v6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DDE70-49DA-4ACB-BDFE-BB6FD26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支点間距離と E による、たわみの変化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78446-FEE0-47FD-BFE1-B49B0696EF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C50E-863B-4A31-BBA9-A4E83E2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88829-3508-4ECA-AD6C-58335CC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4DD26-F043-48CF-B18C-03EAAEF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共通条件：F = 20 N、幅40 mm × 高さ10 mm、中央集中荷重・単純支持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F9DC-CDF5-4ACF-B4DD-8073FC78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 = 10,000 MPa で、L を変える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64341-53D3-4533-A365-8868D35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 = 600 mm で、E を変える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6657F8A-EA7C-451A-AB25-C53E1F69EF5A}"/>
              </a:ext>
            </a:extLst>
          </p:cNvPr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237ca3f5c4e90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8C48F6C6-7F1A-4D9A-AEC0-A2DA44F39DD8}"/>
              </a:ext>
            </a:extLst>
          </p:cNvPr>
          <p:cNvGraphicFramePr/>
          <p:nvPr/>
        </p:nvGraphicFramePr>
        <p:xfrm>
          <a:off xmlns:a="http://schemas.openxmlformats.org/drawingml/2006/main" x="62484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9a3210c37a45e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66BCE-5A8D-4737-B1B4-4C353E9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L³　L を2倍にすると8倍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36286-EE9A-4689-AECE-FE5ADAF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1/E　E を2倍にすると1/2</a:t>
            </a:r>
          </a:p>
        </p:txBody>
      </p:sp>
    </p:spTree>
    <p:extLst>
      <p:ext uri="{BB962C8B-B14F-4D97-AF65-F5344CB8AC3E}">
        <p14:creationId xmlns:p14="http://schemas.microsoft.com/office/powerpoint/2010/main" val="1280901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3012</Words>
  <Application>Microsoft Office PowerPoint</Application>
  <DocSecurity>0</DocSecurity>
  <PresentationFormat>ワイド画面</PresentationFormat>
  <Paragraphs>402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28</vt:i4>
      </vt:variant>
    </vt:vector>
  </HeadingPairs>
  <TitlesOfParts>
    <vt:vector size="32" baseType="lpstr">
      <vt:lpstr>Yu Gothic</vt:lpstr>
      <vt:lpstr>Aptos</vt:lpstr>
      <vt:lpstr>ChatGPT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米延 仁志</cp:lastModifiedBy>
  <cp:revision>4</cp:revision>
  <dcterms:created xsi:type="dcterms:W3CDTF">2026-10-22T06:56:33Z</dcterms:created>
  <dcterms:modified xsi:type="dcterms:W3CDTF">2026-10-23T22:18:25Z</dcterms:modified>
</cp:coreProperties>
</file>