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v6_slide1.xml" ContentType="application/vnd.openxmlformats-officedocument.presentationml.slide+xml"/>
  <Override PartName="/ppt/slideLayouts/v6_slideLayout6.xml" ContentType="application/vnd.openxmlformats-officedocument.presentationml.slideLayout+xml"/>
  <Override PartName="/ppt/slideMasters/v6_slideMaster1.xml" ContentType="application/vnd.openxmlformats-officedocument.presentationml.slideMaster+xml"/>
  <Override PartName="/ppt/slideMasters/theme/v6_theme2.xml" ContentType="application/vnd.openxmlformats-officedocument.theme+xml"/>
  <Override PartName="/ppt/slideLayouts/v6_slideLayout1.xml" ContentType="application/vnd.openxmlformats-officedocument.presentationml.slideLayout+xml"/>
  <Override PartName="/ppt/slideLayouts/v6_slideLayout2.xml" ContentType="application/vnd.openxmlformats-officedocument.presentationml.slideLayout+xml"/>
  <Override PartName="/ppt/slideLayouts/v6_slideLayout3.xml" ContentType="application/vnd.openxmlformats-officedocument.presentationml.slideLayout+xml"/>
  <Override PartName="/ppt/slideLayouts/v6_slideLayout4.xml" ContentType="application/vnd.openxmlformats-officedocument.presentationml.slideLayout+xml"/>
  <Override PartName="/ppt/slideLayouts/v6_slideLayout5.xml" ContentType="application/vnd.openxmlformats-officedocument.presentationml.slideLayout+xml"/>
  <Override PartName="/ppt/slides/charts/v6_chart1.xml" ContentType="application/vnd.openxmlformats-officedocument.drawingml.chart+xml"/>
  <Override PartName="/ppt/notesSlides/v6_notesSlide1.xml" ContentType="application/vnd.openxmlformats-officedocument.presentationml.notesSlide+xml"/>
  <Override PartName="/ppt/slides/v6_slide2.xml" ContentType="application/vnd.openxmlformats-officedocument.presentationml.slide+xml"/>
  <Override PartName="/ppt/slides/charts/v6_chart2.xml" ContentType="application/vnd.openxmlformats-officedocument.drawingml.chart+xml"/>
  <Override PartName="/ppt/notesSlides/v6_notesSlide2.xml" ContentType="application/vnd.openxmlformats-officedocument.presentationml.notesSlide+xml"/>
  <Override PartName="/ppt/slides/v6_slide3.xml" ContentType="application/vnd.openxmlformats-officedocument.presentationml.slide+xml"/>
  <Override PartName="/ppt/notesSlides/v6_notesSlide3.xml" ContentType="application/vnd.openxmlformats-officedocument.presentationml.notesSlide+xml"/>
  <Override PartName="/ppt/slides/v6_slide4.xml" ContentType="application/vnd.openxmlformats-officedocument.presentationml.slide+xml"/>
  <Override PartName="/ppt/slides/charts/v6_chart3.xml" ContentType="application/vnd.openxmlformats-officedocument.drawingml.chart+xml"/>
  <Override PartName="/ppt/notesSlides/v6_notesSlide4.xml" ContentType="application/vnd.openxmlformats-officedocument.presentationml.notesSlide+xml"/>
  <Override PartName="/ppt/slides/v6_slide5.xml" ContentType="application/vnd.openxmlformats-officedocument.presentationml.slide+xml"/>
  <Override PartName="/ppt/slides/charts/v6_chart4.xml" ContentType="application/vnd.openxmlformats-officedocument.drawingml.chart+xml"/>
  <Override PartName="/ppt/slides/charts/v6_chart5.xml" ContentType="application/vnd.openxmlformats-officedocument.drawingml.chart+xml"/>
  <Override PartName="/ppt/notesSlides/v6_notesSlide5.xml" ContentType="application/vnd.openxmlformats-officedocument.presentationml.notesSlide+xml"/>
  <Override PartName="/ppt/embeddings/v6_chart1.xlsx" ContentType="application/vnd.openxmlformats-officedocument.spreadsheetml.sheet"/>
  <Override PartName="/ppt/embeddings/v6_chart2.xlsx" ContentType="application/vnd.openxmlformats-officedocument.spreadsheetml.sheet"/>
  <Override PartName="/ppt/embeddings/v6_chart3.xlsx" ContentType="application/vnd.openxmlformats-officedocument.spreadsheetml.sheet"/>
  <Override PartName="/ppt/embeddings/v6_chart4.xlsx" ContentType="application/vnd.openxmlformats-officedocument.spreadsheetml.sheet"/>
  <Override PartName="/ppt/embeddings/v6_chart5.xlsx" ContentType="application/vnd.openxmlformats-officedocument.spreadsheetml.sheet"/>
  <Override PartName="/ppt/slides/pilot_slide1.xml" ContentType="application/vnd.openxmlformats-officedocument.presentationml.slide+xml"/>
  <Override PartName="/ppt/slideLayouts/pilot_slideLayout6.xml" ContentType="application/vnd.openxmlformats-officedocument.presentationml.slideLayout+xml"/>
  <Override PartName="/ppt/slideMasters/pilot_slideMaster1.xml" ContentType="application/vnd.openxmlformats-officedocument.presentationml.slideMaster+xml"/>
  <Override PartName="/ppt/slideMasters/theme/pilot_theme2.xml" ContentType="application/vnd.openxmlformats-officedocument.theme+xml"/>
  <Override PartName="/ppt/slideLayouts/pilot_slideLayout1.xml" ContentType="application/vnd.openxmlformats-officedocument.presentationml.slideLayout+xml"/>
  <Override PartName="/ppt/slideLayouts/pilot_slideLayout2.xml" ContentType="application/vnd.openxmlformats-officedocument.presentationml.slideLayout+xml"/>
  <Override PartName="/ppt/slideLayouts/pilot_slideLayout3.xml" ContentType="application/vnd.openxmlformats-officedocument.presentationml.slideLayout+xml"/>
  <Override PartName="/ppt/slideLayouts/pilot_slideLayout4.xml" ContentType="application/vnd.openxmlformats-officedocument.presentationml.slideLayout+xml"/>
  <Override PartName="/ppt/slideLayouts/pilot_slideLayout5.xml" ContentType="application/vnd.openxmlformats-officedocument.presentationml.slideLayout+xml"/>
  <Override PartName="/ppt/notesSlides/pilot_notesSlide1.xml" ContentType="application/vnd.openxmlformats-officedocument.presentationml.notesSlide+xml"/>
  <Override PartName="/ppt/slides/pilot_slide2.xml" ContentType="application/vnd.openxmlformats-officedocument.presentationml.slide+xml"/>
  <Override PartName="/ppt/notesSlides/pilot_notesSlide2.xml" ContentType="application/vnd.openxmlformats-officedocument.presentationml.notesSlide+xml"/>
  <Override PartName="/ppt/slides/pilot_slide3.xml" ContentType="application/vnd.openxmlformats-officedocument.presentationml.slide+xml"/>
  <Override PartName="/ppt/notesSlides/pilot_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62" r:id="rIdV6Master0"/>
    <p:sldMasterId id="2147483669" r:id="rIdPilotMaster0"/>
  </p:sldMasterIdLst>
  <p:notesMasterIdLst>
    <p:notesMasterId r:id="rId31"/>
  </p:notesMasterIdLst>
  <p:sldIdLst>
    <p:sldId id="901" r:id="rIdPilotSlide1"/>
    <p:sldId id="902" r:id="rIdPilotSlide2"/>
    <p:sldId id="903" r:id="rIdPilotSlide3"/>
    <p:sldId id="904" r:id="rIdPilotSlide4"/>
    <p:sldId id="905" r:id="rIdPilotSlide5"/>
    <p:sldId id="906" r:id="rIdPilotSlide6"/>
    <p:sldId id="907" r:id="rIdPilotSlide7"/>
    <p:sldId id="908" r:id="rIdPilotSlide8"/>
    <p:sldId id="909" r:id="rIdPilotSlide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34" Type="http://schemas.openxmlformats.org/officeDocument/2006/relationships/theme" Target="theme/theme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32" Type="http://schemas.openxmlformats.org/officeDocument/2006/relationships/presProps" Target="presProps.xml"/><Relationship Id="rId31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V6Master0" Type="http://schemas.openxmlformats.org/officeDocument/2006/relationships/slideMaster" Target="slideMasters/v6_slideMaster1.xml"/><Relationship Id="rIdPilotSlide1" Type="http://schemas.openxmlformats.org/officeDocument/2006/relationships/slide" Target="slides/pilot_slide1.xml"/><Relationship Id="rIdPilotSlide2" Type="http://schemas.openxmlformats.org/officeDocument/2006/relationships/slide" Target="slides/v6_slide1.xml"/><Relationship Id="rIdPilotSlide3" Type="http://schemas.openxmlformats.org/officeDocument/2006/relationships/slide" Target="slides/v6_slide2.xml"/><Relationship Id="rIdPilotSlide4" Type="http://schemas.openxmlformats.org/officeDocument/2006/relationships/slide" Target="slides/slide20.xml"/><Relationship Id="rIdPilotSlide5" Type="http://schemas.openxmlformats.org/officeDocument/2006/relationships/slide" Target="slides/pilot_slide2.xml"/><Relationship Id="rIdPilotSlide6" Type="http://schemas.openxmlformats.org/officeDocument/2006/relationships/slide" Target="slides/v6_slide3.xml"/><Relationship Id="rIdPilotSlide7" Type="http://schemas.openxmlformats.org/officeDocument/2006/relationships/slide" Target="slides/v6_slide4.xml"/><Relationship Id="rIdPilotSlide8" Type="http://schemas.openxmlformats.org/officeDocument/2006/relationships/slide" Target="slides/v6_slide5.xml"/><Relationship Id="rIdPilotSlide9" Type="http://schemas.openxmlformats.org/officeDocument/2006/relationships/slide" Target="slides/pilot_slide3.xml"/><Relationship Id="rIdPilotMaster0" Type="http://schemas.openxmlformats.org/officeDocument/2006/relationships/slideMaster" Target="slideMasters/pilot_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pilot_notesSlide1.xml.rels><?xml version='1.0' encoding='UTF-8' standalone='yes'?>
<Relationships xmlns="http://schemas.openxmlformats.org/package/2006/relationships"><Relationship Type="http://schemas.openxmlformats.org/officeDocument/2006/relationships/slide" Target="../slides/pilot_slide1.xml" Id="R93dd974a61e74cd1"/><Relationship Type="http://schemas.openxmlformats.org/officeDocument/2006/relationships/notesMaster" Target="../notesMasters/notesMaster1.xml" Id="R37e1a3f47cb94ec1"/></Relationships>
</file>

<file path=ppt/notesSlides/_rels/pilot_notesSlide2.xml.rels><?xml version='1.0' encoding='UTF-8' standalone='yes'?>
<Relationships xmlns="http://schemas.openxmlformats.org/package/2006/relationships"><Relationship Type="http://schemas.openxmlformats.org/officeDocument/2006/relationships/slide" Target="../slides/pilot_slide2.xml" Id="R574b205fa9384482"/><Relationship Type="http://schemas.openxmlformats.org/officeDocument/2006/relationships/notesMaster" Target="../notesMasters/notesMaster1.xml" Id="Rd63c3e60508f428e"/></Relationships>
</file>

<file path=ppt/notesSlides/_rels/pilot_notesSlide3.xml.rels><?xml version='1.0' encoding='UTF-8' standalone='yes'?>
<Relationships xmlns="http://schemas.openxmlformats.org/package/2006/relationships"><Relationship Type="http://schemas.openxmlformats.org/officeDocument/2006/relationships/slide" Target="../slides/pilot_slide3.xml" Id="Rb8e36c233db54c62"/><Relationship Type="http://schemas.openxmlformats.org/officeDocument/2006/relationships/notesMaster" Target="../notesMasters/notesMaster1.xml" Id="Rb25b45ac9d42496f"/></Relationships>
</file>

<file path=ppt/notesSlides/_rels/v6_notesSlide1.xml.rels><?xml version='1.0' encoding='UTF-8' standalone='yes'?>
<Relationships xmlns="http://schemas.openxmlformats.org/package/2006/relationships"><Relationship Type="http://schemas.openxmlformats.org/officeDocument/2006/relationships/slide" Target="../slides/v6_slide1.xml" Id="R3c1a28bda1b042a5"/><Relationship Type="http://schemas.openxmlformats.org/officeDocument/2006/relationships/notesMaster" Target="../notesMasters/notesMaster1.xml" Id="R8b82643b308a4ff2"/></Relationships>
</file>

<file path=ppt/notesSlides/_rels/v6_notesSlide2.xml.rels><?xml version='1.0' encoding='UTF-8' standalone='yes'?>
<Relationships xmlns="http://schemas.openxmlformats.org/package/2006/relationships"><Relationship Type="http://schemas.openxmlformats.org/officeDocument/2006/relationships/slide" Target="../slides/v6_slide2.xml" Id="R63d3e818bbbc46a4"/><Relationship Type="http://schemas.openxmlformats.org/officeDocument/2006/relationships/notesMaster" Target="../notesMasters/notesMaster1.xml" Id="Raf3761cb412243c4"/></Relationships>
</file>

<file path=ppt/notesSlides/_rels/v6_notesSlide3.xml.rels><?xml version='1.0' encoding='UTF-8' standalone='yes'?>
<Relationships xmlns="http://schemas.openxmlformats.org/package/2006/relationships"><Relationship Type="http://schemas.openxmlformats.org/officeDocument/2006/relationships/slide" Target="../slides/v6_slide3.xml" Id="Rc13df032cf9c4fdd"/><Relationship Type="http://schemas.openxmlformats.org/officeDocument/2006/relationships/notesMaster" Target="../notesMasters/notesMaster1.xml" Id="Rdd7e183fb0e045d0"/></Relationships>
</file>

<file path=ppt/notesSlides/_rels/v6_notesSlide4.xml.rels><?xml version='1.0' encoding='UTF-8' standalone='yes'?>
<Relationships xmlns="http://schemas.openxmlformats.org/package/2006/relationships"><Relationship Type="http://schemas.openxmlformats.org/officeDocument/2006/relationships/slide" Target="../slides/v6_slide4.xml" Id="R6f1e8f81ef954783"/><Relationship Type="http://schemas.openxmlformats.org/officeDocument/2006/relationships/notesMaster" Target="../notesMasters/notesMaster1.xml" Id="Redc1255ef8174aca"/></Relationships>
</file>

<file path=ppt/notesSlides/_rels/v6_notesSlide5.xml.rels><?xml version='1.0' encoding='UTF-8' standalone='yes'?>
<Relationships xmlns="http://schemas.openxmlformats.org/package/2006/relationships"><Relationship Type="http://schemas.openxmlformats.org/officeDocument/2006/relationships/slide" Target="../slides/v6_slide5.xml" Id="R4c911710ebf34aa9"/><Relationship Type="http://schemas.openxmlformats.org/officeDocument/2006/relationships/notesMaster" Target="../notesMasters/notesMaster1.xml" Id="R3e7fa75c0d4e43a9"/></Relationship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W01-P04｜第1回 v6 22枚目に対応。数式とグラフは同一の弾性モデル。参照：Wood Handbook 2021 第9章 https://research.fs.usda.gov/treesearch/62251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pilot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W01-P01｜第1回 v6 試作追加枚目に対応。数式とグラフは同一の弾性モデル。参照：Wood Handbook 2021 第9章 https://research.fs.usda.gov/treesearch/62251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pilot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W01-P05｜第1回 v6 試作追加枚目に対応。数式とグラフは同一の弾性モデル。参照：Wood Handbook 2021 第9章 https://research.fs.usda.gov/treesearch/62251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pilot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W01-P09｜第1回 v6 試作追加枚目に対応。数式とグラフは同一の弾性モデル。参照：Wood Handbook 2021 第9章 https://research.fs.usda.gov/treesearch/62251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W01-P02｜第1回 v6 20枚目に対応。数式とグラフは同一の弾性モデル。参照：Wood Handbook 2021 第9章 https://research.fs.usda.gov/treesearch/62251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W01-P03｜第1回 v6 21枚目に対応。数式とグラフは同一の弾性モデル。参照：Wood Handbook 2021 第9章 https://research.fs.usda.gov/treesearch/62251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W01-P06｜第1回 v6 23枚目に対応。数式とグラフは同一の弾性モデル。参照：Wood Handbook 2021 第9章 https://research.fs.usda.gov/treesearch/62251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W01-P07｜第1回 v6 24枚目に対応。数式とグラフは同一の弾性モデル。参照：Wood Handbook 2021 第9章 https://research.fs.usda.gov/treesearch/62251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6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W01-P08｜第1回 v6 25枚目に対応。数式とグラフは同一の弾性モデル。参照：Wood Handbook 2021 第9章 https://research.fs.usda.gov/treesearch/62251</ns0:t>
            </ns0:r>
          </ns0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pilot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pilot_slideMaster1.xml" Id="R3b44b2ca60c24641"/></Relationships>
</file>

<file path=ppt/slideLayouts/_rels/pilot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pilot_slideMaster1.xml" Id="R4e7573aead2a4ed3"/></Relationships>
</file>

<file path=ppt/slideLayouts/_rels/pilot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pilot_slideMaster1.xml" Id="R0bd2c94db67d4ccc"/></Relationships>
</file>

<file path=ppt/slideLayouts/_rels/pilot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pilot_slideMaster1.xml" Id="Rdef3fad8493945a2"/></Relationships>
</file>

<file path=ppt/slideLayouts/_rels/pilot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pilot_slideMaster1.xml" Id="Rc9486466de204a41"/></Relationships>
</file>

<file path=ppt/slideLayouts/_rels/pilot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pilot_slideMaster1.xml" Id="R458473efa7a14b10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v6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bdd40e98fd704454"/></Relationships>
</file>

<file path=ppt/slideLayouts/_rels/v6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d7376b1ebaa84a0a"/></Relationships>
</file>

<file path=ppt/slideLayouts/_rels/v6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872838b53dc453c"/></Relationships>
</file>

<file path=ppt/slideLayouts/_rels/v6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1c2c6c72487d4da5"/></Relationships>
</file>

<file path=ppt/slideLayouts/_rels/v6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64001dac24b24c82"/></Relationships>
</file>

<file path=ppt/slideLayouts/_rels/v6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6_slideMaster1.xml" Id="R72c7e21bf37f4442"/></Relationships>
</file>

<file path=ppt/slideLayouts/pilot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D8573F-C77A-46B7-9D71-DDD876AB4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632C553-6DF8-483C-9327-4CB808B1785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pilot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D3007CE-9B7A-4435-85FF-E8CC545ED3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pilot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C6668B-22C3-4AF8-BB0C-5FD25E7809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B738FC3-C463-48EC-AEA0-8642504002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pilot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8F94CA-0B1F-4C20-A426-3E54903ADB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637F54-D4B8-45EE-8765-0FE9C9C6B9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0AE8A4E-7206-40B9-AF08-93C86CC6BE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pilot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AA6A73-38AB-4BEB-A2E7-1DDFAEA5AB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29E81B-2F31-41D3-B773-8291173B25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pilot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79885E-84AD-4327-8A4F-B0C65074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9AE28F0-FF06-4683-906C-C3D214AA5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902BCAD-F763-461A-B5BA-494FBAC82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89B964C-EAC3-44D3-B19B-523817347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94C6A02-4DC0-4D46-9AB2-95E4AC9F2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A5E2505-2511-446D-B2B4-C8778DC04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0E4D6DE-FC38-4DB8-ABFA-88C65A409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EE4D5F1F-1000-4968-9B87-40A24F1AF5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70C9317-54FD-4D0D-9B42-189D9F0A2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02A4194-956D-448E-B845-CC43EBB4D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v6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2ECAF6-AFB3-44BA-A6E2-FFDF1F7E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6E04143-5FE6-4C02-94D3-C4D4715CAF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EAE70-3078-4577-9941-D8132BBF36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BE8F06-1DB2-4DD1-ABA5-FE5919FC0E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3750050-B434-4AA4-9228-718FAC83A1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71DE0E-6C52-4E48-92E0-1B05894D7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82E626-1AEC-42F9-BDC7-A6BD823443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950E72C-19F3-40E3-932A-604FCCF85E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2A710F-F1F5-4B49-8146-218F557547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5D7369-AC6D-49C7-92A8-B076ACD9C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6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pilot_slideMaster1.xml.rels><?xml version='1.0' encoding='UTF-8' standalone='yes'?>
<Relationships xmlns="http://schemas.openxmlformats.org/package/2006/relationships"><Relationship Type="http://schemas.openxmlformats.org/officeDocument/2006/relationships/theme" Target="theme/pilot_theme2.xml" Id="R49ad716f244c4f2f"/><Relationship Type="http://schemas.openxmlformats.org/officeDocument/2006/relationships/slideLayout" Target="../slideLayouts/pilot_slideLayout1.xml" Id="R2099ce2e15c040a2"/><Relationship Type="http://schemas.openxmlformats.org/officeDocument/2006/relationships/slideLayout" Target="../slideLayouts/pilot_slideLayout2.xml" Id="Rec8004ec594f4629"/><Relationship Type="http://schemas.openxmlformats.org/officeDocument/2006/relationships/slideLayout" Target="../slideLayouts/pilot_slideLayout3.xml" Id="Rd6af96f5c6be4803"/><Relationship Type="http://schemas.openxmlformats.org/officeDocument/2006/relationships/slideLayout" Target="../slideLayouts/pilot_slideLayout4.xml" Id="Rabc40a9778cc4e54"/><Relationship Type="http://schemas.openxmlformats.org/officeDocument/2006/relationships/slideLayout" Target="../slideLayouts/pilot_slideLayout5.xml" Id="R28938d1987e24c15"/><Relationship Type="http://schemas.openxmlformats.org/officeDocument/2006/relationships/slideLayout" Target="../slideLayouts/pilot_slideLayout6.xml" Id="R8eb9809c284f4e75"/></Relationships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v6_slideMaster1.xml.rels><?xml version='1.0' encoding='UTF-8' standalone='yes'?>
<Relationships xmlns="http://schemas.openxmlformats.org/package/2006/relationships"><Relationship Type="http://schemas.openxmlformats.org/officeDocument/2006/relationships/theme" Target="theme/v6_theme2.xml" Id="Rc9a3af294cd04053"/><Relationship Type="http://schemas.openxmlformats.org/officeDocument/2006/relationships/slideLayout" Target="../slideLayouts/v6_slideLayout1.xml" Id="Rf3757162ca264c0b"/><Relationship Type="http://schemas.openxmlformats.org/officeDocument/2006/relationships/slideLayout" Target="../slideLayouts/v6_slideLayout2.xml" Id="R80c0da7a5cef4cda"/><Relationship Type="http://schemas.openxmlformats.org/officeDocument/2006/relationships/slideLayout" Target="../slideLayouts/v6_slideLayout3.xml" Id="Red55a1a1d61945c4"/><Relationship Type="http://schemas.openxmlformats.org/officeDocument/2006/relationships/slideLayout" Target="../slideLayouts/v6_slideLayout4.xml" Id="R09755fc431844084"/><Relationship Type="http://schemas.openxmlformats.org/officeDocument/2006/relationships/slideLayout" Target="../slideLayouts/v6_slideLayout5.xml" Id="R1c87df2135994226"/><Relationship Type="http://schemas.openxmlformats.org/officeDocument/2006/relationships/slideLayout" Target="../slideLayouts/v6_slideLayout6.xml" Id="Rca7c19652fc548a2"/></Relationships>
</file>

<file path=ppt/slideMasters/pilot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2099ce2e15c040a2"/>
    <p:sldLayoutId xmlns:r="http://schemas.openxmlformats.org/officeDocument/2006/relationships" id="2147483671" r:id="Rec8004ec594f4629"/>
    <p:sldLayoutId xmlns:r="http://schemas.openxmlformats.org/officeDocument/2006/relationships" id="2147483672" r:id="Rd6af96f5c6be4803"/>
    <p:sldLayoutId xmlns:r="http://schemas.openxmlformats.org/officeDocument/2006/relationships" id="2147483673" r:id="Rabc40a9778cc4e54"/>
    <p:sldLayoutId xmlns:r="http://schemas.openxmlformats.org/officeDocument/2006/relationships" id="2147483674" r:id="R28938d1987e24c15"/>
    <p:sldLayoutId xmlns:r="http://schemas.openxmlformats.org/officeDocument/2006/relationships" id="2147483675" r:id="R8eb9809c284f4e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pilot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6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6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f3757162ca264c0b"/>
    <p:sldLayoutId xmlns:r="http://schemas.openxmlformats.org/officeDocument/2006/relationships" id="2147483664" r:id="R80c0da7a5cef4cda"/>
    <p:sldLayoutId xmlns:r="http://schemas.openxmlformats.org/officeDocument/2006/relationships" id="2147483665" r:id="Red55a1a1d61945c4"/>
    <p:sldLayoutId xmlns:r="http://schemas.openxmlformats.org/officeDocument/2006/relationships" id="2147483666" r:id="R09755fc431844084"/>
    <p:sldLayoutId xmlns:r="http://schemas.openxmlformats.org/officeDocument/2006/relationships" id="2147483667" r:id="R1c87df2135994226"/>
    <p:sldLayoutId xmlns:r="http://schemas.openxmlformats.org/officeDocument/2006/relationships" id="2147483668" r:id="Rca7c19652fc548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pilot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pilot_slideLayout6.xml" Id="Rb63a60b16af74817"/><Relationship Type="http://schemas.openxmlformats.org/officeDocument/2006/relationships/notesSlide" Target="../notesSlides/pilot_notesSlide1.xml" Id="R316bf6f464d14ba9"/></Relationships>
</file>

<file path=ppt/slides/_rels/pilot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pilot_slideLayout6.xml" Id="R44af85b443e9446c"/><Relationship Type="http://schemas.openxmlformats.org/officeDocument/2006/relationships/notesSlide" Target="../notesSlides/pilot_notesSlide2.xml" Id="R15736e235721420c"/></Relationships>
</file>

<file path=ppt/slides/_rels/pilot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pilot_slideLayout6.xml" Id="Rdee3ab640f4248c6"/><Relationship Type="http://schemas.openxmlformats.org/officeDocument/2006/relationships/notesSlide" Target="../notesSlides/pilot_notesSlide3.xml" Id="Rafa18b1f5ef943b7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v6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6571022eb480401c"/><Relationship Type="http://schemas.openxmlformats.org/officeDocument/2006/relationships/chart" Target="charts/v6_chart1.xml" Id="R5ff06459f67842d7"/><Relationship Type="http://schemas.openxmlformats.org/officeDocument/2006/relationships/notesSlide" Target="../notesSlides/v6_notesSlide1.xml" Id="R31d0e3ab6a684fe2"/></Relationships>
</file>

<file path=ppt/slides/_rels/v6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acce1db4e1954b7c"/><Relationship Type="http://schemas.openxmlformats.org/officeDocument/2006/relationships/chart" Target="charts/v6_chart2.xml" Id="R41e9032a9af0431e"/><Relationship Type="http://schemas.openxmlformats.org/officeDocument/2006/relationships/notesSlide" Target="../notesSlides/v6_notesSlide2.xml" Id="R2ddecef06bc2460d"/></Relationships>
</file>

<file path=ppt/slides/_rels/v6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e67294ef1aad4266"/><Relationship Type="http://schemas.openxmlformats.org/officeDocument/2006/relationships/notesSlide" Target="../notesSlides/v6_notesSlide3.xml" Id="R06df0fab37974dc8"/></Relationships>
</file>

<file path=ppt/slides/_rels/v6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9ddf3cca74804ee5"/><Relationship Type="http://schemas.openxmlformats.org/officeDocument/2006/relationships/chart" Target="charts/v6_chart3.xml" Id="Rce123c95830f4eb3"/><Relationship Type="http://schemas.openxmlformats.org/officeDocument/2006/relationships/notesSlide" Target="../notesSlides/v6_notesSlide4.xml" Id="R5a0381bb346b4333"/></Relationships>
</file>

<file path=ppt/slides/_rels/v6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6_slideLayout6.xml" Id="Ra2ef9e9f8ca847dc"/><Relationship Type="http://schemas.openxmlformats.org/officeDocument/2006/relationships/chart" Target="charts/v6_chart4.xml" Id="R467237ca3f5c4e90"/><Relationship Type="http://schemas.openxmlformats.org/officeDocument/2006/relationships/chart" Target="charts/v6_chart5.xml" Id="R5d9a3210c37a45e6"/><Relationship Type="http://schemas.openxmlformats.org/officeDocument/2006/relationships/notesSlide" Target="../notesSlides/v6_notesSlide5.xml" Id="R4e1c2a1de8094df4"/></Relationships>
</file>

<file path=ppt/slides/charts/_rels/v6_chart1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1.xlsx"/></ns0:Relationships>
</file>

<file path=ppt/slides/charts/_rels/v6_chart2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2.xlsx"/></ns0:Relationships>
</file>

<file path=ppt/slides/charts/_rels/v6_chart3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3.xlsx"/></ns0:Relationships>
</file>

<file path=ppt/slides/charts/_rels/v6_chart4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4.xlsx"/></ns0:Relationships>
</file>

<file path=ppt/slides/charts/_rels/v6_chart5.xml.rels><?xml version='1.0' encoding='UTF-8' standalone='yes'?>
<ns0:Relationships xmlns:ns0="http://schemas.openxmlformats.org/package/2006/relationships"><ns0:Relationship Id="rIdWorkbook" Type="http://schemas.openxmlformats.org/officeDocument/2006/relationships/package" Target="../../embeddings/v6_chart5.xlsx"/></ns0:Relationships>
</file>

<file path=ppt/slides/charts/v6_chart1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k = 10 N/mm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Model!$B$2:$B$6</c:f>
              <c:numCache>
                <c:formatCode>0.###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</c:numCache>
            </c:numRef>
          </c:yVal>
          <c:smooth val="0"/>
        </c:ser>
        <c:ser>
          <c:idx val="1"/>
          <c:order val="1"/>
          <c:tx>
            <c:v>k = 20 N/mm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xVal>
          <c:yVal>
            <c:numRef>
              <c:f>Model!$D$2:$D$6</c:f>
              <c:numCache>
                <c:formatCode>0.###</c:formatCode>
                <c:ptCount val="5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力 F /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4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伸び x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2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E = 5,000 MPa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Model!$A$2:$A$6</c:f>
              <c:numCache>
                <c:formatCode>General</c:formatCode>
                <c:ptCount val="5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</c:numCache>
            </c:numRef>
          </c:xVal>
          <c:yVal>
            <c:numRef>
              <c:f>Model!$B$2:$B$6</c:f>
              <c:numCache>
                <c:formatCode>0.###</c:formatCode>
                <c:ptCount val="5"/>
                <c:pt idx="0">
                  <c:v>0</c:v>
                </c:pt>
                <c:pt idx="1">
                  <c:v>2.5</c:v>
                </c:pt>
                <c:pt idx="2">
                  <c:v>5</c:v>
                </c:pt>
                <c:pt idx="3">
                  <c:v>7.5</c:v>
                </c:pt>
                <c:pt idx="4">
                  <c:v>10</c:v>
                </c:pt>
              </c:numCache>
            </c:numRef>
          </c:yVal>
          <c:smooth val="0"/>
        </c:ser>
        <c:ser>
          <c:idx val="1"/>
          <c:order val="1"/>
          <c:tx>
            <c:v>E = 10,000 MPa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Model!$C$2:$C$6</c:f>
              <c:numCache>
                <c:formatCode>General</c:formatCode>
                <c:ptCount val="5"/>
                <c:pt idx="0">
                  <c:v>0</c:v>
                </c:pt>
                <c:pt idx="1">
                  <c:v>0.0005</c:v>
                </c:pt>
                <c:pt idx="2">
                  <c:v>0.001</c:v>
                </c:pt>
                <c:pt idx="3">
                  <c:v>0.0015</c:v>
                </c:pt>
                <c:pt idx="4">
                  <c:v>0.002</c:v>
                </c:pt>
              </c:numCache>
            </c:numRef>
          </c:xVal>
          <c:yVal>
            <c:numRef>
              <c:f>Model!$D$2:$D$6</c:f>
              <c:numCache>
                <c:formatCode>0.###</c:formatCode>
                <c:ptCount val="5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応力 σ / MPa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0.00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ひずみ ε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0.00%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0.000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3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幅40 × 高さ10 mm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numCache>
            </c:numRef>
          </c:xVal>
          <c:yVal>
            <c:numRef>
              <c:f>Model!$B$2:$B$10</c:f>
              <c:numCache>
                <c:formatCode>0.###</c:formatCode>
                <c:ptCount val="9"/>
                <c:pt idx="0">
                  <c:v>0</c:v>
                </c:pt>
                <c:pt idx="1">
                  <c:v>0.675</c:v>
                </c:pt>
                <c:pt idx="2">
                  <c:v>1.35</c:v>
                </c:pt>
                <c:pt idx="3">
                  <c:v>2.025</c:v>
                </c:pt>
                <c:pt idx="4">
                  <c:v>2.7</c:v>
                </c:pt>
                <c:pt idx="5">
                  <c:v>3.375</c:v>
                </c:pt>
                <c:pt idx="6">
                  <c:v>4.05</c:v>
                </c:pt>
                <c:pt idx="7">
                  <c:v>4.725</c:v>
                </c:pt>
                <c:pt idx="8">
                  <c:v>5.4</c:v>
                </c:pt>
              </c:numCache>
            </c:numRef>
          </c:yVal>
          <c:smooth val="0"/>
        </c:ser>
        <c:ser>
          <c:idx val="1"/>
          <c:order val="1"/>
          <c:tx>
            <c:v>幅20 × 高さ20 mm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Model!$C$2:$C$10</c:f>
              <c:numCache>
                <c:formatCode>General</c:formatCod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numCache>
            </c:numRef>
          </c:xVal>
          <c:yVal>
            <c:numRef>
              <c:f>Model!$D$2:$D$10</c:f>
              <c:numCache>
                <c:formatCode>0.###</c:formatCode>
                <c:ptCount val="9"/>
                <c:pt idx="0">
                  <c:v>0</c:v>
                </c:pt>
                <c:pt idx="1">
                  <c:v>0.16875</c:v>
                </c:pt>
                <c:pt idx="2">
                  <c:v>0.3375</c:v>
                </c:pt>
                <c:pt idx="3">
                  <c:v>0.50625</c:v>
                </c:pt>
                <c:pt idx="4">
                  <c:v>0.675</c:v>
                </c:pt>
                <c:pt idx="5">
                  <c:v>0.84375</c:v>
                </c:pt>
                <c:pt idx="6">
                  <c:v>1.0125</c:v>
                </c:pt>
                <c:pt idx="7">
                  <c:v>1.18125</c:v>
                </c:pt>
                <c:pt idx="8">
                  <c:v>1.35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力 F /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Yu Gothic"/>
              <a:ea typeface="Yu Gothic"/>
              <a:cs typeface="Yu Gothi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4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δ = FL³/(48EI)</c:v>
          </c:tx>
          <c:spPr>
            <a:ln xmlns:a="http://schemas.openxmlformats.org/drawingml/2006/main" w="30480">
              <a:solidFill>
                <a:srgbClr val="245C98"/>
              </a:solidFill>
            </a:ln>
          </c:spPr>
          <c:marker>
            <c:symbol val="none"/>
          </c:marker>
          <c:xVal>
            <c:numRef>
              <c:f>Model!$A$2:$A$32</c:f>
              <c:numCache>
                <c:formatCode>General</c:formatCode>
                <c:ptCount val="31"/>
                <c:pt idx="0">
                  <c:v>300</c:v>
                </c:pt>
                <c:pt idx="1">
                  <c:v>320</c:v>
                </c:pt>
                <c:pt idx="2">
                  <c:v>340</c:v>
                </c:pt>
                <c:pt idx="3">
                  <c:v>360</c:v>
                </c:pt>
                <c:pt idx="4">
                  <c:v>380</c:v>
                </c:pt>
                <c:pt idx="5">
                  <c:v>400</c:v>
                </c:pt>
                <c:pt idx="6">
                  <c:v>420</c:v>
                </c:pt>
                <c:pt idx="7">
                  <c:v>440</c:v>
                </c:pt>
                <c:pt idx="8">
                  <c:v>460</c:v>
                </c:pt>
                <c:pt idx="9">
                  <c:v>480</c:v>
                </c:pt>
                <c:pt idx="10">
                  <c:v>500</c:v>
                </c:pt>
                <c:pt idx="11">
                  <c:v>520</c:v>
                </c:pt>
                <c:pt idx="12">
                  <c:v>540</c:v>
                </c:pt>
                <c:pt idx="13">
                  <c:v>560</c:v>
                </c:pt>
                <c:pt idx="14">
                  <c:v>580</c:v>
                </c:pt>
                <c:pt idx="15">
                  <c:v>600</c:v>
                </c:pt>
                <c:pt idx="16">
                  <c:v>620</c:v>
                </c:pt>
                <c:pt idx="17">
                  <c:v>640</c:v>
                </c:pt>
                <c:pt idx="18">
                  <c:v>660</c:v>
                </c:pt>
                <c:pt idx="19">
                  <c:v>680</c:v>
                </c:pt>
                <c:pt idx="20">
                  <c:v>700</c:v>
                </c:pt>
                <c:pt idx="21">
                  <c:v>720</c:v>
                </c:pt>
                <c:pt idx="22">
                  <c:v>740</c:v>
                </c:pt>
                <c:pt idx="23">
                  <c:v>760</c:v>
                </c:pt>
                <c:pt idx="24">
                  <c:v>780</c:v>
                </c:pt>
                <c:pt idx="25">
                  <c:v>800</c:v>
                </c:pt>
                <c:pt idx="26">
                  <c:v>820</c:v>
                </c:pt>
                <c:pt idx="27">
                  <c:v>840</c:v>
                </c:pt>
                <c:pt idx="28">
                  <c:v>860</c:v>
                </c:pt>
                <c:pt idx="29">
                  <c:v>880</c:v>
                </c:pt>
                <c:pt idx="30">
                  <c:v>900</c:v>
                </c:pt>
              </c:numCache>
            </c:numRef>
          </c:xVal>
          <c:yVal>
            <c:numRef>
              <c:f>Model!$B$2:$B$32</c:f>
              <c:numCache>
                <c:formatCode>0.###</c:formatCode>
                <c:ptCount val="31"/>
                <c:pt idx="0">
                  <c:v>0.3375</c:v>
                </c:pt>
                <c:pt idx="1">
                  <c:v>0.4096</c:v>
                </c:pt>
                <c:pt idx="2">
                  <c:v>0.4913</c:v>
                </c:pt>
                <c:pt idx="3">
                  <c:v>0.5832000000000001</c:v>
                </c:pt>
                <c:pt idx="4">
                  <c:v>0.6859</c:v>
                </c:pt>
                <c:pt idx="5">
                  <c:v>0.8</c:v>
                </c:pt>
                <c:pt idx="6">
                  <c:v>0.9261</c:v>
                </c:pt>
                <c:pt idx="7">
                  <c:v>1.0648</c:v>
                </c:pt>
                <c:pt idx="8">
                  <c:v>1.2167</c:v>
                </c:pt>
                <c:pt idx="9">
                  <c:v>1.3824</c:v>
                </c:pt>
                <c:pt idx="10">
                  <c:v>1.5625</c:v>
                </c:pt>
                <c:pt idx="11">
                  <c:v>1.7576</c:v>
                </c:pt>
                <c:pt idx="12">
                  <c:v>1.9683</c:v>
                </c:pt>
                <c:pt idx="13">
                  <c:v>2.1952</c:v>
                </c:pt>
                <c:pt idx="14">
                  <c:v>2.4389</c:v>
                </c:pt>
                <c:pt idx="15">
                  <c:v>2.7</c:v>
                </c:pt>
                <c:pt idx="16">
                  <c:v>2.9791</c:v>
                </c:pt>
                <c:pt idx="17">
                  <c:v>3.2768</c:v>
                </c:pt>
                <c:pt idx="18">
                  <c:v>3.5937</c:v>
                </c:pt>
                <c:pt idx="19">
                  <c:v>3.9304</c:v>
                </c:pt>
                <c:pt idx="20">
                  <c:v>4.2875</c:v>
                </c:pt>
                <c:pt idx="21">
                  <c:v>4.6656</c:v>
                </c:pt>
                <c:pt idx="22">
                  <c:v>5.0653</c:v>
                </c:pt>
                <c:pt idx="23">
                  <c:v>5.4872</c:v>
                </c:pt>
                <c:pt idx="24">
                  <c:v>5.9319</c:v>
                </c:pt>
                <c:pt idx="25">
                  <c:v>6.4</c:v>
                </c:pt>
                <c:pt idx="26">
                  <c:v>6.8921</c:v>
                </c:pt>
                <c:pt idx="27">
                  <c:v>7.4088</c:v>
                </c:pt>
                <c:pt idx="28">
                  <c:v>7.9507</c:v>
                </c:pt>
                <c:pt idx="29">
                  <c:v>8.5184</c:v>
                </c:pt>
                <c:pt idx="30">
                  <c:v>9.112500000000001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900"/>
          <c:min val="3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支点間距離 L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3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charts/v6_chart5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δ = FL³/(48EI)</c:v>
          </c:tx>
          <c:spPr>
            <a:ln xmlns:a="http://schemas.openxmlformats.org/drawingml/2006/main" w="30480">
              <a:solidFill>
                <a:srgbClr val="087E8B"/>
              </a:solidFill>
            </a:ln>
          </c:spPr>
          <c:marker>
            <c:symbol val="none"/>
          </c:marker>
          <c:xVal>
            <c:numRef>
              <c:f>Model!$A$2:$A$32</c:f>
              <c:numCache>
                <c:formatCode>General</c:formatCode>
                <c:ptCount val="31"/>
                <c:pt idx="0">
                  <c:v>4000</c:v>
                </c:pt>
                <c:pt idx="1">
                  <c:v>4400</c:v>
                </c:pt>
                <c:pt idx="2">
                  <c:v>4800</c:v>
                </c:pt>
                <c:pt idx="3">
                  <c:v>5200</c:v>
                </c:pt>
                <c:pt idx="4">
                  <c:v>5600</c:v>
                </c:pt>
                <c:pt idx="5">
                  <c:v>6000</c:v>
                </c:pt>
                <c:pt idx="6">
                  <c:v>6400</c:v>
                </c:pt>
                <c:pt idx="7">
                  <c:v>6800</c:v>
                </c:pt>
                <c:pt idx="8">
                  <c:v>7200</c:v>
                </c:pt>
                <c:pt idx="9">
                  <c:v>7600</c:v>
                </c:pt>
                <c:pt idx="10">
                  <c:v>8000</c:v>
                </c:pt>
                <c:pt idx="11">
                  <c:v>8400</c:v>
                </c:pt>
                <c:pt idx="12">
                  <c:v>8800</c:v>
                </c:pt>
                <c:pt idx="13">
                  <c:v>9200</c:v>
                </c:pt>
                <c:pt idx="14">
                  <c:v>9600</c:v>
                </c:pt>
                <c:pt idx="15">
                  <c:v>10000</c:v>
                </c:pt>
                <c:pt idx="16">
                  <c:v>10400</c:v>
                </c:pt>
                <c:pt idx="17">
                  <c:v>10800</c:v>
                </c:pt>
                <c:pt idx="18">
                  <c:v>11200</c:v>
                </c:pt>
                <c:pt idx="19">
                  <c:v>11600</c:v>
                </c:pt>
                <c:pt idx="20">
                  <c:v>12000</c:v>
                </c:pt>
                <c:pt idx="21">
                  <c:v>12400</c:v>
                </c:pt>
                <c:pt idx="22">
                  <c:v>12800</c:v>
                </c:pt>
                <c:pt idx="23">
                  <c:v>13200</c:v>
                </c:pt>
                <c:pt idx="24">
                  <c:v>13600</c:v>
                </c:pt>
                <c:pt idx="25">
                  <c:v>14000</c:v>
                </c:pt>
                <c:pt idx="26">
                  <c:v>14400</c:v>
                </c:pt>
                <c:pt idx="27">
                  <c:v>14800</c:v>
                </c:pt>
                <c:pt idx="28">
                  <c:v>15200</c:v>
                </c:pt>
                <c:pt idx="29">
                  <c:v>15600</c:v>
                </c:pt>
                <c:pt idx="30">
                  <c:v>16000</c:v>
                </c:pt>
              </c:numCache>
            </c:numRef>
          </c:xVal>
          <c:yVal>
            <c:numRef>
              <c:f>Model!$B$2:$B$32</c:f>
              <c:numCache>
                <c:formatCode>0.###</c:formatCode>
                <c:ptCount val="31"/>
                <c:pt idx="0">
                  <c:v>6.75</c:v>
                </c:pt>
                <c:pt idx="1">
                  <c:v>6.136363636363637</c:v>
                </c:pt>
                <c:pt idx="2">
                  <c:v>5.625</c:v>
                </c:pt>
                <c:pt idx="3">
                  <c:v>5.192307692307693</c:v>
                </c:pt>
                <c:pt idx="4">
                  <c:v>4.821428571428571</c:v>
                </c:pt>
                <c:pt idx="5">
                  <c:v>4.5</c:v>
                </c:pt>
                <c:pt idx="6">
                  <c:v>4.21875</c:v>
                </c:pt>
                <c:pt idx="7">
                  <c:v>3.970588235294118</c:v>
                </c:pt>
                <c:pt idx="8">
                  <c:v>3.75</c:v>
                </c:pt>
                <c:pt idx="9">
                  <c:v>3.552631578947369</c:v>
                </c:pt>
                <c:pt idx="10">
                  <c:v>3.375</c:v>
                </c:pt>
                <c:pt idx="11">
                  <c:v>3.214285714285714</c:v>
                </c:pt>
                <c:pt idx="12">
                  <c:v>3.068181818181818</c:v>
                </c:pt>
                <c:pt idx="13">
                  <c:v>2.934782608695652</c:v>
                </c:pt>
                <c:pt idx="14">
                  <c:v>2.8125</c:v>
                </c:pt>
                <c:pt idx="15">
                  <c:v>2.7</c:v>
                </c:pt>
                <c:pt idx="16">
                  <c:v>2.596153846153846</c:v>
                </c:pt>
                <c:pt idx="17">
                  <c:v>2.5</c:v>
                </c:pt>
                <c:pt idx="18">
                  <c:v>2.410714285714286</c:v>
                </c:pt>
                <c:pt idx="19">
                  <c:v>2.327586206896552</c:v>
                </c:pt>
                <c:pt idx="20">
                  <c:v>2.25</c:v>
                </c:pt>
                <c:pt idx="21">
                  <c:v>2.17741935483871</c:v>
                </c:pt>
                <c:pt idx="22">
                  <c:v>2.109375</c:v>
                </c:pt>
                <c:pt idx="23">
                  <c:v>2.045454545454545</c:v>
                </c:pt>
                <c:pt idx="24">
                  <c:v>1.985294117647059</c:v>
                </c:pt>
                <c:pt idx="25">
                  <c:v>1.928571428571429</c:v>
                </c:pt>
                <c:pt idx="26">
                  <c:v>1.875</c:v>
                </c:pt>
                <c:pt idx="27">
                  <c:v>1.824324324324324</c:v>
                </c:pt>
                <c:pt idx="28">
                  <c:v>1.776315789473684</c:v>
                </c:pt>
                <c:pt idx="29">
                  <c:v>1.730769230769231</c:v>
                </c:pt>
                <c:pt idx="30">
                  <c:v>1.6875</c:v>
                </c:pt>
              </c:numCache>
            </c:numRef>
          </c:yVal>
          <c:smooth val="0"/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3E9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中央たわみ δ / mm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50112"/>
        <c:majorUnit val="2"/>
      </c:valAx>
      <c:valAx>
        <c:axId val="48650112"/>
        <c:scaling>
          <c:orientation val="minMax"/>
          <c:max val="16000"/>
          <c:min val="400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Yu Gothic"/>
                    <a:ea typeface="Yu Gothic"/>
                    <a:cs typeface="Yu Gothic"/>
                  </a:rPr>
                  <a:t>ヤング率 E / MPa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Yu Gothic"/>
                  <a:ea typeface="Yu Gothic"/>
                  <a:cs typeface="Yu Gothic"/>
                </a:defRPr>
              </a:pPr>
            </a:p>
          </c:txPr>
        </c:title>
        <c:numFmt formatCode="General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</a:p>
        </c:txPr>
        <c:crossAx val="48672768"/>
        <c:majorUnit val="400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Workbook">
    <c:autoUpdate val="0"/>
  </c:externalData>
</c:chartSpace>
</file>

<file path=ppt/slides/pilot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BB901-1E5B-40B7-BF7E-DD4BFCB5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棚板の形とたわみ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59BF-3B5C-413D-BA66-D05442DB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7B65B-9FD0-44CF-BDF3-74C3610E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第1回・オンデマンド試作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ACC3A-95D9-4883-997B-429CAF4A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W01-P01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41C1-91A3-41D4-84DF-E5421A78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6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同じ材料でも、形と支え方で変形は変わる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9513D-62E0-4430-AFC5-F06A7FA2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1　ばねのフックの法則を思い出す</a:t>
            </a:r>
          </a:p>
          <a:p xmlns:a="http://schemas.openxmlformats.org/drawingml/2006/main">
            <a: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2　棒の変形から、ヤング率 E を確かめる</a:t>
            </a:r>
          </a:p>
          <a:p xmlns:a="http://schemas.openxmlformats.org/drawingml/2006/main">
            <a:pPr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3　棚板の形・長さと、たわみを比べる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A215C-66C4-4CD6-96F0-17ACD238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資料とメモを用意してください。途中に短い問いと休憩があります。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966CF-EB6E-446E-B711-AC493107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第1回 20～25枚目の一節を使った試作です。</a:t>
            </a:r>
          </a:p>
        </p:txBody>
      </p:sp>
    </p:spTree>
    <p:extLst>
      <p:ext uri="{BB962C8B-B14F-4D97-AF65-F5344CB8AC3E}">
        <p14:creationId xmlns:p14="http://schemas.microsoft.com/office/powerpoint/2010/main" val="490807005"/>
      </p:ext>
    </p:extLst>
  </p:cSld>
</p:sld>
</file>

<file path=ppt/slides/pilot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BF1341-50AC-472D-875B-57D5C580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短い休憩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49F54-3D1F-47F8-9D26-DF6B6BDD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12294-5ABD-4ACE-A4C9-0ADF25D7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第1回・オンデマンド試作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9D3FD-CCD0-4C59-8551-5E5750C8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W01-P05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6024C-4906-4A4A-94C5-CA8B3EFB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画面から目を離し、姿勢を変えましょう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8197B2-D6C8-4133-ACF1-CB7F7089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1038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肩を軽く上げて下ろす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手を開いて閉じる</a:t>
            </a:r>
          </a:p>
          <a:p xmlns:a="http://schemas.openxmlformats.org/drawingml/2006/main">
            <a:pPr>
              <a:def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できる範囲で。動作は任意です。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78DAA-0EAB-4C38-BA02-331D178E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再開したら、同じ断面積の棚板を式で比べます。</a:t>
            </a:r>
          </a:p>
        </p:txBody>
      </p:sp>
    </p:spTree>
    <p:extLst>
      <p:ext uri="{BB962C8B-B14F-4D97-AF65-F5344CB8AC3E}">
        <p14:creationId xmlns:p14="http://schemas.microsoft.com/office/powerpoint/2010/main" val="1759941953"/>
      </p:ext>
    </p:extLst>
  </p:cSld>
</p:sld>
</file>

<file path=ppt/slides/pilot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F753A3-9E8A-4716-AFDC-2097AC7C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棚板のたわみを、条件から説明する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7AB18-0142-4EE3-A707-2C5883FF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64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7A59A-1B59-42B8-BB6A-FF6E79AD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第1回・オンデマンド試作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67BDA-F57D-478E-BE91-CE11099A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41985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W01-P09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24F11-F1A3-482F-9B88-11CB491F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= FL³/(48EI)　　I = bh³/12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8E18E-1716-4499-B8FA-FFAD4C97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1D9FA-FE89-49F6-8BC0-2E83137C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 を2倍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242978-A4BB-494E-9D8D-0A953EBF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050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δ は2倍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05190-3349-4EA9-ADC2-ABBE2221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8477F-9865-4A4B-8ED5-A8F1088B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L を2倍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84AD0-D882-4144-A9BF-5AD63F02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099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δ は8倍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D27FA-3E90-4498-81CF-221DD94E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74BC9-ABC1-47A1-BADF-6577E148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1477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 を2倍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6EBFA-903D-4F16-91E7-6D42D89E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1477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δ は1/2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F43680-3938-4F2B-9010-6099920B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FAFB00-AE81-4EB8-A5E8-47FF675F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同じ A で h を2倍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35658-DCDC-4FF9-A821-D099D385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196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I は4倍、δ は1/4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E827D-7709-488F-96AE-AE9DEA97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他の条件をそろえた、弾性範囲・単純支持・中央集中荷重での比較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89EEFC-19BE-43A9-B45F-5282105A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何をそろえ、何を変え、何を根拠にしたか、説明し直しましょう。</a:t>
            </a:r>
          </a:p>
        </p:txBody>
      </p:sp>
    </p:spTree>
    <p:extLst>
      <p:ext uri="{BB962C8B-B14F-4D97-AF65-F5344CB8AC3E}">
        <p14:creationId xmlns:p14="http://schemas.microsoft.com/office/powerpoint/2010/main" val="1648432431"/>
      </p:ext>
    </p:extLst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7C15FF9-D95B-47B0-9AC6-ACFAA12CF929}"/>
              </a:ext>
            </a:extLst>
          </p:cNvPr>
          <p:cNvSpPr>
            <a:spLocks noGrp="1"/>
          </p:cNvSpPr>
          <p:nvPr/>
        </p:nvSpPr>
        <p:spPr>
          <a:xfrm>
            <a:off x="685800" y="3714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同じ断面積の棚板：高さを変えると？</a:t>
            </a:r>
          </a:p>
        </p:txBody>
      </p:sp>
      <p:cxnSp>
        <p:nvCxnSpPr>
          <p:cNvPr id="2" name="直線矢印コネクタ 1">
            <a:extLst>
              <a:ext uri="{FF2B5EF4-FFF2-40B4-BE49-F238E27FC236}">
                <a16:creationId xmlns:a16="http://schemas.microsoft.com/office/drawing/2014/main" id="{09F77888-69E6-4143-B4E9-A916E9CB574B}"/>
              </a:ext>
            </a:extLst>
          </p:cNvPr>
          <p:cNvCxnSpPr/>
          <p:nvPr/>
        </p:nvCxnSpPr>
        <p:spPr>
          <a:xfrm>
            <a:off x="685800" y="1190625"/>
            <a:ext cx="10820400" cy="0"/>
          </a:xfrm>
          <a:prstGeom prst="straightConnector1">
            <a:avLst/>
          </a:prstGeom>
          <a:ln w="22860">
            <a:solidFill>
              <a:srgbClr val="18364F"/>
            </a:solidFill>
            <a:prstDash val="solid"/>
          </a:ln>
        </p:spPr>
      </p:cxn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D3934B-838F-4CFB-B0FE-EE79869ACFE2}"/>
              </a:ext>
            </a:extLst>
          </p:cNvPr>
          <p:cNvSpPr>
            <a:spLocks noGrp="1"/>
          </p:cNvSpPr>
          <p:nvPr/>
        </p:nvSpPr>
        <p:spPr>
          <a:xfrm>
            <a:off x="685800" y="6410325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F76C727-6AD9-4E9B-97F7-43EF4EC159B3}"/>
              </a:ext>
            </a:extLst>
          </p:cNvPr>
          <p:cNvSpPr>
            <a:spLocks noGrp="1"/>
          </p:cNvSpPr>
          <p:nvPr/>
        </p:nvSpPr>
        <p:spPr>
          <a:xfrm>
            <a:off x="10858500" y="6410325"/>
            <a:ext cx="6477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2E7FBAD-0141-4D0B-8F8A-7F4D24E812C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同じ材料・同じ長さ・同じ荷重・同じ支え方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1BB35D6-7B4D-4821-B9D5-D9C8DAA2AFA6}"/>
              </a:ext>
            </a:extLst>
          </p:cNvPr>
          <p:cNvSpPr>
            <a:spLocks noGrp="1"/>
          </p:cNvSpPr>
          <p:nvPr/>
        </p:nvSpPr>
        <p:spPr>
          <a:xfrm>
            <a:off x="1714500" y="3143250"/>
            <a:ext cx="3048000" cy="762000"/>
          </a:xfrm>
          <a:prstGeom prst="rect">
            <a:avLst/>
          </a:prstGeom>
          <a:solidFill>
            <a:srgbClr val="EDF2F6"/>
          </a:solidFill>
          <a:ln w="13335">
            <a:solidFill>
              <a:srgbClr val="C8D3DD"/>
            </a:solidFill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B57C54C-2322-4200-9369-B4F7EDCA1806}"/>
              </a:ext>
            </a:extLst>
          </p:cNvPr>
          <p:cNvCxnSpPr/>
          <p:nvPr/>
        </p:nvCxnSpPr>
        <p:spPr>
          <a:xfrm>
            <a:off x="1333500" y="3524250"/>
            <a:ext cx="3810000" cy="0"/>
          </a:xfrm>
          <a:prstGeom prst="straightConnector1">
            <a:avLst/>
          </a:prstGeom>
          <a:ln w="19050">
            <a:solidFill>
              <a:srgbClr val="5D6C78"/>
            </a:solidFill>
            <a:prstDash val="dash"/>
          </a:ln>
        </p:spPr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E50F8AA-FC28-4FF6-96FF-0CAE21F6725F}"/>
              </a:ext>
            </a:extLst>
          </p:cNvPr>
          <p:cNvSpPr>
            <a:spLocks noGrp="1"/>
          </p:cNvSpPr>
          <p:nvPr/>
        </p:nvSpPr>
        <p:spPr>
          <a:xfrm>
            <a:off x="7715250" y="2762250"/>
            <a:ext cx="1524000" cy="1524000"/>
          </a:xfrm>
          <a:prstGeom prst="rect">
            <a:avLst/>
          </a:prstGeom>
          <a:solidFill>
            <a:srgbClr val="EDF2F6"/>
          </a:solidFill>
          <a:ln w="13335">
            <a:solidFill>
              <a:srgbClr val="C8D3DD"/>
            </a:solidFill>
          </a:ln>
        </p:spPr>
        <p:txBody>
          <a:bodyPr/>
          <a:lstStyle/>
          <a:p>
            <a:endParaRPr lang="ja-JP" altLang="en-US"/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1B658FB8-8DD6-462A-BCA9-E1EFD8A6AB6F}"/>
              </a:ext>
            </a:extLst>
          </p:cNvPr>
          <p:cNvCxnSpPr/>
          <p:nvPr/>
        </p:nvCxnSpPr>
        <p:spPr>
          <a:xfrm>
            <a:off x="7239000" y="3524250"/>
            <a:ext cx="2476500" cy="0"/>
          </a:xfrm>
          <a:prstGeom prst="straightConnector1">
            <a:avLst/>
          </a:prstGeom>
          <a:ln w="19050">
            <a:solidFill>
              <a:srgbClr val="5D6C78"/>
            </a:solidFill>
            <a:prstDash val="dash"/>
          </a:ln>
        </p:spPr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264C42D-47CE-4AB2-ADF3-B40E58BA7EFD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52387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幅40 mm、高さ10 mm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02D6CDF-721A-452D-93B8-7EF2741DBD42}"/>
              </a:ext>
            </a:extLst>
          </p:cNvPr>
          <p:cNvSpPr>
            <a:spLocks noGrp="1"/>
          </p:cNvSpPr>
          <p:nvPr/>
        </p:nvSpPr>
        <p:spPr>
          <a:xfrm>
            <a:off x="6524625" y="4505325"/>
            <a:ext cx="4981575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幅20 mm、高さ20 mm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4451B1-F9A0-4C72-8FE7-C9E67151CDB9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断面積は、どちらも400 mm²。たわみは同じだろうか？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D44703-45BB-473B-85BB-C92340BF82E7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>
            <a:pPr algn="l">
              <a:def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断面の水平な図心軸について比べる。E が同じという仮定も確認する</a:t>
            </a:r>
          </a:p>
        </p:txBody>
      </p:sp>
    </p:spTree>
    <p:extLst>
      <p:ext uri="{BB962C8B-B14F-4D97-AF65-F5344CB8AC3E}">
        <p14:creationId xmlns:p14="http://schemas.microsoft.com/office/powerpoint/2010/main" val="107434482"/>
      </p:ext>
    </p:extLst>
  </p:cSld>
  <p:clrMapOvr>
    <a:masterClrMapping/>
  </p:clrMapOvr>
</p:sld>
</file>

<file path=ppt/slides/v6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3C7D9-1759-4FB1-848E-9E1D817A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復習：ばねのフックの法則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4221D-EB3C-40D9-B47A-C6CCFB1FE1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4BAAF-10D7-4D4B-826B-C9B59A90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DC81F-0036-4C53-84E8-0EDC3769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0FC56-649F-48C8-A8C4-099262FC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383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F = kx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FE1DC-C1E1-4262-80FC-9D0A7003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447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F：ばねを引く力 / N</a:t>
            </a:r>
          </a:p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x：元の長さからの伸び / mm</a:t>
            </a:r>
          </a:p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k：ばね定数 / (N/mm)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90500-7FE8-490D-A1CF-637A768B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672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伸びに比例して、必要な力が増す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1EA54-DB22-48BD-9E49-51B7B31B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x = F/k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CB86E533-A94D-4CC6-BC0D-C3B92035E423}"/>
              </a:ext>
            </a:extLst>
          </p:cNvPr>
          <p:cNvGraphicFramePr/>
          <p:nvPr/>
        </p:nvGraphicFramePr>
        <p:xfrm>
          <a:off xmlns:a="http://schemas.openxmlformats.org/drawingml/2006/main" x="5810250" y="1609725"/>
          <a:ext xmlns:a="http://schemas.openxmlformats.org/drawingml/2006/main" cx="55435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f06459f67842d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89A4E-0AEC-4F70-8B0F-68B1AC6C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62625"/>
            <a:ext cx="5543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同じ力なら、k が大きいほど伸びは小さい</a:t>
            </a:r>
          </a:p>
        </p:txBody>
      </p:sp>
    </p:spTree>
    <p:extLst>
      <p:ext uri="{BB962C8B-B14F-4D97-AF65-F5344CB8AC3E}">
        <p14:creationId xmlns:p14="http://schemas.microsoft.com/office/powerpoint/2010/main" val="294709526"/>
      </p:ext>
    </p:extLst>
  </p:cSld>
</p:sld>
</file>

<file path=ppt/slides/v6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F5037-CF92-4993-98D5-A65B8196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復習：棒の変形とヤング率 E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EC4D7-2E89-4914-9F0F-54D0261B109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F1A0D-DF41-437D-B960-C476810B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59594-03F7-4090-B347-810ADF39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E3B96-28D9-41F6-BECE-8C83B3EC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応力 σ = F/A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9A2E1-0222-4C33-AE28-62253C67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191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ひずみ ε = Δl/l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9E249-8D25-448C-8A3E-65C9868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フックの法則　σ = Eε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5ADAB7-C149-41AD-A52F-3A04EE61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33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F/A = E(Δl/l)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B190B-F6E6-4BD8-B061-D67896C1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Δl = Fl/(EA)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733E0-9732-45C2-AE3D-D56FA53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棒全体のばね定数は k = EA/l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0358E903-4C97-4ED8-85B1-BF44085FDE9F}"/>
              </a:ext>
            </a:extLst>
          </p:cNvPr>
          <p:cNvGraphicFramePr/>
          <p:nvPr/>
        </p:nvGraphicFramePr>
        <p:xfrm>
          <a:off xmlns:a="http://schemas.openxmlformats.org/drawingml/2006/main" x="6096000" y="1619250"/>
          <a:ext xmlns:a="http://schemas.openxmlformats.org/drawingml/2006/main" cx="52578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e9032a9af0431e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3BA2C-A4EF-4AC8-816A-1F055B47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81650"/>
            <a:ext cx="5257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E：同じ応力に対する、変形しにくさ</a:t>
            </a:r>
          </a:p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単位は MPa（= N/mm²）</a:t>
            </a:r>
          </a:p>
        </p:txBody>
      </p:sp>
    </p:spTree>
    <p:extLst>
      <p:ext uri="{BB962C8B-B14F-4D97-AF65-F5344CB8AC3E}">
        <p14:creationId xmlns:p14="http://schemas.microsoft.com/office/powerpoint/2010/main" val="42178302"/>
      </p:ext>
    </p:extLst>
  </p:cSld>
</p:sld>
</file>

<file path=ppt/slides/v6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843264D-4212-4423-95F5-C6C9C210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単純支持ばりの中央たわみ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F62D94-6D85-455C-B29F-DDDB764E9F4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F757E-3FDE-4C9E-A3E4-A75CD844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D8E1C-A2FF-4585-BF66-D2BD06F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B4645-671B-4C5A-BBBB-C1F7BCF4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中央に力 F を加える。δ は中央が下がる量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5DF96-B6F1-4862-A0F5-E17D6F03E8F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552700"/>
            <a:ext cx="6381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875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CA1478-D761-4D14-A9D8-FB23095C857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1924050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53D3D"/>
            </a:solidFill>
            <a:tailEnd type="triangle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80336-A59F-4C3A-9FDF-FB908434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81200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C53D3D"/>
                </a:solidFill>
                <a:latin typeface="Yu Gothic"/>
                <a:ea typeface="Yu Gothic"/>
                <a:cs typeface="Yu Gothic"/>
              </a:rPr>
              <a:t>F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6A668-4A65-43AD-A140-6C097F7C2A1B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57275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465FCC-FDA4-47E0-B7C3-7931D6DA7A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8752F-95D4-42F9-B683-8F95F46152F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3009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513FE-6FD9-4822-BA4C-6B43A2D040D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439025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682CF-8A34-431A-981A-30DDD4FFD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0" y="2600325"/>
            <a:ext cx="180975" cy="3524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C98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AC3FE-607A-41EC-9965-7F8DFF8E61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81875" y="30099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903F7-6B5D-4D2B-AEB9-FE92E71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5C9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9108E-9B35-429E-88DB-E0FBD755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5C98"/>
            </a:solidFill>
          </a:ln>
        </p:spPr>
      </p: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B67CB-E94D-4681-85B5-626636A6D0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62825" y="319087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C98"/>
            </a:solidFill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FA2384-B546-4B44-A37E-07FC999274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3343275"/>
            <a:ext cx="6381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96875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32136-1749-43E3-8399-9B38CEBC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1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L：支点間距離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9442C-57DA-4566-BC60-481B2FC393A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" y="2552700"/>
            <a:ext cx="159544" cy="306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E06ED-6752-4465-B2C9-8AF82DFE66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97794" y="2583393"/>
            <a:ext cx="159544" cy="3053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20913-09DA-45FC-AFFF-B3A964ADB74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7338" y="2613931"/>
            <a:ext cx="159544" cy="302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C0F055-E1E6-4C17-B7A8-C53717A7F1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16881" y="2644163"/>
            <a:ext cx="159544" cy="2977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8408C-9A50-4C37-88A4-524DD529C44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76425" y="2673934"/>
            <a:ext cx="159544" cy="2915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2E9A2-C819-4122-A4C6-2CE307244D7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35969" y="2703091"/>
            <a:ext cx="159544" cy="2838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5AE07-E59A-410D-BDC3-CA0EEA8AB00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95513" y="2731479"/>
            <a:ext cx="159544" cy="2746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CD8648-1F3B-40A8-9F2B-0184EB7FB7F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55056" y="2758947"/>
            <a:ext cx="159544" cy="2639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99EF3D-B63C-4BCA-9DA4-F040725BC75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14600" y="2785339"/>
            <a:ext cx="159544" cy="251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02D79-3C40-4E12-BF0E-9697579A28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74144" y="2810502"/>
            <a:ext cx="159544" cy="237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103285-39E7-4539-A7F1-07FEFB9F26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33688" y="2834283"/>
            <a:ext cx="159544" cy="2224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24DDAA-A963-46E7-877E-EB99187092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93231" y="2856528"/>
            <a:ext cx="159544" cy="2055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8747B8-8D3F-4681-BB6C-CB5707963D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52775" y="2877083"/>
            <a:ext cx="159544" cy="187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2E35BB-A072-45ED-A91A-94C0B03EE9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12319" y="2895796"/>
            <a:ext cx="159544" cy="1671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AF0B1D-C2D6-4708-BDD7-D31B6D22AF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471863" y="2912512"/>
            <a:ext cx="159544" cy="1456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A37CF-77EE-4A07-BFF7-093F002655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31406" y="2927077"/>
            <a:ext cx="159544" cy="122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AE2DD-6C68-4FDC-AF10-868BC8E00D4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790950" y="2939339"/>
            <a:ext cx="159544" cy="980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7E7F04-61A9-43CA-B167-1AA2CD8A6C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950494" y="2949143"/>
            <a:ext cx="159544" cy="71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CA836B-2B94-416E-804C-685664F341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10038" y="2956336"/>
            <a:ext cx="159544" cy="442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F9A2E8-482A-4F55-8CB9-046E97B8198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69581" y="2960765"/>
            <a:ext cx="159544" cy="151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2F50F2-3600-446C-A0F7-ABB19E16369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429125" y="2960765"/>
            <a:ext cx="159544" cy="151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1BF7AC-6100-4629-BF22-1518F7FD455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588669" y="2956336"/>
            <a:ext cx="159544" cy="442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CEEA9D-4EE2-4362-9C2C-1C8909F1547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748213" y="2949143"/>
            <a:ext cx="159544" cy="71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574DF2-4729-40A5-AD30-CE4FA9B901BB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07756" y="2939339"/>
            <a:ext cx="159544" cy="9804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D17CCC-DA37-4062-BFC8-470E6CFB792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067300" y="2927077"/>
            <a:ext cx="159544" cy="1226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4FD45A-E86D-4163-9A23-BB66406F8145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226844" y="2912512"/>
            <a:ext cx="159544" cy="1456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06E3C9-EBAE-4206-9800-368E1134011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86388" y="2895796"/>
            <a:ext cx="159544" cy="1671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9D6D9D-D70E-416D-B74C-EF8A69AA7D2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545931" y="2877083"/>
            <a:ext cx="159544" cy="1871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168E22-C339-43DA-A3FE-AFBBD0AE7AA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705475" y="2856528"/>
            <a:ext cx="159544" cy="2055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D453FE-78AF-42CA-BFA8-F528D20D14B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865019" y="2834283"/>
            <a:ext cx="159544" cy="2224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43C922-BBB3-4FDC-B5B1-DA5EE92F2FC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024563" y="2810502"/>
            <a:ext cx="159544" cy="2378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7FA279-0787-46A5-9F77-87F3F490715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184106" y="2785339"/>
            <a:ext cx="159544" cy="251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BF3085-04E7-45CC-B793-CECA63A6C2B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343650" y="2758947"/>
            <a:ext cx="159544" cy="2639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18069B-0D18-4BED-B9BE-2FA3D469A75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503194" y="2731479"/>
            <a:ext cx="159544" cy="2746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A95AD5-2EBF-48D8-84D5-133988F0EDE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662738" y="2703091"/>
            <a:ext cx="159544" cy="2838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C03D3C-237A-45AD-B838-0B2C1866B7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822281" y="2673934"/>
            <a:ext cx="159544" cy="29157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598792-F382-4355-A797-29390A52144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981825" y="2644163"/>
            <a:ext cx="159544" cy="29771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6688A5-B69C-4A51-9423-80E8286F4E21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141369" y="2613931"/>
            <a:ext cx="159544" cy="30232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C21576-A361-49F7-BD0B-C52CEC315DC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300913" y="2583393"/>
            <a:ext cx="159544" cy="30539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7229521-E1E6-4CB7-AA87-D7BDBC9DE8F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460456" y="2552700"/>
            <a:ext cx="159544" cy="3069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45C98"/>
            </a:solidFill>
          </a:ln>
        </p:spPr>
      </p:cxnSp>
      <p:cxnSp>
        <p:nvCxn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EC09E3A-C561-49C6-BB91-9F3F95BF29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29125" y="25717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87E8B"/>
            </a:solidFill>
            <a:tailEnd type="triangle" w="med" len="me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558B93-9C9C-4ABB-9178-908E773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860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δ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E341C0-C5F9-46AD-A245-30EF3D3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114550"/>
            <a:ext cx="1476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2383">
            <a:solidFill>
              <a:srgbClr val="245C98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D9AA34A-9733-4CE7-BE26-3EEE74B6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43225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3E8454-9A5A-452A-B5D2-AEE7273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276475"/>
            <a:ext cx="38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36612B-2DC7-4D50-9713-A098D0E6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575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I = bh³/12 = Ah²/12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253C9F5-F899-49B9-80BB-7C565EA0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= FL³/(48EI)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D47572-524D-4A56-A322-B7930925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F：N、L：mm、E：N/mm²、I：mm⁴ → δ：mm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7BE1A2E-638C-43FE-A447-0F7F9BF5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3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 A で高さ2倍なら、I は4倍、δ は1/4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105897-7B14-4706-9634-6934B29A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単純支持・一定断面・小さな変形の弾性範囲</a:t>
            </a:r>
          </a:p>
        </p:txBody>
      </p:sp>
    </p:spTree>
    <p:extLst>
      <p:ext uri="{BB962C8B-B14F-4D97-AF65-F5344CB8AC3E}">
        <p14:creationId xmlns:p14="http://schemas.microsoft.com/office/powerpoint/2010/main" val="290519300"/>
      </p:ext>
    </p:extLst>
  </p:cSld>
</p:sld>
</file>

<file path=ppt/slides/v6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2FCBF-1EAE-44DD-8C37-FF63C960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同じ断面積で比べる、荷重とたわみ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8276A-23C8-41A4-AF96-4941B1AF5C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42749-6547-4AB8-AD54-960A3295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8E9C4-2FAE-4DA4-860D-473FAF90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0A932-1D7B-4245-AFC4-BB7FB7E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計算条件：E = 10,000 MPa、L = 600 mm、中央集中荷重・単純支持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B76865E8-B6AB-4AC3-8E0A-6A90FA132C93}"/>
              </a:ext>
            </a:extLst>
          </p:cNvPr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68294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123c95830f4eb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33404-619F-4C23-9872-C3D9BB59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2885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F = 20 N のとき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3598C-BD02-4928-90D9-75C6F36832E0}"/>
              </a:ext>
            </a:extLst>
          </p:cNvPr>
          <p:cNvGraphicFramePr/>
          <p:nvPr/>
        </p:nvGraphicFramePr>
        <p:xfrm>
          <a:off xmlns:a="http://schemas.openxmlformats.org/drawingml/2006/main" x="8039100" y="2857500"/>
          <a:ext xmlns:a="http://schemas.openxmlformats.org/drawingml/2006/main" cx="3467100" cy="2114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0150"/>
                <a:gridCol w="1257300"/>
                <a:gridCol w="1009650"/>
              </a:tblGrid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b × h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I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δ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40 × 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3.33×10³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2.700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704850"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20 × 20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1.33×10⁴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0.675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F57D4-F8D4-42C4-9031-9E0CA86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81600"/>
            <a:ext cx="3467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I が4倍なので</a:t>
            </a:r>
          </a:p>
          <a:p xmlns:a="http://schemas.openxmlformats.org/drawingml/2006/main">
            <a:pPr algn="l">
              <a:def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たわみは 1/4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8067E-F2B1-476C-AEDC-2FDFECAD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685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は F に比例。傾きは L³/(48EI)</a:t>
            </a:r>
          </a:p>
        </p:txBody>
      </p:sp>
    </p:spTree>
    <p:extLst>
      <p:ext uri="{BB962C8B-B14F-4D97-AF65-F5344CB8AC3E}">
        <p14:creationId xmlns:p14="http://schemas.microsoft.com/office/powerpoint/2010/main" val="214899774"/>
      </p:ext>
    </p:extLst>
  </p:cSld>
</p:sld>
</file>

<file path=ppt/slides/v6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DDE70-49DA-4ACB-BDFE-BB6FD26E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支点間距離と E による、たわみの変化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78446-FEE0-47FD-BFE1-B49B0696EFA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93C50E-863B-4A31-BBA9-A4E83E2D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88829-3508-4ECA-AD6C-58335CCC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4DD26-F043-48CF-B18C-03EAAEF2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共通条件：F = 20 N、幅40 mm × 高さ10 mm、中央集中荷重・単純支持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0F9DC-CDF5-4ACF-B4DD-8073FC78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E = 10,000 MPa で、L を変える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64341-53D3-4533-A365-8868D35E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05025"/>
            <a:ext cx="5257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L = 600 mm で、E を変える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6657F8A-EA7C-451A-AB25-C53E1F69EF5A}"/>
              </a:ext>
            </a:extLst>
          </p:cNvPr>
          <p:cNvGraphicFramePr/>
          <p:nvPr/>
        </p:nvGraphicFramePr>
        <p:xfrm>
          <a:off xmlns:a="http://schemas.openxmlformats.org/drawingml/2006/main" x="685800" y="2667000"/>
          <a:ext xmlns:a="http://schemas.openxmlformats.org/drawingml/2006/main" cx="52578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7237ca3f5c4e90"/>
          </a:graphicData>
        </a:graphic>
      </p:graphicFrame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8C48F6C6-7F1A-4D9A-AEC0-A2DA44F39DD8}"/>
              </a:ext>
            </a:extLst>
          </p:cNvPr>
          <p:cNvGraphicFramePr/>
          <p:nvPr/>
        </p:nvGraphicFramePr>
        <p:xfrm>
          <a:off xmlns:a="http://schemas.openxmlformats.org/drawingml/2006/main" x="6248400" y="2667000"/>
          <a:ext xmlns:a="http://schemas.openxmlformats.org/drawingml/2006/main" cx="5257800" cy="2905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9a3210c37a45e6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66BCE-5A8D-4737-B1B4-4C353E97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∝ L³　L を2倍にすると8倍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36286-EE9A-4689-AECE-FE5ADAF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24525"/>
            <a:ext cx="525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δ ∝ 1/E　E を2倍にすると1/2</a:t>
            </a:r>
          </a:p>
        </p:txBody>
      </p:sp>
    </p:spTree>
    <p:extLst>
      <p:ext uri="{BB962C8B-B14F-4D97-AF65-F5344CB8AC3E}">
        <p14:creationId xmlns:p14="http://schemas.microsoft.com/office/powerpoint/2010/main" val="1280901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3012</Words>
  <Application>Microsoft Office PowerPoint</Application>
  <DocSecurity>0</DocSecurity>
  <PresentationFormat>ワイド画面</PresentationFormat>
  <Paragraphs>402</Paragraphs>
  <Slides>28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28</vt:i4>
      </vt:variant>
    </vt:vector>
  </HeadingPairs>
  <TitlesOfParts>
    <vt:vector size="32" baseType="lpstr">
      <vt:lpstr>Yu Gothic</vt:lpstr>
      <vt:lpstr>Aptos</vt:lpstr>
      <vt:lpstr>ChatGPT</vt:lpstr>
      <vt:lpstr>ChatGPT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米延 仁志</cp:lastModifiedBy>
  <cp:revision>4</cp:revision>
  <dcterms:created xsi:type="dcterms:W3CDTF">2026-10-22T06:56:33Z</dcterms:created>
  <dcterms:modified xsi:type="dcterms:W3CDTF">2026-10-23T22:18:25Z</dcterms:modified>
</cp:coreProperties>
</file>