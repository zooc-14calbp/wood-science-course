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v5_02_slide1.xml" ContentType="application/vnd.openxmlformats-officedocument.presentationml.slide+xml"/>
  <Override PartName="/ppt/slideLayouts/v5_02_slideLayout6.xml" ContentType="application/vnd.openxmlformats-officedocument.presentationml.slideLayout+xml"/>
  <Override PartName="/ppt/slideMasters/v5_02_slideMaster1.xml" ContentType="application/vnd.openxmlformats-officedocument.presentationml.slideMaster+xml"/>
  <Override PartName="/ppt/slideMasters/theme/v5_02_theme2.xml" ContentType="application/vnd.openxmlformats-officedocument.theme+xml"/>
  <Override PartName="/ppt/slideLayouts/v5_02_slideLayout1.xml" ContentType="application/vnd.openxmlformats-officedocument.presentationml.slideLayout+xml"/>
  <Override PartName="/ppt/slideLayouts/v5_02_slideLayout2.xml" ContentType="application/vnd.openxmlformats-officedocument.presentationml.slideLayout+xml"/>
  <Override PartName="/ppt/slideLayouts/v5_02_slideLayout3.xml" ContentType="application/vnd.openxmlformats-officedocument.presentationml.slideLayout+xml"/>
  <Override PartName="/ppt/slideLayouts/v5_02_slideLayout4.xml" ContentType="application/vnd.openxmlformats-officedocument.presentationml.slideLayout+xml"/>
  <Override PartName="/ppt/slideLayouts/v5_02_slideLayout5.xml" ContentType="application/vnd.openxmlformats-officedocument.presentationml.slideLayout+xml"/>
  <Override PartName="/ppt/notesSlides/v5_02_notesSlide1.xml" ContentType="application/vnd.openxmlformats-officedocument.presentationml.notesSlide+xml"/>
  <Override PartName="/ppt/slides/v5_02_slide2.xml" ContentType="application/vnd.openxmlformats-officedocument.presentationml.slide+xml"/>
  <Override PartName="/ppt/notesSlides/v5_02_notesSlide2.xml" ContentType="application/vnd.openxmlformats-officedocument.presentationml.notesSlide+xml"/>
  <Override PartName="/ppt/slides/v5_02_slide14.xml" ContentType="application/vnd.openxmlformats-officedocument.presentationml.slide+xml"/>
  <Override PartName="/ppt/notesSlides/v5_02_notesSlide14.xml" ContentType="application/vnd.openxmlformats-officedocument.presentationml.notesSlide+xml"/>
  <Override PartName="/ppt/slides/v5_02_slide15.xml" ContentType="application/vnd.openxmlformats-officedocument.presentationml.slide+xml"/>
  <Override PartName="/ppt/notesSlides/v5_02_notesSlide15.xml" ContentType="application/vnd.openxmlformats-officedocument.presentationml.notesSlide+xml"/>
  <Override PartName="/ppt/slides/v5_02_slide16.xml" ContentType="application/vnd.openxmlformats-officedocument.presentationml.slide+xml"/>
  <Override PartName="/ppt/notesSlides/v5_02_notesSlide16.xml" ContentType="application/vnd.openxmlformats-officedocument.presentationml.notesSlide+xml"/>
  <Override PartName="/ppt/slides/v5_02_slide17.xml" ContentType="application/vnd.openxmlformats-officedocument.presentationml.slide+xml"/>
  <Override PartName="/ppt/notesSlides/v5_02_notesSlide17.xml" ContentType="application/vnd.openxmlformats-officedocument.presentationml.notesSlide+xml"/>
  <Override PartName="/ppt/slides/v5_02_slide3.xml" ContentType="application/vnd.openxmlformats-officedocument.presentationml.slide+xml"/>
  <Override PartName="/ppt/notesSlides/v5_02_notesSlide3.xml" ContentType="application/vnd.openxmlformats-officedocument.presentationml.notesSlide+xml"/>
  <Override PartName="/ppt/slides/v5_02_slide4.xml" ContentType="application/vnd.openxmlformats-officedocument.presentationml.slide+xml"/>
  <Override PartName="/ppt/notesSlides/v5_02_notesSlide4.xml" ContentType="application/vnd.openxmlformats-officedocument.presentationml.notesSlide+xml"/>
  <Override PartName="/ppt/slides/v5_02_slide5.xml" ContentType="application/vnd.openxmlformats-officedocument.presentationml.slide+xml"/>
  <Override PartName="/ppt/notesSlides/v5_02_notesSlide5.xml" ContentType="application/vnd.openxmlformats-officedocument.presentationml.notesSlide+xml"/>
  <Override PartName="/ppt/slides/v5_02_slide6.xml" ContentType="application/vnd.openxmlformats-officedocument.presentationml.slide+xml"/>
  <Override PartName="/ppt/notesSlides/v5_02_notesSlide6.xml" ContentType="application/vnd.openxmlformats-officedocument.presentationml.notesSlide+xml"/>
  <Override PartName="/ppt/slides/v5_02_slide7.xml" ContentType="application/vnd.openxmlformats-officedocument.presentationml.slide+xml"/>
  <Override PartName="/ppt/notesSlides/v5_02_notesSlide7.xml" ContentType="application/vnd.openxmlformats-officedocument.presentationml.notesSlide+xml"/>
  <Override PartName="/ppt/slides/v5_02_slide8.xml" ContentType="application/vnd.openxmlformats-officedocument.presentationml.slide+xml"/>
  <Override PartName="/ppt/notesSlides/v5_02_notesSlide8.xml" ContentType="application/vnd.openxmlformats-officedocument.presentationml.notesSlide+xml"/>
  <Override PartName="/ppt/slides/v5_02_slide9.xml" ContentType="application/vnd.openxmlformats-officedocument.presentationml.slide+xml"/>
  <Override PartName="/ppt/notesSlides/v5_02_notesSlide9.xml" ContentType="application/vnd.openxmlformats-officedocument.presentationml.notesSlide+xml"/>
  <Override PartName="/ppt/slides/v5_02_slide10.xml" ContentType="application/vnd.openxmlformats-officedocument.presentationml.slide+xml"/>
  <Override PartName="/ppt/notesSlides/v5_02_notesSlide10.xml" ContentType="application/vnd.openxmlformats-officedocument.presentationml.notesSlide+xml"/>
  <Override PartName="/ppt/slides/v5_02_slide19.xml" ContentType="application/vnd.openxmlformats-officedocument.presentationml.slide+xml"/>
  <Override PartName="/ppt/notesSlides/v5_02_notesSlide19.xml" ContentType="application/vnd.openxmlformats-officedocument.presentationml.notesSlide+xml"/>
  <Override PartName="/ppt/slides/v5_02_slide11.xml" ContentType="application/vnd.openxmlformats-officedocument.presentationml.slide+xml"/>
  <Override PartName="/ppt/notesSlides/v5_02_notesSlide11.xml" ContentType="application/vnd.openxmlformats-officedocument.presentationml.notesSlide+xml"/>
  <Override PartName="/ppt/slides/v5_02_slide12.xml" ContentType="application/vnd.openxmlformats-officedocument.presentationml.slide+xml"/>
  <Override PartName="/ppt/notesSlides/v5_02_notesSlide12.xml" ContentType="application/vnd.openxmlformats-officedocument.presentationml.notesSlide+xml"/>
  <Override PartName="/ppt/slides/v5_02_slide13.xml" ContentType="application/vnd.openxmlformats-officedocument.presentationml.slide+xml"/>
  <Override PartName="/ppt/notesSlides/v5_02_notesSlide13.xml" ContentType="application/vnd.openxmlformats-officedocument.presentationml.notesSlide+xml"/>
  <Override PartName="/ppt/slides/v5_02_slide20.xml" ContentType="application/vnd.openxmlformats-officedocument.presentationml.slide+xml"/>
  <Override PartName="/ppt/notesSlides/v5_02_notesSlide20.xml" ContentType="application/vnd.openxmlformats-officedocument.presentationml.notesSlide+xml"/>
  <Override PartName="/ppt/slides/v5_02_slide21.xml" ContentType="application/vnd.openxmlformats-officedocument.presentationml.slide+xml"/>
  <Override PartName="/ppt/notesSlides/v5_02_notesSlide21.xml" ContentType="application/vnd.openxmlformats-officedocument.presentationml.notesSlide+xml"/>
  <Override PartName="/ppt/slides/v5_02_slide22.xml" ContentType="application/vnd.openxmlformats-officedocument.presentationml.slide+xml"/>
  <Override PartName="/ppt/notesSlides/v5_02_notesSlide22.xml" ContentType="application/vnd.openxmlformats-officedocument.presentationml.notesSlide+xml"/>
  <Override PartName="/ppt/slides/v6_slide6.xml" ContentType="application/vnd.openxmlformats-officedocument.presentationml.slide+xml"/>
  <Override PartName="/ppt/slideLayouts/v6_slideLayout6.xml" ContentType="application/vnd.openxmlformats-officedocument.presentationml.slideLayout+xml"/>
  <Override PartName="/ppt/slideMasters/v6_slideMaster1.xml" ContentType="application/vnd.openxmlformats-officedocument.presentationml.slideMaster+xml"/>
  <Override PartName="/ppt/slideMasters/theme/v6_theme2.xml" ContentType="application/vnd.openxmlformats-officedocument.theme+xml"/>
  <Override PartName="/ppt/slideLayouts/v6_slideLayout1.xml" ContentType="application/vnd.openxmlformats-officedocument.presentationml.slideLayout+xml"/>
  <Override PartName="/ppt/slideLayouts/v6_slideLayout2.xml" ContentType="application/vnd.openxmlformats-officedocument.presentationml.slideLayout+xml"/>
  <Override PartName="/ppt/slideLayouts/v6_slideLayout3.xml" ContentType="application/vnd.openxmlformats-officedocument.presentationml.slideLayout+xml"/>
  <Override PartName="/ppt/slideLayouts/v6_slideLayout4.xml" ContentType="application/vnd.openxmlformats-officedocument.presentationml.slideLayout+xml"/>
  <Override PartName="/ppt/slideLayouts/v6_slideLayout5.xml" ContentType="application/vnd.openxmlformats-officedocument.presentationml.slideLayout+xml"/>
  <Override PartName="/ppt/slides/charts/v6_chart6.xml" ContentType="application/vnd.openxmlformats-officedocument.drawingml.chart+xml"/>
  <Override PartName="/ppt/notesSlides/v6_notesSlide6.xml" ContentType="application/vnd.openxmlformats-officedocument.presentationml.notesSlide+xml"/>
  <Override PartName="/ppt/embeddings/v6_chart6.xlsx" ContentType="application/vnd.openxmlformats-officedocument.spreadsheetml.sheet"/>
  <Override PartName="/ppt/slides/ondemand_slide1.xml" ContentType="application/vnd.openxmlformats-officedocument.presentationml.slide+xml"/>
  <Override PartName="/ppt/slideLayouts/ondemand_slideLayout6.xml" ContentType="application/vnd.openxmlformats-officedocument.presentationml.slideLayout+xml"/>
  <Override PartName="/ppt/slideMasters/ondemand_slideMaster1.xml" ContentType="application/vnd.openxmlformats-officedocument.presentationml.slideMaster+xml"/>
  <Override PartName="/ppt/slideMasters/theme/ondemand_theme2.xml" ContentType="application/vnd.openxmlformats-officedocument.theme+xml"/>
  <Override PartName="/ppt/slideLayouts/ondemand_slideLayout1.xml" ContentType="application/vnd.openxmlformats-officedocument.presentationml.slideLayout+xml"/>
  <Override PartName="/ppt/slideLayouts/ondemand_slideLayout2.xml" ContentType="application/vnd.openxmlformats-officedocument.presentationml.slideLayout+xml"/>
  <Override PartName="/ppt/slideLayouts/ondemand_slideLayout3.xml" ContentType="application/vnd.openxmlformats-officedocument.presentationml.slideLayout+xml"/>
  <Override PartName="/ppt/slideLayouts/ondemand_slideLayout4.xml" ContentType="application/vnd.openxmlformats-officedocument.presentationml.slideLayout+xml"/>
  <Override PartName="/ppt/slideLayouts/ondemand_slideLayout5.xml" ContentType="application/vnd.openxmlformats-officedocument.presentationml.slideLayout+xml"/>
  <Override PartName="/ppt/notesSlides/ondemand_notesSlide1.xml" ContentType="application/vnd.openxmlformats-officedocument.presentationml.notesSlide+xml"/>
  <Override PartName="/ppt/slides/ondemand_slide2.xml" ContentType="application/vnd.openxmlformats-officedocument.presentationml.slide+xml"/>
  <Override PartName="/ppt/notesSlides/ondemand_notesSlide2.xml" ContentType="application/vnd.openxmlformats-officedocument.presentationml.notesSlide+xml"/>
  <Override PartName="/ppt/slides/ondemand_slide3.xml" ContentType="application/vnd.openxmlformats-officedocument.presentationml.slide+xml"/>
  <Override PartName="/ppt/notesSlides/ondemand_notesSlide3.xml" ContentType="application/vnd.openxmlformats-officedocument.presentationml.notesSlide+xml"/>
  <Override PartName="/ppt/slides/title_slide2.xml" ContentType="application/vnd.openxmlformats-officedocument.presentationml.slide+xml"/>
  <Override PartName="/ppt/slideLayouts/title_slideLayout6.xml" ContentType="application/vnd.openxmlformats-officedocument.presentationml.slideLayout+xml"/>
  <Override PartName="/ppt/slideMasters/title_slideMaster1.xml" ContentType="application/vnd.openxmlformats-officedocument.presentationml.slideMaster+xml"/>
  <Override PartName="/ppt/slideMasters/theme/title_theme2.xml" ContentType="application/vnd.openxmlformats-officedocument.theme+xml"/>
  <Override PartName="/ppt/slideLayouts/title_slideLayout1.xml" ContentType="application/vnd.openxmlformats-officedocument.presentationml.slideLayout+xml"/>
  <Override PartName="/ppt/slideLayouts/title_slideLayout2.xml" ContentType="application/vnd.openxmlformats-officedocument.presentationml.slideLayout+xml"/>
  <Override PartName="/ppt/slideLayouts/title_slideLayout3.xml" ContentType="application/vnd.openxmlformats-officedocument.presentationml.slideLayout+xml"/>
  <Override PartName="/ppt/slideLayouts/title_slideLayout4.xml" ContentType="application/vnd.openxmlformats-officedocument.presentationml.slideLayout+xml"/>
  <Override PartName="/ppt/slideLayouts/title_slideLayout5.xml" ContentType="application/vnd.openxmlformats-officedocument.presentationml.slideLayout+xml"/>
  <Override PartName="/ppt/notesSlides/title_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9c107b971834978" /><Relationship Type="http://schemas.openxmlformats.org/officeDocument/2006/relationships/extended-properties" Target="/docProps/app.xml" Id="R3672148316ec423e" /><Relationship Type="http://schemas.openxmlformats.org/officeDocument/2006/relationships/officeDocument" Target="/ppt/presentation.xml" Id="R76f06e49cb724f6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fc9cd9b30ac4ef6"/>
    <p:sldMasterId xmlns:r="http://schemas.openxmlformats.org/officeDocument/2006/relationships" id="2147483655" r:id="rIdV5Master0"/>
    <p:sldMasterId xmlns:r="http://schemas.openxmlformats.org/officeDocument/2006/relationships" id="2147483662" r:id="rIdV6Master0"/>
    <p:sldMasterId xmlns:ns37="http://schemas.openxmlformats.org/officeDocument/2006/relationships" id="2147483669" ns37:id="rIdPilotMaster0"/>
    <p:sldMasterId xmlns:ns0="http://schemas.openxmlformats.org/officeDocument/2006/relationships" id="2147483676" ns0:id="rIdTitleMaster0"/>
  </p:sldMasterIdLst>
  <p:notesMasterIdLst>
    <p:notesMasterId xmlns:r="http://schemas.openxmlformats.org/officeDocument/2006/relationships" r:id="Re9b902843d03423e"/>
  </p:notesMasterIdLst>
  <p:sldIdLst>
    <p:sldId xmlns:ns1="http://schemas.openxmlformats.org/officeDocument/2006/relationships" id="938" ns1:id="rIdTitlePage"/>
    <p:sldId xmlns:ns0="http://schemas.openxmlformats.org/officeDocument/2006/relationships" id="901" ns0:id="rIdPilotSlide1"/>
    <p:sldId xmlns:ns1="http://schemas.openxmlformats.org/officeDocument/2006/relationships" id="902" ns1:id="rIdPilotSlide2"/>
    <p:sldId xmlns:ns2="http://schemas.openxmlformats.org/officeDocument/2006/relationships" id="903" ns2:id="rIdPilotSlide3"/>
    <p:sldId xmlns:ns3="http://schemas.openxmlformats.org/officeDocument/2006/relationships" id="904" ns3:id="rIdPilotSlide4"/>
    <p:sldId xmlns:ns4="http://schemas.openxmlformats.org/officeDocument/2006/relationships" id="905" ns4:id="rIdPilotSlide5"/>
    <p:sldId xmlns:ns5="http://schemas.openxmlformats.org/officeDocument/2006/relationships" id="906" ns5:id="rIdPilotSlide6"/>
    <p:sldId xmlns:ns6="http://schemas.openxmlformats.org/officeDocument/2006/relationships" id="907" ns6:id="rIdPilotSlide7"/>
    <p:sldId xmlns:ns7="http://schemas.openxmlformats.org/officeDocument/2006/relationships" id="908" ns7:id="rIdPilotSlide8"/>
    <p:sldId xmlns:ns8="http://schemas.openxmlformats.org/officeDocument/2006/relationships" id="909" ns8:id="rIdPilotSlide9"/>
    <p:sldId xmlns:ns9="http://schemas.openxmlformats.org/officeDocument/2006/relationships" id="910" ns9:id="rIdPilotSlide10"/>
    <p:sldId xmlns:ns10="http://schemas.openxmlformats.org/officeDocument/2006/relationships" id="911" ns10:id="rIdPilotSlide11"/>
    <p:sldId xmlns:ns11="http://schemas.openxmlformats.org/officeDocument/2006/relationships" id="912" ns11:id="rIdPilotSlide12"/>
    <p:sldId xmlns:ns12="http://schemas.openxmlformats.org/officeDocument/2006/relationships" id="913" ns12:id="rIdPilotSlide13"/>
    <p:sldId xmlns:ns13="http://schemas.openxmlformats.org/officeDocument/2006/relationships" id="914" ns13:id="rIdPilotSlide14"/>
    <p:sldId xmlns:ns14="http://schemas.openxmlformats.org/officeDocument/2006/relationships" id="915" ns14:id="rIdPilotSlide15"/>
    <p:sldId xmlns:ns15="http://schemas.openxmlformats.org/officeDocument/2006/relationships" id="916" ns15:id="rIdPilotSlide16"/>
    <p:sldId xmlns:ns16="http://schemas.openxmlformats.org/officeDocument/2006/relationships" id="917" ns16:id="rIdPilotSlide17"/>
    <p:sldId xmlns:ns17="http://schemas.openxmlformats.org/officeDocument/2006/relationships" id="918" ns17:id="rIdPilotSlide18"/>
    <p:sldId xmlns:ns18="http://schemas.openxmlformats.org/officeDocument/2006/relationships" id="919" ns18:id="rIdPilotSlide19"/>
    <p:sldId xmlns:ns19="http://schemas.openxmlformats.org/officeDocument/2006/relationships" id="920" ns19:id="rIdPilotSlide20"/>
    <p:sldId xmlns:ns20="http://schemas.openxmlformats.org/officeDocument/2006/relationships" id="921" ns20:id="rIdPilotSlide21"/>
    <p:sldId xmlns:ns21="http://schemas.openxmlformats.org/officeDocument/2006/relationships" id="922" ns21:id="rIdPilotSlide22"/>
    <p:sldId xmlns:ns22="http://schemas.openxmlformats.org/officeDocument/2006/relationships" id="923" ns22:id="rIdPilotSlide23"/>
    <p:sldId xmlns:ns23="http://schemas.openxmlformats.org/officeDocument/2006/relationships" id="924" ns23:id="rIdPilotSlide24"/>
    <p:sldId xmlns:ns24="http://schemas.openxmlformats.org/officeDocument/2006/relationships" id="925" ns24:id="rIdPilotSlide25"/>
    <p:sldId xmlns:ns25="http://schemas.openxmlformats.org/officeDocument/2006/relationships" id="926" ns25:id="rIdPilotSlide26"/>
    <p:sldId xmlns:ns26="http://schemas.openxmlformats.org/officeDocument/2006/relationships" id="927" ns26:id="rIdPilotSlide27"/>
    <p:sldId xmlns:ns27="http://schemas.openxmlformats.org/officeDocument/2006/relationships" id="928" ns27:id="rIdPilotSlide28"/>
    <p:sldId xmlns:ns28="http://schemas.openxmlformats.org/officeDocument/2006/relationships" id="929" ns28:id="rIdPilotSlide29"/>
    <p:sldId xmlns:ns29="http://schemas.openxmlformats.org/officeDocument/2006/relationships" id="930" ns29:id="rIdPilotSlide30"/>
    <p:sldId xmlns:ns30="http://schemas.openxmlformats.org/officeDocument/2006/relationships" id="931" ns30:id="rIdPilotSlide31"/>
    <p:sldId xmlns:ns31="http://schemas.openxmlformats.org/officeDocument/2006/relationships" id="932" ns31:id="rIdPilotSlide32"/>
    <p:sldId xmlns:ns32="http://schemas.openxmlformats.org/officeDocument/2006/relationships" id="933" ns32:id="rIdPilotSlide33"/>
    <p:sldId xmlns:ns33="http://schemas.openxmlformats.org/officeDocument/2006/relationships" id="934" ns33:id="rIdPilotSlide34"/>
    <p:sldId xmlns:ns34="http://schemas.openxmlformats.org/officeDocument/2006/relationships" id="935" ns34:id="rIdPilotSlide35"/>
    <p:sldId xmlns:ns35="http://schemas.openxmlformats.org/officeDocument/2006/relationships" id="936" ns35:id="rIdPilotSlide36"/>
    <p:sldId xmlns:ns36="http://schemas.openxmlformats.org/officeDocument/2006/relationships" id="937" ns36:id="rIdPilotSlide3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Type="http://schemas.openxmlformats.org/officeDocument/2006/relationships/theme" Target="/ppt/theme/theme1.xml" Id="Rf4f73c23009f4ecc"/><Relationship Type="http://schemas.openxmlformats.org/officeDocument/2006/relationships/slideMaster" Target="/ppt/slideMasters/slideMaster1.xml" Id="R5fc9cd9b30ac4ef6"/><Relationship Type="http://schemas.openxmlformats.org/officeDocument/2006/relationships/notesMaster" Target="/ppt/notesMasters/notesMaster1.xml" Id="Re9b902843d03423e"/><Relationship Type="http://schemas.openxmlformats.org/officeDocument/2006/relationships/presProps" Target="/ppt/presProps.xml" Id="R100a2dd09e9c4639"/><Relationship Type="http://schemas.openxmlformats.org/officeDocument/2006/relationships/tableStyles" Target="/ppt/tableStyles.xml" Id="Ra62d087efeab4c5e"/><Relationship Id="rIdV5Master0" Type="http://schemas.openxmlformats.org/officeDocument/2006/relationships/slideMaster" Target="slideMasters/v5_02_slideMaster1.xml"/><Relationship Id="rIdV6Master0" Type="http://schemas.openxmlformats.org/officeDocument/2006/relationships/slideMaster" Target="slideMasters/v6_slideMaster1.xml"/><Relationship Id="rIdPilotSlide1" Type="http://schemas.openxmlformats.org/officeDocument/2006/relationships/slide" Target="slides/slide1.xml"/><Relationship Id="rIdPilotSlide2" Type="http://schemas.openxmlformats.org/officeDocument/2006/relationships/slide" Target="slides/slide2.xml"/><Relationship Id="rIdPilotSlide3" Type="http://schemas.openxmlformats.org/officeDocument/2006/relationships/slide" Target="slides/v5_02_slide1.xml"/><Relationship Id="rIdPilotSlide4" Type="http://schemas.openxmlformats.org/officeDocument/2006/relationships/slide" Target="slides/slide4.xml"/><Relationship Id="rIdPilotSlide5" Type="http://schemas.openxmlformats.org/officeDocument/2006/relationships/slide" Target="slides/slide5.xml"/><Relationship Id="rIdPilotSlide6" Type="http://schemas.openxmlformats.org/officeDocument/2006/relationships/slide" Target="slides/v5_02_slide2.xml"/><Relationship Id="rIdPilotSlide7" Type="http://schemas.openxmlformats.org/officeDocument/2006/relationships/slide" Target="slides/v5_02_slide14.xml"/><Relationship Id="rIdPilotSlide8" Type="http://schemas.openxmlformats.org/officeDocument/2006/relationships/slide" Target="slides/slide7.xml"/><Relationship Id="rIdPilotSlide9" Type="http://schemas.openxmlformats.org/officeDocument/2006/relationships/slide" Target="slides/v5_02_slide15.xml"/><Relationship Id="rIdPilotSlide10" Type="http://schemas.openxmlformats.org/officeDocument/2006/relationships/slide" Target="slides/v5_02_slide16.xml"/><Relationship Id="rIdPilotSlide11" Type="http://schemas.openxmlformats.org/officeDocument/2006/relationships/slide" Target="slides/v5_02_slide17.xml"/><Relationship Id="rIdPilotSlide12" Type="http://schemas.openxmlformats.org/officeDocument/2006/relationships/slide" Target="slides/v5_02_slide3.xml"/><Relationship Id="rIdPilotSlide13" Type="http://schemas.openxmlformats.org/officeDocument/2006/relationships/slide" Target="slides/ondemand_slide1.xml"/><Relationship Id="rIdPilotSlide14" Type="http://schemas.openxmlformats.org/officeDocument/2006/relationships/slide" Target="slides/slide9.xml"/><Relationship Id="rIdPilotSlide15" Type="http://schemas.openxmlformats.org/officeDocument/2006/relationships/slide" Target="slides/slide10.xml"/><Relationship Id="rIdPilotSlide16" Type="http://schemas.openxmlformats.org/officeDocument/2006/relationships/slide" Target="slides/slide11.xml"/><Relationship Id="rIdPilotSlide17" Type="http://schemas.openxmlformats.org/officeDocument/2006/relationships/slide" Target="slides/slide12.xml"/><Relationship Id="rIdPilotSlide18" Type="http://schemas.openxmlformats.org/officeDocument/2006/relationships/slide" Target="slides/v5_02_slide4.xml"/><Relationship Id="rIdPilotSlide19" Type="http://schemas.openxmlformats.org/officeDocument/2006/relationships/slide" Target="slides/v6_slide6.xml"/><Relationship Id="rIdPilotSlide20" Type="http://schemas.openxmlformats.org/officeDocument/2006/relationships/slide" Target="slides/v5_02_slide5.xml"/><Relationship Id="rIdPilotSlide21" Type="http://schemas.openxmlformats.org/officeDocument/2006/relationships/slide" Target="slides/v5_02_slide6.xml"/><Relationship Id="rIdPilotSlide22" Type="http://schemas.openxmlformats.org/officeDocument/2006/relationships/slide" Target="slides/ondemand_slide2.xml"/><Relationship Id="rIdPilotSlide23" Type="http://schemas.openxmlformats.org/officeDocument/2006/relationships/slide" Target="slides/v5_02_slide7.xml"/><Relationship Id="rIdPilotSlide24" Type="http://schemas.openxmlformats.org/officeDocument/2006/relationships/slide" Target="slides/v5_02_slide8.xml"/><Relationship Id="rIdPilotSlide25" Type="http://schemas.openxmlformats.org/officeDocument/2006/relationships/slide" Target="slides/v5_02_slide9.xml"/><Relationship Id="rIdPilotSlide26" Type="http://schemas.openxmlformats.org/officeDocument/2006/relationships/slide" Target="slides/v5_02_slide10.xml"/><Relationship Id="rIdPilotSlide27" Type="http://schemas.openxmlformats.org/officeDocument/2006/relationships/slide" Target="slides/v5_02_slide19.xml"/><Relationship Id="rIdPilotSlide28" Type="http://schemas.openxmlformats.org/officeDocument/2006/relationships/slide" Target="slides/slide20.xml"/><Relationship Id="rIdPilotSlide29" Type="http://schemas.openxmlformats.org/officeDocument/2006/relationships/slide" Target="slides/v5_02_slide11.xml"/><Relationship Id="rIdPilotSlide30" Type="http://schemas.openxmlformats.org/officeDocument/2006/relationships/slide" Target="slides/ondemand_slide3.xml"/><Relationship Id="rIdPilotSlide31" Type="http://schemas.openxmlformats.org/officeDocument/2006/relationships/slide" Target="slides/v5_02_slide12.xml"/><Relationship Id="rIdPilotSlide32" Type="http://schemas.openxmlformats.org/officeDocument/2006/relationships/slide" Target="slides/v5_02_slide13.xml"/><Relationship Id="rIdPilotSlide33" Type="http://schemas.openxmlformats.org/officeDocument/2006/relationships/slide" Target="slides/slide24.xml"/><Relationship Id="rIdPilotSlide34" Type="http://schemas.openxmlformats.org/officeDocument/2006/relationships/slide" Target="slides/slide25.xml"/><Relationship Id="rIdPilotSlide35" Type="http://schemas.openxmlformats.org/officeDocument/2006/relationships/slide" Target="slides/v5_02_slide20.xml"/><Relationship Id="rIdPilotSlide36" Type="http://schemas.openxmlformats.org/officeDocument/2006/relationships/slide" Target="slides/v5_02_slide21.xml"/><Relationship Id="rIdPilotSlide37" Type="http://schemas.openxmlformats.org/officeDocument/2006/relationships/slide" Target="slides/v5_02_slide22.xml"/><Relationship Id="rIdPilotMaster0" Type="http://schemas.openxmlformats.org/officeDocument/2006/relationships/slideMaster" Target="slideMasters/ondemand_slideMaster1.xml"/><Relationship Id="rIdTitlePage" Type="http://schemas.openxmlformats.org/officeDocument/2006/relationships/slide" Target="slides/title_slide2.xml"/><Relationship Id="rIdTitleMaster0" Type="http://schemas.openxmlformats.org/officeDocument/2006/relationships/slideMaster" Target="slideMasters/title_slideMaster1.xml"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69e051e22564f1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d5ece4aa5e64c7d" /><Relationship Type="http://schemas.openxmlformats.org/officeDocument/2006/relationships/notesMaster" Target="/ppt/notesMasters/notesMaster1.xml" Id="R78d5d42dc58b4bc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b943450d83042d0" /><Relationship Type="http://schemas.openxmlformats.org/officeDocument/2006/relationships/notesMaster" Target="/ppt/notesMasters/notesMaster1.xml" Id="R7c943d2cca434b0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494b67417e14438" /><Relationship Type="http://schemas.openxmlformats.org/officeDocument/2006/relationships/notesMaster" Target="/ppt/notesMasters/notesMaster1.xml" Id="R0f1f32b048b446e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c8133af2ca740aa" /><Relationship Type="http://schemas.openxmlformats.org/officeDocument/2006/relationships/notesMaster" Target="/ppt/notesMasters/notesMaster1.xml" Id="R9a904af5e8134c0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0b057ca22dc4e48" /><Relationship Type="http://schemas.openxmlformats.org/officeDocument/2006/relationships/notesMaster" Target="/ppt/notesMasters/notesMaster1.xml" Id="R67103b4f1c004f6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eb54d7932824610" /><Relationship Type="http://schemas.openxmlformats.org/officeDocument/2006/relationships/notesMaster" Target="/ppt/notesMasters/notesMaster1.xml" Id="R91cfb0e63af5477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6e2a1a21a974ca0" /><Relationship Type="http://schemas.openxmlformats.org/officeDocument/2006/relationships/notesMaster" Target="/ppt/notesMasters/notesMaster1.xml" Id="R6ad44dd71f7c412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68577ac5f9144be" /><Relationship Type="http://schemas.openxmlformats.org/officeDocument/2006/relationships/notesMaster" Target="/ppt/notesMasters/notesMaster1.xml" Id="R14d79da32759468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32c7544e3694cd4" /><Relationship Type="http://schemas.openxmlformats.org/officeDocument/2006/relationships/notesMaster" Target="/ppt/notesMasters/notesMaster1.xml" Id="Rc79a94e5b9e34101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9bbc9393f92049c9" /><Relationship Type="http://schemas.openxmlformats.org/officeDocument/2006/relationships/notesMaster" Target="/ppt/notesMasters/notesMaster1.xml" Id="Re2a8d68127d94e11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11c77ac75cf74b0c" /><Relationship Type="http://schemas.openxmlformats.org/officeDocument/2006/relationships/notesMaster" Target="/ppt/notesMasters/notesMaster1.xml" Id="Rda94448e96cc4e86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e3291c3d2c2b4a2e" /><Relationship Type="http://schemas.openxmlformats.org/officeDocument/2006/relationships/notesMaster" Target="/ppt/notesMasters/notesMaster1.xml" Id="Rfd839aaf136b46e2" /></Relationships>
</file>

<file path=ppt/notesSlides/_rels/ondemand_notesSlide1.xml.rels><?xml version='1.0' encoding='UTF-8' standalone='yes'?>
<Relationships xmlns="http://schemas.openxmlformats.org/package/2006/relationships"><Relationship Type="http://schemas.openxmlformats.org/officeDocument/2006/relationships/slide" Target="../slides/ondemand_slide1.xml" Id="R9914bfd1a92a4786"/><Relationship Type="http://schemas.openxmlformats.org/officeDocument/2006/relationships/notesMaster" Target="../notesMasters/notesMaster1.xml" Id="R2650e066316e4aea"/></Relationships>
</file>

<file path=ppt/notesSlides/_rels/ondemand_notesSlide2.xml.rels><?xml version='1.0' encoding='UTF-8' standalone='yes'?>
<Relationships xmlns="http://schemas.openxmlformats.org/package/2006/relationships"><Relationship Type="http://schemas.openxmlformats.org/officeDocument/2006/relationships/slide" Target="../slides/ondemand_slide2.xml" Id="R3eec4d15825f4f0e"/><Relationship Type="http://schemas.openxmlformats.org/officeDocument/2006/relationships/notesMaster" Target="../notesMasters/notesMaster1.xml" Id="Rb309ee9ff964459d"/></Relationships>
</file>

<file path=ppt/notesSlides/_rels/ondemand_notesSlide3.xml.rels><?xml version='1.0' encoding='UTF-8' standalone='yes'?>
<Relationships xmlns="http://schemas.openxmlformats.org/package/2006/relationships"><Relationship Type="http://schemas.openxmlformats.org/officeDocument/2006/relationships/slide" Target="../slides/ondemand_slide3.xml" Id="R455da493d1d743f5"/><Relationship Type="http://schemas.openxmlformats.org/officeDocument/2006/relationships/notesMaster" Target="../notesMasters/notesMaster1.xml" Id="Ra4c02ce54c6d4a18"/></Relationships>
</file>

<file path=ppt/notesSlides/_rels/title_notesSlide2.xml.rels><?xml version='1.0' encoding='UTF-8' standalone='yes'?>
<Relationships xmlns="http://schemas.openxmlformats.org/package/2006/relationships"><Relationship Type="http://schemas.openxmlformats.org/officeDocument/2006/relationships/slide" Target="../slides/title_slide2.xml" Id="R5bade99ada85449c"/><Relationship Type="http://schemas.openxmlformats.org/officeDocument/2006/relationships/notesMaster" Target="../notesMasters/notesMaster1.xml" Id="R4989f036880b4106"/></Relationships>
</file>

<file path=ppt/notesSlides/_rels/v5_02_notesSlide1.xml.rels><?xml version='1.0' encoding='UTF-8' standalone='yes'?>
<Relationships xmlns="http://schemas.openxmlformats.org/package/2006/relationships"><Relationship Type="http://schemas.openxmlformats.org/officeDocument/2006/relationships/slide" Target="../slides/v5_02_slide1.xml" Id="R3da054431feb4fb6"/><Relationship Type="http://schemas.openxmlformats.org/officeDocument/2006/relationships/notesMaster" Target="../notesMasters/notesMaster1.xml" Id="R1d41af8c1f544a7c"/></Relationships>
</file>

<file path=ppt/notesSlides/_rels/v5_02_notesSlide2.xml.rels><?xml version='1.0' encoding='UTF-8' standalone='yes'?>
<Relationships xmlns="http://schemas.openxmlformats.org/package/2006/relationships"><Relationship Type="http://schemas.openxmlformats.org/officeDocument/2006/relationships/slide" Target="../slides/v5_02_slide2.xml" Id="Rc89cc6e8b9fd497e"/><Relationship Type="http://schemas.openxmlformats.org/officeDocument/2006/relationships/notesMaster" Target="../notesMasters/notesMaster1.xml" Id="Rdef6aca97f564302"/></Relationships>
</file>

<file path=ppt/notesSlides/_rels/v5_02_notesSlide3.xml.rels><?xml version='1.0' encoding='UTF-8' standalone='yes'?>
<Relationships xmlns="http://schemas.openxmlformats.org/package/2006/relationships"><Relationship Type="http://schemas.openxmlformats.org/officeDocument/2006/relationships/slide" Target="../slides/v5_02_slide3.xml" Id="Rcbcdb9fb7a89427d"/><Relationship Type="http://schemas.openxmlformats.org/officeDocument/2006/relationships/notesMaster" Target="../notesMasters/notesMaster1.xml" Id="R4f2ca7b567d947b1"/></Relationships>
</file>

<file path=ppt/notesSlides/_rels/v5_02_notesSlide4.xml.rels><?xml version='1.0' encoding='UTF-8' standalone='yes'?>
<Relationships xmlns="http://schemas.openxmlformats.org/package/2006/relationships"><Relationship Type="http://schemas.openxmlformats.org/officeDocument/2006/relationships/slide" Target="../slides/v5_02_slide4.xml" Id="R223f127f22424213"/><Relationship Type="http://schemas.openxmlformats.org/officeDocument/2006/relationships/notesMaster" Target="../notesMasters/notesMaster1.xml" Id="R4a9d0846f7a641f3"/></Relationships>
</file>

<file path=ppt/notesSlides/_rels/v5_02_notesSlide5.xml.rels><?xml version='1.0' encoding='UTF-8' standalone='yes'?>
<Relationships xmlns="http://schemas.openxmlformats.org/package/2006/relationships"><Relationship Type="http://schemas.openxmlformats.org/officeDocument/2006/relationships/slide" Target="../slides/v5_02_slide5.xml" Id="R5a5c320a399d496e"/><Relationship Type="http://schemas.openxmlformats.org/officeDocument/2006/relationships/notesMaster" Target="../notesMasters/notesMaster1.xml" Id="R225f8084c70e4c8b"/></Relationships>
</file>

<file path=ppt/notesSlides/_rels/v5_02_notesSlide6.xml.rels><?xml version='1.0' encoding='UTF-8' standalone='yes'?>
<Relationships xmlns="http://schemas.openxmlformats.org/package/2006/relationships"><Relationship Type="http://schemas.openxmlformats.org/officeDocument/2006/relationships/slide" Target="../slides/v5_02_slide6.xml" Id="Rda4acf4c69ef44c0"/><Relationship Type="http://schemas.openxmlformats.org/officeDocument/2006/relationships/notesMaster" Target="../notesMasters/notesMaster1.xml" Id="R586f178e2151424f"/></Relationships>
</file>

<file path=ppt/notesSlides/_rels/v5_02_notesSlide7.xml.rels><?xml version='1.0' encoding='UTF-8' standalone='yes'?>
<Relationships xmlns="http://schemas.openxmlformats.org/package/2006/relationships"><Relationship Type="http://schemas.openxmlformats.org/officeDocument/2006/relationships/slide" Target="../slides/v5_02_slide7.xml" Id="R2a48776f57404a78"/><Relationship Type="http://schemas.openxmlformats.org/officeDocument/2006/relationships/notesMaster" Target="../notesMasters/notesMaster1.xml" Id="R99e493052bbd4ebe"/></Relationships>
</file>

<file path=ppt/notesSlides/_rels/v5_02_notesSlide8.xml.rels><?xml version='1.0' encoding='UTF-8' standalone='yes'?>
<Relationships xmlns="http://schemas.openxmlformats.org/package/2006/relationships"><Relationship Type="http://schemas.openxmlformats.org/officeDocument/2006/relationships/slide" Target="../slides/v5_02_slide8.xml" Id="R578081d826af4820"/><Relationship Type="http://schemas.openxmlformats.org/officeDocument/2006/relationships/notesMaster" Target="../notesMasters/notesMaster1.xml" Id="Rb74423651b694369"/></Relationships>
</file>

<file path=ppt/notesSlides/_rels/v5_02_notesSlide9.xml.rels><?xml version='1.0' encoding='UTF-8' standalone='yes'?>
<Relationships xmlns="http://schemas.openxmlformats.org/package/2006/relationships"><Relationship Type="http://schemas.openxmlformats.org/officeDocument/2006/relationships/slide" Target="../slides/v5_02_slide9.xml" Id="Rd7cc4997f84742d9"/><Relationship Type="http://schemas.openxmlformats.org/officeDocument/2006/relationships/notesMaster" Target="../notesMasters/notesMaster1.xml" Id="R1cdc3f96f9af4e4e"/></Relationships>
</file>

<file path=ppt/notesSlides/_rels/v5_02_notesSlide10.xml.rels><?xml version='1.0' encoding='UTF-8' standalone='yes'?>
<Relationships xmlns="http://schemas.openxmlformats.org/package/2006/relationships"><Relationship Type="http://schemas.openxmlformats.org/officeDocument/2006/relationships/slide" Target="../slides/v5_02_slide10.xml" Id="Rb8090ea9978248a3"/><Relationship Type="http://schemas.openxmlformats.org/officeDocument/2006/relationships/notesMaster" Target="../notesMasters/notesMaster1.xml" Id="Rf2983b8963c64072"/></Relationships>
</file>

<file path=ppt/notesSlides/_rels/v5_02_notesSlide11.xml.rels><?xml version='1.0' encoding='UTF-8' standalone='yes'?>
<Relationships xmlns="http://schemas.openxmlformats.org/package/2006/relationships"><Relationship Type="http://schemas.openxmlformats.org/officeDocument/2006/relationships/slide" Target="../slides/v5_02_slide11.xml" Id="R6cbb9817be3c4311"/><Relationship Type="http://schemas.openxmlformats.org/officeDocument/2006/relationships/notesMaster" Target="../notesMasters/notesMaster1.xml" Id="R799b7020e182404d"/></Relationships>
</file>

<file path=ppt/notesSlides/_rels/v5_02_notesSlide12.xml.rels><?xml version='1.0' encoding='UTF-8' standalone='yes'?>
<Relationships xmlns="http://schemas.openxmlformats.org/package/2006/relationships"><Relationship Type="http://schemas.openxmlformats.org/officeDocument/2006/relationships/slide" Target="../slides/v5_02_slide12.xml" Id="Rfa20bf19849145bb"/><Relationship Type="http://schemas.openxmlformats.org/officeDocument/2006/relationships/notesMaster" Target="../notesMasters/notesMaster1.xml" Id="Rf92f14e5589042d3"/></Relationships>
</file>

<file path=ppt/notesSlides/_rels/v5_02_notesSlide13.xml.rels><?xml version='1.0' encoding='UTF-8' standalone='yes'?>
<Relationships xmlns="http://schemas.openxmlformats.org/package/2006/relationships"><Relationship Type="http://schemas.openxmlformats.org/officeDocument/2006/relationships/slide" Target="../slides/v5_02_slide13.xml" Id="R49c5345ff46c45ff"/><Relationship Type="http://schemas.openxmlformats.org/officeDocument/2006/relationships/notesMaster" Target="../notesMasters/notesMaster1.xml" Id="R0633367354914a24"/></Relationships>
</file>

<file path=ppt/notesSlides/_rels/v5_02_notesSlide14.xml.rels><?xml version='1.0' encoding='UTF-8' standalone='yes'?>
<Relationships xmlns="http://schemas.openxmlformats.org/package/2006/relationships"><Relationship Type="http://schemas.openxmlformats.org/officeDocument/2006/relationships/slide" Target="../slides/v5_02_slide14.xml" Id="R1cfd48c096c54367"/><Relationship Type="http://schemas.openxmlformats.org/officeDocument/2006/relationships/notesMaster" Target="../notesMasters/notesMaster1.xml" Id="R29382331f31f493c"/></Relationships>
</file>

<file path=ppt/notesSlides/_rels/v5_02_notesSlide15.xml.rels><?xml version='1.0' encoding='UTF-8' standalone='yes'?>
<Relationships xmlns="http://schemas.openxmlformats.org/package/2006/relationships"><Relationship Type="http://schemas.openxmlformats.org/officeDocument/2006/relationships/slide" Target="../slides/v5_02_slide15.xml" Id="Rbac41717d1ef49fe"/><Relationship Type="http://schemas.openxmlformats.org/officeDocument/2006/relationships/notesMaster" Target="../notesMasters/notesMaster1.xml" Id="Rd6bd7ae7d17941a2"/></Relationships>
</file>

<file path=ppt/notesSlides/_rels/v5_02_notesSlide16.xml.rels><?xml version='1.0' encoding='UTF-8' standalone='yes'?>
<Relationships xmlns="http://schemas.openxmlformats.org/package/2006/relationships"><Relationship Type="http://schemas.openxmlformats.org/officeDocument/2006/relationships/slide" Target="../slides/v5_02_slide16.xml" Id="R6fe4e2d883de4b94"/><Relationship Type="http://schemas.openxmlformats.org/officeDocument/2006/relationships/notesMaster" Target="../notesMasters/notesMaster1.xml" Id="R4be25ca2d502469b"/></Relationships>
</file>

<file path=ppt/notesSlides/_rels/v5_02_notesSlide17.xml.rels><?xml version='1.0' encoding='UTF-8' standalone='yes'?>
<Relationships xmlns="http://schemas.openxmlformats.org/package/2006/relationships"><Relationship Type="http://schemas.openxmlformats.org/officeDocument/2006/relationships/slide" Target="../slides/v5_02_slide17.xml" Id="R0325aaca1b42469b"/><Relationship Type="http://schemas.openxmlformats.org/officeDocument/2006/relationships/notesMaster" Target="../notesMasters/notesMaster1.xml" Id="R8d4b0fc7d747485a"/></Relationships>
</file>

<file path=ppt/notesSlides/_rels/v5_02_notesSlide19.xml.rels><?xml version='1.0' encoding='UTF-8' standalone='yes'?>
<Relationships xmlns="http://schemas.openxmlformats.org/package/2006/relationships"><Relationship Type="http://schemas.openxmlformats.org/officeDocument/2006/relationships/slide" Target="../slides/v5_02_slide19.xml" Id="Ra22ac5b8d4d04a0e"/><Relationship Type="http://schemas.openxmlformats.org/officeDocument/2006/relationships/notesMaster" Target="../notesMasters/notesMaster1.xml" Id="R733a68bc156f40a7"/></Relationships>
</file>

<file path=ppt/notesSlides/_rels/v5_02_notesSlide20.xml.rels><?xml version='1.0' encoding='UTF-8' standalone='yes'?>
<Relationships xmlns="http://schemas.openxmlformats.org/package/2006/relationships"><Relationship Type="http://schemas.openxmlformats.org/officeDocument/2006/relationships/slide" Target="../slides/v5_02_slide20.xml" Id="R68a1f58fc8b7401e"/><Relationship Type="http://schemas.openxmlformats.org/officeDocument/2006/relationships/notesMaster" Target="../notesMasters/notesMaster1.xml" Id="Rcd5be8ef7ba24a56"/></Relationships>
</file>

<file path=ppt/notesSlides/_rels/v5_02_notesSlide21.xml.rels><?xml version='1.0' encoding='UTF-8' standalone='yes'?>
<Relationships xmlns="http://schemas.openxmlformats.org/package/2006/relationships"><Relationship Type="http://schemas.openxmlformats.org/officeDocument/2006/relationships/slide" Target="../slides/v5_02_slide21.xml" Id="R7841d6bcf2d64cb1"/><Relationship Type="http://schemas.openxmlformats.org/officeDocument/2006/relationships/notesMaster" Target="../notesMasters/notesMaster1.xml" Id="Rb89d23050ffa4aa1"/></Relationships>
</file>

<file path=ppt/notesSlides/_rels/v5_02_notesSlide22.xml.rels><?xml version='1.0' encoding='UTF-8' standalone='yes'?>
<Relationships xmlns="http://schemas.openxmlformats.org/package/2006/relationships"><Relationship Type="http://schemas.openxmlformats.org/officeDocument/2006/relationships/slide" Target="../slides/v5_02_slide22.xml" Id="R94b5ca6541f54706"/><Relationship Type="http://schemas.openxmlformats.org/officeDocument/2006/relationships/notesMaster" Target="../notesMasters/notesMaster1.xml" Id="R35c708fa216f4c08"/></Relationships>
</file>

<file path=ppt/notesSlides/_rels/v6_notesSlide6.xml.rels><?xml version='1.0' encoding='UTF-8' standalone='yes'?>
<Relationships xmlns="http://schemas.openxmlformats.org/package/2006/relationships"><Relationship Type="http://schemas.openxmlformats.org/officeDocument/2006/relationships/slide" Target="../slides/v6_slide6.xml" Id="R61f1575187db4a80"/><Relationship Type="http://schemas.openxmlformats.org/officeDocument/2006/relationships/notesMaster" Target="../notesMasters/notesMaster1.xml" Id="Reffce619c52c4747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参考資料</ns0:t>
            </ns0:r>
          </ns0:p>
          <ns1:p xmlns:ns1="http://schemas.openxmlformats.org/drawingml/2006/main">
            <ns1:r>
              <ns1:t>Wood Handbook 2021 第3章 https://research.fs.usda.gov/treesearch/62242</ns1:t>
            </ns1:r>
          </ns1:p>
          <ns2:p xmlns:ns2="http://schemas.openxmlformats.org/drawingml/2006/main">
            <ns2:r>
              <ns2:t>Wood Handbook 2021 第4章 https://research.fs.usda.gov/treesearch/62243</ns2:t>
            </ns2:r>
          </ns2:p>
          <ns3:p xmlns:ns3="http://schemas.openxmlformats.org/drawingml/2006/main">
            <ns3:r>
              <ns3:t>https://www.ffpri.go.jp/pubs/bulletin/151/documents/194-7.pdf</ns3:t>
            </ns3:r>
          </ns3:p>
          <ns4:p xmlns:ns4="http://schemas.openxmlformats.org/drawingml/2006/main">
            <ns4:r>
              <ns4:t>https://www.jstage.jst.go.jp/article/jjfe/51/2/51_KJ00005982751/_pdf</ns4:t>
            </ns4:r>
          </ns4:p>
          <ns5:p xmlns:ns5="http://schemas.openxmlformats.org/drawingml/2006/main">
            <ns5:r>
              <ns5:t>https://db.ffpri.go.jp/WoodDB/</ns5:t>
            </ns5:r>
          </ns5:p>
          <ns6:p xmlns:ns6="http://schemas.openxmlformats.org/drawingml/2006/main">
            <ns6:r>
              <ns6:t>https://www.jstage.jst.go.jp/article/jsms/70/3/70_245/_pdf/-char/ja</ns6:t>
            </ns6:r>
          </ns6:p>
          <ns7:p xmlns:ns7="http://schemas.openxmlformats.org/drawingml/2006/main">
            <ns7:r>
              <ns7:t>城南SSH講義資料 2022年 13～24枚目</ns7:t>
            </ns7:r>
          </ns7:p>
          <ns8:p xmlns:ns8="http://schemas.openxmlformats.org/drawingml/2006/main">
            <ns8:r>
              <ns8:t>https://www.mext.go.jp/component/a_menu/education/micro_detail/__icsFiles/afieldfile/2019/03/18/1387018_009.pdf</ns8:t>
            </ns8:r>
          </ns8:p>
          <ns9:p xmlns:ns9="http://schemas.openxmlformats.org/drawingml/2006/main">
            <ns9:r>
              <ns9:t>https://www.kairyudo.co.jp/contents/04_shiryo/nenkei/chu/data/r7chu-gi_hyokakijun.pdf</ns9:t>
            </ns9:r>
          </ns9:p>
          <ns10:p xmlns:ns10="http://schemas.openxmlformats.org/drawingml/2006/main">
            <ns10:r>
              <ns10:t>L02-S01：オンデマンド版。対面用の元スライド番号を維持。</ns10:t>
            </ns10:r>
          </ns10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参考資料</ns0:t>
            </ns0:r>
          </ns0:p>
          <ns1:p xmlns:ns1="http://schemas.openxmlformats.org/drawingml/2006/main">
            <ns1:r>
              <ns1:t>Wood Handbook 2021 第3章 https://research.fs.usda.gov/treesearch/62242</ns1:t>
            </ns1:r>
          </ns1:p>
          <ns2:p xmlns:ns2="http://schemas.openxmlformats.org/drawingml/2006/main">
            <ns2:r>
              <ns2:t>Wood Handbook 2021 第4章 https://research.fs.usda.gov/treesearch/62243</ns2:t>
            </ns2:r>
          </ns2:p>
          <ns3:p xmlns:ns3="http://schemas.openxmlformats.org/drawingml/2006/main">
            <ns3:r>
              <ns3:t>https://www.ffpri.go.jp/pubs/bulletin/151/documents/194-7.pdf</ns3:t>
            </ns3:r>
          </ns3:p>
          <ns4:p xmlns:ns4="http://schemas.openxmlformats.org/drawingml/2006/main">
            <ns4:r>
              <ns4:t>https://www.jstage.jst.go.jp/article/jjfe/51/2/51_KJ00005982751/_pdf</ns4:t>
            </ns4:r>
          </ns4:p>
          <ns5:p xmlns:ns5="http://schemas.openxmlformats.org/drawingml/2006/main">
            <ns5:r>
              <ns5:t>https://db.ffpri.go.jp/WoodDB/</ns5:t>
            </ns5:r>
          </ns5:p>
          <ns6:p xmlns:ns6="http://schemas.openxmlformats.org/drawingml/2006/main">
            <ns6:r>
              <ns6:t>https://www.jstage.jst.go.jp/article/jsms/70/3/70_245/_pdf/-char/ja</ns6:t>
            </ns6:r>
          </ns6:p>
          <ns7:p xmlns:ns7="http://schemas.openxmlformats.org/drawingml/2006/main">
            <ns7:r>
              <ns7:t>城南SSH講義資料 2022年 13～24枚目</ns7:t>
            </ns7:r>
          </ns7:p>
          <ns8:p xmlns:ns8="http://schemas.openxmlformats.org/drawingml/2006/main">
            <ns8:r>
              <ns8:t>https://www.mext.go.jp/component/a_menu/education/micro_detail/__icsFiles/afieldfile/2019/03/18/1387018_009.pdf</ns8:t>
            </ns8:r>
          </ns8:p>
          <ns9:p xmlns:ns9="http://schemas.openxmlformats.org/drawingml/2006/main">
            <ns9:r>
              <ns9:t>https://www.kairyudo.co.jp/contents/04_shiryo/nenkei/chu/data/r7chu-gi_hyokakijun.pdf</ns9:t>
            </ns9:r>
          </ns9:p>
          <ns10:p xmlns:ns10="http://schemas.openxmlformats.org/drawingml/2006/main">
            <ns10:r>
              <ns10:t>L02-S02：オンデマンド版。対面用の元スライド番号を維持。</ns10:t>
            </ns10:r>
          </ns10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参考資料</ns0:t>
            </ns0:r>
          </ns0:p>
          <ns1:p xmlns:ns1="http://schemas.openxmlformats.org/drawingml/2006/main">
            <ns1:r>
              <ns1:t>Wood Handbook 2021 第3章 https://research.fs.usda.gov/treesearch/62242</ns1:t>
            </ns1:r>
          </ns1:p>
          <ns2:p xmlns:ns2="http://schemas.openxmlformats.org/drawingml/2006/main">
            <ns2:r>
              <ns2:t>Wood Handbook 2021 第4章 https://research.fs.usda.gov/treesearch/62243</ns2:t>
            </ns2:r>
          </ns2:p>
          <ns3:p xmlns:ns3="http://schemas.openxmlformats.org/drawingml/2006/main">
            <ns3:r>
              <ns3:t>https://www.ffpri.go.jp/pubs/bulletin/151/documents/194-7.pdf</ns3:t>
            </ns3:r>
          </ns3:p>
          <ns4:p xmlns:ns4="http://schemas.openxmlformats.org/drawingml/2006/main">
            <ns4:r>
              <ns4:t>https://www.jstage.jst.go.jp/article/jjfe/51/2/51_KJ00005982751/_pdf</ns4:t>
            </ns4:r>
          </ns4:p>
          <ns5:p xmlns:ns5="http://schemas.openxmlformats.org/drawingml/2006/main">
            <ns5:r>
              <ns5:t>https://db.ffpri.go.jp/WoodDB/</ns5:t>
            </ns5:r>
          </ns5:p>
          <ns6:p xmlns:ns6="http://schemas.openxmlformats.org/drawingml/2006/main">
            <ns6:r>
              <ns6:t>https://www.jstage.jst.go.jp/article/jsms/70/3/70_245/_pdf/-char/ja</ns6:t>
            </ns6:r>
          </ns6:p>
          <ns7:p xmlns:ns7="http://schemas.openxmlformats.org/drawingml/2006/main">
            <ns7:r>
              <ns7:t>城南SSH講義資料 2022年 13～24枚目</ns7:t>
            </ns7:r>
          </ns7:p>
          <ns8:p xmlns:ns8="http://schemas.openxmlformats.org/drawingml/2006/main">
            <ns8:r>
              <ns8:t>https://www.mext.go.jp/component/a_menu/education/micro_detail/__icsFiles/afieldfile/2019/03/18/1387018_009.pdf</ns8:t>
            </ns8:r>
          </ns8:p>
          <ns9:p xmlns:ns9="http://schemas.openxmlformats.org/drawingml/2006/main">
            <ns9:r>
              <ns9:t>https://www.kairyudo.co.jp/contents/04_shiryo/nenkei/chu/data/r7chu-gi_hyokakijun.pdf</ns9:t>
            </ns9:r>
          </ns9:p>
          <ns10:p xmlns:ns10="http://schemas.openxmlformats.org/drawingml/2006/main">
            <ns10:r>
              <ns10:t>L02-S04：オンデマンド版。対面用の元スライド番号を維持。</ns10:t>
            </ns10:r>
          </ns10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参考資料</ns0:t>
            </ns0:r>
          </ns0:p>
          <ns1:p xmlns:ns1="http://schemas.openxmlformats.org/drawingml/2006/main">
            <ns1:r>
              <ns1:t>カラマツ Larix kaempferi。画像：森林総合研究所 日本産木材データベース</ns1:t>
            </ns1:r>
          </ns1:p>
          <ns2:p xmlns:ns2="http://schemas.openxmlformats.org/drawingml/2006/main">
            <ns2:r>
              <ns2:t>L02-S05：オンデマンド版。対面用の元スライド番号を維持。</ns2:t>
            </ns2:r>
          </ns2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参考資料</ns0:t>
            </ns0:r>
          </ns0:p>
          <ns1:p xmlns:ns1="http://schemas.openxmlformats.org/drawingml/2006/main">
            <ns1:r>
              <ns1:t>スギ Cryptomeria japonica。画像：森林総合研究所 日本産木材データベース</ns1:t>
            </ns1:r>
          </ns1:p>
          <ns2:p xmlns:ns2="http://schemas.openxmlformats.org/drawingml/2006/main">
            <ns2:r>
              <ns2:t>L02-S08：オンデマンド版。対面用の元スライド番号を維持。</ns2:t>
            </ns2:r>
          </ns2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参考資料</ns0:t>
            </ns0:r>
          </ns0:p>
          <ns1:p xmlns:ns1="http://schemas.openxmlformats.org/drawingml/2006/main">
            <ns1:r>
              <ns1:t>ブナ Fagus crenata。画像：森林総合研究所 日本産木材データベース</ns1:t>
            </ns1:r>
          </ns1:p>
          <ns2:p xmlns:ns2="http://schemas.openxmlformats.org/drawingml/2006/main">
            <ns2:r>
              <ns2:t>L02-S13：オンデマンド版。対面用の元スライド番号を維持。</ns2:t>
            </ns2:r>
          </ns2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参考資料</ns0:t>
            </ns0:r>
          </ns0:p>
          <ns1:p xmlns:ns1="http://schemas.openxmlformats.org/drawingml/2006/main">
            <ns1:r>
              <ns1:t>画像：森林総合研究所 日本産木材データベース。寸法の比較にはスケールを使う</ns1:t>
            </ns1:r>
          </ns1:p>
          <ns2:p xmlns:ns2="http://schemas.openxmlformats.org/drawingml/2006/main">
            <ns2:r>
              <ns2:t>L02-S14：オンデマンド版。対面用の元スライド番号を維持。</ns2:t>
            </ns2:r>
          </ns2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参考資料</ns0:t>
            </ns0:r>
          </ns0:p>
          <ns1:p xmlns:ns1="http://schemas.openxmlformats.org/drawingml/2006/main">
            <ns1:r>
              <ns1:t>Wood Handbook 2021 第3章 https://research.fs.usda.gov/treesearch/62242</ns1:t>
            </ns1:r>
          </ns1:p>
          <ns2:p xmlns:ns2="http://schemas.openxmlformats.org/drawingml/2006/main">
            <ns2:r>
              <ns2:t>Wood Handbook 2021 第4章 https://research.fs.usda.gov/treesearch/62243</ns2:t>
            </ns2:r>
          </ns2:p>
          <ns3:p xmlns:ns3="http://schemas.openxmlformats.org/drawingml/2006/main">
            <ns3:r>
              <ns3:t>https://www.ffpri.go.jp/pubs/bulletin/151/documents/194-7.pdf</ns3:t>
            </ns3:r>
          </ns3:p>
          <ns4:p xmlns:ns4="http://schemas.openxmlformats.org/drawingml/2006/main">
            <ns4:r>
              <ns4:t>https://www.jstage.jst.go.jp/article/jjfe/51/2/51_KJ00005982751/_pdf</ns4:t>
            </ns4:r>
          </ns4:p>
          <ns5:p xmlns:ns5="http://schemas.openxmlformats.org/drawingml/2006/main">
            <ns5:r>
              <ns5:t>https://db.ffpri.go.jp/WoodDB/</ns5:t>
            </ns5:r>
          </ns5:p>
          <ns6:p xmlns:ns6="http://schemas.openxmlformats.org/drawingml/2006/main">
            <ns6:r>
              <ns6:t>https://www.jstage.jst.go.jp/article/jsms/70/3/70_245/_pdf/-char/ja</ns6:t>
            </ns6:r>
          </ns6:p>
          <ns7:p xmlns:ns7="http://schemas.openxmlformats.org/drawingml/2006/main">
            <ns7:r>
              <ns7:t>城南SSH講義資料 2022年 13～24枚目</ns7:t>
            </ns7:r>
          </ns7:p>
          <ns8:p xmlns:ns8="http://schemas.openxmlformats.org/drawingml/2006/main">
            <ns8:r>
              <ns8:t>https://www.mext.go.jp/component/a_menu/education/micro_detail/__icsFiles/afieldfile/2019/03/18/1387018_009.pdf</ns8:t>
            </ns8:r>
          </ns8:p>
          <ns9:p xmlns:ns9="http://schemas.openxmlformats.org/drawingml/2006/main">
            <ns9:r>
              <ns9:t>https://www.kairyudo.co.jp/contents/04_shiryo/nenkei/chu/data/r7chu-gi_hyokakijun.pdf</ns9:t>
            </ns9:r>
          </ns9:p>
          <ns10:p xmlns:ns10="http://schemas.openxmlformats.org/drawingml/2006/main">
            <ns10:r>
              <ns10:t>L02-S15：オンデマンド版。対面用の元スライド番号を維持。</ns10:t>
            </ns10:r>
          </ns10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参考資料</ns0:t>
            </ns0:r>
          </ns0:p>
          <ns1:p xmlns:ns1="http://schemas.openxmlformats.org/drawingml/2006/main">
            <ns1:r>
              <ns1:t>Wood Handbook 2021 第3章 https://research.fs.usda.gov/treesearch/62242</ns1:t>
            </ns1:r>
          </ns1:p>
          <ns2:p xmlns:ns2="http://schemas.openxmlformats.org/drawingml/2006/main">
            <ns2:r>
              <ns2:t>Wood Handbook 2021 第4章 https://research.fs.usda.gov/treesearch/62243</ns2:t>
            </ns2:r>
          </ns2:p>
          <ns3:p xmlns:ns3="http://schemas.openxmlformats.org/drawingml/2006/main">
            <ns3:r>
              <ns3:t>https://www.ffpri.go.jp/pubs/bulletin/151/documents/194-7.pdf</ns3:t>
            </ns3:r>
          </ns3:p>
          <ns4:p xmlns:ns4="http://schemas.openxmlformats.org/drawingml/2006/main">
            <ns4:r>
              <ns4:t>https://www.jstage.jst.go.jp/article/jjfe/51/2/51_KJ00005982751/_pdf</ns4:t>
            </ns4:r>
          </ns4:p>
          <ns5:p xmlns:ns5="http://schemas.openxmlformats.org/drawingml/2006/main">
            <ns5:r>
              <ns5:t>https://db.ffpri.go.jp/WoodDB/</ns5:t>
            </ns5:r>
          </ns5:p>
          <ns6:p xmlns:ns6="http://schemas.openxmlformats.org/drawingml/2006/main">
            <ns6:r>
              <ns6:t>https://www.jstage.jst.go.jp/article/jsms/70/3/70_245/_pdf/-char/ja</ns6:t>
            </ns6:r>
          </ns6:p>
          <ns7:p xmlns:ns7="http://schemas.openxmlformats.org/drawingml/2006/main">
            <ns7:r>
              <ns7:t>城南SSH講義資料 2022年 13～24枚目</ns7:t>
            </ns7:r>
          </ns7:p>
          <ns8:p xmlns:ns8="http://schemas.openxmlformats.org/drawingml/2006/main">
            <ns8:r>
              <ns8:t>https://www.mext.go.jp/component/a_menu/education/micro_detail/__icsFiles/afieldfile/2019/03/18/1387018_009.pdf</ns8:t>
            </ns8:r>
          </ns8:p>
          <ns9:p xmlns:ns9="http://schemas.openxmlformats.org/drawingml/2006/main">
            <ns9:r>
              <ns9:t>https://www.kairyudo.co.jp/contents/04_shiryo/nenkei/chu/data/r7chu-gi_hyokakijun.pdf</ns9:t>
            </ns9:r>
          </ns9:p>
          <ns10:p xmlns:ns10="http://schemas.openxmlformats.org/drawingml/2006/main">
            <ns10:r>
              <ns10:t>L02-S16：オンデマンド版。対面用の元スライド番号を維持。</ns10:t>
            </ns10:r>
          </ns10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参考資料</ns0:t>
            </ns0:r>
          </ns0:p>
          <ns1:p xmlns:ns1="http://schemas.openxmlformats.org/drawingml/2006/main">
            <ns1:r>
              <ns1:t>Wood Handbook 2021 第3章 https://research.fs.usda.gov/treesearch/62242</ns1:t>
            </ns1:r>
          </ns1:p>
          <ns2:p xmlns:ns2="http://schemas.openxmlformats.org/drawingml/2006/main">
            <ns2:r>
              <ns2:t>Wood Handbook 2021 第4章 https://research.fs.usda.gov/treesearch/62243</ns2:t>
            </ns2:r>
          </ns2:p>
          <ns3:p xmlns:ns3="http://schemas.openxmlformats.org/drawingml/2006/main">
            <ns3:r>
              <ns3:t>https://www.ffpri.go.jp/pubs/bulletin/151/documents/194-7.pdf</ns3:t>
            </ns3:r>
          </ns3:p>
          <ns4:p xmlns:ns4="http://schemas.openxmlformats.org/drawingml/2006/main">
            <ns4:r>
              <ns4:t>https://www.jstage.jst.go.jp/article/jjfe/51/2/51_KJ00005982751/_pdf</ns4:t>
            </ns4:r>
          </ns4:p>
          <ns5:p xmlns:ns5="http://schemas.openxmlformats.org/drawingml/2006/main">
            <ns5:r>
              <ns5:t>https://db.ffpri.go.jp/WoodDB/</ns5:t>
            </ns5:r>
          </ns5:p>
          <ns6:p xmlns:ns6="http://schemas.openxmlformats.org/drawingml/2006/main">
            <ns6:r>
              <ns6:t>https://www.jstage.jst.go.jp/article/jsms/70/3/70_245/_pdf/-char/ja</ns6:t>
            </ns6:r>
          </ns6:p>
          <ns7:p xmlns:ns7="http://schemas.openxmlformats.org/drawingml/2006/main">
            <ns7:r>
              <ns7:t>城南SSH講義資料 2022年 13～24枚目</ns7:t>
            </ns7:r>
          </ns7:p>
          <ns8:p xmlns:ns8="http://schemas.openxmlformats.org/drawingml/2006/main">
            <ns8:r>
              <ns8:t>https://www.mext.go.jp/component/a_menu/education/micro_detail/__icsFiles/afieldfile/2019/03/18/1387018_009.pdf</ns8:t>
            </ns8:r>
          </ns8:p>
          <ns9:p xmlns:ns9="http://schemas.openxmlformats.org/drawingml/2006/main">
            <ns9:r>
              <ns9:t>https://www.kairyudo.co.jp/contents/04_shiryo/nenkei/chu/data/r7chu-gi_hyokakijun.pdf</ns9:t>
            </ns9:r>
          </ns9:p>
          <ns10:p xmlns:ns10="http://schemas.openxmlformats.org/drawingml/2006/main">
            <ns10:r>
              <ns10:t>L02-S26：オンデマンド版。対面用の元スライド番号を維持。</ns10:t>
            </ns10:r>
          </ns10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参考資料</ns0:t>
            </ns0:r>
          </ns0:p>
          <ns1:p xmlns:ns1="http://schemas.openxmlformats.org/drawingml/2006/main">
            <ns1:r>
              <ns1:t>Wood Handbook 2021 第3章 https://research.fs.usda.gov/treesearch/62242</ns1:t>
            </ns1:r>
          </ns1:p>
          <ns2:p xmlns:ns2="http://schemas.openxmlformats.org/drawingml/2006/main">
            <ns2:r>
              <ns2:t>Wood Handbook 2021 第4章 https://research.fs.usda.gov/treesearch/62243</ns2:t>
            </ns2:r>
          </ns2:p>
          <ns3:p xmlns:ns3="http://schemas.openxmlformats.org/drawingml/2006/main">
            <ns3:r>
              <ns3:t>https://www.ffpri.go.jp/pubs/bulletin/151/documents/194-7.pdf</ns3:t>
            </ns3:r>
          </ns3:p>
          <ns4:p xmlns:ns4="http://schemas.openxmlformats.org/drawingml/2006/main">
            <ns4:r>
              <ns4:t>https://www.jstage.jst.go.jp/article/jjfe/51/2/51_KJ00005982751/_pdf</ns4:t>
            </ns4:r>
          </ns4:p>
          <ns5:p xmlns:ns5="http://schemas.openxmlformats.org/drawingml/2006/main">
            <ns5:r>
              <ns5:t>https://db.ffpri.go.jp/WoodDB/</ns5:t>
            </ns5:r>
          </ns5:p>
          <ns6:p xmlns:ns6="http://schemas.openxmlformats.org/drawingml/2006/main">
            <ns6:r>
              <ns6:t>https://www.jstage.jst.go.jp/article/jsms/70/3/70_245/_pdf/-char/ja</ns6:t>
            </ns6:r>
          </ns6:p>
          <ns7:p xmlns:ns7="http://schemas.openxmlformats.org/drawingml/2006/main">
            <ns7:r>
              <ns7:t>城南SSH講義資料 2022年 13～24枚目</ns7:t>
            </ns7:r>
          </ns7:p>
          <ns8:p xmlns:ns8="http://schemas.openxmlformats.org/drawingml/2006/main">
            <ns8:r>
              <ns8:t>https://www.mext.go.jp/component/a_menu/education/micro_detail/__icsFiles/afieldfile/2019/03/18/1387018_009.pdf</ns8:t>
            </ns8:r>
          </ns8:p>
          <ns9:p xmlns:ns9="http://schemas.openxmlformats.org/drawingml/2006/main">
            <ns9:r>
              <ns9:t>https://www.kairyudo.co.jp/contents/04_shiryo/nenkei/chu/data/r7chu-gi_hyokakijun.pdf</ns9:t>
            </ns9:r>
          </ns9:p>
          <ns10:p xmlns:ns10="http://schemas.openxmlformats.org/drawingml/2006/main">
            <ns10:r>
              <ns10:t>L02-S30：オンデマンド版。対面用の元スライド番号を維持。</ns10:t>
            </ns10:r>
          </ns10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参考資料</ns0:t>
            </ns0:r>
          </ns0:p>
          <ns1:p xmlns:ns1="http://schemas.openxmlformats.org/drawingml/2006/main">
            <ns1:r>
              <ns1:t>Wood Handbook 2021 第3章 https://research.fs.usda.gov/treesearch/62242</ns1:t>
            </ns1:r>
          </ns1:p>
          <ns2:p xmlns:ns2="http://schemas.openxmlformats.org/drawingml/2006/main">
            <ns2:r>
              <ns2:t>Wood Handbook 2021 第4章 https://research.fs.usda.gov/treesearch/62243</ns2:t>
            </ns2:r>
          </ns2:p>
          <ns3:p xmlns:ns3="http://schemas.openxmlformats.org/drawingml/2006/main">
            <ns3:r>
              <ns3:t>https://www.ffpri.go.jp/pubs/bulletin/151/documents/194-7.pdf</ns3:t>
            </ns3:r>
          </ns3:p>
          <ns4:p xmlns:ns4="http://schemas.openxmlformats.org/drawingml/2006/main">
            <ns4:r>
              <ns4:t>https://www.jstage.jst.go.jp/article/jjfe/51/2/51_KJ00005982751/_pdf</ns4:t>
            </ns4:r>
          </ns4:p>
          <ns5:p xmlns:ns5="http://schemas.openxmlformats.org/drawingml/2006/main">
            <ns5:r>
              <ns5:t>https://db.ffpri.go.jp/WoodDB/</ns5:t>
            </ns5:r>
          </ns5:p>
          <ns6:p xmlns:ns6="http://schemas.openxmlformats.org/drawingml/2006/main">
            <ns6:r>
              <ns6:t>https://www.jstage.jst.go.jp/article/jsms/70/3/70_245/_pdf/-char/ja</ns6:t>
            </ns6:r>
          </ns6:p>
          <ns7:p xmlns:ns7="http://schemas.openxmlformats.org/drawingml/2006/main">
            <ns7:r>
              <ns7:t>城南SSH講義資料 2022年 13～24枚目</ns7:t>
            </ns7:r>
          </ns7:p>
          <ns8:p xmlns:ns8="http://schemas.openxmlformats.org/drawingml/2006/main">
            <ns8:r>
              <ns8:t>https://www.mext.go.jp/component/a_menu/education/micro_detail/__icsFiles/afieldfile/2019/03/18/1387018_009.pdf</ns8:t>
            </ns8:r>
          </ns8:p>
          <ns9:p xmlns:ns9="http://schemas.openxmlformats.org/drawingml/2006/main">
            <ns9:r>
              <ns9:t>https://www.kairyudo.co.jp/contents/04_shiryo/nenkei/chu/data/r7chu-gi_hyokakijun.pdf</ns9:t>
            </ns9:r>
          </ns9:p>
          <ns10:p xmlns:ns10="http://schemas.openxmlformats.org/drawingml/2006/main">
            <ns10:r>
              <ns10:t>L02-S31：オンデマンド版。対面用の元スライド番号を維持。</ns10:t>
            </ns10:r>
          </ns10:p>
          <ns11:p xmlns:ns11="http://schemas.openxmlformats.org/drawingml/2006/main">
            <ns11:r>
              <ns11:t>オンデマンド版では宿題を自己確認の復習と表記。既存のA1～A4以外に新しい提出課題を追加しない。</ns11:t>
            </ns11:r>
          </ns11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ondemand_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/>
            </ns0:r>
          </ns0:p>
          <ns1:p xmlns:ns1="http://schemas.openxmlformats.org/drawingml/2006/main">
            <ns1:r>
              <ns1:t>L02-R1：オンデマンド版。対面用の元スライド番号を維持。</ns1:t>
            </ns1:r>
          </ns1:p>
          <ns2:p xmlns:ns2="http://schemas.openxmlformats.org/drawingml/2006/main">
            <ns2:r>
              <ns2:t>ここで短い休憩を入れます。画面から目を離して、姿勢を変えましょう。肩を軽く上げて下ろす、手を開いて閉じるなど、できる範囲でかまいません。動作は任意です。再開するときには、声を掛けます。</ns2:t>
            </ns2:r>
          </ns2:p>
          <ns3:p xmlns:ns3="http://schemas.openxmlformats.org/drawingml/2006/main">
            <ns3:r>
              <ns3:t>それでは、再開します。組織写真の観察から、年輪の内部へ進みます。</ns3:t>
            </ns3:r>
          </ns3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ondemand_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/>
            </ns0:r>
          </ns0:p>
          <ns1:p xmlns:ns1="http://schemas.openxmlformats.org/drawingml/2006/main">
            <ns1:r>
              <ns1:t>L02-R2：オンデマンド版。対面用の元スライド番号を維持。</ns1:t>
            </ns1:r>
          </ns1:p>
          <ns2:p xmlns:ns2="http://schemas.openxmlformats.org/drawingml/2006/main">
            <ns2:r>
              <ns2:t>ここで短い休憩を入れます。画面から目を離して、姿勢を変えましょう。肩を軽く上げて下ろす、手を開いて閉じるなど、できる範囲でかまいません。動作は任意です。再開するときには、声を掛けます。</ns2:t>
            </ns2:r>
          </ns2:p>
          <ns3:p xmlns:ns3="http://schemas.openxmlformats.org/drawingml/2006/main">
            <ns3:r>
              <ns3:t>それでは、再開します。壁の割合と密度を、モデルで計算します。</ns3:t>
            </ns3:r>
          </ns3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ondemand_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/>
            </ns0:r>
          </ns0:p>
          <ns1:p xmlns:ns1="http://schemas.openxmlformats.org/drawingml/2006/main">
            <ns1:r>
              <ns1:t>L02-R3：オンデマンド版。対面用の元スライド番号を維持。</ns1:t>
            </ns1:r>
          </ns1:p>
          <ns2:p xmlns:ns2="http://schemas.openxmlformats.org/drawingml/2006/main">
            <ns2:r>
              <ns2:t>ここで短い休憩を入れます。画面から目を離して、姿勢を変えましょう。肩を軽く上げて下ろす、手を開いて閉じるなど、できる範囲でかまいません。動作は任意です。再開するときには、声を掛けます。</ns2:t>
            </ns2:r>
          </ns2:p>
          <ns3:p xmlns:ns3="http://schemas.openxmlformats.org/drawingml/2006/main">
            <ns3:r>
              <ns3:t>それでは、再開します。観察と測定を整理し、技術科の授業へつなげます。</ns3:t>
            </ns3:r>
          </ns3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title_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科目情報は担当教員のコメント（2026年10月24日）による。シラバスURLは指定されたリンク。リンク先の個別科目の本文は未確認。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v5_02_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参考資料</ns0:t>
            </ns0:r>
          </ns0:p>
          <ns1:p xmlns:ns1="http://schemas.openxmlformats.org/drawingml/2006/main">
            <ns1:r>
              <ns1:t>Wood Handbook 2021 第3章 https://research.fs.usda.gov/treesearch/62242</ns1:t>
            </ns1:r>
          </ns1:p>
          <ns2:p xmlns:ns2="http://schemas.openxmlformats.org/drawingml/2006/main">
            <ns2:r>
              <ns2:t>Wood Handbook 2021 第4章 https://research.fs.usda.gov/treesearch/62243</ns2:t>
            </ns2:r>
          </ns2:p>
          <ns3:p xmlns:ns3="http://schemas.openxmlformats.org/drawingml/2006/main">
            <ns3:r>
              <ns3:t>https://www.ffpri.go.jp/pubs/bulletin/151/documents/194-7.pdf</ns3:t>
            </ns3:r>
          </ns3:p>
          <ns4:p xmlns:ns4="http://schemas.openxmlformats.org/drawingml/2006/main">
            <ns4:r>
              <ns4:t>https://www.jstage.jst.go.jp/article/jjfe/51/2/51_KJ00005982751/_pdf</ns4:t>
            </ns4:r>
          </ns4:p>
          <ns5:p xmlns:ns5="http://schemas.openxmlformats.org/drawingml/2006/main">
            <ns5:r>
              <ns5:t>https://db.ffpri.go.jp/WoodDB/</ns5:t>
            </ns5:r>
          </ns5:p>
          <ns6:p xmlns:ns6="http://schemas.openxmlformats.org/drawingml/2006/main">
            <ns6:r>
              <ns6:t>https://www.jstage.jst.go.jp/article/jsms/70/3/70_245/_pdf/-char/ja</ns6:t>
            </ns6:r>
          </ns6:p>
          <ns7:p xmlns:ns7="http://schemas.openxmlformats.org/drawingml/2006/main">
            <ns7:r>
              <ns7:t>https://www.mext.go.jp/component/a_menu/education/micro_detail/__icsFiles/afieldfile/2019/03/18/1387018_009.pdf</ns7:t>
            </ns7:r>
          </ns7:p>
          <ns8:p xmlns:ns8="http://schemas.openxmlformats.org/drawingml/2006/main">
            <ns8:r>
              <ns8:t>https://www.kairyudo.co.jp/contents/04_shiryo/nenkei/chu/data/r7chu-gi_hyokakijun.pdf</ns8:t>
            </ns8:r>
          </ns8:p>
          <ns9:p xmlns:ns9="http://schemas.openxmlformats.org/drawingml/2006/main">
            <ns9:r>
              <ns9:t>L02-S03：オンデマンド版。対面用の元スライド番号を維持。</ns9:t>
            </ns9:r>
          </ns9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v5_02_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参考資料</ns0:t>
            </ns0:r>
          </ns0:p>
          <ns1:p xmlns:ns1="http://schemas.openxmlformats.org/drawingml/2006/main">
            <ns1:r>
              <ns1:t>Wood Handbook 2021 第3章 https://research.fs.usda.gov/treesearch/62242</ns1:t>
            </ns1:r>
          </ns1:p>
          <ns2:p xmlns:ns2="http://schemas.openxmlformats.org/drawingml/2006/main">
            <ns2:r>
              <ns2:t>Wood Handbook 2021 第4章 https://research.fs.usda.gov/treesearch/62243</ns2:t>
            </ns2:r>
          </ns2:p>
          <ns3:p xmlns:ns3="http://schemas.openxmlformats.org/drawingml/2006/main">
            <ns3:r>
              <ns3:t>https://www.ffpri.go.jp/pubs/bulletin/151/documents/194-7.pdf</ns3:t>
            </ns3:r>
          </ns3:p>
          <ns4:p xmlns:ns4="http://schemas.openxmlformats.org/drawingml/2006/main">
            <ns4:r>
              <ns4:t>https://www.jstage.jst.go.jp/article/jjfe/51/2/51_KJ00005982751/_pdf</ns4:t>
            </ns4:r>
          </ns4:p>
          <ns5:p xmlns:ns5="http://schemas.openxmlformats.org/drawingml/2006/main">
            <ns5:r>
              <ns5:t>https://db.ffpri.go.jp/WoodDB/</ns5:t>
            </ns5:r>
          </ns5:p>
          <ns6:p xmlns:ns6="http://schemas.openxmlformats.org/drawingml/2006/main">
            <ns6:r>
              <ns6:t>https://www.jstage.jst.go.jp/article/jsms/70/3/70_245/_pdf/-char/ja</ns6:t>
            </ns6:r>
          </ns6:p>
          <ns7:p xmlns:ns7="http://schemas.openxmlformats.org/drawingml/2006/main">
            <ns7:r>
              <ns7:t>https://www.mext.go.jp/component/a_menu/education/micro_detail/__icsFiles/afieldfile/2019/03/18/1387018_009.pdf</ns7:t>
            </ns7:r>
          </ns7:p>
          <ns8:p xmlns:ns8="http://schemas.openxmlformats.org/drawingml/2006/main">
            <ns8:r>
              <ns8:t>https://www.kairyudo.co.jp/contents/04_shiryo/nenkei/chu/data/r7chu-gi_hyokakijun.pdf</ns8:t>
            </ns8:r>
          </ns8:p>
          <ns9:p xmlns:ns9="http://schemas.openxmlformats.org/drawingml/2006/main">
            <ns9:r>
              <ns9:t>L02-S06：オンデマンド版。対面用の元スライド番号を維持。</ns9:t>
            </ns9:r>
          </ns9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v5_02_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参考資料</ns0:t>
            </ns0:r>
          </ns0:p>
          <ns1:p xmlns:ns1="http://schemas.openxmlformats.org/drawingml/2006/main">
            <ns1:r>
              <ns1:t>Wood Handbook 2021 第3章 https://research.fs.usda.gov/treesearch/62242</ns1:t>
            </ns1:r>
          </ns1:p>
          <ns2:p xmlns:ns2="http://schemas.openxmlformats.org/drawingml/2006/main">
            <ns2:r>
              <ns2:t>Wood Handbook 2021 第4章 https://research.fs.usda.gov/treesearch/62243</ns2:t>
            </ns2:r>
          </ns2:p>
          <ns3:p xmlns:ns3="http://schemas.openxmlformats.org/drawingml/2006/main">
            <ns3:r>
              <ns3:t>https://www.ffpri.go.jp/pubs/bulletin/151/documents/194-7.pdf</ns3:t>
            </ns3:r>
          </ns3:p>
          <ns4:p xmlns:ns4="http://schemas.openxmlformats.org/drawingml/2006/main">
            <ns4:r>
              <ns4:t>https://www.jstage.jst.go.jp/article/jjfe/51/2/51_KJ00005982751/_pdf</ns4:t>
            </ns4:r>
          </ns4:p>
          <ns5:p xmlns:ns5="http://schemas.openxmlformats.org/drawingml/2006/main">
            <ns5:r>
              <ns5:t>https://db.ffpri.go.jp/WoodDB/</ns5:t>
            </ns5:r>
          </ns5:p>
          <ns6:p xmlns:ns6="http://schemas.openxmlformats.org/drawingml/2006/main">
            <ns6:r>
              <ns6:t>https://www.jstage.jst.go.jp/article/jsms/70/3/70_245/_pdf/-char/ja</ns6:t>
            </ns6:r>
          </ns6:p>
          <ns7:p xmlns:ns7="http://schemas.openxmlformats.org/drawingml/2006/main">
            <ns7:r>
              <ns7:t>https://www.mext.go.jp/component/a_menu/education/micro_detail/__icsFiles/afieldfile/2019/03/18/1387018_009.pdf</ns7:t>
            </ns7:r>
          </ns7:p>
          <ns8:p xmlns:ns8="http://schemas.openxmlformats.org/drawingml/2006/main">
            <ns8:r>
              <ns8:t>https://www.kairyudo.co.jp/contents/04_shiryo/nenkei/chu/data/r7chu-gi_hyokakijun.pdf</ns8:t>
            </ns8:r>
          </ns8:p>
          <ns9:p xmlns:ns9="http://schemas.openxmlformats.org/drawingml/2006/main">
            <ns9:r>
              <ns9:t>L02-S12：オンデマンド版。対面用の元スライド番号を維持。</ns9:t>
            </ns9:r>
          </ns9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v5_02_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参考資料</ns0:t>
            </ns0:r>
          </ns0:p>
          <ns1:p xmlns:ns1="http://schemas.openxmlformats.org/drawingml/2006/main">
            <ns1:r>
              <ns1:t>Wood Handbook 2021 第3章 https://research.fs.usda.gov/treesearch/62242</ns1:t>
            </ns1:r>
          </ns1:p>
          <ns2:p xmlns:ns2="http://schemas.openxmlformats.org/drawingml/2006/main">
            <ns2:r>
              <ns2:t>Wood Handbook 2021 第4章 https://research.fs.usda.gov/treesearch/62243</ns2:t>
            </ns2:r>
          </ns2:p>
          <ns3:p xmlns:ns3="http://schemas.openxmlformats.org/drawingml/2006/main">
            <ns3:r>
              <ns3:t>https://www.ffpri.go.jp/pubs/bulletin/151/documents/194-7.pdf</ns3:t>
            </ns3:r>
          </ns3:p>
          <ns4:p xmlns:ns4="http://schemas.openxmlformats.org/drawingml/2006/main">
            <ns4:r>
              <ns4:t>https://www.jstage.jst.go.jp/article/jjfe/51/2/51_KJ00005982751/_pdf</ns4:t>
            </ns4:r>
          </ns4:p>
          <ns5:p xmlns:ns5="http://schemas.openxmlformats.org/drawingml/2006/main">
            <ns5:r>
              <ns5:t>https://db.ffpri.go.jp/WoodDB/</ns5:t>
            </ns5:r>
          </ns5:p>
          <ns6:p xmlns:ns6="http://schemas.openxmlformats.org/drawingml/2006/main">
            <ns6:r>
              <ns6:t>https://www.jstage.jst.go.jp/article/jsms/70/3/70_245/_pdf/-char/ja</ns6:t>
            </ns6:r>
          </ns6:p>
          <ns7:p xmlns:ns7="http://schemas.openxmlformats.org/drawingml/2006/main">
            <ns7:r>
              <ns7:t>https://www.mext.go.jp/component/a_menu/education/micro_detail/__icsFiles/afieldfile/2019/03/18/1387018_009.pdf</ns7:t>
            </ns7:r>
          </ns7:p>
          <ns8:p xmlns:ns8="http://schemas.openxmlformats.org/drawingml/2006/main">
            <ns8:r>
              <ns8:t>https://www.kairyudo.co.jp/contents/04_shiryo/nenkei/chu/data/r7chu-gi_hyokakijun.pdf</ns8:t>
            </ns8:r>
          </ns8:p>
          <ns9:p xmlns:ns9="http://schemas.openxmlformats.org/drawingml/2006/main">
            <ns9:r>
              <ns9:t>L02-S17：オンデマンド版。対面用の元スライド番号を維持。</ns9:t>
            </ns9:r>
          </ns9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v5_02_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参考資料</ns0:t>
            </ns0:r>
          </ns0:p>
          <ns1:p xmlns:ns1="http://schemas.openxmlformats.org/drawingml/2006/main">
            <ns1:r>
              <ns1:t>Wood Handbook 2021 第3章 https://research.fs.usda.gov/treesearch/62242</ns1:t>
            </ns1:r>
          </ns1:p>
          <ns2:p xmlns:ns2="http://schemas.openxmlformats.org/drawingml/2006/main">
            <ns2:r>
              <ns2:t>Wood Handbook 2021 第4章 https://research.fs.usda.gov/treesearch/62243</ns2:t>
            </ns2:r>
          </ns2:p>
          <ns3:p xmlns:ns3="http://schemas.openxmlformats.org/drawingml/2006/main">
            <ns3:r>
              <ns3:t>https://www.ffpri.go.jp/pubs/bulletin/151/documents/194-7.pdf</ns3:t>
            </ns3:r>
          </ns3:p>
          <ns4:p xmlns:ns4="http://schemas.openxmlformats.org/drawingml/2006/main">
            <ns4:r>
              <ns4:t>https://www.jstage.jst.go.jp/article/jjfe/51/2/51_KJ00005982751/_pdf</ns4:t>
            </ns4:r>
          </ns4:p>
          <ns5:p xmlns:ns5="http://schemas.openxmlformats.org/drawingml/2006/main">
            <ns5:r>
              <ns5:t>https://db.ffpri.go.jp/WoodDB/</ns5:t>
            </ns5:r>
          </ns5:p>
          <ns6:p xmlns:ns6="http://schemas.openxmlformats.org/drawingml/2006/main">
            <ns6:r>
              <ns6:t>https://www.jstage.jst.go.jp/article/jsms/70/3/70_245/_pdf/-char/ja</ns6:t>
            </ns6:r>
          </ns6:p>
          <ns7:p xmlns:ns7="http://schemas.openxmlformats.org/drawingml/2006/main">
            <ns7:r>
              <ns7:t>https://www.mext.go.jp/component/a_menu/education/micro_detail/__icsFiles/afieldfile/2019/03/18/1387018_009.pdf</ns7:t>
            </ns7:r>
          </ns7:p>
          <ns8:p xmlns:ns8="http://schemas.openxmlformats.org/drawingml/2006/main">
            <ns8:r>
              <ns8:t>https://www.kairyudo.co.jp/contents/04_shiryo/nenkei/chu/data/r7chu-gi_hyokakijun.pdf</ns8:t>
            </ns8:r>
          </ns8:p>
          <ns9:p xmlns:ns9="http://schemas.openxmlformats.org/drawingml/2006/main">
            <ns9:r>
              <ns9:t>L02-S19：オンデマンド版。対面用の元スライド番号を維持。</ns9:t>
            </ns9:r>
          </ns9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v5_02_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参考資料</ns0:t>
            </ns0:r>
          </ns0:p>
          <ns1:p xmlns:ns1="http://schemas.openxmlformats.org/drawingml/2006/main">
            <ns1:r>
              <ns1:t>https://www.jstage.jst.go.jp/article/jjfe/51/2/51_KJ00005982751/_pdf</ns1:t>
            </ns1:r>
          </ns1:p>
          <ns2:p xmlns:ns2="http://schemas.openxmlformats.org/drawingml/2006/main">
            <ns2:r>
              <ns2:t>Wood Handbook 2021 第3章 https://research.fs.usda.gov/treesearch/62242</ns2:t>
            </ns2:r>
          </ns2:p>
          <ns3:p xmlns:ns3="http://schemas.openxmlformats.org/drawingml/2006/main">
            <ns3:r>
              <ns3:t>Wood Handbook 2021 第4章 https://research.fs.usda.gov/treesearch/62243</ns3:t>
            </ns3:r>
          </ns3:p>
          <ns4:p xmlns:ns4="http://schemas.openxmlformats.org/drawingml/2006/main">
            <ns4:r>
              <ns4:t>https://www.ffpri.go.jp/pubs/bulletin/151/documents/194-7.pdf</ns4:t>
            </ns4:r>
          </ns4:p>
          <ns5:p xmlns:ns5="http://schemas.openxmlformats.org/drawingml/2006/main">
            <ns5:r>
              <ns5:t>https://db.ffpri.go.jp/WoodDB/</ns5:t>
            </ns5:r>
          </ns5:p>
          <ns6:p xmlns:ns6="http://schemas.openxmlformats.org/drawingml/2006/main">
            <ns6:r>
              <ns6:t>https://www.jstage.jst.go.jp/article/jsms/70/3/70_245/_pdf/-char/ja</ns6:t>
            </ns6:r>
          </ns6:p>
          <ns7:p xmlns:ns7="http://schemas.openxmlformats.org/drawingml/2006/main">
            <ns7:r>
              <ns7:t>https://www.mext.go.jp/component/a_menu/education/micro_detail/__icsFiles/afieldfile/2019/03/18/1387018_009.pdf</ns7:t>
            </ns7:r>
          </ns7:p>
          <ns8:p xmlns:ns8="http://schemas.openxmlformats.org/drawingml/2006/main">
            <ns8:r>
              <ns8:t>https://www.kairyudo.co.jp/contents/04_shiryo/nenkei/chu/data/r7chu-gi_hyokakijun.pdf</ns8:t>
            </ns8:r>
          </ns8:p>
          <ns9:p xmlns:ns9="http://schemas.openxmlformats.org/drawingml/2006/main">
            <ns9:r>
              <ns9:t>L02-S20：オンデマンド版。対面用の元スライド番号を維持。</ns9:t>
            </ns9:r>
          </ns9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v5_02_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参考資料</ns0:t>
            </ns0:r>
          </ns0:p>
          <ns1:p xmlns:ns1="http://schemas.openxmlformats.org/drawingml/2006/main">
            <ns1:r>
              <ns1:t>Wood Handbook 2021 第3章 https://research.fs.usda.gov/treesearch/62242</ns1:t>
            </ns1:r>
          </ns1:p>
          <ns2:p xmlns:ns2="http://schemas.openxmlformats.org/drawingml/2006/main">
            <ns2:r>
              <ns2:t>Wood Handbook 2021 第4章 https://research.fs.usda.gov/treesearch/62243</ns2:t>
            </ns2:r>
          </ns2:p>
          <ns3:p xmlns:ns3="http://schemas.openxmlformats.org/drawingml/2006/main">
            <ns3:r>
              <ns3:t>https://www.ffpri.go.jp/pubs/bulletin/151/documents/194-7.pdf</ns3:t>
            </ns3:r>
          </ns3:p>
          <ns4:p xmlns:ns4="http://schemas.openxmlformats.org/drawingml/2006/main">
            <ns4:r>
              <ns4:t>https://www.jstage.jst.go.jp/article/jjfe/51/2/51_KJ00005982751/_pdf</ns4:t>
            </ns4:r>
          </ns4:p>
          <ns5:p xmlns:ns5="http://schemas.openxmlformats.org/drawingml/2006/main">
            <ns5:r>
              <ns5:t>https://db.ffpri.go.jp/WoodDB/</ns5:t>
            </ns5:r>
          </ns5:p>
          <ns6:p xmlns:ns6="http://schemas.openxmlformats.org/drawingml/2006/main">
            <ns6:r>
              <ns6:t>https://www.jstage.jst.go.jp/article/jsms/70/3/70_245/_pdf/-char/ja</ns6:t>
            </ns6:r>
          </ns6:p>
          <ns7:p xmlns:ns7="http://schemas.openxmlformats.org/drawingml/2006/main">
            <ns7:r>
              <ns7:t>https://www.mext.go.jp/component/a_menu/education/micro_detail/__icsFiles/afieldfile/2019/03/18/1387018_009.pdf</ns7:t>
            </ns7:r>
          </ns7:p>
          <ns8:p xmlns:ns8="http://schemas.openxmlformats.org/drawingml/2006/main">
            <ns8:r>
              <ns8:t>https://www.kairyudo.co.jp/contents/04_shiryo/nenkei/chu/data/r7chu-gi_hyokakijun.pdf</ns8:t>
            </ns8:r>
          </ns8:p>
          <ns9:p xmlns:ns9="http://schemas.openxmlformats.org/drawingml/2006/main">
            <ns9:r>
              <ns9:t>L02-S21：オンデマンド版。対面用の元スライド番号を維持。</ns9:t>
            </ns9:r>
          </ns9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v5_02_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参考資料</ns0:t>
            </ns0:r>
          </ns0:p>
          <ns1:p xmlns:ns1="http://schemas.openxmlformats.org/drawingml/2006/main">
            <ns1:r>
              <ns1:t>Wood Handbook 2021 第3章 https://research.fs.usda.gov/treesearch/62242</ns1:t>
            </ns1:r>
          </ns1:p>
          <ns2:p xmlns:ns2="http://schemas.openxmlformats.org/drawingml/2006/main">
            <ns2:r>
              <ns2:t>Wood Handbook 2021 第4章 https://research.fs.usda.gov/treesearch/62243</ns2:t>
            </ns2:r>
          </ns2:p>
          <ns3:p xmlns:ns3="http://schemas.openxmlformats.org/drawingml/2006/main">
            <ns3:r>
              <ns3:t>https://www.ffpri.go.jp/pubs/bulletin/151/documents/194-7.pdf</ns3:t>
            </ns3:r>
          </ns3:p>
          <ns4:p xmlns:ns4="http://schemas.openxmlformats.org/drawingml/2006/main">
            <ns4:r>
              <ns4:t>https://www.jstage.jst.go.jp/article/jjfe/51/2/51_KJ00005982751/_pdf</ns4:t>
            </ns4:r>
          </ns4:p>
          <ns5:p xmlns:ns5="http://schemas.openxmlformats.org/drawingml/2006/main">
            <ns5:r>
              <ns5:t>https://db.ffpri.go.jp/WoodDB/</ns5:t>
            </ns5:r>
          </ns5:p>
          <ns6:p xmlns:ns6="http://schemas.openxmlformats.org/drawingml/2006/main">
            <ns6:r>
              <ns6:t>https://www.jstage.jst.go.jp/article/jsms/70/3/70_245/_pdf/-char/ja</ns6:t>
            </ns6:r>
          </ns6:p>
          <ns7:p xmlns:ns7="http://schemas.openxmlformats.org/drawingml/2006/main">
            <ns7:r>
              <ns7:t>https://www.mext.go.jp/component/a_menu/education/micro_detail/__icsFiles/afieldfile/2019/03/18/1387018_009.pdf</ns7:t>
            </ns7:r>
          </ns7:p>
          <ns8:p xmlns:ns8="http://schemas.openxmlformats.org/drawingml/2006/main">
            <ns8:r>
              <ns8:t>https://www.kairyudo.co.jp/contents/04_shiryo/nenkei/chu/data/r7chu-gi_hyokakijun.pdf</ns8:t>
            </ns8:r>
          </ns8:p>
          <ns9:p xmlns:ns9="http://schemas.openxmlformats.org/drawingml/2006/main">
            <ns9:r>
              <ns9:t>L02-S22：オンデマンド版。対面用の元スライド番号を維持。</ns9:t>
            </ns9:r>
          </ns9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v5_02_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参考資料</ns0:t>
            </ns0:r>
          </ns0:p>
          <ns1:p xmlns:ns1="http://schemas.openxmlformats.org/drawingml/2006/main">
            <ns1:r>
              <ns1:t>Wood Handbook 2021 第3章 https://research.fs.usda.gov/treesearch/62242</ns1:t>
            </ns1:r>
          </ns1:p>
          <ns2:p xmlns:ns2="http://schemas.openxmlformats.org/drawingml/2006/main">
            <ns2:r>
              <ns2:t>Wood Handbook 2021 第4章 https://research.fs.usda.gov/treesearch/62243</ns2:t>
            </ns2:r>
          </ns2:p>
          <ns3:p xmlns:ns3="http://schemas.openxmlformats.org/drawingml/2006/main">
            <ns3:r>
              <ns3:t>https://www.ffpri.go.jp/pubs/bulletin/151/documents/194-7.pdf</ns3:t>
            </ns3:r>
          </ns3:p>
          <ns4:p xmlns:ns4="http://schemas.openxmlformats.org/drawingml/2006/main">
            <ns4:r>
              <ns4:t>https://www.jstage.jst.go.jp/article/jjfe/51/2/51_KJ00005982751/_pdf</ns4:t>
            </ns4:r>
          </ns4:p>
          <ns5:p xmlns:ns5="http://schemas.openxmlformats.org/drawingml/2006/main">
            <ns5:r>
              <ns5:t>https://db.ffpri.go.jp/WoodDB/</ns5:t>
            </ns5:r>
          </ns5:p>
          <ns6:p xmlns:ns6="http://schemas.openxmlformats.org/drawingml/2006/main">
            <ns6:r>
              <ns6:t>https://www.jstage.jst.go.jp/article/jsms/70/3/70_245/_pdf/-char/ja</ns6:t>
            </ns6:r>
          </ns6:p>
          <ns7:p xmlns:ns7="http://schemas.openxmlformats.org/drawingml/2006/main">
            <ns7:r>
              <ns7:t>https://www.mext.go.jp/component/a_menu/education/micro_detail/__icsFiles/afieldfile/2019/03/18/1387018_009.pdf</ns7:t>
            </ns7:r>
          </ns7:p>
          <ns8:p xmlns:ns8="http://schemas.openxmlformats.org/drawingml/2006/main">
            <ns8:r>
              <ns8:t>https://www.kairyudo.co.jp/contents/04_shiryo/nenkei/chu/data/r7chu-gi_hyokakijun.pdf</ns8:t>
            </ns8:r>
          </ns8:p>
          <ns9:p xmlns:ns9="http://schemas.openxmlformats.org/drawingml/2006/main">
            <ns9:r>
              <ns9:t>L02-S23：オンデマンド版。対面用の元スライド番号を維持。</ns9:t>
            </ns9:r>
          </ns9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v5_02_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参考資料</ns0:t>
            </ns0:r>
          </ns0:p>
          <ns1:p xmlns:ns1="http://schemas.openxmlformats.org/drawingml/2006/main">
            <ns1:r>
              <ns1:t>Wood Handbook 2021 第3章 https://research.fs.usda.gov/treesearch/62242</ns1:t>
            </ns1:r>
          </ns1:p>
          <ns2:p xmlns:ns2="http://schemas.openxmlformats.org/drawingml/2006/main">
            <ns2:r>
              <ns2:t>Wood Handbook 2021 第4章 https://research.fs.usda.gov/treesearch/62243</ns2:t>
            </ns2:r>
          </ns2:p>
          <ns3:p xmlns:ns3="http://schemas.openxmlformats.org/drawingml/2006/main">
            <ns3:r>
              <ns3:t>https://www.ffpri.go.jp/pubs/bulletin/151/documents/194-7.pdf</ns3:t>
            </ns3:r>
          </ns3:p>
          <ns4:p xmlns:ns4="http://schemas.openxmlformats.org/drawingml/2006/main">
            <ns4:r>
              <ns4:t>https://www.jstage.jst.go.jp/article/jjfe/51/2/51_KJ00005982751/_pdf</ns4:t>
            </ns4:r>
          </ns4:p>
          <ns5:p xmlns:ns5="http://schemas.openxmlformats.org/drawingml/2006/main">
            <ns5:r>
              <ns5:t>https://db.ffpri.go.jp/WoodDB/</ns5:t>
            </ns5:r>
          </ns5:p>
          <ns6:p xmlns:ns6="http://schemas.openxmlformats.org/drawingml/2006/main">
            <ns6:r>
              <ns6:t>https://www.jstage.jst.go.jp/article/jsms/70/3/70_245/_pdf/-char/ja</ns6:t>
            </ns6:r>
          </ns6:p>
          <ns7:p xmlns:ns7="http://schemas.openxmlformats.org/drawingml/2006/main">
            <ns7:r>
              <ns7:t>https://www.mext.go.jp/component/a_menu/education/micro_detail/__icsFiles/afieldfile/2019/03/18/1387018_009.pdf</ns7:t>
            </ns7:r>
          </ns7:p>
          <ns8:p xmlns:ns8="http://schemas.openxmlformats.org/drawingml/2006/main">
            <ns8:r>
              <ns8:t>https://www.kairyudo.co.jp/contents/04_shiryo/nenkei/chu/data/r7chu-gi_hyokakijun.pdf</ns8:t>
            </ns8:r>
          </ns8:p>
          <ns9:p xmlns:ns9="http://schemas.openxmlformats.org/drawingml/2006/main">
            <ns9:r>
              <ns9:t>L02-S24：オンデマンド版。対面用の元スライド番号を維持。</ns9:t>
            </ns9:r>
          </ns9:p>
          <ns10:p xmlns:ns10="http://schemas.openxmlformats.org/drawingml/2006/main">
            <ns10:r>
              <ns10:t>計算例は早材0.285、晩材0.765 g/cm³とし、同じ幅と厚さの直線状の帯を仮定。fを体積割合とする加重平均：A0.445、B0.605、C0.381。円環全体の体積割合を半径の幅だけで計算したものではない。架空モデルで、測定した樹種の物性値ではない。</ns10:t>
            </ns10:r>
          </ns10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v5_02_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参考資料</ns0:t>
            </ns0:r>
          </ns0:p>
          <ns1:p xmlns:ns1="http://schemas.openxmlformats.org/drawingml/2006/main">
            <ns1:r>
              <ns1:t>Wood Handbook 2021 第3章 https://research.fs.usda.gov/treesearch/62242</ns1:t>
            </ns1:r>
          </ns1:p>
          <ns2:p xmlns:ns2="http://schemas.openxmlformats.org/drawingml/2006/main">
            <ns2:r>
              <ns2:t>Wood Handbook 2021 第4章 https://research.fs.usda.gov/treesearch/62243</ns2:t>
            </ns2:r>
          </ns2:p>
          <ns3:p xmlns:ns3="http://schemas.openxmlformats.org/drawingml/2006/main">
            <ns3:r>
              <ns3:t>https://www.ffpri.go.jp/pubs/bulletin/151/documents/194-7.pdf</ns3:t>
            </ns3:r>
          </ns3:p>
          <ns4:p xmlns:ns4="http://schemas.openxmlformats.org/drawingml/2006/main">
            <ns4:r>
              <ns4:t>https://www.jstage.jst.go.jp/article/jjfe/51/2/51_KJ00005982751/_pdf</ns4:t>
            </ns4:r>
          </ns4:p>
          <ns5:p xmlns:ns5="http://schemas.openxmlformats.org/drawingml/2006/main">
            <ns5:r>
              <ns5:t>https://db.ffpri.go.jp/WoodDB/</ns5:t>
            </ns5:r>
          </ns5:p>
          <ns6:p xmlns:ns6="http://schemas.openxmlformats.org/drawingml/2006/main">
            <ns6:r>
              <ns6:t>https://www.jstage.jst.go.jp/article/jsms/70/3/70_245/_pdf/-char/ja</ns6:t>
            </ns6:r>
          </ns6:p>
          <ns7:p xmlns:ns7="http://schemas.openxmlformats.org/drawingml/2006/main">
            <ns7:r>
              <ns7:t>https://www.mext.go.jp/component/a_menu/education/micro_detail/__icsFiles/afieldfile/2019/03/18/1387018_009.pdf</ns7:t>
            </ns7:r>
          </ns7:p>
          <ns8:p xmlns:ns8="http://schemas.openxmlformats.org/drawingml/2006/main">
            <ns8:r>
              <ns8:t>https://www.kairyudo.co.jp/contents/04_shiryo/nenkei/chu/data/r7chu-gi_hyokakijun.pdf</ns8:t>
            </ns8:r>
          </ns8:p>
          <ns9:p xmlns:ns9="http://schemas.openxmlformats.org/drawingml/2006/main">
            <ns9:r>
              <ns9:t>L02-S27：オンデマンド版。対面用の元スライド番号を維持。</ns9:t>
            </ns9:r>
          </ns9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v5_02_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参考資料</ns0:t>
            </ns0:r>
          </ns0:p>
          <ns1:p xmlns:ns1="http://schemas.openxmlformats.org/drawingml/2006/main">
            <ns1:r>
              <ns1:t>Wood Handbook 2021 第3章 https://research.fs.usda.gov/treesearch/62242</ns1:t>
            </ns1:r>
          </ns1:p>
          <ns2:p xmlns:ns2="http://schemas.openxmlformats.org/drawingml/2006/main">
            <ns2:r>
              <ns2:t>Wood Handbook 2021 第4章 https://research.fs.usda.gov/treesearch/62243</ns2:t>
            </ns2:r>
          </ns2:p>
          <ns3:p xmlns:ns3="http://schemas.openxmlformats.org/drawingml/2006/main">
            <ns3:r>
              <ns3:t>https://www.ffpri.go.jp/pubs/bulletin/151/documents/194-7.pdf</ns3:t>
            </ns3:r>
          </ns3:p>
          <ns4:p xmlns:ns4="http://schemas.openxmlformats.org/drawingml/2006/main">
            <ns4:r>
              <ns4:t>https://www.jstage.jst.go.jp/article/jjfe/51/2/51_KJ00005982751/_pdf</ns4:t>
            </ns4:r>
          </ns4:p>
          <ns5:p xmlns:ns5="http://schemas.openxmlformats.org/drawingml/2006/main">
            <ns5:r>
              <ns5:t>https://db.ffpri.go.jp/WoodDB/</ns5:t>
            </ns5:r>
          </ns5:p>
          <ns6:p xmlns:ns6="http://schemas.openxmlformats.org/drawingml/2006/main">
            <ns6:r>
              <ns6:t>https://www.jstage.jst.go.jp/article/jsms/70/3/70_245/_pdf/-char/ja</ns6:t>
            </ns6:r>
          </ns6:p>
          <ns7:p xmlns:ns7="http://schemas.openxmlformats.org/drawingml/2006/main">
            <ns7:r>
              <ns7:t>https://www.mext.go.jp/component/a_menu/education/micro_detail/__icsFiles/afieldfile/2019/03/18/1387018_009.pdf</ns7:t>
            </ns7:r>
          </ns7:p>
          <ns8:p xmlns:ns8="http://schemas.openxmlformats.org/drawingml/2006/main">
            <ns8:r>
              <ns8:t>https://www.kairyudo.co.jp/contents/04_shiryo/nenkei/chu/data/r7chu-gi_hyokakijun.pdf</ns8:t>
            </ns8:r>
          </ns8:p>
          <ns9:p xmlns:ns9="http://schemas.openxmlformats.org/drawingml/2006/main">
            <ns9:r>
              <ns9:t>L02-S28：オンデマンド版。対面用の元スライド番号を維持。</ns9:t>
            </ns9:r>
          </ns9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v5_02_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参考資料</ns0:t>
            </ns0:r>
          </ns0:p>
          <ns1:p xmlns:ns1="http://schemas.openxmlformats.org/drawingml/2006/main">
            <ns1:r>
              <ns1:t>Wood Handbook 2021 第3章 https://research.fs.usda.gov/treesearch/62242</ns1:t>
            </ns1:r>
          </ns1:p>
          <ns2:p xmlns:ns2="http://schemas.openxmlformats.org/drawingml/2006/main">
            <ns2:r>
              <ns2:t>Wood Handbook 2021 第4章 https://research.fs.usda.gov/treesearch/62243</ns2:t>
            </ns2:r>
          </ns2:p>
          <ns3:p xmlns:ns3="http://schemas.openxmlformats.org/drawingml/2006/main">
            <ns3:r>
              <ns3:t>https://www.ffpri.go.jp/pubs/bulletin/151/documents/194-7.pdf</ns3:t>
            </ns3:r>
          </ns3:p>
          <ns4:p xmlns:ns4="http://schemas.openxmlformats.org/drawingml/2006/main">
            <ns4:r>
              <ns4:t>https://www.jstage.jst.go.jp/article/jjfe/51/2/51_KJ00005982751/_pdf</ns4:t>
            </ns4:r>
          </ns4:p>
          <ns5:p xmlns:ns5="http://schemas.openxmlformats.org/drawingml/2006/main">
            <ns5:r>
              <ns5:t>https://db.ffpri.go.jp/WoodDB/</ns5:t>
            </ns5:r>
          </ns5:p>
          <ns6:p xmlns:ns6="http://schemas.openxmlformats.org/drawingml/2006/main">
            <ns6:r>
              <ns6:t>https://www.jstage.jst.go.jp/article/jsms/70/3/70_245/_pdf/-char/ja</ns6:t>
            </ns6:r>
          </ns6:p>
          <ns7:p xmlns:ns7="http://schemas.openxmlformats.org/drawingml/2006/main">
            <ns7:r>
              <ns7:t>https://www.mext.go.jp/component/a_menu/education/micro_detail/__icsFiles/afieldfile/2019/03/18/1387018_009.pdf</ns7:t>
            </ns7:r>
          </ns7:p>
          <ns8:p xmlns:ns8="http://schemas.openxmlformats.org/drawingml/2006/main">
            <ns8:r>
              <ns8:t>https://www.kairyudo.co.jp/contents/04_shiryo/nenkei/chu/data/r7chu-gi_hyokakijun.pdf</ns8:t>
            </ns8:r>
          </ns8:p>
          <ns9:p xmlns:ns9="http://schemas.openxmlformats.org/drawingml/2006/main">
            <ns9:r>
              <ns9:t>L02-S29：オンデマンド版。対面用の元スライド番号を維持。</ns9:t>
            </ns9:r>
          </ns9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v5_02_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参考資料</ns0:t>
            </ns0:r>
          </ns0:p>
          <ns1:p xmlns:ns1="http://schemas.openxmlformats.org/drawingml/2006/main">
            <ns1:r>
              <ns1:t>Wood Handbook 2021 第3章 https://research.fs.usda.gov/treesearch/62242</ns1:t>
            </ns1:r>
          </ns1:p>
          <ns2:p xmlns:ns2="http://schemas.openxmlformats.org/drawingml/2006/main">
            <ns2:r>
              <ns2:t>Wood Handbook 2021 第4章 https://research.fs.usda.gov/treesearch/62243</ns2:t>
            </ns2:r>
          </ns2:p>
          <ns3:p xmlns:ns3="http://schemas.openxmlformats.org/drawingml/2006/main">
            <ns3:r>
              <ns3:t>https://www.ffpri.go.jp/pubs/bulletin/151/documents/194-7.pdf</ns3:t>
            </ns3:r>
          </ns3:p>
          <ns4:p xmlns:ns4="http://schemas.openxmlformats.org/drawingml/2006/main">
            <ns4:r>
              <ns4:t>https://www.jstage.jst.go.jp/article/jjfe/51/2/51_KJ00005982751/_pdf</ns4:t>
            </ns4:r>
          </ns4:p>
          <ns5:p xmlns:ns5="http://schemas.openxmlformats.org/drawingml/2006/main">
            <ns5:r>
              <ns5:t>https://db.ffpri.go.jp/WoodDB/</ns5:t>
            </ns5:r>
          </ns5:p>
          <ns6:p xmlns:ns6="http://schemas.openxmlformats.org/drawingml/2006/main">
            <ns6:r>
              <ns6:t>https://www.jstage.jst.go.jp/article/jsms/70/3/70_245/_pdf/-char/ja</ns6:t>
            </ns6:r>
          </ns6:p>
          <ns7:p xmlns:ns7="http://schemas.openxmlformats.org/drawingml/2006/main">
            <ns7:r>
              <ns7:t>https://www.mext.go.jp/component/a_menu/education/micro_detail/__icsFiles/afieldfile/2019/03/18/1387018_009.pdf</ns7:t>
            </ns7:r>
          </ns7:p>
          <ns8:p xmlns:ns8="http://schemas.openxmlformats.org/drawingml/2006/main">
            <ns8:r>
              <ns8:t>https://www.kairyudo.co.jp/contents/04_shiryo/nenkei/chu/data/r7chu-gi_hyokakijun.pdf</ns8:t>
            </ns8:r>
          </ns8:p>
          <ns9:p xmlns:ns9="http://schemas.openxmlformats.org/drawingml/2006/main">
            <ns9:r>
              <ns9:t>L02-S07：オンデマンド版。対面用の元スライド番号を維持。</ns9:t>
            </ns9:r>
          </ns9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v5_02_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参考資料</ns0:t>
            </ns0:r>
          </ns0:p>
          <ns1:p xmlns:ns1="http://schemas.openxmlformats.org/drawingml/2006/main">
            <ns1:r>
              <ns1:t>Wood Handbook 2021 第3章 https://research.fs.usda.gov/treesearch/62242</ns1:t>
            </ns1:r>
          </ns1:p>
          <ns2:p xmlns:ns2="http://schemas.openxmlformats.org/drawingml/2006/main">
            <ns2:r>
              <ns2:t>Wood Handbook 2021 第4章 https://research.fs.usda.gov/treesearch/62243</ns2:t>
            </ns2:r>
          </ns2:p>
          <ns3:p xmlns:ns3="http://schemas.openxmlformats.org/drawingml/2006/main">
            <ns3:r>
              <ns3:t>https://www.ffpri.go.jp/pubs/bulletin/151/documents/194-7.pdf</ns3:t>
            </ns3:r>
          </ns3:p>
          <ns4:p xmlns:ns4="http://schemas.openxmlformats.org/drawingml/2006/main">
            <ns4:r>
              <ns4:t>https://www.jstage.jst.go.jp/article/jjfe/51/2/51_KJ00005982751/_pdf</ns4:t>
            </ns4:r>
          </ns4:p>
          <ns5:p xmlns:ns5="http://schemas.openxmlformats.org/drawingml/2006/main">
            <ns5:r>
              <ns5:t>https://db.ffpri.go.jp/WoodDB/</ns5:t>
            </ns5:r>
          </ns5:p>
          <ns6:p xmlns:ns6="http://schemas.openxmlformats.org/drawingml/2006/main">
            <ns6:r>
              <ns6:t>https://www.jstage.jst.go.jp/article/jsms/70/3/70_245/_pdf/-char/ja</ns6:t>
            </ns6:r>
          </ns6:p>
          <ns7:p xmlns:ns7="http://schemas.openxmlformats.org/drawingml/2006/main">
            <ns7:r>
              <ns7:t>https://www.mext.go.jp/component/a_menu/education/micro_detail/__icsFiles/afieldfile/2019/03/18/1387018_009.pdf</ns7:t>
            </ns7:r>
          </ns7:p>
          <ns8:p xmlns:ns8="http://schemas.openxmlformats.org/drawingml/2006/main">
            <ns8:r>
              <ns8:t>https://www.kairyudo.co.jp/contents/04_shiryo/nenkei/chu/data/r7chu-gi_hyokakijun.pdf</ns8:t>
            </ns8:r>
          </ns8:p>
          <ns9:p xmlns:ns9="http://schemas.openxmlformats.org/drawingml/2006/main">
            <ns9:r>
              <ns9:t>L02-S09：オンデマンド版。対面用の元スライド番号を維持。</ns9:t>
            </ns9:r>
          </ns9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v5_02_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参考資料</ns0:t>
            </ns0:r>
          </ns0:p>
          <ns1:p xmlns:ns1="http://schemas.openxmlformats.org/drawingml/2006/main">
            <ns1:r>
              <ns1:t>https://www.ffpri.go.jp/pubs/bulletin/151/documents/194-7.pdf</ns1:t>
            </ns1:r>
          </ns1:p>
          <ns2:p xmlns:ns2="http://schemas.openxmlformats.org/drawingml/2006/main">
            <ns2:r>
              <ns2:t>Wood Handbook 2021 第3章 https://research.fs.usda.gov/treesearch/62242</ns2:t>
            </ns2:r>
          </ns2:p>
          <ns3:p xmlns:ns3="http://schemas.openxmlformats.org/drawingml/2006/main">
            <ns3:r>
              <ns3:t>Wood Handbook 2021 第4章 https://research.fs.usda.gov/treesearch/62243</ns3:t>
            </ns3:r>
          </ns3:p>
          <ns4:p xmlns:ns4="http://schemas.openxmlformats.org/drawingml/2006/main">
            <ns4:r>
              <ns4:t>https://www.jstage.jst.go.jp/article/jjfe/51/2/51_KJ00005982751/_pdf</ns4:t>
            </ns4:r>
          </ns4:p>
          <ns5:p xmlns:ns5="http://schemas.openxmlformats.org/drawingml/2006/main">
            <ns5:r>
              <ns5:t>https://db.ffpri.go.jp/WoodDB/</ns5:t>
            </ns5:r>
          </ns5:p>
          <ns6:p xmlns:ns6="http://schemas.openxmlformats.org/drawingml/2006/main">
            <ns6:r>
              <ns6:t>https://www.jstage.jst.go.jp/article/jsms/70/3/70_245/_pdf/-char/ja</ns6:t>
            </ns6:r>
          </ns6:p>
          <ns7:p xmlns:ns7="http://schemas.openxmlformats.org/drawingml/2006/main">
            <ns7:r>
              <ns7:t>https://www.mext.go.jp/component/a_menu/education/micro_detail/__icsFiles/afieldfile/2019/03/18/1387018_009.pdf</ns7:t>
            </ns7:r>
          </ns7:p>
          <ns8:p xmlns:ns8="http://schemas.openxmlformats.org/drawingml/2006/main">
            <ns8:r>
              <ns8:t>https://www.kairyudo.co.jp/contents/04_shiryo/nenkei/chu/data/r7chu-gi_hyokakijun.pdf</ns8:t>
            </ns8:r>
          </ns8:p>
          <ns9:p xmlns:ns9="http://schemas.openxmlformats.org/drawingml/2006/main">
            <ns9:r>
              <ns9:t>L02-S10：オンデマンド版。対面用の元スライド番号を維持。</ns9:t>
            </ns9:r>
          </ns9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v5_02_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参考資料</ns0:t>
            </ns0:r>
          </ns0:p>
          <ns1:p xmlns:ns1="http://schemas.openxmlformats.org/drawingml/2006/main">
            <ns1:r>
              <ns1:t>Wood Handbook 2021 第3章 https://research.fs.usda.gov/treesearch/62242</ns1:t>
            </ns1:r>
          </ns1:p>
          <ns2:p xmlns:ns2="http://schemas.openxmlformats.org/drawingml/2006/main">
            <ns2:r>
              <ns2:t>Wood Handbook 2021 第4章 https://research.fs.usda.gov/treesearch/62243</ns2:t>
            </ns2:r>
          </ns2:p>
          <ns3:p xmlns:ns3="http://schemas.openxmlformats.org/drawingml/2006/main">
            <ns3:r>
              <ns3:t>https://www.ffpri.go.jp/pubs/bulletin/151/documents/194-7.pdf</ns3:t>
            </ns3:r>
          </ns3:p>
          <ns4:p xmlns:ns4="http://schemas.openxmlformats.org/drawingml/2006/main">
            <ns4:r>
              <ns4:t>https://www.jstage.jst.go.jp/article/jjfe/51/2/51_KJ00005982751/_pdf</ns4:t>
            </ns4:r>
          </ns4:p>
          <ns5:p xmlns:ns5="http://schemas.openxmlformats.org/drawingml/2006/main">
            <ns5:r>
              <ns5:t>https://db.ffpri.go.jp/WoodDB/</ns5:t>
            </ns5:r>
          </ns5:p>
          <ns6:p xmlns:ns6="http://schemas.openxmlformats.org/drawingml/2006/main">
            <ns6:r>
              <ns6:t>https://www.jstage.jst.go.jp/article/jsms/70/3/70_245/_pdf/-char/ja</ns6:t>
            </ns6:r>
          </ns6:p>
          <ns7:p xmlns:ns7="http://schemas.openxmlformats.org/drawingml/2006/main">
            <ns7:r>
              <ns7:t>https://www.mext.go.jp/component/a_menu/education/micro_detail/__icsFiles/afieldfile/2019/03/18/1387018_009.pdf</ns7:t>
            </ns7:r>
          </ns7:p>
          <ns8:p xmlns:ns8="http://schemas.openxmlformats.org/drawingml/2006/main">
            <ns8:r>
              <ns8:t>https://www.kairyudo.co.jp/contents/04_shiryo/nenkei/chu/data/r7chu-gi_hyokakijun.pdf</ns8:t>
            </ns8:r>
          </ns8:p>
          <ns9:p xmlns:ns9="http://schemas.openxmlformats.org/drawingml/2006/main">
            <ns9:r>
              <ns9:t>L02-S11：オンデマンド版。対面用の元スライド番号を維持。</ns9:t>
            </ns9:r>
          </ns9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v5_02_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参考資料</ns0:t>
            </ns0:r>
          </ns0:p>
          <ns1:p xmlns:ns1="http://schemas.openxmlformats.org/drawingml/2006/main">
            <ns1:r>
              <ns1:t>Wood Handbook 2021 第3章 https://research.fs.usda.gov/treesearch/62242</ns1:t>
            </ns1:r>
          </ns1:p>
          <ns2:p xmlns:ns2="http://schemas.openxmlformats.org/drawingml/2006/main">
            <ns2:r>
              <ns2:t>Wood Handbook 2021 第4章 https://research.fs.usda.gov/treesearch/62243</ns2:t>
            </ns2:r>
          </ns2:p>
          <ns3:p xmlns:ns3="http://schemas.openxmlformats.org/drawingml/2006/main">
            <ns3:r>
              <ns3:t>https://www.ffpri.go.jp/pubs/bulletin/151/documents/194-7.pdf</ns3:t>
            </ns3:r>
          </ns3:p>
          <ns4:p xmlns:ns4="http://schemas.openxmlformats.org/drawingml/2006/main">
            <ns4:r>
              <ns4:t>https://www.jstage.jst.go.jp/article/jjfe/51/2/51_KJ00005982751/_pdf</ns4:t>
            </ns4:r>
          </ns4:p>
          <ns5:p xmlns:ns5="http://schemas.openxmlformats.org/drawingml/2006/main">
            <ns5:r>
              <ns5:t>https://db.ffpri.go.jp/WoodDB/</ns5:t>
            </ns5:r>
          </ns5:p>
          <ns6:p xmlns:ns6="http://schemas.openxmlformats.org/drawingml/2006/main">
            <ns6:r>
              <ns6:t>https://www.jstage.jst.go.jp/article/jsms/70/3/70_245/_pdf/-char/ja</ns6:t>
            </ns6:r>
          </ns6:p>
          <ns7:p xmlns:ns7="http://schemas.openxmlformats.org/drawingml/2006/main">
            <ns7:r>
              <ns7:t>https://www.mext.go.jp/component/a_menu/education/micro_detail/__icsFiles/afieldfile/2019/03/18/1387018_009.pdf</ns7:t>
            </ns7:r>
          </ns7:p>
          <ns8:p xmlns:ns8="http://schemas.openxmlformats.org/drawingml/2006/main">
            <ns8:r>
              <ns8:t>https://www.kairyudo.co.jp/contents/04_shiryo/nenkei/chu/data/r7chu-gi_hyokakijun.pdf</ns8:t>
            </ns8:r>
          </ns8:p>
          <ns9:p xmlns:ns9="http://schemas.openxmlformats.org/drawingml/2006/main">
            <ns9:r>
              <ns9:t>L02-S25：オンデマンド版。対面用の元スライド番号を維持。</ns9:t>
            </ns9:r>
          </ns9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v5_02_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参考資料</ns0:t>
            </ns0:r>
          </ns0:p>
          <ns1:p xmlns:ns1="http://schemas.openxmlformats.org/drawingml/2006/main">
            <ns1:r>
              <ns1:t>Wood Handbook 2021 第3章 https://research.fs.usda.gov/treesearch/62242</ns1:t>
            </ns1:r>
          </ns1:p>
          <ns2:p xmlns:ns2="http://schemas.openxmlformats.org/drawingml/2006/main">
            <ns2:r>
              <ns2:t>Wood Handbook 2021 第4章 https://research.fs.usda.gov/treesearch/62243</ns2:t>
            </ns2:r>
          </ns2:p>
          <ns3:p xmlns:ns3="http://schemas.openxmlformats.org/drawingml/2006/main">
            <ns3:r>
              <ns3:t>https://www.ffpri.go.jp/pubs/bulletin/151/documents/194-7.pdf</ns3:t>
            </ns3:r>
          </ns3:p>
          <ns4:p xmlns:ns4="http://schemas.openxmlformats.org/drawingml/2006/main">
            <ns4:r>
              <ns4:t>https://www.jstage.jst.go.jp/article/jjfe/51/2/51_KJ00005982751/_pdf</ns4:t>
            </ns4:r>
          </ns4:p>
          <ns5:p xmlns:ns5="http://schemas.openxmlformats.org/drawingml/2006/main">
            <ns5:r>
              <ns5:t>L02-S32：オンデマンド版。対面用の元スライド番号を維持。</ns5:t>
            </ns5:r>
          </ns5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v5_02_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参考資料</ns0:t>
            </ns0:r>
          </ns0:p>
          <ns1:p xmlns:ns1="http://schemas.openxmlformats.org/drawingml/2006/main">
            <ns1:r>
              <ns1:t>https://db.ffpri.go.jp/WoodDB/</ns1:t>
            </ns1:r>
          </ns1:p>
          <ns2:p xmlns:ns2="http://schemas.openxmlformats.org/drawingml/2006/main">
            <ns2:r>
              <ns2:t>https://www.jstage.jst.go.jp/article/jsms/70/3/70_245/_pdf/-char/ja</ns2:t>
            </ns2:r>
          </ns2:p>
          <ns3:p xmlns:ns3="http://schemas.openxmlformats.org/drawingml/2006/main">
            <ns3:r>
              <ns3:t>https://www.mext.go.jp/component/a_menu/education/micro_detail/__icsFiles/afieldfile/2019/03/18/1387018_009.pdf</ns3:t>
            </ns3:r>
          </ns3:p>
          <ns4:p xmlns:ns4="http://schemas.openxmlformats.org/drawingml/2006/main">
            <ns4:r>
              <ns4:t>L02-S33：オンデマンド版。対面用の元スライド番号を維持。</ns4:t>
            </ns4:r>
          </ns4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v5_02_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参考資料</ns0:t>
            </ns0:r>
          </ns0:p>
          <ns1:p xmlns:ns1="http://schemas.openxmlformats.org/drawingml/2006/main">
            <ns1:r>
              <ns1:t>https://www.kairyudo.co.jp/contents/04_shiryo/nenkei/chu/data/r7chu-gi_hyokakijun.pdf</ns1:t>
            </ns1:r>
          </ns1:p>
          <ns2:p xmlns:ns2="http://schemas.openxmlformats.org/drawingml/2006/main">
            <ns2:r>
              <ns2:t>L02-S34：オンデマンド版。対面用の元スライド番号を維持。</ns2:t>
            </ns2:r>
          </ns2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v6_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参考資料</ns0:t>
            </ns0:r>
          </ns0:p>
          <ns1:p xmlns:ns1="http://schemas.openxmlformats.org/drawingml/2006/main">
            <ns1:r>
              <ns1:t>Wood Handbook 2021 第5章 https://research.fs.usda.gov/treesearch/62244</ns1:t>
            </ns1:r>
          </ns1:p>
          <ns2:p xmlns:ns2="http://schemas.openxmlformats.org/drawingml/2006/main">
            <ns2:r>
              <ns2:t>Wood Handbook 2021 第9章 式(9–1)・(9–2)、表9–1、図9–3 https://research.fs.usda.gov/treesearch/62251</ns2:t>
            </ns2:r>
          </ns2:p>
          <ns3:p xmlns:ns3="http://schemas.openxmlformats.org/drawingml/2006/main">
            <ns3:r>
              <ns3:t>森林総合研究所 日本産木材データベース https://db.ffpri.go.jp/WoodDB/</ns3:t>
            </ns3:r>
          </ns3:p>
          <ns4:p xmlns:ns4="http://schemas.openxmlformats.org/drawingml/2006/main">
            <ns4:r>
              <ns4:t>L02-S18：オンデマンド版。対面用の元スライド番号を維持。</ns4:t>
            </ns4:r>
          </ns4:p>
          <ns5:p xmlns:ns5="http://schemas.openxmlformats.org/drawingml/2006/main">
            <ns5:r>
              <ns5:t>写真は実際の針葉樹材の組織、曲線は壁割合に基づく全乾密度の説明用モデル。写真からの密度実測ではない。相対位置の横軸をmmや年へ読み替えない。参照：Wood Handbook 2021 第3・4章 https://research.fs.usda.gov/treesearch/62242 https://research.fs.usda.gov/treesearch/62243</ns5:t>
            </ns5:r>
          </ns5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ondemand_slideLayout1.xml.rels><?xml version='1.0' encoding='UTF-8' standalone='yes'?>
<Relationships xmlns="http://schemas.openxmlformats.org/package/2006/relationships"><Relationship Type="http://schemas.openxmlformats.org/officeDocument/2006/relationships/slideMaster" Target="../slideMasters/ondemand_slideMaster1.xml" Id="Rf4b2724a63594860"/></Relationships>
</file>

<file path=ppt/slideLayouts/_rels/ondemand_slideLayout2.xml.rels><?xml version='1.0' encoding='UTF-8' standalone='yes'?>
<Relationships xmlns="http://schemas.openxmlformats.org/package/2006/relationships"><Relationship Type="http://schemas.openxmlformats.org/officeDocument/2006/relationships/slideMaster" Target="../slideMasters/ondemand_slideMaster1.xml" Id="R3ff7c6506cac4ae8"/></Relationships>
</file>

<file path=ppt/slideLayouts/_rels/ondemand_slideLayout3.xml.rels><?xml version='1.0' encoding='UTF-8' standalone='yes'?>
<Relationships xmlns="http://schemas.openxmlformats.org/package/2006/relationships"><Relationship Type="http://schemas.openxmlformats.org/officeDocument/2006/relationships/slideMaster" Target="../slideMasters/ondemand_slideMaster1.xml" Id="Rd38f71cb79724f8c"/></Relationships>
</file>

<file path=ppt/slideLayouts/_rels/ondemand_slideLayout4.xml.rels><?xml version='1.0' encoding='UTF-8' standalone='yes'?>
<Relationships xmlns="http://schemas.openxmlformats.org/package/2006/relationships"><Relationship Type="http://schemas.openxmlformats.org/officeDocument/2006/relationships/slideMaster" Target="../slideMasters/ondemand_slideMaster1.xml" Id="R3dd79ec0e1b24a34"/></Relationships>
</file>

<file path=ppt/slideLayouts/_rels/ondemand_slideLayout5.xml.rels><?xml version='1.0' encoding='UTF-8' standalone='yes'?>
<Relationships xmlns="http://schemas.openxmlformats.org/package/2006/relationships"><Relationship Type="http://schemas.openxmlformats.org/officeDocument/2006/relationships/slideMaster" Target="../slideMasters/ondemand_slideMaster1.xml" Id="R1188b07a5af04a17"/></Relationships>
</file>

<file path=ppt/slideLayouts/_rels/ondemand_slideLayout6.xml.rels><?xml version='1.0' encoding='UTF-8' standalone='yes'?>
<Relationships xmlns="http://schemas.openxmlformats.org/package/2006/relationships"><Relationship Type="http://schemas.openxmlformats.org/officeDocument/2006/relationships/slideMaster" Target="../slideMasters/ondemand_slideMaster1.xml" Id="Ra2bc68d766e84df5"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0f427dee0e454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065c27b296411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9b4e513272407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814cd2136544b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07128ac65643c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5fb3948b024fed" /></Relationships>
</file>

<file path=ppt/slideLayouts/_rels/title_slideLayout1.xml.rels><?xml version='1.0' encoding='UTF-8' standalone='yes'?>
<Relationships xmlns="http://schemas.openxmlformats.org/package/2006/relationships"><Relationship Type="http://schemas.openxmlformats.org/officeDocument/2006/relationships/slideMaster" Target="../slideMasters/title_slideMaster1.xml" Id="R3917cd1192524d11"/></Relationships>
</file>

<file path=ppt/slideLayouts/_rels/title_slideLayout2.xml.rels><?xml version='1.0' encoding='UTF-8' standalone='yes'?>
<Relationships xmlns="http://schemas.openxmlformats.org/package/2006/relationships"><Relationship Type="http://schemas.openxmlformats.org/officeDocument/2006/relationships/slideMaster" Target="../slideMasters/title_slideMaster1.xml" Id="R0bea9952005741be"/></Relationships>
</file>

<file path=ppt/slideLayouts/_rels/title_slideLayout3.xml.rels><?xml version='1.0' encoding='UTF-8' standalone='yes'?>
<Relationships xmlns="http://schemas.openxmlformats.org/package/2006/relationships"><Relationship Type="http://schemas.openxmlformats.org/officeDocument/2006/relationships/slideMaster" Target="../slideMasters/title_slideMaster1.xml" Id="R10668fe4bc7244f5"/></Relationships>
</file>

<file path=ppt/slideLayouts/_rels/title_slideLayout4.xml.rels><?xml version='1.0' encoding='UTF-8' standalone='yes'?>
<Relationships xmlns="http://schemas.openxmlformats.org/package/2006/relationships"><Relationship Type="http://schemas.openxmlformats.org/officeDocument/2006/relationships/slideMaster" Target="../slideMasters/title_slideMaster1.xml" Id="R4335420f08e541cb"/></Relationships>
</file>

<file path=ppt/slideLayouts/_rels/title_slideLayout5.xml.rels><?xml version='1.0' encoding='UTF-8' standalone='yes'?>
<Relationships xmlns="http://schemas.openxmlformats.org/package/2006/relationships"><Relationship Type="http://schemas.openxmlformats.org/officeDocument/2006/relationships/slideMaster" Target="../slideMasters/title_slideMaster1.xml" Id="R1912e8b139334fe6"/></Relationships>
</file>

<file path=ppt/slideLayouts/_rels/title_slideLayout6.xml.rels><?xml version='1.0' encoding='UTF-8' standalone='yes'?>
<Relationships xmlns="http://schemas.openxmlformats.org/package/2006/relationships"><Relationship Type="http://schemas.openxmlformats.org/officeDocument/2006/relationships/slideMaster" Target="../slideMasters/title_slideMaster1.xml" Id="Rdbcb2d27751e4927"/></Relationships>
</file>

<file path=ppt/slideLayouts/_rels/v5_02_slideLayout1.xml.rels><?xml version='1.0' encoding='UTF-8' standalone='yes'?>
<Relationships xmlns="http://schemas.openxmlformats.org/package/2006/relationships"><Relationship Type="http://schemas.openxmlformats.org/officeDocument/2006/relationships/slideMaster" Target="../slideMasters/v5_02_slideMaster1.xml" Id="R42fd06606f8f4a52"/></Relationships>
</file>

<file path=ppt/slideLayouts/_rels/v5_02_slideLayout2.xml.rels><?xml version='1.0' encoding='UTF-8' standalone='yes'?>
<Relationships xmlns="http://schemas.openxmlformats.org/package/2006/relationships"><Relationship Type="http://schemas.openxmlformats.org/officeDocument/2006/relationships/slideMaster" Target="../slideMasters/v5_02_slideMaster1.xml" Id="R6823e53067774af7"/></Relationships>
</file>

<file path=ppt/slideLayouts/_rels/v5_02_slideLayout3.xml.rels><?xml version='1.0' encoding='UTF-8' standalone='yes'?>
<Relationships xmlns="http://schemas.openxmlformats.org/package/2006/relationships"><Relationship Type="http://schemas.openxmlformats.org/officeDocument/2006/relationships/slideMaster" Target="../slideMasters/v5_02_slideMaster1.xml" Id="R0a427f5fe4f54a36"/></Relationships>
</file>

<file path=ppt/slideLayouts/_rels/v5_02_slideLayout4.xml.rels><?xml version='1.0' encoding='UTF-8' standalone='yes'?>
<Relationships xmlns="http://schemas.openxmlformats.org/package/2006/relationships"><Relationship Type="http://schemas.openxmlformats.org/officeDocument/2006/relationships/slideMaster" Target="../slideMasters/v5_02_slideMaster1.xml" Id="Ref6051210f944395"/></Relationships>
</file>

<file path=ppt/slideLayouts/_rels/v5_02_slideLayout5.xml.rels><?xml version='1.0' encoding='UTF-8' standalone='yes'?>
<Relationships xmlns="http://schemas.openxmlformats.org/package/2006/relationships"><Relationship Type="http://schemas.openxmlformats.org/officeDocument/2006/relationships/slideMaster" Target="../slideMasters/v5_02_slideMaster1.xml" Id="R02511e6a799540c6"/></Relationships>
</file>

<file path=ppt/slideLayouts/_rels/v5_02_slideLayout6.xml.rels><?xml version='1.0' encoding='UTF-8' standalone='yes'?>
<Relationships xmlns="http://schemas.openxmlformats.org/package/2006/relationships"><Relationship Type="http://schemas.openxmlformats.org/officeDocument/2006/relationships/slideMaster" Target="../slideMasters/v5_02_slideMaster1.xml" Id="Rc5d632ea048d447c"/></Relationships>
</file>

<file path=ppt/slideLayouts/_rels/v6_slideLayout1.xml.rels><?xml version='1.0' encoding='UTF-8' standalone='yes'?>
<Relationships xmlns="http://schemas.openxmlformats.org/package/2006/relationships"><Relationship Type="http://schemas.openxmlformats.org/officeDocument/2006/relationships/slideMaster" Target="../slideMasters/v6_slideMaster1.xml" Id="Rbdd40e98fd704454"/></Relationships>
</file>

<file path=ppt/slideLayouts/_rels/v6_slideLayout2.xml.rels><?xml version='1.0' encoding='UTF-8' standalone='yes'?>
<Relationships xmlns="http://schemas.openxmlformats.org/package/2006/relationships"><Relationship Type="http://schemas.openxmlformats.org/officeDocument/2006/relationships/slideMaster" Target="../slideMasters/v6_slideMaster1.xml" Id="Rd7376b1ebaa84a0a"/></Relationships>
</file>

<file path=ppt/slideLayouts/_rels/v6_slideLayout3.xml.rels><?xml version='1.0' encoding='UTF-8' standalone='yes'?>
<Relationships xmlns="http://schemas.openxmlformats.org/package/2006/relationships"><Relationship Type="http://schemas.openxmlformats.org/officeDocument/2006/relationships/slideMaster" Target="../slideMasters/v6_slideMaster1.xml" Id="R7872838b53dc453c"/></Relationships>
</file>

<file path=ppt/slideLayouts/_rels/v6_slideLayout4.xml.rels><?xml version='1.0' encoding='UTF-8' standalone='yes'?>
<Relationships xmlns="http://schemas.openxmlformats.org/package/2006/relationships"><Relationship Type="http://schemas.openxmlformats.org/officeDocument/2006/relationships/slideMaster" Target="../slideMasters/v6_slideMaster1.xml" Id="R1c2c6c72487d4da5"/></Relationships>
</file>

<file path=ppt/slideLayouts/_rels/v6_slideLayout5.xml.rels><?xml version='1.0' encoding='UTF-8' standalone='yes'?>
<Relationships xmlns="http://schemas.openxmlformats.org/package/2006/relationships"><Relationship Type="http://schemas.openxmlformats.org/officeDocument/2006/relationships/slideMaster" Target="../slideMasters/v6_slideMaster1.xml" Id="R64001dac24b24c82"/></Relationships>
</file>

<file path=ppt/slideLayouts/_rels/v6_slideLayout6.xml.rels><?xml version='1.0' encoding='UTF-8' standalone='yes'?>
<Relationships xmlns="http://schemas.openxmlformats.org/package/2006/relationships"><Relationship Type="http://schemas.openxmlformats.org/officeDocument/2006/relationships/slideMaster" Target="../slideMasters/v6_slideMaster1.xml" Id="R72c7e21bf37f4442"/></Relationships>
</file>

<file path=ppt/slideLayouts/ondemand_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6CFD956-54F1-4FF3-8F83-BFC988887F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F21ADC1-9838-417A-AB57-CDC13CAFD6A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ondemand_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512056B-B0C4-40E3-A5AB-46205F74895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ondemand_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5A3DB8C-D2FB-42ED-99D9-85C0A916E9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A2CC73D-AB79-4703-9365-558AD6EFA3F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ondemand_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06F9C24-C0AB-4490-A0F4-82F1740258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F60AA57-2788-4A58-9A0C-9A88D375D6C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733A4FF-B9D4-4A18-94F7-BDE41C255BB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ondemand_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F3E91E8-E4EF-4523-B355-7ABDDAF6531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9197BE8-B517-4EE1-A59C-ABDAC58E668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ondemand_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01C7C26-445A-4D2B-B3C7-396867FB0BE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AB5D4EA-C627-40D7-9758-804A6434583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1CE61B8-28BB-4702-9732-28A9987ACFC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E7F6E55-8690-47ED-864F-706BBEC8A7B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7069715-EF7B-4A71-8465-B50E0902B8A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E716BFF-F3DE-4802-9F20-2B36975A442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4A92231-EE06-4908-81FE-DF5B0921872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29D9F0F-98C8-41E8-B65D-12F25AED7FC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E15E71F-154A-4B4C-BE61-9E87652713B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E3A76AE-530B-471B-A6D0-E3B5D8D7BB5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title_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652F467-7DDA-4BC8-83D9-5F8C1D87D4C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C0627D6-82CE-4EB9-83C9-5AE0FE45C78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title_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A75C9FB1-0BFB-40DE-8EA9-08884802F4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title_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73562C6-6AE3-45AE-971A-2B7B61ADD3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74782C5-9776-4C62-BB06-08E1E450712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title_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957BCC5-409F-4DD3-9EC4-AD684E1CA14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7B7B45F-A9FE-4F49-A101-ECFA5889EB4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1C09729-126D-4273-A0DD-D8E2F9D85EF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title_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1CB9975-BEA0-4C40-A015-A944973A091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E2F6D6D-4FF3-4A49-A888-AA43F3BA2BA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title_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v5_02_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3BCF670-1BF3-4563-AF78-952B375CAC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CD0311D-4874-4391-BF26-50F597896CD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v5_02_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A425824-C611-4A3E-A70C-A830B0AD36F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v5_02_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091ECAA-54D3-4F2A-AF95-0A0EFFA2AC8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6F28295-BEFE-4464-B0FD-8406FB6265B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v5_02_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345EBFA-AF54-43AF-860C-6884FB3EDCD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91BF586-288B-43A4-BEBC-3948AA4A4C8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8CC4959-29B1-46CB-93F8-828EF3F53CC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v5_02_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40981F1-24A8-445E-8B77-AC9D4313A96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F615B48-E991-426A-8E0B-F664A997B1A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v5_02_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v6_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72ECAF6-AFB3-44BA-A6E2-FFDF1F7E8B1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6E04143-5FE6-4C02-94D3-C4D4715CAF4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v6_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21EAE70-3078-4577-9941-D8132BBF364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v6_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4BE8F06-1DB2-4DD1-ABA5-FE5919FC0EB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3750050-B434-4AA4-9228-718FAC83A19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v6_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271DE0E-6C52-4E48-92E0-1B05894D7B8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F82E626-1AEC-42F9-BDC7-A6BD823443C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950E72C-19F3-40E3-932A-604FCCF85E3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v6_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02A710F-F1F5-4B49-8146-218F5575470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F5D7369-AC6D-49C7-92A8-B076ACD9C07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v6_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ondemand_slideMaster1.xml.rels><?xml version='1.0' encoding='UTF-8' standalone='yes'?>
<Relationships xmlns="http://schemas.openxmlformats.org/package/2006/relationships"><Relationship Type="http://schemas.openxmlformats.org/officeDocument/2006/relationships/theme" Target="theme/ondemand_theme2.xml" Id="R050b917aeff545c3"/><Relationship Type="http://schemas.openxmlformats.org/officeDocument/2006/relationships/slideLayout" Target="../slideLayouts/ondemand_slideLayout1.xml" Id="R5eb6632b1bb94873"/><Relationship Type="http://schemas.openxmlformats.org/officeDocument/2006/relationships/slideLayout" Target="../slideLayouts/ondemand_slideLayout2.xml" Id="Ra322862bdf594fc3"/><Relationship Type="http://schemas.openxmlformats.org/officeDocument/2006/relationships/slideLayout" Target="../slideLayouts/ondemand_slideLayout3.xml" Id="R9b4e8852e9af45d8"/><Relationship Type="http://schemas.openxmlformats.org/officeDocument/2006/relationships/slideLayout" Target="../slideLayouts/ondemand_slideLayout4.xml" Id="R021c6cb2143a4d49"/><Relationship Type="http://schemas.openxmlformats.org/officeDocument/2006/relationships/slideLayout" Target="../slideLayouts/ondemand_slideLayout5.xml" Id="R1aeb8cb370a649f3"/><Relationship Type="http://schemas.openxmlformats.org/officeDocument/2006/relationships/slideLayout" Target="../slideLayouts/ondemand_slideLayout6.xml" Id="R32ab92f312bc4d9a"/></Relationships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635af21312743e5" /><Relationship Type="http://schemas.openxmlformats.org/officeDocument/2006/relationships/slideLayout" Target="/ppt/slideLayouts/slideLayout1.xml" Id="Re532ba1cc62b44fb" /><Relationship Type="http://schemas.openxmlformats.org/officeDocument/2006/relationships/slideLayout" Target="/ppt/slideLayouts/slideLayout2.xml" Id="R5e1b6628d5f040e7" /><Relationship Type="http://schemas.openxmlformats.org/officeDocument/2006/relationships/slideLayout" Target="/ppt/slideLayouts/slideLayout3.xml" Id="Rc01685aaa9914f99" /><Relationship Type="http://schemas.openxmlformats.org/officeDocument/2006/relationships/slideLayout" Target="/ppt/slideLayouts/slideLayout4.xml" Id="Rc7922321a0614ab4" /><Relationship Type="http://schemas.openxmlformats.org/officeDocument/2006/relationships/slideLayout" Target="/ppt/slideLayouts/slideLayout5.xml" Id="R16a4a9daee654531" /><Relationship Type="http://schemas.openxmlformats.org/officeDocument/2006/relationships/slideLayout" Target="/ppt/slideLayouts/slideLayout6.xml" Id="Rf18f42de05e04a25" /></Relationships>
</file>

<file path=ppt/slideMasters/_rels/title_slideMaster1.xml.rels><?xml version='1.0' encoding='UTF-8' standalone='yes'?>
<Relationships xmlns="http://schemas.openxmlformats.org/package/2006/relationships"><Relationship Type="http://schemas.openxmlformats.org/officeDocument/2006/relationships/theme" Target="theme/title_theme2.xml" Id="R630d47842b6e4a77"/><Relationship Type="http://schemas.openxmlformats.org/officeDocument/2006/relationships/slideLayout" Target="../slideLayouts/title_slideLayout1.xml" Id="R5a115ef2067348a9"/><Relationship Type="http://schemas.openxmlformats.org/officeDocument/2006/relationships/slideLayout" Target="../slideLayouts/title_slideLayout2.xml" Id="R19955728364845fc"/><Relationship Type="http://schemas.openxmlformats.org/officeDocument/2006/relationships/slideLayout" Target="../slideLayouts/title_slideLayout3.xml" Id="Rfe62ea81f01b4c37"/><Relationship Type="http://schemas.openxmlformats.org/officeDocument/2006/relationships/slideLayout" Target="../slideLayouts/title_slideLayout4.xml" Id="R7a98ee550c114937"/><Relationship Type="http://schemas.openxmlformats.org/officeDocument/2006/relationships/slideLayout" Target="../slideLayouts/title_slideLayout5.xml" Id="R575053596cdb435f"/><Relationship Type="http://schemas.openxmlformats.org/officeDocument/2006/relationships/slideLayout" Target="../slideLayouts/title_slideLayout6.xml" Id="R1add3d721ea04a0b"/></Relationships>
</file>

<file path=ppt/slideMasters/_rels/v5_02_slideMaster1.xml.rels><?xml version='1.0' encoding='UTF-8' standalone='yes'?>
<Relationships xmlns="http://schemas.openxmlformats.org/package/2006/relationships"><Relationship Type="http://schemas.openxmlformats.org/officeDocument/2006/relationships/theme" Target="theme/v5_02_theme2.xml" Id="Rf95a9c8c54ff451c"/><Relationship Type="http://schemas.openxmlformats.org/officeDocument/2006/relationships/slideLayout" Target="../slideLayouts/v5_02_slideLayout1.xml" Id="R42928ebe7ab648be"/><Relationship Type="http://schemas.openxmlformats.org/officeDocument/2006/relationships/slideLayout" Target="../slideLayouts/v5_02_slideLayout2.xml" Id="Ra202f3f6a91f46e9"/><Relationship Type="http://schemas.openxmlformats.org/officeDocument/2006/relationships/slideLayout" Target="../slideLayouts/v5_02_slideLayout3.xml" Id="R62d3d84c5ac84b38"/><Relationship Type="http://schemas.openxmlformats.org/officeDocument/2006/relationships/slideLayout" Target="../slideLayouts/v5_02_slideLayout4.xml" Id="R73a5da9a13034536"/><Relationship Type="http://schemas.openxmlformats.org/officeDocument/2006/relationships/slideLayout" Target="../slideLayouts/v5_02_slideLayout5.xml" Id="R4c191f5d1a4a40fe"/><Relationship Type="http://schemas.openxmlformats.org/officeDocument/2006/relationships/slideLayout" Target="../slideLayouts/v5_02_slideLayout6.xml" Id="R1ad1d21c868b4d32"/></Relationships>
</file>

<file path=ppt/slideMasters/_rels/v6_slideMaster1.xml.rels><?xml version='1.0' encoding='UTF-8' standalone='yes'?>
<Relationships xmlns="http://schemas.openxmlformats.org/package/2006/relationships"><Relationship Type="http://schemas.openxmlformats.org/officeDocument/2006/relationships/theme" Target="theme/v6_theme2.xml" Id="Rc9a3af294cd04053"/><Relationship Type="http://schemas.openxmlformats.org/officeDocument/2006/relationships/slideLayout" Target="../slideLayouts/v6_slideLayout1.xml" Id="Rf3757162ca264c0b"/><Relationship Type="http://schemas.openxmlformats.org/officeDocument/2006/relationships/slideLayout" Target="../slideLayouts/v6_slideLayout2.xml" Id="R80c0da7a5cef4cda"/><Relationship Type="http://schemas.openxmlformats.org/officeDocument/2006/relationships/slideLayout" Target="../slideLayouts/v6_slideLayout3.xml" Id="Red55a1a1d61945c4"/><Relationship Type="http://schemas.openxmlformats.org/officeDocument/2006/relationships/slideLayout" Target="../slideLayouts/v6_slideLayout4.xml" Id="R09755fc431844084"/><Relationship Type="http://schemas.openxmlformats.org/officeDocument/2006/relationships/slideLayout" Target="../slideLayouts/v6_slideLayout5.xml" Id="R1c87df2135994226"/><Relationship Type="http://schemas.openxmlformats.org/officeDocument/2006/relationships/slideLayout" Target="../slideLayouts/v6_slideLayout6.xml" Id="Rca7c19652fc548a2"/></Relationships>
</file>

<file path=ppt/slideMasters/ondemand_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70" r:id="R5eb6632b1bb94873"/>
    <p:sldLayoutId xmlns:r="http://schemas.openxmlformats.org/officeDocument/2006/relationships" id="2147483671" r:id="Ra322862bdf594fc3"/>
    <p:sldLayoutId xmlns:r="http://schemas.openxmlformats.org/officeDocument/2006/relationships" id="2147483672" r:id="R9b4e8852e9af45d8"/>
    <p:sldLayoutId xmlns:r="http://schemas.openxmlformats.org/officeDocument/2006/relationships" id="2147483673" r:id="R021c6cb2143a4d49"/>
    <p:sldLayoutId xmlns:r="http://schemas.openxmlformats.org/officeDocument/2006/relationships" id="2147483674" r:id="R1aeb8cb370a649f3"/>
    <p:sldLayoutId xmlns:r="http://schemas.openxmlformats.org/officeDocument/2006/relationships" id="2147483675" r:id="R32ab92f312bc4d9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532ba1cc62b44fb"/>
    <p:sldLayoutId xmlns:r="http://schemas.openxmlformats.org/officeDocument/2006/relationships" id="2147483650" r:id="R5e1b6628d5f040e7"/>
    <p:sldLayoutId xmlns:r="http://schemas.openxmlformats.org/officeDocument/2006/relationships" id="2147483651" r:id="Rc01685aaa9914f99"/>
    <p:sldLayoutId xmlns:r="http://schemas.openxmlformats.org/officeDocument/2006/relationships" id="2147483652" r:id="Rc7922321a0614ab4"/>
    <p:sldLayoutId xmlns:r="http://schemas.openxmlformats.org/officeDocument/2006/relationships" id="2147483653" r:id="R16a4a9daee654531"/>
    <p:sldLayoutId xmlns:r="http://schemas.openxmlformats.org/officeDocument/2006/relationships" id="2147483654" r:id="Rf18f42de05e04a2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ondemand_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itle_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v5_02_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v6_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itle_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77" r:id="R5a115ef2067348a9"/>
    <p:sldLayoutId xmlns:r="http://schemas.openxmlformats.org/officeDocument/2006/relationships" id="2147483678" r:id="R19955728364845fc"/>
    <p:sldLayoutId xmlns:r="http://schemas.openxmlformats.org/officeDocument/2006/relationships" id="2147483679" r:id="Rfe62ea81f01b4c37"/>
    <p:sldLayoutId xmlns:r="http://schemas.openxmlformats.org/officeDocument/2006/relationships" id="2147483680" r:id="R7a98ee550c114937"/>
    <p:sldLayoutId xmlns:r="http://schemas.openxmlformats.org/officeDocument/2006/relationships" id="2147483681" r:id="R575053596cdb435f"/>
    <p:sldLayoutId xmlns:r="http://schemas.openxmlformats.org/officeDocument/2006/relationships" id="2147483682" r:id="R1add3d721ea04a0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v5_02_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6" r:id="R42928ebe7ab648be"/>
    <p:sldLayoutId xmlns:r="http://schemas.openxmlformats.org/officeDocument/2006/relationships" id="2147483657" r:id="Ra202f3f6a91f46e9"/>
    <p:sldLayoutId xmlns:r="http://schemas.openxmlformats.org/officeDocument/2006/relationships" id="2147483658" r:id="R62d3d84c5ac84b38"/>
    <p:sldLayoutId xmlns:r="http://schemas.openxmlformats.org/officeDocument/2006/relationships" id="2147483659" r:id="R73a5da9a13034536"/>
    <p:sldLayoutId xmlns:r="http://schemas.openxmlformats.org/officeDocument/2006/relationships" id="2147483660" r:id="R4c191f5d1a4a40fe"/>
    <p:sldLayoutId xmlns:r="http://schemas.openxmlformats.org/officeDocument/2006/relationships" id="2147483661" r:id="R1ad1d21c868b4d3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v6_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3" r:id="Rf3757162ca264c0b"/>
    <p:sldLayoutId xmlns:r="http://schemas.openxmlformats.org/officeDocument/2006/relationships" id="2147483664" r:id="R80c0da7a5cef4cda"/>
    <p:sldLayoutId xmlns:r="http://schemas.openxmlformats.org/officeDocument/2006/relationships" id="2147483665" r:id="Red55a1a1d61945c4"/>
    <p:sldLayoutId xmlns:r="http://schemas.openxmlformats.org/officeDocument/2006/relationships" id="2147483666" r:id="R09755fc431844084"/>
    <p:sldLayoutId xmlns:r="http://schemas.openxmlformats.org/officeDocument/2006/relationships" id="2147483667" r:id="R1c87df2135994226"/>
    <p:sldLayoutId xmlns:r="http://schemas.openxmlformats.org/officeDocument/2006/relationships" id="2147483668" r:id="Rca7c19652fc548a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ondemand_slide1.xml.rels><?xml version='1.0' encoding='UTF-8' standalone='yes'?>
<Relationships xmlns="http://schemas.openxmlformats.org/package/2006/relationships"><Relationship Type="http://schemas.openxmlformats.org/officeDocument/2006/relationships/slideLayout" Target="../slideLayouts/ondemand_slideLayout6.xml" Id="R731a8aab88a74bb8"/><Relationship Type="http://schemas.openxmlformats.org/officeDocument/2006/relationships/notesSlide" Target="../notesSlides/ondemand_notesSlide1.xml" Id="R5e23b7d555bc42c3"/></Relationships>
</file>

<file path=ppt/slides/_rels/ondemand_slide2.xml.rels><?xml version='1.0' encoding='UTF-8' standalone='yes'?>
<Relationships xmlns="http://schemas.openxmlformats.org/package/2006/relationships"><Relationship Type="http://schemas.openxmlformats.org/officeDocument/2006/relationships/slideLayout" Target="../slideLayouts/ondemand_slideLayout6.xml" Id="R1a7c49c6128e4ce4"/><Relationship Type="http://schemas.openxmlformats.org/officeDocument/2006/relationships/notesSlide" Target="../notesSlides/ondemand_notesSlide2.xml" Id="Re6bd3dca0c7e4e9f"/></Relationships>
</file>

<file path=ppt/slides/_rels/ondemand_slide3.xml.rels><?xml version='1.0' encoding='UTF-8' standalone='yes'?>
<Relationships xmlns="http://schemas.openxmlformats.org/package/2006/relationships"><Relationship Type="http://schemas.openxmlformats.org/officeDocument/2006/relationships/slideLayout" Target="../slideLayouts/ondemand_slideLayout6.xml" Id="R43da54827bd3497d"/><Relationship Type="http://schemas.openxmlformats.org/officeDocument/2006/relationships/notesSlide" Target="../notesSlides/ondemand_notesSlide3.xml" Id="Rf8a1a7206ce44491"/></Relationships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f9fb416d8054f29" /><Relationship Type="http://schemas.openxmlformats.org/officeDocument/2006/relationships/notesSlide" Target="/ppt/notesSlides/notesSlide1.xml" Id="Ra8c8a4c1c705488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c920e0bc8284833" /><Relationship Type="http://schemas.openxmlformats.org/officeDocument/2006/relationships/notesSlide" Target="/ppt/notesSlides/notesSlide2.xml" Id="R7057fa5d1b464c6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99272b160344551" /><Relationship Type="http://schemas.openxmlformats.org/officeDocument/2006/relationships/notesSlide" Target="/ppt/notesSlides/notesSlide4.xml" Id="R39a6de46795a4ed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17ccf9e244f42a5" /><Relationship Type="http://schemas.openxmlformats.org/officeDocument/2006/relationships/image" Target="/ppt/media/image.jpeg" Id="R2fb9dadbc9274052" /><Relationship Type="http://schemas.openxmlformats.org/officeDocument/2006/relationships/notesSlide" Target="/ppt/notesSlides/notesSlide5.xml" Id="R2234a9bbc5444e8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8047aff79a8420f" /><Relationship Type="http://schemas.openxmlformats.org/officeDocument/2006/relationships/image" Target="/ppt/media/image2.jpeg" Id="R865b3ba9269c48c0" /><Relationship Type="http://schemas.openxmlformats.org/officeDocument/2006/relationships/notesSlide" Target="/ppt/notesSlides/notesSlide7.xml" Id="R83c94ba251d5476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a70de4a784b452e" /><Relationship Type="http://schemas.openxmlformats.org/officeDocument/2006/relationships/image" Target="/ppt/media/image3.jpeg" Id="R1dd99e441a164f79" /><Relationship Type="http://schemas.openxmlformats.org/officeDocument/2006/relationships/notesSlide" Target="/ppt/notesSlides/notesSlide9.xml" Id="Rdad3bba5de5d4ce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ce3d2e41e6b408b" /><Relationship Type="http://schemas.openxmlformats.org/officeDocument/2006/relationships/image" Target="/ppt/media/image4.jpeg" Id="Rda2190ba04734985" /><Relationship Type="http://schemas.openxmlformats.org/officeDocument/2006/relationships/image" Target="/ppt/media/image5.jpeg" Id="R540f362deaca4dba" /><Relationship Type="http://schemas.openxmlformats.org/officeDocument/2006/relationships/image" Target="/ppt/media/image6.jpeg" Id="R51152045ee594a84" /><Relationship Type="http://schemas.openxmlformats.org/officeDocument/2006/relationships/notesSlide" Target="/ppt/notesSlides/notesSlide10.xml" Id="R4615fd13111d453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fc9fbaae7164480" /><Relationship Type="http://schemas.openxmlformats.org/officeDocument/2006/relationships/notesSlide" Target="/ppt/notesSlides/notesSlide11.xml" Id="Rdb00e1b75c85411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6b14d0cdf794fb4" /><Relationship Type="http://schemas.openxmlformats.org/officeDocument/2006/relationships/image" Target="/ppt/media/image7.jpeg" Id="Rc63b89dcb58e4b4e" /><Relationship Type="http://schemas.openxmlformats.org/officeDocument/2006/relationships/image" Target="/ppt/media/image8.jpeg" Id="R01c9da313081498a" /><Relationship Type="http://schemas.openxmlformats.org/officeDocument/2006/relationships/image" Target="/ppt/media/image9.jpeg" Id="Rb3ec423b2e614f04" /><Relationship Type="http://schemas.openxmlformats.org/officeDocument/2006/relationships/notesSlide" Target="/ppt/notesSlides/notesSlide12.xml" Id="R5368744e8fe84c75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5e69400d94b49b0" /><Relationship Type="http://schemas.openxmlformats.org/officeDocument/2006/relationships/notesSlide" Target="/ppt/notesSlides/notesSlide20.xml" Id="R3902a7de981b4390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24ef53be6cc4df4" /><Relationship Type="http://schemas.openxmlformats.org/officeDocument/2006/relationships/notesSlide" Target="/ppt/notesSlides/notesSlide24.xml" Id="R4f9c723ef0e84965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12de16c340f4ffb" /><Relationship Type="http://schemas.openxmlformats.org/officeDocument/2006/relationships/notesSlide" Target="/ppt/notesSlides/notesSlide25.xml" Id="R4a3c17fab15f4b02" /></Relationships>
</file>

<file path=ppt/slides/_rels/title_slide2.xml.rels><?xml version='1.0' encoding='UTF-8' standalone='yes'?>
<Relationships xmlns="http://schemas.openxmlformats.org/package/2006/relationships"><Relationship Type="http://schemas.openxmlformats.org/officeDocument/2006/relationships/slideLayout" Target="../slideLayouts/title_slideLayout6.xml" Id="R16c543d6daba462f"/><Relationship Type="http://schemas.openxmlformats.org/officeDocument/2006/relationships/notesSlide" Target="../notesSlides/title_notesSlide2.xml" Id="Rc8beda759baa4ee9"/></Relationships>
</file>

<file path=ppt/slides/_rels/v5_02_slide1.xml.rels><?xml version='1.0' encoding='UTF-8' standalone='yes'?>
<Relationships xmlns="http://schemas.openxmlformats.org/package/2006/relationships"><Relationship Type="http://schemas.openxmlformats.org/officeDocument/2006/relationships/slideLayout" Target="../slideLayouts/v5_02_slideLayout6.xml" Id="R53cce4459714422e"/><Relationship Type="http://schemas.openxmlformats.org/officeDocument/2006/relationships/notesSlide" Target="../notesSlides/v5_02_notesSlide1.xml" Id="R879200524de044ec"/></Relationships>
</file>

<file path=ppt/slides/_rels/v5_02_slide2.xml.rels><?xml version='1.0' encoding='UTF-8' standalone='yes'?>
<Relationships xmlns="http://schemas.openxmlformats.org/package/2006/relationships"><Relationship Type="http://schemas.openxmlformats.org/officeDocument/2006/relationships/slideLayout" Target="../slideLayouts/v5_02_slideLayout6.xml" Id="R28a34c8fa33b4ba5"/><Relationship Type="http://schemas.openxmlformats.org/officeDocument/2006/relationships/notesSlide" Target="../notesSlides/v5_02_notesSlide2.xml" Id="R3d0304a76a8a4e6b"/></Relationships>
</file>

<file path=ppt/slides/_rels/v5_02_slide3.xml.rels><?xml version='1.0' encoding='UTF-8' standalone='yes'?>
<Relationships xmlns="http://schemas.openxmlformats.org/package/2006/relationships"><Relationship Type="http://schemas.openxmlformats.org/officeDocument/2006/relationships/slideLayout" Target="../slideLayouts/v5_02_slideLayout6.xml" Id="R395a418f8cf745ea"/><Relationship Type="http://schemas.openxmlformats.org/officeDocument/2006/relationships/notesSlide" Target="../notesSlides/v5_02_notesSlide3.xml" Id="Rb7eb53efa5604a92"/></Relationships>
</file>

<file path=ppt/slides/_rels/v5_02_slide4.xml.rels><?xml version='1.0' encoding='UTF-8' standalone='yes'?>
<Relationships xmlns="http://schemas.openxmlformats.org/package/2006/relationships"><Relationship Type="http://schemas.openxmlformats.org/officeDocument/2006/relationships/slideLayout" Target="../slideLayouts/v5_02_slideLayout6.xml" Id="Rf2db330b53674677"/><Relationship Type="http://schemas.openxmlformats.org/officeDocument/2006/relationships/image" Target="../media/v5_02_image.jpeg" Id="R09b679dc6b494664"/><Relationship Type="http://schemas.openxmlformats.org/officeDocument/2006/relationships/notesSlide" Target="../notesSlides/v5_02_notesSlide4.xml" Id="R2a199481d4084094"/></Relationships>
</file>

<file path=ppt/slides/_rels/v5_02_slide5.xml.rels><?xml version='1.0' encoding='UTF-8' standalone='yes'?>
<Relationships xmlns="http://schemas.openxmlformats.org/package/2006/relationships"><Relationship Type="http://schemas.openxmlformats.org/officeDocument/2006/relationships/slideLayout" Target="../slideLayouts/v5_02_slideLayout6.xml" Id="R2a7e38aee0994300"/><Relationship Type="http://schemas.openxmlformats.org/officeDocument/2006/relationships/image" Target="../media/v5_02_image2.jpeg" Id="Rfaaf2a9b4be84337"/><Relationship Type="http://schemas.openxmlformats.org/officeDocument/2006/relationships/image" Target="../media/v5_02_image3.jpeg" Id="Rb3602bbce13646cd"/><Relationship Type="http://schemas.openxmlformats.org/officeDocument/2006/relationships/notesSlide" Target="../notesSlides/v5_02_notesSlide5.xml" Id="Rff825b4e57744454"/></Relationships>
</file>

<file path=ppt/slides/_rels/v5_02_slide6.xml.rels><?xml version='1.0' encoding='UTF-8' standalone='yes'?>
<Relationships xmlns="http://schemas.openxmlformats.org/package/2006/relationships"><Relationship Type="http://schemas.openxmlformats.org/officeDocument/2006/relationships/slideLayout" Target="../slideLayouts/v5_02_slideLayout6.xml" Id="R877d76f127454abf"/><Relationship Type="http://schemas.openxmlformats.org/officeDocument/2006/relationships/notesSlide" Target="../notesSlides/v5_02_notesSlide6.xml" Id="Rc638219098b34029"/></Relationships>
</file>

<file path=ppt/slides/_rels/v5_02_slide7.xml.rels><?xml version='1.0' encoding='UTF-8' standalone='yes'?>
<Relationships xmlns="http://schemas.openxmlformats.org/package/2006/relationships"><Relationship Type="http://schemas.openxmlformats.org/officeDocument/2006/relationships/slideLayout" Target="../slideLayouts/v5_02_slideLayout6.xml" Id="R37e93c07a7b8428d"/><Relationship Type="http://schemas.openxmlformats.org/officeDocument/2006/relationships/notesSlide" Target="../notesSlides/v5_02_notesSlide7.xml" Id="R9b951c84ef534909"/></Relationships>
</file>

<file path=ppt/slides/_rels/v5_02_slide8.xml.rels><?xml version='1.0' encoding='UTF-8' standalone='yes'?>
<Relationships xmlns="http://schemas.openxmlformats.org/package/2006/relationships"><Relationship Type="http://schemas.openxmlformats.org/officeDocument/2006/relationships/slideLayout" Target="../slideLayouts/v5_02_slideLayout6.xml" Id="R5e0bc37c0f0d4913"/><Relationship Type="http://schemas.openxmlformats.org/officeDocument/2006/relationships/notesSlide" Target="../notesSlides/v5_02_notesSlide8.xml" Id="R5d63c5459d944672"/></Relationships>
</file>

<file path=ppt/slides/_rels/v5_02_slide9.xml.rels><?xml version='1.0' encoding='UTF-8' standalone='yes'?>
<Relationships xmlns="http://schemas.openxmlformats.org/package/2006/relationships"><Relationship Type="http://schemas.openxmlformats.org/officeDocument/2006/relationships/slideLayout" Target="../slideLayouts/v5_02_slideLayout6.xml" Id="R30a0204000a64343"/><Relationship Type="http://schemas.openxmlformats.org/officeDocument/2006/relationships/notesSlide" Target="../notesSlides/v5_02_notesSlide9.xml" Id="R773a3bfc389147cf"/></Relationships>
</file>

<file path=ppt/slides/_rels/v5_02_slide10.xml.rels><?xml version='1.0' encoding='UTF-8' standalone='yes'?>
<Relationships xmlns="http://schemas.openxmlformats.org/package/2006/relationships"><Relationship Type="http://schemas.openxmlformats.org/officeDocument/2006/relationships/slideLayout" Target="../slideLayouts/v5_02_slideLayout6.xml" Id="R4408ce600afa4387"/><Relationship Type="http://schemas.openxmlformats.org/officeDocument/2006/relationships/notesSlide" Target="../notesSlides/v5_02_notesSlide10.xml" Id="R684cea0c5a514487"/></Relationships>
</file>

<file path=ppt/slides/_rels/v5_02_slide11.xml.rels><?xml version='1.0' encoding='UTF-8' standalone='yes'?>
<Relationships xmlns="http://schemas.openxmlformats.org/package/2006/relationships"><Relationship Type="http://schemas.openxmlformats.org/officeDocument/2006/relationships/slideLayout" Target="../slideLayouts/v5_02_slideLayout6.xml" Id="Rf9a712cd1f2442e0"/><Relationship Type="http://schemas.openxmlformats.org/officeDocument/2006/relationships/notesSlide" Target="../notesSlides/v5_02_notesSlide11.xml" Id="R350fe1f2e1a44f4e"/></Relationships>
</file>

<file path=ppt/slides/_rels/v5_02_slide12.xml.rels><?xml version='1.0' encoding='UTF-8' standalone='yes'?>
<Relationships xmlns="http://schemas.openxmlformats.org/package/2006/relationships"><Relationship Type="http://schemas.openxmlformats.org/officeDocument/2006/relationships/slideLayout" Target="../slideLayouts/v5_02_slideLayout6.xml" Id="Rdf8749722d5342ce"/><Relationship Type="http://schemas.openxmlformats.org/officeDocument/2006/relationships/notesSlide" Target="../notesSlides/v5_02_notesSlide12.xml" Id="Rd99c955eb063465d"/></Relationships>
</file>

<file path=ppt/slides/_rels/v5_02_slide13.xml.rels><?xml version='1.0' encoding='UTF-8' standalone='yes'?>
<Relationships xmlns="http://schemas.openxmlformats.org/package/2006/relationships"><Relationship Type="http://schemas.openxmlformats.org/officeDocument/2006/relationships/slideLayout" Target="../slideLayouts/v5_02_slideLayout6.xml" Id="R68d967f6de354655"/><Relationship Type="http://schemas.openxmlformats.org/officeDocument/2006/relationships/notesSlide" Target="../notesSlides/v5_02_notesSlide13.xml" Id="Rdd4639e2470b4fc9"/></Relationships>
</file>

<file path=ppt/slides/_rels/v5_02_slide14.xml.rels><?xml version='1.0' encoding='UTF-8' standalone='yes'?>
<Relationships xmlns="http://schemas.openxmlformats.org/package/2006/relationships"><Relationship Type="http://schemas.openxmlformats.org/officeDocument/2006/relationships/slideLayout" Target="../slideLayouts/v5_02_slideLayout6.xml" Id="R45a3eb00e94f4e96"/><Relationship Type="http://schemas.openxmlformats.org/officeDocument/2006/relationships/notesSlide" Target="../notesSlides/v5_02_notesSlide14.xml" Id="Rb59957d675b346cb"/></Relationships>
</file>

<file path=ppt/slides/_rels/v5_02_slide15.xml.rels><?xml version='1.0' encoding='UTF-8' standalone='yes'?>
<Relationships xmlns="http://schemas.openxmlformats.org/package/2006/relationships"><Relationship Type="http://schemas.openxmlformats.org/officeDocument/2006/relationships/slideLayout" Target="../slideLayouts/v5_02_slideLayout6.xml" Id="R1ace71fd72894662"/><Relationship Type="http://schemas.openxmlformats.org/officeDocument/2006/relationships/notesSlide" Target="../notesSlides/v5_02_notesSlide15.xml" Id="Rb0e8beee3d014bb0"/></Relationships>
</file>

<file path=ppt/slides/_rels/v5_02_slide16.xml.rels><?xml version='1.0' encoding='UTF-8' standalone='yes'?>
<Relationships xmlns="http://schemas.openxmlformats.org/package/2006/relationships"><Relationship Type="http://schemas.openxmlformats.org/officeDocument/2006/relationships/slideLayout" Target="../slideLayouts/v5_02_slideLayout6.xml" Id="Rb1030ad3ee324246"/><Relationship Type="http://schemas.openxmlformats.org/officeDocument/2006/relationships/notesSlide" Target="../notesSlides/v5_02_notesSlide16.xml" Id="R2af8f8355a0a4c9e"/></Relationships>
</file>

<file path=ppt/slides/_rels/v5_02_slide17.xml.rels><?xml version='1.0' encoding='UTF-8' standalone='yes'?>
<Relationships xmlns="http://schemas.openxmlformats.org/package/2006/relationships"><Relationship Type="http://schemas.openxmlformats.org/officeDocument/2006/relationships/slideLayout" Target="../slideLayouts/v5_02_slideLayout6.xml" Id="Rae67ba2faecc42da"/><Relationship Type="http://schemas.openxmlformats.org/officeDocument/2006/relationships/notesSlide" Target="../notesSlides/v5_02_notesSlide17.xml" Id="Rac23f4e8b6a94c37"/></Relationships>
</file>

<file path=ppt/slides/_rels/v5_02_slide19.xml.rels><?xml version='1.0' encoding='UTF-8' standalone='yes'?>
<Relationships xmlns="http://schemas.openxmlformats.org/package/2006/relationships"><Relationship Type="http://schemas.openxmlformats.org/officeDocument/2006/relationships/slideLayout" Target="../slideLayouts/v5_02_slideLayout6.xml" Id="Rbd9375853c9847d4"/><Relationship Type="http://schemas.openxmlformats.org/officeDocument/2006/relationships/notesSlide" Target="../notesSlides/v5_02_notesSlide19.xml" Id="Ra0b35408eadb4945"/></Relationships>
</file>

<file path=ppt/slides/_rels/v5_02_slide20.xml.rels><?xml version='1.0' encoding='UTF-8' standalone='yes'?>
<Relationships xmlns="http://schemas.openxmlformats.org/package/2006/relationships"><Relationship Type="http://schemas.openxmlformats.org/officeDocument/2006/relationships/slideLayout" Target="../slideLayouts/v5_02_slideLayout6.xml" Id="R1a7d27283105495e"/><Relationship Type="http://schemas.openxmlformats.org/officeDocument/2006/relationships/notesSlide" Target="../notesSlides/v5_02_notesSlide20.xml" Id="Rbe6f36e411cc4618"/></Relationships>
</file>

<file path=ppt/slides/_rels/v5_02_slide21.xml.rels><?xml version='1.0' encoding='UTF-8' standalone='yes'?>
<Relationships xmlns="http://schemas.openxmlformats.org/package/2006/relationships"><Relationship Type="http://schemas.openxmlformats.org/officeDocument/2006/relationships/slideLayout" Target="../slideLayouts/v5_02_slideLayout6.xml" Id="Rb3dd5c8510204f2d"/><Relationship Type="http://schemas.openxmlformats.org/officeDocument/2006/relationships/notesSlide" Target="../notesSlides/v5_02_notesSlide21.xml" Id="Rc3d8f87ce91541da"/></Relationships>
</file>

<file path=ppt/slides/_rels/v5_02_slide22.xml.rels><?xml version='1.0' encoding='UTF-8' standalone='yes'?>
<Relationships xmlns="http://schemas.openxmlformats.org/package/2006/relationships"><Relationship Type="http://schemas.openxmlformats.org/officeDocument/2006/relationships/slideLayout" Target="../slideLayouts/v5_02_slideLayout6.xml" Id="Ree58ba62a0f94b9d"/><Relationship Type="http://schemas.openxmlformats.org/officeDocument/2006/relationships/notesSlide" Target="../notesSlides/v5_02_notesSlide22.xml" Id="R0576e5750ed34c6b"/></Relationships>
</file>

<file path=ppt/slides/_rels/v6_slide6.xml.rels><?xml version='1.0' encoding='UTF-8' standalone='yes'?>
<Relationships xmlns="http://schemas.openxmlformats.org/package/2006/relationships"><Relationship Type="http://schemas.openxmlformats.org/officeDocument/2006/relationships/slideLayout" Target="../slideLayouts/v6_slideLayout6.xml" Id="Rbc73a98726f04e30"/><Relationship Type="http://schemas.openxmlformats.org/officeDocument/2006/relationships/image" Target="../media/v6_image.jpeg" Id="R29d2c45c77564471"/><Relationship Type="http://schemas.openxmlformats.org/officeDocument/2006/relationships/chart" Target="charts/v6_chart6.xml" Id="R47094db71ff44c40"/><Relationship Type="http://schemas.openxmlformats.org/officeDocument/2006/relationships/notesSlide" Target="../notesSlides/v6_notesSlide6.xml" Id="R33c0c932660c4eb1"/></Relationships>
</file>

<file path=ppt/slides/charts/_rels/v6_chart6.xml.rels><?xml version='1.0' encoding='UTF-8' standalone='yes'?>
<ns0:Relationships xmlns:ns0="http://schemas.openxmlformats.org/package/2006/relationships"><ns0:Relationship Id="rIdWorkbook" Type="http://schemas.openxmlformats.org/officeDocument/2006/relationships/package" Target="../../embeddings/v6_chart6.xlsx"/></ns0:Relationships>
</file>

<file path=ppt/slides/charts/v6_chart6.xml><?xml version="1.0" encoding="utf-8"?>
<c:chartSpace xmlns:c="http://schemas.openxmlformats.org/drawingml/2006/chart">
  <c:lang val="en-US"/>
  <c:chart>
    <c:plotArea>
      <c:scatterChart>
        <c:scatterStyle val="line"/>
        <c:varyColors val="0"/>
        <c:ser>
          <c:idx val="0"/>
          <c:order val="0"/>
          <c:tx>
            <c:v>壁割合から計算した密度モデル</c:v>
          </c:tx>
          <c:spPr>
            <a:ln xmlns:a="http://schemas.openxmlformats.org/drawingml/2006/main" w="30480">
              <a:solidFill>
                <a:srgbClr val="245C98"/>
              </a:solidFill>
            </a:ln>
          </c:spPr>
          <c:marker>
            <c:symbol val="none"/>
          </c:marker>
          <c:xVal>
            <c:numRef>
              <c:f>Model!$A$2:$A$18</c:f>
              <c:numCache>
                <c:formatCode>General</c:formatCode>
                <c:ptCount val="17"/>
                <c:pt idx="0">
                  <c:v>0</c:v>
                </c:pt>
                <c:pt idx="1">
                  <c:v>0.1</c:v>
                </c:pt>
                <c:pt idx="2">
                  <c:v>0.18</c:v>
                </c:pt>
                <c:pt idx="3">
                  <c:v>0.24</c:v>
                </c:pt>
                <c:pt idx="4">
                  <c:v>0.3</c:v>
                </c:pt>
                <c:pt idx="5">
                  <c:v>0.36</c:v>
                </c:pt>
                <c:pt idx="6">
                  <c:v>0.4</c:v>
                </c:pt>
                <c:pt idx="7">
                  <c:v>0.405</c:v>
                </c:pt>
                <c:pt idx="8">
                  <c:v>0.5</c:v>
                </c:pt>
                <c:pt idx="9">
                  <c:v>0.6</c:v>
                </c:pt>
                <c:pt idx="10">
                  <c:v>0.7</c:v>
                </c:pt>
                <c:pt idx="11">
                  <c:v>0.76</c:v>
                </c:pt>
                <c:pt idx="12">
                  <c:v>0.82</c:v>
                </c:pt>
                <c:pt idx="13">
                  <c:v>0.88</c:v>
                </c:pt>
                <c:pt idx="14">
                  <c:v>0.92</c:v>
                </c:pt>
                <c:pt idx="15">
                  <c:v>0.925</c:v>
                </c:pt>
                <c:pt idx="16">
                  <c:v>1</c:v>
                </c:pt>
              </c:numCache>
            </c:numRef>
          </c:xVal>
          <c:yVal>
            <c:numRef>
              <c:f>Model!$B$2:$B$18</c:f>
              <c:numCache>
                <c:formatCode>0.###</c:formatCode>
                <c:ptCount val="17"/>
                <c:pt idx="0">
                  <c:v>0.285</c:v>
                </c:pt>
                <c:pt idx="1">
                  <c:v>0.3</c:v>
                </c:pt>
                <c:pt idx="2">
                  <c:v>0.36</c:v>
                </c:pt>
                <c:pt idx="3">
                  <c:v>0.45</c:v>
                </c:pt>
                <c:pt idx="4">
                  <c:v>0.6</c:v>
                </c:pt>
                <c:pt idx="5">
                  <c:v>0.72</c:v>
                </c:pt>
                <c:pt idx="6">
                  <c:v>0.765</c:v>
                </c:pt>
                <c:pt idx="7">
                  <c:v>0.285</c:v>
                </c:pt>
                <c:pt idx="8">
                  <c:v>0.3</c:v>
                </c:pt>
                <c:pt idx="9">
                  <c:v>0.34</c:v>
                </c:pt>
                <c:pt idx="10">
                  <c:v>0.4</c:v>
                </c:pt>
                <c:pt idx="11">
                  <c:v>0.5</c:v>
                </c:pt>
                <c:pt idx="12">
                  <c:v>0.63</c:v>
                </c:pt>
                <c:pt idx="13">
                  <c:v>0.72</c:v>
                </c:pt>
                <c:pt idx="14">
                  <c:v>0.765</c:v>
                </c:pt>
                <c:pt idx="15">
                  <c:v>0.285</c:v>
                </c:pt>
                <c:pt idx="16">
                  <c:v>0.3</c:v>
                </c:pt>
              </c:numCache>
            </c:numRef>
          </c:yVal>
          <c:smooth val="0"/>
        </c:ser>
        <c:axId val="48650112"/>
        <c:axId val="48672768"/>
      </c:scatterChart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3E9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latin typeface="Yu Gothic"/>
                    <a:ea typeface="Yu Gothic"/>
                    <a:cs typeface="Yu Gothic"/>
                  </a:rPr>
                  <a:t>全乾密度 / (g/cm³)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latin typeface="Yu Gothic"/>
                  <a:ea typeface="Yu Gothic"/>
                  <a:cs typeface="Yu Gothic"/>
                </a:defRPr>
              </a:pPr>
            </a:p>
          </c:txPr>
        </c:title>
        <c:numFmt formatCode="General" sourceLinked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Yu Gothic"/>
                <a:ea typeface="Yu Gothic"/>
                <a:cs typeface="Yu Gothic"/>
              </a:defRPr>
            </a:pPr>
          </a:p>
        </c:txPr>
        <c:crossAx val="48650112"/>
        <c:majorUnit val="0.2"/>
      </c:valAx>
      <c:valAx>
        <c:axId val="48650112"/>
        <c:scaling>
          <c:orientation val="minMax"/>
          <c:max val="1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latin typeface="Yu Gothic"/>
                    <a:ea typeface="Yu Gothic"/>
                    <a:cs typeface="Yu Gothic"/>
                  </a:rPr>
                  <a:t>髄側から樹皮側への相対位置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latin typeface="Yu Gothic"/>
                  <a:ea typeface="Yu Gothic"/>
                  <a:cs typeface="Yu Gothic"/>
                </a:defRPr>
              </a:pPr>
            </a:p>
          </c:txPr>
        </c:title>
        <c:numFmt formatCode="General" sourceLinked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Yu Gothic"/>
                <a:ea typeface="Yu Gothic"/>
                <a:cs typeface="Yu Gothic"/>
              </a:defRPr>
            </a:pPr>
          </a:p>
        </c:txPr>
        <c:crossAx val="48672768"/>
        <c:majorUnit val="0.2"/>
      </c:valAx>
      <c:spPr>
        <a:noFill xmlns:a="http://schemas.openxmlformats.org/drawingml/2006/main"/>
      </c:spPr>
    </c:plotArea>
    <c:plotVisOnly val="1"/>
  </c:chart>
  <c:spPr>
    <a:noFill xmlns:a="http://schemas.openxmlformats.org/drawingml/2006/main"/>
  </c:spPr>
  <c:externalData xmlns:r="http://schemas.openxmlformats.org/officeDocument/2006/relationships" r:id="rIdWorkbook">
    <c:autoUpdate val="0"/>
  </c:externalData>
</c:chartSpace>
</file>

<file path=ppt/slides/ondemand_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D610F6-2E88-489E-A108-8FBF3037C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短い休憩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B448AC-8808-42A5-B01A-63356866D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64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D458D7-66A6-4743-9B9A-556A77758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62125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8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>
              <a:defRPr sz="28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>
              <a:defRPr sz="28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>
              <a:defRPr sz="28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>
              <a:defRPr sz="28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>
              <a:defRPr sz="28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>
              <a:defRPr sz="28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>
              <a:defRPr sz="28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>
              <a:defRPr sz="28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>
              <a:defRPr sz="28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8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画面から目を離し、姿勢を変えましょう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57A5CB-8229-4151-88FA-CD74DE7F0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19400"/>
            <a:ext cx="10382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肩を軽く上げて下ろす</a:t>
            </a:r>
          </a:p>
          <a:p xmlns:a="http://schemas.openxmlformats.org/drawingml/2006/main">
            <a:pPr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手を開いて閉じる</a:t>
            </a:r>
          </a:p>
          <a:p xmlns:a="http://schemas.openxmlformats.org/drawingml/2006/main">
            <a:pPr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できる範囲で。動作は任意です。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CA9EC5-E0BA-4178-A2CA-5FA58CD46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00625"/>
            <a:ext cx="10382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17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defPPr>
            <a:lvl1pPr>
              <a:defRPr sz="217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1pPr>
            <a:lvl2pPr>
              <a:defRPr sz="217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2pPr>
            <a:lvl3pPr>
              <a:defRPr sz="217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3pPr>
            <a:lvl4pPr>
              <a:defRPr sz="217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4pPr>
            <a:lvl5pPr>
              <a:defRPr sz="217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5pPr>
            <a:lvl6pPr>
              <a:defRPr sz="217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6pPr>
            <a:lvl7pPr>
              <a:defRPr sz="217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7pPr>
            <a:lvl8pPr>
              <a:defRPr sz="217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8pPr>
            <a:lvl9pPr>
              <a:defRPr sz="217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pPr>
            <a:r>
              <a:rPr sz="2175" b="1">
                <a:solidFill>
                  <a:srgbClr val="087E8B"/>
                </a:solidFill>
                <a:latin typeface="Yu Gothic"/>
                <a:ea typeface="Yu Gothic"/>
                <a:cs typeface="Yu Gothic"/>
              </a:rPr>
              <a:t>再開したら：組織写真の観察から、年輪の内部へ進みます。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DAAA3C-C6E8-4F00-8A97-822917F8A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14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第2回・オンデマンド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457D57-8C4A-45B9-ACC2-12C5C815B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19850"/>
            <a:ext cx="1219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休憩 1</a:t>
            </a:r>
          </a:p>
        </p:txBody>
      </p:sp>
    </p:spTree>
    <p:extLst>
      <p:ext uri="{BB962C8B-B14F-4D97-AF65-F5344CB8AC3E}">
        <p14:creationId xmlns:p14="http://schemas.microsoft.com/office/powerpoint/2010/main" val="955715436"/>
      </p:ext>
    </p:extLst>
  </p:cSld>
</p:sld>
</file>

<file path=ppt/slides/ondemand_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8E3AC5-9FBF-45AF-9665-2B9224E77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短い休憩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36BDAC-B2FE-4270-9932-B43F75156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64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5C0EB8-D892-452D-B33F-DA8B1EA10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62125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8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>
              <a:defRPr sz="28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>
              <a:defRPr sz="28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>
              <a:defRPr sz="28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>
              <a:defRPr sz="28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>
              <a:defRPr sz="28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>
              <a:defRPr sz="28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>
              <a:defRPr sz="28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>
              <a:defRPr sz="28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>
              <a:defRPr sz="28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8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画面から目を離し、姿勢を変えましょう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719A91-1AE2-472D-AD31-74C034102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19400"/>
            <a:ext cx="10382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肩を軽く上げて下ろす</a:t>
            </a:r>
          </a:p>
          <a:p xmlns:a="http://schemas.openxmlformats.org/drawingml/2006/main">
            <a:pPr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手を開いて閉じる</a:t>
            </a:r>
          </a:p>
          <a:p xmlns:a="http://schemas.openxmlformats.org/drawingml/2006/main">
            <a:pPr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できる範囲で。動作は任意です。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D737A3-6C7D-4CDE-A6C6-D392AADA1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00625"/>
            <a:ext cx="10382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17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defPPr>
            <a:lvl1pPr>
              <a:defRPr sz="217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1pPr>
            <a:lvl2pPr>
              <a:defRPr sz="217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2pPr>
            <a:lvl3pPr>
              <a:defRPr sz="217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3pPr>
            <a:lvl4pPr>
              <a:defRPr sz="217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4pPr>
            <a:lvl5pPr>
              <a:defRPr sz="217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5pPr>
            <a:lvl6pPr>
              <a:defRPr sz="217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6pPr>
            <a:lvl7pPr>
              <a:defRPr sz="217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7pPr>
            <a:lvl8pPr>
              <a:defRPr sz="217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8pPr>
            <a:lvl9pPr>
              <a:defRPr sz="217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pPr>
            <a:r>
              <a:rPr sz="2175" b="1">
                <a:solidFill>
                  <a:srgbClr val="087E8B"/>
                </a:solidFill>
                <a:latin typeface="Yu Gothic"/>
                <a:ea typeface="Yu Gothic"/>
                <a:cs typeface="Yu Gothic"/>
              </a:rPr>
              <a:t>再開したら：壁の割合と密度を、モデルで計算します。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EEBC6A-1D44-46DD-BFEB-0ECEE2645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14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第2回・オンデマンド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E88471-B4E5-494F-89E2-BDEA5689A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19850"/>
            <a:ext cx="1219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休憩 2</a:t>
            </a:r>
          </a:p>
        </p:txBody>
      </p:sp>
    </p:spTree>
    <p:extLst>
      <p:ext uri="{BB962C8B-B14F-4D97-AF65-F5344CB8AC3E}">
        <p14:creationId xmlns:p14="http://schemas.microsoft.com/office/powerpoint/2010/main" val="939805514"/>
      </p:ext>
    </p:extLst>
  </p:cSld>
</p:sld>
</file>

<file path=ppt/slides/ondemand_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D7077D-0A95-44B0-8602-C2AADCA87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短い休憩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BF607C-BF00-4C6A-AA4A-ADB404B46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64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F0D94B-76AB-4904-A86E-903840F9B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62125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8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>
              <a:defRPr sz="28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>
              <a:defRPr sz="28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>
              <a:defRPr sz="28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>
              <a:defRPr sz="28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>
              <a:defRPr sz="28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>
              <a:defRPr sz="28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>
              <a:defRPr sz="28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>
              <a:defRPr sz="28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>
              <a:defRPr sz="28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8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画面から目を離し、姿勢を変えましょう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7FBA22-7C4C-483B-ADA0-4483B0B40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19400"/>
            <a:ext cx="10382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肩を軽く上げて下ろす</a:t>
            </a:r>
          </a:p>
          <a:p xmlns:a="http://schemas.openxmlformats.org/drawingml/2006/main">
            <a:pPr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手を開いて閉じる</a:t>
            </a:r>
          </a:p>
          <a:p xmlns:a="http://schemas.openxmlformats.org/drawingml/2006/main">
            <a:pPr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できる範囲で。動作は任意です。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0660DE-439C-409F-96AE-D303D38A4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00625"/>
            <a:ext cx="10382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17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defPPr>
            <a:lvl1pPr>
              <a:defRPr sz="217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1pPr>
            <a:lvl2pPr>
              <a:defRPr sz="217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2pPr>
            <a:lvl3pPr>
              <a:defRPr sz="217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3pPr>
            <a:lvl4pPr>
              <a:defRPr sz="217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4pPr>
            <a:lvl5pPr>
              <a:defRPr sz="217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5pPr>
            <a:lvl6pPr>
              <a:defRPr sz="217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6pPr>
            <a:lvl7pPr>
              <a:defRPr sz="217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7pPr>
            <a:lvl8pPr>
              <a:defRPr sz="217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8pPr>
            <a:lvl9pPr>
              <a:defRPr sz="217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pPr>
            <a:r>
              <a:rPr sz="2175" b="1">
                <a:solidFill>
                  <a:srgbClr val="087E8B"/>
                </a:solidFill>
                <a:latin typeface="Yu Gothic"/>
                <a:ea typeface="Yu Gothic"/>
                <a:cs typeface="Yu Gothic"/>
              </a:rPr>
              <a:t>再開したら：観察と測定を整理し、技術科の授業へつなげます。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A0F330-ACC8-4346-AAE5-91B18158C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14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第2回・オンデマンド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DAA4CC-8A30-4BF0-AE78-DBF331770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19850"/>
            <a:ext cx="1219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休憩 3</a:t>
            </a:r>
          </a:p>
        </p:txBody>
      </p:sp>
    </p:spTree>
    <p:extLst>
      <p:ext uri="{BB962C8B-B14F-4D97-AF65-F5344CB8AC3E}">
        <p14:creationId xmlns:p14="http://schemas.microsoft.com/office/powerpoint/2010/main" val="1066888062"/>
      </p:ext>
    </p:extLst>
  </p:cSld>
</p:sld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ACE625-157B-48E5-BE1A-37C4A5D1A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第2回　組織と年輪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942334-35BF-42A4-9152-E0B794F86EC0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0B3A63-A366-4B11-AF24-6206495BF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33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木材及び木質材料学　第2回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888CF1-496A-4923-B420-009A38375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8489DE-22C5-41FB-AF71-2D59ED401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108204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9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9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9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9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9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9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9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9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9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9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9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細胞の形と並びから</a:t>
            </a:r>
          </a:p>
          <a:p xmlns:a="http://schemas.openxmlformats.org/drawingml/2006/main">
            <a:pPr algn="l">
              <a:defRPr sz="39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9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材質を考える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3C9FD7-51FA-429D-A680-927B20F51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壁と内腔、軸方向と放射方向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6123CF-6320-474D-9CA0-F94EDC36F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針葉樹材・広葉樹材、早材と晩材</a:t>
            </a:r>
          </a:p>
        </p:txBody>
      </p:sp>
    </p:spTree>
    <p:extLst>
      <p:ext uri="{BB962C8B-B14F-4D97-AF65-F5344CB8AC3E}">
        <p14:creationId xmlns:p14="http://schemas.microsoft.com/office/powerpoint/2010/main" val="123320973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9E2EBE-F606-43FF-9537-3ABDDF724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前回の確認　方向と面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E7657B-4099-4B9A-BC20-A95F9A99CA33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EB7FC3-3687-4234-8B52-A3118506E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33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木材及び木質材料学　第2回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B55755-2A34-479B-AA7C-6B32B1757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8E8360-6BDF-4269-86B4-F5C9338AA499}"/>
              </a:ext>
            </a:extLst>
          </p:cNvPr>
          <p:cNvGraphicFramePr/>
          <p:nvPr/>
        </p:nvGraphicFramePr>
        <p:xfrm>
          <a:off xmlns:a="http://schemas.openxmlformats.org/drawingml/2006/main" x="685800" y="1714500"/>
          <a:ext xmlns:a="http://schemas.openxmlformats.org/drawingml/2006/main" cx="108204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524000"/>
                <a:gridCol w="3143250"/>
                <a:gridCol w="6153150"/>
              </a:tblGrid>
              <a:tr h="857250">
                <a:tc>
                  <a:txBody>
                    <a:bodyPr lIns="95250" tIns="95250" rIns="95250" bIns="9525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方向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3DD"/>
                      </a:solidFill>
                    </a:lnL>
                    <a:lnR w="9525">
                      <a:solidFill>
                        <a:srgbClr val="C8D3DD"/>
                      </a:solidFill>
                    </a:lnR>
                    <a:lnT w="9525">
                      <a:solidFill>
                        <a:srgbClr val="C8D3DD"/>
                      </a:solidFill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18364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意味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T w="9525">
                      <a:solidFill>
                        <a:srgbClr val="C8D3DD"/>
                      </a:solidFill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18364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その方向を含む主な面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T w="9525">
                      <a:solidFill>
                        <a:srgbClr val="C8D3DD"/>
                      </a:solidFill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18364F"/>
                    </a:solidFill>
                  </a:tcPr>
                </a:tc>
              </a:tr>
              <a:tr h="857250"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L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3DD"/>
                      </a:solidFill>
                    </a:lnL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繊維方向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柾目 LR・板目 LT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</a:tr>
              <a:tr h="857250"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R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3DD"/>
                      </a:solidFill>
                    </a:lnL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放射方向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木口 RT・柾目 LR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57250"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T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3DD"/>
                      </a:solidFill>
                    </a:lnL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接線方向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木口 RT・板目 LT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329660-A60C-4588-BF9A-C1574B824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1082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方向の名称と、面の名称を混ぜない</a:t>
            </a:r>
          </a:p>
        </p:txBody>
      </p:sp>
    </p:spTree>
    <p:extLst>
      <p:ext uri="{BB962C8B-B14F-4D97-AF65-F5344CB8AC3E}">
        <p14:creationId xmlns:p14="http://schemas.microsoft.com/office/powerpoint/2010/main" val="53359959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94156E-9D16-495C-8320-7DCE3C42E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形成層と、新しい木部の位置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ED7F48-265D-4265-ABD9-0291483ECE57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2B9127-C26B-4AAD-85F2-F3434D0BC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33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木材及び木質材料学　第2回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8E8FEB-A147-481F-96BC-53685F5DF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8D059F-6024-45C6-B37D-B6E6AEA11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286000"/>
            <a:ext cx="314325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6BD"/>
          </a:solidFill>
          <a:ln xmlns:a="http://schemas.openxmlformats.org/drawingml/2006/main" w="14288">
            <a:solidFill>
              <a:srgbClr val="C8D3DD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20D656-9E3E-43B5-A9B7-A1EF9558A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905125"/>
            <a:ext cx="29908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def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古い木部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4C20C1-93AB-4B28-B4A7-7C2707ED9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286000"/>
            <a:ext cx="314325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4"/>
          </a:solidFill>
          <a:ln xmlns:a="http://schemas.openxmlformats.org/drawingml/2006/main" w="14288">
            <a:solidFill>
              <a:srgbClr val="C8D3DD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6991A3-8683-4315-AD93-85685D84B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2905125"/>
            <a:ext cx="29908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def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新しい木部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C84C2D-06CE-4D75-9F05-5375E0BD7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286000"/>
            <a:ext cx="904875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8E6"/>
          </a:solidFill>
          <a:ln xmlns:a="http://schemas.openxmlformats.org/drawingml/2006/main" w="14288">
            <a:solidFill>
              <a:srgbClr val="C8D3DD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D3A911-4829-4358-B68F-CC956F2FC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2905125"/>
            <a:ext cx="7524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18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18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18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18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18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18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18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18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18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形成層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F02064-4388-459A-AF37-F09BFBA45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286000"/>
            <a:ext cx="314325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14288">
            <a:solidFill>
              <a:srgbClr val="C8D3DD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C044B7-086A-44F2-ACB5-A323488DB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905125"/>
            <a:ext cx="29908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def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師部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C6D093-4FD1-4067-B57B-9B055A787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647825"/>
            <a:ext cx="190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髄側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2A2ABB-E881-4604-9E71-0BADFB151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1647825"/>
            <a:ext cx="1857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樹皮側</a:t>
            </a:r>
          </a:p>
        </p:txBody>
      </p: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56D442-05EB-40A8-8821-FEE923C32E92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095375" y="4810125"/>
            <a:ext cx="9953625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245C98"/>
            </a:solidFill>
            <a:tailEnd type="triangle" w="med" len="me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4B1F3C-468C-4799-8948-2D4A802B5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057775"/>
            <a:ext cx="10334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400" b="1">
                <a:solidFill>
                  <a:srgbClr val="245C98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2400" b="1">
                <a:solidFill>
                  <a:srgbClr val="245C98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2400" b="1">
                <a:solidFill>
                  <a:srgbClr val="245C98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2400" b="1">
                <a:solidFill>
                  <a:srgbClr val="245C98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2400" b="1">
                <a:solidFill>
                  <a:srgbClr val="245C98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2400" b="1">
                <a:solidFill>
                  <a:srgbClr val="245C98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2400" b="1">
                <a:solidFill>
                  <a:srgbClr val="245C98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2400" b="1">
                <a:solidFill>
                  <a:srgbClr val="245C98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2400" b="1">
                <a:solidFill>
                  <a:srgbClr val="245C98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2400" b="1">
                <a:solidFill>
                  <a:srgbClr val="245C9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defRPr sz="2400" b="1">
                <a:solidFill>
                  <a:srgbClr val="245C98"/>
                </a:solidFill>
                <a:latin typeface="Yu Gothic"/>
                <a:ea typeface="Yu Gothic"/>
                <a:cs typeface="Yu Gothic"/>
              </a:defRPr>
            </a:pPr>
            <a:r>
              <a:rPr sz="2400" b="1">
                <a:solidFill>
                  <a:srgbClr val="245C98"/>
                </a:solidFill>
                <a:latin typeface="Yu Gothic"/>
                <a:ea typeface="Yu Gothic"/>
                <a:cs typeface="Yu Gothic"/>
              </a:rPr>
              <a:t>R方向：髄から外側へ</a:t>
            </a:r>
          </a:p>
        </p:txBody>
      </p:sp>
    </p:spTree>
    <p:extLst>
      <p:ext uri="{BB962C8B-B14F-4D97-AF65-F5344CB8AC3E}">
        <p14:creationId xmlns:p14="http://schemas.microsoft.com/office/powerpoint/2010/main" val="161760929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076FDF-7D8F-4BDF-9246-B93B45326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木口を拡大すると、壁と内腔が見える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DF71D9-09B3-483B-8743-F18664122DFA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FEAFA2-18A6-4F2A-89D1-E58B1D3E0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33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木材及び木質材料学　第2回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FB81FD-1EEB-4683-AB52-BFD6F703B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5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7DE38D-5CDA-40AF-9E97-6816B6E8397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b9dadbc9274052"/>
          <a:stretch xmlns:a="http://schemas.openxmlformats.org/drawingml/2006/main"/>
        </p:blipFill>
        <p:spPr>
          <a:xfrm xmlns:a="http://schemas.openxmlformats.org/drawingml/2006/main">
            <a:off x="1343025" y="1504950"/>
            <a:ext cx="3352800" cy="41910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DE8402-5CBD-460C-A7E6-E1556B1BD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00250"/>
            <a:ext cx="2047875" cy="2047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6BD"/>
          </a:solidFill>
          <a:ln xmlns:a="http://schemas.openxmlformats.org/drawingml/2006/main" w="14288">
            <a:solidFill>
              <a:srgbClr val="B55D09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075EB4-C067-4A95-AAE2-C7DBD7256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86000"/>
            <a:ext cx="1476375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55D09"/>
            </a:solidFill>
          </a:ln>
        </p:spPr>
      </p: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369B49-3C65-415F-8F6E-4F8157471419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8248650" y="2190750"/>
            <a:ext cx="8001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55D09"/>
            </a:solidFill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CEFCC1-6D78-472E-93EA-411E357E0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94310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1">
                <a:solidFill>
                  <a:srgbClr val="B55D09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325" b="1">
                <a:solidFill>
                  <a:srgbClr val="B55D09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325" b="1">
                <a:solidFill>
                  <a:srgbClr val="B55D09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325" b="1">
                <a:solidFill>
                  <a:srgbClr val="B55D09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325" b="1">
                <a:solidFill>
                  <a:srgbClr val="B55D09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325" b="1">
                <a:solidFill>
                  <a:srgbClr val="B55D09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325" b="1">
                <a:solidFill>
                  <a:srgbClr val="B55D09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325" b="1">
                <a:solidFill>
                  <a:srgbClr val="B55D09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325" b="1">
                <a:solidFill>
                  <a:srgbClr val="B55D09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325" b="1">
                <a:solidFill>
                  <a:srgbClr val="B55D09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B55D09"/>
                </a:solidFill>
                <a:latin typeface="Yu Gothic"/>
                <a:ea typeface="Yu Gothic"/>
                <a:cs typeface="Yu Gothic"/>
              </a:defRPr>
            </a:pPr>
            <a:r>
              <a:rPr sz="2325" b="1">
                <a:solidFill>
                  <a:srgbClr val="B55D09"/>
                </a:solidFill>
                <a:latin typeface="Yu Gothic"/>
                <a:ea typeface="Yu Gothic"/>
                <a:cs typeface="Yu Gothic"/>
              </a:rPr>
              <a:t>細胞壁</a:t>
            </a:r>
          </a:p>
        </p:txBody>
      </p: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EF2168-BEE7-4695-B36A-532652E4BE32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7334250" y="3048000"/>
            <a:ext cx="1714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45C98"/>
            </a:solidFill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683F17-98DF-43FE-8321-3315C66D7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80035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1">
                <a:solidFill>
                  <a:srgbClr val="245C9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325" b="1">
                <a:solidFill>
                  <a:srgbClr val="245C9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325" b="1">
                <a:solidFill>
                  <a:srgbClr val="245C9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325" b="1">
                <a:solidFill>
                  <a:srgbClr val="245C9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325" b="1">
                <a:solidFill>
                  <a:srgbClr val="245C9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325" b="1">
                <a:solidFill>
                  <a:srgbClr val="245C9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325" b="1">
                <a:solidFill>
                  <a:srgbClr val="245C9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325" b="1">
                <a:solidFill>
                  <a:srgbClr val="245C9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325" b="1">
                <a:solidFill>
                  <a:srgbClr val="245C9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325" b="1">
                <a:solidFill>
                  <a:srgbClr val="245C9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245C98"/>
                </a:solidFill>
                <a:latin typeface="Yu Gothic"/>
                <a:ea typeface="Yu Gothic"/>
                <a:cs typeface="Yu Gothic"/>
              </a:defRPr>
            </a:pPr>
            <a:r>
              <a:rPr sz="2325" b="1">
                <a:solidFill>
                  <a:srgbClr val="245C98"/>
                </a:solidFill>
                <a:latin typeface="Yu Gothic"/>
                <a:ea typeface="Yu Gothic"/>
                <a:cs typeface="Yu Gothic"/>
              </a:rPr>
              <a:t>内腔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CB52EA-2325-4B7C-988F-940C5A43A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4333875"/>
            <a:ext cx="504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def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横断面の模式図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272382-0AA7-42E5-9750-028FBE008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1082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カラマツ Larix kaempferi。画像：森林総合研究所 日本産木材データベース</a:t>
            </a:r>
          </a:p>
        </p:txBody>
      </p:sp>
    </p:spTree>
    <p:extLst>
      <p:ext uri="{BB962C8B-B14F-4D97-AF65-F5344CB8AC3E}">
        <p14:creationId xmlns:p14="http://schemas.microsoft.com/office/powerpoint/2010/main" val="163745579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A9DF8E-D632-4188-AD63-1E1BC7716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軸方向の細胞と、放射組織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DB4E5F-4D83-42D2-B00F-79F6D3BEC1FA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158F6D-2548-4A14-831B-637B8643E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33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木材及び木質材料学　第2回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E9D2F5-1265-4A42-8A0D-FDD3DB0A2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8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3B94E5-BA44-4E44-8D5A-646DEB16535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5b3ba9269c48c0"/>
          <a:stretch xmlns:a="http://schemas.openxmlformats.org/drawingml/2006/main"/>
        </p:blipFill>
        <p:spPr>
          <a:xfrm xmlns:a="http://schemas.openxmlformats.org/drawingml/2006/main">
            <a:off x="1200849" y="1524000"/>
            <a:ext cx="3446653" cy="4191000"/>
          </a:xfrm>
          <a:prstGeom xmlns:a="http://schemas.openxmlformats.org/drawingml/2006/main" prst="rect">
            <a:avLst/>
          </a:prstGeom>
        </p:spPr>
      </p:pic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2C2D2F-F41C-401D-B660-DA0A44F9E471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1857375" y="4267200"/>
            <a:ext cx="0" cy="87630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B55D09"/>
            </a:solidFill>
            <a:tailEnd type="triangle" w="med" len="me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AB8D60-7039-43DB-82C3-B49CB72B1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3781425"/>
            <a:ext cx="428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1">
                <a:solidFill>
                  <a:srgbClr val="B55D09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325" b="1">
                <a:solidFill>
                  <a:srgbClr val="B55D09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325" b="1">
                <a:solidFill>
                  <a:srgbClr val="B55D09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325" b="1">
                <a:solidFill>
                  <a:srgbClr val="B55D09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325" b="1">
                <a:solidFill>
                  <a:srgbClr val="B55D09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325" b="1">
                <a:solidFill>
                  <a:srgbClr val="B55D09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325" b="1">
                <a:solidFill>
                  <a:srgbClr val="B55D09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325" b="1">
                <a:solidFill>
                  <a:srgbClr val="B55D09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325" b="1">
                <a:solidFill>
                  <a:srgbClr val="B55D09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325" b="1">
                <a:solidFill>
                  <a:srgbClr val="B55D09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B55D09"/>
                </a:solidFill>
                <a:latin typeface="Yu Gothic"/>
                <a:ea typeface="Yu Gothic"/>
                <a:cs typeface="Yu Gothic"/>
              </a:defRPr>
            </a:pPr>
            <a:r>
              <a:rPr sz="2325" b="1">
                <a:solidFill>
                  <a:srgbClr val="B55D09"/>
                </a:solidFill>
                <a:latin typeface="Yu Gothic"/>
                <a:ea typeface="Yu Gothic"/>
                <a:cs typeface="Yu Gothic"/>
              </a:rPr>
              <a:t>L</a:t>
            </a:r>
          </a:p>
        </p:txBody>
      </p: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B6FCC7-C02E-42B9-90DA-FC2962138B5D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1857375" y="2200275"/>
            <a:ext cx="800100" cy="561975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087E8B"/>
            </a:solidFill>
            <a:tailEnd type="triangle" w="med" len="me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CAB157-CCF4-4139-8E25-9C3C0E2AB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1838325"/>
            <a:ext cx="428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3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3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3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3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3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3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3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3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3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pPr>
            <a:r>
              <a:rPr sz="2325" b="1">
                <a:solidFill>
                  <a:srgbClr val="087E8B"/>
                </a:solidFill>
                <a:latin typeface="Yu Gothic"/>
                <a:ea typeface="Yu Gothic"/>
                <a:cs typeface="Yu Gothic"/>
              </a:rPr>
              <a:t>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C8E506-7CCD-4F23-8020-321718C4A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1781175"/>
            <a:ext cx="57435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軸方向の系：主にLに沿う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6297EF-1092-47C6-BF2A-383AA08F6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2886075"/>
            <a:ext cx="57435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放射方向の系：Rに沿う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465702-091A-4AC9-9AB3-96C51BE89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3990975"/>
            <a:ext cx="57435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通導・支持・貯蔵の配置を見る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362EE5-26B1-4B24-A4E0-D45657E21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1082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スギ Cryptomeria japonica。画像：森林総合研究所 日本産木材データベース</a:t>
            </a:r>
          </a:p>
        </p:txBody>
      </p:sp>
    </p:spTree>
    <p:extLst>
      <p:ext uri="{BB962C8B-B14F-4D97-AF65-F5344CB8AC3E}">
        <p14:creationId xmlns:p14="http://schemas.microsoft.com/office/powerpoint/2010/main" val="191055938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178455-AD68-4C71-ACFA-572D2EB15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広葉樹材では、道管と周囲の組織を見る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25FD65-D1FD-4921-BB3C-8DE6EDCD67E0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FFD366-E7C1-4E27-977A-0849A8872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33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木材及び木質材料学　第2回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051140-3158-4E3E-9624-3BB04BF03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13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86315E-FFFC-485F-8D22-D385EE0FE58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d99e441a164f79"/>
          <a:stretch xmlns:a="http://schemas.openxmlformats.org/drawingml/2006/main"/>
        </p:blipFill>
        <p:spPr>
          <a:xfrm xmlns:a="http://schemas.openxmlformats.org/drawingml/2006/main">
            <a:off x="1602804" y="1504950"/>
            <a:ext cx="2785618" cy="41910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29EFCF-A4D4-453A-ABD7-D31C110C7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1857375"/>
            <a:ext cx="190500" cy="190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45C98"/>
            </a:solidFill>
          </a:ln>
        </p:spPr>
      </p: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23F8B4-DAAC-4FD5-8438-107A74479C6D}"/>
              </a:ext>
            </a:extLst>
          </p:cNvPr>
          <p:cNvCxnSpPr/>
          <p:nvPr/>
        </p:nvCxnSpPr>
        <p:spPr>
          <a:xfrm xmlns:a="http://schemas.openxmlformats.org/drawingml/2006/main" flipH="1" flipV="1">
            <a:off x="2752725" y="1952625"/>
            <a:ext cx="2943225" cy="3048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C98"/>
            </a:solidFill>
            <a:tailEnd type="triangle" w="med" len="me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3F2A5C-92B7-4E0B-9FAF-9843336AB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3238500"/>
            <a:ext cx="190500" cy="190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87E8B"/>
            </a:solidFill>
          </a:ln>
        </p:spPr>
      </p: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F0B43B-C1B7-4FA2-AD97-CBDA27B6AE4A}"/>
              </a:ext>
            </a:extLst>
          </p:cNvPr>
          <p:cNvCxnSpPr/>
          <p:nvPr/>
        </p:nvCxnSpPr>
        <p:spPr>
          <a:xfrm xmlns:a="http://schemas.openxmlformats.org/drawingml/2006/main" flipH="1" flipV="1">
            <a:off x="2238375" y="3333750"/>
            <a:ext cx="3457575" cy="381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E8B"/>
            </a:solidFill>
            <a:tailEnd type="triangle" w="med" len="me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8C8AFC-FF7A-4DBA-BC8C-AF5E323B6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19275"/>
            <a:ext cx="56959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大きな内腔をもつ道管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C7C162-620D-451F-9912-B32EA81E1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24175"/>
            <a:ext cx="56959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放射方向へ伸びる放射組織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814E32-F7D6-44CB-A50E-00F4095E0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29075"/>
            <a:ext cx="56959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周囲に木繊維や柔細胞など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2A9F9E-508D-4B0A-B3DA-CF20C4636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1082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ブナ Fagus crenata。画像：森林総合研究所 日本産木材データベース</a:t>
            </a:r>
          </a:p>
        </p:txBody>
      </p:sp>
    </p:spTree>
    <p:extLst>
      <p:ext uri="{BB962C8B-B14F-4D97-AF65-F5344CB8AC3E}">
        <p14:creationId xmlns:p14="http://schemas.microsoft.com/office/powerpoint/2010/main" val="122451981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36D315-0C97-47E1-80E1-E7E45A8B2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三つの木口像を、同じ観点で比較する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3996F3-EDF8-4711-A8AC-96159686408A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720160-6B24-489C-BF47-50ABF0AFF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33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木材及び木質材料学　第2回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810C69-539E-4C0A-AF0E-A82053A1F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625898-2379-4729-87AE-27C8A4756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57325"/>
            <a:ext cx="323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カラマツ：針葉樹材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9A62ED-F817-4676-A87B-8597E2A268E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2190ba04734985"/>
          <a:stretch xmlns:a="http://schemas.openxmlformats.org/drawingml/2006/main"/>
        </p:blipFill>
        <p:spPr>
          <a:xfrm xmlns:a="http://schemas.openxmlformats.org/drawingml/2006/main">
            <a:off x="849630" y="2000250"/>
            <a:ext cx="2910840" cy="36385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E6059D-EA1E-4BDF-9F82-FCE0F7E31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457325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ブナ：散孔材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3823E2-30A9-48B4-95DD-4F8CA7133A1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0f362deaca4dba"/>
          <a:stretch xmlns:a="http://schemas.openxmlformats.org/drawingml/2006/main"/>
        </p:blipFill>
        <p:spPr>
          <a:xfrm xmlns:a="http://schemas.openxmlformats.org/drawingml/2006/main">
            <a:off x="4581989" y="2000250"/>
            <a:ext cx="2418423" cy="36385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79D040-E13C-4270-9B4F-78F30E75E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457325"/>
            <a:ext cx="323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ケヤキ：環孔材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794382-2A4A-40CF-9731-192D2815754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152045ee594a84"/>
          <a:stretch xmlns:a="http://schemas.openxmlformats.org/drawingml/2006/main"/>
        </p:blipFill>
        <p:spPr>
          <a:xfrm xmlns:a="http://schemas.openxmlformats.org/drawingml/2006/main">
            <a:off x="7821930" y="2000250"/>
            <a:ext cx="2910840" cy="36385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9F538A-AEE2-43C5-89BD-71117EEFA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1082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画像：森林総合研究所 日本産木材データベース。寸法の比較にはスケールを使う</a:t>
            </a:r>
          </a:p>
        </p:txBody>
      </p:sp>
    </p:spTree>
    <p:extLst>
      <p:ext uri="{BB962C8B-B14F-4D97-AF65-F5344CB8AC3E}">
        <p14:creationId xmlns:p14="http://schemas.microsoft.com/office/powerpoint/2010/main" val="83991987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00D2EC-ACB8-47BB-AE35-C2538FEA6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演習1　観察した事実と、材質の予想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B9C52C-5A51-4DAC-9061-B41E9A29D76D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847AD7-810A-48C7-AB05-8CFD573B0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33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木材及び木質材料学　第2回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F6367D-6F09-4A36-A7B6-F7CD0B9AE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15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0F3FFE-CA04-44F9-A7E3-D31FC7B75EE0}"/>
              </a:ext>
            </a:extLst>
          </p:cNvPr>
          <p:cNvGraphicFramePr/>
          <p:nvPr/>
        </p:nvGraphicFramePr>
        <p:xfrm>
          <a:off xmlns:a="http://schemas.openxmlformats.org/drawingml/2006/main" x="685800" y="1657350"/>
          <a:ext xmlns:a="http://schemas.openxmlformats.org/drawingml/2006/main" cx="10820400" cy="3810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52750"/>
                <a:gridCol w="7867650"/>
              </a:tblGrid>
              <a:tr h="762000">
                <a:tc>
                  <a:txBody>
                    <a:bodyPr lIns="95250" tIns="95250" rIns="95250" bIns="95250"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項目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3DD"/>
                      </a:solidFill>
                    </a:lnL>
                    <a:lnR w="9525">
                      <a:solidFill>
                        <a:srgbClr val="C8D3DD"/>
                      </a:solidFill>
                    </a:lnR>
                    <a:lnT w="9525">
                      <a:solidFill>
                        <a:srgbClr val="C8D3DD"/>
                      </a:solidFill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18364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記録すること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T w="9525">
                      <a:solidFill>
                        <a:srgbClr val="C8D3DD"/>
                      </a:solidFill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18364F"/>
                    </a:solidFill>
                  </a:tcPr>
                </a:tc>
              </a:tr>
              <a:tr h="762000">
                <a:tc>
                  <a:txBody>
                    <a:bodyPr lIns="95250" tIns="95250" rIns="95250" bIns="95250"/>
                    <a:lstStyle/>
                    <a:p>
                      <a:r>
                        <a:rPr sz="202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見えた事実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3DD"/>
                      </a:solidFill>
                    </a:lnL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202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例：大きな内腔が、帯状に並ぶ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</a:tr>
              <a:tr h="762000">
                <a:tc>
                  <a:txBody>
                    <a:bodyPr lIns="95250" tIns="95250" rIns="95250" bIns="95250"/>
                    <a:lstStyle/>
                    <a:p>
                      <a:r>
                        <a:rPr sz="202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位置・形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3DD"/>
                      </a:solidFill>
                    </a:lnL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202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その場所を図に丸で示す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 lIns="95250" tIns="95250" rIns="95250" bIns="95250"/>
                    <a:lstStyle/>
                    <a:p>
                      <a:r>
                        <a:rPr sz="202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材質の予想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3DD"/>
                      </a:solidFill>
                    </a:lnL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202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例：空隙の割合と密度に関係がありそう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</a:tr>
              <a:tr h="762000">
                <a:tc>
                  <a:txBody>
                    <a:bodyPr lIns="95250" tIns="95250" rIns="95250" bIns="95250"/>
                    <a:lstStyle/>
                    <a:p>
                      <a:r>
                        <a:rPr sz="202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追加で必要な情報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3DD"/>
                      </a:solidFill>
                    </a:lnL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202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例：同じ含水状態の密度測定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6C9E20-79A8-4725-8568-7EAF892BE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1082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見えた構造と、測定していない物性値を区別する</a:t>
            </a:r>
          </a:p>
        </p:txBody>
      </p:sp>
    </p:spTree>
    <p:extLst>
      <p:ext uri="{BB962C8B-B14F-4D97-AF65-F5344CB8AC3E}">
        <p14:creationId xmlns:p14="http://schemas.microsoft.com/office/powerpoint/2010/main" val="96370522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D1BFB0-9867-4DF3-85E3-3AC000D88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演習1の解説　構造を示して説明する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A6F448-B618-463C-8AB1-9B7B8C8020E6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F13953-14DF-42D4-BFDC-55BE98CAF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33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木材及び木質材料学　第2回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358B7C-1049-40FD-B2AF-81CBB7FF2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E115F8-D1F0-4F1E-ABD3-A9448CEF0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57325"/>
            <a:ext cx="323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カラマツ：針葉樹材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2D4519-7B58-4820-A124-0FBDF97CA0F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3b89dcb58e4b4e"/>
          <a:stretch xmlns:a="http://schemas.openxmlformats.org/drawingml/2006/main"/>
        </p:blipFill>
        <p:spPr>
          <a:xfrm xmlns:a="http://schemas.openxmlformats.org/drawingml/2006/main">
            <a:off x="849630" y="2000250"/>
            <a:ext cx="2910840" cy="36385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B1E69B-91C1-48CA-BE99-993BA0BD9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457325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ブナ：散孔材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607D9C-B078-43DB-AFD0-1ACC526D64C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c9da313081498a"/>
          <a:stretch xmlns:a="http://schemas.openxmlformats.org/drawingml/2006/main"/>
        </p:blipFill>
        <p:spPr>
          <a:xfrm xmlns:a="http://schemas.openxmlformats.org/drawingml/2006/main">
            <a:off x="4581989" y="2000250"/>
            <a:ext cx="2418423" cy="36385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75B896-B7C9-4390-BF09-ABFB5A7B9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457325"/>
            <a:ext cx="323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ケヤキ：環孔材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A7E77C-1562-43B0-9615-1692CE449C7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ec423b2e614f04"/>
          <a:stretch xmlns:a="http://schemas.openxmlformats.org/drawingml/2006/main"/>
        </p:blipFill>
        <p:spPr>
          <a:xfrm xmlns:a="http://schemas.openxmlformats.org/drawingml/2006/main">
            <a:off x="7821930" y="2000250"/>
            <a:ext cx="2910840" cy="36385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E160EA-A35D-4D73-96D5-E84923FAE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1082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同じ3画像を、分類の根拠と年輪構造を読み取るために再掲</a:t>
            </a:r>
          </a:p>
        </p:txBody>
      </p:sp>
    </p:spTree>
    <p:extLst>
      <p:ext uri="{BB962C8B-B14F-4D97-AF65-F5344CB8AC3E}">
        <p14:creationId xmlns:p14="http://schemas.microsoft.com/office/powerpoint/2010/main" val="22709889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23B02A-2FC9-47B1-8FD8-340F64EE3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配列の方向と、材料の方向差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C8D6AA-449A-4C76-8AC5-092297596D24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AD17DF-0690-4272-AD7C-98BCFBD5C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33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木材及び木質材料学　第2回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181F95-F68E-495F-A106-BAC862BCA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26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7F501E-20E3-489B-8554-D82F0DB546F6}"/>
              </a:ext>
            </a:extLst>
          </p:cNvPr>
          <p:cNvGraphicFramePr/>
          <p:nvPr/>
        </p:nvGraphicFramePr>
        <p:xfrm>
          <a:off xmlns:a="http://schemas.openxmlformats.org/drawingml/2006/main" x="685800" y="1714500"/>
          <a:ext xmlns:a="http://schemas.openxmlformats.org/drawingml/2006/main" cx="10820400" cy="3476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29000"/>
                <a:gridCol w="2952750"/>
                <a:gridCol w="4438650"/>
              </a:tblGrid>
              <a:tr h="869156">
                <a:tc>
                  <a:txBody>
                    <a:bodyPr lIns="95250" tIns="95250" rIns="95250" bIns="95250"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見る構造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3DD"/>
                      </a:solidFill>
                    </a:lnL>
                    <a:lnR w="9525">
                      <a:solidFill>
                        <a:srgbClr val="C8D3DD"/>
                      </a:solidFill>
                    </a:lnR>
                    <a:lnT w="9525">
                      <a:solidFill>
                        <a:srgbClr val="C8D3DD"/>
                      </a:solidFill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18364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方向・断面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T w="9525">
                      <a:solidFill>
                        <a:srgbClr val="C8D3DD"/>
                      </a:solidFill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18364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後で確かめる性質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T w="9525">
                      <a:solidFill>
                        <a:srgbClr val="C8D3DD"/>
                      </a:solidFill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18364F"/>
                    </a:solidFill>
                  </a:tcPr>
                </a:tc>
              </a:tr>
              <a:tr h="869156">
                <a:tc>
                  <a:txBody>
                    <a:bodyPr lIns="95250" tIns="95250" rIns="95250" bIns="95250"/>
                    <a:lstStyle/>
                    <a:p>
                      <a:r>
                        <a:rPr sz="202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軸方向の細胞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3DD"/>
                      </a:solidFill>
                    </a:lnL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202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長軸は主にL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202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縦・横のEと強度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</a:tr>
              <a:tr h="869156">
                <a:tc>
                  <a:txBody>
                    <a:bodyPr lIns="95250" tIns="95250" rIns="95250" bIns="95250"/>
                    <a:lstStyle/>
                    <a:p>
                      <a:r>
                        <a:rPr sz="202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放射組織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3DD"/>
                      </a:solidFill>
                    </a:lnL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202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主にRへ伸びる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202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RとTの違い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69156">
                <a:tc>
                  <a:txBody>
                    <a:bodyPr lIns="95250" tIns="95250" rIns="95250" bIns="95250"/>
                    <a:lstStyle/>
                    <a:p>
                      <a:r>
                        <a:rPr sz="202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壁と空隙・配向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3DD"/>
                      </a:solidFill>
                    </a:lnL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202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三断面で確認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202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収縮・水分・加工性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31E92B-D2EC-467F-9D15-AE00E9186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1082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構造から仮説を立て、方向・水分・欠点をそろえた測定で確かめる</a:t>
            </a:r>
          </a:p>
        </p:txBody>
      </p:sp>
    </p:spTree>
    <p:extLst>
      <p:ext uri="{BB962C8B-B14F-4D97-AF65-F5344CB8AC3E}">
        <p14:creationId xmlns:p14="http://schemas.microsoft.com/office/powerpoint/2010/main" val="314303516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87CED0-2B72-4ADB-9687-4C535EBD9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確認問題　構造から理由を述べる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89E734-65B0-4212-8D9C-C58A93EEA120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841555-9FC1-4CDB-9CF7-21AB77FB4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33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木材及び木質材料学　第2回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71E89A-B4A4-4B21-93E3-92318F6F7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30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A28917-8658-4CC7-A9B0-EB1B95EC9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52575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① 仮道管・道管・木繊維・柔細胞を、働きと対応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668810-7462-4967-BFE3-498465DA1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47925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② 年輪界を描き、早材と晩材を含む一年分を示す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BB5190-17FC-418B-9562-31DDB1D28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43275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③ 壁体積率40％、ρ壁1.50 g/cm³のモデルの密度は？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5D86AB-2C17-4A5D-A7DD-149533BF7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38625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　　③から、その材の強度まで決められるか</a:t>
            </a:r>
          </a:p>
        </p:txBody>
      </p:sp>
    </p:spTree>
    <p:extLst>
      <p:ext uri="{BB962C8B-B14F-4D97-AF65-F5344CB8AC3E}">
        <p14:creationId xmlns:p14="http://schemas.microsoft.com/office/powerpoint/2010/main" val="273868297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823F06-01AD-4382-A7BC-24BC5535E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要点と復習　細胞壁の内部へ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6FA8E8-6CDE-4D69-8809-94807CD9B01A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67B8D6-2576-4A06-ACC3-D9D6F3722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33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木材及び木質材料学　第2回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FC5092-0BFE-4658-91D6-BCA3E62BA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31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DE14F9-8AF3-48B1-AC23-E545439A9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52575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壁と内腔、細胞の種類と配列を、図で説明する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575E10-26D2-452E-A276-2CAC831A9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47925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復習1：三断面に、軸方向の細胞と放射組織を記入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CFB046-2E15-4397-A40A-806E22D5E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43275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復習2：「年輪幅だけでは強さが決まらない」を150字で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9100C0-F585-46B0-A845-EA17919E2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38625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発展：ρ = φρ壁 を導き、実材とモデルの違いを述べる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E58867-BC9F-419F-BB54-32B45C125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1082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次回：細胞壁の層構造とミクロフィブリル。名前と物性の関係を考える</a:t>
            </a:r>
          </a:p>
        </p:txBody>
      </p:sp>
      <p:sp>
        <p:nvSpPr>
          <p:cNvPr id="11" name="SelfCheckCaption">
            <a:extLst xmlns:a="http://schemas.openxmlformats.org/drawingml/2006/main">
              <a:ext uri="{FF2B5EF4-FFF2-40B4-BE49-F238E27FC236}">
                <a16:creationId xmlns:a16="http://schemas.microsoft.com/office/drawing/2014/main" id="{7CCEA75B-6A33-472F-AF01-BD0F810D0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43025"/>
            <a:ext cx="108204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57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>
              <a:defRPr sz="157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>
              <a:defRPr sz="157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>
              <a:defRPr sz="157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>
              <a:defRPr sz="157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>
              <a:defRPr sz="157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>
              <a:defRPr sz="157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>
              <a:defRPr sz="157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>
              <a:defRPr sz="157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>
              <a:defRPr sz="157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復習は自己確認用。提出課題は授業の案内に従う。</a:t>
            </a:r>
          </a:p>
        </p:txBody>
      </p:sp>
    </p:spTree>
    <p:extLst>
      <p:ext uri="{BB962C8B-B14F-4D97-AF65-F5344CB8AC3E}">
        <p14:creationId xmlns:p14="http://schemas.microsoft.com/office/powerpoint/2010/main" val="159179649"/>
      </p:ext>
    </p:extLst>
  </p:cSld>
</p:sld>
</file>

<file path=ppt/slides/title_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527E00-3700-4B24-BAAB-BFF14D95C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40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>
              <a:defRPr sz="40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>
              <a:defRPr sz="40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>
              <a:defRPr sz="40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>
              <a:defRPr sz="40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>
              <a:defRPr sz="40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>
              <a:defRPr sz="40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>
              <a:defRPr sz="40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>
              <a:defRPr sz="40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>
              <a:defRPr sz="40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40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40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木材及び木質材料学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516564-8733-427B-986B-185670091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85925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9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defPPr>
            <a:lvl1pPr>
              <a:defRPr sz="29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1pPr>
            <a:lvl2pPr>
              <a:defRPr sz="29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2pPr>
            <a:lvl3pPr>
              <a:defRPr sz="29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3pPr>
            <a:lvl4pPr>
              <a:defRPr sz="29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4pPr>
            <a:lvl5pPr>
              <a:defRPr sz="29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5pPr>
            <a:lvl6pPr>
              <a:defRPr sz="29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6pPr>
            <a:lvl7pPr>
              <a:defRPr sz="29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7pPr>
            <a:lvl8pPr>
              <a:defRPr sz="29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8pPr>
            <a:lvl9pPr>
              <a:defRPr sz="29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pPr>
            <a:r>
              <a:rPr sz="2925" b="1">
                <a:solidFill>
                  <a:srgbClr val="087E8B"/>
                </a:solidFill>
                <a:latin typeface="Yu Gothic"/>
                <a:ea typeface="Yu Gothic"/>
                <a:cs typeface="Yu Gothic"/>
              </a:rPr>
              <a:t>第2回　組織と年輪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D711E6-0EC4-43E0-BE01-85FA1244D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622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64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A23AAC-09AD-4979-BB8D-0060A3993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1465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科目コード：05240200　　科目種別：講義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7CB02D-0963-44C9-883F-FFA3C3127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76625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科目区分：自由選択科目　　単位区分：選択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5ED8E1-1B98-47FD-9B6A-C2C947F6C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標準履修年次：３年　　単位数：2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3FF391-2B10-4D97-96D9-77F4C80D6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95875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5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>
              <a:defRPr sz="15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>
              <a:defRPr sz="15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>
              <a:defRPr sz="15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>
              <a:defRPr sz="15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>
              <a:defRPr sz="15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>
              <a:defRPr sz="15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>
              <a:defRPr sz="15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>
              <a:defRPr sz="15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>
              <a:defRPr sz="15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シラバス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7FCD98-3B43-472E-8D93-A6541E351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76875"/>
            <a:ext cx="1082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57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>
              <a:defRPr sz="157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>
              <a:defRPr sz="157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>
              <a:defRPr sz="157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>
              <a:defRPr sz="157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>
              <a:defRPr sz="157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>
              <a:defRPr sz="157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>
              <a:defRPr sz="157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>
              <a:defRPr sz="157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>
              <a:defRPr sz="157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https://lc-nue.naruto-u.ac.jp/lcu-web/SC_06001B00_22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DE7146-9E22-42AD-B99B-F3BEB15EC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オンデマンド授業</a:t>
            </a:r>
          </a:p>
        </p:txBody>
      </p:sp>
    </p:spTree>
    <p:extLst>
      <p:ext uri="{BB962C8B-B14F-4D97-AF65-F5344CB8AC3E}">
        <p14:creationId xmlns:p14="http://schemas.microsoft.com/office/powerpoint/2010/main" val="716719988"/>
      </p:ext>
    </p:extLst>
  </p:cSld>
</p:sld>
</file>

<file path=ppt/slides/v5_02_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C19FFB-CBAE-4CC7-9DD1-C4B9923B1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組織を読む四つの視点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D8E793-AA18-4EDC-B425-AFF416F7CB2C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6D4CDC-8184-49A1-845C-0F8584C3D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第2回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723EBE-D40C-4C09-8267-D20203EE6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CCC42F-39F9-4CAD-AE6E-08EF9DED9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細胞の種類：仮道管・道管要素・木繊維・柔細胞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C4571C-451E-4D20-83BC-DF09C6F85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43175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細胞の形：長さ・直径・壁厚・内腔の大きさ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A6942B-6CB4-4E52-89A6-47D0F46FE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14725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細胞の配列：軸方向の系と放射組織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2FE18D-A7FC-450E-85A5-80356F5D7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86275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形成時期の違い：早材・晩材・成長輪と、密度や加工性</a:t>
            </a:r>
          </a:p>
        </p:txBody>
      </p:sp>
    </p:spTree>
    <p:extLst>
      <p:ext uri="{BB962C8B-B14F-4D97-AF65-F5344CB8AC3E}">
        <p14:creationId xmlns:p14="http://schemas.microsoft.com/office/powerpoint/2010/main" val="44260347"/>
      </p:ext>
    </p:extLst>
  </p:cSld>
</p:sld>
</file>

<file path=ppt/slides/v5_02_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ED640C-5149-4E19-9E48-DCDFFC1A2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針葉樹材と広葉樹材の組織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0226FD-786F-442E-9426-9F26CF308A98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9D67F8-D66B-476E-97AE-448F51B4D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第2回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7B898C-7781-4174-A0FC-4CBF7906D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6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83514D-0469-4C11-ADB5-78C6B72D258C}"/>
              </a:ext>
            </a:extLst>
          </p:cNvPr>
          <p:cNvGraphicFramePr/>
          <p:nvPr/>
        </p:nvGraphicFramePr>
        <p:xfrm>
          <a:off xmlns:a="http://schemas.openxmlformats.org/drawingml/2006/main" x="685800" y="1657350"/>
          <a:ext xmlns:a="http://schemas.openxmlformats.org/drawingml/2006/main" cx="1082040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24125"/>
                <a:gridCol w="3905250"/>
                <a:gridCol w="4391025"/>
              </a:tblGrid>
              <a:tr h="800100">
                <a:tc>
                  <a:txBody>
                    <a:bodyPr lIns="95250" tIns="95250" rIns="95250" bIns="9525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比較点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3DD"/>
                      </a:solidFill>
                    </a:lnL>
                    <a:lnR w="9525">
                      <a:solidFill>
                        <a:srgbClr val="C8D3DD"/>
                      </a:solidFill>
                    </a:lnR>
                    <a:lnT w="9525">
                      <a:solidFill>
                        <a:srgbClr val="C8D3DD"/>
                      </a:solidFill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18364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針葉樹材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T w="9525">
                      <a:solidFill>
                        <a:srgbClr val="C8D3DD"/>
                      </a:solidFill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18364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広葉樹材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T w="9525">
                      <a:solidFill>
                        <a:srgbClr val="C8D3DD"/>
                      </a:solidFill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18364F"/>
                    </a:solidFill>
                  </a:tcPr>
                </a:tc>
              </a:tr>
              <a:tr h="800100"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通導と支持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3DD"/>
                      </a:solidFill>
                    </a:lnL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仮道管が両方を担う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道管が主に通導、木繊維が主に支持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</a:tr>
              <a:tr h="800100"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軸方向の主な細胞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3DD"/>
                      </a:solidFill>
                    </a:lnL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仮道管、軸方向柔細胞など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道管要素、木繊維、柔細胞、仮道管など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放射方向の系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3DD"/>
                      </a:solidFill>
                    </a:lnL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放射組織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放射組織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</a:tr>
              <a:tr h="800100"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生きた柔細胞の役割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3DD"/>
                      </a:solidFill>
                    </a:lnL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辺材で貯蔵などを担う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辺材で貯蔵・物質移動などを担う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94956274"/>
      </p:ext>
    </p:extLst>
  </p:cSld>
</p:sld>
</file>

<file path=ppt/slides/v5_02_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903E88-239B-4E84-A58B-8C7276DD3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軸方向と放射方向の連絡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42A5C6-6B13-466A-95E8-FC6425A92E0B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35B6D4-5E5D-40A3-8610-1B8042DF3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第2回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5771D5-B0A4-40C7-9587-1E0BB5A63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03D1E6-0411-4755-85CD-42C42622C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仮道管同士：有縁壁孔を介する通水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C9A6FB-2993-4A57-A28F-CED451E05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26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道管要素同士：上下はせん孔、側面の道管相互壁孔でも連絡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1A63CC-F3DA-40F0-A66C-5053A52FE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337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軸方向の通導要素と放射組織：分野壁孔・道管放射組織間壁孔など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2BAB15-5689-4AEC-9ED2-B501F9580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147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生きた柔細胞同士：細胞壁の原形質連絡を介した物質移動もある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1DBF72-244A-4BAD-8006-94FD2E191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958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L方向の輸送系とR方向の系がつながり、通導と貯蔵を支える</a:t>
            </a:r>
          </a:p>
        </p:txBody>
      </p:sp>
    </p:spTree>
    <p:extLst>
      <p:ext uri="{BB962C8B-B14F-4D97-AF65-F5344CB8AC3E}">
        <p14:creationId xmlns:p14="http://schemas.microsoft.com/office/powerpoint/2010/main" val="884489345"/>
      </p:ext>
    </p:extLst>
  </p:cSld>
</p:sld>
</file>

<file path=ppt/slides/v5_02_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11C993-4571-49E1-BFDD-44ADC5961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成長輪と年輪と早晩材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5A2EF7-5060-4778-9E0A-9E417416B1EF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D0D443-2699-4CA7-AAEA-025384A4B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第2回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78CDC8-C209-4A0D-B1FB-E3CFC5801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17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D3C0EE-2A2F-4178-94C4-5A152DE3007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b679dc6b494664"/>
          <a:stretch xmlns:a="http://schemas.openxmlformats.org/drawingml/2006/main"/>
        </p:blipFill>
        <p:spPr>
          <a:xfrm xmlns:a="http://schemas.openxmlformats.org/drawingml/2006/main">
            <a:off x="685800" y="1793081"/>
            <a:ext cx="5048250" cy="3786188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EB1663-8704-4246-A0E9-FA2166F3E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33525"/>
            <a:ext cx="5410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成長輪は、形成された木部に現れる周期的な構造の帯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70405E-8C77-4030-BA81-76DF524CC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562225"/>
            <a:ext cx="5410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成長輪が1年に一つできる場合に年輪という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A1248B-1000-4511-AB95-48041897D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90925"/>
            <a:ext cx="5410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針葉樹材では、早材は内腔が大きく壁が薄く、晩材は壁の割合が高い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E2A1B6-B6E3-4107-9A40-DD8AC9F61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19625"/>
            <a:ext cx="5410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年輪界は、晩材から次の早材へ切り替わる境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6D1760-7095-4ECC-879C-C2FCB1ADE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15025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57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57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57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57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57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57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57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57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57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早材の大きな内腔と、晩材の厚い壁</a:t>
            </a:r>
          </a:p>
        </p:txBody>
      </p:sp>
    </p:spTree>
    <p:extLst>
      <p:ext uri="{BB962C8B-B14F-4D97-AF65-F5344CB8AC3E}">
        <p14:creationId xmlns:p14="http://schemas.microsoft.com/office/powerpoint/2010/main" val="593129153"/>
      </p:ext>
    </p:extLst>
  </p:cSld>
</p:sld>
</file>

<file path=ppt/slides/v5_02_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27CD27-4B43-45D9-8DAA-4A695A22B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散孔材と環孔材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E3A0C6-C30E-4165-9D2D-0941CA53FE45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037D00-2D97-432C-A05B-7C4BD0AA1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第2回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8973F0-8E60-4D4B-ACCB-A2DC27E41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19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4651C9-3B0C-46B1-8D54-8B426249DB2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af2a9b4be84337"/>
          <a:stretch xmlns:a="http://schemas.openxmlformats.org/drawingml/2006/main"/>
        </p:blipFill>
        <p:spPr>
          <a:xfrm xmlns:a="http://schemas.openxmlformats.org/drawingml/2006/main">
            <a:off x="1949494" y="1571625"/>
            <a:ext cx="2139861" cy="3219450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A212D8-A595-4EAB-8D54-5D21A06A03B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602bbce13646cd"/>
          <a:stretch xmlns:a="http://schemas.openxmlformats.org/drawingml/2006/main"/>
        </p:blipFill>
        <p:spPr>
          <a:xfrm xmlns:a="http://schemas.openxmlformats.org/drawingml/2006/main">
            <a:off x="7237095" y="1571625"/>
            <a:ext cx="2575560" cy="32194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EE053B-2428-496F-ABE9-CB4982D7A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9650"/>
            <a:ext cx="466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245C98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2100" b="1">
                <a:solidFill>
                  <a:srgbClr val="245C98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2100" b="1">
                <a:solidFill>
                  <a:srgbClr val="245C98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2100" b="1">
                <a:solidFill>
                  <a:srgbClr val="245C98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2100" b="1">
                <a:solidFill>
                  <a:srgbClr val="245C98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2100" b="1">
                <a:solidFill>
                  <a:srgbClr val="245C98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2100" b="1">
                <a:solidFill>
                  <a:srgbClr val="245C98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2100" b="1">
                <a:solidFill>
                  <a:srgbClr val="245C98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2100" b="1">
                <a:solidFill>
                  <a:srgbClr val="245C98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2100" b="1">
                <a:solidFill>
                  <a:srgbClr val="245C9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245C98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245C98"/>
                </a:solidFill>
                <a:latin typeface="Yu Gothic"/>
                <a:ea typeface="Yu Gothic"/>
                <a:cs typeface="Yu Gothic"/>
              </a:rPr>
              <a:t>散孔材　ブナ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DA3F29-00FD-4986-A11A-2C6A41F60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819650"/>
            <a:ext cx="466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B55D09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2100" b="1">
                <a:solidFill>
                  <a:srgbClr val="B55D09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2100" b="1">
                <a:solidFill>
                  <a:srgbClr val="B55D09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2100" b="1">
                <a:solidFill>
                  <a:srgbClr val="B55D09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2100" b="1">
                <a:solidFill>
                  <a:srgbClr val="B55D09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2100" b="1">
                <a:solidFill>
                  <a:srgbClr val="B55D09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2100" b="1">
                <a:solidFill>
                  <a:srgbClr val="B55D09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2100" b="1">
                <a:solidFill>
                  <a:srgbClr val="B55D09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2100" b="1">
                <a:solidFill>
                  <a:srgbClr val="B55D09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2100" b="1">
                <a:solidFill>
                  <a:srgbClr val="B55D09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B55D09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B55D09"/>
                </a:solidFill>
                <a:latin typeface="Yu Gothic"/>
                <a:ea typeface="Yu Gothic"/>
                <a:cs typeface="Yu Gothic"/>
              </a:rPr>
              <a:t>環孔材　ケヤキ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7D10A3-5327-41FA-A90D-C9F4581EF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76850"/>
            <a:ext cx="108204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ブナは散孔材。道管が成長輪の中に広く分布する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8C4DA9-000C-4C31-920C-F8D87C331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00700"/>
            <a:ext cx="108204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ケヤキは環孔材。早材の大きな道管が帯状に目立つ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34C6A6-F138-4E52-BF8E-B67E74FF3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108204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道管の分布と、周囲の木繊維・柔組織を併せて読む</a:t>
            </a:r>
          </a:p>
        </p:txBody>
      </p:sp>
    </p:spTree>
    <p:extLst>
      <p:ext uri="{BB962C8B-B14F-4D97-AF65-F5344CB8AC3E}">
        <p14:creationId xmlns:p14="http://schemas.microsoft.com/office/powerpoint/2010/main" val="1975178435"/>
      </p:ext>
    </p:extLst>
  </p:cSld>
</p:sld>
</file>

<file path=ppt/slides/v5_02_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B9A2E3-8422-44EB-B3FF-722FF8637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年輪幅と材質を結ぶ条件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E29256-A1A5-49CA-A81F-903D6BBEFE81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A12445-6F17-4A55-A0ED-4232D86AC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第2回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0F4A74-E7D1-4C46-9CDB-FF96878F2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1AFBE1-D8D2-4E97-93A4-5471FFC22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針葉樹では、晩材幅の変化が小さい範囲なら、狭い年輪で晩材率が高くなる傾向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1783D4-F83C-4E1A-A3E5-1C0EF53AB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26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その範囲では密度や硬さが高くなる場合があるが、極端に狭い年輪まで一律には扱えない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7D93A8-3588-4675-82F9-A7BE8B1C0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337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環孔材では、年輪が広がると木繊維の多い晩材が増え、密度が上がる例が多い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0160F9-7389-4912-85C6-D6EE828B5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147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年輪幅や晩材率が安定すると、材内の密度変動が小さくなりやすい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668AB9-AAB1-4EE2-8E83-DC25F1ADE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958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気温・降水・土壌水分・競争・施業が、成長量と形成される組織を変える</a:t>
            </a:r>
          </a:p>
        </p:txBody>
      </p:sp>
    </p:spTree>
    <p:extLst>
      <p:ext uri="{BB962C8B-B14F-4D97-AF65-F5344CB8AC3E}">
        <p14:creationId xmlns:p14="http://schemas.microsoft.com/office/powerpoint/2010/main" val="713110264"/>
      </p:ext>
    </p:extLst>
  </p:cSld>
</p:sld>
</file>

<file path=ppt/slides/v5_02_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43548B-01A3-499C-A108-B33C15604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早材型と晩材型の仮道管モデル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E16E7E-25A8-42CE-AACA-94B214A813D4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6B2FA0-356D-402F-8D87-A3578B59A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第2回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0FD53E-A1F4-45E3-B338-268DFFE33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21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6E0EF5-7C79-4BCC-818E-938278A2D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047875"/>
            <a:ext cx="26670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6BD"/>
          </a:solidFill>
          <a:ln xmlns:a="http://schemas.openxmlformats.org/drawingml/2006/main" w="19050">
            <a:solidFill>
              <a:srgbClr val="B55D09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3A202C-98D4-445B-8FCC-A98301253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2181225"/>
            <a:ext cx="240030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55D09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933720-E55C-4DFF-B653-E10A47DD9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33950"/>
            <a:ext cx="295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早材型　壁厚2 µm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863F8C-A8B7-4E48-A953-5E517A5DF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047875"/>
            <a:ext cx="26670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6BD"/>
          </a:solidFill>
          <a:ln xmlns:a="http://schemas.openxmlformats.org/drawingml/2006/main" w="19050">
            <a:solidFill>
              <a:srgbClr val="B55D09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8465C0-1F0F-46F6-8B7F-6D8CCD944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447925"/>
            <a:ext cx="186690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55D09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8AF888-539F-486D-8DFD-A68C9F891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4933950"/>
            <a:ext cx="295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晩材型　壁厚6 µm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9C32A4-8775-4D37-A536-3C63DC26A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685925"/>
            <a:ext cx="39814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外形は一辺40 µmの正方形。細胞軸に沿って同じ長さに続くと考える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2170FF-086F-49A7-BBCC-6A604F15A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724150"/>
            <a:ext cx="39814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早材型：壁厚2 µm、内腔は一辺36 µm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C8BDE5-3638-4E7F-886C-10D848DC7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762375"/>
            <a:ext cx="39814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晩材型：壁厚6 µm、内腔は一辺28 µm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3BC2BE-9236-4FC2-8CC5-57B90721C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800600"/>
            <a:ext cx="39814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壁物質の密度は1.50 g/cm³とし、全乾状態で比べる</a:t>
            </a:r>
          </a:p>
        </p:txBody>
      </p:sp>
    </p:spTree>
    <p:extLst>
      <p:ext uri="{BB962C8B-B14F-4D97-AF65-F5344CB8AC3E}">
        <p14:creationId xmlns:p14="http://schemas.microsoft.com/office/powerpoint/2010/main" val="889736147"/>
      </p:ext>
    </p:extLst>
  </p:cSld>
</p:sld>
</file>

<file path=ppt/slides/v5_02_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ECDBBA-9564-4224-91EB-9D40F5B68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演習2　仮道管の壁厚から密度を求める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4C3DAC-F1BD-4670-AECB-97E755621528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DD6EB1-6ED1-4094-B5CE-ABC8DA269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第2回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E74C21-A197-441B-A16B-E25D77957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22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E76671-0987-46EB-A940-53A402EFC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① 外形面積40²から内腔面積36²／28²を引き、壁の面積を求める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73867C-9BFB-4700-8349-C8912524E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26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② 壁の面積を外形面積で割り、壁体積率φを求める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238C0A-4056-4246-9524-30971CDA4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337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③ ρ＝φ×1.50として、早材型・晩材型の密度を求める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4FFDBA-A0E2-4792-85B0-45D92CA5F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147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④ 同じ体積の早材型と晩材型は、どちらが何倍重いか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109C2C-0F0B-4515-9412-EA1E49073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958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⑤ 壁厚だけでは、実材の強度や加工性について何がまだ分からないか</a:t>
            </a:r>
          </a:p>
        </p:txBody>
      </p:sp>
    </p:spTree>
    <p:extLst>
      <p:ext uri="{BB962C8B-B14F-4D97-AF65-F5344CB8AC3E}">
        <p14:creationId xmlns:p14="http://schemas.microsoft.com/office/powerpoint/2010/main" val="231589668"/>
      </p:ext>
    </p:extLst>
  </p:cSld>
</p:sld>
</file>

<file path=ppt/slides/v5_02_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A47D07-B229-4A87-A9EE-976E9A6FD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演習2の解説　壁の割合と密度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88BBDF-7DF4-49AE-95AA-546A45F8B4FA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BCA16B-E3D0-486C-91A0-3DAF670C0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第2回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4236CC-23E1-4070-8C89-2246F1FD0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23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C746BF-D013-4F1D-B429-A57B99BA2B3D}"/>
              </a:ext>
            </a:extLst>
          </p:cNvPr>
          <p:cNvGraphicFramePr/>
          <p:nvPr/>
        </p:nvGraphicFramePr>
        <p:xfrm>
          <a:off xmlns:a="http://schemas.openxmlformats.org/drawingml/2006/main" x="685800" y="1657350"/>
          <a:ext xmlns:a="http://schemas.openxmlformats.org/drawingml/2006/main" cx="1082040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24125"/>
                <a:gridCol w="3905250"/>
                <a:gridCol w="4391025"/>
              </a:tblGrid>
              <a:tr h="800100">
                <a:tc>
                  <a:txBody>
                    <a:bodyPr lIns="95250" tIns="95250" rIns="95250" bIns="9525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計算する量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3DD"/>
                      </a:solidFill>
                    </a:lnL>
                    <a:lnR w="9525">
                      <a:solidFill>
                        <a:srgbClr val="C8D3DD"/>
                      </a:solidFill>
                    </a:lnR>
                    <a:lnT w="9525">
                      <a:solidFill>
                        <a:srgbClr val="C8D3DD"/>
                      </a:solidFill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18364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早材型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T w="9525">
                      <a:solidFill>
                        <a:srgbClr val="C8D3DD"/>
                      </a:solidFill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18364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晩材型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T w="9525">
                      <a:solidFill>
                        <a:srgbClr val="C8D3DD"/>
                      </a:solidFill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18364F"/>
                    </a:solidFill>
                  </a:tcPr>
                </a:tc>
              </a:tr>
              <a:tr h="800100"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壁面積 µm²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3DD"/>
                      </a:solidFill>
                    </a:lnL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1,600−1,296＝304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1,600−784＝816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</a:tr>
              <a:tr h="800100"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壁体積率 φ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3DD"/>
                      </a:solidFill>
                    </a:lnL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304/1,600＝0.19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816/1,600＝0.51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全乾密度 g/cm³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3DD"/>
                      </a:solidFill>
                    </a:lnL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0.19×1.50＝0.285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0.51×1.50＝0.765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</a:tr>
              <a:tr h="800100"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同じ体積の質量比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3DD"/>
                      </a:solidFill>
                    </a:lnL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0.765/0.285 ≒ 2.68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03710292"/>
      </p:ext>
    </p:extLst>
  </p:cSld>
</p:sld>
</file>

<file path=ppt/slides/v5_02_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8134723-513C-4622-B767-E14E7C945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晩材率が違う年輪の比較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FEB6A0-817D-4A7E-BF09-DAC53FF4952A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43554F-A83D-459E-BF40-A481B46D4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第2回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F50B70-1E1B-44AE-AC9A-940B918AB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24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DD990A-313D-409A-81FB-821E459C0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0975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F4DB7F-D436-4DE1-A3E6-51FFE81F2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809750"/>
            <a:ext cx="2381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4"/>
          </a:solidFill>
          <a:ln xmlns:a="http://schemas.openxmlformats.org/drawingml/2006/main" w="19050">
            <a:solidFill>
              <a:srgbClr val="B55D09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B2A073-9BBC-47A0-BBDE-D20A8B8EA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809750"/>
            <a:ext cx="11906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C8050"/>
          </a:solidFill>
          <a:ln xmlns:a="http://schemas.openxmlformats.org/drawingml/2006/main" w="19050">
            <a:solidFill>
              <a:srgbClr val="B55D09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7AA319-8F3B-465E-A471-58320A5F7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809750"/>
            <a:ext cx="2343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早材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0C51CA-7D01-47D6-B03E-18C1968FA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1809750"/>
            <a:ext cx="11525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00" b="0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1800" b="0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1800" b="0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1800" b="0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1800" b="0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1800" b="0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1800" b="0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1800" b="0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1800" b="0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1800" b="0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defRPr sz="1800" b="0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800" b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晩材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56A79B-5B22-493B-B4F3-BB11130A6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905125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4EAC18-B541-4EC6-BFEE-2C36729FA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905125"/>
            <a:ext cx="11906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4"/>
          </a:solidFill>
          <a:ln xmlns:a="http://schemas.openxmlformats.org/drawingml/2006/main" w="19050">
            <a:solidFill>
              <a:srgbClr val="B55D09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01D2D3-E4DC-4038-B05E-DF7CCA067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905125"/>
            <a:ext cx="2381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C8050"/>
          </a:solidFill>
          <a:ln xmlns:a="http://schemas.openxmlformats.org/drawingml/2006/main" w="19050">
            <a:solidFill>
              <a:srgbClr val="B55D09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C26FB6-4C43-4B05-A869-C78D110F9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905125"/>
            <a:ext cx="11525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早材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05027E-9B60-48C2-9C90-2265B5F05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2905125"/>
            <a:ext cx="2343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00" b="0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1800" b="0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1800" b="0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1800" b="0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1800" b="0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1800" b="0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1800" b="0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1800" b="0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1800" b="0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1800" b="0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defRPr sz="1800" b="0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800" b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晩材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8E72A2-2C21-44A1-932B-F39E39037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0050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571252-1700-42F0-B752-6A1D616A3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00500"/>
            <a:ext cx="4762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4"/>
          </a:solidFill>
          <a:ln xmlns:a="http://schemas.openxmlformats.org/drawingml/2006/main" w="19050">
            <a:solidFill>
              <a:srgbClr val="B55D09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C23456-E5DA-43B8-9B4E-68B1520C0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00500"/>
            <a:ext cx="11906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C8050"/>
          </a:solidFill>
          <a:ln xmlns:a="http://schemas.openxmlformats.org/drawingml/2006/main" w="19050">
            <a:solidFill>
              <a:srgbClr val="B55D09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6CB5EF-C8D1-4B50-8AD2-84C9E915E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00500"/>
            <a:ext cx="4724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早材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B8D6E8-FD65-46B0-AE89-FC038CB8F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000500"/>
            <a:ext cx="11525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00" b="0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1800" b="0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1800" b="0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1800" b="0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1800" b="0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1800" b="0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1800" b="0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1800" b="0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1800" b="0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1800" b="0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defRPr sz="1800" b="0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800" b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晩材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343FEA-6BF7-4350-BB95-758FE7DB4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571625"/>
            <a:ext cx="34099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A：早材幅2 mm＋晩材幅1 mm、晩材率1/3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08C9AB5-1291-4F06-8512-8888C4EA3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47925"/>
            <a:ext cx="34099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B：早材幅1 mm＋晩材幅2 mm、晩材率2/3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B1984D-7677-4839-9A96-07A20347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324225"/>
            <a:ext cx="34099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C：早材幅4 mm＋晩材幅1 mm、晩材率1/5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52CF62A-337A-4921-8B2B-0DB909C05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200525"/>
            <a:ext cx="34099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同じ早晩材密度なら、平均密度はB＞A＞C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48A9181-4B4A-4D01-B50B-A9A783385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076825"/>
            <a:ext cx="34099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18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ρ平均＝(1−f)ρ早材＋fρ晩材。fは晩材の体積割合</a:t>
            </a:r>
          </a:p>
        </p:txBody>
      </p:sp>
      <p:sp>
        <p:nvSpPr>
          <p:cNvPr id="26" name="DensityResultCaption">
            <a:extLst xmlns:a="http://schemas.openxmlformats.org/drawingml/2006/main">
              <a:ext uri="{FF2B5EF4-FFF2-40B4-BE49-F238E27FC236}">
                <a16:creationId xmlns:a16="http://schemas.microsoft.com/office/drawing/2014/main" id="{CC42FFA7-0A23-4329-80F6-FF5A8222D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8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>
              <a:defRPr sz="18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>
              <a:defRPr sz="18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>
              <a:defRPr sz="18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>
              <a:defRPr sz="18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>
              <a:defRPr sz="18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>
              <a:defRPr sz="18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>
              <a:defRPr sz="18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>
              <a:defRPr sz="18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>
              <a:defRPr sz="18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計算例（g/cm³）：A 0.445　B 0.605　C 0.381</a:t>
            </a:r>
          </a:p>
        </p:txBody>
      </p:sp>
    </p:spTree>
    <p:extLst>
      <p:ext uri="{BB962C8B-B14F-4D97-AF65-F5344CB8AC3E}">
        <p14:creationId xmlns:p14="http://schemas.microsoft.com/office/powerpoint/2010/main" val="480829618"/>
      </p:ext>
    </p:extLst>
  </p:cSld>
</p:sld>
</file>

<file path=ppt/slides/v5_02_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663FB4-E8F4-4746-8B71-73B4DD642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のこぎり挽きと繊維方向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15BD6E-A42D-4B21-8E23-A35A5DAFB3F3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20BB55-68F9-43B1-9789-79287DBC4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第2回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A521F6-7380-44A0-88F4-EE7EFC39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27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3C53A3-6ABF-4067-8853-25CF0FD0F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47875"/>
            <a:ext cx="4572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4"/>
          </a:solidFill>
          <a:ln xmlns:a="http://schemas.openxmlformats.org/drawingml/2006/main" w="19050">
            <a:solidFill>
              <a:srgbClr val="B55D09"/>
            </a:solidFill>
          </a:ln>
        </p:spPr>
      </p: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EFD6C3-A880-43BE-A42D-ED7D78AF43C6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219200" y="2190750"/>
            <a:ext cx="41624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55D09"/>
            </a:solidFill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6268F5-98CD-4E2F-9D6C-BC429857B39D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219200" y="2362200"/>
            <a:ext cx="41624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55D09"/>
            </a:solidFill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1BDD02-3BA9-479D-A158-443A22F7CF20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219200" y="2533650"/>
            <a:ext cx="41624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55D09"/>
            </a:solidFill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E5FCAE-3BC5-41A4-AC34-7F054147F6E4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219200" y="2705100"/>
            <a:ext cx="41624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55D09"/>
            </a:solidFill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C903F6-550F-4568-B399-5B8A2922B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543050"/>
            <a:ext cx="3810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175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縦挽き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8C4265-4D01-45B7-9990-6420A3FEC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00500"/>
            <a:ext cx="4572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4"/>
          </a:solidFill>
          <a:ln xmlns:a="http://schemas.openxmlformats.org/drawingml/2006/main" w="19050">
            <a:solidFill>
              <a:srgbClr val="B55D09"/>
            </a:solidFill>
          </a:ln>
        </p:spPr>
      </p: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5CB0A6-7544-47E5-9EB0-2BA4775C88ED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219200" y="4143375"/>
            <a:ext cx="41624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55D09"/>
            </a:solidFill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3879C9-3F3A-46BD-B0E8-D7E293225FC8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219200" y="4314825"/>
            <a:ext cx="41624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55D09"/>
            </a:solidFill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A0042D-9983-43AF-A30B-DBA5186C7800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219200" y="4486275"/>
            <a:ext cx="41624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55D09"/>
            </a:solidFill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96DC7B-020C-4597-8C12-A849CEA63C24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219200" y="4657725"/>
            <a:ext cx="41624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55D09"/>
            </a:solidFill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63A52B-C69B-4E5D-9CF9-E64F8DC32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95675"/>
            <a:ext cx="3810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175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横挽き</a:t>
            </a:r>
          </a:p>
        </p:txBody>
      </p: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31853F-1B90-440F-A252-1A599B45C938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333500" y="2333625"/>
            <a:ext cx="390525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245C98"/>
            </a:solidFill>
            <a:tailEnd type="triangle" w="med" len="med"/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36965B-7983-44FE-B791-C4C6DAD5C2F9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333750" y="3810000"/>
            <a:ext cx="0" cy="1238250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C53D3D"/>
            </a:solidFill>
            <a:tailEnd type="triangle" w="med" len="me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48F67C-208D-4D44-8332-92718EA30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76400"/>
            <a:ext cx="52197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縦挽き：主な繊維方向に沿って切り進む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95604E-DB89-4492-B681-CDAEA6B96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14625"/>
            <a:ext cx="52197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横挽き：繊維を横切って切り進む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FC7276-4039-47B3-B5F8-C6867E5A0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752850"/>
            <a:ext cx="52197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刃の形・切削方向・繊維の傾きで、切りくずや仕上げ面が変わる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683544F-16CB-41CF-9070-AAA22A298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791075"/>
            <a:ext cx="52197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節や目切れの近くでは、局所的な繊維方向も確認する</a:t>
            </a:r>
          </a:p>
        </p:txBody>
      </p:sp>
    </p:spTree>
    <p:extLst>
      <p:ext uri="{BB962C8B-B14F-4D97-AF65-F5344CB8AC3E}">
        <p14:creationId xmlns:p14="http://schemas.microsoft.com/office/powerpoint/2010/main" val="378792846"/>
      </p:ext>
    </p:extLst>
  </p:cSld>
</p:sld>
</file>

<file path=ppt/slides/v5_02_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B78ECE-B89D-48AC-9598-F2B77926E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写真と測定で分かる材質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92793C-9961-4E53-B4A2-57902E5347C5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0F2F76-FF48-447D-8FA3-BA92DBAD6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第2回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562C75-EC1F-47FD-B4A2-E840D22EA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28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215375-5461-429A-9ACC-6DABF3F0E853}"/>
              </a:ext>
            </a:extLst>
          </p:cNvPr>
          <p:cNvGraphicFramePr/>
          <p:nvPr/>
        </p:nvGraphicFramePr>
        <p:xfrm>
          <a:off xmlns:a="http://schemas.openxmlformats.org/drawingml/2006/main" x="685800" y="1657350"/>
          <a:ext xmlns:a="http://schemas.openxmlformats.org/drawingml/2006/main" cx="1082040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24125"/>
                <a:gridCol w="3905250"/>
                <a:gridCol w="4391025"/>
              </a:tblGrid>
              <a:tr h="800100">
                <a:tc>
                  <a:txBody>
                    <a:bodyPr lIns="95250" tIns="95250" rIns="95250" bIns="9525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資料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3DD"/>
                      </a:solidFill>
                    </a:lnL>
                    <a:lnR w="9525">
                      <a:solidFill>
                        <a:srgbClr val="C8D3DD"/>
                      </a:solidFill>
                    </a:lnR>
                    <a:lnT w="9525">
                      <a:solidFill>
                        <a:srgbClr val="C8D3DD"/>
                      </a:solidFill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18364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読み取る内容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T w="9525">
                      <a:solidFill>
                        <a:srgbClr val="C8D3DD"/>
                      </a:solidFill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18364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材質へ結び付ける情報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T w="9525">
                      <a:solidFill>
                        <a:srgbClr val="C8D3DD"/>
                      </a:solidFill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18364F"/>
                    </a:solidFill>
                  </a:tcPr>
                </a:tc>
              </a:tr>
              <a:tr h="800100"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木口像・縦断面像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3DD"/>
                      </a:solidFill>
                    </a:lnL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壁厚、内腔、細胞の配列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観察方向、倍率、早晩材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</a:tr>
              <a:tr h="800100"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質量と体積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3DD"/>
                      </a:solidFill>
                    </a:lnL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一定の含水状態の密度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全乾・気乾・飽水の状態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荷重と変形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3DD"/>
                      </a:solidFill>
                    </a:lnL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弾性率と変形の関係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荷重方向、断面、支え方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</a:tr>
              <a:tr h="800100"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切削面・切りくず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3DD"/>
                      </a:solidFill>
                    </a:lnL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加工方向による違い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刃、繊維方向、水分状態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97203378"/>
      </p:ext>
    </p:extLst>
  </p:cSld>
</p:sld>
</file>

<file path=ppt/slides/v5_02_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452C00-D685-4206-A49A-75BC5E3E4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木目と組織を結ぶ説明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40F51F-3578-4921-9AE3-261DF193BD10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4DCAB2-7C59-4FB4-913D-D2F43B86D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第2回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94759D-D671-40BE-B42C-850E79F0B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29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0F58A9-B634-4D3B-A618-BD91204F5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木口と縦断面を、同じ組織の異なる見え方として結ぶ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444DF5-7EB4-47DB-94B2-C85D78665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26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内腔と細胞壁、軸方向と放射方向の系を、模型に対応させる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E2494B-688A-4A20-8617-F528A6CF7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337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中学校では、木目・年輪・繊維方向を観察し、加工や使用方向を考える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52B95B-932C-44AE-A56A-11253152E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147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本講義では、細胞の種類と配列を根拠に、性質が違う理由を説明する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DB7128-961C-49EC-B3F1-D5C171B23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958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接点：材料の性質と種類・木材の加工／指導要領A(1)ア</a:t>
            </a:r>
          </a:p>
        </p:txBody>
      </p:sp>
    </p:spTree>
    <p:extLst>
      <p:ext uri="{BB962C8B-B14F-4D97-AF65-F5344CB8AC3E}">
        <p14:creationId xmlns:p14="http://schemas.microsoft.com/office/powerpoint/2010/main" val="1687636545"/>
      </p:ext>
    </p:extLst>
  </p:cSld>
</p:sld>
</file>

<file path=ppt/slides/v5_02_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786AB3-9095-446C-9415-4A0B37FF7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組織の複雑さと機能分化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078D04-A355-4375-9C09-EDC98735BAF7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DFEBD9-0BDA-43A4-BEE0-30173D610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第2回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6BB2CD-C406-4AC1-A90D-0C6923ABB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7BFD7A-F0BE-4B6B-8ECF-267DD2AE0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針葉樹の仮道管は、通導と支持を兼ねる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DD0C69-0B2E-44D5-9062-CBD8CA377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26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多くの広葉樹では、道管・木繊維・柔細胞が異なる役割を分担する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F70F41-3BBA-4968-9842-3B7D9D553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337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被子植物の多様化に伴い、細胞の種類と配列にも多様性が生じた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E7295E-1547-408C-AF28-D84EE76EE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147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分業の程度や配列の違いが、通水・支持・貯蔵と材料の性質に関係する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E4B106-C948-4DDD-B6E9-129D23E25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958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問い：針葉樹材と広葉樹材の組織構造上の違いを、役割と対応させて説明する</a:t>
            </a:r>
          </a:p>
        </p:txBody>
      </p:sp>
    </p:spTree>
    <p:extLst>
      <p:ext uri="{BB962C8B-B14F-4D97-AF65-F5344CB8AC3E}">
        <p14:creationId xmlns:p14="http://schemas.microsoft.com/office/powerpoint/2010/main" val="1014232086"/>
      </p:ext>
    </p:extLst>
  </p:cSld>
</p:sld>
</file>

<file path=ppt/slides/v5_02_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D0A20B-D448-4E18-AB14-F5862E69D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針葉樹材の仮道管の大きさ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FB7691-68BF-40B7-A710-0A51B27C9568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137645-C6DE-4050-BE58-635450F09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第2回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E51689-B4D0-4E7D-B6DA-D9A0E662B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711BBB-F31E-498E-880A-89D7C552A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軸方向仮道管は、典型的な針葉樹材の体積の90％超を占める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30FAEF-75CB-41C5-946B-826C53374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26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長さはおよそ1,000～10,000 µm。幅に比べ非常に長い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D65C34-F66B-4960-9CBB-382B3DCAE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337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スギ・ヒノキの放射方向径の例は約30～50 µm。早晩材や部位で変わる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4B9464-E21C-4BBE-ACF7-3D78AB65F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147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残りは放射組織、軸方向柔組織、樹種によって樹脂道など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B441A7-F69B-4DC1-B2F5-42132DA0F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958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1本の長さと径、壁厚の変化を分けると、通水と密度の違いを説明しやすい</a:t>
            </a:r>
          </a:p>
        </p:txBody>
      </p:sp>
    </p:spTree>
    <p:extLst>
      <p:ext uri="{BB962C8B-B14F-4D97-AF65-F5344CB8AC3E}">
        <p14:creationId xmlns:p14="http://schemas.microsoft.com/office/powerpoint/2010/main" val="1419747352"/>
      </p:ext>
    </p:extLst>
  </p:cSld>
</p:sld>
</file>

<file path=ppt/slides/v5_02_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2384A2-27D4-4452-B07B-CE0EB0454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広葉樹材の細胞構成と寸法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5C378E-2E38-4F94-AC67-C2F5DE8C599F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ED29CC-7332-4F8D-8864-4BCFDC7F5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第2回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69D96F-7AD8-4545-AFFE-2FF514553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10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B9EBFF-533D-48B3-96EE-F6C1C742ACC2}"/>
              </a:ext>
            </a:extLst>
          </p:cNvPr>
          <p:cNvGraphicFramePr/>
          <p:nvPr/>
        </p:nvGraphicFramePr>
        <p:xfrm>
          <a:off xmlns:a="http://schemas.openxmlformats.org/drawingml/2006/main" x="685800" y="1657350"/>
          <a:ext xmlns:a="http://schemas.openxmlformats.org/drawingml/2006/main" cx="1082040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24125"/>
                <a:gridCol w="3905250"/>
                <a:gridCol w="4391025"/>
              </a:tblGrid>
              <a:tr h="800100">
                <a:tc>
                  <a:txBody>
                    <a:bodyPr lIns="95250" tIns="95250" rIns="95250" bIns="9525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パフタン材の供試例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3DD"/>
                      </a:solidFill>
                    </a:lnL>
                    <a:lnR w="9525">
                      <a:solidFill>
                        <a:srgbClr val="C8D3DD"/>
                      </a:solidFill>
                    </a:lnR>
                    <a:lnT w="9525">
                      <a:solidFill>
                        <a:srgbClr val="C8D3DD"/>
                      </a:solidFill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18364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構成割合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T w="9525">
                      <a:solidFill>
                        <a:srgbClr val="C8D3DD"/>
                      </a:solidFill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18364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寸法の例 µm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T w="9525">
                      <a:solidFill>
                        <a:srgbClr val="C8D3DD"/>
                      </a:solidFill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18364F"/>
                    </a:solidFill>
                  </a:tcPr>
                </a:tc>
              </a:tr>
              <a:tr h="800100"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道管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3DD"/>
                      </a:solidFill>
                    </a:lnL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4.6％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要素長270～450、接線径130～300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</a:tr>
              <a:tr h="800100"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真正木繊維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3DD"/>
                      </a:solidFill>
                    </a:lnL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76.7％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長さ580～1,250、径15～30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軸方向柔組織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3DD"/>
                      </a:solidFill>
                    </a:lnL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4.9％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細胞長80～190、径15～30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</a:tr>
              <a:tr h="800100"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放射組織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3DD"/>
                      </a:solidFill>
                    </a:lnL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13.8％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細胞の集まりとしてR方向に伸びる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89312095"/>
      </p:ext>
    </p:extLst>
  </p:cSld>
</p:sld>
</file>

<file path=ppt/slides/v5_02_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B8419CB-9265-40FF-A42C-0211036DA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仮道管と道管要素の連なり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B9C924-0FC4-425C-B0CD-BADBA8CDEAA8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65BCCE-2214-48C2-8B88-6AE1F00ED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第2回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B16491-869A-45EA-B82A-21D98F2D7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0B73F4-1360-4EF0-BBA8-5A4C95399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581150"/>
            <a:ext cx="3810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2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2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2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2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2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2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2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2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2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仮道管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8C40F9-A8D6-4BD7-8512-34843CDE5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581150"/>
            <a:ext cx="571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2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2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2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2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2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2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2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2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2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道管要素の連なり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399FB1-877E-4B05-87AB-E5B380BC7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38375"/>
            <a:ext cx="714375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6BD"/>
          </a:solidFill>
          <a:ln xmlns:a="http://schemas.openxmlformats.org/drawingml/2006/main" w="19050">
            <a:solidFill>
              <a:srgbClr val="B55D09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E71753-3837-4B7D-9BD5-3189CB4D1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28875"/>
            <a:ext cx="485775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55D09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7802DA-AE91-4713-81DA-03809108F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238375"/>
            <a:ext cx="714375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6BD"/>
          </a:solidFill>
          <a:ln xmlns:a="http://schemas.openxmlformats.org/drawingml/2006/main" w="19050">
            <a:solidFill>
              <a:srgbClr val="B55D09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36D5DC-4F97-418A-9004-C8BBC39DC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428875"/>
            <a:ext cx="485775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55D09"/>
            </a:solidFill>
          </a:ln>
        </p:spPr>
      </p: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21029E-321B-4470-82A8-9B7E8BF802F2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952625" y="3143250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57150">
            <a:solidFill>
              <a:srgbClr val="245C98"/>
            </a:solidFill>
            <a:tailEnd type="triangle" w="med" len="me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3C5041-38DC-4A07-AA97-200EF4887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505200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245C9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950" b="1">
                <a:solidFill>
                  <a:srgbClr val="245C9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950" b="1">
                <a:solidFill>
                  <a:srgbClr val="245C9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950" b="1">
                <a:solidFill>
                  <a:srgbClr val="245C9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950" b="1">
                <a:solidFill>
                  <a:srgbClr val="245C9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950" b="1">
                <a:solidFill>
                  <a:srgbClr val="245C9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950" b="1">
                <a:solidFill>
                  <a:srgbClr val="245C9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950" b="1">
                <a:solidFill>
                  <a:srgbClr val="245C9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950" b="1">
                <a:solidFill>
                  <a:srgbClr val="245C9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950" b="1">
                <a:solidFill>
                  <a:srgbClr val="245C9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245C98"/>
                </a:solidFill>
                <a:latin typeface="Yu Gothic"/>
                <a:ea typeface="Yu Gothic"/>
                <a:cs typeface="Yu Gothic"/>
              </a:defRPr>
            </a:pPr>
            <a:r>
              <a:rPr sz="1950" b="1">
                <a:solidFill>
                  <a:srgbClr val="245C98"/>
                </a:solidFill>
                <a:latin typeface="Yu Gothic"/>
                <a:ea typeface="Yu Gothic"/>
                <a:cs typeface="Yu Gothic"/>
              </a:rPr>
              <a:t>壁孔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FC7B7F-188F-48FD-90C1-2CA309D57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95500"/>
            <a:ext cx="15716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6BD"/>
          </a:solidFill>
          <a:ln xmlns:a="http://schemas.openxmlformats.org/drawingml/2006/main" w="19050">
            <a:solidFill>
              <a:srgbClr val="B55D09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5A8C5C-7D17-4730-A9E9-FBDE5E10F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095500"/>
            <a:ext cx="12477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8365A3-EC58-413E-AF4A-64F7271C3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48000"/>
            <a:ext cx="15716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6BD"/>
          </a:solidFill>
          <a:ln xmlns:a="http://schemas.openxmlformats.org/drawingml/2006/main" w="19050">
            <a:solidFill>
              <a:srgbClr val="B55D09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859274-D244-4365-9DA5-53B1F83A5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048000"/>
            <a:ext cx="12477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08BF2F-28B5-471F-BE94-3B77D3A37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00500"/>
            <a:ext cx="15716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6BD"/>
          </a:solidFill>
          <a:ln xmlns:a="http://schemas.openxmlformats.org/drawingml/2006/main" w="19050">
            <a:solidFill>
              <a:srgbClr val="B55D09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5373B2-AD71-45A0-A860-ACE743BDA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4000500"/>
            <a:ext cx="12477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FFFFF"/>
            </a:solidFill>
          </a:ln>
        </p:spPr>
      </p: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2FF6E2-0F33-4C54-8D96-9582D8D862BF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6981825" y="2333625"/>
            <a:ext cx="0" cy="2143125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245C98"/>
            </a:solidFill>
            <a:tailEnd type="triangle" w="med" len="me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C8B3F0-FF84-4169-883E-F02C4D4B9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724150"/>
            <a:ext cx="323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245C9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00" b="1">
                <a:solidFill>
                  <a:srgbClr val="245C9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00" b="1">
                <a:solidFill>
                  <a:srgbClr val="245C9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00" b="1">
                <a:solidFill>
                  <a:srgbClr val="245C9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00" b="1">
                <a:solidFill>
                  <a:srgbClr val="245C9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00" b="1">
                <a:solidFill>
                  <a:srgbClr val="245C9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00" b="1">
                <a:solidFill>
                  <a:srgbClr val="245C9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00" b="1">
                <a:solidFill>
                  <a:srgbClr val="245C9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00" b="1">
                <a:solidFill>
                  <a:srgbClr val="245C9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00" b="1">
                <a:solidFill>
                  <a:srgbClr val="245C9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245C98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245C98"/>
                </a:solidFill>
                <a:latin typeface="Yu Gothic"/>
                <a:ea typeface="Yu Gothic"/>
                <a:cs typeface="Yu Gothic"/>
              </a:rPr>
              <a:t>せん孔で上下に連絡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C3E2E5-72B3-4DD8-AD25-9C1AC1FAE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05400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7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7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7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7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7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7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7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7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7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仮道管：両端が閉じた細胞。隣接細胞へ壁孔を介して水が移る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88A42F-85E7-4117-8E9E-BFDE0528B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00675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7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7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7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7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7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7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7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7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7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道管：道管要素が縦に連なり、要素間のせん孔で内腔がつながる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304DDD-E50C-425D-8C99-BCEB3C1C0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95950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7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7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7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7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7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7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7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7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7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道管要素1個の長さと、連なった道管の長さを区別する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64E4FCA-D973-48FC-A221-F6BF04864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91225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7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7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7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7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7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7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7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7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7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広葉樹にも、道管の周りなどに周囲仮道管・道管状仮道管がある</a:t>
            </a:r>
          </a:p>
        </p:txBody>
      </p:sp>
    </p:spTree>
    <p:extLst>
      <p:ext uri="{BB962C8B-B14F-4D97-AF65-F5344CB8AC3E}">
        <p14:creationId xmlns:p14="http://schemas.microsoft.com/office/powerpoint/2010/main" val="1556072353"/>
      </p:ext>
    </p:extLst>
  </p:cSld>
</p:sld>
</file>

<file path=ppt/slides/v5_02_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183929-42D7-4B0F-B81F-31AD2D277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フックの法則とヤング率の復習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76F5B6-7C5F-4ADF-A989-163985CA45B8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56CDAF-E25A-465F-BB96-4B600D547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第2回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970DFA-DDC6-495C-990F-01E9A1343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96E024-D213-47F1-96D1-28DC5D103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棒を引張ると、力Fに応じて長さがΔlだけ増える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94FB45-0D71-4CF7-B20F-1594EA643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26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応力σ＝F/A、ひずみε＝Δl/l。弾性範囲ではσ＝Eε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1A6616-C215-4B0A-BB78-F5B1BEA0F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337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Eは応力とひずみの比で、単位はPaまたはMPa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887C30-6572-4566-A6B8-908F74DF1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147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同じ応力ならEが大きい材料ほど変形が小さい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E8D5EC-0B20-41C6-AD91-127E55D14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958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この後のEの方向差は、L・R・Tにより変形しやすさが異なることを表す</a:t>
            </a:r>
          </a:p>
        </p:txBody>
      </p:sp>
    </p:spTree>
    <p:extLst>
      <p:ext uri="{BB962C8B-B14F-4D97-AF65-F5344CB8AC3E}">
        <p14:creationId xmlns:p14="http://schemas.microsoft.com/office/powerpoint/2010/main" val="1019092943"/>
      </p:ext>
    </p:extLst>
  </p:cSld>
</p:sld>
</file>

<file path=ppt/slides/v5_02_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37999F-9081-41A4-ABB1-E9C05FD47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参考資料と読み進め方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9A9B39-CC10-4EF4-8B72-630F7CFD54B5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72FBBB-6543-4212-94CD-A6726019D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90675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Wood Handbook 2021 第3章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BFB3E2-E13C-489D-BB57-097B9D488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https://research.fs.usda.gov/treesearch/62242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C166BA-2318-4DF8-A3DE-B48988ADC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Wood Handbook 2021 第4章 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A42A0C-9EB0-472A-9C2F-82A4FEBB7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03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https://research.fs.usda.gov/treesearch/62243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C445A6-90C9-4DCC-9F32-CC40CECC7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90925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林試研究報告194 パフタン材の構成・細胞寸法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9010EA-671D-4151-B2CF-13AFB4C54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https://www.ffpri.go.jp/pubs/bulletin/151/documents/194-7.pdf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0F0500-3B43-4F38-9511-A05797932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9105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丹下（2009）スギの年輪幅と容積密度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539B83-9731-4155-A9E6-4BE0795CB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0062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https://www.jstage.jst.go.jp/article/jjfe/51/2/51_KJ00005982751/_pdf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3BE3A1-F131-46D7-931C-C7BE2057C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講義で扱った図・式・用語に該当する節を参照し、出典箇所を記録する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DECD6E-9BBE-4ECC-A084-C1FAA3424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第2回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A92420-3030-4CA5-9E0A-51EA3251A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32</a:t>
            </a:r>
          </a:p>
        </p:txBody>
      </p:sp>
    </p:spTree>
    <p:extLst>
      <p:ext uri="{BB962C8B-B14F-4D97-AF65-F5344CB8AC3E}">
        <p14:creationId xmlns:p14="http://schemas.microsoft.com/office/powerpoint/2010/main" val="1993189786"/>
      </p:ext>
    </p:extLst>
  </p:cSld>
</p:sld>
</file>

<file path=ppt/slides/v5_02_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942ED5-9114-4C6A-811B-1EF108D49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参考資料と調べ学習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DFC797-E459-4FD8-B22D-C29E18E40286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88C534-F0F3-43A6-BD5B-30DE0F10B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90675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森林総合研究所 日本産木材データベース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AFD6C4-FB90-4A57-B2B5-081A5BBF9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https://db.ffpri.go.jp/WoodDB/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03F7B0-4E60-46AE-9402-D47190156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笠原ほか（2021）針葉樹の細胞寸法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1476C0-6682-49C3-BE06-B05AA00AC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03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https://www.jstage.jst.go.jp/article/jsms/70/3/70_245/_pdf/-char/ja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0E0605-8C35-4C90-9007-0F298BD7C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90925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城南SSH講義資料 2022年 13～24枚目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FC058E-A52C-4E3F-B864-64BBE4DBB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9105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学習指導要領解説 A 材料と加工の技術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923010-70A9-4E0C-9D8F-7E73760DE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0062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https://www.mext.go.jp/component/a_menu/education/micro_detail/__icsFiles/afieldfile/2019/03/18/1387018_009.pdf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132A88-A5BB-4F2C-A420-CEABD0627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講義で扱った図・式・用語に該当する節を参照し、出典箇所を記録する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B6D2D1-2AB3-4E01-9E1E-01F58762F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第2回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6A5FC2-77B9-460F-B67C-F0DB23506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33</a:t>
            </a:r>
          </a:p>
        </p:txBody>
      </p:sp>
    </p:spTree>
    <p:extLst>
      <p:ext uri="{BB962C8B-B14F-4D97-AF65-F5344CB8AC3E}">
        <p14:creationId xmlns:p14="http://schemas.microsoft.com/office/powerpoint/2010/main" val="1644471376"/>
      </p:ext>
    </p:extLst>
  </p:cSld>
</p:sld>
</file>

<file path=ppt/slides/v5_02_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9943C6-AC22-4958-8CF1-F262AD79D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参考資料と調べ学習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2D9EA8-57B3-48A2-B23A-228BA2633D53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E3581B-8D70-459A-8A99-1EAF48316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90675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開隆堂 R7評価規準例 PDF1頁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718E99-45CF-4286-987F-65CA05832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https://www.kairyudo.co.jp/contents/04_shiryo/nenkei/chu/data/r7chu-gi_hyokakijun.pdf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E008CE-456F-4318-8727-0F2526937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講義で扱った図・式・用語に該当する節を参照し、出典箇所を記録する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7E39B0-D0ED-425B-9CAC-A4747B57E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第2回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7F7BA3-2CCF-4B1D-ADE7-89F232D79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34</a:t>
            </a:r>
          </a:p>
        </p:txBody>
      </p:sp>
    </p:spTree>
    <p:extLst>
      <p:ext uri="{BB962C8B-B14F-4D97-AF65-F5344CB8AC3E}">
        <p14:creationId xmlns:p14="http://schemas.microsoft.com/office/powerpoint/2010/main" val="446479644"/>
      </p:ext>
    </p:extLst>
  </p:cSld>
</p:sld>
</file>

<file path=ppt/slides/v6_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7A835F-B15C-4358-8431-4D803DA8C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年輪内の組織と密度の変化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59D4B6-871C-48D2-9B77-122F02C9DDFC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629573-2ADE-4C09-AEB4-BBE313FD1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第2回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4E0BD4-50CF-470D-A8A6-C9995EBD0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18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38047E-AB4E-4546-8E0D-760AED93841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d2c45c77564471">
            <a:alphaModFix amt="45000"/>
          </a:blip>
          <a:srcRect xmlns:a="http://schemas.openxmlformats.org/drawingml/2006/main" l="24256" t="0" r="24256" b="0"/>
          <a:stretch xmlns:a="http://schemas.openxmlformats.org/drawingml/2006/main"/>
        </p:blipFill>
        <p:spPr>
          <a:xfrm xmlns:a="http://schemas.openxmlformats.org/drawingml/2006/main" rot="5400000">
            <a:off x="3492374" y="-14033"/>
            <a:ext cx="2610865" cy="6338569"/>
          </a:xfrm>
          <a:prstGeom xmlns:a="http://schemas.openxmlformats.org/drawingml/2006/main" prst="rect">
            <a:avLst/>
          </a:prstGeom>
        </p:spPr>
      </p:pic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5F642353-5D72-44C7-9D23-853166CC6C9A}"/>
              </a:ext>
            </a:extLst>
          </p:cNvPr>
          <p:cNvGraphicFramePr/>
          <p:nvPr/>
        </p:nvGraphicFramePr>
        <p:xfrm>
          <a:off xmlns:a="http://schemas.openxmlformats.org/drawingml/2006/main" x="685800" y="1714500"/>
          <a:ext xmlns:a="http://schemas.openxmlformats.org/drawingml/2006/main" cx="752475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7094db71ff44c40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8D76F5-23BA-4D92-9189-FDD62B797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476375"/>
            <a:ext cx="1714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9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9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9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9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9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9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9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9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9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19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早材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B98CC3-7CB1-4756-BD48-92FBA8AAC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1476375"/>
            <a:ext cx="1238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9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9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9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9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9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9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9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9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9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19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晩材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6B0936-B16F-4FDD-B65B-7972F1BDC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1476375"/>
            <a:ext cx="1714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9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9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9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9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9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9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9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9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9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19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次の早材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E9DD08-E5F4-4AAF-9C2F-CFA763935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476375"/>
            <a:ext cx="1047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9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9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9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9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9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9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9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9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9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19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晩材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00CFF6-E1AA-4091-A28B-E720ADD06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1724025"/>
            <a:ext cx="305752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早材：内腔が大きく、</a:t>
            </a:r>
          </a:p>
          <a:p xmlns:a="http://schemas.openxmlformats.org/drawingml/2006/main">
            <a:pPr algn="l"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壁の割合が小さい</a:t>
            </a:r>
          </a:p>
          <a:p xmlns:a="http://schemas.openxmlformats.org/drawingml/2006/main">
            <a:pPr algn="l"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密度は低い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1379B0-B4B8-434A-9B98-8E8157C58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3028950"/>
            <a:ext cx="305752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晩材：壁の割合が増す</a:t>
            </a:r>
          </a:p>
          <a:p xmlns:a="http://schemas.openxmlformats.org/drawingml/2006/main">
            <a:pPr algn="l"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密度は高い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897785-42DB-4762-B8B9-F3B53A1C8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4191000"/>
            <a:ext cx="305752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年輪界：次の早材へ</a:t>
            </a:r>
          </a:p>
          <a:p xmlns:a="http://schemas.openxmlformats.org/drawingml/2006/main">
            <a:pPr algn="l"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密度が急に下がる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2C2FB2-7F04-446B-A4C1-28A51E547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9775"/>
            <a:ext cx="10820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写真：針葉樹材の木口 ©FFPRI　曲線：早晩材の壁割合から計算したモデル</a:t>
            </a:r>
          </a:p>
        </p:txBody>
      </p:sp>
    </p:spTree>
    <p:extLst>
      <p:ext uri="{BB962C8B-B14F-4D97-AF65-F5344CB8AC3E}">
        <p14:creationId xmlns:p14="http://schemas.microsoft.com/office/powerpoint/2010/main" val="5680570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2026-10-23T01:15:07.5710000Z</dcterms:created>
  <dcterms:modified xsi:type="dcterms:W3CDTF">2026-10-23T01:15:07.5710000Z</dcterms:modified>
</coreProperties>
</file>