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4631035d91248a3" /><Relationship Type="http://schemas.openxmlformats.org/officeDocument/2006/relationships/extended-properties" Target="/docProps/app.xml" Id="Rc61d81c23ef44f7b" /><Relationship Type="http://schemas.openxmlformats.org/officeDocument/2006/relationships/officeDocument" Target="/ppt/presentation.xml" Id="Rd923051653184ea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e7b713df04042d3"/>
    <p:sldMasterId xmlns:r="http://schemas.openxmlformats.org/officeDocument/2006/relationships" id="2147483655" r:id="R587d151c1eaf42d9"/>
  </p:sldMasterIdLst>
  <p:notesMasterIdLst>
    <p:notesMasterId xmlns:r="http://schemas.openxmlformats.org/officeDocument/2006/relationships" r:id="R43cdaada58cb4a3f"/>
  </p:notesMasterIdLst>
  <p:sldIdLst>
    <p:sldId xmlns:r="http://schemas.openxmlformats.org/officeDocument/2006/relationships" id="256" r:id="Rec39704d35b74b24"/>
    <p:sldId xmlns:r="http://schemas.openxmlformats.org/officeDocument/2006/relationships" id="257" r:id="R08d2d8f507234869"/>
    <p:sldId xmlns:r="http://schemas.openxmlformats.org/officeDocument/2006/relationships" id="258" r:id="Rdd3907b44f2b45a6"/>
    <p:sldId xmlns:r="http://schemas.openxmlformats.org/officeDocument/2006/relationships" id="259" r:id="R4b9451e463bf4c06"/>
    <p:sldId xmlns:r="http://schemas.openxmlformats.org/officeDocument/2006/relationships" id="260" r:id="Rac02015bf90d4f6f"/>
    <p:sldId xmlns:r="http://schemas.openxmlformats.org/officeDocument/2006/relationships" id="261" r:id="Rc5a176ceb55f43f3"/>
    <p:sldId xmlns:r="http://schemas.openxmlformats.org/officeDocument/2006/relationships" id="262" r:id="Rbcd7bd84566347ac"/>
    <p:sldId xmlns:r="http://schemas.openxmlformats.org/officeDocument/2006/relationships" id="263" r:id="R40a78bc4a855405f"/>
    <p:sldId xmlns:r="http://schemas.openxmlformats.org/officeDocument/2006/relationships" id="264" r:id="R83788a86b7534516"/>
    <p:sldId xmlns:r="http://schemas.openxmlformats.org/officeDocument/2006/relationships" id="265" r:id="R8a1f64174f1b41ea"/>
    <p:sldId xmlns:r="http://schemas.openxmlformats.org/officeDocument/2006/relationships" id="266" r:id="R0043f86120f548db"/>
    <p:sldId xmlns:r="http://schemas.openxmlformats.org/officeDocument/2006/relationships" id="267" r:id="R3790b41bde674f19"/>
    <p:sldId xmlns:r="http://schemas.openxmlformats.org/officeDocument/2006/relationships" id="268" r:id="Rb0affc8fa7d2433a"/>
    <p:sldId xmlns:r="http://schemas.openxmlformats.org/officeDocument/2006/relationships" id="269" r:id="Rf6420cc48dc94ca5"/>
    <p:sldId xmlns:r="http://schemas.openxmlformats.org/officeDocument/2006/relationships" id="270" r:id="Rb8b13680c70b4d82"/>
    <p:sldId xmlns:r="http://schemas.openxmlformats.org/officeDocument/2006/relationships" id="271" r:id="R5047e5de69194a71"/>
    <p:sldId xmlns:r="http://schemas.openxmlformats.org/officeDocument/2006/relationships" id="272" r:id="Rf6ae204645bd4496"/>
    <p:sldId xmlns:r="http://schemas.openxmlformats.org/officeDocument/2006/relationships" id="273" r:id="R48094c8afbaf4d2d"/>
    <p:sldId xmlns:r="http://schemas.openxmlformats.org/officeDocument/2006/relationships" id="274" r:id="R1ab5af421adb4f24"/>
    <p:sldId xmlns:r="http://schemas.openxmlformats.org/officeDocument/2006/relationships" id="275" r:id="R27f41cc84fde4ba7"/>
    <p:sldId xmlns:r="http://schemas.openxmlformats.org/officeDocument/2006/relationships" id="276" r:id="R475e24c2fe1e4a14"/>
    <p:sldId xmlns:r="http://schemas.openxmlformats.org/officeDocument/2006/relationships" id="277" r:id="Rbc9cb11211304dfb"/>
    <p:sldId xmlns:r="http://schemas.openxmlformats.org/officeDocument/2006/relationships" id="278" r:id="Re89c3f168caf463a"/>
    <p:sldId xmlns:r="http://schemas.openxmlformats.org/officeDocument/2006/relationships" id="279" r:id="R4dba05ba8e8745dc"/>
    <p:sldId xmlns:r="http://schemas.openxmlformats.org/officeDocument/2006/relationships" id="280" r:id="R9d7c7468fa194b23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46544b1bd22458b" /><Relationship Type="http://schemas.openxmlformats.org/officeDocument/2006/relationships/slideMaster" Target="/ppt/slideMasters/slideMaster1.xml" Id="R6e7b713df04042d3" /><Relationship Type="http://schemas.openxmlformats.org/officeDocument/2006/relationships/slideMaster" Target="/ppt/slideMasters/slideMaster2.xml" Id="R587d151c1eaf42d9" /><Relationship Type="http://schemas.openxmlformats.org/officeDocument/2006/relationships/notesMaster" Target="/ppt/notesMasters/notesMaster1.xml" Id="R43cdaada58cb4a3f" /><Relationship Type="http://schemas.openxmlformats.org/officeDocument/2006/relationships/presProps" Target="/ppt/presProps.xml" Id="R7cbd6d2eaf0a4ec3" /><Relationship Type="http://schemas.openxmlformats.org/officeDocument/2006/relationships/viewProps" Target="/ppt/viewProps.xml" Id="Rc19d91b524aa46ca" /><Relationship Type="http://schemas.openxmlformats.org/officeDocument/2006/relationships/tableStyles" Target="/ppt/tableStyles.xml" Id="R44553f2ca1f247e9" /><Relationship Type="http://schemas.openxmlformats.org/officeDocument/2006/relationships/slide" Target="/ppt/slides/slide1.xml" Id="Rec39704d35b74b24" /><Relationship Type="http://schemas.openxmlformats.org/officeDocument/2006/relationships/slide" Target="/ppt/slides/slide2.xml" Id="R08d2d8f507234869" /><Relationship Type="http://schemas.openxmlformats.org/officeDocument/2006/relationships/slide" Target="/ppt/slides/slide3.xml" Id="Rdd3907b44f2b45a6" /><Relationship Type="http://schemas.openxmlformats.org/officeDocument/2006/relationships/slide" Target="/ppt/slides/slide4.xml" Id="R4b9451e463bf4c06" /><Relationship Type="http://schemas.openxmlformats.org/officeDocument/2006/relationships/slide" Target="/ppt/slides/slide5.xml" Id="Rac02015bf90d4f6f" /><Relationship Type="http://schemas.openxmlformats.org/officeDocument/2006/relationships/slide" Target="/ppt/slides/slide6.xml" Id="Rc5a176ceb55f43f3" /><Relationship Type="http://schemas.openxmlformats.org/officeDocument/2006/relationships/slide" Target="/ppt/slides/slide7.xml" Id="Rbcd7bd84566347ac" /><Relationship Type="http://schemas.openxmlformats.org/officeDocument/2006/relationships/slide" Target="/ppt/slides/slide8.xml" Id="R40a78bc4a855405f" /><Relationship Type="http://schemas.openxmlformats.org/officeDocument/2006/relationships/slide" Target="/ppt/slides/slide9.xml" Id="R83788a86b7534516" /><Relationship Type="http://schemas.openxmlformats.org/officeDocument/2006/relationships/slide" Target="/ppt/slides/slide10.xml" Id="R8a1f64174f1b41ea" /><Relationship Type="http://schemas.openxmlformats.org/officeDocument/2006/relationships/slide" Target="/ppt/slides/slide11.xml" Id="R0043f86120f548db" /><Relationship Type="http://schemas.openxmlformats.org/officeDocument/2006/relationships/slide" Target="/ppt/slides/slide12.xml" Id="R3790b41bde674f19" /><Relationship Type="http://schemas.openxmlformats.org/officeDocument/2006/relationships/slide" Target="/ppt/slides/slide13.xml" Id="Rb0affc8fa7d2433a" /><Relationship Type="http://schemas.openxmlformats.org/officeDocument/2006/relationships/slide" Target="/ppt/slides/slide14.xml" Id="Rf6420cc48dc94ca5" /><Relationship Type="http://schemas.openxmlformats.org/officeDocument/2006/relationships/slide" Target="/ppt/slides/slide15.xml" Id="Rb8b13680c70b4d82" /><Relationship Type="http://schemas.openxmlformats.org/officeDocument/2006/relationships/slide" Target="/ppt/slides/slide16.xml" Id="R5047e5de69194a71" /><Relationship Type="http://schemas.openxmlformats.org/officeDocument/2006/relationships/slide" Target="/ppt/slides/slide17.xml" Id="Rf6ae204645bd4496" /><Relationship Type="http://schemas.openxmlformats.org/officeDocument/2006/relationships/slide" Target="/ppt/slides/slide18.xml" Id="R48094c8afbaf4d2d" /><Relationship Type="http://schemas.openxmlformats.org/officeDocument/2006/relationships/slide" Target="/ppt/slides/slide19.xml" Id="R1ab5af421adb4f24" /><Relationship Type="http://schemas.openxmlformats.org/officeDocument/2006/relationships/slide" Target="/ppt/slides/slide20.xml" Id="R27f41cc84fde4ba7" /><Relationship Type="http://schemas.openxmlformats.org/officeDocument/2006/relationships/slide" Target="/ppt/slides/slide21.xml" Id="R475e24c2fe1e4a14" /><Relationship Type="http://schemas.openxmlformats.org/officeDocument/2006/relationships/slide" Target="/ppt/slides/slide22.xml" Id="Rbc9cb11211304dfb" /><Relationship Type="http://schemas.openxmlformats.org/officeDocument/2006/relationships/slide" Target="/ppt/slides/slide23.xml" Id="Re89c3f168caf463a" /><Relationship Type="http://schemas.openxmlformats.org/officeDocument/2006/relationships/slide" Target="/ppt/slides/slide24.xml" Id="R4dba05ba8e8745dc" /><Relationship Type="http://schemas.openxmlformats.org/officeDocument/2006/relationships/slide" Target="/ppt/slides/slide25.xml" Id="R9d7c7468fa194b2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5a93a1a72dd84d6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cfcd986f72542e4" /><Relationship Type="http://schemas.openxmlformats.org/officeDocument/2006/relationships/notesMaster" Target="/ppt/notesMasters/notesMaster1.xml" Id="Rcea5d17c4ba749d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e60bd67c6d04dd4" /><Relationship Type="http://schemas.openxmlformats.org/officeDocument/2006/relationships/notesMaster" Target="/ppt/notesMasters/notesMaster1.xml" Id="Rc5d83e286c31442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2342d5468d64cd9" /><Relationship Type="http://schemas.openxmlformats.org/officeDocument/2006/relationships/notesMaster" Target="/ppt/notesMasters/notesMaster1.xml" Id="Rb76216b67dbe44e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4024b80f2e84596" /><Relationship Type="http://schemas.openxmlformats.org/officeDocument/2006/relationships/notesMaster" Target="/ppt/notesMasters/notesMaster1.xml" Id="R3ef7d8080d764f0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57324da2cf944e9" /><Relationship Type="http://schemas.openxmlformats.org/officeDocument/2006/relationships/notesMaster" Target="/ppt/notesMasters/notesMaster1.xml" Id="Reb5f882af320469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3b93a3d0afd4478" /><Relationship Type="http://schemas.openxmlformats.org/officeDocument/2006/relationships/notesMaster" Target="/ppt/notesMasters/notesMaster1.xml" Id="R984af2fcdb254c0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5709331f7e04522" /><Relationship Type="http://schemas.openxmlformats.org/officeDocument/2006/relationships/notesMaster" Target="/ppt/notesMasters/notesMaster1.xml" Id="R80f71feb1ea34eb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79a683c6c3042f1" /><Relationship Type="http://schemas.openxmlformats.org/officeDocument/2006/relationships/notesMaster" Target="/ppt/notesMasters/notesMaster1.xml" Id="Ra86e3b6ac7754ed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b99c60a8c0744f2" /><Relationship Type="http://schemas.openxmlformats.org/officeDocument/2006/relationships/notesMaster" Target="/ppt/notesMasters/notesMaster1.xml" Id="R9682827d8a42476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7e8699d10844a77" /><Relationship Type="http://schemas.openxmlformats.org/officeDocument/2006/relationships/notesMaster" Target="/ppt/notesMasters/notesMaster1.xml" Id="R4b659d21549748d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9dc2a8aa37a41f2" /><Relationship Type="http://schemas.openxmlformats.org/officeDocument/2006/relationships/notesMaster" Target="/ppt/notesMasters/notesMaster1.xml" Id="Ra1dfb068addd4b0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1a8aa041b304cbc" /><Relationship Type="http://schemas.openxmlformats.org/officeDocument/2006/relationships/notesMaster" Target="/ppt/notesMasters/notesMaster1.xml" Id="Rb39d3f369aea437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7ae5fcffdd94779" /><Relationship Type="http://schemas.openxmlformats.org/officeDocument/2006/relationships/notesMaster" Target="/ppt/notesMasters/notesMaster1.xml" Id="Rf4c78b0a72294f6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f3fd04012744868" /><Relationship Type="http://schemas.openxmlformats.org/officeDocument/2006/relationships/notesMaster" Target="/ppt/notesMasters/notesMaster1.xml" Id="R0f8ff7a907b34b2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1bb0bb7626d4b3f" /><Relationship Type="http://schemas.openxmlformats.org/officeDocument/2006/relationships/notesMaster" Target="/ppt/notesMasters/notesMaster1.xml" Id="Re656a13049754bb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304bc3e9a7c4a22" /><Relationship Type="http://schemas.openxmlformats.org/officeDocument/2006/relationships/notesMaster" Target="/ppt/notesMasters/notesMaster1.xml" Id="Re63c13c227e24ab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c6aab0e5e1d4bbb" /><Relationship Type="http://schemas.openxmlformats.org/officeDocument/2006/relationships/notesMaster" Target="/ppt/notesMasters/notesMaster1.xml" Id="R780fd8c95946498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826e14da808477c" /><Relationship Type="http://schemas.openxmlformats.org/officeDocument/2006/relationships/notesMaster" Target="/ppt/notesMasters/notesMaster1.xml" Id="Re46df6975e2c43f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fa8237831ab464e" /><Relationship Type="http://schemas.openxmlformats.org/officeDocument/2006/relationships/notesMaster" Target="/ppt/notesMasters/notesMaster1.xml" Id="Re78acdb8a4484ab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ebf3b2082424d5f" /><Relationship Type="http://schemas.openxmlformats.org/officeDocument/2006/relationships/notesMaster" Target="/ppt/notesMasters/notesMaster1.xml" Id="R00f164fe877640b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86cbced4fb14829" /><Relationship Type="http://schemas.openxmlformats.org/officeDocument/2006/relationships/notesMaster" Target="/ppt/notesMasters/notesMaster1.xml" Id="R6fa66edf2969411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c892886ae394fef" /><Relationship Type="http://schemas.openxmlformats.org/officeDocument/2006/relationships/notesMaster" Target="/ppt/notesMasters/notesMaster1.xml" Id="R1ce907a626404fd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7eef6af0de34fd7" /><Relationship Type="http://schemas.openxmlformats.org/officeDocument/2006/relationships/notesMaster" Target="/ppt/notesMasters/notesMaster1.xml" Id="R9e07e1378cb9464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6c98edfc3a4486a" /><Relationship Type="http://schemas.openxmlformats.org/officeDocument/2006/relationships/notesMaster" Target="/ppt/notesMasters/notesMaster1.xml" Id="Rdab41bc5e0c54d3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fc654483e8d4d67" /><Relationship Type="http://schemas.openxmlformats.org/officeDocument/2006/relationships/notesMaster" Target="/ppt/notesMasters/notesMaster1.xml" Id="R69ef0624d35d438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授業時間：0～3分（3分）</a:t>
            </a:r>
          </a:p>
          <a:p xmlns:a="http://schemas.openxmlformats.org/drawingml/2006/main">
            <a:r>
              <a:t>第11回の接着を、木質材料の製造と性能へ適用します。従来の合板・LVLとボード類を一つの回へまとめました。製造と分類、二つの計算、条件を読む材料選択を中心に進めます。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この回の動画は未制作。90分の対面授業・今後のオンデマンド化用シナリオ。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</a:t>
            </a:r>
          </a:p>
          <a:p xmlns:a="http://schemas.openxmlformats.org/drawingml/2006/main">
            <a:r>
              <a:t>USDA Wood Handbook 2021 第11章 https://research.fs.usda.gov/treesearch/62258</a:t>
            </a:r>
          </a:p>
          <a:p xmlns:a="http://schemas.openxmlformats.org/drawingml/2006/main">
            <a:r>
              <a:t>USDA Wood Handbook 2021 第12章 https://research.fs.usda.gov/treesearch/62260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授業時間：3～7分（4分）</a:t>
            </a:r>
          </a:p>
          <a:p xmlns:a="http://schemas.openxmlformats.org/drawingml/2006/main">
            <a:r>
              <a:t>まず、原料をどんな大きさと形へ変えたか、次に、どの方向へ並べたかを見ます。単板から作る合板とLVLは、要素が同じでも配向が異なります。ボード類は小片、繊維、細長いストランドを区別します。接着の耐水性、木材の吸水と寸法変化、腐朽も別の情報として確認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この回の動画は未制作。90分の対面授業・今後のオンデマンド化用シナリオ。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</a:t>
            </a:r>
          </a:p>
          <a:p xmlns:a="http://schemas.openxmlformats.org/drawingml/2006/main">
            <a:r>
              <a:t>USDA Wood Handbook 2021 第11章 https://research.fs.usda.gov/treesearch/62258</a:t>
            </a:r>
          </a:p>
          <a:p xmlns:a="http://schemas.openxmlformats.org/drawingml/2006/main">
            <a:r>
              <a:t>USDA Wood Handbook 2021 第12章 https://research.fs.usda.gov/treesearch/62260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授業時間：7～11分（4分）</a:t>
            </a:r>
          </a:p>
          <a:p xmlns:a="http://schemas.openxmlformats.org/drawingml/2006/main">
            <a:r>
              <a:t>原資料：第11回の4枚目。本文・図を再利用。</a:t>
            </a:r>
          </a:p>
          <a:p xmlns:a="http://schemas.openxmlformats.org/drawingml/2006/main">
            <a:r>
              <a:t>木質材料の構成と製法</a:t>
            </a:r>
          </a:p>
          <a:p xmlns:a="http://schemas.openxmlformats.org/drawingml/2006/main">
            <a:r>
              <a:t>説明：</a:t>
            </a:r>
          </a:p>
          <a:p xmlns:a="http://schemas.openxmlformats.org/drawingml/2006/main">
            <a:r>
              <a:t>単板、ひき板、小片、繊維など、原料の形を変えて再構成する</a:t>
            </a:r>
          </a:p>
          <a:p xmlns:a="http://schemas.openxmlformats.org/drawingml/2006/main">
            <a:r>
              <a:t>節や寸法の制約を調整し、大きさ・形・方向別性能を設計する</a:t>
            </a:r>
          </a:p>
          <a:p xmlns:a="http://schemas.openxmlformats.org/drawingml/2006/main">
            <a:r>
              <a:t>製造は原料調整、乾燥、配向・積層、接着、圧締・硬化などを含む</a:t>
            </a:r>
          </a:p>
          <a:p xmlns:a="http://schemas.openxmlformats.org/drawingml/2006/main">
            <a:r>
              <a:t>接着品質と水分状態も、完成した材料の性能に関わる</a:t>
            </a:r>
          </a:p>
          <a:p xmlns:a="http://schemas.openxmlformats.org/drawingml/2006/main">
            <a:r>
              <a:t>無垢材との比較では、同じ用途と使用期間にそろえる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この回の動画は未制作。90分の対面授業・今後のオンデマンド化用シナリオ。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</a:t>
            </a:r>
          </a:p>
          <a:p xmlns:a="http://schemas.openxmlformats.org/drawingml/2006/main">
            <a:r>
              <a:t>USDA Wood Handbook 2021 第10章 https://research.fs.usda.gov/treesearch/62250</a:t>
            </a:r>
          </a:p>
          <a:p xmlns:a="http://schemas.openxmlformats.org/drawingml/2006/main">
            <a:r>
              <a:t>USDA Wood Handbook 2021 第11章 https://research.fs.usda.gov/treesearch/62258</a:t>
            </a:r>
          </a:p>
          <a:p xmlns:a="http://schemas.openxmlformats.org/drawingml/2006/main">
            <a:r>
              <a:t>USDA Wood Handbook 2021 第12章 https://research.fs.usda.gov/treesearch/62260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授業時間：11～16分（5分）</a:t>
            </a:r>
          </a:p>
          <a:p xmlns:a="http://schemas.openxmlformats.org/drawingml/2006/main">
            <a:r>
              <a:t>原資料：第11回の6枚目。本文・図を再利用。</a:t>
            </a:r>
          </a:p>
          <a:p xmlns:a="http://schemas.openxmlformats.org/drawingml/2006/main">
            <a:r>
              <a:t>単板の製造と合板</a:t>
            </a:r>
          </a:p>
          <a:p xmlns:a="http://schemas.openxmlformats.org/drawingml/2006/main">
            <a:r>
              <a:t>説明：</a:t>
            </a:r>
          </a:p>
          <a:p xmlns:a="http://schemas.openxmlformats.org/drawingml/2006/main">
            <a:r>
              <a:t>ロータリー切削は丸太を回して連続的な単板を得る方法</a:t>
            </a:r>
          </a:p>
          <a:p xmlns:a="http://schemas.openxmlformats.org/drawingml/2006/main">
            <a:r>
              <a:t>スライスは刃で薄く切り出し、化粧用途などにも用いる</a:t>
            </a:r>
          </a:p>
          <a:p xmlns:a="http://schemas.openxmlformats.org/drawingml/2006/main">
            <a:r>
              <a:t>合板は、隣接単板の繊維方向を通常ほぼ直交させて積層する</a:t>
            </a:r>
          </a:p>
          <a:p xmlns:a="http://schemas.openxmlformats.org/drawingml/2006/main">
            <a:r>
              <a:t>対称な層構成は、反りなどの寸法安定性を考えるうえで重要</a:t>
            </a:r>
          </a:p>
          <a:p xmlns:a="http://schemas.openxmlformats.org/drawingml/2006/main">
            <a:r>
              <a:t>表板の方向、単板の厚さ、層数で面内・面外の性能が変わる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この回の動画は未制作。90分の対面授業・今後のオンデマンド化用シナリオ。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</a:t>
            </a:r>
          </a:p>
          <a:p xmlns:a="http://schemas.openxmlformats.org/drawingml/2006/main">
            <a:r>
              <a:t>USDA Wood Handbook 2021 第10章 https://research.fs.usda.gov/treesearch/62250</a:t>
            </a:r>
          </a:p>
          <a:p xmlns:a="http://schemas.openxmlformats.org/drawingml/2006/main">
            <a:r>
              <a:t>USDA Wood Handbook 2021 第11章 https://research.fs.usda.gov/treesearch/62258</a:t>
            </a:r>
          </a:p>
          <a:p xmlns:a="http://schemas.openxmlformats.org/drawingml/2006/main">
            <a:r>
              <a:t>USDA Wood Handbook 2021 第12章 https://research.fs.usda.gov/treesearch/62260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授業時間：16～20分（4分）</a:t>
            </a:r>
          </a:p>
          <a:p xmlns:a="http://schemas.openxmlformats.org/drawingml/2006/main">
            <a:r>
              <a:t>原資料：第11回の5枚目。本文・図を再利用。</a:t>
            </a:r>
          </a:p>
          <a:p xmlns:a="http://schemas.openxmlformats.org/drawingml/2006/main">
            <a:r>
              <a:t>説明・活動の内容</a:t>
            </a:r>
          </a:p>
          <a:p xmlns:a="http://schemas.openxmlformats.org/drawingml/2006/main">
            <a:r>
              <a:t>合板</a:t>
            </a:r>
          </a:p>
          <a:p xmlns:a="http://schemas.openxmlformats.org/drawingml/2006/main">
            <a:r>
              <a:t>要素：単板</a:t>
            </a:r>
          </a:p>
          <a:p xmlns:a="http://schemas.openxmlformats.org/drawingml/2006/main">
            <a:r>
              <a:t>主な配向を色分け</a:t>
            </a:r>
          </a:p>
          <a:p xmlns:a="http://schemas.openxmlformats.org/drawingml/2006/main">
            <a:r>
              <a:t>層の厚さ・位置も重要</a:t>
            </a:r>
          </a:p>
          <a:p xmlns:a="http://schemas.openxmlformats.org/drawingml/2006/main">
            <a:r>
              <a:t>接着と用途の条件も確認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この回の動画は未制作。90分の対面授業・今後のオンデマンド化用シナリオ。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</a:t>
            </a:r>
          </a:p>
          <a:p xmlns:a="http://schemas.openxmlformats.org/drawingml/2006/main">
            <a:r>
              <a:t>USDA Wood Handbook 2021 第10章 https://research.fs.usda.gov/treesearch/62250</a:t>
            </a:r>
          </a:p>
          <a:p xmlns:a="http://schemas.openxmlformats.org/drawingml/2006/main">
            <a:r>
              <a:t>USDA Wood Handbook 2021 第11章 https://research.fs.usda.gov/treesearch/62258</a:t>
            </a:r>
          </a:p>
          <a:p xmlns:a="http://schemas.openxmlformats.org/drawingml/2006/main">
            <a:r>
              <a:t>USDA Wood Handbook 2021 第12章 https://research.fs.usda.gov/treesearch/62260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授業時間：20～23分（3分）</a:t>
            </a:r>
          </a:p>
          <a:p xmlns:a="http://schemas.openxmlformats.org/drawingml/2006/main">
            <a:r>
              <a:t>原資料：第11回の11枚目。本文・図を再利用。</a:t>
            </a:r>
          </a:p>
          <a:p xmlns:a="http://schemas.openxmlformats.org/drawingml/2006/main">
            <a:r>
              <a:t>説明・活動の内容</a:t>
            </a:r>
          </a:p>
          <a:p xmlns:a="http://schemas.openxmlformats.org/drawingml/2006/main">
            <a:r>
              <a:t>LVL</a:t>
            </a:r>
          </a:p>
          <a:p xmlns:a="http://schemas.openxmlformats.org/drawingml/2006/main">
            <a:r>
              <a:t>要素：単板</a:t>
            </a:r>
          </a:p>
          <a:p xmlns:a="http://schemas.openxmlformats.org/drawingml/2006/main">
            <a:r>
              <a:t>主な配向を色分け</a:t>
            </a:r>
          </a:p>
          <a:p xmlns:a="http://schemas.openxmlformats.org/drawingml/2006/main">
            <a:r>
              <a:t>層の厚さ・位置も重要</a:t>
            </a:r>
          </a:p>
          <a:p xmlns:a="http://schemas.openxmlformats.org/drawingml/2006/main">
            <a:r>
              <a:t>接着と用途の条件も確認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この回の動画は未制作。90分の対面授業・今後のオンデマンド化用シナリオ。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</a:t>
            </a:r>
          </a:p>
          <a:p xmlns:a="http://schemas.openxmlformats.org/drawingml/2006/main">
            <a:r>
              <a:t>USDA Wood Handbook 2021 第10章 https://research.fs.usda.gov/treesearch/62250</a:t>
            </a:r>
          </a:p>
          <a:p xmlns:a="http://schemas.openxmlformats.org/drawingml/2006/main">
            <a:r>
              <a:t>USDA Wood Handbook 2021 第11章 https://research.fs.usda.gov/treesearch/62258</a:t>
            </a:r>
          </a:p>
          <a:p xmlns:a="http://schemas.openxmlformats.org/drawingml/2006/main">
            <a:r>
              <a:t>USDA Wood Handbook 2021 第12章 https://research.fs.usda.gov/treesearch/62260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授業時間：23～26分（3分）</a:t>
            </a:r>
          </a:p>
          <a:p xmlns:a="http://schemas.openxmlformats.org/drawingml/2006/main">
            <a:r>
              <a:t>原資料：第11回の8枚目。本文・図を再利用。</a:t>
            </a:r>
          </a:p>
          <a:p xmlns:a="http://schemas.openxmlformats.org/drawingml/2006/main">
            <a:r>
              <a:t>LVLと方向別性能</a:t>
            </a:r>
          </a:p>
          <a:p xmlns:a="http://schemas.openxmlformats.org/drawingml/2006/main">
            <a:r>
              <a:t>説明：</a:t>
            </a:r>
          </a:p>
          <a:p xmlns:a="http://schemas.openxmlformats.org/drawingml/2006/main">
            <a:r>
              <a:t>LVLは単板の主な繊維方向をほぼ平行にして積層する材料</a:t>
            </a:r>
          </a:p>
          <a:p xmlns:a="http://schemas.openxmlformats.org/drawingml/2006/main">
            <a:r>
              <a:t>単板を接合・積層し、長い部材や大きな断面を構成できる</a:t>
            </a:r>
          </a:p>
          <a:p xmlns:a="http://schemas.openxmlformats.org/drawingml/2006/main">
            <a:r>
              <a:t>長手方向の剛性・強度を生かすが、横方向は同じ性能とは限らない</a:t>
            </a:r>
          </a:p>
          <a:p xmlns:a="http://schemas.openxmlformats.org/drawingml/2006/main">
            <a:r>
              <a:t>製品によって一部の直交単板を含む構成もある</a:t>
            </a:r>
          </a:p>
          <a:p xmlns:a="http://schemas.openxmlformats.org/drawingml/2006/main">
            <a:r>
              <a:t>合板との違いは、単板という要素の共通性と配向の違いから説明する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この回の動画は未制作。90分の対面授業・今後のオンデマンド化用シナリオ。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</a:t>
            </a:r>
          </a:p>
          <a:p xmlns:a="http://schemas.openxmlformats.org/drawingml/2006/main">
            <a:r>
              <a:t>USDA Wood Handbook 2021 第10章 https://research.fs.usda.gov/treesearch/62250</a:t>
            </a:r>
          </a:p>
          <a:p xmlns:a="http://schemas.openxmlformats.org/drawingml/2006/main">
            <a:r>
              <a:t>USDA Wood Handbook 2021 第11章 https://research.fs.usda.gov/treesearch/62258</a:t>
            </a:r>
          </a:p>
          <a:p xmlns:a="http://schemas.openxmlformats.org/drawingml/2006/main">
            <a:r>
              <a:t>USDA Wood Handbook 2021 第12章 https://research.fs.usda.gov/treesearch/62260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授業時間：26～29分（3分）</a:t>
            </a:r>
          </a:p>
          <a:p xmlns:a="http://schemas.openxmlformats.org/drawingml/2006/main">
            <a:r>
              <a:t>原資料：第11回の7枚目。本文・図を再利用。</a:t>
            </a:r>
          </a:p>
          <a:p xmlns:a="http://schemas.openxmlformats.org/drawingml/2006/main">
            <a:r>
              <a:t>説明・活動の内容</a:t>
            </a:r>
          </a:p>
          <a:p xmlns:a="http://schemas.openxmlformats.org/drawingml/2006/main">
            <a:r>
              <a:t>条件をそろえた比較</a:t>
            </a:r>
          </a:p>
          <a:p xmlns:a="http://schemas.openxmlformats.org/drawingml/2006/main">
            <a:r>
              <a:t>値がある場合は、単位・定義・測定状態・出典を確認する</a:t>
            </a:r>
          </a:p>
          <a:p xmlns:a="http://schemas.openxmlformats.org/drawingml/2006/main">
            <a:r>
              <a:t>比較点 | 合板 | LVL</a:t>
            </a:r>
          </a:p>
          <a:p xmlns:a="http://schemas.openxmlformats.org/drawingml/2006/main">
            <a:r>
              <a:t>構成要素 | 単板 | 単板</a:t>
            </a:r>
          </a:p>
          <a:p xmlns:a="http://schemas.openxmlformats.org/drawingml/2006/main">
            <a:r>
              <a:t>主な配向 | 交差させて積層 | ほぼ平行に積層</a:t>
            </a:r>
          </a:p>
          <a:p xmlns:a="http://schemas.openxmlformats.org/drawingml/2006/main">
            <a:r>
              <a:t>確かめる性能 | 表板方向・層構成 | 主な繊維方向</a:t>
            </a:r>
          </a:p>
          <a:p xmlns:a="http://schemas.openxmlformats.org/drawingml/2006/main">
            <a:r>
              <a:t>共通の確認 | 接着・含水状態 | 用途・製品情報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この回の動画は未制作。90分の対面授業・今後のオンデマンド化用シナリオ。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</a:t>
            </a:r>
          </a:p>
          <a:p xmlns:a="http://schemas.openxmlformats.org/drawingml/2006/main">
            <a:r>
              <a:t>USDA Wood Handbook 2021 第10章 https://research.fs.usda.gov/treesearch/62250</a:t>
            </a:r>
          </a:p>
          <a:p xmlns:a="http://schemas.openxmlformats.org/drawingml/2006/main">
            <a:r>
              <a:t>USDA Wood Handbook 2021 第11章 https://research.fs.usda.gov/treesearch/62258</a:t>
            </a:r>
          </a:p>
          <a:p xmlns:a="http://schemas.openxmlformats.org/drawingml/2006/main">
            <a:r>
              <a:t>USDA Wood Handbook 2021 第12章 https://research.fs.usda.gov/treesearch/62260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授業時間：29～36分（7分）</a:t>
            </a:r>
          </a:p>
          <a:p xmlns:a="http://schemas.openxmlformats.org/drawingml/2006/main">
            <a:r>
              <a:t>原資料：第11回の9枚目。本文・図を再利用。</a:t>
            </a:r>
          </a:p>
          <a:p xmlns:a="http://schemas.openxmlformats.org/drawingml/2006/main">
            <a:r>
              <a:t>演習1　単板の積層方向</a:t>
            </a:r>
          </a:p>
          <a:p xmlns:a="http://schemas.openxmlformats.org/drawingml/2006/main">
            <a:r>
              <a:t>説明：</a:t>
            </a:r>
          </a:p>
          <a:p xmlns:a="http://schemas.openxmlformats.org/drawingml/2006/main">
            <a:r>
              <a:t>厚さ2 mmの同じ単板5枚を積層する。0°は全体の長手に沿う繊維方向</a:t>
            </a:r>
          </a:p>
          <a:p xmlns:a="http://schemas.openxmlformats.org/drawingml/2006/main">
            <a:r>
              <a:t>A：0°／90°／0°／90°／0°、B：0°／0°／0°／0°／0°</a:t>
            </a:r>
          </a:p>
          <a:p xmlns:a="http://schemas.openxmlformats.org/drawingml/2006/main">
            <a:r>
              <a:t>① 全厚を求め、合板・LVLのモデルをA・Bに対応させる</a:t>
            </a:r>
          </a:p>
          <a:p xmlns:a="http://schemas.openxmlformats.org/drawingml/2006/main">
            <a:r>
              <a:t>② Aの0°層・90°層の合計厚さは、それぞれ何mmか</a:t>
            </a:r>
          </a:p>
          <a:p xmlns:a="http://schemas.openxmlformats.org/drawingml/2006/main">
            <a:r>
              <a:t>③ Aの面内二方向の曲げ性能を、全く同じと扱えるか。層の位置も考える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この回の動画は未制作。90分の対面授業・今後のオンデマンド化用シナリオ。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</a:t>
            </a:r>
          </a:p>
          <a:p xmlns:a="http://schemas.openxmlformats.org/drawingml/2006/main">
            <a:r>
              <a:t>USDA Wood Handbook 2021 第10章 https://research.fs.usda.gov/treesearch/62250</a:t>
            </a:r>
          </a:p>
          <a:p xmlns:a="http://schemas.openxmlformats.org/drawingml/2006/main">
            <a:r>
              <a:t>USDA Wood Handbook 2021 第11章 https://research.fs.usda.gov/treesearch/62258</a:t>
            </a:r>
          </a:p>
          <a:p xmlns:a="http://schemas.openxmlformats.org/drawingml/2006/main">
            <a:r>
              <a:t>USDA Wood Handbook 2021 第12章 https://research.fs.usda.gov/treesearch/62260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授業時間：36～38分（2分）</a:t>
            </a:r>
          </a:p>
          <a:p xmlns:a="http://schemas.openxmlformats.org/drawingml/2006/main">
            <a:r>
              <a:t>原資料：第11回の10枚目。本文・図を再利用。</a:t>
            </a:r>
          </a:p>
          <a:p xmlns:a="http://schemas.openxmlformats.org/drawingml/2006/main">
            <a:r>
              <a:t>演習1の解説　単板と積層方向</a:t>
            </a:r>
          </a:p>
          <a:p xmlns:a="http://schemas.openxmlformats.org/drawingml/2006/main">
            <a:r>
              <a:t>説明：</a:t>
            </a:r>
          </a:p>
          <a:p xmlns:a="http://schemas.openxmlformats.org/drawingml/2006/main">
            <a:r>
              <a:t>① 全厚2×5＝10 mm。Aは合板、BはLVLの単純化モデル</a:t>
            </a:r>
          </a:p>
          <a:p xmlns:a="http://schemas.openxmlformats.org/drawingml/2006/main">
            <a:r>
              <a:t>② Aの0°層は6 mm、90°層は4 mm</a:t>
            </a:r>
          </a:p>
          <a:p xmlns:a="http://schemas.openxmlformats.org/drawingml/2006/main">
            <a:r>
              <a:t>③ Aの二方向は、対応する層の厚さ・位置が同じではない</a:t>
            </a:r>
          </a:p>
          <a:p xmlns:a="http://schemas.openxmlformats.org/drawingml/2006/main">
            <a:r>
              <a:t>曲げでは外側の層の影響も大きい。積層しただけで完全な等方性にはならない</a:t>
            </a:r>
          </a:p>
          <a:p xmlns:a="http://schemas.openxmlformats.org/drawingml/2006/main">
            <a:r>
              <a:t>強度やEの数値を比較するには、単板と製品の条件に対応するデータが必要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この回の動画は未制作。90分の対面授業・今後のオンデマンド化用シナリオ。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</a:t>
            </a:r>
          </a:p>
          <a:p xmlns:a="http://schemas.openxmlformats.org/drawingml/2006/main">
            <a:r>
              <a:t>USDA Wood Handbook 2021 第10章 https://research.fs.usda.gov/treesearch/62250</a:t>
            </a:r>
          </a:p>
          <a:p xmlns:a="http://schemas.openxmlformats.org/drawingml/2006/main">
            <a:r>
              <a:t>USDA Wood Handbook 2021 第11章 https://research.fs.usda.gov/treesearch/62258</a:t>
            </a:r>
          </a:p>
          <a:p xmlns:a="http://schemas.openxmlformats.org/drawingml/2006/main">
            <a:r>
              <a:t>USDA Wood Handbook 2021 第12章 https://research.fs.usda.gov/treesearch/62260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授業時間：38～41分（3分）</a:t>
            </a:r>
          </a:p>
          <a:p xmlns:a="http://schemas.openxmlformats.org/drawingml/2006/main">
            <a:r>
              <a:t>原資料：第11回の12枚目。本文・図を再利用。</a:t>
            </a:r>
          </a:p>
          <a:p xmlns:a="http://schemas.openxmlformats.org/drawingml/2006/main">
            <a:r>
              <a:t>接着品質と使用環境</a:t>
            </a:r>
          </a:p>
          <a:p xmlns:a="http://schemas.openxmlformats.org/drawingml/2006/main">
            <a:r>
              <a:t>説明：</a:t>
            </a:r>
          </a:p>
          <a:p xmlns:a="http://schemas.openxmlformats.org/drawingml/2006/main">
            <a:r>
              <a:t>接着は、木材の含水率・表面状態・塗布・圧締・硬化に左右される</a:t>
            </a:r>
          </a:p>
          <a:p xmlns:a="http://schemas.openxmlformats.org/drawingml/2006/main">
            <a:r>
              <a:t>乾燥した室内用と、湿潤条件を想定した製品は区別する</a:t>
            </a:r>
          </a:p>
          <a:p xmlns:a="http://schemas.openxmlformats.org/drawingml/2006/main">
            <a:r>
              <a:t>接着の耐水性と、木材そのものの吸水・腐朽は別に考える</a:t>
            </a:r>
          </a:p>
          <a:p xmlns:a="http://schemas.openxmlformats.org/drawingml/2006/main">
            <a:r>
              <a:t>構造用途では、方向別の製品性能と使用条件を確認する</a:t>
            </a:r>
          </a:p>
          <a:p xmlns:a="http://schemas.openxmlformats.org/drawingml/2006/main">
            <a:r>
              <a:t>製品表示は規格・仕様書の最新版により、用途と評価条件を読む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この回の動画は未制作。90分の対面授業・今後のオンデマンド化用シナリオ。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</a:t>
            </a:r>
          </a:p>
          <a:p xmlns:a="http://schemas.openxmlformats.org/drawingml/2006/main">
            <a:r>
              <a:t>USDA Wood Handbook 2021 第10章 https://research.fs.usda.gov/treesearch/62250</a:t>
            </a:r>
          </a:p>
          <a:p xmlns:a="http://schemas.openxmlformats.org/drawingml/2006/main">
            <a:r>
              <a:t>USDA Wood Handbook 2021 第11章 https://research.fs.usda.gov/treesearch/62258</a:t>
            </a:r>
          </a:p>
          <a:p xmlns:a="http://schemas.openxmlformats.org/drawingml/2006/main">
            <a:r>
              <a:t>USDA Wood Handbook 2021 第12章 https://research.fs.usda.gov/treesearch/62260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授業時間：41～43分（2分）</a:t>
            </a:r>
          </a:p>
          <a:p xmlns:a="http://schemas.openxmlformats.org/drawingml/2006/main">
            <a:r>
              <a:t>前半の単板の分類と計算をいったん整理します。ここから小片と繊維、ストランドを比べます。繊維方向の影響が小さくなる場合もありますが、全ての方向が完全に同じ材料になるとは限りません。厚さ方向の密度や層構成も性能へ関わり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この回の動画は未制作。90分の対面授業・今後のオンデマンド化用シナリオ。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</a:t>
            </a:r>
          </a:p>
          <a:p xmlns:a="http://schemas.openxmlformats.org/drawingml/2006/main">
            <a:r>
              <a:t>USDA Wood Handbook 2021 第11章 https://research.fs.usda.gov/treesearch/62258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授業時間：43～47分（4分）</a:t>
            </a:r>
          </a:p>
          <a:p xmlns:a="http://schemas.openxmlformats.org/drawingml/2006/main">
            <a:r>
              <a:t>原資料：第12回の4枚目。本文・図を再利用。</a:t>
            </a:r>
          </a:p>
          <a:p xmlns:a="http://schemas.openxmlformats.org/drawingml/2006/main">
            <a:r>
              <a:t>パーティクルボードの製造と性質</a:t>
            </a:r>
          </a:p>
          <a:p xmlns:a="http://schemas.openxmlformats.org/drawingml/2006/main">
            <a:r>
              <a:t>説明：</a:t>
            </a:r>
          </a:p>
          <a:p xmlns:a="http://schemas.openxmlformats.org/drawingml/2006/main">
            <a:r>
              <a:t>木材を小片にし、乾燥・分級・接着剤添加の後に成形する</a:t>
            </a:r>
          </a:p>
          <a:p xmlns:a="http://schemas.openxmlformats.org/drawingml/2006/main">
            <a:r>
              <a:t>熱圧で圧密・硬化させ、表層と内部の要素や密度を調整する</a:t>
            </a:r>
          </a:p>
          <a:p xmlns:a="http://schemas.openxmlformats.org/drawingml/2006/main">
            <a:r>
              <a:t>表面の平滑さと、端面の小片の組合せを観察する</a:t>
            </a:r>
          </a:p>
          <a:p xmlns:a="http://schemas.openxmlformats.org/drawingml/2006/main">
            <a:r>
              <a:t>ねじ保持は密度だけでなく、面・端面、下穴、留付け条件にも依存する</a:t>
            </a:r>
          </a:p>
          <a:p xmlns:a="http://schemas.openxmlformats.org/drawingml/2006/main">
            <a:r>
              <a:t>端材や再生木材を利用できる一方、用途に合う品質管理が必要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この回の動画は未制作。90分の対面授業・今後のオンデマンド化用シナリオ。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</a:t>
            </a:r>
          </a:p>
          <a:p xmlns:a="http://schemas.openxmlformats.org/drawingml/2006/main">
            <a:r>
              <a:t>USDA Wood Handbook 2021 第10章 https://research.fs.usda.gov/treesearch/62250</a:t>
            </a:r>
          </a:p>
          <a:p xmlns:a="http://schemas.openxmlformats.org/drawingml/2006/main">
            <a:r>
              <a:t>USDA Wood Handbook 2021 第11章 https://research.fs.usda.gov/treesearch/62258</a:t>
            </a:r>
          </a:p>
          <a:p xmlns:a="http://schemas.openxmlformats.org/drawingml/2006/main">
            <a:r>
              <a:t>USDA Wood Handbook 2021 第12章 https://research.fs.usda.gov/treesearch/62260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授業時間：47～49分（2分）</a:t>
            </a:r>
          </a:p>
          <a:p xmlns:a="http://schemas.openxmlformats.org/drawingml/2006/main">
            <a:r>
              <a:t>原資料：第12回の5枚目。本文・図を再利用。</a:t>
            </a:r>
          </a:p>
          <a:p xmlns:a="http://schemas.openxmlformats.org/drawingml/2006/main">
            <a:r>
              <a:t>説明・活動の内容</a:t>
            </a:r>
          </a:p>
          <a:p xmlns:a="http://schemas.openxmlformats.org/drawingml/2006/main">
            <a:r>
              <a:t>小片を要素にする</a:t>
            </a:r>
          </a:p>
          <a:p xmlns:a="http://schemas.openxmlformats.org/drawingml/2006/main">
            <a:r>
              <a:t>粒の大きさと層構成</a:t>
            </a:r>
          </a:p>
          <a:p xmlns:a="http://schemas.openxmlformats.org/drawingml/2006/main">
            <a:r>
              <a:t>密度分布と接着</a:t>
            </a:r>
          </a:p>
          <a:p xmlns:a="http://schemas.openxmlformats.org/drawingml/2006/main">
            <a:r>
              <a:t>端面・接合・耐湿性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この回の動画は未制作。90分の対面授業・今後のオンデマンド化用シナリオ。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</a:t>
            </a:r>
          </a:p>
          <a:p xmlns:a="http://schemas.openxmlformats.org/drawingml/2006/main">
            <a:r>
              <a:t>USDA Wood Handbook 2021 第10章 https://research.fs.usda.gov/treesearch/62250</a:t>
            </a:r>
          </a:p>
          <a:p xmlns:a="http://schemas.openxmlformats.org/drawingml/2006/main">
            <a:r>
              <a:t>USDA Wood Handbook 2021 第11章 https://research.fs.usda.gov/treesearch/62258</a:t>
            </a:r>
          </a:p>
          <a:p xmlns:a="http://schemas.openxmlformats.org/drawingml/2006/main">
            <a:r>
              <a:t>USDA Wood Handbook 2021 第12章 https://research.fs.usda.gov/treesearch/62260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授業時間：49～53分（4分）</a:t>
            </a:r>
          </a:p>
          <a:p xmlns:a="http://schemas.openxmlformats.org/drawingml/2006/main">
            <a:r>
              <a:t>原資料：第12回の6枚目。本文・図を再利用。</a:t>
            </a:r>
          </a:p>
          <a:p xmlns:a="http://schemas.openxmlformats.org/drawingml/2006/main">
            <a:r>
              <a:t>繊維板とMDF</a:t>
            </a:r>
          </a:p>
          <a:p xmlns:a="http://schemas.openxmlformats.org/drawingml/2006/main">
            <a:r>
              <a:t>説明：</a:t>
            </a:r>
          </a:p>
          <a:p xmlns:a="http://schemas.openxmlformats.org/drawingml/2006/main">
            <a:r>
              <a:t>木材を繊維状にほぐして、再び板に成形する</a:t>
            </a:r>
          </a:p>
          <a:p xmlns:a="http://schemas.openxmlformats.org/drawingml/2006/main">
            <a:r>
              <a:t>MDFは中密度繊維板で、微細な要素による平滑な表面が特徴</a:t>
            </a:r>
          </a:p>
          <a:p xmlns:a="http://schemas.openxmlformats.org/drawingml/2006/main">
            <a:r>
              <a:t>切削や表面仕上げに適した製品があるが、製品差も大きい</a:t>
            </a:r>
          </a:p>
          <a:p xmlns:a="http://schemas.openxmlformats.org/drawingml/2006/main">
            <a:r>
              <a:t>密度、厚さ方向の密度分布、接着、耐湿性が性能に関わる</a:t>
            </a:r>
          </a:p>
          <a:p xmlns:a="http://schemas.openxmlformats.org/drawingml/2006/main">
            <a:r>
              <a:t>端面への接合と吸水による厚さ変化も、採用前に確認する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この回の動画は未制作。90分の対面授業・今後のオンデマンド化用シナリオ。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</a:t>
            </a:r>
          </a:p>
          <a:p xmlns:a="http://schemas.openxmlformats.org/drawingml/2006/main">
            <a:r>
              <a:t>USDA Wood Handbook 2021 第10章 https://research.fs.usda.gov/treesearch/62250</a:t>
            </a:r>
          </a:p>
          <a:p xmlns:a="http://schemas.openxmlformats.org/drawingml/2006/main">
            <a:r>
              <a:t>USDA Wood Handbook 2021 第11章 https://research.fs.usda.gov/treesearch/62258</a:t>
            </a:r>
          </a:p>
          <a:p xmlns:a="http://schemas.openxmlformats.org/drawingml/2006/main">
            <a:r>
              <a:t>USDA Wood Handbook 2021 第12章 https://research.fs.usda.gov/treesearch/62260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授業時間：53～55分（2分）</a:t>
            </a:r>
          </a:p>
          <a:p xmlns:a="http://schemas.openxmlformats.org/drawingml/2006/main">
            <a:r>
              <a:t>原資料：第12回の11枚目。本文・図を再利用。</a:t>
            </a:r>
          </a:p>
          <a:p xmlns:a="http://schemas.openxmlformats.org/drawingml/2006/main">
            <a:r>
              <a:t>説明・活動の内容</a:t>
            </a:r>
          </a:p>
          <a:p xmlns:a="http://schemas.openxmlformats.org/drawingml/2006/main">
            <a:r>
              <a:t>細かな繊維を要素にする</a:t>
            </a:r>
          </a:p>
          <a:p xmlns:a="http://schemas.openxmlformats.org/drawingml/2006/main">
            <a:r>
              <a:t>密度・製法で性質が変わる</a:t>
            </a:r>
          </a:p>
          <a:p xmlns:a="http://schemas.openxmlformats.org/drawingml/2006/main">
            <a:r>
              <a:t>表面と端面を観察</a:t>
            </a:r>
          </a:p>
          <a:p xmlns:a="http://schemas.openxmlformats.org/drawingml/2006/main">
            <a:r>
              <a:t>用途に合う製品情報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この回の動画は未制作。90分の対面授業・今後のオンデマンド化用シナリオ。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</a:t>
            </a:r>
          </a:p>
          <a:p xmlns:a="http://schemas.openxmlformats.org/drawingml/2006/main">
            <a:r>
              <a:t>USDA Wood Handbook 2021 第10章 https://research.fs.usda.gov/treesearch/62250</a:t>
            </a:r>
          </a:p>
          <a:p xmlns:a="http://schemas.openxmlformats.org/drawingml/2006/main">
            <a:r>
              <a:t>USDA Wood Handbook 2021 第11章 https://research.fs.usda.gov/treesearch/62258</a:t>
            </a:r>
          </a:p>
          <a:p xmlns:a="http://schemas.openxmlformats.org/drawingml/2006/main">
            <a:r>
              <a:t>USDA Wood Handbook 2021 第12章 https://research.fs.usda.gov/treesearch/62260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授業時間：55～59分（4分）</a:t>
            </a:r>
          </a:p>
          <a:p xmlns:a="http://schemas.openxmlformats.org/drawingml/2006/main">
            <a:r>
              <a:t>原資料：第12回の10枚目。本文・図を再利用。</a:t>
            </a:r>
          </a:p>
          <a:p xmlns:a="http://schemas.openxmlformats.org/drawingml/2006/main">
            <a:r>
              <a:t>OSBとストランドの配向</a:t>
            </a:r>
          </a:p>
          <a:p xmlns:a="http://schemas.openxmlformats.org/drawingml/2006/main">
            <a:r>
              <a:t>説明：</a:t>
            </a:r>
          </a:p>
          <a:p xmlns:a="http://schemas.openxmlformats.org/drawingml/2006/main">
            <a:r>
              <a:t>OSBは細長いストランドを、層ごとに配向させて成形する</a:t>
            </a:r>
          </a:p>
          <a:p xmlns:a="http://schemas.openxmlformats.org/drawingml/2006/main">
            <a:r>
              <a:t>表層と内層の方向を組み合わせ、面材としての性能を調整する</a:t>
            </a:r>
          </a:p>
          <a:p xmlns:a="http://schemas.openxmlformats.org/drawingml/2006/main">
            <a:r>
              <a:t>主軸方向とそれに直交する方向で、曲げ性能などが異なる</a:t>
            </a:r>
          </a:p>
          <a:p xmlns:a="http://schemas.openxmlformats.org/drawingml/2006/main">
            <a:r>
              <a:t>見える木片の向きと、製品表示の評価方向を対応させる</a:t>
            </a:r>
          </a:p>
          <a:p xmlns:a="http://schemas.openxmlformats.org/drawingml/2006/main">
            <a:r>
              <a:t>PB・MDF・OSBは要素の形と配向から区別できる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この回の動画は未制作。90分の対面授業・今後のオンデマンド化用シナリオ。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</a:t>
            </a:r>
          </a:p>
          <a:p xmlns:a="http://schemas.openxmlformats.org/drawingml/2006/main">
            <a:r>
              <a:t>USDA Wood Handbook 2021 第10章 https://research.fs.usda.gov/treesearch/62250</a:t>
            </a:r>
          </a:p>
          <a:p xmlns:a="http://schemas.openxmlformats.org/drawingml/2006/main">
            <a:r>
              <a:t>USDA Wood Handbook 2021 第11章 https://research.fs.usda.gov/treesearch/62258</a:t>
            </a:r>
          </a:p>
          <a:p xmlns:a="http://schemas.openxmlformats.org/drawingml/2006/main">
            <a:r>
              <a:t>USDA Wood Handbook 2021 第12章 https://research.fs.usda.gov/treesearch/62260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授業時間：59～62分（3分）</a:t>
            </a:r>
          </a:p>
          <a:p xmlns:a="http://schemas.openxmlformats.org/drawingml/2006/main">
            <a:r>
              <a:t>原資料：第12回の7枚目。本文・図を再利用。</a:t>
            </a:r>
          </a:p>
          <a:p xmlns:a="http://schemas.openxmlformats.org/drawingml/2006/main">
            <a:r>
              <a:t>説明・活動の内容</a:t>
            </a:r>
          </a:p>
          <a:p xmlns:a="http://schemas.openxmlformats.org/drawingml/2006/main">
            <a:r>
              <a:t>条件をそろえた比較</a:t>
            </a:r>
          </a:p>
          <a:p xmlns:a="http://schemas.openxmlformats.org/drawingml/2006/main">
            <a:r>
              <a:t>値がある場合は、単位・定義・測定状態・出典を確認する</a:t>
            </a:r>
          </a:p>
          <a:p xmlns:a="http://schemas.openxmlformats.org/drawingml/2006/main">
            <a:r>
              <a:t>材料 | 主な要素 | 確認すること</a:t>
            </a:r>
          </a:p>
          <a:p xmlns:a="http://schemas.openxmlformats.org/drawingml/2006/main">
            <a:r>
              <a:t>PB | 小片 | 層・密度・接合位置</a:t>
            </a:r>
          </a:p>
          <a:p xmlns:a="http://schemas.openxmlformats.org/drawingml/2006/main">
            <a:r>
              <a:t>MDF等 | 繊維 | 密度・加工・湿潤条件</a:t>
            </a:r>
          </a:p>
          <a:p xmlns:a="http://schemas.openxmlformats.org/drawingml/2006/main">
            <a:r>
              <a:t>OSB | ストランド | 要素の配向・方向別性能</a:t>
            </a:r>
          </a:p>
          <a:p xmlns:a="http://schemas.openxmlformats.org/drawingml/2006/main">
            <a:r>
              <a:t>共通 | 製法・接着 | 厚さ・用途・製品情報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この回の動画は未制作。90分の対面授業・今後のオンデマンド化用シナリオ。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</a:t>
            </a:r>
          </a:p>
          <a:p xmlns:a="http://schemas.openxmlformats.org/drawingml/2006/main">
            <a:r>
              <a:t>USDA Wood Handbook 2021 第10章 https://research.fs.usda.gov/treesearch/62250</a:t>
            </a:r>
          </a:p>
          <a:p xmlns:a="http://schemas.openxmlformats.org/drawingml/2006/main">
            <a:r>
              <a:t>USDA Wood Handbook 2021 第11章 https://research.fs.usda.gov/treesearch/62258</a:t>
            </a:r>
          </a:p>
          <a:p xmlns:a="http://schemas.openxmlformats.org/drawingml/2006/main">
            <a:r>
              <a:t>USDA Wood Handbook 2021 第12章 https://research.fs.usda.gov/treesearch/62260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授業時間：62～68分（6分）</a:t>
            </a:r>
          </a:p>
          <a:p xmlns:a="http://schemas.openxmlformats.org/drawingml/2006/main">
            <a:r>
              <a:t>原資料：第12回の8枚目。本文・図を再利用。</a:t>
            </a:r>
          </a:p>
          <a:p xmlns:a="http://schemas.openxmlformats.org/drawingml/2006/main">
            <a:r>
              <a:t>説明・活動の内容</a:t>
            </a:r>
          </a:p>
          <a:p xmlns:a="http://schemas.openxmlformats.org/drawingml/2006/main">
            <a:r>
              <a:t>演習1　定義と条件から考える</a:t>
            </a:r>
          </a:p>
          <a:p xmlns:a="http://schemas.openxmlformats.org/drawingml/2006/main">
            <a:r>
              <a:t>試料A：300×300×10 mm、質量630 g</a:t>
            </a:r>
          </a:p>
          <a:p xmlns:a="http://schemas.openxmlformats.org/drawingml/2006/main">
            <a:r>
              <a:t>試料B：同寸法、質量450 g</a:t>
            </a:r>
          </a:p>
          <a:p xmlns:a="http://schemas.openxmlformats.org/drawingml/2006/main">
            <a:r>
              <a:t>体積と密度を求める</a:t>
            </a:r>
          </a:p>
          <a:p xmlns:a="http://schemas.openxmlformats.org/drawingml/2006/main">
            <a:r>
              <a:t>密度だけで、ねじ保持や耐湿性まで順位付けできるか？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この回の動画は未制作。90分の対面授業・今後のオンデマンド化用シナリオ。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</a:t>
            </a:r>
          </a:p>
          <a:p xmlns:a="http://schemas.openxmlformats.org/drawingml/2006/main">
            <a:r>
              <a:t>USDA Wood Handbook 2021 第10章 https://research.fs.usda.gov/treesearch/62250</a:t>
            </a:r>
          </a:p>
          <a:p xmlns:a="http://schemas.openxmlformats.org/drawingml/2006/main">
            <a:r>
              <a:t>USDA Wood Handbook 2021 第11章 https://research.fs.usda.gov/treesearch/62258</a:t>
            </a:r>
          </a:p>
          <a:p xmlns:a="http://schemas.openxmlformats.org/drawingml/2006/main">
            <a:r>
              <a:t>USDA Wood Handbook 2021 第12章 https://research.fs.usda.gov/treesearch/62260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授業時間：68～70分（2分）</a:t>
            </a:r>
          </a:p>
          <a:p xmlns:a="http://schemas.openxmlformats.org/drawingml/2006/main">
            <a:r>
              <a:t>原資料：第12回の9枚目。本文・図を再利用。</a:t>
            </a:r>
          </a:p>
          <a:p xmlns:a="http://schemas.openxmlformats.org/drawingml/2006/main">
            <a:r>
              <a:t>説明・活動の内容</a:t>
            </a:r>
          </a:p>
          <a:p xmlns:a="http://schemas.openxmlformats.org/drawingml/2006/main">
            <a:r>
              <a:t>演習1の解説</a:t>
            </a:r>
          </a:p>
          <a:p xmlns:a="http://schemas.openxmlformats.org/drawingml/2006/main">
            <a:r>
              <a:t>体積 = 900 cm³</a:t>
            </a:r>
          </a:p>
          <a:p xmlns:a="http://schemas.openxmlformats.org/drawingml/2006/main">
            <a:r>
              <a:t>A：0.700 g/cm³ = 700 kg/m³</a:t>
            </a:r>
          </a:p>
          <a:p xmlns:a="http://schemas.openxmlformats.org/drawingml/2006/main">
            <a:r>
              <a:t>B：0.500 g/cm³ = 500 kg/m³</a:t>
            </a:r>
          </a:p>
          <a:p xmlns:a="http://schemas.openxmlformats.org/drawingml/2006/main">
            <a:r>
              <a:t>接合・耐湿性等には、製品別データが必要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この回の動画は未制作。90分の対面授業・今後のオンデマンド化用シナリオ。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</a:t>
            </a:r>
          </a:p>
          <a:p xmlns:a="http://schemas.openxmlformats.org/drawingml/2006/main">
            <a:r>
              <a:t>USDA Wood Handbook 2021 第10章 https://research.fs.usda.gov/treesearch/62250</a:t>
            </a:r>
          </a:p>
          <a:p xmlns:a="http://schemas.openxmlformats.org/drawingml/2006/main">
            <a:r>
              <a:t>USDA Wood Handbook 2021 第11章 https://research.fs.usda.gov/treesearch/62258</a:t>
            </a:r>
          </a:p>
          <a:p xmlns:a="http://schemas.openxmlformats.org/drawingml/2006/main">
            <a:r>
              <a:t>USDA Wood Handbook 2021 第12章 https://research.fs.usda.gov/treesearch/62260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授業時間：70～74分（4分）</a:t>
            </a:r>
          </a:p>
          <a:p xmlns:a="http://schemas.openxmlformats.org/drawingml/2006/main">
            <a:r>
              <a:t>原資料：第12回の12枚目。本文・図を再利用。</a:t>
            </a:r>
          </a:p>
          <a:p xmlns:a="http://schemas.openxmlformats.org/drawingml/2006/main">
            <a:r>
              <a:t>ボード類の性能を比較する項目</a:t>
            </a:r>
          </a:p>
          <a:p xmlns:a="http://schemas.openxmlformats.org/drawingml/2006/main">
            <a:r>
              <a:t>説明：</a:t>
            </a:r>
          </a:p>
          <a:p xmlns:a="http://schemas.openxmlformats.org/drawingml/2006/main">
            <a:r>
              <a:t>密度：体積当たりの質量。含水状態も記録する</a:t>
            </a:r>
          </a:p>
          <a:p xmlns:a="http://schemas.openxmlformats.org/drawingml/2006/main">
            <a:r>
              <a:t>曲げ：厚さ、主軸方向、試験の支点間距離などをそろえる</a:t>
            </a:r>
          </a:p>
          <a:p xmlns:a="http://schemas.openxmlformats.org/drawingml/2006/main">
            <a:r>
              <a:t>ねじ保持：面か端面か、ねじ径・下穴・端距離などを確認する</a:t>
            </a:r>
          </a:p>
          <a:p xmlns:a="http://schemas.openxmlformats.org/drawingml/2006/main">
            <a:r>
              <a:t>水分：吸水、厚さ膨張、接着性能と、使用環境を確認する</a:t>
            </a:r>
          </a:p>
          <a:p xmlns:a="http://schemas.openxmlformats.org/drawingml/2006/main">
            <a:r>
              <a:t>化粧面だけで内部を判断せず、断面と製品情報を読む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この回の動画は未制作。90分の対面授業・今後のオンデマンド化用シナリオ。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</a:t>
            </a:r>
          </a:p>
          <a:p xmlns:a="http://schemas.openxmlformats.org/drawingml/2006/main">
            <a:r>
              <a:t>USDA Wood Handbook 2021 第10章 https://research.fs.usda.gov/treesearch/62250</a:t>
            </a:r>
          </a:p>
          <a:p xmlns:a="http://schemas.openxmlformats.org/drawingml/2006/main">
            <a:r>
              <a:t>USDA Wood Handbook 2021 第11章 https://research.fs.usda.gov/treesearch/62258</a:t>
            </a:r>
          </a:p>
          <a:p xmlns:a="http://schemas.openxmlformats.org/drawingml/2006/main">
            <a:r>
              <a:t>USDA Wood Handbook 2021 第12章 https://research.fs.usda.gov/treesearch/62260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授業時間：74～82分（8分）</a:t>
            </a:r>
          </a:p>
          <a:p xmlns:a="http://schemas.openxmlformats.org/drawingml/2006/main">
            <a:r>
              <a:t>単一の材料を正解とする選択問題にはしません。使う条件を明示し、採用の理由を製品データや必要な試験へ対応させます。化粧層が同じ見た目でも内部は異なり得ること、密度だけでねじ保持や耐水性を決定しないことを確認します。表面の仕上げは前回の塗装とつなげ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自己確認・解説</a:t>
            </a:r>
          </a:p>
          <a:p xmlns:a="http://schemas.openxmlformats.org/drawingml/2006/main">
            <a:r>
              <a:t>要素と配向、荷重方向、ねじを留める面／端面、湿潤条件、接着等の製品性能と根拠が対応する回答を評価する。追加データが不足していると説明できればよい。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この回の動画は未制作。90分の対面授業・今後のオンデマンド化用シナリオ。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</a:t>
            </a:r>
          </a:p>
          <a:p xmlns:a="http://schemas.openxmlformats.org/drawingml/2006/main">
            <a:r>
              <a:t>USDA Wood Handbook 2021 第10章 https://research.fs.usda.gov/treesearch/62250</a:t>
            </a:r>
          </a:p>
          <a:p xmlns:a="http://schemas.openxmlformats.org/drawingml/2006/main">
            <a:r>
              <a:t>USDA Wood Handbook 2021 第11章 https://research.fs.usda.gov/treesearch/62258</a:t>
            </a:r>
          </a:p>
          <a:p xmlns:a="http://schemas.openxmlformats.org/drawingml/2006/main">
            <a:r>
              <a:t>USDA Wood Handbook 2021 第12章 https://research.fs.usda.gov/treesearch/62260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授業時間：82～85分（3分）</a:t>
            </a:r>
          </a:p>
          <a:p xmlns:a="http://schemas.openxmlformats.org/drawingml/2006/main">
            <a:r>
              <a:t>同じ材料名でも製品の配合、密度分布、構成、接着剤や表面処理は異なります。平均の実験値、規格上の区分、設計に用いる値を区別します。自分の採用理由に、どの条件の値を使ったかを添えてください。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この回の動画は未制作。90分の対面授業・今後のオンデマンド化用シナリオ。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</a:t>
            </a:r>
          </a:p>
          <a:p xmlns:a="http://schemas.openxmlformats.org/drawingml/2006/main">
            <a:r>
              <a:t>USDA Wood Handbook 2021 第11章 https://research.fs.usda.gov/treesearch/62258</a:t>
            </a:r>
          </a:p>
          <a:p xmlns:a="http://schemas.openxmlformats.org/drawingml/2006/main">
            <a:r>
              <a:t>USDA Wood Handbook 2021 第12章 https://research.fs.usda.gov/treesearch/62260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授業時間：85～89分（4分）</a:t>
            </a:r>
          </a:p>
          <a:p xmlns:a="http://schemas.openxmlformats.org/drawingml/2006/main">
            <a:r>
              <a:t>五つの材料の共通点と違いを、同じ項目で整理します。合板やOSBの配向を、紙面の縦横ではなく製品の軸に付けて示します。次回の集成材とCLTはひき板の積層であり、合板と見た目が似ていても要素が異なり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この回の動画は未制作。90分の対面授業・今後のオンデマンド化用シナリオ。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</a:t>
            </a:r>
          </a:p>
          <a:p xmlns:a="http://schemas.openxmlformats.org/drawingml/2006/main">
            <a:r>
              <a:t>USDA Wood Handbook 2021 第11章 https://research.fs.usda.gov/treesearch/62258</a:t>
            </a:r>
          </a:p>
          <a:p xmlns:a="http://schemas.openxmlformats.org/drawingml/2006/main">
            <a:r>
              <a:t>USDA Wood Handbook 2021 第12章 https://research.fs.usda.gov/treesearch/62260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授業時間：89～90分（1分）</a:t>
            </a:r>
          </a:p>
          <a:p xmlns:a="http://schemas.openxmlformats.org/drawingml/2006/main">
            <a:r>
              <a:t>合板・LVLとボード類を統合し、従来の重複した導入とまとめを減らしました。原料の製造、ネイティブの積層図・小片や繊維の模式図、数値演習を残しています。製品別の物性値を後で扱うときも、今回の方向と条件の整理を使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この回の動画は未制作。90分の対面授業・今後のオンデマンド化用シナリオ。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</a:t>
            </a:r>
          </a:p>
          <a:p xmlns:a="http://schemas.openxmlformats.org/drawingml/2006/main">
            <a:r>
              <a:t>USDA Wood Handbook 2021 第10章 https://research.fs.usda.gov/treesearch/62250</a:t>
            </a:r>
          </a:p>
          <a:p xmlns:a="http://schemas.openxmlformats.org/drawingml/2006/main">
            <a:r>
              <a:t>USDA Wood Handbook 2021 第11章 https://research.fs.usda.gov/treesearch/62258</a:t>
            </a:r>
          </a:p>
          <a:p xmlns:a="http://schemas.openxmlformats.org/drawingml/2006/main">
            <a:r>
              <a:t>USDA Wood Handbook 2021 第12章 https://research.fs.usda.gov/treesearch/62260</a:t>
            </a:r>
          </a:p>
          <a:p xmlns:a="http://schemas.openxmlformats.org/drawingml/2006/main">
            <a:r>
              <a:t>文部科学省 中学校学習指導要領解説 技術・家庭編 https://www.mext.go.jp/component/a_menu/education/micro_detail/__icsFiles/afieldfile/2019/03/18/1387018_009.pdf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cb39a5380d478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a15b5da62e4a3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feffd0d608481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440fa365e6489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a0ca0d5fc44bc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90ac9f84e84732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a0f377908584ddf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5f4fc1768104ce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6118abc16644b57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239815abe374c1b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c442b2ac2ae40f7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56dd6c585f540c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01C7C26-445A-4D2B-B3C7-396867FB0B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AB5D4EA-C627-40D7-9758-804A6434583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1CE61B8-28BB-4702-9732-28A9987ACF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E7F6E55-8690-47ED-864F-706BBEC8A7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7069715-EF7B-4A71-8465-B50E0902B8A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E716BFF-F3DE-4802-9F20-2B36975A44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4A92231-EE06-4908-81FE-DF5B0921872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29D9F0F-98C8-41E8-B65D-12F25AED7FC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E15E71F-154A-4B4C-BE61-9E87652713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E3A76AE-530B-471B-A6D0-E3B5D8D7BB5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7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177FF0C-B922-4168-81A3-182A2E0C0F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230B460-C524-41B8-B482-ADA2E31C34F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468FAA8-0928-43AD-9563-DF729729FC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7A355BB-51D4-4B4F-89FF-E992067DAA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8251C0E-94DD-46A8-A5EA-C241CED227D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CE9253F-8CCE-44C4-A4C7-F23FE36389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06C1D55-C1AC-4138-9D3B-52AB3F70802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9C535A4-6BD3-48CD-B4AA-D60E8A59153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CAB39AA-2786-4512-B830-842A0B988C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FD702E2-941C-4502-B769-DD3D863BA65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46f81c2cd374ff6" /><Relationship Type="http://schemas.openxmlformats.org/officeDocument/2006/relationships/slideLayout" Target="/ppt/slideLayouts/slideLayout1.xml" Id="R1d3066c2248c40c2" /><Relationship Type="http://schemas.openxmlformats.org/officeDocument/2006/relationships/slideLayout" Target="/ppt/slideLayouts/slideLayout2.xml" Id="R5965cd1e3e834456" /><Relationship Type="http://schemas.openxmlformats.org/officeDocument/2006/relationships/slideLayout" Target="/ppt/slideLayouts/slideLayout3.xml" Id="Rc474ec1cd11d4b56" /><Relationship Type="http://schemas.openxmlformats.org/officeDocument/2006/relationships/slideLayout" Target="/ppt/slideLayouts/slideLayout4.xml" Id="R2e81681b2af94a58" /><Relationship Type="http://schemas.openxmlformats.org/officeDocument/2006/relationships/slideLayout" Target="/ppt/slideLayouts/slideLayout5.xml" Id="Ra3ed6e0d40a04b1e" /><Relationship Type="http://schemas.openxmlformats.org/officeDocument/2006/relationships/slideLayout" Target="/ppt/slideLayouts/slideLayout6.xml" Id="R57629f6045a24a10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e29e98fe7b0641c3" /><Relationship Type="http://schemas.openxmlformats.org/officeDocument/2006/relationships/slideLayout" Target="/ppt/slideLayouts/slideLayout7.xml" Id="Rb4139fbda71a4b2c" /><Relationship Type="http://schemas.openxmlformats.org/officeDocument/2006/relationships/slideLayout" Target="/ppt/slideLayouts/slideLayout8.xml" Id="R6164c556873342c6" /><Relationship Type="http://schemas.openxmlformats.org/officeDocument/2006/relationships/slideLayout" Target="/ppt/slideLayouts/slideLayout9.xml" Id="R36fde57dbcd2435f" /><Relationship Type="http://schemas.openxmlformats.org/officeDocument/2006/relationships/slideLayout" Target="/ppt/slideLayouts/slideLayout10.xml" Id="R4d9f746a5d354f82" /><Relationship Type="http://schemas.openxmlformats.org/officeDocument/2006/relationships/slideLayout" Target="/ppt/slideLayouts/slideLayout11.xml" Id="Rcb4399f3ee644f5c" /><Relationship Type="http://schemas.openxmlformats.org/officeDocument/2006/relationships/slideLayout" Target="/ppt/slideLayouts/slideLayout12.xml" Id="R82c87b930c9e43d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d3066c2248c40c2"/>
    <p:sldLayoutId xmlns:r="http://schemas.openxmlformats.org/officeDocument/2006/relationships" id="2147483650" r:id="R5965cd1e3e834456"/>
    <p:sldLayoutId xmlns:r="http://schemas.openxmlformats.org/officeDocument/2006/relationships" id="2147483651" r:id="Rc474ec1cd11d4b56"/>
    <p:sldLayoutId xmlns:r="http://schemas.openxmlformats.org/officeDocument/2006/relationships" id="2147483652" r:id="R2e81681b2af94a58"/>
    <p:sldLayoutId xmlns:r="http://schemas.openxmlformats.org/officeDocument/2006/relationships" id="2147483653" r:id="Ra3ed6e0d40a04b1e"/>
    <p:sldLayoutId xmlns:r="http://schemas.openxmlformats.org/officeDocument/2006/relationships" id="2147483654" r:id="R57629f6045a24a1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6" r:id="Rb4139fbda71a4b2c"/>
    <p:sldLayoutId xmlns:r="http://schemas.openxmlformats.org/officeDocument/2006/relationships" id="2147483657" r:id="R6164c556873342c6"/>
    <p:sldLayoutId xmlns:r="http://schemas.openxmlformats.org/officeDocument/2006/relationships" id="2147483658" r:id="R36fde57dbcd2435f"/>
    <p:sldLayoutId xmlns:r="http://schemas.openxmlformats.org/officeDocument/2006/relationships" id="2147483659" r:id="R4d9f746a5d354f82"/>
    <p:sldLayoutId xmlns:r="http://schemas.openxmlformats.org/officeDocument/2006/relationships" id="2147483660" r:id="Rcb4399f3ee644f5c"/>
    <p:sldLayoutId xmlns:r="http://schemas.openxmlformats.org/officeDocument/2006/relationships" id="2147483661" r:id="R82c87b930c9e43d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b6b8ccb5bf4f9d" /><Relationship Type="http://schemas.openxmlformats.org/officeDocument/2006/relationships/notesSlide" Target="/ppt/notesSlides/notesSlide1.xml" Id="R7d43c25490d04d5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3c490130704140" /><Relationship Type="http://schemas.openxmlformats.org/officeDocument/2006/relationships/notesSlide" Target="/ppt/notesSlides/notesSlide2.xml" Id="Rcd12f27b82e9498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d460d7fe9ae4e6c" /><Relationship Type="http://schemas.openxmlformats.org/officeDocument/2006/relationships/notesSlide" Target="/ppt/notesSlides/notesSlide3.xml" Id="Rea465caba21c4d9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2d5103dc1c5c4043" /><Relationship Type="http://schemas.openxmlformats.org/officeDocument/2006/relationships/notesSlide" Target="/ppt/notesSlides/notesSlide4.xml" Id="Rd64ef3e77246464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6cfa9bd5aa454d" /><Relationship Type="http://schemas.openxmlformats.org/officeDocument/2006/relationships/notesSlide" Target="/ppt/notesSlides/notesSlide5.xml" Id="R23c4804b5361476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4d89cfc9e54642" /><Relationship Type="http://schemas.openxmlformats.org/officeDocument/2006/relationships/notesSlide" Target="/ppt/notesSlides/notesSlide6.xml" Id="Rc322b0ed4564475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c7bec7b15233482a" /><Relationship Type="http://schemas.openxmlformats.org/officeDocument/2006/relationships/notesSlide" Target="/ppt/notesSlides/notesSlide7.xml" Id="R415f871a517249f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5843df814a46b6" /><Relationship Type="http://schemas.openxmlformats.org/officeDocument/2006/relationships/notesSlide" Target="/ppt/notesSlides/notesSlide8.xml" Id="R768cd57f3a4e4c1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3d0bc5259aa949fd" /><Relationship Type="http://schemas.openxmlformats.org/officeDocument/2006/relationships/notesSlide" Target="/ppt/notesSlides/notesSlide9.xml" Id="Rb32f179539364e5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a3a215020f91443a" /><Relationship Type="http://schemas.openxmlformats.org/officeDocument/2006/relationships/notesSlide" Target="/ppt/notesSlides/notesSlide10.xml" Id="Rbc37966274ba482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178b8713b30422a" /><Relationship Type="http://schemas.openxmlformats.org/officeDocument/2006/relationships/notesSlide" Target="/ppt/notesSlides/notesSlide11.xml" Id="R645ce0e667394e0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333296d2c44d87" /><Relationship Type="http://schemas.openxmlformats.org/officeDocument/2006/relationships/notesSlide" Target="/ppt/notesSlides/notesSlide12.xml" Id="R56cba608fd3e452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3674883b1a24d9e" /><Relationship Type="http://schemas.openxmlformats.org/officeDocument/2006/relationships/notesSlide" Target="/ppt/notesSlides/notesSlide13.xml" Id="R07d402e07f5e4a8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d3bddfa97b24429e" /><Relationship Type="http://schemas.openxmlformats.org/officeDocument/2006/relationships/notesSlide" Target="/ppt/notesSlides/notesSlide14.xml" Id="Rbfb008aeffcd462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9d20505e094148bf" /><Relationship Type="http://schemas.openxmlformats.org/officeDocument/2006/relationships/notesSlide" Target="/ppt/notesSlides/notesSlide15.xml" Id="Rcf17026aca4e4e6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a8850ced306d4485" /><Relationship Type="http://schemas.openxmlformats.org/officeDocument/2006/relationships/notesSlide" Target="/ppt/notesSlides/notesSlide16.xml" Id="R0a1d07086ec24f6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c8d371d7d74041ba" /><Relationship Type="http://schemas.openxmlformats.org/officeDocument/2006/relationships/notesSlide" Target="/ppt/notesSlides/notesSlide17.xml" Id="R403ed18418494f6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3a222fa2d4f4f02" /><Relationship Type="http://schemas.openxmlformats.org/officeDocument/2006/relationships/notesSlide" Target="/ppt/notesSlides/notesSlide18.xml" Id="R3542b8befc2b480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4e13fff70bd4f03" /><Relationship Type="http://schemas.openxmlformats.org/officeDocument/2006/relationships/notesSlide" Target="/ppt/notesSlides/notesSlide19.xml" Id="Rce03c11ceb9b4ef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aecfeb3faaa4edb" /><Relationship Type="http://schemas.openxmlformats.org/officeDocument/2006/relationships/notesSlide" Target="/ppt/notesSlides/notesSlide20.xml" Id="R64a4ed9c53cc422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87986ddd3aa4d2c" /><Relationship Type="http://schemas.openxmlformats.org/officeDocument/2006/relationships/notesSlide" Target="/ppt/notesSlides/notesSlide21.xml" Id="Rd82a6e0ae5984b6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8f6fb64ba34679" /><Relationship Type="http://schemas.openxmlformats.org/officeDocument/2006/relationships/notesSlide" Target="/ppt/notesSlides/notesSlide22.xml" Id="R25e8670aea17446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70c7b8ccfb4107" /><Relationship Type="http://schemas.openxmlformats.org/officeDocument/2006/relationships/notesSlide" Target="/ppt/notesSlides/notesSlide23.xml" Id="R915ce376ee8c4cf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ea0903971045e8" /><Relationship Type="http://schemas.openxmlformats.org/officeDocument/2006/relationships/notesSlide" Target="/ppt/notesSlides/notesSlide24.xml" Id="R8096e78bbe3b4526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8f2e9e624642e7" /><Relationship Type="http://schemas.openxmlformats.org/officeDocument/2006/relationships/notesSlide" Target="/ppt/notesSlides/notesSlide25.xml" Id="R845d057a76134c6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621D47-73A4-4D1C-8FE3-BA37B9B1B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第12回　合板・LVLとボード類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DC5977-06F4-461D-9535-1B1EE59FF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64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4426E4-DA2F-4BE7-9220-FD4ED2B8C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33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第12回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2B89BA-1117-45D9-B857-A95DDD6FD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742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C52A94-5A03-4892-B846-D479E78AF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66875"/>
            <a:ext cx="1047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単板・小片・繊維・ストランドを比較する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DAF071-5EA4-40DE-9D53-17C847E16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62225"/>
            <a:ext cx="1047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要素と配向、接着、密度、使用条件を読む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3D7439-6602-47A9-B04E-EC865AAA3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57575"/>
            <a:ext cx="1047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外観と材料名だけで性能を決めない</a:t>
            </a:r>
          </a:p>
        </p:txBody>
      </p:sp>
    </p:spTree>
    <p:extLst>
      <p:ext uri="{BB962C8B-B14F-4D97-AF65-F5344CB8AC3E}">
        <p14:creationId xmlns:p14="http://schemas.microsoft.com/office/powerpoint/2010/main" val="19253980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B97184-A3A4-4DA4-8719-90EA57A6F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木質材料を比べる二つの軸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C4DBB9-D8DF-42C5-BA6D-AFF3F946C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64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4121C7-298C-4FE5-A2E3-12C2D1C0C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33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第12回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2FB0B8-B34C-44BE-BDF8-109F533C7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742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B554EC-20B3-45EF-AECA-1F7A8BA94E39}"/>
              </a:ext>
            </a:extLst>
          </p:cNvPr>
          <p:cNvGraphicFramePr/>
          <p:nvPr/>
        </p:nvGraphicFramePr>
        <p:xfrm>
          <a:off xmlns:a="http://schemas.openxmlformats.org/drawingml/2006/main" x="838200" y="1952625"/>
          <a:ext xmlns:a="http://schemas.openxmlformats.org/drawingml/2006/main" cx="1047750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714750"/>
                <a:gridCol w="3905250"/>
              </a:tblGrid>
              <a:tr h="809625">
                <a:tc>
                  <a:txBody>
                    <a:bodyPr lIns="95250" tIns="95250" rIns="95250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要素</a:t>
                      </a:r>
                    </a:p>
                  </a:txBody>
                  <a:tcPr marL="91440" marR="91440" marT="45720" marB="45720">
                    <a:solidFill>
                      <a:srgbClr val="1836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例</a:t>
                      </a:r>
                    </a:p>
                  </a:txBody>
                  <a:tcPr marL="91440" marR="91440" marT="45720" marB="45720">
                    <a:solidFill>
                      <a:srgbClr val="1836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配向の見方</a:t>
                      </a:r>
                    </a:p>
                  </a:txBody>
                  <a:tcPr marL="91440" marR="91440" marT="45720" marB="45720">
                    <a:solidFill>
                      <a:srgbClr val="18364F"/>
                    </a:solidFill>
                  </a:tcPr>
                </a:tc>
              </a:tr>
              <a:tr h="809625"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単板</a:t>
                      </a:r>
                    </a:p>
                  </a:txBody>
                  <a:tcPr marL="91440" marR="91440" marT="45720" marB="45720">
                    <a:solidFill>
                      <a:srgbClr val="F1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合板・LVL</a:t>
                      </a:r>
                    </a:p>
                  </a:txBody>
                  <a:tcPr marL="91440" marR="91440" marT="45720" marB="45720">
                    <a:solidFill>
                      <a:srgbClr val="F1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交差／ほぼ平行</a:t>
                      </a:r>
                    </a:p>
                  </a:txBody>
                  <a:tcPr marL="91440" marR="91440" marT="45720" marB="45720">
                    <a:solidFill>
                      <a:srgbClr val="F1F5F7"/>
                    </a:solidFill>
                  </a:tcPr>
                </a:tc>
              </a:tr>
              <a:tr h="809625"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小片・繊維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PB・MDF等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層構成、密度分布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ストランド</a:t>
                      </a:r>
                    </a:p>
                  </a:txBody>
                  <a:tcPr marL="91440" marR="91440" marT="45720" marB="45720">
                    <a:solidFill>
                      <a:srgbClr val="F1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OSB</a:t>
                      </a:r>
                    </a:p>
                  </a:txBody>
                  <a:tcPr marL="91440" marR="91440" marT="45720" marB="45720">
                    <a:solidFill>
                      <a:srgbClr val="F1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層別の配向と主軸</a:t>
                      </a:r>
                    </a:p>
                  </a:txBody>
                  <a:tcPr marL="91440" marR="91440" marT="45720" marB="45720">
                    <a:solidFill>
                      <a:srgbClr val="F1F5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76396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正方形/長方形 9">
            <a:extLst xmlns:a="http://schemas.openxmlformats.org/drawingml/2006/main">
              <a:ext uri="{FF2B5EF4-FFF2-40B4-BE49-F238E27FC236}">
                <a16:creationId xmlns:a16="http://schemas.microsoft.com/office/drawing/2014/main" id="{0CC97E86-A714-440C-A94D-329859189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木質材料の構成と製法</a:t>
            </a:r>
          </a:p>
        </p:txBody>
      </p:sp>
      <p:cxnSp>
        <p:nvCxnSpPr>
          <p:cNvPr id="2" name="直線矢印コネクタ 1">
            <a:extLst xmlns:a="http://schemas.openxmlformats.org/drawingml/2006/main">
              <a:ext uri="{FF2B5EF4-FFF2-40B4-BE49-F238E27FC236}">
                <a16:creationId xmlns:a16="http://schemas.microsoft.com/office/drawing/2014/main" id="{D33A7239-2337-49E9-9757-E0567C9C9D1D}"/>
              </a:ext>
            </a:extLst>
          </p:cNvPr>
          <p:cNvCxnSpPr/>
          <p:nvPr/>
        </p:nvCxnSpPr>
        <p:spPr>
          <a:xfrm xmlns:a="http://schemas.openxmlformats.org/drawingml/2006/main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C33AAE66-8C09-40E6-A660-A4400F080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第12回</a:t>
            </a:r>
          </a:p>
        </p:txBody>
      </p:sp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985C17C6-F455-46CC-BD4F-05D350F33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5" name="正方形/長方形 4">
            <a:extLst xmlns:a="http://schemas.openxmlformats.org/drawingml/2006/main">
              <a:ext uri="{FF2B5EF4-FFF2-40B4-BE49-F238E27FC236}">
                <a16:creationId xmlns:a16="http://schemas.microsoft.com/office/drawing/2014/main" id="{912B5177-1565-485C-9D01-360504AC9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単板、ひき板、小片、繊維など、原料の形を変えて再構成する</a:t>
            </a: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6BFEDFDA-F820-42C1-A24A-12FE459C7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節や寸法の制約を調整し、大きさ・形・方向別性能を設計する</a:t>
            </a:r>
          </a:p>
        </p:txBody>
      </p:sp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5092D855-2144-4E14-97C1-80509BE62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製造は原料調整、乾燥、配向・積層、接着、圧締・硬化などを含む</a:t>
            </a:r>
          </a:p>
        </p:txBody>
      </p:sp>
      <p:sp>
        <p:nvSpPr>
          <p:cNvPr id="8" name="正方形/長方形 7">
            <a:extLst xmlns:a="http://schemas.openxmlformats.org/drawingml/2006/main">
              <a:ext uri="{FF2B5EF4-FFF2-40B4-BE49-F238E27FC236}">
                <a16:creationId xmlns:a16="http://schemas.microsoft.com/office/drawing/2014/main" id="{0B67E117-59DF-4936-8FE4-124DA6EF4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接着品質と水分状態も、完成した材料の性能に関わる</a:t>
            </a:r>
          </a:p>
        </p:txBody>
      </p:sp>
      <p:sp>
        <p:nvSpPr>
          <p:cNvPr id="9" name="正方形/長方形 8">
            <a:extLst xmlns:a="http://schemas.openxmlformats.org/drawingml/2006/main">
              <a:ext uri="{FF2B5EF4-FFF2-40B4-BE49-F238E27FC236}">
                <a16:creationId xmlns:a16="http://schemas.microsoft.com/office/drawing/2014/main" id="{062FE36F-A386-42FE-B74D-5F89F1575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無垢材との比較では、同じ用途と使用期間にそろえる</a:t>
            </a:r>
          </a:p>
        </p:txBody>
      </p:sp>
    </p:spTree>
    <p:extLst>
      <p:ext uri="{BB962C8B-B14F-4D97-AF65-F5344CB8AC3E}">
        <p14:creationId xmlns:p14="http://schemas.microsoft.com/office/powerpoint/2010/main" val="1677352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正方形/長方形 9">
            <a:extLst xmlns:a="http://schemas.openxmlformats.org/drawingml/2006/main">
              <a:ext uri="{FF2B5EF4-FFF2-40B4-BE49-F238E27FC236}">
                <a16:creationId xmlns:a16="http://schemas.microsoft.com/office/drawing/2014/main" id="{816CCD1F-59D7-45B4-9A00-4FB4886D8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単板の製造と合板</a:t>
            </a:r>
          </a:p>
        </p:txBody>
      </p:sp>
      <p:cxnSp>
        <p:nvCxnSpPr>
          <p:cNvPr id="2" name="直線矢印コネクタ 1">
            <a:extLst xmlns:a="http://schemas.openxmlformats.org/drawingml/2006/main">
              <a:ext uri="{FF2B5EF4-FFF2-40B4-BE49-F238E27FC236}">
                <a16:creationId xmlns:a16="http://schemas.microsoft.com/office/drawing/2014/main" id="{43A00D99-9EA3-4B67-95C6-3D8BD7E94FC4}"/>
              </a:ext>
            </a:extLst>
          </p:cNvPr>
          <p:cNvCxnSpPr/>
          <p:nvPr/>
        </p:nvCxnSpPr>
        <p:spPr>
          <a:xfrm xmlns:a="http://schemas.openxmlformats.org/drawingml/2006/main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FA11695E-519C-4CAF-A4F9-9E6630225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第12回</a:t>
            </a:r>
          </a:p>
        </p:txBody>
      </p:sp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D03E234F-1F1D-415C-BE7B-28C935676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5" name="正方形/長方形 4">
            <a:extLst xmlns:a="http://schemas.openxmlformats.org/drawingml/2006/main">
              <a:ext uri="{FF2B5EF4-FFF2-40B4-BE49-F238E27FC236}">
                <a16:creationId xmlns:a16="http://schemas.microsoft.com/office/drawing/2014/main" id="{89FBBA60-0512-4F9A-9A9D-DBADC8F95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ロータリー切削は丸太を回して連続的な単板を得る方法</a:t>
            </a: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02E11022-BAB4-4B54-A1FC-37370B68A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スライスは刃で薄く切り出し、化粧用途などにも用いる</a:t>
            </a:r>
          </a:p>
        </p:txBody>
      </p:sp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708C29F5-92A0-46BA-B0F2-4D1CF2C68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合板は、隣接単板の繊維方向を通常ほぼ直交させて積層する</a:t>
            </a:r>
          </a:p>
        </p:txBody>
      </p:sp>
      <p:sp>
        <p:nvSpPr>
          <p:cNvPr id="8" name="正方形/長方形 7">
            <a:extLst xmlns:a="http://schemas.openxmlformats.org/drawingml/2006/main">
              <a:ext uri="{FF2B5EF4-FFF2-40B4-BE49-F238E27FC236}">
                <a16:creationId xmlns:a16="http://schemas.microsoft.com/office/drawing/2014/main" id="{42624DFE-5DD9-4B78-9152-951C412BD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対称な層構成は、反りなどの寸法安定性を考えるうえで重要</a:t>
            </a:r>
          </a:p>
        </p:txBody>
      </p:sp>
      <p:sp>
        <p:nvSpPr>
          <p:cNvPr id="9" name="正方形/長方形 8">
            <a:extLst xmlns:a="http://schemas.openxmlformats.org/drawingml/2006/main">
              <a:ext uri="{FF2B5EF4-FFF2-40B4-BE49-F238E27FC236}">
                <a16:creationId xmlns:a16="http://schemas.microsoft.com/office/drawing/2014/main" id="{04F876C5-6906-4D98-B305-AA8457444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表板の方向、単板の厚さ、層数で面内・面外の性能が変わる</a:t>
            </a:r>
          </a:p>
        </p:txBody>
      </p:sp>
    </p:spTree>
    <p:extLst>
      <p:ext uri="{BB962C8B-B14F-4D97-AF65-F5344CB8AC3E}">
        <p14:creationId xmlns:p14="http://schemas.microsoft.com/office/powerpoint/2010/main" val="19857480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正方形/長方形 48">
            <a:extLst xmlns:a="http://schemas.openxmlformats.org/drawingml/2006/main">
              <a:ext uri="{FF2B5EF4-FFF2-40B4-BE49-F238E27FC236}">
                <a16:creationId xmlns:a16="http://schemas.microsoft.com/office/drawing/2014/main" id="{483F075B-716F-44AA-AF3F-113A4D816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合板の交差積層</a:t>
            </a:r>
          </a:p>
        </p:txBody>
      </p:sp>
      <p:cxnSp>
        <p:nvCxnSpPr>
          <p:cNvPr id="2" name="直線矢印コネクタ 1">
            <a:extLst xmlns:a="http://schemas.openxmlformats.org/drawingml/2006/main">
              <a:ext uri="{FF2B5EF4-FFF2-40B4-BE49-F238E27FC236}">
                <a16:creationId xmlns:a16="http://schemas.microsoft.com/office/drawing/2014/main" id="{A1B64A72-6B2E-45C2-BC12-F19EE2DF8209}"/>
              </a:ext>
            </a:extLst>
          </p:cNvPr>
          <p:cNvCxnSpPr/>
          <p:nvPr/>
        </p:nvCxnSpPr>
        <p:spPr>
          <a:xfrm xmlns:a="http://schemas.openxmlformats.org/drawingml/2006/main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E0B5F389-B9C3-4482-B90E-B8353B84B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第12回</a:t>
            </a:r>
          </a:p>
        </p:txBody>
      </p:sp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0BF3E24C-F475-419A-8DB0-214AAE268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5" name="正方形/長方形 4">
            <a:extLst xmlns:a="http://schemas.openxmlformats.org/drawingml/2006/main">
              <a:ext uri="{FF2B5EF4-FFF2-40B4-BE49-F238E27FC236}">
                <a16:creationId xmlns:a16="http://schemas.microsoft.com/office/drawing/2014/main" id="{276A6369-FE0A-487A-BDEB-8D28F29F5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95500"/>
            <a:ext cx="50958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4"/>
          </a:solidFill>
          <a:ln xmlns:a="http://schemas.openxmlformats.org/drawingml/2006/main" w="14288">
            <a:solidFill>
              <a:srgbClr val="C8D3DD"/>
            </a:solidFill>
          </a:ln>
        </p:spPr>
      </p:sp>
      <p:cxnSp>
        <p:nvCxnSpPr>
          <p:cNvPr id="6" name="直線矢印コネクタ 5">
            <a:extLst xmlns:a="http://schemas.openxmlformats.org/drawingml/2006/main">
              <a:ext uri="{FF2B5EF4-FFF2-40B4-BE49-F238E27FC236}">
                <a16:creationId xmlns:a16="http://schemas.microsoft.com/office/drawing/2014/main" id="{5D99E68A-E35D-4AAF-A812-B224A23C6CCF}"/>
              </a:ext>
            </a:extLst>
          </p:cNvPr>
          <p:cNvCxnSpPr/>
          <p:nvPr/>
        </p:nvCxnSpPr>
        <p:spPr>
          <a:xfrm xmlns:a="http://schemas.openxmlformats.org/drawingml/2006/main">
            <a:off x="1190625" y="2171700"/>
            <a:ext cx="4714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B55D09"/>
            </a:solidFill>
          </a:ln>
        </p:spPr>
      </p:cxnSp>
      <p:cxnSp>
        <p:nvCxnSpPr>
          <p:cNvPr id="7" name="直線矢印コネクタ 6">
            <a:extLst xmlns:a="http://schemas.openxmlformats.org/drawingml/2006/main">
              <a:ext uri="{FF2B5EF4-FFF2-40B4-BE49-F238E27FC236}">
                <a16:creationId xmlns:a16="http://schemas.microsoft.com/office/drawing/2014/main" id="{679F67B7-3362-41A2-B302-D65C8BCF285A}"/>
              </a:ext>
            </a:extLst>
          </p:cNvPr>
          <p:cNvCxnSpPr/>
          <p:nvPr/>
        </p:nvCxnSpPr>
        <p:spPr>
          <a:xfrm xmlns:a="http://schemas.openxmlformats.org/drawingml/2006/main">
            <a:off x="1190625" y="2257425"/>
            <a:ext cx="4714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B55D09"/>
            </a:solidFill>
          </a:ln>
        </p:spPr>
      </p:cxnSp>
      <p:cxnSp>
        <p:nvCxnSpPr>
          <p:cNvPr id="8" name="直線矢印コネクタ 7">
            <a:extLst xmlns:a="http://schemas.openxmlformats.org/drawingml/2006/main">
              <a:ext uri="{FF2B5EF4-FFF2-40B4-BE49-F238E27FC236}">
                <a16:creationId xmlns:a16="http://schemas.microsoft.com/office/drawing/2014/main" id="{EA6F1D81-3067-4B46-B7B0-41D8EB8CE3A9}"/>
              </a:ext>
            </a:extLst>
          </p:cNvPr>
          <p:cNvCxnSpPr/>
          <p:nvPr/>
        </p:nvCxnSpPr>
        <p:spPr>
          <a:xfrm xmlns:a="http://schemas.openxmlformats.org/drawingml/2006/main">
            <a:off x="1190625" y="2343150"/>
            <a:ext cx="4714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B55D09"/>
            </a:solidFill>
          </a:ln>
        </p:spPr>
      </p:cxnSp>
      <p:sp>
        <p:nvSpPr>
          <p:cNvPr id="9" name="正方形/長方形 8">
            <a:extLst xmlns:a="http://schemas.openxmlformats.org/drawingml/2006/main">
              <a:ext uri="{FF2B5EF4-FFF2-40B4-BE49-F238E27FC236}">
                <a16:creationId xmlns:a16="http://schemas.microsoft.com/office/drawing/2014/main" id="{A9A1FEBC-6BBA-4CF9-A9D0-00F602E73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95550"/>
            <a:ext cx="50958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6"/>
          </a:solidFill>
          <a:ln xmlns:a="http://schemas.openxmlformats.org/drawingml/2006/main" w="14288">
            <a:solidFill>
              <a:srgbClr val="C8D3DD"/>
            </a:solidFill>
          </a:ln>
        </p:spPr>
      </p:sp>
      <p:cxnSp>
        <p:nvCxnSpPr>
          <p:cNvPr id="10" name="直線矢印コネクタ 9">
            <a:extLst xmlns:a="http://schemas.openxmlformats.org/drawingml/2006/main">
              <a:ext uri="{FF2B5EF4-FFF2-40B4-BE49-F238E27FC236}">
                <a16:creationId xmlns:a16="http://schemas.microsoft.com/office/drawing/2014/main" id="{14071D2D-456A-4A96-9B3C-931A592401AB}"/>
              </a:ext>
            </a:extLst>
          </p:cNvPr>
          <p:cNvCxnSpPr/>
          <p:nvPr/>
        </p:nvCxnSpPr>
        <p:spPr>
          <a:xfrm xmlns:a="http://schemas.openxmlformats.org/drawingml/2006/main">
            <a:off x="1209675" y="2562225"/>
            <a:ext cx="0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C98"/>
            </a:solidFill>
          </a:ln>
        </p:spPr>
      </p:cxnSp>
      <p:cxnSp>
        <p:nvCxnSpPr>
          <p:cNvPr id="11" name="直線矢印コネクタ 10">
            <a:extLst xmlns:a="http://schemas.openxmlformats.org/drawingml/2006/main">
              <a:ext uri="{FF2B5EF4-FFF2-40B4-BE49-F238E27FC236}">
                <a16:creationId xmlns:a16="http://schemas.microsoft.com/office/drawing/2014/main" id="{DC0944ED-9F1E-4E0A-8882-57906692BE30}"/>
              </a:ext>
            </a:extLst>
          </p:cNvPr>
          <p:cNvCxnSpPr/>
          <p:nvPr/>
        </p:nvCxnSpPr>
        <p:spPr>
          <a:xfrm xmlns:a="http://schemas.openxmlformats.org/drawingml/2006/main">
            <a:off x="1602581" y="2562225"/>
            <a:ext cx="0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C98"/>
            </a:solidFill>
          </a:ln>
        </p:spPr>
      </p:cxnSp>
      <p:cxnSp>
        <p:nvCxnSpPr>
          <p:cNvPr id="12" name="直線矢印コネクタ 11">
            <a:extLst xmlns:a="http://schemas.openxmlformats.org/drawingml/2006/main">
              <a:ext uri="{FF2B5EF4-FFF2-40B4-BE49-F238E27FC236}">
                <a16:creationId xmlns:a16="http://schemas.microsoft.com/office/drawing/2014/main" id="{4938E02A-0895-4F57-A7CC-6143DBCD1DFA}"/>
              </a:ext>
            </a:extLst>
          </p:cNvPr>
          <p:cNvCxnSpPr/>
          <p:nvPr/>
        </p:nvCxnSpPr>
        <p:spPr>
          <a:xfrm xmlns:a="http://schemas.openxmlformats.org/drawingml/2006/main">
            <a:off x="1995488" y="2562225"/>
            <a:ext cx="0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C98"/>
            </a:solidFill>
          </a:ln>
        </p:spPr>
      </p:cxnSp>
      <p:cxnSp>
        <p:nvCxnSpPr>
          <p:cNvPr id="13" name="直線矢印コネクタ 12">
            <a:extLst xmlns:a="http://schemas.openxmlformats.org/drawingml/2006/main">
              <a:ext uri="{FF2B5EF4-FFF2-40B4-BE49-F238E27FC236}">
                <a16:creationId xmlns:a16="http://schemas.microsoft.com/office/drawing/2014/main" id="{D43E6F41-47D7-474A-A2C4-E5CF336819F1}"/>
              </a:ext>
            </a:extLst>
          </p:cNvPr>
          <p:cNvCxnSpPr/>
          <p:nvPr/>
        </p:nvCxnSpPr>
        <p:spPr>
          <a:xfrm xmlns:a="http://schemas.openxmlformats.org/drawingml/2006/main">
            <a:off x="2388394" y="2562225"/>
            <a:ext cx="0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C98"/>
            </a:solidFill>
          </a:ln>
        </p:spPr>
      </p:cxnSp>
      <p:cxnSp>
        <p:nvCxnSpPr>
          <p:cNvPr id="14" name="直線矢印コネクタ 13">
            <a:extLst xmlns:a="http://schemas.openxmlformats.org/drawingml/2006/main">
              <a:ext uri="{FF2B5EF4-FFF2-40B4-BE49-F238E27FC236}">
                <a16:creationId xmlns:a16="http://schemas.microsoft.com/office/drawing/2014/main" id="{E874FEF1-F01B-4C2D-9A81-F7970399CE18}"/>
              </a:ext>
            </a:extLst>
          </p:cNvPr>
          <p:cNvCxnSpPr/>
          <p:nvPr/>
        </p:nvCxnSpPr>
        <p:spPr>
          <a:xfrm xmlns:a="http://schemas.openxmlformats.org/drawingml/2006/main">
            <a:off x="2781300" y="2562225"/>
            <a:ext cx="0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C98"/>
            </a:solidFill>
          </a:ln>
        </p:spPr>
      </p:cxnSp>
      <p:cxnSp>
        <p:nvCxnSpPr>
          <p:cNvPr id="15" name="直線矢印コネクタ 14">
            <a:extLst xmlns:a="http://schemas.openxmlformats.org/drawingml/2006/main">
              <a:ext uri="{FF2B5EF4-FFF2-40B4-BE49-F238E27FC236}">
                <a16:creationId xmlns:a16="http://schemas.microsoft.com/office/drawing/2014/main" id="{294AE800-D664-48E4-BE22-A62865714769}"/>
              </a:ext>
            </a:extLst>
          </p:cNvPr>
          <p:cNvCxnSpPr/>
          <p:nvPr/>
        </p:nvCxnSpPr>
        <p:spPr>
          <a:xfrm xmlns:a="http://schemas.openxmlformats.org/drawingml/2006/main">
            <a:off x="3174206" y="2562225"/>
            <a:ext cx="0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C98"/>
            </a:solidFill>
          </a:ln>
        </p:spPr>
      </p:cxnSp>
      <p:cxnSp>
        <p:nvCxnSpPr>
          <p:cNvPr id="16" name="直線矢印コネクタ 15">
            <a:extLst xmlns:a="http://schemas.openxmlformats.org/drawingml/2006/main">
              <a:ext uri="{FF2B5EF4-FFF2-40B4-BE49-F238E27FC236}">
                <a16:creationId xmlns:a16="http://schemas.microsoft.com/office/drawing/2014/main" id="{37FCF617-68BB-4A8C-B243-6550FE3E1470}"/>
              </a:ext>
            </a:extLst>
          </p:cNvPr>
          <p:cNvCxnSpPr/>
          <p:nvPr/>
        </p:nvCxnSpPr>
        <p:spPr>
          <a:xfrm xmlns:a="http://schemas.openxmlformats.org/drawingml/2006/main">
            <a:off x="3567113" y="2562225"/>
            <a:ext cx="0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C98"/>
            </a:solidFill>
          </a:ln>
        </p:spPr>
      </p:cxnSp>
      <p:cxnSp>
        <p:nvCxnSpPr>
          <p:cNvPr id="17" name="直線矢印コネクタ 16">
            <a:extLst xmlns:a="http://schemas.openxmlformats.org/drawingml/2006/main">
              <a:ext uri="{FF2B5EF4-FFF2-40B4-BE49-F238E27FC236}">
                <a16:creationId xmlns:a16="http://schemas.microsoft.com/office/drawing/2014/main" id="{63C444EA-3D86-430F-8CFD-281DFD9AE430}"/>
              </a:ext>
            </a:extLst>
          </p:cNvPr>
          <p:cNvCxnSpPr/>
          <p:nvPr/>
        </p:nvCxnSpPr>
        <p:spPr>
          <a:xfrm xmlns:a="http://schemas.openxmlformats.org/drawingml/2006/main">
            <a:off x="3960019" y="2562225"/>
            <a:ext cx="0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C98"/>
            </a:solidFill>
          </a:ln>
        </p:spPr>
      </p:cxnSp>
      <p:cxnSp>
        <p:nvCxnSpPr>
          <p:cNvPr id="18" name="直線矢印コネクタ 17">
            <a:extLst xmlns:a="http://schemas.openxmlformats.org/drawingml/2006/main">
              <a:ext uri="{FF2B5EF4-FFF2-40B4-BE49-F238E27FC236}">
                <a16:creationId xmlns:a16="http://schemas.microsoft.com/office/drawing/2014/main" id="{BDDB327C-38B7-4F09-B0A6-4A91BCD7B8BB}"/>
              </a:ext>
            </a:extLst>
          </p:cNvPr>
          <p:cNvCxnSpPr/>
          <p:nvPr/>
        </p:nvCxnSpPr>
        <p:spPr>
          <a:xfrm xmlns:a="http://schemas.openxmlformats.org/drawingml/2006/main">
            <a:off x="4352925" y="2562225"/>
            <a:ext cx="0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C98"/>
            </a:solidFill>
          </a:ln>
        </p:spPr>
      </p:cxnSp>
      <p:cxnSp>
        <p:nvCxnSpPr>
          <p:cNvPr id="19" name="直線矢印コネクタ 18">
            <a:extLst xmlns:a="http://schemas.openxmlformats.org/drawingml/2006/main">
              <a:ext uri="{FF2B5EF4-FFF2-40B4-BE49-F238E27FC236}">
                <a16:creationId xmlns:a16="http://schemas.microsoft.com/office/drawing/2014/main" id="{9BC71405-517E-4E29-977A-A7A592CB96CA}"/>
              </a:ext>
            </a:extLst>
          </p:cNvPr>
          <p:cNvCxnSpPr/>
          <p:nvPr/>
        </p:nvCxnSpPr>
        <p:spPr>
          <a:xfrm xmlns:a="http://schemas.openxmlformats.org/drawingml/2006/main">
            <a:off x="4745831" y="2562225"/>
            <a:ext cx="0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C98"/>
            </a:solidFill>
          </a:ln>
        </p:spPr>
      </p:cxnSp>
      <p:cxnSp>
        <p:nvCxnSpPr>
          <p:cNvPr id="20" name="直線矢印コネクタ 19">
            <a:extLst xmlns:a="http://schemas.openxmlformats.org/drawingml/2006/main">
              <a:ext uri="{FF2B5EF4-FFF2-40B4-BE49-F238E27FC236}">
                <a16:creationId xmlns:a16="http://schemas.microsoft.com/office/drawing/2014/main" id="{6BBDBC84-E1AC-4E9A-A6BF-73E44C40417D}"/>
              </a:ext>
            </a:extLst>
          </p:cNvPr>
          <p:cNvCxnSpPr/>
          <p:nvPr/>
        </p:nvCxnSpPr>
        <p:spPr>
          <a:xfrm xmlns:a="http://schemas.openxmlformats.org/drawingml/2006/main">
            <a:off x="5138738" y="2562225"/>
            <a:ext cx="0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C98"/>
            </a:solidFill>
          </a:ln>
        </p:spPr>
      </p:cxnSp>
      <p:cxnSp>
        <p:nvCxnSpPr>
          <p:cNvPr id="21" name="直線矢印コネクタ 20">
            <a:extLst xmlns:a="http://schemas.openxmlformats.org/drawingml/2006/main">
              <a:ext uri="{FF2B5EF4-FFF2-40B4-BE49-F238E27FC236}">
                <a16:creationId xmlns:a16="http://schemas.microsoft.com/office/drawing/2014/main" id="{FD12AE1D-9E8B-4342-B1E8-9D03D6255FB4}"/>
              </a:ext>
            </a:extLst>
          </p:cNvPr>
          <p:cNvCxnSpPr/>
          <p:nvPr/>
        </p:nvCxnSpPr>
        <p:spPr>
          <a:xfrm xmlns:a="http://schemas.openxmlformats.org/drawingml/2006/main">
            <a:off x="5531644" y="2562225"/>
            <a:ext cx="0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C98"/>
            </a:solidFill>
          </a:ln>
        </p:spPr>
      </p:cxnSp>
      <p:sp>
        <p:nvSpPr>
          <p:cNvPr id="22" name="正方形/長方形 21">
            <a:extLst xmlns:a="http://schemas.openxmlformats.org/drawingml/2006/main">
              <a:ext uri="{FF2B5EF4-FFF2-40B4-BE49-F238E27FC236}">
                <a16:creationId xmlns:a16="http://schemas.microsoft.com/office/drawing/2014/main" id="{1A9BC646-A37F-4987-95EC-BA857369E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95600"/>
            <a:ext cx="50958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4"/>
          </a:solidFill>
          <a:ln xmlns:a="http://schemas.openxmlformats.org/drawingml/2006/main" w="14288">
            <a:solidFill>
              <a:srgbClr val="C8D3DD"/>
            </a:solidFill>
          </a:ln>
        </p:spPr>
      </p:sp>
      <p:cxnSp>
        <p:nvCxnSpPr>
          <p:cNvPr id="23" name="直線矢印コネクタ 22">
            <a:extLst xmlns:a="http://schemas.openxmlformats.org/drawingml/2006/main">
              <a:ext uri="{FF2B5EF4-FFF2-40B4-BE49-F238E27FC236}">
                <a16:creationId xmlns:a16="http://schemas.microsoft.com/office/drawing/2014/main" id="{3489B2F8-B350-4AEF-9E66-9A9E4158EF66}"/>
              </a:ext>
            </a:extLst>
          </p:cNvPr>
          <p:cNvCxnSpPr/>
          <p:nvPr/>
        </p:nvCxnSpPr>
        <p:spPr>
          <a:xfrm xmlns:a="http://schemas.openxmlformats.org/drawingml/2006/main">
            <a:off x="1190625" y="2971800"/>
            <a:ext cx="4714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B55D09"/>
            </a:solidFill>
          </a:ln>
        </p:spPr>
      </p:cxnSp>
      <p:cxnSp>
        <p:nvCxnSpPr>
          <p:cNvPr id="24" name="直線矢印コネクタ 23">
            <a:extLst xmlns:a="http://schemas.openxmlformats.org/drawingml/2006/main">
              <a:ext uri="{FF2B5EF4-FFF2-40B4-BE49-F238E27FC236}">
                <a16:creationId xmlns:a16="http://schemas.microsoft.com/office/drawing/2014/main" id="{01687509-4BC1-40A3-B7B3-A72050016D89}"/>
              </a:ext>
            </a:extLst>
          </p:cNvPr>
          <p:cNvCxnSpPr/>
          <p:nvPr/>
        </p:nvCxnSpPr>
        <p:spPr>
          <a:xfrm xmlns:a="http://schemas.openxmlformats.org/drawingml/2006/main">
            <a:off x="1190625" y="3057525"/>
            <a:ext cx="4714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B55D09"/>
            </a:solidFill>
          </a:ln>
        </p:spPr>
      </p:cxnSp>
      <p:cxnSp>
        <p:nvCxnSpPr>
          <p:cNvPr id="25" name="直線矢印コネクタ 24">
            <a:extLst xmlns:a="http://schemas.openxmlformats.org/drawingml/2006/main">
              <a:ext uri="{FF2B5EF4-FFF2-40B4-BE49-F238E27FC236}">
                <a16:creationId xmlns:a16="http://schemas.microsoft.com/office/drawing/2014/main" id="{BC501DC4-E959-4ACC-B66F-86CF4187FF51}"/>
              </a:ext>
            </a:extLst>
          </p:cNvPr>
          <p:cNvCxnSpPr/>
          <p:nvPr/>
        </p:nvCxnSpPr>
        <p:spPr>
          <a:xfrm xmlns:a="http://schemas.openxmlformats.org/drawingml/2006/main">
            <a:off x="1190625" y="3143250"/>
            <a:ext cx="4714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B55D09"/>
            </a:solidFill>
          </a:ln>
        </p:spPr>
      </p:cxnSp>
      <p:sp>
        <p:nvSpPr>
          <p:cNvPr id="26" name="正方形/長方形 25">
            <a:extLst xmlns:a="http://schemas.openxmlformats.org/drawingml/2006/main">
              <a:ext uri="{FF2B5EF4-FFF2-40B4-BE49-F238E27FC236}">
                <a16:creationId xmlns:a16="http://schemas.microsoft.com/office/drawing/2014/main" id="{CEF82701-6A30-4112-831C-CC55EAC66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95650"/>
            <a:ext cx="50958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6"/>
          </a:solidFill>
          <a:ln xmlns:a="http://schemas.openxmlformats.org/drawingml/2006/main" w="14288">
            <a:solidFill>
              <a:srgbClr val="C8D3DD"/>
            </a:solidFill>
          </a:ln>
        </p:spPr>
      </p:sp>
      <p:cxnSp>
        <p:nvCxnSpPr>
          <p:cNvPr id="27" name="直線矢印コネクタ 26">
            <a:extLst xmlns:a="http://schemas.openxmlformats.org/drawingml/2006/main">
              <a:ext uri="{FF2B5EF4-FFF2-40B4-BE49-F238E27FC236}">
                <a16:creationId xmlns:a16="http://schemas.microsoft.com/office/drawing/2014/main" id="{74F03B50-DA10-446E-83B6-942B1B3521DF}"/>
              </a:ext>
            </a:extLst>
          </p:cNvPr>
          <p:cNvCxnSpPr/>
          <p:nvPr/>
        </p:nvCxnSpPr>
        <p:spPr>
          <a:xfrm xmlns:a="http://schemas.openxmlformats.org/drawingml/2006/main">
            <a:off x="1209675" y="3362325"/>
            <a:ext cx="0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C98"/>
            </a:solidFill>
          </a:ln>
        </p:spPr>
      </p:cxnSp>
      <p:cxnSp>
        <p:nvCxnSpPr>
          <p:cNvPr id="28" name="直線矢印コネクタ 27">
            <a:extLst xmlns:a="http://schemas.openxmlformats.org/drawingml/2006/main">
              <a:ext uri="{FF2B5EF4-FFF2-40B4-BE49-F238E27FC236}">
                <a16:creationId xmlns:a16="http://schemas.microsoft.com/office/drawing/2014/main" id="{274332FB-CBF8-49D9-98B4-D7C68BD07E57}"/>
              </a:ext>
            </a:extLst>
          </p:cNvPr>
          <p:cNvCxnSpPr/>
          <p:nvPr/>
        </p:nvCxnSpPr>
        <p:spPr>
          <a:xfrm xmlns:a="http://schemas.openxmlformats.org/drawingml/2006/main">
            <a:off x="1602581" y="3362325"/>
            <a:ext cx="0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C98"/>
            </a:solidFill>
          </a:ln>
        </p:spPr>
      </p:cxnSp>
      <p:cxnSp>
        <p:nvCxnSpPr>
          <p:cNvPr id="29" name="直線矢印コネクタ 28">
            <a:extLst xmlns:a="http://schemas.openxmlformats.org/drawingml/2006/main">
              <a:ext uri="{FF2B5EF4-FFF2-40B4-BE49-F238E27FC236}">
                <a16:creationId xmlns:a16="http://schemas.microsoft.com/office/drawing/2014/main" id="{C5AEAC1A-6D86-49C1-9075-BF6981609D61}"/>
              </a:ext>
            </a:extLst>
          </p:cNvPr>
          <p:cNvCxnSpPr/>
          <p:nvPr/>
        </p:nvCxnSpPr>
        <p:spPr>
          <a:xfrm xmlns:a="http://schemas.openxmlformats.org/drawingml/2006/main">
            <a:off x="1995488" y="3362325"/>
            <a:ext cx="0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C98"/>
            </a:solidFill>
          </a:ln>
        </p:spPr>
      </p:cxnSp>
      <p:cxnSp>
        <p:nvCxnSpPr>
          <p:cNvPr id="30" name="直線矢印コネクタ 29">
            <a:extLst xmlns:a="http://schemas.openxmlformats.org/drawingml/2006/main">
              <a:ext uri="{FF2B5EF4-FFF2-40B4-BE49-F238E27FC236}">
                <a16:creationId xmlns:a16="http://schemas.microsoft.com/office/drawing/2014/main" id="{AA4ED4EF-9DCD-49EC-BFB4-931820A5E9E6}"/>
              </a:ext>
            </a:extLst>
          </p:cNvPr>
          <p:cNvCxnSpPr/>
          <p:nvPr/>
        </p:nvCxnSpPr>
        <p:spPr>
          <a:xfrm xmlns:a="http://schemas.openxmlformats.org/drawingml/2006/main">
            <a:off x="2388394" y="3362325"/>
            <a:ext cx="0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C98"/>
            </a:solidFill>
          </a:ln>
        </p:spPr>
      </p:cxnSp>
      <p:cxnSp>
        <p:nvCxnSpPr>
          <p:cNvPr id="31" name="直線矢印コネクタ 30">
            <a:extLst xmlns:a="http://schemas.openxmlformats.org/drawingml/2006/main">
              <a:ext uri="{FF2B5EF4-FFF2-40B4-BE49-F238E27FC236}">
                <a16:creationId xmlns:a16="http://schemas.microsoft.com/office/drawing/2014/main" id="{F34ECA9C-A538-412B-834E-1FAA9F00A655}"/>
              </a:ext>
            </a:extLst>
          </p:cNvPr>
          <p:cNvCxnSpPr/>
          <p:nvPr/>
        </p:nvCxnSpPr>
        <p:spPr>
          <a:xfrm xmlns:a="http://schemas.openxmlformats.org/drawingml/2006/main">
            <a:off x="2781300" y="3362325"/>
            <a:ext cx="0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C98"/>
            </a:solidFill>
          </a:ln>
        </p:spPr>
      </p:cxnSp>
      <p:cxnSp>
        <p:nvCxnSpPr>
          <p:cNvPr id="32" name="直線矢印コネクタ 31">
            <a:extLst xmlns:a="http://schemas.openxmlformats.org/drawingml/2006/main">
              <a:ext uri="{FF2B5EF4-FFF2-40B4-BE49-F238E27FC236}">
                <a16:creationId xmlns:a16="http://schemas.microsoft.com/office/drawing/2014/main" id="{B722A3A6-11EA-43B2-A5A1-D441D98EDC88}"/>
              </a:ext>
            </a:extLst>
          </p:cNvPr>
          <p:cNvCxnSpPr/>
          <p:nvPr/>
        </p:nvCxnSpPr>
        <p:spPr>
          <a:xfrm xmlns:a="http://schemas.openxmlformats.org/drawingml/2006/main">
            <a:off x="3174206" y="3362325"/>
            <a:ext cx="0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C98"/>
            </a:solidFill>
          </a:ln>
        </p:spPr>
      </p:cxnSp>
      <p:cxnSp>
        <p:nvCxnSpPr>
          <p:cNvPr id="33" name="直線矢印コネクタ 32">
            <a:extLst xmlns:a="http://schemas.openxmlformats.org/drawingml/2006/main">
              <a:ext uri="{FF2B5EF4-FFF2-40B4-BE49-F238E27FC236}">
                <a16:creationId xmlns:a16="http://schemas.microsoft.com/office/drawing/2014/main" id="{710DF986-21C7-4EC7-A478-90A7C07BFF5E}"/>
              </a:ext>
            </a:extLst>
          </p:cNvPr>
          <p:cNvCxnSpPr/>
          <p:nvPr/>
        </p:nvCxnSpPr>
        <p:spPr>
          <a:xfrm xmlns:a="http://schemas.openxmlformats.org/drawingml/2006/main">
            <a:off x="3567113" y="3362325"/>
            <a:ext cx="0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C98"/>
            </a:solidFill>
          </a:ln>
        </p:spPr>
      </p:cxnSp>
      <p:cxnSp>
        <p:nvCxnSpPr>
          <p:cNvPr id="34" name="直線矢印コネクタ 33">
            <a:extLst xmlns:a="http://schemas.openxmlformats.org/drawingml/2006/main">
              <a:ext uri="{FF2B5EF4-FFF2-40B4-BE49-F238E27FC236}">
                <a16:creationId xmlns:a16="http://schemas.microsoft.com/office/drawing/2014/main" id="{56DFF0BF-B24D-4D44-A18F-0BD7B07FB051}"/>
              </a:ext>
            </a:extLst>
          </p:cNvPr>
          <p:cNvCxnSpPr/>
          <p:nvPr/>
        </p:nvCxnSpPr>
        <p:spPr>
          <a:xfrm xmlns:a="http://schemas.openxmlformats.org/drawingml/2006/main">
            <a:off x="3960019" y="3362325"/>
            <a:ext cx="0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C98"/>
            </a:solidFill>
          </a:ln>
        </p:spPr>
      </p:cxnSp>
      <p:cxnSp>
        <p:nvCxnSpPr>
          <p:cNvPr id="35" name="直線矢印コネクタ 34">
            <a:extLst xmlns:a="http://schemas.openxmlformats.org/drawingml/2006/main">
              <a:ext uri="{FF2B5EF4-FFF2-40B4-BE49-F238E27FC236}">
                <a16:creationId xmlns:a16="http://schemas.microsoft.com/office/drawing/2014/main" id="{1E58DA36-DBBE-41BE-9E69-BE3C9EE2DC0F}"/>
              </a:ext>
            </a:extLst>
          </p:cNvPr>
          <p:cNvCxnSpPr/>
          <p:nvPr/>
        </p:nvCxnSpPr>
        <p:spPr>
          <a:xfrm xmlns:a="http://schemas.openxmlformats.org/drawingml/2006/main">
            <a:off x="4352925" y="3362325"/>
            <a:ext cx="0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C98"/>
            </a:solidFill>
          </a:ln>
        </p:spPr>
      </p:cxnSp>
      <p:cxnSp>
        <p:nvCxnSpPr>
          <p:cNvPr id="36" name="直線矢印コネクタ 35">
            <a:extLst xmlns:a="http://schemas.openxmlformats.org/drawingml/2006/main">
              <a:ext uri="{FF2B5EF4-FFF2-40B4-BE49-F238E27FC236}">
                <a16:creationId xmlns:a16="http://schemas.microsoft.com/office/drawing/2014/main" id="{65A7E7DE-80A4-4392-BEE6-25440811616C}"/>
              </a:ext>
            </a:extLst>
          </p:cNvPr>
          <p:cNvCxnSpPr/>
          <p:nvPr/>
        </p:nvCxnSpPr>
        <p:spPr>
          <a:xfrm xmlns:a="http://schemas.openxmlformats.org/drawingml/2006/main">
            <a:off x="4745831" y="3362325"/>
            <a:ext cx="0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C98"/>
            </a:solidFill>
          </a:ln>
        </p:spPr>
      </p:cxnSp>
      <p:cxnSp>
        <p:nvCxnSpPr>
          <p:cNvPr id="37" name="直線矢印コネクタ 36">
            <a:extLst xmlns:a="http://schemas.openxmlformats.org/drawingml/2006/main">
              <a:ext uri="{FF2B5EF4-FFF2-40B4-BE49-F238E27FC236}">
                <a16:creationId xmlns:a16="http://schemas.microsoft.com/office/drawing/2014/main" id="{498F9E59-2A00-400C-B1AC-7439521A067F}"/>
              </a:ext>
            </a:extLst>
          </p:cNvPr>
          <p:cNvCxnSpPr/>
          <p:nvPr/>
        </p:nvCxnSpPr>
        <p:spPr>
          <a:xfrm xmlns:a="http://schemas.openxmlformats.org/drawingml/2006/main">
            <a:off x="5138738" y="3362325"/>
            <a:ext cx="0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C98"/>
            </a:solidFill>
          </a:ln>
        </p:spPr>
      </p:cxnSp>
      <p:cxnSp>
        <p:nvCxnSpPr>
          <p:cNvPr id="38" name="直線矢印コネクタ 37">
            <a:extLst xmlns:a="http://schemas.openxmlformats.org/drawingml/2006/main">
              <a:ext uri="{FF2B5EF4-FFF2-40B4-BE49-F238E27FC236}">
                <a16:creationId xmlns:a16="http://schemas.microsoft.com/office/drawing/2014/main" id="{45D31F93-817B-4748-BA00-70D567E5533C}"/>
              </a:ext>
            </a:extLst>
          </p:cNvPr>
          <p:cNvCxnSpPr/>
          <p:nvPr/>
        </p:nvCxnSpPr>
        <p:spPr>
          <a:xfrm xmlns:a="http://schemas.openxmlformats.org/drawingml/2006/main">
            <a:off x="5531644" y="3362325"/>
            <a:ext cx="0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C98"/>
            </a:solidFill>
          </a:ln>
        </p:spPr>
      </p:cxnSp>
      <p:sp>
        <p:nvSpPr>
          <p:cNvPr id="39" name="正方形/長方形 38">
            <a:extLst xmlns:a="http://schemas.openxmlformats.org/drawingml/2006/main">
              <a:ext uri="{FF2B5EF4-FFF2-40B4-BE49-F238E27FC236}">
                <a16:creationId xmlns:a16="http://schemas.microsoft.com/office/drawing/2014/main" id="{31A5B203-8FCD-456A-9D31-199ADD4C9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95700"/>
            <a:ext cx="50958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4"/>
          </a:solidFill>
          <a:ln xmlns:a="http://schemas.openxmlformats.org/drawingml/2006/main" w="14288">
            <a:solidFill>
              <a:srgbClr val="C8D3DD"/>
            </a:solidFill>
          </a:ln>
        </p:spPr>
      </p:sp>
      <p:cxnSp>
        <p:nvCxnSpPr>
          <p:cNvPr id="40" name="直線矢印コネクタ 39">
            <a:extLst xmlns:a="http://schemas.openxmlformats.org/drawingml/2006/main">
              <a:ext uri="{FF2B5EF4-FFF2-40B4-BE49-F238E27FC236}">
                <a16:creationId xmlns:a16="http://schemas.microsoft.com/office/drawing/2014/main" id="{D799887F-0631-420A-911A-EBFD365E1414}"/>
              </a:ext>
            </a:extLst>
          </p:cNvPr>
          <p:cNvCxnSpPr/>
          <p:nvPr/>
        </p:nvCxnSpPr>
        <p:spPr>
          <a:xfrm xmlns:a="http://schemas.openxmlformats.org/drawingml/2006/main">
            <a:off x="1190625" y="3771900"/>
            <a:ext cx="4714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B55D09"/>
            </a:solidFill>
          </a:ln>
        </p:spPr>
      </p:cxnSp>
      <p:cxnSp>
        <p:nvCxnSpPr>
          <p:cNvPr id="41" name="直線矢印コネクタ 40">
            <a:extLst xmlns:a="http://schemas.openxmlformats.org/drawingml/2006/main">
              <a:ext uri="{FF2B5EF4-FFF2-40B4-BE49-F238E27FC236}">
                <a16:creationId xmlns:a16="http://schemas.microsoft.com/office/drawing/2014/main" id="{043B4220-2291-434B-A6B1-EF1500F75B7B}"/>
              </a:ext>
            </a:extLst>
          </p:cNvPr>
          <p:cNvCxnSpPr/>
          <p:nvPr/>
        </p:nvCxnSpPr>
        <p:spPr>
          <a:xfrm xmlns:a="http://schemas.openxmlformats.org/drawingml/2006/main">
            <a:off x="1190625" y="3857625"/>
            <a:ext cx="4714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B55D09"/>
            </a:solidFill>
          </a:ln>
        </p:spPr>
      </p:cxnSp>
      <p:cxnSp>
        <p:nvCxnSpPr>
          <p:cNvPr id="42" name="直線矢印コネクタ 41">
            <a:extLst xmlns:a="http://schemas.openxmlformats.org/drawingml/2006/main">
              <a:ext uri="{FF2B5EF4-FFF2-40B4-BE49-F238E27FC236}">
                <a16:creationId xmlns:a16="http://schemas.microsoft.com/office/drawing/2014/main" id="{652CDCDF-47CD-4DCD-89BF-FFD302BA32E3}"/>
              </a:ext>
            </a:extLst>
          </p:cNvPr>
          <p:cNvCxnSpPr/>
          <p:nvPr/>
        </p:nvCxnSpPr>
        <p:spPr>
          <a:xfrm xmlns:a="http://schemas.openxmlformats.org/drawingml/2006/main">
            <a:off x="1190625" y="3943350"/>
            <a:ext cx="4714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B55D09"/>
            </a:solidFill>
          </a:ln>
        </p:spPr>
      </p:cxnSp>
      <p:sp>
        <p:nvSpPr>
          <p:cNvPr id="43" name="正方形/長方形 42">
            <a:extLst xmlns:a="http://schemas.openxmlformats.org/drawingml/2006/main">
              <a:ext uri="{FF2B5EF4-FFF2-40B4-BE49-F238E27FC236}">
                <a16:creationId xmlns:a16="http://schemas.microsoft.com/office/drawing/2014/main" id="{8F429E6F-2BFE-4A0D-B7A7-3D052FBC4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29100"/>
            <a:ext cx="5095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合板</a:t>
            </a:r>
          </a:p>
        </p:txBody>
      </p:sp>
      <p:sp>
        <p:nvSpPr>
          <p:cNvPr id="44" name="正方形/長方形 43">
            <a:extLst xmlns:a="http://schemas.openxmlformats.org/drawingml/2006/main">
              <a:ext uri="{FF2B5EF4-FFF2-40B4-BE49-F238E27FC236}">
                <a16:creationId xmlns:a16="http://schemas.microsoft.com/office/drawing/2014/main" id="{5F4AE832-690A-4DE2-AF7C-F32D11B88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933575"/>
            <a:ext cx="43148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要素：単板</a:t>
            </a:r>
          </a:p>
        </p:txBody>
      </p:sp>
      <p:sp>
        <p:nvSpPr>
          <p:cNvPr id="45" name="正方形/長方形 44">
            <a:extLst xmlns:a="http://schemas.openxmlformats.org/drawingml/2006/main">
              <a:ext uri="{FF2B5EF4-FFF2-40B4-BE49-F238E27FC236}">
                <a16:creationId xmlns:a16="http://schemas.microsoft.com/office/drawing/2014/main" id="{85B2592C-252A-4890-AD1F-E508B05DC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809875"/>
            <a:ext cx="43148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主な配向を色分け</a:t>
            </a:r>
          </a:p>
        </p:txBody>
      </p:sp>
      <p:sp>
        <p:nvSpPr>
          <p:cNvPr id="46" name="正方形/長方形 45">
            <a:extLst xmlns:a="http://schemas.openxmlformats.org/drawingml/2006/main">
              <a:ext uri="{FF2B5EF4-FFF2-40B4-BE49-F238E27FC236}">
                <a16:creationId xmlns:a16="http://schemas.microsoft.com/office/drawing/2014/main" id="{332F5319-8DE7-4836-816E-B3069F79E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686175"/>
            <a:ext cx="43148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層の厚さ・位置も重要</a:t>
            </a:r>
          </a:p>
        </p:txBody>
      </p:sp>
      <p:sp>
        <p:nvSpPr>
          <p:cNvPr id="47" name="正方形/長方形 46">
            <a:extLst xmlns:a="http://schemas.openxmlformats.org/drawingml/2006/main">
              <a:ext uri="{FF2B5EF4-FFF2-40B4-BE49-F238E27FC236}">
                <a16:creationId xmlns:a16="http://schemas.microsoft.com/office/drawing/2014/main" id="{D87FE813-8E37-451D-BDF5-1788758FD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562475"/>
            <a:ext cx="43148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接着と用途の条件も確認</a:t>
            </a:r>
          </a:p>
        </p:txBody>
      </p:sp>
    </p:spTree>
    <p:extLst>
      <p:ext uri="{BB962C8B-B14F-4D97-AF65-F5344CB8AC3E}">
        <p14:creationId xmlns:p14="http://schemas.microsoft.com/office/powerpoint/2010/main" val="2354318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正方形/長方形 30">
            <a:extLst xmlns:a="http://schemas.openxmlformats.org/drawingml/2006/main">
              <a:ext uri="{FF2B5EF4-FFF2-40B4-BE49-F238E27FC236}">
                <a16:creationId xmlns:a16="http://schemas.microsoft.com/office/drawing/2014/main" id="{E7529B7F-5442-4891-B4B8-882531FBB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LVLの平行積層</a:t>
            </a:r>
          </a:p>
        </p:txBody>
      </p:sp>
      <p:cxnSp>
        <p:nvCxnSpPr>
          <p:cNvPr id="2" name="直線矢印コネクタ 1">
            <a:extLst xmlns:a="http://schemas.openxmlformats.org/drawingml/2006/main">
              <a:ext uri="{FF2B5EF4-FFF2-40B4-BE49-F238E27FC236}">
                <a16:creationId xmlns:a16="http://schemas.microsoft.com/office/drawing/2014/main" id="{5EF41530-75D2-46B1-B39E-A113F4309764}"/>
              </a:ext>
            </a:extLst>
          </p:cNvPr>
          <p:cNvCxnSpPr/>
          <p:nvPr/>
        </p:nvCxnSpPr>
        <p:spPr>
          <a:xfrm xmlns:a="http://schemas.openxmlformats.org/drawingml/2006/main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1AF8835E-CAF2-4306-827E-CC271F8A2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第12回</a:t>
            </a:r>
          </a:p>
        </p:txBody>
      </p:sp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26ADFB1C-D0CC-47A0-BCC2-120AF5649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6</a:t>
            </a:r>
          </a:p>
        </p:txBody>
      </p:sp>
      <p:sp>
        <p:nvSpPr>
          <p:cNvPr id="5" name="正方形/長方形 4">
            <a:extLst xmlns:a="http://schemas.openxmlformats.org/drawingml/2006/main">
              <a:ext uri="{FF2B5EF4-FFF2-40B4-BE49-F238E27FC236}">
                <a16:creationId xmlns:a16="http://schemas.microsoft.com/office/drawing/2014/main" id="{908C130C-9F98-4767-94B5-FD39CA4B3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95500"/>
            <a:ext cx="50958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4"/>
          </a:solidFill>
          <a:ln xmlns:a="http://schemas.openxmlformats.org/drawingml/2006/main" w="14288">
            <a:solidFill>
              <a:srgbClr val="C8D3DD"/>
            </a:solidFill>
          </a:ln>
        </p:spPr>
      </p:sp>
      <p:cxnSp>
        <p:nvCxnSpPr>
          <p:cNvPr id="6" name="直線矢印コネクタ 5">
            <a:extLst xmlns:a="http://schemas.openxmlformats.org/drawingml/2006/main">
              <a:ext uri="{FF2B5EF4-FFF2-40B4-BE49-F238E27FC236}">
                <a16:creationId xmlns:a16="http://schemas.microsoft.com/office/drawing/2014/main" id="{3AE3AE0F-64B6-4182-B562-4B443D6F332C}"/>
              </a:ext>
            </a:extLst>
          </p:cNvPr>
          <p:cNvCxnSpPr/>
          <p:nvPr/>
        </p:nvCxnSpPr>
        <p:spPr>
          <a:xfrm xmlns:a="http://schemas.openxmlformats.org/drawingml/2006/main">
            <a:off x="1190625" y="2171700"/>
            <a:ext cx="4714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B55D09"/>
            </a:solidFill>
          </a:ln>
        </p:spPr>
      </p:cxnSp>
      <p:cxnSp>
        <p:nvCxnSpPr>
          <p:cNvPr id="7" name="直線矢印コネクタ 6">
            <a:extLst xmlns:a="http://schemas.openxmlformats.org/drawingml/2006/main">
              <a:ext uri="{FF2B5EF4-FFF2-40B4-BE49-F238E27FC236}">
                <a16:creationId xmlns:a16="http://schemas.microsoft.com/office/drawing/2014/main" id="{16B4BDBC-B668-4FAB-BA36-2288B6B9C269}"/>
              </a:ext>
            </a:extLst>
          </p:cNvPr>
          <p:cNvCxnSpPr/>
          <p:nvPr/>
        </p:nvCxnSpPr>
        <p:spPr>
          <a:xfrm xmlns:a="http://schemas.openxmlformats.org/drawingml/2006/main">
            <a:off x="1190625" y="2257425"/>
            <a:ext cx="4714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B55D09"/>
            </a:solidFill>
          </a:ln>
        </p:spPr>
      </p:cxnSp>
      <p:cxnSp>
        <p:nvCxnSpPr>
          <p:cNvPr id="8" name="直線矢印コネクタ 7">
            <a:extLst xmlns:a="http://schemas.openxmlformats.org/drawingml/2006/main">
              <a:ext uri="{FF2B5EF4-FFF2-40B4-BE49-F238E27FC236}">
                <a16:creationId xmlns:a16="http://schemas.microsoft.com/office/drawing/2014/main" id="{86DECD3B-2A64-4466-B571-2B2540461921}"/>
              </a:ext>
            </a:extLst>
          </p:cNvPr>
          <p:cNvCxnSpPr/>
          <p:nvPr/>
        </p:nvCxnSpPr>
        <p:spPr>
          <a:xfrm xmlns:a="http://schemas.openxmlformats.org/drawingml/2006/main">
            <a:off x="1190625" y="2343150"/>
            <a:ext cx="4714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B55D09"/>
            </a:solidFill>
          </a:ln>
        </p:spPr>
      </p:cxnSp>
      <p:sp>
        <p:nvSpPr>
          <p:cNvPr id="9" name="正方形/長方形 8">
            <a:extLst xmlns:a="http://schemas.openxmlformats.org/drawingml/2006/main">
              <a:ext uri="{FF2B5EF4-FFF2-40B4-BE49-F238E27FC236}">
                <a16:creationId xmlns:a16="http://schemas.microsoft.com/office/drawing/2014/main" id="{3D058EF9-827C-4C7E-A0AE-032AE1B0B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95550"/>
            <a:ext cx="50958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4"/>
          </a:solidFill>
          <a:ln xmlns:a="http://schemas.openxmlformats.org/drawingml/2006/main" w="14288">
            <a:solidFill>
              <a:srgbClr val="C8D3DD"/>
            </a:solidFill>
          </a:ln>
        </p:spPr>
      </p:sp>
      <p:cxnSp>
        <p:nvCxnSpPr>
          <p:cNvPr id="10" name="直線矢印コネクタ 9">
            <a:extLst xmlns:a="http://schemas.openxmlformats.org/drawingml/2006/main">
              <a:ext uri="{FF2B5EF4-FFF2-40B4-BE49-F238E27FC236}">
                <a16:creationId xmlns:a16="http://schemas.microsoft.com/office/drawing/2014/main" id="{9FB3B303-583E-4DDF-9A3A-3153172E1A8D}"/>
              </a:ext>
            </a:extLst>
          </p:cNvPr>
          <p:cNvCxnSpPr/>
          <p:nvPr/>
        </p:nvCxnSpPr>
        <p:spPr>
          <a:xfrm xmlns:a="http://schemas.openxmlformats.org/drawingml/2006/main">
            <a:off x="1190625" y="2571750"/>
            <a:ext cx="4714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B55D09"/>
            </a:solidFill>
          </a:ln>
        </p:spPr>
      </p:cxnSp>
      <p:cxnSp>
        <p:nvCxnSpPr>
          <p:cNvPr id="11" name="直線矢印コネクタ 10">
            <a:extLst xmlns:a="http://schemas.openxmlformats.org/drawingml/2006/main">
              <a:ext uri="{FF2B5EF4-FFF2-40B4-BE49-F238E27FC236}">
                <a16:creationId xmlns:a16="http://schemas.microsoft.com/office/drawing/2014/main" id="{624E8A2B-D2FF-4C68-B383-DD72AA65A18A}"/>
              </a:ext>
            </a:extLst>
          </p:cNvPr>
          <p:cNvCxnSpPr/>
          <p:nvPr/>
        </p:nvCxnSpPr>
        <p:spPr>
          <a:xfrm xmlns:a="http://schemas.openxmlformats.org/drawingml/2006/main">
            <a:off x="1190625" y="2657475"/>
            <a:ext cx="4714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B55D09"/>
            </a:solidFill>
          </a:ln>
        </p:spPr>
      </p:cxnSp>
      <p:cxnSp>
        <p:nvCxnSpPr>
          <p:cNvPr id="12" name="直線矢印コネクタ 11">
            <a:extLst xmlns:a="http://schemas.openxmlformats.org/drawingml/2006/main">
              <a:ext uri="{FF2B5EF4-FFF2-40B4-BE49-F238E27FC236}">
                <a16:creationId xmlns:a16="http://schemas.microsoft.com/office/drawing/2014/main" id="{19AAFEDA-4DFD-409C-AB16-17B6561C8B90}"/>
              </a:ext>
            </a:extLst>
          </p:cNvPr>
          <p:cNvCxnSpPr/>
          <p:nvPr/>
        </p:nvCxnSpPr>
        <p:spPr>
          <a:xfrm xmlns:a="http://schemas.openxmlformats.org/drawingml/2006/main">
            <a:off x="1190625" y="2743200"/>
            <a:ext cx="4714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B55D09"/>
            </a:solidFill>
          </a:ln>
        </p:spPr>
      </p:cxnSp>
      <p:sp>
        <p:nvSpPr>
          <p:cNvPr id="13" name="正方形/長方形 12">
            <a:extLst xmlns:a="http://schemas.openxmlformats.org/drawingml/2006/main">
              <a:ext uri="{FF2B5EF4-FFF2-40B4-BE49-F238E27FC236}">
                <a16:creationId xmlns:a16="http://schemas.microsoft.com/office/drawing/2014/main" id="{DB511E17-ABBC-4805-925A-E6D5A6224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95600"/>
            <a:ext cx="50958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4"/>
          </a:solidFill>
          <a:ln xmlns:a="http://schemas.openxmlformats.org/drawingml/2006/main" w="14288">
            <a:solidFill>
              <a:srgbClr val="C8D3DD"/>
            </a:solidFill>
          </a:ln>
        </p:spPr>
      </p:sp>
      <p:cxnSp>
        <p:nvCxnSpPr>
          <p:cNvPr id="14" name="直線矢印コネクタ 13">
            <a:extLst xmlns:a="http://schemas.openxmlformats.org/drawingml/2006/main">
              <a:ext uri="{FF2B5EF4-FFF2-40B4-BE49-F238E27FC236}">
                <a16:creationId xmlns:a16="http://schemas.microsoft.com/office/drawing/2014/main" id="{9590BF56-A1F2-4887-86C7-670E682B9809}"/>
              </a:ext>
            </a:extLst>
          </p:cNvPr>
          <p:cNvCxnSpPr/>
          <p:nvPr/>
        </p:nvCxnSpPr>
        <p:spPr>
          <a:xfrm xmlns:a="http://schemas.openxmlformats.org/drawingml/2006/main">
            <a:off x="1190625" y="2971800"/>
            <a:ext cx="4714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B55D09"/>
            </a:solidFill>
          </a:ln>
        </p:spPr>
      </p:cxnSp>
      <p:cxnSp>
        <p:nvCxnSpPr>
          <p:cNvPr id="15" name="直線矢印コネクタ 14">
            <a:extLst xmlns:a="http://schemas.openxmlformats.org/drawingml/2006/main">
              <a:ext uri="{FF2B5EF4-FFF2-40B4-BE49-F238E27FC236}">
                <a16:creationId xmlns:a16="http://schemas.microsoft.com/office/drawing/2014/main" id="{88966E98-29A3-4C48-8A00-F208A63FD484}"/>
              </a:ext>
            </a:extLst>
          </p:cNvPr>
          <p:cNvCxnSpPr/>
          <p:nvPr/>
        </p:nvCxnSpPr>
        <p:spPr>
          <a:xfrm xmlns:a="http://schemas.openxmlformats.org/drawingml/2006/main">
            <a:off x="1190625" y="3057525"/>
            <a:ext cx="4714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B55D09"/>
            </a:solidFill>
          </a:ln>
        </p:spPr>
      </p:cxnSp>
      <p:cxnSp>
        <p:nvCxnSpPr>
          <p:cNvPr id="16" name="直線矢印コネクタ 15">
            <a:extLst xmlns:a="http://schemas.openxmlformats.org/drawingml/2006/main">
              <a:ext uri="{FF2B5EF4-FFF2-40B4-BE49-F238E27FC236}">
                <a16:creationId xmlns:a16="http://schemas.microsoft.com/office/drawing/2014/main" id="{E5168382-FF30-4803-878E-B848224FACA0}"/>
              </a:ext>
            </a:extLst>
          </p:cNvPr>
          <p:cNvCxnSpPr/>
          <p:nvPr/>
        </p:nvCxnSpPr>
        <p:spPr>
          <a:xfrm xmlns:a="http://schemas.openxmlformats.org/drawingml/2006/main">
            <a:off x="1190625" y="3143250"/>
            <a:ext cx="4714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B55D09"/>
            </a:solidFill>
          </a:ln>
        </p:spPr>
      </p:cxnSp>
      <p:sp>
        <p:nvSpPr>
          <p:cNvPr id="17" name="正方形/長方形 16">
            <a:extLst xmlns:a="http://schemas.openxmlformats.org/drawingml/2006/main">
              <a:ext uri="{FF2B5EF4-FFF2-40B4-BE49-F238E27FC236}">
                <a16:creationId xmlns:a16="http://schemas.microsoft.com/office/drawing/2014/main" id="{CE2C0298-B142-4453-AA4E-CD479FCAC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95650"/>
            <a:ext cx="50958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4"/>
          </a:solidFill>
          <a:ln xmlns:a="http://schemas.openxmlformats.org/drawingml/2006/main" w="14288">
            <a:solidFill>
              <a:srgbClr val="C8D3DD"/>
            </a:solidFill>
          </a:ln>
        </p:spPr>
      </p:sp>
      <p:cxnSp>
        <p:nvCxnSpPr>
          <p:cNvPr id="18" name="直線矢印コネクタ 17">
            <a:extLst xmlns:a="http://schemas.openxmlformats.org/drawingml/2006/main">
              <a:ext uri="{FF2B5EF4-FFF2-40B4-BE49-F238E27FC236}">
                <a16:creationId xmlns:a16="http://schemas.microsoft.com/office/drawing/2014/main" id="{BA4EE19A-76A3-4C5B-820C-A6866FF7A943}"/>
              </a:ext>
            </a:extLst>
          </p:cNvPr>
          <p:cNvCxnSpPr/>
          <p:nvPr/>
        </p:nvCxnSpPr>
        <p:spPr>
          <a:xfrm xmlns:a="http://schemas.openxmlformats.org/drawingml/2006/main">
            <a:off x="1190625" y="3371850"/>
            <a:ext cx="4714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B55D09"/>
            </a:solidFill>
          </a:ln>
        </p:spPr>
      </p:cxnSp>
      <p:cxnSp>
        <p:nvCxnSpPr>
          <p:cNvPr id="19" name="直線矢印コネクタ 18">
            <a:extLst xmlns:a="http://schemas.openxmlformats.org/drawingml/2006/main">
              <a:ext uri="{FF2B5EF4-FFF2-40B4-BE49-F238E27FC236}">
                <a16:creationId xmlns:a16="http://schemas.microsoft.com/office/drawing/2014/main" id="{D1D3AD8B-31DB-4195-91AB-AC774103EAB0}"/>
              </a:ext>
            </a:extLst>
          </p:cNvPr>
          <p:cNvCxnSpPr/>
          <p:nvPr/>
        </p:nvCxnSpPr>
        <p:spPr>
          <a:xfrm xmlns:a="http://schemas.openxmlformats.org/drawingml/2006/main">
            <a:off x="1190625" y="3457575"/>
            <a:ext cx="4714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B55D09"/>
            </a:solidFill>
          </a:ln>
        </p:spPr>
      </p:cxnSp>
      <p:cxnSp>
        <p:nvCxnSpPr>
          <p:cNvPr id="20" name="直線矢印コネクタ 19">
            <a:extLst xmlns:a="http://schemas.openxmlformats.org/drawingml/2006/main">
              <a:ext uri="{FF2B5EF4-FFF2-40B4-BE49-F238E27FC236}">
                <a16:creationId xmlns:a16="http://schemas.microsoft.com/office/drawing/2014/main" id="{9766FB27-2CAF-4581-834D-5B075C8C8D02}"/>
              </a:ext>
            </a:extLst>
          </p:cNvPr>
          <p:cNvCxnSpPr/>
          <p:nvPr/>
        </p:nvCxnSpPr>
        <p:spPr>
          <a:xfrm xmlns:a="http://schemas.openxmlformats.org/drawingml/2006/main">
            <a:off x="1190625" y="3543300"/>
            <a:ext cx="4714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B55D09"/>
            </a:solidFill>
          </a:ln>
        </p:spPr>
      </p:cxnSp>
      <p:sp>
        <p:nvSpPr>
          <p:cNvPr id="21" name="正方形/長方形 20">
            <a:extLst xmlns:a="http://schemas.openxmlformats.org/drawingml/2006/main">
              <a:ext uri="{FF2B5EF4-FFF2-40B4-BE49-F238E27FC236}">
                <a16:creationId xmlns:a16="http://schemas.microsoft.com/office/drawing/2014/main" id="{9B825F1C-559A-445F-B409-397DFD3DE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95700"/>
            <a:ext cx="50958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4"/>
          </a:solidFill>
          <a:ln xmlns:a="http://schemas.openxmlformats.org/drawingml/2006/main" w="14288">
            <a:solidFill>
              <a:srgbClr val="C8D3DD"/>
            </a:solidFill>
          </a:ln>
        </p:spPr>
      </p:sp>
      <p:cxnSp>
        <p:nvCxnSpPr>
          <p:cNvPr id="22" name="直線矢印コネクタ 21">
            <a:extLst xmlns:a="http://schemas.openxmlformats.org/drawingml/2006/main">
              <a:ext uri="{FF2B5EF4-FFF2-40B4-BE49-F238E27FC236}">
                <a16:creationId xmlns:a16="http://schemas.microsoft.com/office/drawing/2014/main" id="{28BD020C-61BA-47E8-B2A0-B1A4946CDDE2}"/>
              </a:ext>
            </a:extLst>
          </p:cNvPr>
          <p:cNvCxnSpPr/>
          <p:nvPr/>
        </p:nvCxnSpPr>
        <p:spPr>
          <a:xfrm xmlns:a="http://schemas.openxmlformats.org/drawingml/2006/main">
            <a:off x="1190625" y="3771900"/>
            <a:ext cx="4714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B55D09"/>
            </a:solidFill>
          </a:ln>
        </p:spPr>
      </p:cxnSp>
      <p:cxnSp>
        <p:nvCxnSpPr>
          <p:cNvPr id="23" name="直線矢印コネクタ 22">
            <a:extLst xmlns:a="http://schemas.openxmlformats.org/drawingml/2006/main">
              <a:ext uri="{FF2B5EF4-FFF2-40B4-BE49-F238E27FC236}">
                <a16:creationId xmlns:a16="http://schemas.microsoft.com/office/drawing/2014/main" id="{434E3DE1-51BF-491D-99E4-7970CF1045C5}"/>
              </a:ext>
            </a:extLst>
          </p:cNvPr>
          <p:cNvCxnSpPr/>
          <p:nvPr/>
        </p:nvCxnSpPr>
        <p:spPr>
          <a:xfrm xmlns:a="http://schemas.openxmlformats.org/drawingml/2006/main">
            <a:off x="1190625" y="3857625"/>
            <a:ext cx="4714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B55D09"/>
            </a:solidFill>
          </a:ln>
        </p:spPr>
      </p:cxnSp>
      <p:cxnSp>
        <p:nvCxnSpPr>
          <p:cNvPr id="24" name="直線矢印コネクタ 23">
            <a:extLst xmlns:a="http://schemas.openxmlformats.org/drawingml/2006/main">
              <a:ext uri="{FF2B5EF4-FFF2-40B4-BE49-F238E27FC236}">
                <a16:creationId xmlns:a16="http://schemas.microsoft.com/office/drawing/2014/main" id="{46AD2D87-755E-4FF1-83DD-A10D820BB856}"/>
              </a:ext>
            </a:extLst>
          </p:cNvPr>
          <p:cNvCxnSpPr/>
          <p:nvPr/>
        </p:nvCxnSpPr>
        <p:spPr>
          <a:xfrm xmlns:a="http://schemas.openxmlformats.org/drawingml/2006/main">
            <a:off x="1190625" y="3943350"/>
            <a:ext cx="4714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B55D09"/>
            </a:solidFill>
          </a:ln>
        </p:spPr>
      </p:cxnSp>
      <p:sp>
        <p:nvSpPr>
          <p:cNvPr id="25" name="正方形/長方形 24">
            <a:extLst xmlns:a="http://schemas.openxmlformats.org/drawingml/2006/main">
              <a:ext uri="{FF2B5EF4-FFF2-40B4-BE49-F238E27FC236}">
                <a16:creationId xmlns:a16="http://schemas.microsoft.com/office/drawing/2014/main" id="{9BC7E49A-21DD-4DD4-A740-4027FF8A0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29100"/>
            <a:ext cx="5095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LVL</a:t>
            </a:r>
          </a:p>
        </p:txBody>
      </p:sp>
      <p:sp>
        <p:nvSpPr>
          <p:cNvPr id="26" name="正方形/長方形 25">
            <a:extLst xmlns:a="http://schemas.openxmlformats.org/drawingml/2006/main">
              <a:ext uri="{FF2B5EF4-FFF2-40B4-BE49-F238E27FC236}">
                <a16:creationId xmlns:a16="http://schemas.microsoft.com/office/drawing/2014/main" id="{CEB45AA1-6239-4452-8F69-F1752C5A9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933575"/>
            <a:ext cx="43148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要素：単板</a:t>
            </a:r>
          </a:p>
        </p:txBody>
      </p:sp>
      <p:sp>
        <p:nvSpPr>
          <p:cNvPr id="27" name="正方形/長方形 26">
            <a:extLst xmlns:a="http://schemas.openxmlformats.org/drawingml/2006/main">
              <a:ext uri="{FF2B5EF4-FFF2-40B4-BE49-F238E27FC236}">
                <a16:creationId xmlns:a16="http://schemas.microsoft.com/office/drawing/2014/main" id="{236C8182-CDF8-456E-8C1E-289AAEEAF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809875"/>
            <a:ext cx="43148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主な配向を色分け</a:t>
            </a:r>
          </a:p>
        </p:txBody>
      </p:sp>
      <p:sp>
        <p:nvSpPr>
          <p:cNvPr id="28" name="正方形/長方形 27">
            <a:extLst xmlns:a="http://schemas.openxmlformats.org/drawingml/2006/main">
              <a:ext uri="{FF2B5EF4-FFF2-40B4-BE49-F238E27FC236}">
                <a16:creationId xmlns:a16="http://schemas.microsoft.com/office/drawing/2014/main" id="{0CF3D3FE-8289-4828-B820-DC9651BFA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686175"/>
            <a:ext cx="43148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層の厚さ・位置も重要</a:t>
            </a:r>
          </a:p>
        </p:txBody>
      </p:sp>
      <p:sp>
        <p:nvSpPr>
          <p:cNvPr id="29" name="正方形/長方形 28">
            <a:extLst xmlns:a="http://schemas.openxmlformats.org/drawingml/2006/main">
              <a:ext uri="{FF2B5EF4-FFF2-40B4-BE49-F238E27FC236}">
                <a16:creationId xmlns:a16="http://schemas.microsoft.com/office/drawing/2014/main" id="{65E6C4A5-7E4C-4140-9428-C78FD0CAD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562475"/>
            <a:ext cx="43148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接着と用途の条件も確認</a:t>
            </a:r>
          </a:p>
        </p:txBody>
      </p:sp>
    </p:spTree>
    <p:extLst>
      <p:ext uri="{BB962C8B-B14F-4D97-AF65-F5344CB8AC3E}">
        <p14:creationId xmlns:p14="http://schemas.microsoft.com/office/powerpoint/2010/main" val="6918219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正方形/長方形 9">
            <a:extLst xmlns:a="http://schemas.openxmlformats.org/drawingml/2006/main">
              <a:ext uri="{FF2B5EF4-FFF2-40B4-BE49-F238E27FC236}">
                <a16:creationId xmlns:a16="http://schemas.microsoft.com/office/drawing/2014/main" id="{6D04822A-284E-4C01-9899-6C8EDC29A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LVLと方向別性能</a:t>
            </a:r>
          </a:p>
        </p:txBody>
      </p:sp>
      <p:cxnSp>
        <p:nvCxnSpPr>
          <p:cNvPr id="2" name="直線矢印コネクタ 1">
            <a:extLst xmlns:a="http://schemas.openxmlformats.org/drawingml/2006/main">
              <a:ext uri="{FF2B5EF4-FFF2-40B4-BE49-F238E27FC236}">
                <a16:creationId xmlns:a16="http://schemas.microsoft.com/office/drawing/2014/main" id="{A8228834-2984-474E-A59B-22DCFD918BC5}"/>
              </a:ext>
            </a:extLst>
          </p:cNvPr>
          <p:cNvCxnSpPr/>
          <p:nvPr/>
        </p:nvCxnSpPr>
        <p:spPr>
          <a:xfrm xmlns:a="http://schemas.openxmlformats.org/drawingml/2006/main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6640D5AD-42E4-4BD7-9039-843B2D2C2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第12回</a:t>
            </a:r>
          </a:p>
        </p:txBody>
      </p:sp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6B786FBF-BA47-4E4C-872E-553D8BE7B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7</a:t>
            </a:r>
          </a:p>
        </p:txBody>
      </p:sp>
      <p:sp>
        <p:nvSpPr>
          <p:cNvPr id="5" name="正方形/長方形 4">
            <a:extLst xmlns:a="http://schemas.openxmlformats.org/drawingml/2006/main">
              <a:ext uri="{FF2B5EF4-FFF2-40B4-BE49-F238E27FC236}">
                <a16:creationId xmlns:a16="http://schemas.microsoft.com/office/drawing/2014/main" id="{E8188B02-50A2-4574-9DF9-2BBC026C8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LVLは単板の主な繊維方向をほぼ平行にして積層する材料</a:t>
            </a: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9A74D284-95A5-4FFD-A8EF-9EFCC79A2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単板を接合・積層し、長い部材や大きな断面を構成できる</a:t>
            </a:r>
          </a:p>
        </p:txBody>
      </p:sp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14A0E2CD-259A-4DAA-B742-D0CF8ECBA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長手方向の剛性・強度を生かすが、横方向は同じ性能とは限らない</a:t>
            </a:r>
          </a:p>
        </p:txBody>
      </p:sp>
      <p:sp>
        <p:nvSpPr>
          <p:cNvPr id="8" name="正方形/長方形 7">
            <a:extLst xmlns:a="http://schemas.openxmlformats.org/drawingml/2006/main">
              <a:ext uri="{FF2B5EF4-FFF2-40B4-BE49-F238E27FC236}">
                <a16:creationId xmlns:a16="http://schemas.microsoft.com/office/drawing/2014/main" id="{FE9DB0A0-BC40-4637-BE21-542AFF3CE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製品によって一部の直交単板を含む構成もある</a:t>
            </a:r>
          </a:p>
        </p:txBody>
      </p:sp>
      <p:sp>
        <p:nvSpPr>
          <p:cNvPr id="9" name="正方形/長方形 8">
            <a:extLst xmlns:a="http://schemas.openxmlformats.org/drawingml/2006/main">
              <a:ext uri="{FF2B5EF4-FFF2-40B4-BE49-F238E27FC236}">
                <a16:creationId xmlns:a16="http://schemas.microsoft.com/office/drawing/2014/main" id="{0421CF83-4B70-421C-BA21-8B745B133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合板との違いは、単板という要素の共通性と配向の違いから説明する</a:t>
            </a:r>
          </a:p>
        </p:txBody>
      </p:sp>
    </p:spTree>
    <p:extLst>
      <p:ext uri="{BB962C8B-B14F-4D97-AF65-F5344CB8AC3E}">
        <p14:creationId xmlns:p14="http://schemas.microsoft.com/office/powerpoint/2010/main" val="156197538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C2118EBF-F4AF-4BF2-A802-8773B0796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比較するデータと条件</a:t>
            </a:r>
          </a:p>
        </p:txBody>
      </p:sp>
      <p:cxnSp>
        <p:nvCxnSpPr>
          <p:cNvPr id="2" name="直線矢印コネクタ 1">
            <a:extLst xmlns:a="http://schemas.openxmlformats.org/drawingml/2006/main">
              <a:ext uri="{FF2B5EF4-FFF2-40B4-BE49-F238E27FC236}">
                <a16:creationId xmlns:a16="http://schemas.microsoft.com/office/drawing/2014/main" id="{083D6AEC-544A-48D3-A6C9-C879F6ACD8C2}"/>
              </a:ext>
            </a:extLst>
          </p:cNvPr>
          <p:cNvCxnSpPr/>
          <p:nvPr/>
        </p:nvCxnSpPr>
        <p:spPr>
          <a:xfrm xmlns:a="http://schemas.openxmlformats.org/drawingml/2006/main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899A79A5-80E2-47AD-8DB4-16BEF13B6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第12回</a:t>
            </a:r>
          </a:p>
        </p:txBody>
      </p:sp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E10B2723-1D65-4E4C-8440-A368C1BDB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8</a:t>
            </a:r>
          </a:p>
        </p:txBody>
      </p:sp>
      <p:graphicFrame>
        <p:nvGraphicFramePr>
          <p:cNvPr id="5" name="表 4">
            <a:extLst xmlns:a="http://schemas.openxmlformats.org/drawingml/2006/main">
              <a:ext uri="{FF2B5EF4-FFF2-40B4-BE49-F238E27FC236}">
                <a16:creationId xmlns:a16="http://schemas.microsoft.com/office/drawing/2014/main" id="{6C7CBEBD-169F-4E2E-945C-8E8BB7DAFA78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06800"/>
                <a:gridCol w="3606800"/>
                <a:gridCol w="3606800"/>
              </a:tblGrid>
              <a:tr h="6953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比較点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合板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rgbClr val="C8D3DD"/>
                      </a:solidFill>
                      <a:prstDash val="solid"/>
                    </a:lnL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LVL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rgbClr val="C8D3DD"/>
                      </a:solidFill>
                      <a:prstDash val="solid"/>
                    </a:lnL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構成要素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T w="9525" cmpd="sng">
                      <a:solidFill>
                        <a:srgbClr val="C8D3DD"/>
                      </a:solidFill>
                      <a:prstDash val="soli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単板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rgbClr val="C8D3DD"/>
                      </a:solidFill>
                      <a:prstDash val="solid"/>
                    </a:lnL>
                    <a:lnR w="9525">
                      <a:solidFill>
                        <a:srgbClr val="C8D3DD"/>
                      </a:solidFill>
                    </a:lnR>
                    <a:lnT w="9525" cmpd="sng">
                      <a:solidFill>
                        <a:srgbClr val="C8D3DD"/>
                      </a:solidFill>
                      <a:prstDash val="soli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単板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rgbClr val="C8D3DD"/>
                      </a:solidFill>
                      <a:prstDash val="solid"/>
                    </a:lnL>
                    <a:lnR w="9525">
                      <a:solidFill>
                        <a:srgbClr val="C8D3DD"/>
                      </a:solidFill>
                    </a:lnR>
                    <a:lnT w="9525" cmpd="sng">
                      <a:solidFill>
                        <a:srgbClr val="C8D3DD"/>
                      </a:solidFill>
                      <a:prstDash val="soli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主な配向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T w="9525" cmpd="sng">
                      <a:solidFill>
                        <a:srgbClr val="C8D3DD"/>
                      </a:solidFill>
                      <a:prstDash val="soli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交差させて積層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rgbClr val="C8D3DD"/>
                      </a:solidFill>
                      <a:prstDash val="solid"/>
                    </a:lnL>
                    <a:lnR w="9525">
                      <a:solidFill>
                        <a:srgbClr val="C8D3DD"/>
                      </a:solidFill>
                    </a:lnR>
                    <a:lnT w="9525" cmpd="sng">
                      <a:solidFill>
                        <a:srgbClr val="C8D3DD"/>
                      </a:solidFill>
                      <a:prstDash val="soli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ほぼ平行に積層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rgbClr val="C8D3DD"/>
                      </a:solidFill>
                      <a:prstDash val="solid"/>
                    </a:lnL>
                    <a:lnR w="9525">
                      <a:solidFill>
                        <a:srgbClr val="C8D3DD"/>
                      </a:solidFill>
                    </a:lnR>
                    <a:lnT w="9525" cmpd="sng">
                      <a:solidFill>
                        <a:srgbClr val="C8D3DD"/>
                      </a:solidFill>
                      <a:prstDash val="soli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確かめる性能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T w="9525" cmpd="sng">
                      <a:solidFill>
                        <a:srgbClr val="C8D3DD"/>
                      </a:solidFill>
                      <a:prstDash val="soli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表板方向・層構成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rgbClr val="C8D3DD"/>
                      </a:solidFill>
                      <a:prstDash val="solid"/>
                    </a:lnL>
                    <a:lnR w="9525">
                      <a:solidFill>
                        <a:srgbClr val="C8D3DD"/>
                      </a:solidFill>
                    </a:lnR>
                    <a:lnT w="9525" cmpd="sng">
                      <a:solidFill>
                        <a:srgbClr val="C8D3DD"/>
                      </a:solidFill>
                      <a:prstDash val="soli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主な繊維方向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rgbClr val="C8D3DD"/>
                      </a:solidFill>
                      <a:prstDash val="solid"/>
                    </a:lnL>
                    <a:lnR w="9525">
                      <a:solidFill>
                        <a:srgbClr val="C8D3DD"/>
                      </a:solidFill>
                    </a:lnR>
                    <a:lnT w="9525" cmpd="sng">
                      <a:solidFill>
                        <a:srgbClr val="C8D3DD"/>
                      </a:solidFill>
                      <a:prstDash val="soli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共通の確認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T w="9525" cmpd="sng">
                      <a:solidFill>
                        <a:srgbClr val="C8D3DD"/>
                      </a:solidFill>
                      <a:prstDash val="soli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接着・含水状態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rgbClr val="C8D3DD"/>
                      </a:solidFill>
                      <a:prstDash val="solid"/>
                    </a:lnL>
                    <a:lnR w="9525">
                      <a:solidFill>
                        <a:srgbClr val="C8D3DD"/>
                      </a:solidFill>
                    </a:lnR>
                    <a:lnT w="9525" cmpd="sng">
                      <a:solidFill>
                        <a:srgbClr val="C8D3DD"/>
                      </a:solidFill>
                      <a:prstDash val="soli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用途・製品情報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rgbClr val="C8D3DD"/>
                      </a:solidFill>
                      <a:prstDash val="solid"/>
                    </a:lnL>
                    <a:lnR w="9525">
                      <a:solidFill>
                        <a:srgbClr val="C8D3DD"/>
                      </a:solidFill>
                    </a:lnR>
                    <a:lnT w="9525" cmpd="sng">
                      <a:solidFill>
                        <a:srgbClr val="C8D3DD"/>
                      </a:solidFill>
                      <a:prstDash val="soli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016680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正方形/長方形 9">
            <a:extLst xmlns:a="http://schemas.openxmlformats.org/drawingml/2006/main">
              <a:ext uri="{FF2B5EF4-FFF2-40B4-BE49-F238E27FC236}">
                <a16:creationId xmlns:a16="http://schemas.microsoft.com/office/drawing/2014/main" id="{9D180644-1910-4FB6-8F2F-511811A01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演習1　単板の積層方向</a:t>
            </a:r>
          </a:p>
        </p:txBody>
      </p:sp>
      <p:cxnSp>
        <p:nvCxnSpPr>
          <p:cNvPr id="2" name="直線矢印コネクタ 1">
            <a:extLst xmlns:a="http://schemas.openxmlformats.org/drawingml/2006/main">
              <a:ext uri="{FF2B5EF4-FFF2-40B4-BE49-F238E27FC236}">
                <a16:creationId xmlns:a16="http://schemas.microsoft.com/office/drawing/2014/main" id="{43FC83A5-A6CC-4668-B125-CE8C37E5A8DF}"/>
              </a:ext>
            </a:extLst>
          </p:cNvPr>
          <p:cNvCxnSpPr/>
          <p:nvPr/>
        </p:nvCxnSpPr>
        <p:spPr>
          <a:xfrm xmlns:a="http://schemas.openxmlformats.org/drawingml/2006/main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664827EA-0061-4A83-BAB3-4A0DFCA05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第12回</a:t>
            </a:r>
          </a:p>
        </p:txBody>
      </p:sp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C9A727E7-116B-4C68-A69B-611621B2A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9</a:t>
            </a:r>
          </a:p>
        </p:txBody>
      </p:sp>
      <p:sp>
        <p:nvSpPr>
          <p:cNvPr id="5" name="正方形/長方形 4">
            <a:extLst xmlns:a="http://schemas.openxmlformats.org/drawingml/2006/main">
              <a:ext uri="{FF2B5EF4-FFF2-40B4-BE49-F238E27FC236}">
                <a16:creationId xmlns:a16="http://schemas.microsoft.com/office/drawing/2014/main" id="{1F87917E-A311-49AE-964E-1CC5EF0F3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厚さ2 mmの同じ単板5枚を積層する。0°は全体の長手に沿う繊維方向</a:t>
            </a: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C23C94DE-0323-45C5-B595-B9FE93993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A：0°／90°／0°／90°／0°、B：0°／0°／0°／0°／0°</a:t>
            </a:r>
          </a:p>
        </p:txBody>
      </p:sp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89844A35-730E-4634-A3FA-A628B7122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① 全厚を求め、合板・LVLのモデルをA・Bに対応させる</a:t>
            </a:r>
          </a:p>
        </p:txBody>
      </p:sp>
      <p:sp>
        <p:nvSpPr>
          <p:cNvPr id="8" name="正方形/長方形 7">
            <a:extLst xmlns:a="http://schemas.openxmlformats.org/drawingml/2006/main">
              <a:ext uri="{FF2B5EF4-FFF2-40B4-BE49-F238E27FC236}">
                <a16:creationId xmlns:a16="http://schemas.microsoft.com/office/drawing/2014/main" id="{5A54DA15-CD11-430A-B29A-1BFABD154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② Aの0°層・90°層の合計厚さは、それぞれ何mmか</a:t>
            </a:r>
          </a:p>
        </p:txBody>
      </p:sp>
      <p:sp>
        <p:nvSpPr>
          <p:cNvPr id="9" name="正方形/長方形 8">
            <a:extLst xmlns:a="http://schemas.openxmlformats.org/drawingml/2006/main">
              <a:ext uri="{FF2B5EF4-FFF2-40B4-BE49-F238E27FC236}">
                <a16:creationId xmlns:a16="http://schemas.microsoft.com/office/drawing/2014/main" id="{663290B7-0692-47B1-B4DB-52CBFB6A6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③ Aの面内二方向の曲げ性能を、全く同じと扱えるか。層の位置も考える</a:t>
            </a:r>
          </a:p>
        </p:txBody>
      </p:sp>
    </p:spTree>
    <p:extLst>
      <p:ext uri="{BB962C8B-B14F-4D97-AF65-F5344CB8AC3E}">
        <p14:creationId xmlns:p14="http://schemas.microsoft.com/office/powerpoint/2010/main" val="65839992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正方形/長方形 9">
            <a:extLst xmlns:a="http://schemas.openxmlformats.org/drawingml/2006/main">
              <a:ext uri="{FF2B5EF4-FFF2-40B4-BE49-F238E27FC236}">
                <a16:creationId xmlns:a16="http://schemas.microsoft.com/office/drawing/2014/main" id="{21AE58F0-8F67-4A19-8CF3-42D849F1F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演習1の解説　単板と積層方向</a:t>
            </a:r>
          </a:p>
        </p:txBody>
      </p:sp>
      <p:cxnSp>
        <p:nvCxnSpPr>
          <p:cNvPr id="2" name="直線矢印コネクタ 1">
            <a:extLst xmlns:a="http://schemas.openxmlformats.org/drawingml/2006/main">
              <a:ext uri="{FF2B5EF4-FFF2-40B4-BE49-F238E27FC236}">
                <a16:creationId xmlns:a16="http://schemas.microsoft.com/office/drawing/2014/main" id="{6715E271-DC51-4EC7-818B-4EB5C38BF713}"/>
              </a:ext>
            </a:extLst>
          </p:cNvPr>
          <p:cNvCxnSpPr/>
          <p:nvPr/>
        </p:nvCxnSpPr>
        <p:spPr>
          <a:xfrm xmlns:a="http://schemas.openxmlformats.org/drawingml/2006/main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ABCC43B8-6805-4FB0-8DB1-28BC5913B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第12回</a:t>
            </a:r>
          </a:p>
        </p:txBody>
      </p:sp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E9B96932-428C-45FF-AB2A-63FB0CA20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10</a:t>
            </a:r>
          </a:p>
        </p:txBody>
      </p:sp>
      <p:sp>
        <p:nvSpPr>
          <p:cNvPr id="5" name="正方形/長方形 4">
            <a:extLst xmlns:a="http://schemas.openxmlformats.org/drawingml/2006/main">
              <a:ext uri="{FF2B5EF4-FFF2-40B4-BE49-F238E27FC236}">
                <a16:creationId xmlns:a16="http://schemas.microsoft.com/office/drawing/2014/main" id="{07DACFB2-0ABD-4D60-AFC5-53EE68F38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① 全厚2×5＝10 mm。Aは合板、BはLVLの単純化モデル</a:t>
            </a: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E03BEC90-693A-4B8E-AD09-3CCAF2396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② Aの0°層は6 mm、90°層は4 mm</a:t>
            </a:r>
          </a:p>
        </p:txBody>
      </p:sp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EA9021C5-A8AC-4D93-91A8-45D21E1C4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③ Aの二方向は、対応する層の厚さ・位置が同じではない</a:t>
            </a:r>
          </a:p>
        </p:txBody>
      </p:sp>
      <p:sp>
        <p:nvSpPr>
          <p:cNvPr id="8" name="正方形/長方形 7">
            <a:extLst xmlns:a="http://schemas.openxmlformats.org/drawingml/2006/main">
              <a:ext uri="{FF2B5EF4-FFF2-40B4-BE49-F238E27FC236}">
                <a16:creationId xmlns:a16="http://schemas.microsoft.com/office/drawing/2014/main" id="{2516D831-BB59-4455-B83A-029A785CD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曲げでは外側の層の影響も大きい。積層しただけで完全な等方性にはならない</a:t>
            </a:r>
          </a:p>
        </p:txBody>
      </p:sp>
      <p:sp>
        <p:nvSpPr>
          <p:cNvPr id="9" name="正方形/長方形 8">
            <a:extLst xmlns:a="http://schemas.openxmlformats.org/drawingml/2006/main">
              <a:ext uri="{FF2B5EF4-FFF2-40B4-BE49-F238E27FC236}">
                <a16:creationId xmlns:a16="http://schemas.microsoft.com/office/drawing/2014/main" id="{E9A66D05-1B8E-4982-A937-39C778F19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強度やEの数値を比較するには、単板と製品の条件に対応するデータが必要</a:t>
            </a:r>
          </a:p>
        </p:txBody>
      </p:sp>
    </p:spTree>
    <p:extLst>
      <p:ext uri="{BB962C8B-B14F-4D97-AF65-F5344CB8AC3E}">
        <p14:creationId xmlns:p14="http://schemas.microsoft.com/office/powerpoint/2010/main" val="137156582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正方形/長方形 9">
            <a:extLst xmlns:a="http://schemas.openxmlformats.org/drawingml/2006/main">
              <a:ext uri="{FF2B5EF4-FFF2-40B4-BE49-F238E27FC236}">
                <a16:creationId xmlns:a16="http://schemas.microsoft.com/office/drawing/2014/main" id="{59A4E992-D9D1-4707-970C-E002DCE46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接着品質と使用環境</a:t>
            </a:r>
          </a:p>
        </p:txBody>
      </p:sp>
      <p:cxnSp>
        <p:nvCxnSpPr>
          <p:cNvPr id="2" name="直線矢印コネクタ 1">
            <a:extLst xmlns:a="http://schemas.openxmlformats.org/drawingml/2006/main">
              <a:ext uri="{FF2B5EF4-FFF2-40B4-BE49-F238E27FC236}">
                <a16:creationId xmlns:a16="http://schemas.microsoft.com/office/drawing/2014/main" id="{6133AA90-E5F6-45F8-8167-0E56656EEDE5}"/>
              </a:ext>
            </a:extLst>
          </p:cNvPr>
          <p:cNvCxnSpPr/>
          <p:nvPr/>
        </p:nvCxnSpPr>
        <p:spPr>
          <a:xfrm xmlns:a="http://schemas.openxmlformats.org/drawingml/2006/main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B58DA9EF-44A1-4A2C-914E-BFD80C333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第12回</a:t>
            </a:r>
          </a:p>
        </p:txBody>
      </p:sp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7D8C80BB-06E2-4694-BAAA-C2C33059A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11</a:t>
            </a:r>
          </a:p>
        </p:txBody>
      </p:sp>
      <p:sp>
        <p:nvSpPr>
          <p:cNvPr id="5" name="正方形/長方形 4">
            <a:extLst xmlns:a="http://schemas.openxmlformats.org/drawingml/2006/main">
              <a:ext uri="{FF2B5EF4-FFF2-40B4-BE49-F238E27FC236}">
                <a16:creationId xmlns:a16="http://schemas.microsoft.com/office/drawing/2014/main" id="{8B31E20B-1EAF-4915-8681-164E1DDE7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接着は、木材の含水率・表面状態・塗布・圧締・硬化に左右される</a:t>
            </a: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268FEEA3-8C2B-4E1D-9727-4B66247BB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乾燥した室内用と、湿潤条件を想定した製品は区別する</a:t>
            </a:r>
          </a:p>
        </p:txBody>
      </p:sp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79906B2B-831C-463C-8826-56D92C188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接着の耐水性と、木材そのものの吸水・腐朽は別に考える</a:t>
            </a:r>
          </a:p>
        </p:txBody>
      </p:sp>
      <p:sp>
        <p:nvSpPr>
          <p:cNvPr id="8" name="正方形/長方形 7">
            <a:extLst xmlns:a="http://schemas.openxmlformats.org/drawingml/2006/main">
              <a:ext uri="{FF2B5EF4-FFF2-40B4-BE49-F238E27FC236}">
                <a16:creationId xmlns:a16="http://schemas.microsoft.com/office/drawing/2014/main" id="{C613626F-15C4-46D6-8D70-F87142DC4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構造用途では、方向別の製品性能と使用条件を確認する</a:t>
            </a:r>
          </a:p>
        </p:txBody>
      </p:sp>
      <p:sp>
        <p:nvSpPr>
          <p:cNvPr id="9" name="正方形/長方形 8">
            <a:extLst xmlns:a="http://schemas.openxmlformats.org/drawingml/2006/main">
              <a:ext uri="{FF2B5EF4-FFF2-40B4-BE49-F238E27FC236}">
                <a16:creationId xmlns:a16="http://schemas.microsoft.com/office/drawing/2014/main" id="{595D389A-455E-4789-A523-4C4384DD4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製品表示は規格・仕様書の最新版により、用途と評価条件を読む</a:t>
            </a:r>
          </a:p>
        </p:txBody>
      </p:sp>
    </p:spTree>
    <p:extLst>
      <p:ext uri="{BB962C8B-B14F-4D97-AF65-F5344CB8AC3E}">
        <p14:creationId xmlns:p14="http://schemas.microsoft.com/office/powerpoint/2010/main" val="115832181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232118-96F2-4F11-B115-BB5CA0114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単板から、小片・繊維へ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BC497F-B0FB-459A-86BA-5D18EA355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64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3518CB-C5A4-44A3-B6C5-298873291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33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第12回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221A10-ED1D-481C-83D4-F063E3171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742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E91B58-FC2D-4B04-BC8E-59F7EF16C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66875"/>
            <a:ext cx="1047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ここまで：合板とLVLは、単板の配向を変える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A3A78E-74BC-407E-B6AF-A0BDB2719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62225"/>
            <a:ext cx="1047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ここから：原料の形と大きさも変える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8E8641-22C6-438F-8DC6-B377FEFF5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57575"/>
            <a:ext cx="1047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表面の化粧と、内部の構成を分けて観察する</a:t>
            </a:r>
          </a:p>
        </p:txBody>
      </p:sp>
    </p:spTree>
    <p:extLst>
      <p:ext uri="{BB962C8B-B14F-4D97-AF65-F5344CB8AC3E}">
        <p14:creationId xmlns:p14="http://schemas.microsoft.com/office/powerpoint/2010/main" val="106518280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正方形/長方形 9">
            <a:extLst xmlns:a="http://schemas.openxmlformats.org/drawingml/2006/main">
              <a:ext uri="{FF2B5EF4-FFF2-40B4-BE49-F238E27FC236}">
                <a16:creationId xmlns:a16="http://schemas.microsoft.com/office/drawing/2014/main" id="{717C8374-FB34-4549-A899-6DB37B5E3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パーティクルボードの製造と性質</a:t>
            </a:r>
          </a:p>
        </p:txBody>
      </p:sp>
      <p:cxnSp>
        <p:nvCxnSpPr>
          <p:cNvPr id="2" name="直線矢印コネクタ 1">
            <a:extLst xmlns:a="http://schemas.openxmlformats.org/drawingml/2006/main">
              <a:ext uri="{FF2B5EF4-FFF2-40B4-BE49-F238E27FC236}">
                <a16:creationId xmlns:a16="http://schemas.microsoft.com/office/drawing/2014/main" id="{8A9AD7B5-9B7F-49B0-B741-52D091A8CA87}"/>
              </a:ext>
            </a:extLst>
          </p:cNvPr>
          <p:cNvCxnSpPr/>
          <p:nvPr/>
        </p:nvCxnSpPr>
        <p:spPr>
          <a:xfrm xmlns:a="http://schemas.openxmlformats.org/drawingml/2006/main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450FCAA2-B91D-4A39-ADDD-8AF72190F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第12回</a:t>
            </a:r>
          </a:p>
        </p:txBody>
      </p:sp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103A071A-CBC9-4E40-A106-ADAFF79C3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13</a:t>
            </a:r>
          </a:p>
        </p:txBody>
      </p:sp>
      <p:sp>
        <p:nvSpPr>
          <p:cNvPr id="5" name="正方形/長方形 4">
            <a:extLst xmlns:a="http://schemas.openxmlformats.org/drawingml/2006/main">
              <a:ext uri="{FF2B5EF4-FFF2-40B4-BE49-F238E27FC236}">
                <a16:creationId xmlns:a16="http://schemas.microsoft.com/office/drawing/2014/main" id="{D87FEFB4-EDF1-40B6-BCD6-785847A76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木材を小片にし、乾燥・分級・接着剤添加の後に成形する</a:t>
            </a: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2E7E80ED-04A7-4C26-92CD-91CA6A5C3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熱圧で圧密・硬化させ、表層と内部の要素や密度を調整する</a:t>
            </a:r>
          </a:p>
        </p:txBody>
      </p:sp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C2B3641D-7996-4E8B-B46C-79221614C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表面の平滑さと、端面の小片の組合せを観察する</a:t>
            </a:r>
          </a:p>
        </p:txBody>
      </p:sp>
      <p:sp>
        <p:nvSpPr>
          <p:cNvPr id="8" name="正方形/長方形 7">
            <a:extLst xmlns:a="http://schemas.openxmlformats.org/drawingml/2006/main">
              <a:ext uri="{FF2B5EF4-FFF2-40B4-BE49-F238E27FC236}">
                <a16:creationId xmlns:a16="http://schemas.microsoft.com/office/drawing/2014/main" id="{373FDC33-3E10-4324-9659-3429EA23A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ねじ保持は密度だけでなく、面・端面、下穴、留付け条件にも依存する</a:t>
            </a:r>
          </a:p>
        </p:txBody>
      </p:sp>
      <p:sp>
        <p:nvSpPr>
          <p:cNvPr id="9" name="正方形/長方形 8">
            <a:extLst xmlns:a="http://schemas.openxmlformats.org/drawingml/2006/main">
              <a:ext uri="{FF2B5EF4-FFF2-40B4-BE49-F238E27FC236}">
                <a16:creationId xmlns:a16="http://schemas.microsoft.com/office/drawing/2014/main" id="{A0C48BB2-7941-4020-9640-D1BC6DEE2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端材や再生木材を利用できる一方、用途に合う品質管理が必要</a:t>
            </a:r>
          </a:p>
        </p:txBody>
      </p:sp>
    </p:spTree>
    <p:extLst>
      <p:ext uri="{BB962C8B-B14F-4D97-AF65-F5344CB8AC3E}">
        <p14:creationId xmlns:p14="http://schemas.microsoft.com/office/powerpoint/2010/main" val="293258621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正方形/長方形 45">
            <a:extLst xmlns:a="http://schemas.openxmlformats.org/drawingml/2006/main">
              <a:ext uri="{FF2B5EF4-FFF2-40B4-BE49-F238E27FC236}">
                <a16:creationId xmlns:a16="http://schemas.microsoft.com/office/drawing/2014/main" id="{CCEA49D2-F623-4197-B23B-F94C52EF4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パーティクルボードの要素</a:t>
            </a:r>
          </a:p>
        </p:txBody>
      </p:sp>
      <p:cxnSp>
        <p:nvCxnSpPr>
          <p:cNvPr id="2" name="直線矢印コネクタ 1">
            <a:extLst xmlns:a="http://schemas.openxmlformats.org/drawingml/2006/main">
              <a:ext uri="{FF2B5EF4-FFF2-40B4-BE49-F238E27FC236}">
                <a16:creationId xmlns:a16="http://schemas.microsoft.com/office/drawing/2014/main" id="{B0689D87-07EE-4BFE-9040-F7E3439E6ED2}"/>
              </a:ext>
            </a:extLst>
          </p:cNvPr>
          <p:cNvCxnSpPr/>
          <p:nvPr/>
        </p:nvCxnSpPr>
        <p:spPr>
          <a:xfrm xmlns:a="http://schemas.openxmlformats.org/drawingml/2006/main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7A0BAEFB-538A-4B80-88DD-6D2F9458D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第12回</a:t>
            </a:r>
          </a:p>
        </p:txBody>
      </p:sp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CA4339C9-A866-4F69-AF96-93876F977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14</a:t>
            </a:r>
          </a:p>
        </p:txBody>
      </p:sp>
      <p:sp>
        <p:nvSpPr>
          <p:cNvPr id="5" name="正方形/長方形 4">
            <a:extLst xmlns:a="http://schemas.openxmlformats.org/drawingml/2006/main">
              <a:ext uri="{FF2B5EF4-FFF2-40B4-BE49-F238E27FC236}">
                <a16:creationId xmlns:a16="http://schemas.microsoft.com/office/drawing/2014/main" id="{BD7FBF9B-FB7A-4819-9C02-1D758C6F9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52625"/>
            <a:ext cx="5143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4"/>
          </a:solidFill>
          <a:ln xmlns:a="http://schemas.openxmlformats.org/drawingml/2006/main" w="14288">
            <a:solidFill>
              <a:srgbClr val="B55D09"/>
            </a:solidFill>
          </a:ln>
        </p:spPr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0067A46F-853A-4D5C-88B4-A02BAA210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620000">
            <a:off x="1143000" y="2143125"/>
            <a:ext cx="4000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AA8D"/>
          </a:solidFill>
          <a:ln xmlns:a="http://schemas.openxmlformats.org/drawingml/2006/main" w="14288">
            <a:solidFill>
              <a:srgbClr val="B55D09"/>
            </a:solidFill>
          </a:ln>
        </p:spPr>
      </p:sp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DB2C2FC2-8FE6-4DB8-BCD7-5A92E0A3D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60000">
            <a:off x="1828800" y="21431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BB96"/>
          </a:solidFill>
          <a:ln xmlns:a="http://schemas.openxmlformats.org/drawingml/2006/main" w="14288">
            <a:solidFill>
              <a:srgbClr val="B55D09"/>
            </a:solidFill>
          </a:ln>
        </p:spPr>
      </p:sp>
      <p:sp>
        <p:nvSpPr>
          <p:cNvPr id="8" name="正方形/長方形 7">
            <a:extLst xmlns:a="http://schemas.openxmlformats.org/drawingml/2006/main">
              <a:ext uri="{FF2B5EF4-FFF2-40B4-BE49-F238E27FC236}">
                <a16:creationId xmlns:a16="http://schemas.microsoft.com/office/drawing/2014/main" id="{E1D3386A-F199-48CA-9EFB-E461F53EF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460000">
            <a:off x="2514600" y="2143125"/>
            <a:ext cx="514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AA8D"/>
          </a:solidFill>
          <a:ln xmlns:a="http://schemas.openxmlformats.org/drawingml/2006/main" w="14288">
            <a:solidFill>
              <a:srgbClr val="B55D09"/>
            </a:solidFill>
          </a:ln>
        </p:spPr>
      </p:sp>
      <p:sp>
        <p:nvSpPr>
          <p:cNvPr id="9" name="正方形/長方形 8">
            <a:extLst xmlns:a="http://schemas.openxmlformats.org/drawingml/2006/main">
              <a:ext uri="{FF2B5EF4-FFF2-40B4-BE49-F238E27FC236}">
                <a16:creationId xmlns:a16="http://schemas.microsoft.com/office/drawing/2014/main" id="{C2C3B7C2-CED6-4760-B9E6-64A732D68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840000">
            <a:off x="3200400" y="2143125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BB96"/>
          </a:solidFill>
          <a:ln xmlns:a="http://schemas.openxmlformats.org/drawingml/2006/main" w="14288">
            <a:solidFill>
              <a:srgbClr val="B55D09"/>
            </a:solidFill>
          </a:ln>
        </p:spPr>
      </p:sp>
      <p:sp>
        <p:nvSpPr>
          <p:cNvPr id="10" name="正方形/長方形 9">
            <a:extLst xmlns:a="http://schemas.openxmlformats.org/drawingml/2006/main">
              <a:ext uri="{FF2B5EF4-FFF2-40B4-BE49-F238E27FC236}">
                <a16:creationId xmlns:a16="http://schemas.microsoft.com/office/drawing/2014/main" id="{46EC0C19-C35A-45E2-950C-151587A76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143125"/>
            <a:ext cx="457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AA8D"/>
          </a:solidFill>
          <a:ln xmlns:a="http://schemas.openxmlformats.org/drawingml/2006/main" w="14288">
            <a:solidFill>
              <a:srgbClr val="B55D09"/>
            </a:solidFill>
          </a:ln>
        </p:spPr>
      </p:sp>
      <p:sp>
        <p:nvSpPr>
          <p:cNvPr id="11" name="正方形/長方形 10">
            <a:extLst xmlns:a="http://schemas.openxmlformats.org/drawingml/2006/main">
              <a:ext uri="{FF2B5EF4-FFF2-40B4-BE49-F238E27FC236}">
                <a16:creationId xmlns:a16="http://schemas.microsoft.com/office/drawing/2014/main" id="{6AF26971-920E-48FB-B843-D7830C312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620000">
            <a:off x="4572000" y="2143125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BB96"/>
          </a:solidFill>
          <a:ln xmlns:a="http://schemas.openxmlformats.org/drawingml/2006/main" w="14288">
            <a:solidFill>
              <a:srgbClr val="B55D09"/>
            </a:solidFill>
          </a:ln>
        </p:spPr>
      </p:sp>
      <p:sp>
        <p:nvSpPr>
          <p:cNvPr id="12" name="正方形/長方形 11">
            <a:extLst xmlns:a="http://schemas.openxmlformats.org/drawingml/2006/main">
              <a:ext uri="{FF2B5EF4-FFF2-40B4-BE49-F238E27FC236}">
                <a16:creationId xmlns:a16="http://schemas.microsoft.com/office/drawing/2014/main" id="{D0AF9A12-D923-494A-B9FE-603611DE7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60000">
            <a:off x="5257800" y="2143125"/>
            <a:ext cx="4000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AA8D"/>
          </a:solidFill>
          <a:ln xmlns:a="http://schemas.openxmlformats.org/drawingml/2006/main" w="14288">
            <a:solidFill>
              <a:srgbClr val="B55D09"/>
            </a:solidFill>
          </a:ln>
        </p:spPr>
      </p:sp>
      <p:sp>
        <p:nvSpPr>
          <p:cNvPr id="13" name="正方形/長方形 12">
            <a:extLst xmlns:a="http://schemas.openxmlformats.org/drawingml/2006/main">
              <a:ext uri="{FF2B5EF4-FFF2-40B4-BE49-F238E27FC236}">
                <a16:creationId xmlns:a16="http://schemas.microsoft.com/office/drawing/2014/main" id="{F6A417D8-FF80-4CA7-AEFA-32676C932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460000">
            <a:off x="1143000" y="272415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BB96"/>
          </a:solidFill>
          <a:ln xmlns:a="http://schemas.openxmlformats.org/drawingml/2006/main" w="14288">
            <a:solidFill>
              <a:srgbClr val="B55D09"/>
            </a:solidFill>
          </a:ln>
        </p:spPr>
      </p:sp>
      <p:sp>
        <p:nvSpPr>
          <p:cNvPr id="14" name="正方形/長方形 13">
            <a:extLst xmlns:a="http://schemas.openxmlformats.org/drawingml/2006/main">
              <a:ext uri="{FF2B5EF4-FFF2-40B4-BE49-F238E27FC236}">
                <a16:creationId xmlns:a16="http://schemas.microsoft.com/office/drawing/2014/main" id="{0E8F4503-E45B-4DB0-8455-A08CB20C4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840000">
            <a:off x="1828800" y="2724150"/>
            <a:ext cx="514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AA8D"/>
          </a:solidFill>
          <a:ln xmlns:a="http://schemas.openxmlformats.org/drawingml/2006/main" w="14288">
            <a:solidFill>
              <a:srgbClr val="B55D09"/>
            </a:solidFill>
          </a:ln>
        </p:spPr>
      </p:sp>
      <p:sp>
        <p:nvSpPr>
          <p:cNvPr id="15" name="正方形/長方形 14">
            <a:extLst xmlns:a="http://schemas.openxmlformats.org/drawingml/2006/main">
              <a:ext uri="{FF2B5EF4-FFF2-40B4-BE49-F238E27FC236}">
                <a16:creationId xmlns:a16="http://schemas.microsoft.com/office/drawing/2014/main" id="{8F13D732-B5D3-4E1F-93B8-0399B5B04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72415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BB96"/>
          </a:solidFill>
          <a:ln xmlns:a="http://schemas.openxmlformats.org/drawingml/2006/main" w="14288">
            <a:solidFill>
              <a:srgbClr val="B55D09"/>
            </a:solidFill>
          </a:ln>
        </p:spPr>
      </p:sp>
      <p:sp>
        <p:nvSpPr>
          <p:cNvPr id="16" name="正方形/長方形 15">
            <a:extLst xmlns:a="http://schemas.openxmlformats.org/drawingml/2006/main">
              <a:ext uri="{FF2B5EF4-FFF2-40B4-BE49-F238E27FC236}">
                <a16:creationId xmlns:a16="http://schemas.microsoft.com/office/drawing/2014/main" id="{44CA29F6-ABFA-448B-9651-9FBB2D59E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620000">
            <a:off x="3200400" y="2724150"/>
            <a:ext cx="457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AA8D"/>
          </a:solidFill>
          <a:ln xmlns:a="http://schemas.openxmlformats.org/drawingml/2006/main" w="14288">
            <a:solidFill>
              <a:srgbClr val="B55D09"/>
            </a:solidFill>
          </a:ln>
        </p:spPr>
      </p:sp>
      <p:sp>
        <p:nvSpPr>
          <p:cNvPr id="17" name="正方形/長方形 16">
            <a:extLst xmlns:a="http://schemas.openxmlformats.org/drawingml/2006/main">
              <a:ext uri="{FF2B5EF4-FFF2-40B4-BE49-F238E27FC236}">
                <a16:creationId xmlns:a16="http://schemas.microsoft.com/office/drawing/2014/main" id="{AA7118CC-2EED-4853-986F-1F18119D7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60000">
            <a:off x="3886200" y="2724150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BB96"/>
          </a:solidFill>
          <a:ln xmlns:a="http://schemas.openxmlformats.org/drawingml/2006/main" w="14288">
            <a:solidFill>
              <a:srgbClr val="B55D09"/>
            </a:solidFill>
          </a:ln>
        </p:spPr>
      </p:sp>
      <p:sp>
        <p:nvSpPr>
          <p:cNvPr id="18" name="正方形/長方形 17">
            <a:extLst xmlns:a="http://schemas.openxmlformats.org/drawingml/2006/main">
              <a:ext uri="{FF2B5EF4-FFF2-40B4-BE49-F238E27FC236}">
                <a16:creationId xmlns:a16="http://schemas.microsoft.com/office/drawing/2014/main" id="{20F18134-437D-4330-9F0A-8F4B1D7D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460000">
            <a:off x="4572000" y="2724150"/>
            <a:ext cx="4000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AA8D"/>
          </a:solidFill>
          <a:ln xmlns:a="http://schemas.openxmlformats.org/drawingml/2006/main" w="14288">
            <a:solidFill>
              <a:srgbClr val="B55D09"/>
            </a:solidFill>
          </a:ln>
        </p:spPr>
      </p:sp>
      <p:sp>
        <p:nvSpPr>
          <p:cNvPr id="19" name="正方形/長方形 18">
            <a:extLst xmlns:a="http://schemas.openxmlformats.org/drawingml/2006/main">
              <a:ext uri="{FF2B5EF4-FFF2-40B4-BE49-F238E27FC236}">
                <a16:creationId xmlns:a16="http://schemas.microsoft.com/office/drawing/2014/main" id="{2F425176-E60E-4416-8655-DAF7A4E3E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840000">
            <a:off x="5257800" y="272415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BB96"/>
          </a:solidFill>
          <a:ln xmlns:a="http://schemas.openxmlformats.org/drawingml/2006/main" w="14288">
            <a:solidFill>
              <a:srgbClr val="B55D09"/>
            </a:solidFill>
          </a:ln>
        </p:spPr>
      </p:sp>
      <p:sp>
        <p:nvSpPr>
          <p:cNvPr id="20" name="正方形/長方形 19">
            <a:extLst xmlns:a="http://schemas.openxmlformats.org/drawingml/2006/main">
              <a:ext uri="{FF2B5EF4-FFF2-40B4-BE49-F238E27FC236}">
                <a16:creationId xmlns:a16="http://schemas.microsoft.com/office/drawing/2014/main" id="{D54687AE-8FC9-43F3-ADC6-25C9246F6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05175"/>
            <a:ext cx="514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AA8D"/>
          </a:solidFill>
          <a:ln xmlns:a="http://schemas.openxmlformats.org/drawingml/2006/main" w="14288">
            <a:solidFill>
              <a:srgbClr val="B55D09"/>
            </a:solidFill>
          </a:ln>
        </p:spPr>
      </p:sp>
      <p:sp>
        <p:nvSpPr>
          <p:cNvPr id="21" name="正方形/長方形 20">
            <a:extLst xmlns:a="http://schemas.openxmlformats.org/drawingml/2006/main">
              <a:ext uri="{FF2B5EF4-FFF2-40B4-BE49-F238E27FC236}">
                <a16:creationId xmlns:a16="http://schemas.microsoft.com/office/drawing/2014/main" id="{EED652FE-2B10-403B-8E55-47C412A40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620000">
            <a:off x="1828800" y="3305175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BB96"/>
          </a:solidFill>
          <a:ln xmlns:a="http://schemas.openxmlformats.org/drawingml/2006/main" w="14288">
            <a:solidFill>
              <a:srgbClr val="B55D09"/>
            </a:solidFill>
          </a:ln>
        </p:spPr>
      </p:sp>
      <p:sp>
        <p:nvSpPr>
          <p:cNvPr id="22" name="正方形/長方形 21">
            <a:extLst xmlns:a="http://schemas.openxmlformats.org/drawingml/2006/main">
              <a:ext uri="{FF2B5EF4-FFF2-40B4-BE49-F238E27FC236}">
                <a16:creationId xmlns:a16="http://schemas.microsoft.com/office/drawing/2014/main" id="{68AFE812-FE29-46D4-A9DB-076B8CE97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60000">
            <a:off x="2514600" y="3305175"/>
            <a:ext cx="457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AA8D"/>
          </a:solidFill>
          <a:ln xmlns:a="http://schemas.openxmlformats.org/drawingml/2006/main" w="14288">
            <a:solidFill>
              <a:srgbClr val="B55D09"/>
            </a:solidFill>
          </a:ln>
        </p:spPr>
      </p:sp>
      <p:sp>
        <p:nvSpPr>
          <p:cNvPr id="23" name="正方形/長方形 22">
            <a:extLst xmlns:a="http://schemas.openxmlformats.org/drawingml/2006/main">
              <a:ext uri="{FF2B5EF4-FFF2-40B4-BE49-F238E27FC236}">
                <a16:creationId xmlns:a16="http://schemas.microsoft.com/office/drawing/2014/main" id="{CEE1DE33-676D-4A48-8496-14A894249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460000">
            <a:off x="3200400" y="3305175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BB96"/>
          </a:solidFill>
          <a:ln xmlns:a="http://schemas.openxmlformats.org/drawingml/2006/main" w="14288">
            <a:solidFill>
              <a:srgbClr val="B55D09"/>
            </a:solidFill>
          </a:ln>
        </p:spPr>
      </p:sp>
      <p:sp>
        <p:nvSpPr>
          <p:cNvPr id="24" name="正方形/長方形 23">
            <a:extLst xmlns:a="http://schemas.openxmlformats.org/drawingml/2006/main">
              <a:ext uri="{FF2B5EF4-FFF2-40B4-BE49-F238E27FC236}">
                <a16:creationId xmlns:a16="http://schemas.microsoft.com/office/drawing/2014/main" id="{BE173EB3-8175-4A05-8EAE-DEB37BC71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840000">
            <a:off x="3886200" y="3305175"/>
            <a:ext cx="4000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AA8D"/>
          </a:solidFill>
          <a:ln xmlns:a="http://schemas.openxmlformats.org/drawingml/2006/main" w="14288">
            <a:solidFill>
              <a:srgbClr val="B55D09"/>
            </a:solidFill>
          </a:ln>
        </p:spPr>
      </p:sp>
      <p:sp>
        <p:nvSpPr>
          <p:cNvPr id="25" name="正方形/長方形 24">
            <a:extLst xmlns:a="http://schemas.openxmlformats.org/drawingml/2006/main">
              <a:ext uri="{FF2B5EF4-FFF2-40B4-BE49-F238E27FC236}">
                <a16:creationId xmlns:a16="http://schemas.microsoft.com/office/drawing/2014/main" id="{35C74B42-817E-48DC-975E-07E064E22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0517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BB96"/>
          </a:solidFill>
          <a:ln xmlns:a="http://schemas.openxmlformats.org/drawingml/2006/main" w="14288">
            <a:solidFill>
              <a:srgbClr val="B55D09"/>
            </a:solidFill>
          </a:ln>
        </p:spPr>
      </p:sp>
      <p:sp>
        <p:nvSpPr>
          <p:cNvPr id="26" name="正方形/長方形 25">
            <a:extLst xmlns:a="http://schemas.openxmlformats.org/drawingml/2006/main">
              <a:ext uri="{FF2B5EF4-FFF2-40B4-BE49-F238E27FC236}">
                <a16:creationId xmlns:a16="http://schemas.microsoft.com/office/drawing/2014/main" id="{C9972142-98D3-4AD5-BD4E-0F1B9B2D6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620000">
            <a:off x="5257800" y="3305175"/>
            <a:ext cx="514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AA8D"/>
          </a:solidFill>
          <a:ln xmlns:a="http://schemas.openxmlformats.org/drawingml/2006/main" w="14288">
            <a:solidFill>
              <a:srgbClr val="B55D09"/>
            </a:solidFill>
          </a:ln>
        </p:spPr>
      </p:sp>
      <p:sp>
        <p:nvSpPr>
          <p:cNvPr id="27" name="正方形/長方形 26">
            <a:extLst xmlns:a="http://schemas.openxmlformats.org/drawingml/2006/main">
              <a:ext uri="{FF2B5EF4-FFF2-40B4-BE49-F238E27FC236}">
                <a16:creationId xmlns:a16="http://schemas.microsoft.com/office/drawing/2014/main" id="{49214116-CE75-4470-BF27-19ED0A2FF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60000">
            <a:off x="1143000" y="388620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BB96"/>
          </a:solidFill>
          <a:ln xmlns:a="http://schemas.openxmlformats.org/drawingml/2006/main" w="14288">
            <a:solidFill>
              <a:srgbClr val="B55D09"/>
            </a:solidFill>
          </a:ln>
        </p:spPr>
      </p:sp>
      <p:sp>
        <p:nvSpPr>
          <p:cNvPr id="28" name="正方形/長方形 27">
            <a:extLst xmlns:a="http://schemas.openxmlformats.org/drawingml/2006/main">
              <a:ext uri="{FF2B5EF4-FFF2-40B4-BE49-F238E27FC236}">
                <a16:creationId xmlns:a16="http://schemas.microsoft.com/office/drawing/2014/main" id="{BB513DA6-1C76-400D-AD21-DD9573409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460000">
            <a:off x="1828800" y="3886200"/>
            <a:ext cx="457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AA8D"/>
          </a:solidFill>
          <a:ln xmlns:a="http://schemas.openxmlformats.org/drawingml/2006/main" w="14288">
            <a:solidFill>
              <a:srgbClr val="B55D09"/>
            </a:solidFill>
          </a:ln>
        </p:spPr>
      </p:sp>
      <p:sp>
        <p:nvSpPr>
          <p:cNvPr id="29" name="正方形/長方形 28">
            <a:extLst xmlns:a="http://schemas.openxmlformats.org/drawingml/2006/main">
              <a:ext uri="{FF2B5EF4-FFF2-40B4-BE49-F238E27FC236}">
                <a16:creationId xmlns:a16="http://schemas.microsoft.com/office/drawing/2014/main" id="{93F63A11-FCE4-4B94-A7A4-FB8008308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840000">
            <a:off x="2514600" y="3886200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BB96"/>
          </a:solidFill>
          <a:ln xmlns:a="http://schemas.openxmlformats.org/drawingml/2006/main" w="14288">
            <a:solidFill>
              <a:srgbClr val="B55D09"/>
            </a:solidFill>
          </a:ln>
        </p:spPr>
      </p:sp>
      <p:sp>
        <p:nvSpPr>
          <p:cNvPr id="30" name="正方形/長方形 29">
            <a:extLst xmlns:a="http://schemas.openxmlformats.org/drawingml/2006/main">
              <a:ext uri="{FF2B5EF4-FFF2-40B4-BE49-F238E27FC236}">
                <a16:creationId xmlns:a16="http://schemas.microsoft.com/office/drawing/2014/main" id="{55033643-1F10-4450-9B3A-BAE3D7A8F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886200"/>
            <a:ext cx="4000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AA8D"/>
          </a:solidFill>
          <a:ln xmlns:a="http://schemas.openxmlformats.org/drawingml/2006/main" w="14288">
            <a:solidFill>
              <a:srgbClr val="B55D09"/>
            </a:solidFill>
          </a:ln>
        </p:spPr>
      </p:sp>
      <p:sp>
        <p:nvSpPr>
          <p:cNvPr id="31" name="正方形/長方形 30">
            <a:extLst xmlns:a="http://schemas.openxmlformats.org/drawingml/2006/main">
              <a:ext uri="{FF2B5EF4-FFF2-40B4-BE49-F238E27FC236}">
                <a16:creationId xmlns:a16="http://schemas.microsoft.com/office/drawing/2014/main" id="{D07A2EE3-49D1-4C1E-93D7-91716488E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620000">
            <a:off x="3886200" y="38862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BB96"/>
          </a:solidFill>
          <a:ln xmlns:a="http://schemas.openxmlformats.org/drawingml/2006/main" w="14288">
            <a:solidFill>
              <a:srgbClr val="B55D09"/>
            </a:solidFill>
          </a:ln>
        </p:spPr>
      </p:sp>
      <p:sp>
        <p:nvSpPr>
          <p:cNvPr id="32" name="正方形/長方形 31">
            <a:extLst xmlns:a="http://schemas.openxmlformats.org/drawingml/2006/main">
              <a:ext uri="{FF2B5EF4-FFF2-40B4-BE49-F238E27FC236}">
                <a16:creationId xmlns:a16="http://schemas.microsoft.com/office/drawing/2014/main" id="{24911D91-0067-4FE2-8EEE-1B25FE200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60000">
            <a:off x="4572000" y="3886200"/>
            <a:ext cx="514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AA8D"/>
          </a:solidFill>
          <a:ln xmlns:a="http://schemas.openxmlformats.org/drawingml/2006/main" w="14288">
            <a:solidFill>
              <a:srgbClr val="B55D09"/>
            </a:solidFill>
          </a:ln>
        </p:spPr>
      </p:sp>
      <p:sp>
        <p:nvSpPr>
          <p:cNvPr id="33" name="正方形/長方形 32">
            <a:extLst xmlns:a="http://schemas.openxmlformats.org/drawingml/2006/main">
              <a:ext uri="{FF2B5EF4-FFF2-40B4-BE49-F238E27FC236}">
                <a16:creationId xmlns:a16="http://schemas.microsoft.com/office/drawing/2014/main" id="{AF7C731D-747D-4DDD-8ACD-07AB6AFAC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460000">
            <a:off x="5257800" y="388620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BB96"/>
          </a:solidFill>
          <a:ln xmlns:a="http://schemas.openxmlformats.org/drawingml/2006/main" w="14288">
            <a:solidFill>
              <a:srgbClr val="B55D09"/>
            </a:solidFill>
          </a:ln>
        </p:spPr>
      </p:sp>
      <p:sp>
        <p:nvSpPr>
          <p:cNvPr id="34" name="正方形/長方形 33">
            <a:extLst xmlns:a="http://schemas.openxmlformats.org/drawingml/2006/main">
              <a:ext uri="{FF2B5EF4-FFF2-40B4-BE49-F238E27FC236}">
                <a16:creationId xmlns:a16="http://schemas.microsoft.com/office/drawing/2014/main" id="{EE20E545-3306-48B4-ADBD-3658BE6A0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840000">
            <a:off x="1143000" y="4467225"/>
            <a:ext cx="457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AA8D"/>
          </a:solidFill>
          <a:ln xmlns:a="http://schemas.openxmlformats.org/drawingml/2006/main" w="14288">
            <a:solidFill>
              <a:srgbClr val="B55D09"/>
            </a:solidFill>
          </a:ln>
        </p:spPr>
      </p:sp>
      <p:sp>
        <p:nvSpPr>
          <p:cNvPr id="35" name="正方形/長方形 34">
            <a:extLst xmlns:a="http://schemas.openxmlformats.org/drawingml/2006/main">
              <a:ext uri="{FF2B5EF4-FFF2-40B4-BE49-F238E27FC236}">
                <a16:creationId xmlns:a16="http://schemas.microsoft.com/office/drawing/2014/main" id="{A22FB20A-5870-46BF-949E-88EDCC040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467225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BB96"/>
          </a:solidFill>
          <a:ln xmlns:a="http://schemas.openxmlformats.org/drawingml/2006/main" w="14288">
            <a:solidFill>
              <a:srgbClr val="B55D09"/>
            </a:solidFill>
          </a:ln>
        </p:spPr>
      </p:sp>
      <p:sp>
        <p:nvSpPr>
          <p:cNvPr id="36" name="正方形/長方形 35">
            <a:extLst xmlns:a="http://schemas.openxmlformats.org/drawingml/2006/main">
              <a:ext uri="{FF2B5EF4-FFF2-40B4-BE49-F238E27FC236}">
                <a16:creationId xmlns:a16="http://schemas.microsoft.com/office/drawing/2014/main" id="{24BB3E75-D2AF-4A55-AE32-3D122F872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620000">
            <a:off x="2514600" y="4467225"/>
            <a:ext cx="4000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AA8D"/>
          </a:solidFill>
          <a:ln xmlns:a="http://schemas.openxmlformats.org/drawingml/2006/main" w="14288">
            <a:solidFill>
              <a:srgbClr val="B55D09"/>
            </a:solidFill>
          </a:ln>
        </p:spPr>
      </p:sp>
      <p:sp>
        <p:nvSpPr>
          <p:cNvPr id="37" name="正方形/長方形 36">
            <a:extLst xmlns:a="http://schemas.openxmlformats.org/drawingml/2006/main">
              <a:ext uri="{FF2B5EF4-FFF2-40B4-BE49-F238E27FC236}">
                <a16:creationId xmlns:a16="http://schemas.microsoft.com/office/drawing/2014/main" id="{02B795A2-8558-4D58-A76D-EE8B10504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60000">
            <a:off x="3200400" y="44672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BB96"/>
          </a:solidFill>
          <a:ln xmlns:a="http://schemas.openxmlformats.org/drawingml/2006/main" w="14288">
            <a:solidFill>
              <a:srgbClr val="B55D09"/>
            </a:solidFill>
          </a:ln>
        </p:spPr>
      </p:sp>
      <p:sp>
        <p:nvSpPr>
          <p:cNvPr id="38" name="正方形/長方形 37">
            <a:extLst xmlns:a="http://schemas.openxmlformats.org/drawingml/2006/main">
              <a:ext uri="{FF2B5EF4-FFF2-40B4-BE49-F238E27FC236}">
                <a16:creationId xmlns:a16="http://schemas.microsoft.com/office/drawing/2014/main" id="{37FF694D-4BD2-4F8B-8D41-0C047FE21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460000">
            <a:off x="3886200" y="4467225"/>
            <a:ext cx="514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AA8D"/>
          </a:solidFill>
          <a:ln xmlns:a="http://schemas.openxmlformats.org/drawingml/2006/main" w="14288">
            <a:solidFill>
              <a:srgbClr val="B55D09"/>
            </a:solidFill>
          </a:ln>
        </p:spPr>
      </p:sp>
      <p:sp>
        <p:nvSpPr>
          <p:cNvPr id="39" name="正方形/長方形 38">
            <a:extLst xmlns:a="http://schemas.openxmlformats.org/drawingml/2006/main">
              <a:ext uri="{FF2B5EF4-FFF2-40B4-BE49-F238E27FC236}">
                <a16:creationId xmlns:a16="http://schemas.microsoft.com/office/drawing/2014/main" id="{CE9B163E-CF5D-4D9C-8C4C-17715E570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840000">
            <a:off x="4572000" y="4467225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BB96"/>
          </a:solidFill>
          <a:ln xmlns:a="http://schemas.openxmlformats.org/drawingml/2006/main" w="14288">
            <a:solidFill>
              <a:srgbClr val="B55D09"/>
            </a:solidFill>
          </a:ln>
        </p:spPr>
      </p:sp>
      <p:sp>
        <p:nvSpPr>
          <p:cNvPr id="40" name="正方形/長方形 39">
            <a:extLst xmlns:a="http://schemas.openxmlformats.org/drawingml/2006/main">
              <a:ext uri="{FF2B5EF4-FFF2-40B4-BE49-F238E27FC236}">
                <a16:creationId xmlns:a16="http://schemas.microsoft.com/office/drawing/2014/main" id="{41A99898-F39F-4E25-84E2-209B277E5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467225"/>
            <a:ext cx="457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AA8D"/>
          </a:solidFill>
          <a:ln xmlns:a="http://schemas.openxmlformats.org/drawingml/2006/main" w="14288">
            <a:solidFill>
              <a:srgbClr val="B55D09"/>
            </a:solidFill>
          </a:ln>
        </p:spPr>
      </p:sp>
      <p:sp>
        <p:nvSpPr>
          <p:cNvPr id="41" name="正方形/長方形 40">
            <a:extLst xmlns:a="http://schemas.openxmlformats.org/drawingml/2006/main">
              <a:ext uri="{FF2B5EF4-FFF2-40B4-BE49-F238E27FC236}">
                <a16:creationId xmlns:a16="http://schemas.microsoft.com/office/drawing/2014/main" id="{77E47770-96C3-4C09-815D-D6078205A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933575"/>
            <a:ext cx="43148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小片を要素にする</a:t>
            </a:r>
          </a:p>
        </p:txBody>
      </p:sp>
      <p:sp>
        <p:nvSpPr>
          <p:cNvPr id="42" name="正方形/長方形 41">
            <a:extLst xmlns:a="http://schemas.openxmlformats.org/drawingml/2006/main">
              <a:ext uri="{FF2B5EF4-FFF2-40B4-BE49-F238E27FC236}">
                <a16:creationId xmlns:a16="http://schemas.microsoft.com/office/drawing/2014/main" id="{46E4195F-B409-4DD8-90FD-B56999451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809875"/>
            <a:ext cx="43148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粒の大きさと層構成</a:t>
            </a:r>
          </a:p>
        </p:txBody>
      </p:sp>
      <p:sp>
        <p:nvSpPr>
          <p:cNvPr id="43" name="正方形/長方形 42">
            <a:extLst xmlns:a="http://schemas.openxmlformats.org/drawingml/2006/main">
              <a:ext uri="{FF2B5EF4-FFF2-40B4-BE49-F238E27FC236}">
                <a16:creationId xmlns:a16="http://schemas.microsoft.com/office/drawing/2014/main" id="{BD59CDE3-E486-4EA5-84B8-C90DF9E01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686175"/>
            <a:ext cx="43148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密度分布と接着</a:t>
            </a:r>
          </a:p>
        </p:txBody>
      </p:sp>
      <p:sp>
        <p:nvSpPr>
          <p:cNvPr id="44" name="正方形/長方形 43">
            <a:extLst xmlns:a="http://schemas.openxmlformats.org/drawingml/2006/main">
              <a:ext uri="{FF2B5EF4-FFF2-40B4-BE49-F238E27FC236}">
                <a16:creationId xmlns:a16="http://schemas.microsoft.com/office/drawing/2014/main" id="{19A4FC6D-F92F-4551-B415-4BD50D72E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562475"/>
            <a:ext cx="43148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端面・接合・耐湿性</a:t>
            </a:r>
          </a:p>
        </p:txBody>
      </p:sp>
    </p:spTree>
    <p:extLst>
      <p:ext uri="{BB962C8B-B14F-4D97-AF65-F5344CB8AC3E}">
        <p14:creationId xmlns:p14="http://schemas.microsoft.com/office/powerpoint/2010/main" val="1577268889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正方形/長方形 9">
            <a:extLst xmlns:a="http://schemas.openxmlformats.org/drawingml/2006/main">
              <a:ext uri="{FF2B5EF4-FFF2-40B4-BE49-F238E27FC236}">
                <a16:creationId xmlns:a16="http://schemas.microsoft.com/office/drawing/2014/main" id="{5D49D265-2BB3-4861-8457-B9433FE58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繊維板とMDF</a:t>
            </a:r>
          </a:p>
        </p:txBody>
      </p:sp>
      <p:cxnSp>
        <p:nvCxnSpPr>
          <p:cNvPr id="2" name="直線矢印コネクタ 1">
            <a:extLst xmlns:a="http://schemas.openxmlformats.org/drawingml/2006/main">
              <a:ext uri="{FF2B5EF4-FFF2-40B4-BE49-F238E27FC236}">
                <a16:creationId xmlns:a16="http://schemas.microsoft.com/office/drawing/2014/main" id="{A3C5CB9D-E190-4D6A-91BB-F984C309E990}"/>
              </a:ext>
            </a:extLst>
          </p:cNvPr>
          <p:cNvCxnSpPr/>
          <p:nvPr/>
        </p:nvCxnSpPr>
        <p:spPr>
          <a:xfrm xmlns:a="http://schemas.openxmlformats.org/drawingml/2006/main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25EBB31F-9C26-4EA7-8BED-05B197C3A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第12回</a:t>
            </a:r>
          </a:p>
        </p:txBody>
      </p:sp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0F0E9E9D-08AB-44F3-ACFF-5527C7461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15</a:t>
            </a:r>
          </a:p>
        </p:txBody>
      </p:sp>
      <p:sp>
        <p:nvSpPr>
          <p:cNvPr id="5" name="正方形/長方形 4">
            <a:extLst xmlns:a="http://schemas.openxmlformats.org/drawingml/2006/main">
              <a:ext uri="{FF2B5EF4-FFF2-40B4-BE49-F238E27FC236}">
                <a16:creationId xmlns:a16="http://schemas.microsoft.com/office/drawing/2014/main" id="{CA92C2F6-4C33-43CE-A5AA-36E79AD4F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木材を繊維状にほぐして、再び板に成形する</a:t>
            </a: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66DCD30F-D1D7-497B-98AC-C1AE6C67F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MDFは中密度繊維板で、微細な要素による平滑な表面が特徴</a:t>
            </a:r>
          </a:p>
        </p:txBody>
      </p:sp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58F14E84-9DB9-4E86-827D-D6B3DD091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切削や表面仕上げに適した製品があるが、製品差も大きい</a:t>
            </a:r>
          </a:p>
        </p:txBody>
      </p:sp>
      <p:sp>
        <p:nvSpPr>
          <p:cNvPr id="8" name="正方形/長方形 7">
            <a:extLst xmlns:a="http://schemas.openxmlformats.org/drawingml/2006/main">
              <a:ext uri="{FF2B5EF4-FFF2-40B4-BE49-F238E27FC236}">
                <a16:creationId xmlns:a16="http://schemas.microsoft.com/office/drawing/2014/main" id="{8D522814-0DBD-4C24-8E73-6F5780269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密度、厚さ方向の密度分布、接着、耐湿性が性能に関わる</a:t>
            </a:r>
          </a:p>
        </p:txBody>
      </p:sp>
      <p:sp>
        <p:nvSpPr>
          <p:cNvPr id="9" name="正方形/長方形 8">
            <a:extLst xmlns:a="http://schemas.openxmlformats.org/drawingml/2006/main">
              <a:ext uri="{FF2B5EF4-FFF2-40B4-BE49-F238E27FC236}">
                <a16:creationId xmlns:a16="http://schemas.microsoft.com/office/drawing/2014/main" id="{17889C31-9F94-4920-A728-6E8EE3FD9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端面への接合と吸水による厚さ変化も、採用前に確認する</a:t>
            </a:r>
          </a:p>
        </p:txBody>
      </p:sp>
    </p:spTree>
    <p:extLst>
      <p:ext uri="{BB962C8B-B14F-4D97-AF65-F5344CB8AC3E}">
        <p14:creationId xmlns:p14="http://schemas.microsoft.com/office/powerpoint/2010/main" val="1346231534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正方形/長方形 50">
            <a:extLst xmlns:a="http://schemas.openxmlformats.org/drawingml/2006/main">
              <a:ext uri="{FF2B5EF4-FFF2-40B4-BE49-F238E27FC236}">
                <a16:creationId xmlns:a16="http://schemas.microsoft.com/office/drawing/2014/main" id="{B2239B7B-1A79-4E86-91CF-C2BEF12DB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繊維板の要素</a:t>
            </a:r>
          </a:p>
        </p:txBody>
      </p:sp>
      <p:cxnSp>
        <p:nvCxnSpPr>
          <p:cNvPr id="2" name="直線矢印コネクタ 1">
            <a:extLst xmlns:a="http://schemas.openxmlformats.org/drawingml/2006/main">
              <a:ext uri="{FF2B5EF4-FFF2-40B4-BE49-F238E27FC236}">
                <a16:creationId xmlns:a16="http://schemas.microsoft.com/office/drawing/2014/main" id="{87BC61B9-DC52-4AF3-8560-3B3EB8B52B25}"/>
              </a:ext>
            </a:extLst>
          </p:cNvPr>
          <p:cNvCxnSpPr/>
          <p:nvPr/>
        </p:nvCxnSpPr>
        <p:spPr>
          <a:xfrm xmlns:a="http://schemas.openxmlformats.org/drawingml/2006/main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68ABC60C-A72B-426B-90D2-C954FCEC7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第12回</a:t>
            </a:r>
          </a:p>
        </p:txBody>
      </p:sp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831E672A-6B27-4C3F-86E0-BA55DA89F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16</a:t>
            </a:r>
          </a:p>
        </p:txBody>
      </p:sp>
      <p:sp>
        <p:nvSpPr>
          <p:cNvPr id="5" name="正方形/長方形 4">
            <a:extLst xmlns:a="http://schemas.openxmlformats.org/drawingml/2006/main">
              <a:ext uri="{FF2B5EF4-FFF2-40B4-BE49-F238E27FC236}">
                <a16:creationId xmlns:a16="http://schemas.microsoft.com/office/drawing/2014/main" id="{25A345E1-C619-4B3F-9F76-AD4D4E3BD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52625"/>
            <a:ext cx="5143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4"/>
          </a:solidFill>
          <a:ln xmlns:a="http://schemas.openxmlformats.org/drawingml/2006/main" w="14288">
            <a:solidFill>
              <a:srgbClr val="B55D09"/>
            </a:solidFill>
          </a:ln>
        </p:spPr>
      </p:sp>
      <p:cxnSp>
        <p:nvCxnSpPr>
          <p:cNvPr id="6" name="直線矢印コネクタ 5">
            <a:extLst xmlns:a="http://schemas.openxmlformats.org/drawingml/2006/main">
              <a:ext uri="{FF2B5EF4-FFF2-40B4-BE49-F238E27FC236}">
                <a16:creationId xmlns:a16="http://schemas.microsoft.com/office/drawing/2014/main" id="{B5C000C9-C35C-46B4-8CFD-EBDAE2F59153}"/>
              </a:ext>
            </a:extLst>
          </p:cNvPr>
          <p:cNvCxnSpPr/>
          <p:nvPr/>
        </p:nvCxnSpPr>
        <p:spPr>
          <a:xfrm xmlns:a="http://schemas.openxmlformats.org/drawingml/2006/main" flipV="1">
            <a:off x="1162050" y="2009775"/>
            <a:ext cx="28575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55D09"/>
            </a:solidFill>
          </a:ln>
        </p:spPr>
      </p:cxnSp>
      <p:cxnSp>
        <p:nvCxnSpPr>
          <p:cNvPr id="7" name="直線矢印コネクタ 6">
            <a:extLst xmlns:a="http://schemas.openxmlformats.org/drawingml/2006/main">
              <a:ext uri="{FF2B5EF4-FFF2-40B4-BE49-F238E27FC236}">
                <a16:creationId xmlns:a16="http://schemas.microsoft.com/office/drawing/2014/main" id="{786353F3-4375-4569-9E66-DFA6601A1AB3}"/>
              </a:ext>
            </a:extLst>
          </p:cNvPr>
          <p:cNvCxnSpPr/>
          <p:nvPr/>
        </p:nvCxnSpPr>
        <p:spPr>
          <a:xfrm xmlns:a="http://schemas.openxmlformats.org/drawingml/2006/main">
            <a:off x="1752600" y="215265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55D09"/>
            </a:solidFill>
          </a:ln>
        </p:spPr>
      </p:cxnSp>
      <p:cxnSp>
        <p:nvCxnSpPr>
          <p:cNvPr id="8" name="直線矢印コネクタ 7">
            <a:extLst xmlns:a="http://schemas.openxmlformats.org/drawingml/2006/main">
              <a:ext uri="{FF2B5EF4-FFF2-40B4-BE49-F238E27FC236}">
                <a16:creationId xmlns:a16="http://schemas.microsoft.com/office/drawing/2014/main" id="{F77FA507-E89E-43AC-94CB-2B6691FA3406}"/>
              </a:ext>
            </a:extLst>
          </p:cNvPr>
          <p:cNvCxnSpPr/>
          <p:nvPr/>
        </p:nvCxnSpPr>
        <p:spPr>
          <a:xfrm xmlns:a="http://schemas.openxmlformats.org/drawingml/2006/main">
            <a:off x="2343150" y="2152650"/>
            <a:ext cx="43815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55D09"/>
            </a:solidFill>
          </a:ln>
        </p:spPr>
      </p:cxnSp>
      <p:cxnSp>
        <p:nvCxnSpPr>
          <p:cNvPr id="9" name="直線矢印コネクタ 8">
            <a:extLst xmlns:a="http://schemas.openxmlformats.org/drawingml/2006/main">
              <a:ext uri="{FF2B5EF4-FFF2-40B4-BE49-F238E27FC236}">
                <a16:creationId xmlns:a16="http://schemas.microsoft.com/office/drawing/2014/main" id="{D36DF020-19A0-48E4-8919-A34B578FA17F}"/>
              </a:ext>
            </a:extLst>
          </p:cNvPr>
          <p:cNvCxnSpPr/>
          <p:nvPr/>
        </p:nvCxnSpPr>
        <p:spPr>
          <a:xfrm xmlns:a="http://schemas.openxmlformats.org/drawingml/2006/main" flipV="1">
            <a:off x="2933700" y="2009775"/>
            <a:ext cx="28575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55D09"/>
            </a:solidFill>
          </a:ln>
        </p:spPr>
      </p:cxnSp>
      <p:cxnSp>
        <p:nvCxnSpPr>
          <p:cNvPr id="10" name="直線矢印コネクタ 9">
            <a:extLst xmlns:a="http://schemas.openxmlformats.org/drawingml/2006/main">
              <a:ext uri="{FF2B5EF4-FFF2-40B4-BE49-F238E27FC236}">
                <a16:creationId xmlns:a16="http://schemas.microsoft.com/office/drawing/2014/main" id="{53D277D3-9F3B-40CD-8E86-DB5B25AF7F6E}"/>
              </a:ext>
            </a:extLst>
          </p:cNvPr>
          <p:cNvCxnSpPr/>
          <p:nvPr/>
        </p:nvCxnSpPr>
        <p:spPr>
          <a:xfrm xmlns:a="http://schemas.openxmlformats.org/drawingml/2006/main">
            <a:off x="3524250" y="215265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55D09"/>
            </a:solidFill>
          </a:ln>
        </p:spPr>
      </p:cxnSp>
      <p:cxnSp>
        <p:nvCxnSpPr>
          <p:cNvPr id="11" name="直線矢印コネクタ 10">
            <a:extLst xmlns:a="http://schemas.openxmlformats.org/drawingml/2006/main">
              <a:ext uri="{FF2B5EF4-FFF2-40B4-BE49-F238E27FC236}">
                <a16:creationId xmlns:a16="http://schemas.microsoft.com/office/drawing/2014/main" id="{4A9495CC-EA62-4CD2-A697-9B56850891EF}"/>
              </a:ext>
            </a:extLst>
          </p:cNvPr>
          <p:cNvCxnSpPr/>
          <p:nvPr/>
        </p:nvCxnSpPr>
        <p:spPr>
          <a:xfrm xmlns:a="http://schemas.openxmlformats.org/drawingml/2006/main">
            <a:off x="4114800" y="2152650"/>
            <a:ext cx="43815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55D09"/>
            </a:solidFill>
          </a:ln>
        </p:spPr>
      </p:cxnSp>
      <p:cxnSp>
        <p:nvCxnSpPr>
          <p:cNvPr id="12" name="直線矢印コネクタ 11">
            <a:extLst xmlns:a="http://schemas.openxmlformats.org/drawingml/2006/main">
              <a:ext uri="{FF2B5EF4-FFF2-40B4-BE49-F238E27FC236}">
                <a16:creationId xmlns:a16="http://schemas.microsoft.com/office/drawing/2014/main" id="{4C8B88EA-B6B6-4E53-A251-73CD85005B4F}"/>
              </a:ext>
            </a:extLst>
          </p:cNvPr>
          <p:cNvCxnSpPr/>
          <p:nvPr/>
        </p:nvCxnSpPr>
        <p:spPr>
          <a:xfrm xmlns:a="http://schemas.openxmlformats.org/drawingml/2006/main" flipV="1">
            <a:off x="4705350" y="2009775"/>
            <a:ext cx="28575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55D09"/>
            </a:solidFill>
          </a:ln>
        </p:spPr>
      </p:cxnSp>
      <p:cxnSp>
        <p:nvCxnSpPr>
          <p:cNvPr id="13" name="直線矢印コネクタ 12">
            <a:extLst xmlns:a="http://schemas.openxmlformats.org/drawingml/2006/main">
              <a:ext uri="{FF2B5EF4-FFF2-40B4-BE49-F238E27FC236}">
                <a16:creationId xmlns:a16="http://schemas.microsoft.com/office/drawing/2014/main" id="{4A3D444B-5727-43D9-8226-CB8F7263504A}"/>
              </a:ext>
            </a:extLst>
          </p:cNvPr>
          <p:cNvCxnSpPr/>
          <p:nvPr/>
        </p:nvCxnSpPr>
        <p:spPr>
          <a:xfrm xmlns:a="http://schemas.openxmlformats.org/drawingml/2006/main">
            <a:off x="5295900" y="215265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55D09"/>
            </a:solidFill>
          </a:ln>
        </p:spPr>
      </p:cxnSp>
      <p:cxnSp>
        <p:nvCxnSpPr>
          <p:cNvPr id="14" name="直線矢印コネクタ 13">
            <a:extLst xmlns:a="http://schemas.openxmlformats.org/drawingml/2006/main">
              <a:ext uri="{FF2B5EF4-FFF2-40B4-BE49-F238E27FC236}">
                <a16:creationId xmlns:a16="http://schemas.microsoft.com/office/drawing/2014/main" id="{5AD244A8-EA87-4E85-BC64-8A049E02189F}"/>
              </a:ext>
            </a:extLst>
          </p:cNvPr>
          <p:cNvCxnSpPr/>
          <p:nvPr/>
        </p:nvCxnSpPr>
        <p:spPr>
          <a:xfrm xmlns:a="http://schemas.openxmlformats.org/drawingml/2006/main">
            <a:off x="1162050" y="2733675"/>
            <a:ext cx="43815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55D09"/>
            </a:solidFill>
          </a:ln>
        </p:spPr>
      </p:cxnSp>
      <p:cxnSp>
        <p:nvCxnSpPr>
          <p:cNvPr id="15" name="直線矢印コネクタ 14">
            <a:extLst xmlns:a="http://schemas.openxmlformats.org/drawingml/2006/main">
              <a:ext uri="{FF2B5EF4-FFF2-40B4-BE49-F238E27FC236}">
                <a16:creationId xmlns:a16="http://schemas.microsoft.com/office/drawing/2014/main" id="{04F87A8F-9A3B-4E7A-A627-B08C0F63FB05}"/>
              </a:ext>
            </a:extLst>
          </p:cNvPr>
          <p:cNvCxnSpPr/>
          <p:nvPr/>
        </p:nvCxnSpPr>
        <p:spPr>
          <a:xfrm xmlns:a="http://schemas.openxmlformats.org/drawingml/2006/main" flipV="1">
            <a:off x="1752600" y="2590800"/>
            <a:ext cx="28575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55D09"/>
            </a:solidFill>
          </a:ln>
        </p:spPr>
      </p:cxnSp>
      <p:cxnSp>
        <p:nvCxnSpPr>
          <p:cNvPr id="16" name="直線矢印コネクタ 15">
            <a:extLst xmlns:a="http://schemas.openxmlformats.org/drawingml/2006/main">
              <a:ext uri="{FF2B5EF4-FFF2-40B4-BE49-F238E27FC236}">
                <a16:creationId xmlns:a16="http://schemas.microsoft.com/office/drawing/2014/main" id="{A50EC61F-82BD-4500-945C-3C73DFF6B0AE}"/>
              </a:ext>
            </a:extLst>
          </p:cNvPr>
          <p:cNvCxnSpPr/>
          <p:nvPr/>
        </p:nvCxnSpPr>
        <p:spPr>
          <a:xfrm xmlns:a="http://schemas.openxmlformats.org/drawingml/2006/main">
            <a:off x="2343150" y="2733675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55D09"/>
            </a:solidFill>
          </a:ln>
        </p:spPr>
      </p:cxnSp>
      <p:cxnSp>
        <p:nvCxnSpPr>
          <p:cNvPr id="17" name="直線矢印コネクタ 16">
            <a:extLst xmlns:a="http://schemas.openxmlformats.org/drawingml/2006/main">
              <a:ext uri="{FF2B5EF4-FFF2-40B4-BE49-F238E27FC236}">
                <a16:creationId xmlns:a16="http://schemas.microsoft.com/office/drawing/2014/main" id="{5083D18F-EB8E-4671-A6E0-A17EB87A8248}"/>
              </a:ext>
            </a:extLst>
          </p:cNvPr>
          <p:cNvCxnSpPr/>
          <p:nvPr/>
        </p:nvCxnSpPr>
        <p:spPr>
          <a:xfrm xmlns:a="http://schemas.openxmlformats.org/drawingml/2006/main">
            <a:off x="2933700" y="2733675"/>
            <a:ext cx="43815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55D09"/>
            </a:solidFill>
          </a:ln>
        </p:spPr>
      </p:cxnSp>
      <p:cxnSp>
        <p:nvCxnSpPr>
          <p:cNvPr id="18" name="直線矢印コネクタ 17">
            <a:extLst xmlns:a="http://schemas.openxmlformats.org/drawingml/2006/main">
              <a:ext uri="{FF2B5EF4-FFF2-40B4-BE49-F238E27FC236}">
                <a16:creationId xmlns:a16="http://schemas.microsoft.com/office/drawing/2014/main" id="{31126416-BE8C-49C5-89C8-4B70FCA00411}"/>
              </a:ext>
            </a:extLst>
          </p:cNvPr>
          <p:cNvCxnSpPr/>
          <p:nvPr/>
        </p:nvCxnSpPr>
        <p:spPr>
          <a:xfrm xmlns:a="http://schemas.openxmlformats.org/drawingml/2006/main" flipV="1">
            <a:off x="3524250" y="2590800"/>
            <a:ext cx="28575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55D09"/>
            </a:solidFill>
          </a:ln>
        </p:spPr>
      </p:cxnSp>
      <p:cxnSp>
        <p:nvCxnSpPr>
          <p:cNvPr id="19" name="直線矢印コネクタ 18">
            <a:extLst xmlns:a="http://schemas.openxmlformats.org/drawingml/2006/main">
              <a:ext uri="{FF2B5EF4-FFF2-40B4-BE49-F238E27FC236}">
                <a16:creationId xmlns:a16="http://schemas.microsoft.com/office/drawing/2014/main" id="{B4B44C11-A5C0-4302-9ECF-2A71FF2329D1}"/>
              </a:ext>
            </a:extLst>
          </p:cNvPr>
          <p:cNvCxnSpPr/>
          <p:nvPr/>
        </p:nvCxnSpPr>
        <p:spPr>
          <a:xfrm xmlns:a="http://schemas.openxmlformats.org/drawingml/2006/main">
            <a:off x="4114800" y="2733675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55D09"/>
            </a:solidFill>
          </a:ln>
        </p:spPr>
      </p:cxnSp>
      <p:cxnSp>
        <p:nvCxnSpPr>
          <p:cNvPr id="20" name="直線矢印コネクタ 19">
            <a:extLst xmlns:a="http://schemas.openxmlformats.org/drawingml/2006/main">
              <a:ext uri="{FF2B5EF4-FFF2-40B4-BE49-F238E27FC236}">
                <a16:creationId xmlns:a16="http://schemas.microsoft.com/office/drawing/2014/main" id="{BB11DA0B-79F9-44CE-9C8B-6A565FAC18EC}"/>
              </a:ext>
            </a:extLst>
          </p:cNvPr>
          <p:cNvCxnSpPr/>
          <p:nvPr/>
        </p:nvCxnSpPr>
        <p:spPr>
          <a:xfrm xmlns:a="http://schemas.openxmlformats.org/drawingml/2006/main">
            <a:off x="4705350" y="2733675"/>
            <a:ext cx="43815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55D09"/>
            </a:solidFill>
          </a:ln>
        </p:spPr>
      </p:cxnSp>
      <p:cxnSp>
        <p:nvCxnSpPr>
          <p:cNvPr id="21" name="直線矢印コネクタ 20">
            <a:extLst xmlns:a="http://schemas.openxmlformats.org/drawingml/2006/main">
              <a:ext uri="{FF2B5EF4-FFF2-40B4-BE49-F238E27FC236}">
                <a16:creationId xmlns:a16="http://schemas.microsoft.com/office/drawing/2014/main" id="{B94346F3-1A48-48AA-8BCD-E99862C6D0C7}"/>
              </a:ext>
            </a:extLst>
          </p:cNvPr>
          <p:cNvCxnSpPr/>
          <p:nvPr/>
        </p:nvCxnSpPr>
        <p:spPr>
          <a:xfrm xmlns:a="http://schemas.openxmlformats.org/drawingml/2006/main" flipV="1">
            <a:off x="5295900" y="2590800"/>
            <a:ext cx="28575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55D09"/>
            </a:solidFill>
          </a:ln>
        </p:spPr>
      </p:cxnSp>
      <p:cxnSp>
        <p:nvCxnSpPr>
          <p:cNvPr id="22" name="直線矢印コネクタ 21">
            <a:extLst xmlns:a="http://schemas.openxmlformats.org/drawingml/2006/main">
              <a:ext uri="{FF2B5EF4-FFF2-40B4-BE49-F238E27FC236}">
                <a16:creationId xmlns:a16="http://schemas.microsoft.com/office/drawing/2014/main" id="{F4D81E95-0716-4122-BF83-3DE8A7A1568A}"/>
              </a:ext>
            </a:extLst>
          </p:cNvPr>
          <p:cNvCxnSpPr/>
          <p:nvPr/>
        </p:nvCxnSpPr>
        <p:spPr>
          <a:xfrm xmlns:a="http://schemas.openxmlformats.org/drawingml/2006/main">
            <a:off x="1162050" y="33147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55D09"/>
            </a:solidFill>
          </a:ln>
        </p:spPr>
      </p:cxnSp>
      <p:cxnSp>
        <p:nvCxnSpPr>
          <p:cNvPr id="23" name="直線矢印コネクタ 22">
            <a:extLst xmlns:a="http://schemas.openxmlformats.org/drawingml/2006/main">
              <a:ext uri="{FF2B5EF4-FFF2-40B4-BE49-F238E27FC236}">
                <a16:creationId xmlns:a16="http://schemas.microsoft.com/office/drawing/2014/main" id="{806B2593-11EA-4B20-B675-15F0D50CC86D}"/>
              </a:ext>
            </a:extLst>
          </p:cNvPr>
          <p:cNvCxnSpPr/>
          <p:nvPr/>
        </p:nvCxnSpPr>
        <p:spPr>
          <a:xfrm xmlns:a="http://schemas.openxmlformats.org/drawingml/2006/main">
            <a:off x="1752600" y="3314700"/>
            <a:ext cx="43815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55D09"/>
            </a:solidFill>
          </a:ln>
        </p:spPr>
      </p:cxnSp>
      <p:cxnSp>
        <p:nvCxnSpPr>
          <p:cNvPr id="24" name="直線矢印コネクタ 23">
            <a:extLst xmlns:a="http://schemas.openxmlformats.org/drawingml/2006/main">
              <a:ext uri="{FF2B5EF4-FFF2-40B4-BE49-F238E27FC236}">
                <a16:creationId xmlns:a16="http://schemas.microsoft.com/office/drawing/2014/main" id="{0FAF5AA3-8BF8-416F-9AE8-1C834401C334}"/>
              </a:ext>
            </a:extLst>
          </p:cNvPr>
          <p:cNvCxnSpPr/>
          <p:nvPr/>
        </p:nvCxnSpPr>
        <p:spPr>
          <a:xfrm xmlns:a="http://schemas.openxmlformats.org/drawingml/2006/main" flipV="1">
            <a:off x="2343150" y="3171825"/>
            <a:ext cx="28575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55D09"/>
            </a:solidFill>
          </a:ln>
        </p:spPr>
      </p:cxnSp>
      <p:cxnSp>
        <p:nvCxnSpPr>
          <p:cNvPr id="25" name="直線矢印コネクタ 24">
            <a:extLst xmlns:a="http://schemas.openxmlformats.org/drawingml/2006/main">
              <a:ext uri="{FF2B5EF4-FFF2-40B4-BE49-F238E27FC236}">
                <a16:creationId xmlns:a16="http://schemas.microsoft.com/office/drawing/2014/main" id="{22D77387-6395-4FC3-A1E0-F870F2F731B0}"/>
              </a:ext>
            </a:extLst>
          </p:cNvPr>
          <p:cNvCxnSpPr/>
          <p:nvPr/>
        </p:nvCxnSpPr>
        <p:spPr>
          <a:xfrm xmlns:a="http://schemas.openxmlformats.org/drawingml/2006/main">
            <a:off x="2933700" y="33147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55D09"/>
            </a:solidFill>
          </a:ln>
        </p:spPr>
      </p:cxnSp>
      <p:cxnSp>
        <p:nvCxnSpPr>
          <p:cNvPr id="26" name="直線矢印コネクタ 25">
            <a:extLst xmlns:a="http://schemas.openxmlformats.org/drawingml/2006/main">
              <a:ext uri="{FF2B5EF4-FFF2-40B4-BE49-F238E27FC236}">
                <a16:creationId xmlns:a16="http://schemas.microsoft.com/office/drawing/2014/main" id="{390AE106-F57F-4736-8000-A9874DCB38EB}"/>
              </a:ext>
            </a:extLst>
          </p:cNvPr>
          <p:cNvCxnSpPr/>
          <p:nvPr/>
        </p:nvCxnSpPr>
        <p:spPr>
          <a:xfrm xmlns:a="http://schemas.openxmlformats.org/drawingml/2006/main">
            <a:off x="3524250" y="3314700"/>
            <a:ext cx="43815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55D09"/>
            </a:solidFill>
          </a:ln>
        </p:spPr>
      </p:cxnSp>
      <p:cxnSp>
        <p:nvCxnSpPr>
          <p:cNvPr id="27" name="直線矢印コネクタ 26">
            <a:extLst xmlns:a="http://schemas.openxmlformats.org/drawingml/2006/main">
              <a:ext uri="{FF2B5EF4-FFF2-40B4-BE49-F238E27FC236}">
                <a16:creationId xmlns:a16="http://schemas.microsoft.com/office/drawing/2014/main" id="{1B6191F2-2FB0-4908-AF1A-C12E17C2299F}"/>
              </a:ext>
            </a:extLst>
          </p:cNvPr>
          <p:cNvCxnSpPr/>
          <p:nvPr/>
        </p:nvCxnSpPr>
        <p:spPr>
          <a:xfrm xmlns:a="http://schemas.openxmlformats.org/drawingml/2006/main" flipV="1">
            <a:off x="4114800" y="3171825"/>
            <a:ext cx="28575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55D09"/>
            </a:solidFill>
          </a:ln>
        </p:spPr>
      </p:cxnSp>
      <p:cxnSp>
        <p:nvCxnSpPr>
          <p:cNvPr id="28" name="直線矢印コネクタ 27">
            <a:extLst xmlns:a="http://schemas.openxmlformats.org/drawingml/2006/main">
              <a:ext uri="{FF2B5EF4-FFF2-40B4-BE49-F238E27FC236}">
                <a16:creationId xmlns:a16="http://schemas.microsoft.com/office/drawing/2014/main" id="{A461C82B-9739-4D37-A654-265C7BBB0907}"/>
              </a:ext>
            </a:extLst>
          </p:cNvPr>
          <p:cNvCxnSpPr/>
          <p:nvPr/>
        </p:nvCxnSpPr>
        <p:spPr>
          <a:xfrm xmlns:a="http://schemas.openxmlformats.org/drawingml/2006/main">
            <a:off x="4705350" y="33147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55D09"/>
            </a:solidFill>
          </a:ln>
        </p:spPr>
      </p:cxnSp>
      <p:cxnSp>
        <p:nvCxnSpPr>
          <p:cNvPr id="29" name="直線矢印コネクタ 28">
            <a:extLst xmlns:a="http://schemas.openxmlformats.org/drawingml/2006/main">
              <a:ext uri="{FF2B5EF4-FFF2-40B4-BE49-F238E27FC236}">
                <a16:creationId xmlns:a16="http://schemas.microsoft.com/office/drawing/2014/main" id="{43B6E90D-B996-4833-BA60-00417A6F22F4}"/>
              </a:ext>
            </a:extLst>
          </p:cNvPr>
          <p:cNvCxnSpPr/>
          <p:nvPr/>
        </p:nvCxnSpPr>
        <p:spPr>
          <a:xfrm xmlns:a="http://schemas.openxmlformats.org/drawingml/2006/main">
            <a:off x="5295900" y="3314700"/>
            <a:ext cx="43815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55D09"/>
            </a:solidFill>
          </a:ln>
        </p:spPr>
      </p:cxnSp>
      <p:cxnSp>
        <p:nvCxnSpPr>
          <p:cNvPr id="30" name="直線矢印コネクタ 29">
            <a:extLst xmlns:a="http://schemas.openxmlformats.org/drawingml/2006/main">
              <a:ext uri="{FF2B5EF4-FFF2-40B4-BE49-F238E27FC236}">
                <a16:creationId xmlns:a16="http://schemas.microsoft.com/office/drawing/2014/main" id="{F5539886-7FF8-4CEC-8035-0445271B6E55}"/>
              </a:ext>
            </a:extLst>
          </p:cNvPr>
          <p:cNvCxnSpPr/>
          <p:nvPr/>
        </p:nvCxnSpPr>
        <p:spPr>
          <a:xfrm xmlns:a="http://schemas.openxmlformats.org/drawingml/2006/main" flipV="1">
            <a:off x="1162050" y="3752850"/>
            <a:ext cx="28575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55D09"/>
            </a:solidFill>
          </a:ln>
        </p:spPr>
      </p:cxnSp>
      <p:cxnSp>
        <p:nvCxnSpPr>
          <p:cNvPr id="31" name="直線矢印コネクタ 30">
            <a:extLst xmlns:a="http://schemas.openxmlformats.org/drawingml/2006/main">
              <a:ext uri="{FF2B5EF4-FFF2-40B4-BE49-F238E27FC236}">
                <a16:creationId xmlns:a16="http://schemas.microsoft.com/office/drawing/2014/main" id="{E39D33C3-F05A-4999-B6D4-E630766894DE}"/>
              </a:ext>
            </a:extLst>
          </p:cNvPr>
          <p:cNvCxnSpPr/>
          <p:nvPr/>
        </p:nvCxnSpPr>
        <p:spPr>
          <a:xfrm xmlns:a="http://schemas.openxmlformats.org/drawingml/2006/main">
            <a:off x="1752600" y="3895725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55D09"/>
            </a:solidFill>
          </a:ln>
        </p:spPr>
      </p:cxnSp>
      <p:cxnSp>
        <p:nvCxnSpPr>
          <p:cNvPr id="32" name="直線矢印コネクタ 31">
            <a:extLst xmlns:a="http://schemas.openxmlformats.org/drawingml/2006/main">
              <a:ext uri="{FF2B5EF4-FFF2-40B4-BE49-F238E27FC236}">
                <a16:creationId xmlns:a16="http://schemas.microsoft.com/office/drawing/2014/main" id="{BAC56D6C-9E03-46AB-8805-821A766DEDE2}"/>
              </a:ext>
            </a:extLst>
          </p:cNvPr>
          <p:cNvCxnSpPr/>
          <p:nvPr/>
        </p:nvCxnSpPr>
        <p:spPr>
          <a:xfrm xmlns:a="http://schemas.openxmlformats.org/drawingml/2006/main">
            <a:off x="2343150" y="3895725"/>
            <a:ext cx="43815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55D09"/>
            </a:solidFill>
          </a:ln>
        </p:spPr>
      </p:cxnSp>
      <p:cxnSp>
        <p:nvCxnSpPr>
          <p:cNvPr id="33" name="直線矢印コネクタ 32">
            <a:extLst xmlns:a="http://schemas.openxmlformats.org/drawingml/2006/main">
              <a:ext uri="{FF2B5EF4-FFF2-40B4-BE49-F238E27FC236}">
                <a16:creationId xmlns:a16="http://schemas.microsoft.com/office/drawing/2014/main" id="{DB5C3556-4976-4C8C-AE9A-3F4007FCD6B4}"/>
              </a:ext>
            </a:extLst>
          </p:cNvPr>
          <p:cNvCxnSpPr/>
          <p:nvPr/>
        </p:nvCxnSpPr>
        <p:spPr>
          <a:xfrm xmlns:a="http://schemas.openxmlformats.org/drawingml/2006/main" flipV="1">
            <a:off x="2933700" y="3752850"/>
            <a:ext cx="28575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55D09"/>
            </a:solidFill>
          </a:ln>
        </p:spPr>
      </p:cxnSp>
      <p:cxnSp>
        <p:nvCxnSpPr>
          <p:cNvPr id="34" name="直線矢印コネクタ 33">
            <a:extLst xmlns:a="http://schemas.openxmlformats.org/drawingml/2006/main">
              <a:ext uri="{FF2B5EF4-FFF2-40B4-BE49-F238E27FC236}">
                <a16:creationId xmlns:a16="http://schemas.microsoft.com/office/drawing/2014/main" id="{BD3F72FC-0ABF-4ADF-BAD9-D049168224CF}"/>
              </a:ext>
            </a:extLst>
          </p:cNvPr>
          <p:cNvCxnSpPr/>
          <p:nvPr/>
        </p:nvCxnSpPr>
        <p:spPr>
          <a:xfrm xmlns:a="http://schemas.openxmlformats.org/drawingml/2006/main">
            <a:off x="3524250" y="3895725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55D09"/>
            </a:solidFill>
          </a:ln>
        </p:spPr>
      </p:cxnSp>
      <p:cxnSp>
        <p:nvCxnSpPr>
          <p:cNvPr id="35" name="直線矢印コネクタ 34">
            <a:extLst xmlns:a="http://schemas.openxmlformats.org/drawingml/2006/main">
              <a:ext uri="{FF2B5EF4-FFF2-40B4-BE49-F238E27FC236}">
                <a16:creationId xmlns:a16="http://schemas.microsoft.com/office/drawing/2014/main" id="{76FDA88B-7584-4D3D-A614-B1B539F00314}"/>
              </a:ext>
            </a:extLst>
          </p:cNvPr>
          <p:cNvCxnSpPr/>
          <p:nvPr/>
        </p:nvCxnSpPr>
        <p:spPr>
          <a:xfrm xmlns:a="http://schemas.openxmlformats.org/drawingml/2006/main">
            <a:off x="4114800" y="3895725"/>
            <a:ext cx="43815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55D09"/>
            </a:solidFill>
          </a:ln>
        </p:spPr>
      </p:cxnSp>
      <p:cxnSp>
        <p:nvCxnSpPr>
          <p:cNvPr id="36" name="直線矢印コネクタ 35">
            <a:extLst xmlns:a="http://schemas.openxmlformats.org/drawingml/2006/main">
              <a:ext uri="{FF2B5EF4-FFF2-40B4-BE49-F238E27FC236}">
                <a16:creationId xmlns:a16="http://schemas.microsoft.com/office/drawing/2014/main" id="{57C53A22-A7A7-41BE-A6C6-A005FE681185}"/>
              </a:ext>
            </a:extLst>
          </p:cNvPr>
          <p:cNvCxnSpPr/>
          <p:nvPr/>
        </p:nvCxnSpPr>
        <p:spPr>
          <a:xfrm xmlns:a="http://schemas.openxmlformats.org/drawingml/2006/main" flipV="1">
            <a:off x="4705350" y="3752850"/>
            <a:ext cx="28575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55D09"/>
            </a:solidFill>
          </a:ln>
        </p:spPr>
      </p:cxnSp>
      <p:cxnSp>
        <p:nvCxnSpPr>
          <p:cNvPr id="37" name="直線矢印コネクタ 36">
            <a:extLst xmlns:a="http://schemas.openxmlformats.org/drawingml/2006/main">
              <a:ext uri="{FF2B5EF4-FFF2-40B4-BE49-F238E27FC236}">
                <a16:creationId xmlns:a16="http://schemas.microsoft.com/office/drawing/2014/main" id="{8DA03F7E-BD04-4B59-BCE9-6E201C5729DC}"/>
              </a:ext>
            </a:extLst>
          </p:cNvPr>
          <p:cNvCxnSpPr/>
          <p:nvPr/>
        </p:nvCxnSpPr>
        <p:spPr>
          <a:xfrm xmlns:a="http://schemas.openxmlformats.org/drawingml/2006/main">
            <a:off x="5295900" y="3895725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55D09"/>
            </a:solidFill>
          </a:ln>
        </p:spPr>
      </p:cxnSp>
      <p:cxnSp>
        <p:nvCxnSpPr>
          <p:cNvPr id="38" name="直線矢印コネクタ 37">
            <a:extLst xmlns:a="http://schemas.openxmlformats.org/drawingml/2006/main">
              <a:ext uri="{FF2B5EF4-FFF2-40B4-BE49-F238E27FC236}">
                <a16:creationId xmlns:a16="http://schemas.microsoft.com/office/drawing/2014/main" id="{73CA8FD1-C9C5-4AE3-8F9C-632BBA4C3DF3}"/>
              </a:ext>
            </a:extLst>
          </p:cNvPr>
          <p:cNvCxnSpPr/>
          <p:nvPr/>
        </p:nvCxnSpPr>
        <p:spPr>
          <a:xfrm xmlns:a="http://schemas.openxmlformats.org/drawingml/2006/main">
            <a:off x="1162050" y="4476750"/>
            <a:ext cx="43815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55D09"/>
            </a:solidFill>
          </a:ln>
        </p:spPr>
      </p:cxnSp>
      <p:cxnSp>
        <p:nvCxnSpPr>
          <p:cNvPr id="39" name="直線矢印コネクタ 38">
            <a:extLst xmlns:a="http://schemas.openxmlformats.org/drawingml/2006/main">
              <a:ext uri="{FF2B5EF4-FFF2-40B4-BE49-F238E27FC236}">
                <a16:creationId xmlns:a16="http://schemas.microsoft.com/office/drawing/2014/main" id="{0933C17B-343D-42F7-AFF5-A9D6B2737B6A}"/>
              </a:ext>
            </a:extLst>
          </p:cNvPr>
          <p:cNvCxnSpPr/>
          <p:nvPr/>
        </p:nvCxnSpPr>
        <p:spPr>
          <a:xfrm xmlns:a="http://schemas.openxmlformats.org/drawingml/2006/main" flipV="1">
            <a:off x="1752600" y="4333875"/>
            <a:ext cx="28575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55D09"/>
            </a:solidFill>
          </a:ln>
        </p:spPr>
      </p:cxnSp>
      <p:cxnSp>
        <p:nvCxnSpPr>
          <p:cNvPr id="40" name="直線矢印コネクタ 39">
            <a:extLst xmlns:a="http://schemas.openxmlformats.org/drawingml/2006/main">
              <a:ext uri="{FF2B5EF4-FFF2-40B4-BE49-F238E27FC236}">
                <a16:creationId xmlns:a16="http://schemas.microsoft.com/office/drawing/2014/main" id="{6086CC64-B9B1-4FC9-AB07-C8A11C0238BE}"/>
              </a:ext>
            </a:extLst>
          </p:cNvPr>
          <p:cNvCxnSpPr/>
          <p:nvPr/>
        </p:nvCxnSpPr>
        <p:spPr>
          <a:xfrm xmlns:a="http://schemas.openxmlformats.org/drawingml/2006/main">
            <a:off x="2343150" y="447675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55D09"/>
            </a:solidFill>
          </a:ln>
        </p:spPr>
      </p:cxnSp>
      <p:cxnSp>
        <p:nvCxnSpPr>
          <p:cNvPr id="41" name="直線矢印コネクタ 40">
            <a:extLst xmlns:a="http://schemas.openxmlformats.org/drawingml/2006/main">
              <a:ext uri="{FF2B5EF4-FFF2-40B4-BE49-F238E27FC236}">
                <a16:creationId xmlns:a16="http://schemas.microsoft.com/office/drawing/2014/main" id="{88001D34-9454-4EC7-861F-1396BD213439}"/>
              </a:ext>
            </a:extLst>
          </p:cNvPr>
          <p:cNvCxnSpPr/>
          <p:nvPr/>
        </p:nvCxnSpPr>
        <p:spPr>
          <a:xfrm xmlns:a="http://schemas.openxmlformats.org/drawingml/2006/main">
            <a:off x="2933700" y="4476750"/>
            <a:ext cx="43815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55D09"/>
            </a:solidFill>
          </a:ln>
        </p:spPr>
      </p:cxnSp>
      <p:cxnSp>
        <p:nvCxnSpPr>
          <p:cNvPr id="42" name="直線矢印コネクタ 41">
            <a:extLst xmlns:a="http://schemas.openxmlformats.org/drawingml/2006/main">
              <a:ext uri="{FF2B5EF4-FFF2-40B4-BE49-F238E27FC236}">
                <a16:creationId xmlns:a16="http://schemas.microsoft.com/office/drawing/2014/main" id="{97344979-9FA1-411F-ADA7-A7F3D058BCA4}"/>
              </a:ext>
            </a:extLst>
          </p:cNvPr>
          <p:cNvCxnSpPr/>
          <p:nvPr/>
        </p:nvCxnSpPr>
        <p:spPr>
          <a:xfrm xmlns:a="http://schemas.openxmlformats.org/drawingml/2006/main" flipV="1">
            <a:off x="3524250" y="4333875"/>
            <a:ext cx="28575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55D09"/>
            </a:solidFill>
          </a:ln>
        </p:spPr>
      </p:cxnSp>
      <p:cxnSp>
        <p:nvCxnSpPr>
          <p:cNvPr id="43" name="直線矢印コネクタ 42">
            <a:extLst xmlns:a="http://schemas.openxmlformats.org/drawingml/2006/main">
              <a:ext uri="{FF2B5EF4-FFF2-40B4-BE49-F238E27FC236}">
                <a16:creationId xmlns:a16="http://schemas.microsoft.com/office/drawing/2014/main" id="{61C799AC-501C-481B-A549-073E213D2246}"/>
              </a:ext>
            </a:extLst>
          </p:cNvPr>
          <p:cNvCxnSpPr/>
          <p:nvPr/>
        </p:nvCxnSpPr>
        <p:spPr>
          <a:xfrm xmlns:a="http://schemas.openxmlformats.org/drawingml/2006/main">
            <a:off x="4114800" y="447675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55D09"/>
            </a:solidFill>
          </a:ln>
        </p:spPr>
      </p:cxnSp>
      <p:cxnSp>
        <p:nvCxnSpPr>
          <p:cNvPr id="44" name="直線矢印コネクタ 43">
            <a:extLst xmlns:a="http://schemas.openxmlformats.org/drawingml/2006/main">
              <a:ext uri="{FF2B5EF4-FFF2-40B4-BE49-F238E27FC236}">
                <a16:creationId xmlns:a16="http://schemas.microsoft.com/office/drawing/2014/main" id="{189D6C86-73D8-413E-94CC-DECE08B51152}"/>
              </a:ext>
            </a:extLst>
          </p:cNvPr>
          <p:cNvCxnSpPr/>
          <p:nvPr/>
        </p:nvCxnSpPr>
        <p:spPr>
          <a:xfrm xmlns:a="http://schemas.openxmlformats.org/drawingml/2006/main">
            <a:off x="4705350" y="4476750"/>
            <a:ext cx="43815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55D09"/>
            </a:solidFill>
          </a:ln>
        </p:spPr>
      </p:cxnSp>
      <p:cxnSp>
        <p:nvCxnSpPr>
          <p:cNvPr id="45" name="直線矢印コネクタ 44">
            <a:extLst xmlns:a="http://schemas.openxmlformats.org/drawingml/2006/main">
              <a:ext uri="{FF2B5EF4-FFF2-40B4-BE49-F238E27FC236}">
                <a16:creationId xmlns:a16="http://schemas.microsoft.com/office/drawing/2014/main" id="{23E3F108-7258-49AB-8A5F-35466DA701D7}"/>
              </a:ext>
            </a:extLst>
          </p:cNvPr>
          <p:cNvCxnSpPr/>
          <p:nvPr/>
        </p:nvCxnSpPr>
        <p:spPr>
          <a:xfrm xmlns:a="http://schemas.openxmlformats.org/drawingml/2006/main" flipV="1">
            <a:off x="5295900" y="4333875"/>
            <a:ext cx="28575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55D09"/>
            </a:solidFill>
          </a:ln>
        </p:spPr>
      </p:cxnSp>
      <p:sp>
        <p:nvSpPr>
          <p:cNvPr id="46" name="正方形/長方形 45">
            <a:extLst xmlns:a="http://schemas.openxmlformats.org/drawingml/2006/main">
              <a:ext uri="{FF2B5EF4-FFF2-40B4-BE49-F238E27FC236}">
                <a16:creationId xmlns:a16="http://schemas.microsoft.com/office/drawing/2014/main" id="{3D8606FE-4C29-472D-9640-9085A5894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933575"/>
            <a:ext cx="43148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細かな繊維を要素にする</a:t>
            </a:r>
          </a:p>
        </p:txBody>
      </p:sp>
      <p:sp>
        <p:nvSpPr>
          <p:cNvPr id="47" name="正方形/長方形 46">
            <a:extLst xmlns:a="http://schemas.openxmlformats.org/drawingml/2006/main">
              <a:ext uri="{FF2B5EF4-FFF2-40B4-BE49-F238E27FC236}">
                <a16:creationId xmlns:a16="http://schemas.microsoft.com/office/drawing/2014/main" id="{16C9BE7B-73E9-4584-83D2-E5287799C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809875"/>
            <a:ext cx="43148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密度・製法で性質が変わる</a:t>
            </a:r>
          </a:p>
        </p:txBody>
      </p:sp>
      <p:sp>
        <p:nvSpPr>
          <p:cNvPr id="48" name="正方形/長方形 47">
            <a:extLst xmlns:a="http://schemas.openxmlformats.org/drawingml/2006/main">
              <a:ext uri="{FF2B5EF4-FFF2-40B4-BE49-F238E27FC236}">
                <a16:creationId xmlns:a16="http://schemas.microsoft.com/office/drawing/2014/main" id="{638167FE-A07C-4BBF-B0EE-B482C0FEC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686175"/>
            <a:ext cx="43148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表面と端面を観察</a:t>
            </a:r>
          </a:p>
        </p:txBody>
      </p:sp>
      <p:sp>
        <p:nvSpPr>
          <p:cNvPr id="49" name="正方形/長方形 48">
            <a:extLst xmlns:a="http://schemas.openxmlformats.org/drawingml/2006/main">
              <a:ext uri="{FF2B5EF4-FFF2-40B4-BE49-F238E27FC236}">
                <a16:creationId xmlns:a16="http://schemas.microsoft.com/office/drawing/2014/main" id="{B069BF58-2C2B-46CF-9D03-7DC77075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562475"/>
            <a:ext cx="43148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用途に合う製品情報</a:t>
            </a:r>
          </a:p>
        </p:txBody>
      </p:sp>
    </p:spTree>
    <p:extLst>
      <p:ext uri="{BB962C8B-B14F-4D97-AF65-F5344CB8AC3E}">
        <p14:creationId xmlns:p14="http://schemas.microsoft.com/office/powerpoint/2010/main" val="1928666810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正方形/長方形 9">
            <a:extLst xmlns:a="http://schemas.openxmlformats.org/drawingml/2006/main">
              <a:ext uri="{FF2B5EF4-FFF2-40B4-BE49-F238E27FC236}">
                <a16:creationId xmlns:a16="http://schemas.microsoft.com/office/drawing/2014/main" id="{2AFBB748-0CC0-4856-BEB9-1904FD543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OSBとストランドの配向</a:t>
            </a:r>
          </a:p>
        </p:txBody>
      </p:sp>
      <p:cxnSp>
        <p:nvCxnSpPr>
          <p:cNvPr id="2" name="直線矢印コネクタ 1">
            <a:extLst xmlns:a="http://schemas.openxmlformats.org/drawingml/2006/main">
              <a:ext uri="{FF2B5EF4-FFF2-40B4-BE49-F238E27FC236}">
                <a16:creationId xmlns:a16="http://schemas.microsoft.com/office/drawing/2014/main" id="{ECE7FF78-D345-486E-996D-4D541A37FCFD}"/>
              </a:ext>
            </a:extLst>
          </p:cNvPr>
          <p:cNvCxnSpPr/>
          <p:nvPr/>
        </p:nvCxnSpPr>
        <p:spPr>
          <a:xfrm xmlns:a="http://schemas.openxmlformats.org/drawingml/2006/main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444E1001-BAA1-41F9-8B90-A9F2053B9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第12回</a:t>
            </a:r>
          </a:p>
        </p:txBody>
      </p:sp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E647AD5B-04C7-49D1-9A2B-ED7816524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17</a:t>
            </a:r>
          </a:p>
        </p:txBody>
      </p:sp>
      <p:sp>
        <p:nvSpPr>
          <p:cNvPr id="5" name="正方形/長方形 4">
            <a:extLst xmlns:a="http://schemas.openxmlformats.org/drawingml/2006/main">
              <a:ext uri="{FF2B5EF4-FFF2-40B4-BE49-F238E27FC236}">
                <a16:creationId xmlns:a16="http://schemas.microsoft.com/office/drawing/2014/main" id="{9C54C1DF-3011-4349-A037-FFA4CE606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OSBは細長いストランドを、層ごとに配向させて成形する</a:t>
            </a: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68B67E44-E07D-40F0-9A9A-7635FF2C9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表層と内層の方向を組み合わせ、面材としての性能を調整する</a:t>
            </a:r>
          </a:p>
        </p:txBody>
      </p:sp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027862A5-91CB-4239-8565-6D6A5804E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主軸方向とそれに直交する方向で、曲げ性能などが異なる</a:t>
            </a:r>
          </a:p>
        </p:txBody>
      </p:sp>
      <p:sp>
        <p:nvSpPr>
          <p:cNvPr id="8" name="正方形/長方形 7">
            <a:extLst xmlns:a="http://schemas.openxmlformats.org/drawingml/2006/main">
              <a:ext uri="{FF2B5EF4-FFF2-40B4-BE49-F238E27FC236}">
                <a16:creationId xmlns:a16="http://schemas.microsoft.com/office/drawing/2014/main" id="{CF446247-EEE9-438B-BF47-05FDC6AEF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見える木片の向きと、製品表示の評価方向を対応させる</a:t>
            </a:r>
          </a:p>
        </p:txBody>
      </p:sp>
      <p:sp>
        <p:nvSpPr>
          <p:cNvPr id="9" name="正方形/長方形 8">
            <a:extLst xmlns:a="http://schemas.openxmlformats.org/drawingml/2006/main">
              <a:ext uri="{FF2B5EF4-FFF2-40B4-BE49-F238E27FC236}">
                <a16:creationId xmlns:a16="http://schemas.microsoft.com/office/drawing/2014/main" id="{F0922F3E-90AC-47BA-9EB5-ED27183A6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PB・MDF・OSBは要素の形と配向から区別できる</a:t>
            </a:r>
          </a:p>
        </p:txBody>
      </p:sp>
    </p:spTree>
    <p:extLst>
      <p:ext uri="{BB962C8B-B14F-4D97-AF65-F5344CB8AC3E}">
        <p14:creationId xmlns:p14="http://schemas.microsoft.com/office/powerpoint/2010/main" val="2656366152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0F75297D-C738-4C54-B707-06D4CDF70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比較するデータと条件</a:t>
            </a:r>
          </a:p>
        </p:txBody>
      </p:sp>
      <p:cxnSp>
        <p:nvCxnSpPr>
          <p:cNvPr id="2" name="直線矢印コネクタ 1">
            <a:extLst xmlns:a="http://schemas.openxmlformats.org/drawingml/2006/main">
              <a:ext uri="{FF2B5EF4-FFF2-40B4-BE49-F238E27FC236}">
                <a16:creationId xmlns:a16="http://schemas.microsoft.com/office/drawing/2014/main" id="{D3E98D62-9119-4602-A3FA-5206E8BB5ABC}"/>
              </a:ext>
            </a:extLst>
          </p:cNvPr>
          <p:cNvCxnSpPr/>
          <p:nvPr/>
        </p:nvCxnSpPr>
        <p:spPr>
          <a:xfrm xmlns:a="http://schemas.openxmlformats.org/drawingml/2006/main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146207D4-036F-47AE-B259-B446826A1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第12回</a:t>
            </a:r>
          </a:p>
        </p:txBody>
      </p:sp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F21FC94F-28A0-4037-82EE-BA552A304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18</a:t>
            </a:r>
          </a:p>
        </p:txBody>
      </p:sp>
      <p:graphicFrame>
        <p:nvGraphicFramePr>
          <p:cNvPr id="5" name="表 4">
            <a:extLst xmlns:a="http://schemas.openxmlformats.org/drawingml/2006/main">
              <a:ext uri="{FF2B5EF4-FFF2-40B4-BE49-F238E27FC236}">
                <a16:creationId xmlns:a16="http://schemas.microsoft.com/office/drawing/2014/main" id="{DBC49DE8-2733-4D6E-B2CA-3B8F2054F41B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06800"/>
                <a:gridCol w="3606800"/>
                <a:gridCol w="3606800"/>
              </a:tblGrid>
              <a:tr h="6953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材料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主な要素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rgbClr val="C8D3DD"/>
                      </a:solidFill>
                      <a:prstDash val="solid"/>
                    </a:lnL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確認すること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rgbClr val="C8D3DD"/>
                      </a:solidFill>
                      <a:prstDash val="solid"/>
                    </a:lnL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PB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T w="9525" cmpd="sng">
                      <a:solidFill>
                        <a:srgbClr val="C8D3DD"/>
                      </a:solidFill>
                      <a:prstDash val="soli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小片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rgbClr val="C8D3DD"/>
                      </a:solidFill>
                      <a:prstDash val="solid"/>
                    </a:lnL>
                    <a:lnR w="9525">
                      <a:solidFill>
                        <a:srgbClr val="C8D3DD"/>
                      </a:solidFill>
                    </a:lnR>
                    <a:lnT w="9525" cmpd="sng">
                      <a:solidFill>
                        <a:srgbClr val="C8D3DD"/>
                      </a:solidFill>
                      <a:prstDash val="soli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層・密度・接合位置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rgbClr val="C8D3DD"/>
                      </a:solidFill>
                      <a:prstDash val="solid"/>
                    </a:lnL>
                    <a:lnR w="9525">
                      <a:solidFill>
                        <a:srgbClr val="C8D3DD"/>
                      </a:solidFill>
                    </a:lnR>
                    <a:lnT w="9525" cmpd="sng">
                      <a:solidFill>
                        <a:srgbClr val="C8D3DD"/>
                      </a:solidFill>
                      <a:prstDash val="soli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MDF等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T w="9525" cmpd="sng">
                      <a:solidFill>
                        <a:srgbClr val="C8D3DD"/>
                      </a:solidFill>
                      <a:prstDash val="soli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繊維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rgbClr val="C8D3DD"/>
                      </a:solidFill>
                      <a:prstDash val="solid"/>
                    </a:lnL>
                    <a:lnR w="9525">
                      <a:solidFill>
                        <a:srgbClr val="C8D3DD"/>
                      </a:solidFill>
                    </a:lnR>
                    <a:lnT w="9525" cmpd="sng">
                      <a:solidFill>
                        <a:srgbClr val="C8D3DD"/>
                      </a:solidFill>
                      <a:prstDash val="soli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密度・加工・湿潤条件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rgbClr val="C8D3DD"/>
                      </a:solidFill>
                      <a:prstDash val="solid"/>
                    </a:lnL>
                    <a:lnR w="9525">
                      <a:solidFill>
                        <a:srgbClr val="C8D3DD"/>
                      </a:solidFill>
                    </a:lnR>
                    <a:lnT w="9525" cmpd="sng">
                      <a:solidFill>
                        <a:srgbClr val="C8D3DD"/>
                      </a:solidFill>
                      <a:prstDash val="soli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OSB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T w="9525" cmpd="sng">
                      <a:solidFill>
                        <a:srgbClr val="C8D3DD"/>
                      </a:solidFill>
                      <a:prstDash val="soli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ストランド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rgbClr val="C8D3DD"/>
                      </a:solidFill>
                      <a:prstDash val="solid"/>
                    </a:lnL>
                    <a:lnR w="9525">
                      <a:solidFill>
                        <a:srgbClr val="C8D3DD"/>
                      </a:solidFill>
                    </a:lnR>
                    <a:lnT w="9525" cmpd="sng">
                      <a:solidFill>
                        <a:srgbClr val="C8D3DD"/>
                      </a:solidFill>
                      <a:prstDash val="soli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要素の配向・方向別性能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rgbClr val="C8D3DD"/>
                      </a:solidFill>
                      <a:prstDash val="solid"/>
                    </a:lnL>
                    <a:lnR w="9525">
                      <a:solidFill>
                        <a:srgbClr val="C8D3DD"/>
                      </a:solidFill>
                    </a:lnR>
                    <a:lnT w="9525" cmpd="sng">
                      <a:solidFill>
                        <a:srgbClr val="C8D3DD"/>
                      </a:solidFill>
                      <a:prstDash val="soli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共通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T w="9525" cmpd="sng">
                      <a:solidFill>
                        <a:srgbClr val="C8D3DD"/>
                      </a:solidFill>
                      <a:prstDash val="soli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製法・接着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rgbClr val="C8D3DD"/>
                      </a:solidFill>
                      <a:prstDash val="solid"/>
                    </a:lnL>
                    <a:lnR w="9525">
                      <a:solidFill>
                        <a:srgbClr val="C8D3DD"/>
                      </a:solidFill>
                    </a:lnR>
                    <a:lnT w="9525" cmpd="sng">
                      <a:solidFill>
                        <a:srgbClr val="C8D3DD"/>
                      </a:solidFill>
                      <a:prstDash val="soli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厚さ・用途・製品情報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rgbClr val="C8D3DD"/>
                      </a:solidFill>
                      <a:prstDash val="solid"/>
                    </a:lnL>
                    <a:lnR w="9525">
                      <a:solidFill>
                        <a:srgbClr val="C8D3DD"/>
                      </a:solidFill>
                    </a:lnR>
                    <a:lnT w="9525" cmpd="sng">
                      <a:solidFill>
                        <a:srgbClr val="C8D3DD"/>
                      </a:solidFill>
                      <a:prstDash val="solid"/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8725353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正方形/長方形 8">
            <a:extLst xmlns:a="http://schemas.openxmlformats.org/drawingml/2006/main">
              <a:ext uri="{FF2B5EF4-FFF2-40B4-BE49-F238E27FC236}">
                <a16:creationId xmlns:a16="http://schemas.microsoft.com/office/drawing/2014/main" id="{158A1AE0-253C-4078-B70D-2B7B92001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演習1　ボードの密度</a:t>
            </a:r>
          </a:p>
        </p:txBody>
      </p:sp>
      <p:cxnSp>
        <p:nvCxnSpPr>
          <p:cNvPr id="2" name="直線矢印コネクタ 1">
            <a:extLst xmlns:a="http://schemas.openxmlformats.org/drawingml/2006/main">
              <a:ext uri="{FF2B5EF4-FFF2-40B4-BE49-F238E27FC236}">
                <a16:creationId xmlns:a16="http://schemas.microsoft.com/office/drawing/2014/main" id="{E8F4B4F6-77E5-442B-A9AB-E4B65806A98A}"/>
              </a:ext>
            </a:extLst>
          </p:cNvPr>
          <p:cNvCxnSpPr/>
          <p:nvPr/>
        </p:nvCxnSpPr>
        <p:spPr>
          <a:xfrm xmlns:a="http://schemas.openxmlformats.org/drawingml/2006/main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637BC066-F99D-42C7-A99C-174DE7B62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第12回</a:t>
            </a:r>
          </a:p>
        </p:txBody>
      </p:sp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3EF8AE57-5C09-4F52-B233-305DBFE59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19</a:t>
            </a:r>
          </a:p>
        </p:txBody>
      </p:sp>
      <p:sp>
        <p:nvSpPr>
          <p:cNvPr id="5" name="正方形/長方形 4">
            <a:extLst xmlns:a="http://schemas.openxmlformats.org/drawingml/2006/main">
              <a:ext uri="{FF2B5EF4-FFF2-40B4-BE49-F238E27FC236}">
                <a16:creationId xmlns:a16="http://schemas.microsoft.com/office/drawing/2014/main" id="{C06DE286-B12B-4453-A3F8-736AC5FD6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試料A：300×300×10 mm、質量630 g</a:t>
            </a: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A375081D-2691-412C-B57F-9264AAD93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860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試料B：同寸法、質量450 g</a:t>
            </a:r>
          </a:p>
        </p:txBody>
      </p:sp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D26A0DE3-D515-42BE-AC25-C4DF1AB35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623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体積と密度を求める</a:t>
            </a:r>
          </a:p>
        </p:txBody>
      </p:sp>
      <p:sp>
        <p:nvSpPr>
          <p:cNvPr id="8" name="正方形/長方形 7">
            <a:extLst xmlns:a="http://schemas.openxmlformats.org/drawingml/2006/main">
              <a:ext uri="{FF2B5EF4-FFF2-40B4-BE49-F238E27FC236}">
                <a16:creationId xmlns:a16="http://schemas.microsoft.com/office/drawing/2014/main" id="{5282D3CF-838E-442F-ADB3-1E9759D72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密度だけで、ねじ保持や耐湿性まで順位付けできるか？</a:t>
            </a:r>
          </a:p>
        </p:txBody>
      </p:sp>
    </p:spTree>
    <p:extLst>
      <p:ext uri="{BB962C8B-B14F-4D97-AF65-F5344CB8AC3E}">
        <p14:creationId xmlns:p14="http://schemas.microsoft.com/office/powerpoint/2010/main" val="1429211870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正方形/長方形 8">
            <a:extLst xmlns:a="http://schemas.openxmlformats.org/drawingml/2006/main">
              <a:ext uri="{FF2B5EF4-FFF2-40B4-BE49-F238E27FC236}">
                <a16:creationId xmlns:a16="http://schemas.microsoft.com/office/drawing/2014/main" id="{DD06B04A-CBC8-46D8-A09C-63685CC52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演習1の解説　ボードの密度</a:t>
            </a:r>
          </a:p>
        </p:txBody>
      </p:sp>
      <p:cxnSp>
        <p:nvCxnSpPr>
          <p:cNvPr id="2" name="直線矢印コネクタ 1">
            <a:extLst xmlns:a="http://schemas.openxmlformats.org/drawingml/2006/main">
              <a:ext uri="{FF2B5EF4-FFF2-40B4-BE49-F238E27FC236}">
                <a16:creationId xmlns:a16="http://schemas.microsoft.com/office/drawing/2014/main" id="{94FA071A-C528-46D6-8D3F-225FDAB16711}"/>
              </a:ext>
            </a:extLst>
          </p:cNvPr>
          <p:cNvCxnSpPr/>
          <p:nvPr/>
        </p:nvCxnSpPr>
        <p:spPr>
          <a:xfrm xmlns:a="http://schemas.openxmlformats.org/drawingml/2006/main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71807F5E-45A9-4B35-A620-E8BD279B2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第12回</a:t>
            </a:r>
          </a:p>
        </p:txBody>
      </p:sp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6B624227-7DD8-4280-8935-C1F9D29C2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20</a:t>
            </a:r>
          </a:p>
        </p:txBody>
      </p:sp>
      <p:sp>
        <p:nvSpPr>
          <p:cNvPr id="5" name="正方形/長方形 4">
            <a:extLst xmlns:a="http://schemas.openxmlformats.org/drawingml/2006/main">
              <a:ext uri="{FF2B5EF4-FFF2-40B4-BE49-F238E27FC236}">
                <a16:creationId xmlns:a16="http://schemas.microsoft.com/office/drawing/2014/main" id="{FCC85A71-6A6F-4D5F-B764-F8B3B809A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体積 = 900 cm³</a:t>
            </a: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08E8EBAD-FED6-4A72-8D56-4C0ED72F1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860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A：0.700 g/cm³ = 700 kg/m³</a:t>
            </a:r>
          </a:p>
        </p:txBody>
      </p:sp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234480FE-550B-4613-9009-23077E90A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623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B：0.500 g/cm³ = 500 kg/m³</a:t>
            </a:r>
          </a:p>
        </p:txBody>
      </p:sp>
      <p:sp>
        <p:nvSpPr>
          <p:cNvPr id="8" name="正方形/長方形 7">
            <a:extLst xmlns:a="http://schemas.openxmlformats.org/drawingml/2006/main">
              <a:ext uri="{FF2B5EF4-FFF2-40B4-BE49-F238E27FC236}">
                <a16:creationId xmlns:a16="http://schemas.microsoft.com/office/drawing/2014/main" id="{C0615025-C0B2-420C-BE45-9334A2D24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接合・耐湿性等には、製品別データが必要</a:t>
            </a:r>
          </a:p>
        </p:txBody>
      </p:sp>
    </p:spTree>
    <p:extLst>
      <p:ext uri="{BB962C8B-B14F-4D97-AF65-F5344CB8AC3E}">
        <p14:creationId xmlns:p14="http://schemas.microsoft.com/office/powerpoint/2010/main" val="2179398471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正方形/長方形 9">
            <a:extLst xmlns:a="http://schemas.openxmlformats.org/drawingml/2006/main">
              <a:ext uri="{FF2B5EF4-FFF2-40B4-BE49-F238E27FC236}">
                <a16:creationId xmlns:a16="http://schemas.microsoft.com/office/drawing/2014/main" id="{8694EF94-9A78-4393-8091-8BDE1577D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ボード類の性能を比較する項目</a:t>
            </a:r>
          </a:p>
        </p:txBody>
      </p:sp>
      <p:cxnSp>
        <p:nvCxnSpPr>
          <p:cNvPr id="2" name="直線矢印コネクタ 1">
            <a:extLst xmlns:a="http://schemas.openxmlformats.org/drawingml/2006/main">
              <a:ext uri="{FF2B5EF4-FFF2-40B4-BE49-F238E27FC236}">
                <a16:creationId xmlns:a16="http://schemas.microsoft.com/office/drawing/2014/main" id="{7E4A4CB7-4561-458F-A58B-1B73E361B3BF}"/>
              </a:ext>
            </a:extLst>
          </p:cNvPr>
          <p:cNvCxnSpPr/>
          <p:nvPr/>
        </p:nvCxnSpPr>
        <p:spPr>
          <a:xfrm xmlns:a="http://schemas.openxmlformats.org/drawingml/2006/main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9D865255-35B5-479F-BE95-29A23C461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第12回</a:t>
            </a:r>
          </a:p>
        </p:txBody>
      </p:sp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EF47C1CA-5401-4125-9315-CA93D30D5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21</a:t>
            </a:r>
          </a:p>
        </p:txBody>
      </p:sp>
      <p:sp>
        <p:nvSpPr>
          <p:cNvPr id="5" name="正方形/長方形 4">
            <a:extLst xmlns:a="http://schemas.openxmlformats.org/drawingml/2006/main">
              <a:ext uri="{FF2B5EF4-FFF2-40B4-BE49-F238E27FC236}">
                <a16:creationId xmlns:a16="http://schemas.microsoft.com/office/drawing/2014/main" id="{9063F208-BB8F-48E7-AB60-F99082AA5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密度：体積当たりの質量。含水状態も記録する</a:t>
            </a: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C44CFC9F-8AD2-482F-9453-C8909E3AD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曲げ：厚さ、主軸方向、試験の支点間距離などをそろえる</a:t>
            </a:r>
          </a:p>
        </p:txBody>
      </p:sp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9BCA3682-09D2-4DB4-B534-B230871C3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ねじ保持：面か端面か、ねじ径・下穴・端距離などを確認する</a:t>
            </a:r>
          </a:p>
        </p:txBody>
      </p:sp>
      <p:sp>
        <p:nvSpPr>
          <p:cNvPr id="8" name="正方形/長方形 7">
            <a:extLst xmlns:a="http://schemas.openxmlformats.org/drawingml/2006/main">
              <a:ext uri="{FF2B5EF4-FFF2-40B4-BE49-F238E27FC236}">
                <a16:creationId xmlns:a16="http://schemas.microsoft.com/office/drawing/2014/main" id="{429FBEEC-3778-4541-8629-EFED32D58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水分：吸水、厚さ膨張、接着性能と、使用環境を確認する</a:t>
            </a:r>
          </a:p>
        </p:txBody>
      </p:sp>
      <p:sp>
        <p:nvSpPr>
          <p:cNvPr id="9" name="正方形/長方形 8">
            <a:extLst xmlns:a="http://schemas.openxmlformats.org/drawingml/2006/main">
              <a:ext uri="{FF2B5EF4-FFF2-40B4-BE49-F238E27FC236}">
                <a16:creationId xmlns:a16="http://schemas.microsoft.com/office/drawing/2014/main" id="{70A0908A-3601-46C5-A0F1-8CC0C283C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化粧面だけで内部を判断せず、断面と製品情報を読む</a:t>
            </a:r>
          </a:p>
        </p:txBody>
      </p:sp>
    </p:spTree>
    <p:extLst>
      <p:ext uri="{BB962C8B-B14F-4D97-AF65-F5344CB8AC3E}">
        <p14:creationId xmlns:p14="http://schemas.microsoft.com/office/powerpoint/2010/main" val="125745224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D6C187-0756-4B24-92C0-619BF3A06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演習　教室の家具側板を選ぶ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3252C0-BAFF-4755-97CB-E066B43B4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64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EFA625-EB30-4BD7-A29B-8C148AC87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33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第12回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29D585-FF97-45C6-8504-A4499BCA8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742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652638-268B-4DA1-8C1D-34C309D9A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66875"/>
            <a:ext cx="1047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候補：合板・PB・MDF。荷重、材厚、接合位置を指定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092CA1-53A1-4E07-8176-D5DA494B2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62225"/>
            <a:ext cx="1047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断面と表面から、要素と向きを説明する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7993BE-A3EB-4824-8A40-46EB3E3E8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57575"/>
            <a:ext cx="1047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面／端面のねじ保持、濡れ方、表面仕上げを確認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2D2E6E-E8F4-4C19-A26C-D78D917BD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52925"/>
            <a:ext cx="1047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採用の条件、不足情報、確かめる試験を記述する</a:t>
            </a:r>
          </a:p>
        </p:txBody>
      </p:sp>
    </p:spTree>
    <p:extLst>
      <p:ext uri="{BB962C8B-B14F-4D97-AF65-F5344CB8AC3E}">
        <p14:creationId xmlns:p14="http://schemas.microsoft.com/office/powerpoint/2010/main" val="147664846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3E688E-85F2-426C-A985-0FB71E697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材料選択の解説：値と、使う条件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B9E4A2-54AF-45CE-AE21-371905C65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64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D31064-93EC-4573-B57C-6A6D2D13A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33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第12回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F1EB10-4BC7-45AF-A1AD-26A6CE71D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742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E65D30-F8CA-4615-B0F8-814BC3F3A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66875"/>
            <a:ext cx="1047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密度の大小だけで、ねじ保持や耐湿性を決めない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B3C56B-56DD-4F54-AE5D-A72DDA92C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62225"/>
            <a:ext cx="1047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方向・厚さ・支点間距離と、試験条件をそろえる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71CAA0-F6FC-42F0-9E48-67F5135B8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57575"/>
            <a:ext cx="1047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接着の耐水性と、吸水・厚さ膨張・腐朽を分ける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588905-04A7-4E8B-A681-9BDE5E112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52925"/>
            <a:ext cx="1047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構造用途は製品の等級・表示・適用条件を確認する</a:t>
            </a:r>
          </a:p>
        </p:txBody>
      </p:sp>
    </p:spTree>
    <p:extLst>
      <p:ext uri="{BB962C8B-B14F-4D97-AF65-F5344CB8AC3E}">
        <p14:creationId xmlns:p14="http://schemas.microsoft.com/office/powerpoint/2010/main" val="43539097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C0DB79-4871-4646-BB11-DE43D9E1F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確認：要素と配向を、一枚の表へ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F9E6D8-2903-4028-AE07-39FF3243E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64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37F10D-3A53-4618-A4A7-427F8B8C8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33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第12回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7E3AF2-B916-42B9-A424-8E53D9C24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742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3321CC-DA0A-4E46-AB0E-93DEAEA32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66875"/>
            <a:ext cx="1047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合板・LVL・PB・MDF・OSBを分類する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F59CFB-CED0-4F93-85D2-15A8A18B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62225"/>
            <a:ext cx="1047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主な要素、配向、観察箇所、確認する性能を記入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B3CE66-A96E-4CE3-B4ED-6872B16A6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57575"/>
            <a:ext cx="1047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「接着した板は全て耐水」の説明を修正する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73C3F1-58FE-4318-9334-200380123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52925"/>
            <a:ext cx="1047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次回は、ひき板を使う集成材とCLTへ</a:t>
            </a:r>
          </a:p>
        </p:txBody>
      </p:sp>
    </p:spTree>
    <p:extLst>
      <p:ext uri="{BB962C8B-B14F-4D97-AF65-F5344CB8AC3E}">
        <p14:creationId xmlns:p14="http://schemas.microsoft.com/office/powerpoint/2010/main" val="154460959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3A7E48-6974-45FB-B8BD-99C6B97E3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参考資料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C95FD1-F5C0-4F72-94D1-80B2A4458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64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3B68EC-722C-4326-9ECF-D1DC16461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33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第12回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0527B0-3DF1-44AF-B4D8-4770C4E84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742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FB4794-46B4-41FF-8623-3529205F1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66875"/>
            <a:ext cx="1047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Wood Handbook 2021 第10章：接着の形成と性能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0E85EF-D418-404C-BCEA-F178BCA8C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62225"/>
            <a:ext cx="1047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第11章：木質材料の要素・製法・構成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8B1343-2BC8-46F0-BD89-0099ACE19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57575"/>
            <a:ext cx="1047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第12章：木質材料の力学的性質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5A4D32-7E0C-4589-B320-AB2160743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52925"/>
            <a:ext cx="1047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原典の対象と、製品・方向・湿潤条件を確かめる</a:t>
            </a:r>
          </a:p>
        </p:txBody>
      </p:sp>
    </p:spTree>
    <p:extLst>
      <p:ext uri="{BB962C8B-B14F-4D97-AF65-F5344CB8AC3E}">
        <p14:creationId xmlns:p14="http://schemas.microsoft.com/office/powerpoint/2010/main" val="8073825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2026-10-27T23:24:00.8380000Z</dcterms:created>
  <dcterms:modified xsi:type="dcterms:W3CDTF">2026-10-27T23:24:00.8380000Z</dcterms:modified>
</coreProperties>
</file>