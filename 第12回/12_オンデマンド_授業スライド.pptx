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cfffcf6138490b" /><Relationship Type="http://schemas.openxmlformats.org/officeDocument/2006/relationships/extended-properties" Target="/docProps/app.xml" Id="R18c8179be1824fc1" /><Relationship Type="http://schemas.openxmlformats.org/officeDocument/2006/relationships/officeDocument" Target="/ppt/presentation.xml" Id="R769c1f3d8c434715" /></Relationships>
</file>

<file path=ppt/presentation.xml><?xml version="1.0" encoding="utf-8"?>
<p:presentation xmlns:p="http://schemas.openxmlformats.org/presentationml/2006/main">
  <p:sldMasterIdLst>
    <p:sldMasterId xmlns:r="http://schemas.openxmlformats.org/officeDocument/2006/relationships" id="2147483648" r:id="R896908c308de4d6f"/>
    <p:sldMasterId xmlns:r="http://schemas.openxmlformats.org/officeDocument/2006/relationships" id="2147483655" r:id="Rfcecdff9ed404dab"/>
  </p:sldMasterIdLst>
  <p:notesMasterIdLst>
    <p:notesMasterId xmlns:r="http://schemas.openxmlformats.org/officeDocument/2006/relationships" r:id="Rd590a4c3bfc94cc8"/>
  </p:notesMasterIdLst>
  <p:sldIdLst>
    <p:sldId xmlns:r="http://schemas.openxmlformats.org/officeDocument/2006/relationships" id="256" r:id="R642185f30068400b"/>
    <p:sldId xmlns:r="http://schemas.openxmlformats.org/officeDocument/2006/relationships" id="257" r:id="R857f5d066c7947ef"/>
    <p:sldId xmlns:r="http://schemas.openxmlformats.org/officeDocument/2006/relationships" id="258" r:id="R329948ce4b68464a"/>
    <p:sldId xmlns:r="http://schemas.openxmlformats.org/officeDocument/2006/relationships" id="259" r:id="R64583d02ee5e4d8b"/>
    <p:sldId xmlns:r="http://schemas.openxmlformats.org/officeDocument/2006/relationships" id="260" r:id="R288f7f3ec81a4707"/>
    <p:sldId xmlns:r="http://schemas.openxmlformats.org/officeDocument/2006/relationships" id="261" r:id="R02f8f7d9026c40aa"/>
    <p:sldId xmlns:r="http://schemas.openxmlformats.org/officeDocument/2006/relationships" id="262" r:id="R85d775b7f9274167"/>
    <p:sldId xmlns:r="http://schemas.openxmlformats.org/officeDocument/2006/relationships" id="263" r:id="R4b5387b1f46245a1"/>
    <p:sldId xmlns:r="http://schemas.openxmlformats.org/officeDocument/2006/relationships" id="264" r:id="R01f5f8419e8f497b"/>
    <p:sldId xmlns:r="http://schemas.openxmlformats.org/officeDocument/2006/relationships" id="265" r:id="R554211446fd04d67"/>
    <p:sldId xmlns:r="http://schemas.openxmlformats.org/officeDocument/2006/relationships" id="266" r:id="Rba61c022076148a6"/>
    <p:sldId xmlns:r="http://schemas.openxmlformats.org/officeDocument/2006/relationships" id="267" r:id="R6456d241ca7c437f"/>
    <p:sldId xmlns:r="http://schemas.openxmlformats.org/officeDocument/2006/relationships" id="268" r:id="Re373b67ccdb743a1"/>
    <p:sldId xmlns:r="http://schemas.openxmlformats.org/officeDocument/2006/relationships" id="269" r:id="Rab2a145cf93c4f9d"/>
    <p:sldId xmlns:r="http://schemas.openxmlformats.org/officeDocument/2006/relationships" id="270" r:id="R501e7b30079e4bf4"/>
    <p:sldId xmlns:r="http://schemas.openxmlformats.org/officeDocument/2006/relationships" id="271" r:id="R0c2b762d81b146dd"/>
    <p:sldId xmlns:r="http://schemas.openxmlformats.org/officeDocument/2006/relationships" id="272" r:id="R6ce5803c0e694d98"/>
    <p:sldId xmlns:r="http://schemas.openxmlformats.org/officeDocument/2006/relationships" id="273" r:id="R4ef2d03afc29440e"/>
    <p:sldId xmlns:r="http://schemas.openxmlformats.org/officeDocument/2006/relationships" id="274" r:id="Rd3e6d827a14a4190"/>
    <p:sldId xmlns:r="http://schemas.openxmlformats.org/officeDocument/2006/relationships" id="275" r:id="Rc32a2865f67e45e3"/>
    <p:sldId xmlns:r="http://schemas.openxmlformats.org/officeDocument/2006/relationships" id="276" r:id="Rf3b1913133584261"/>
    <p:sldId xmlns:r="http://schemas.openxmlformats.org/officeDocument/2006/relationships" id="277" r:id="R782e77d1ed144a85"/>
    <p:sldId xmlns:r="http://schemas.openxmlformats.org/officeDocument/2006/relationships" id="278" r:id="R7f558e0ae8474722"/>
    <p:sldId xmlns:r="http://schemas.openxmlformats.org/officeDocument/2006/relationships" id="279" r:id="R1cd2fac3b2dc443d"/>
    <p:sldId xmlns:r="http://schemas.openxmlformats.org/officeDocument/2006/relationships" id="280" r:id="Ra2e6f235f93345dd"/>
    <p:sldId xmlns:r="http://schemas.openxmlformats.org/officeDocument/2006/relationships" id="281" r:id="Rb4ea7def53ac4829"/>
    <p:sldId xmlns:r="http://schemas.openxmlformats.org/officeDocument/2006/relationships" id="282" r:id="R63c35809704f4462"/>
    <p:sldId xmlns:r="http://schemas.openxmlformats.org/officeDocument/2006/relationships" id="283" r:id="R73291942c61244db"/>
    <p:sldId xmlns:r="http://schemas.openxmlformats.org/officeDocument/2006/relationships" id="284" r:id="R50e67335787a45ee"/>
    <p:sldId xmlns:r="http://schemas.openxmlformats.org/officeDocument/2006/relationships" id="285" r:id="R0bb511ad83e64ba6"/>
    <p:sldId xmlns:r="http://schemas.openxmlformats.org/officeDocument/2006/relationships" id="286" r:id="R264eecc88eff44f6"/>
    <p:sldId xmlns:r="http://schemas.openxmlformats.org/officeDocument/2006/relationships" id="287" r:id="Rbec804e73ad34554"/>
    <p:sldId xmlns:r="http://schemas.openxmlformats.org/officeDocument/2006/relationships" id="288" r:id="R5050b91c55964e50"/>
    <p:sldId xmlns:r="http://schemas.openxmlformats.org/officeDocument/2006/relationships" id="289" r:id="Ra4a1505b508f44a2"/>
    <p:sldId xmlns:r="http://schemas.openxmlformats.org/officeDocument/2006/relationships" id="290" r:id="R320fa1db45ed4bfd"/>
    <p:sldId xmlns:r="http://schemas.openxmlformats.org/officeDocument/2006/relationships" id="291" r:id="R8f3307ff4a6f43fb"/>
    <p:sldId xmlns:r="http://schemas.openxmlformats.org/officeDocument/2006/relationships" id="292" r:id="R8c5aee9b06c348c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0712cd762d447e7" /><Relationship Type="http://schemas.openxmlformats.org/officeDocument/2006/relationships/slideMaster" Target="/ppt/slideMasters/slideMaster1.xml" Id="R896908c308de4d6f" /><Relationship Type="http://schemas.openxmlformats.org/officeDocument/2006/relationships/slideMaster" Target="/ppt/slideMasters/slideMaster2.xml" Id="Rfcecdff9ed404dab" /><Relationship Type="http://schemas.openxmlformats.org/officeDocument/2006/relationships/notesMaster" Target="/ppt/notesMasters/notesMaster1.xml" Id="Rd590a4c3bfc94cc8" /><Relationship Type="http://schemas.openxmlformats.org/officeDocument/2006/relationships/presProps" Target="/ppt/presProps.xml" Id="R6b489474fd3446a2" /><Relationship Type="http://schemas.openxmlformats.org/officeDocument/2006/relationships/viewProps" Target="/ppt/viewProps.xml" Id="R8bd51c450c7849b8" /><Relationship Type="http://schemas.openxmlformats.org/officeDocument/2006/relationships/tableStyles" Target="/ppt/tableStyles.xml" Id="R804d7eef536c44ef" /><Relationship Type="http://schemas.openxmlformats.org/officeDocument/2006/relationships/slide" Target="/ppt/slides/slide1.xml" Id="R642185f30068400b" /><Relationship Type="http://schemas.openxmlformats.org/officeDocument/2006/relationships/slide" Target="/ppt/slides/slide2.xml" Id="R857f5d066c7947ef" /><Relationship Type="http://schemas.openxmlformats.org/officeDocument/2006/relationships/slide" Target="/ppt/slides/slide3.xml" Id="R329948ce4b68464a" /><Relationship Type="http://schemas.openxmlformats.org/officeDocument/2006/relationships/slide" Target="/ppt/slides/slide4.xml" Id="R64583d02ee5e4d8b" /><Relationship Type="http://schemas.openxmlformats.org/officeDocument/2006/relationships/slide" Target="/ppt/slides/slide5.xml" Id="R288f7f3ec81a4707" /><Relationship Type="http://schemas.openxmlformats.org/officeDocument/2006/relationships/slide" Target="/ppt/slides/slide6.xml" Id="R02f8f7d9026c40aa" /><Relationship Type="http://schemas.openxmlformats.org/officeDocument/2006/relationships/slide" Target="/ppt/slides/slide7.xml" Id="R85d775b7f9274167" /><Relationship Type="http://schemas.openxmlformats.org/officeDocument/2006/relationships/slide" Target="/ppt/slides/slide8.xml" Id="R4b5387b1f46245a1" /><Relationship Type="http://schemas.openxmlformats.org/officeDocument/2006/relationships/slide" Target="/ppt/slides/slide9.xml" Id="R01f5f8419e8f497b" /><Relationship Type="http://schemas.openxmlformats.org/officeDocument/2006/relationships/slide" Target="/ppt/slides/slide10.xml" Id="R554211446fd04d67" /><Relationship Type="http://schemas.openxmlformats.org/officeDocument/2006/relationships/slide" Target="/ppt/slides/slide11.xml" Id="Rba61c022076148a6" /><Relationship Type="http://schemas.openxmlformats.org/officeDocument/2006/relationships/slide" Target="/ppt/slides/slide12.xml" Id="R6456d241ca7c437f" /><Relationship Type="http://schemas.openxmlformats.org/officeDocument/2006/relationships/slide" Target="/ppt/slides/slide13.xml" Id="Re373b67ccdb743a1" /><Relationship Type="http://schemas.openxmlformats.org/officeDocument/2006/relationships/slide" Target="/ppt/slides/slide14.xml" Id="Rab2a145cf93c4f9d" /><Relationship Type="http://schemas.openxmlformats.org/officeDocument/2006/relationships/slide" Target="/ppt/slides/slide15.xml" Id="R501e7b30079e4bf4" /><Relationship Type="http://schemas.openxmlformats.org/officeDocument/2006/relationships/slide" Target="/ppt/slides/slide16.xml" Id="R0c2b762d81b146dd" /><Relationship Type="http://schemas.openxmlformats.org/officeDocument/2006/relationships/slide" Target="/ppt/slides/slide17.xml" Id="R6ce5803c0e694d98" /><Relationship Type="http://schemas.openxmlformats.org/officeDocument/2006/relationships/slide" Target="/ppt/slides/slide18.xml" Id="R4ef2d03afc29440e" /><Relationship Type="http://schemas.openxmlformats.org/officeDocument/2006/relationships/slide" Target="/ppt/slides/slide19.xml" Id="Rd3e6d827a14a4190" /><Relationship Type="http://schemas.openxmlformats.org/officeDocument/2006/relationships/slide" Target="/ppt/slides/slide20.xml" Id="Rc32a2865f67e45e3" /><Relationship Type="http://schemas.openxmlformats.org/officeDocument/2006/relationships/slide" Target="/ppt/slides/slide21.xml" Id="Rf3b1913133584261" /><Relationship Type="http://schemas.openxmlformats.org/officeDocument/2006/relationships/slide" Target="/ppt/slides/slide22.xml" Id="R782e77d1ed144a85" /><Relationship Type="http://schemas.openxmlformats.org/officeDocument/2006/relationships/slide" Target="/ppt/slides/slide23.xml" Id="R7f558e0ae8474722" /><Relationship Type="http://schemas.openxmlformats.org/officeDocument/2006/relationships/slide" Target="/ppt/slides/slide24.xml" Id="R1cd2fac3b2dc443d" /><Relationship Type="http://schemas.openxmlformats.org/officeDocument/2006/relationships/slide" Target="/ppt/slides/slide25.xml" Id="Ra2e6f235f93345dd" /><Relationship Type="http://schemas.openxmlformats.org/officeDocument/2006/relationships/slide" Target="/ppt/slides/slide26.xml" Id="Rb4ea7def53ac4829" /><Relationship Type="http://schemas.openxmlformats.org/officeDocument/2006/relationships/slide" Target="/ppt/slides/slide27.xml" Id="R63c35809704f4462" /><Relationship Type="http://schemas.openxmlformats.org/officeDocument/2006/relationships/slide" Target="/ppt/slides/slide28.xml" Id="R73291942c61244db" /><Relationship Type="http://schemas.openxmlformats.org/officeDocument/2006/relationships/slide" Target="/ppt/slides/slide29.xml" Id="R50e67335787a45ee" /><Relationship Type="http://schemas.openxmlformats.org/officeDocument/2006/relationships/slide" Target="/ppt/slides/slide30.xml" Id="R0bb511ad83e64ba6" /><Relationship Type="http://schemas.openxmlformats.org/officeDocument/2006/relationships/slide" Target="/ppt/slides/slide31.xml" Id="R264eecc88eff44f6" /><Relationship Type="http://schemas.openxmlformats.org/officeDocument/2006/relationships/slide" Target="/ppt/slides/slide32.xml" Id="Rbec804e73ad34554" /><Relationship Type="http://schemas.openxmlformats.org/officeDocument/2006/relationships/slide" Target="/ppt/slides/slide33.xml" Id="R5050b91c55964e50" /><Relationship Type="http://schemas.openxmlformats.org/officeDocument/2006/relationships/slide" Target="/ppt/slides/slide34.xml" Id="Ra4a1505b508f44a2" /><Relationship Type="http://schemas.openxmlformats.org/officeDocument/2006/relationships/slide" Target="/ppt/slides/slide35.xml" Id="R320fa1db45ed4bfd" /><Relationship Type="http://schemas.openxmlformats.org/officeDocument/2006/relationships/slide" Target="/ppt/slides/slide36.xml" Id="R8f3307ff4a6f43fb" /><Relationship Type="http://schemas.openxmlformats.org/officeDocument/2006/relationships/slide" Target="/ppt/slides/slide37.xml" Id="R8c5aee9b06c348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12908bd93524f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1d506eaf84929" /><Relationship Type="http://schemas.openxmlformats.org/officeDocument/2006/relationships/notesMaster" Target="/ppt/notesMasters/notesMaster1.xml" Id="R087a23319ead4e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e853fad8f8433a" /><Relationship Type="http://schemas.openxmlformats.org/officeDocument/2006/relationships/notesMaster" Target="/ppt/notesMasters/notesMaster1.xml" Id="Reabd8ba2534f48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851c113932422d" /><Relationship Type="http://schemas.openxmlformats.org/officeDocument/2006/relationships/notesMaster" Target="/ppt/notesMasters/notesMaster1.xml" Id="Re216e985358d44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6c191abe764c4a" /><Relationship Type="http://schemas.openxmlformats.org/officeDocument/2006/relationships/notesMaster" Target="/ppt/notesMasters/notesMaster1.xml" Id="R8c3fedb30f7a45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bfcdc91baa4699" /><Relationship Type="http://schemas.openxmlformats.org/officeDocument/2006/relationships/notesMaster" Target="/ppt/notesMasters/notesMaster1.xml" Id="Rc8d78b8080604e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0229014b884759" /><Relationship Type="http://schemas.openxmlformats.org/officeDocument/2006/relationships/notesMaster" Target="/ppt/notesMasters/notesMaster1.xml" Id="Rd936b3a847924f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f058f07fd349d9" /><Relationship Type="http://schemas.openxmlformats.org/officeDocument/2006/relationships/notesMaster" Target="/ppt/notesMasters/notesMaster1.xml" Id="R8ac277c763d741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1475f8445a45f1" /><Relationship Type="http://schemas.openxmlformats.org/officeDocument/2006/relationships/notesMaster" Target="/ppt/notesMasters/notesMaster1.xml" Id="R638bbee5092047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14f31356124b67" /><Relationship Type="http://schemas.openxmlformats.org/officeDocument/2006/relationships/notesMaster" Target="/ppt/notesMasters/notesMaster1.xml" Id="Rf61012231da646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faea4ef09f4898" /><Relationship Type="http://schemas.openxmlformats.org/officeDocument/2006/relationships/notesMaster" Target="/ppt/notesMasters/notesMaster1.xml" Id="R759a12cf7ba540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f02875b03f4edc" /><Relationship Type="http://schemas.openxmlformats.org/officeDocument/2006/relationships/notesMaster" Target="/ppt/notesMasters/notesMaster1.xml" Id="R0b4ca542688d42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fcf9efceab4e81" /><Relationship Type="http://schemas.openxmlformats.org/officeDocument/2006/relationships/notesMaster" Target="/ppt/notesMasters/notesMaster1.xml" Id="R3354736512b54f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f90cd78cd74082" /><Relationship Type="http://schemas.openxmlformats.org/officeDocument/2006/relationships/notesMaster" Target="/ppt/notesMasters/notesMaster1.xml" Id="Rc50b612a07564b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186f23d4484bd1" /><Relationship Type="http://schemas.openxmlformats.org/officeDocument/2006/relationships/notesMaster" Target="/ppt/notesMasters/notesMaster1.xml" Id="Re50de7fcad974f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30a60489014007" /><Relationship Type="http://schemas.openxmlformats.org/officeDocument/2006/relationships/notesMaster" Target="/ppt/notesMasters/notesMaster1.xml" Id="R2899096a2fb04e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044330eecf4648" /><Relationship Type="http://schemas.openxmlformats.org/officeDocument/2006/relationships/notesMaster" Target="/ppt/notesMasters/notesMaster1.xml" Id="Rb25c124e3bdf48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c966650ec345d4" /><Relationship Type="http://schemas.openxmlformats.org/officeDocument/2006/relationships/notesMaster" Target="/ppt/notesMasters/notesMaster1.xml" Id="R334c0d3ecae74e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89d1afd48e4022" /><Relationship Type="http://schemas.openxmlformats.org/officeDocument/2006/relationships/notesMaster" Target="/ppt/notesMasters/notesMaster1.xml" Id="Rffce60b6b5fc4d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5d5947a3ee4a55" /><Relationship Type="http://schemas.openxmlformats.org/officeDocument/2006/relationships/notesMaster" Target="/ppt/notesMasters/notesMaster1.xml" Id="Rd080aa7c1b814a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cc1c8f08704776" /><Relationship Type="http://schemas.openxmlformats.org/officeDocument/2006/relationships/notesMaster" Target="/ppt/notesMasters/notesMaster1.xml" Id="R8fc515aa302549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abdace8277c4db4" /><Relationship Type="http://schemas.openxmlformats.org/officeDocument/2006/relationships/notesMaster" Target="/ppt/notesMasters/notesMaster1.xml" Id="R7e7afe8710f74a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bd4297934f4cd7" /><Relationship Type="http://schemas.openxmlformats.org/officeDocument/2006/relationships/notesMaster" Target="/ppt/notesMasters/notesMaster1.xml" Id="R6bd43285fb5742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9e577e96574cc4" /><Relationship Type="http://schemas.openxmlformats.org/officeDocument/2006/relationships/notesMaster" Target="/ppt/notesMasters/notesMaster1.xml" Id="Rf6cfa8e5459d42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a0b8f0f0144c6c" /><Relationship Type="http://schemas.openxmlformats.org/officeDocument/2006/relationships/notesMaster" Target="/ppt/notesMasters/notesMaster1.xml" Id="R9f284c39077c42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7ccb585dc534d8e" /><Relationship Type="http://schemas.openxmlformats.org/officeDocument/2006/relationships/notesMaster" Target="/ppt/notesMasters/notesMaster1.xml" Id="R8a2ba627260d44b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46a69004c94ebf" /><Relationship Type="http://schemas.openxmlformats.org/officeDocument/2006/relationships/notesMaster" Target="/ppt/notesMasters/notesMaster1.xml" Id="Ra4fe419e6b1f42e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c509f72f0b416b" /><Relationship Type="http://schemas.openxmlformats.org/officeDocument/2006/relationships/notesMaster" Target="/ppt/notesMasters/notesMaster1.xml" Id="R5260e8c7df2b4e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a2170971124df1" /><Relationship Type="http://schemas.openxmlformats.org/officeDocument/2006/relationships/notesMaster" Target="/ppt/notesMasters/notesMaster1.xml" Id="R33dafe64cbdb4e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92d04b2a0a04f6f" /><Relationship Type="http://schemas.openxmlformats.org/officeDocument/2006/relationships/notesMaster" Target="/ppt/notesMasters/notesMaster1.xml" Id="R5a8dc8e9a6f2421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db9639cded4f0a" /><Relationship Type="http://schemas.openxmlformats.org/officeDocument/2006/relationships/notesMaster" Target="/ppt/notesMasters/notesMaster1.xml" Id="Rbc39c88d64c3466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e32befd49d4228" /><Relationship Type="http://schemas.openxmlformats.org/officeDocument/2006/relationships/notesMaster" Target="/ppt/notesMasters/notesMaster1.xml" Id="R80f076e1b94d40c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3b2a82a50e4cb2" /><Relationship Type="http://schemas.openxmlformats.org/officeDocument/2006/relationships/notesMaster" Target="/ppt/notesMasters/notesMaster1.xml" Id="Rcc8fbe842cc84ec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3deec81a981438e" /><Relationship Type="http://schemas.openxmlformats.org/officeDocument/2006/relationships/notesMaster" Target="/ppt/notesMasters/notesMaster1.xml" Id="R0a8f8a38d52b4af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52d64a55a149ac" /><Relationship Type="http://schemas.openxmlformats.org/officeDocument/2006/relationships/notesMaster" Target="/ppt/notesMasters/notesMaster1.xml" Id="R6830d2084a6e478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eca28415ac14432" /><Relationship Type="http://schemas.openxmlformats.org/officeDocument/2006/relationships/notesMaster" Target="/ppt/notesMasters/notesMaster1.xml" Id="Rc103bf9d72f34b2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122137bf6ab4582" /><Relationship Type="http://schemas.openxmlformats.org/officeDocument/2006/relationships/notesMaster" Target="/ppt/notesMasters/notesMaster1.xml" Id="R43b38baafc074ad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80ea5441c741ad" /><Relationship Type="http://schemas.openxmlformats.org/officeDocument/2006/relationships/notesMaster" Target="/ppt/notesMasters/notesMaster1.xml" Id="R133500ae364841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身の回りの机の天板や棚の側板を思い浮かべてください。表面に木目があっても、内部が一枚の無垢材とは限りません。今日は表面、端面、製品情報を組にして材料を読みます。ノートと電卓を用意してください。途中の問いでは動画を一時停止しても構い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原料をどんな大きさと形へ変えたか、次に、どの方向へ並べたかを見ます。単板から作る合板とLVLは、要素が同じでも配向が異なります。ボード類は小片、繊維、細長いストランドを区別します。接着の耐水性、木材の吸水と寸法変化、腐朽も別の情報として確認します。要素は材料を組み立てる小さな単位、配向はその向きです。材料名を五つ別々に覚える前に、まず単板、小片、繊維、ストランドという違いを押さえます。次に、繊維方向をそろえるのか、交差させるのかを見ます。同じ二つの軸で分類すると、共通点と違いを説明しやすくな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板、ひき板、小片、繊維など、原料の形を変えて再構成する。節や寸法の制約を調整し、大きさ・形・方向別性能を設計する。製造は原料調整、乾燥、配向・積層、接着、圧締・硬化などを含む。接着品質と水分状態も、完成した材料の性能に関わる。無垢材との比較では、同じ用途と使用期間にそろえる。木材を小さくして再び組み合わせると、原木の太さや長さを超える製品を作れます。ただし、木材であることに由来する水分や方向の影響が全てなくなるわけではありません。再構成の自由度を得る一方で、乾燥、接着、圧締など、製造工程を管理する必要が増えます。長所と、性能を保つための条件を一緒に捉えましょう。</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板、LVL、PB、MDF、OSBの五つを表にし、要素と主な配向を記入してください。まだ分からない欄には印を付け、後半で補っ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解説します。合板とLVLは単板が共通で、合板は交差、LVLは主に平行です。PBは小片、MDFは繊維、OSBは層別に配向したストランドが主な要素です。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ータリー切削は丸太を回して連続的な単板を得る方法。スライスは刃で薄く切り出し、化粧用途などにも用いる。合板は、隣接単板の繊維方向を通常ほぼ直交させて積層する。対称な層構成は、反りなどの寸法安定性を考えるうえで重要。表板の方向、単板の厚さ、層数で面内・面外の性能が変わる。丸太から単板を得る方法を、鉛筆削りや大根のかつらむきのイメージと比較してみてください。これは形を理解するためのたとえで、刃の動きや木材の切削条件まで同じではありません。薄く切ることと、その後に繊維方向をどう組み合わせるかは別の工程です。合板の分類では、後者の交差積層が大切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板。要素：単板。主な配向を色分け。層の厚さ・位置も重要。接着と用途の条件も確認。図の色は繊維方向の区別です。紙面に縦に描いてあるから繊維方向という覚え方はせず、各層の矢印と、製品全体の長手方向を対応させます。表と裏の層を含めた厚さと位置を見ると、交差しているから二方向が完全に同じ、とは言えない理由が分か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板の五層を描き、各層に繊維方向の矢印を入れてください。表と裏、中央の層に印を付け、紙面の向きと製品の方向を分けて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解説します。矢印は各層の繊維を表します。図を回転しても、層同士が交差する関係は変わりません。表裏と中央の位置も曲げを考える情報です。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VL。要素：単板。主な配向を色分け。層の厚さ・位置も重要。接着と用途の条件も確認。先ほどの合板と、この図の単板の大きさを比べてください。要素はどちらも単板です。大きく違うのは、主な繊維方向がそろっていることです。積層の向きを変えることで、木材が元々持つ方向別の性質を、製品の性能へ生かす考え方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VLは単板の主な繊維方向をほぼ平行にして積層する材料。単板を接合・積層し、長い部材や大きな断面を構成できる。長手方向の剛性・強度を生かすが、横方向は同じ性能とは限らない。製品によって一部の直交単板を含む構成もある。合板との違いは、単板という要素の共通性と配向の違いから説明する。長手方向の性能を利用する材料でも、横方向へ力を加えたり、端部へ接合したりする条件は別に確認します。一本の矢印だけで材料全体を代表させず、荷重がどこへ入り、どの方向へ伝わるかを書き添えましょう。一部に直交単板を含む製品もあるので、模式図と実際の製品仕様を区別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条件をそろえた比較。値がある場合は、単位・定義・測定状態・出典を確認する。比較点 | 合板 | LVL。構成要素 | 単板 | 単板。主な配向 | 交差させて積層 | ほぼ平行に積層。確かめる性能 | 表板方向・層構成 | 主な繊維方向。共通の確認 | 接着・含水状態 | 用途・製品情報。比較表は、まだどちらが何倍強いかを示す表ではありません。構成と方向という、数値を読む前提をそろえる表です。次に物性値を調べるときは、曲げ強さなのかヤング率なのか、試験方向と含水状態は何か、単位は何かを添えます。異なる条件の値を一列に並べると、材料名の違いと条件の違いを分けられ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要素が同じなのに性能が違う理由を、配向と荷重方向を使って説明してください。比較する物性値に付ける条件も三つ書い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解説します。繊維方向の性質をどの向きへ配置するかが違います。試験方向、含水状態、層厚や支持条件、測定する量と単位などをそろえます。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それでは、再開します。演習1　単板の積層方向へ進みます。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厚さ2 mmの同じ単板5枚を積層する。0°は全体の長手に沿う繊維方向。A：0°／90°／0°／90°／0°、B：0°／0°／0°／0°／0°。① 全厚を求め、合板・LVLのモデルをA・Bに対応させる。② Aの0°層・90°層の合計厚さは、それぞれ何mmか。③ Aの面内二方向の曲げ性能を、全く同じと扱えるか。層の位置も考える。まず厚さを足します。次にゼロ度の層に印を付け、何層あるかを数えます。九十度の層も同様です。最後の問いでは、数えた厚さだけでなく、どちらの層が表面近くにあるかを見てください。数値の答えと、図を根拠にした説明を分けてノートへ残します。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① 全厚2×5＝10 mm。Aは合板、BはLVLの単純化モデル。② Aの0°層は6 mm、90°層は4 mm。③ Aの二方向は、対応する層の厚さ・位置が同じではない。曲げでは外側の層の影響も大きい。積層しただけで完全な等方性にはならない。強度やEの数値を比較するには、単板と製品の条件に対応するデータが必要。厚さ二ミリメートルの単板が五枚なので全厚は十ミリメートルです。ゼロ度は三枚、合計六ミリメートル、九十度は二枚、合計四ミリメートルです。さらに外側の層の繊維方向も同じではありません。層数があることだけを理由に等方性と判断するのは早過ぎます。ここでは数値の剛性を計算するのでなく、計算に必要な情報を挙げるところまでに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着は、木材の含水率・表面状態・塗布・圧締・硬化に左右される。乾燥した室内用と、湿潤条件を想定した製品は区別する。接着の耐水性と、木材そのものの吸水・腐朽は別に考える。構造用途では、方向別の製品性能と使用条件を確認する。製品表示は規格・仕様書の最新版により、用途と評価条件を読む。接着が水に耐えることと、木材へ水が入らないことは違います。木材が水を吸えば寸法が変化し、接着部や接合部に力が加わる場合があります。また、生物劣化の条件も別に考えます。第十回と第十一回の内容を、製品としての使用条件へつなげ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接着が水に耐える製品でも、吸水、厚さ変化、腐朽の情報を別に確認する理由を書いてください。画面上部の残り時間が進む間は、意図した無音です。必要なら一時停止してください。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解説します。接着層の性能と、木材の水分移動や生物劣化は同じ性質ではありません。製品の適用環境、端面の濡れ、乾燥と保守を合わせて考えます。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半の単板の分類と計算をいったん整理します。ここから小片と繊維、ストランドを比べます。繊維方向の影響が小さくなる場合もありますが、全ての方向が完全に同じ材料になるとは限りません。厚さ方向の密度や層構成も性能へ関わります。ここまでの分類をいったんノートへまとめてから、原料をさらに小さくした材料へ進みます。小さな要素を使うと、木目や欠点の現れ方は変わります。しかし、表面から内部を全て読み取れるようになるわけではありません。端面の観察が重要にな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を小片にし、乾燥・分級・接着剤添加の後に成形する。熱圧で圧密・硬化させ、表層と内部の要素や密度を調整する。表面の平滑さと、端面の小片の組合せを観察する。ねじ保持は密度だけでなく、面・端面、下穴、留付け条件にも依存する。端材や再生木材を利用できる一方、用途に合う品質管理が必要。表面に近い層と中央の層で小片の大きさや密度が違う製品があります。板全体の平均密度が同じでも、この分布が違えば表面の加工や接合の条件も変わります。ねじを面に留めるのか、端面へ留めるのかを区別して、どこへ力が入るかを考えましょう。</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片を要素にする。粒の大きさと層構成。密度分布と接着。端面・接合・耐湿性。図は小片を模式的に描いたものです。粒が見えるから弱い、細かいから強い、という見た目だけの順位にはしません。粒同士の接着、圧密の状態、層構成、使う位置まで含めて読みます。表面が化粧されているときにも、端面の情報が手掛かりにな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Bの表面と端面を観察するとしたら、何を記録しますか。さらに、ねじ保持を調べる試験でそろえる条件を三つ挙げ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解説します。要素の大きさと層、密度分布の手掛かりを記録します。面か端面か、ねじ径や下穴、端距離、材厚などをそろえます。見た目だけで強さを確定しません。</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を繊維状にほぐして、再び板に成形する。MDFは中密度繊維板で、微細な要素による平滑な表面が特徴。切削や表面仕上げに適した製品があるが、製品差も大きい。密度、厚さ方向の密度分布、接着、耐湿性が性能に関わる。端面への接合と吸水による厚さ変化も、採用前に確認する。繊維状の要素は、小片より細かな形をしています。平滑な表面を利用しやすい一方、端面を加工したときの状態や、吸水による厚さ変化を確かめる必要があります。エムディーエフという名称だけから、全製品の水分への性能が同じだとは判断しません。</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細かな繊維を要素にする。密度・製法で性質が変わる。表面と端面を観察。用途に合う製品情報。この図で観察するのは要素の大きさと絡み合い方です。模式図の線の一本一本が実際の繊維径を表すわけではありません。小片の図との違いを言葉にし、それを表面や端面の加工、仕上げの説明へ結び付けましょう。</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模式図を比べ、要素、表面、端面の三つの欄で違いを記述してください。製品情報で確かめることも一つ加えます。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解説します。PBは小片、MDFは細かな繊維です。平滑さや端面の様子を比較し、耐湿性や厚さ変化、接合条件などは製品情報を確かめます。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それでは、再開します。OSBとストランドの配向へ進みます。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Bは細長いストランドを、層ごとに配向させて成形する。表層と内層の方向を組み合わせ、面材としての性能を調整する。主軸方向とそれに直交する方向で、曲げ性能などが異なる。見える木片の向きと、製品表示の評価方向を対応させる。PB・MDF・OSBは要素の形と配向から区別できる。細長い要素の方向をそろえると、木材の繊維方向の性質を面材にも利用できます。表面に見える要素の向きだけで内部を断定せず、層ごとの配向を見ます。材料を九十度回して使うと、支点間をつなぐ方向が変わるため、同じ板でも曲げの条件が変わ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条件をそろえた比較。値がある場合は、単位・定義・測定状態・出典を確認する。材料 | 主な要素 | 確認すること。PB | 小片 | 層・密度・接合位置。MDF等 | 繊維 | 密度・加工・湿潤条件。OSB | ストランド | 要素の配向・方向別性能。共通 | 製法・接着 | 厚さ・用途・製品情報。三つの材料を比較するとき、名称の暗記より、何を見れば違いを確かめられるかを説明してください。端面の小片、細かな繊維、表面のストランドは観察の手掛かりです。使用条件や性能値は外観だけでは確定できないので、製品情報も必要になり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パネルの主軸と支持する二辺を図示してください。板を九十度回したとき、同じと仮定できない性能を一つ説明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解説します。層の配向とスパン方向の対応が変わります。曲げ剛性や曲げ強さなどは評価方向を確認します。表面の木片の向きだけで内部を断定しません。</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　定義と条件から考える。試料A：300×300×10 mm、質量630 g。試料B：同寸法、質量450 g。体積と密度を求める。密度だけで、ねじ保持や耐湿性まで順位付けできるか？。長さの単位をまずそろえます。三百ミリメートルは三十センチメートル、十ミリメートルは一センチメートルです。体積を立方センチメートルで求めれば、質量のグラムをそのまま割れます。計算が終わったら、体積が同じ二つの試料では密度の比が質量の比と合うかを確認してください。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演習1の解説。体積 = 900 cm³。A：0.700 g/cm³ = 700 kg/m³。B：0.500 g/cm³ = 500 kg/m³。接合・耐湿性等には、製品別データが必要。体積は三十掛ける三十掛ける一で九百立方センチメートルです。六百三十を九百で割るとゼロ点七、四百五十を九百で割るとゼロ点五です。グラム毎立方センチメートルからキログラム毎立方メートルへは千倍します。密度の差を確認できても、ねじ保持や水分への耐久性の順位には、別の試験と条件が必要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体積当たりの質量。含水状態も記録する。曲げ：厚さ、主軸方向、試験の支点間距離などをそろえる。ねじ保持：面か端面か、ねじ径・下穴・端距離などを確認する。水分：吸水、厚さ膨張、接着性能と、使用環境を確認する。化粧面だけで内部を判断せず、断面と製品情報を読む。試験結果を読むとき、どの数値を比較したいかを先に決めます。曲げの値なら荷重方向、厚さ、支持条件を、接合ならねじや留め方を、水分なら濡らし方と時間を確認します。同じ言葉の性能でも、試験方法が異なる値をそのまま割り算しないようにしま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が高いという結果から、ねじ保持、耐湿性、加工性が全て優れると結論できるでしょうか。必要な追加情報を整理し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解説します。全ての性能を密度だけで順位付けはできません。層や接着、ねじの条件、湿潤試験、加工条件など、知りたい性能に対応する情報を集めます。</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教室の家具側板を選ぶへ進みます。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一の材料を正解とする選択問題にはしません。使う条件を明示し、採用の理由を製品データや必要な試験へ対応させます。化粧層が同じ見た目でも内部は異なり得ること、密度だけでねじ保持や耐水性を決定しないことを確認します。表面の仕上げは前回の塗装とつなげます。まず家具のどの場所へ、どの向きに使うかを設定してください。室内に置くことだけでは水の条件は決まりません。清掃やこぼれ水、床に近い端面なども考えます。ねじを留める面と、表面仕上げの条件を書き加えれば、必要なデータを具体的に尋ねられます。画面の問いに順に取り組んでください。答えと途中の式、判断に使った条件をノートへ残します。考える時間の後に解説へ進みます。</a:t>
            </a:r>
          </a:p>
          <a:p xmlns:a="http://schemas.openxmlformats.org/drawingml/2006/main">
            <a:r>
              <a:t/>
            </a:r>
          </a:p>
          <a:p xmlns:a="http://schemas.openxmlformats.org/drawingml/2006/main">
            <a:r>
              <a:t>自己確認の解説</a:t>
            </a:r>
          </a:p>
          <a:p xmlns:a="http://schemas.openxmlformats.org/drawingml/2006/main">
            <a:r>
              <a:t>要素と配向、荷重方向、ねじを留める面／端面、湿潤条件、接着等の製品性能と根拠が対応する回答を評価する。追加データが不足していると説明できればよい。</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材料名でも製品の配合、密度分布、構成、接着剤や表面処理は異なります。平均の実験値、規格上の区分、設計に用いる値を区別します。自分の採用理由に、どの条件の値を使ったかを添えてください。答えを材料名一つで終わらせず、この条件なら採用したい、ただしこの情報を確認する、という形に直します。条件を補った結果、別の製品を選んだ回答でも、理由が対応していれば検討できます。これは技術科で材料の選択を説明するときにも使える考え方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つの材料の共通点と違いを、同じ項目で整理します。合板やOSBの配向を、紙面の縦横ではなく製品の軸に付けて示します。次回の集成材とCLTはひき板の積層であり、合板と見た目が似ていても要素が異なります。分類の表には、要素、配向、観察箇所、調べる性能という四つの欄を作ると整理できます。方向がある材料には矢印を書きます。接着を使うという共通点と、それぞれの構成の違いを、一枚の表に残してください。</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五つの製品を、表面の見た目だけで選ばないための発問を一つ作り、生徒が示す図や記録を考えてください。画面上部の残り時間が進む間は、意図した無音です。必要なら一時停止してください。</a:t>
            </a:r>
          </a:p>
          <a:p xmlns:a="http://schemas.openxmlformats.org/drawingml/2006/main">
            <a:r>
              <a:t/>
            </a:r>
          </a:p>
          <a:p xmlns:a="http://schemas.openxmlformats.org/drawingml/2006/main">
            <a:r>
              <a:t>自己確認の解説</a:t>
            </a:r>
          </a:p>
          <a:p xmlns:a="http://schemas.openxmlformats.org/drawingml/2006/main">
            <a:r>
              <a:t>解説します。例えば、同じ木目の表面でも内部は同じか、と問います。端面と層構成を描き、要素と方向を説明させます。使用条件と選択理由まで結び付ければ理解を確かめられます。</a:t>
            </a:r>
          </a:p>
          <a:p xmlns:a="http://schemas.openxmlformats.org/drawingml/2006/main">
            <a:r>
              <a:t/>
            </a:r>
          </a:p>
          <a:p xmlns:a="http://schemas.openxmlformats.org/drawingml/2006/main">
            <a:r>
              <a:t>参照</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の章を使うとき、まず図と見出しから今日の材料を探してください。英文の製品名と、日本で使う製品の仕様が必ず同じとは限りません。原理を学ぶ資料と、実際に採用する製品の情報を対応させます。次回は、要素をひき板へ変えた集成材とシーエルティーです。</a:t>
            </a:r>
          </a:p>
          <a:p xmlns:a="http://schemas.openxmlformats.org/drawingml/2006/main">
            <a:r>
              <a:t/>
            </a:r>
          </a:p>
          <a:p xmlns:a="http://schemas.openxmlformats.org/drawingml/2006/main">
            <a:r>
              <a:t>自己確認の解説</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a:p xmlns:a="http://schemas.openxmlformats.org/drawingml/2006/main">
            <a:r>
              <a:t>USDA Wood Handbook 2021 第12章 https://research.fs.usda.gov/treesearch/62260</a:t>
            </a:r>
          </a:p>
          <a:p xmlns:a="http://schemas.openxmlformats.org/drawingml/2006/main">
            <a:r>
              <a:t>文部科学省 中学校学習指導要領解説 技術・家庭編 https://www.mext.go.jp/component/a_menu/education/micro_detail/__icsFiles/afieldfile/2019/03/18/1387018_009.pdf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f9234e71f84b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87d56f13ff40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2b18afa93640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31e5234dd847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8c024eefe744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aa2fa060f243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83c21d520dc54c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4e6ddda54657462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a93bfb85164441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735f39b2c59340c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5fc2733d66aa481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e30cb304706f4e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7FF0C-B922-4168-81A3-182A2E0C0F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6230B460-C524-41B8-B482-ADA2E31C34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68FAA8-0928-43AD-9563-DF729729FC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A355BB-51D4-4B4F-89FF-E992067DAA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8251C0E-94DD-46A8-A5EA-C241CED227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E9253F-8CCE-44C4-A4C7-F23FE36389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06C1D55-C1AC-4138-9D3B-52AB3F7080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99C535A4-6BD3-48CD-B4AA-D60E8A5915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AB39AA-2786-4512-B830-842A0B988C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FD702E2-941C-4502-B769-DD3D863BA6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5f89325c7d4848" /><Relationship Type="http://schemas.openxmlformats.org/officeDocument/2006/relationships/slideLayout" Target="/ppt/slideLayouts/slideLayout1.xml" Id="R1268af81a447435c" /><Relationship Type="http://schemas.openxmlformats.org/officeDocument/2006/relationships/slideLayout" Target="/ppt/slideLayouts/slideLayout2.xml" Id="R68dd36cec7864548" /><Relationship Type="http://schemas.openxmlformats.org/officeDocument/2006/relationships/slideLayout" Target="/ppt/slideLayouts/slideLayout3.xml" Id="R52a1e963867c4a23" /><Relationship Type="http://schemas.openxmlformats.org/officeDocument/2006/relationships/slideLayout" Target="/ppt/slideLayouts/slideLayout4.xml" Id="Rc31ed24708bb4f6e" /><Relationship Type="http://schemas.openxmlformats.org/officeDocument/2006/relationships/slideLayout" Target="/ppt/slideLayouts/slideLayout5.xml" Id="Rbab4ee98786e4b2b" /><Relationship Type="http://schemas.openxmlformats.org/officeDocument/2006/relationships/slideLayout" Target="/ppt/slideLayouts/slideLayout6.xml" Id="Rfeeb8f9bc7774a1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44b6586c1db4555" /><Relationship Type="http://schemas.openxmlformats.org/officeDocument/2006/relationships/slideLayout" Target="/ppt/slideLayouts/slideLayout7.xml" Id="Rbfe47e9fd6de4c6c" /><Relationship Type="http://schemas.openxmlformats.org/officeDocument/2006/relationships/slideLayout" Target="/ppt/slideLayouts/slideLayout8.xml" Id="R7c585dee970b484b" /><Relationship Type="http://schemas.openxmlformats.org/officeDocument/2006/relationships/slideLayout" Target="/ppt/slideLayouts/slideLayout9.xml" Id="Rd1098dd2caed4711" /><Relationship Type="http://schemas.openxmlformats.org/officeDocument/2006/relationships/slideLayout" Target="/ppt/slideLayouts/slideLayout10.xml" Id="Rdc5af770f6fd4ebe" /><Relationship Type="http://schemas.openxmlformats.org/officeDocument/2006/relationships/slideLayout" Target="/ppt/slideLayouts/slideLayout11.xml" Id="R775ad0173d8240b0" /><Relationship Type="http://schemas.openxmlformats.org/officeDocument/2006/relationships/slideLayout" Target="/ppt/slideLayouts/slideLayout12.xml" Id="Rdb41ae48e2f647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68af81a447435c"/>
    <p:sldLayoutId xmlns:r="http://schemas.openxmlformats.org/officeDocument/2006/relationships" id="2147483650" r:id="R68dd36cec7864548"/>
    <p:sldLayoutId xmlns:r="http://schemas.openxmlformats.org/officeDocument/2006/relationships" id="2147483651" r:id="R52a1e963867c4a23"/>
    <p:sldLayoutId xmlns:r="http://schemas.openxmlformats.org/officeDocument/2006/relationships" id="2147483652" r:id="Rc31ed24708bb4f6e"/>
    <p:sldLayoutId xmlns:r="http://schemas.openxmlformats.org/officeDocument/2006/relationships" id="2147483653" r:id="Rbab4ee98786e4b2b"/>
    <p:sldLayoutId xmlns:r="http://schemas.openxmlformats.org/officeDocument/2006/relationships" id="2147483654" r:id="Rfeeb8f9bc7774a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bfe47e9fd6de4c6c"/>
    <p:sldLayoutId xmlns:r="http://schemas.openxmlformats.org/officeDocument/2006/relationships" id="2147483657" r:id="R7c585dee970b484b"/>
    <p:sldLayoutId xmlns:r="http://schemas.openxmlformats.org/officeDocument/2006/relationships" id="2147483658" r:id="Rd1098dd2caed4711"/>
    <p:sldLayoutId xmlns:r="http://schemas.openxmlformats.org/officeDocument/2006/relationships" id="2147483659" r:id="Rdc5af770f6fd4ebe"/>
    <p:sldLayoutId xmlns:r="http://schemas.openxmlformats.org/officeDocument/2006/relationships" id="2147483660" r:id="R775ad0173d8240b0"/>
    <p:sldLayoutId xmlns:r="http://schemas.openxmlformats.org/officeDocument/2006/relationships" id="2147483661" r:id="Rdb41ae48e2f647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0b118033254916" /><Relationship Type="http://schemas.openxmlformats.org/officeDocument/2006/relationships/notesSlide" Target="/ppt/notesSlides/notesSlide1.xml" Id="R471df3c5adc34b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104b24ed26456e" /><Relationship Type="http://schemas.openxmlformats.org/officeDocument/2006/relationships/notesSlide" Target="/ppt/notesSlides/notesSlide2.xml" Id="Rb2d52b1cb69546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006a041d2b24443b" /><Relationship Type="http://schemas.openxmlformats.org/officeDocument/2006/relationships/notesSlide" Target="/ppt/notesSlides/notesSlide3.xml" Id="R07e8918bfbaa4f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91ff78e3d64a3b" /><Relationship Type="http://schemas.openxmlformats.org/officeDocument/2006/relationships/notesSlide" Target="/ppt/notesSlides/notesSlide4.xml" Id="Rcab92921441b44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c075b90f8f4a4105" /><Relationship Type="http://schemas.openxmlformats.org/officeDocument/2006/relationships/notesSlide" Target="/ppt/notesSlides/notesSlide5.xml" Id="R0f3af1b184664e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5d516bf86c4cae" /><Relationship Type="http://schemas.openxmlformats.org/officeDocument/2006/relationships/notesSlide" Target="/ppt/notesSlides/notesSlide6.xml" Id="Rd814c06cacb749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cdab3dfe974e21" /><Relationship Type="http://schemas.openxmlformats.org/officeDocument/2006/relationships/notesSlide" Target="/ppt/notesSlides/notesSlide7.xml" Id="Re4a3904fbebf4b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2ff8928563458f" /><Relationship Type="http://schemas.openxmlformats.org/officeDocument/2006/relationships/notesSlide" Target="/ppt/notesSlides/notesSlide8.xml" Id="R9e7ed5aa238c41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54e37ef8268641b7" /><Relationship Type="http://schemas.openxmlformats.org/officeDocument/2006/relationships/notesSlide" Target="/ppt/notesSlides/notesSlide9.xml" Id="R65bb55cbfbc84b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51e87e3e074d05" /><Relationship Type="http://schemas.openxmlformats.org/officeDocument/2006/relationships/notesSlide" Target="/ppt/notesSlides/notesSlide10.xml" Id="Rb6ba2502c3b74c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76175b56c54b7e" /><Relationship Type="http://schemas.openxmlformats.org/officeDocument/2006/relationships/notesSlide" Target="/ppt/notesSlides/notesSlide11.xml" Id="R5b0e8d5015be44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c1d39a8cb2a43d4" /><Relationship Type="http://schemas.openxmlformats.org/officeDocument/2006/relationships/notesSlide" Target="/ppt/notesSlides/notesSlide12.xml" Id="Rca470e7d689d4a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08a1e77aa3df450b" /><Relationship Type="http://schemas.openxmlformats.org/officeDocument/2006/relationships/notesSlide" Target="/ppt/notesSlides/notesSlide13.xml" Id="Ra4f080318c3f4d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d2c3cb249e4b475d" /><Relationship Type="http://schemas.openxmlformats.org/officeDocument/2006/relationships/notesSlide" Target="/ppt/notesSlides/notesSlide14.xml" Id="R54a66d68f2ce49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4395dc87e40348cf" /><Relationship Type="http://schemas.openxmlformats.org/officeDocument/2006/relationships/notesSlide" Target="/ppt/notesSlides/notesSlide15.xml" Id="R32b4c4dda4f54a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2cf00c70a614ff5" /><Relationship Type="http://schemas.openxmlformats.org/officeDocument/2006/relationships/notesSlide" Target="/ppt/notesSlides/notesSlide16.xml" Id="Ra9ecd96343a24b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99a6de59bf44b41" /><Relationship Type="http://schemas.openxmlformats.org/officeDocument/2006/relationships/notesSlide" Target="/ppt/notesSlides/notesSlide17.xml" Id="R3370d635d0524f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c841e09c598e4cf5" /><Relationship Type="http://schemas.openxmlformats.org/officeDocument/2006/relationships/notesSlide" Target="/ppt/notesSlides/notesSlide18.xml" Id="Ra2657ccfb2e34d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4a776fd5cc9845ec" /><Relationship Type="http://schemas.openxmlformats.org/officeDocument/2006/relationships/notesSlide" Target="/ppt/notesSlides/notesSlide19.xml" Id="R6e00db9784fc42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190f98b67e463a" /><Relationship Type="http://schemas.openxmlformats.org/officeDocument/2006/relationships/notesSlide" Target="/ppt/notesSlides/notesSlide20.xml" Id="R55732bcdd4cd43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97d3078598074a29" /><Relationship Type="http://schemas.openxmlformats.org/officeDocument/2006/relationships/notesSlide" Target="/ppt/notesSlides/notesSlide21.xml" Id="R3669da71e4fa4e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b58eecd70f224c74" /><Relationship Type="http://schemas.openxmlformats.org/officeDocument/2006/relationships/notesSlide" Target="/ppt/notesSlides/notesSlide22.xml" Id="Re19fe501ee894c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2410f8d13704d0e" /><Relationship Type="http://schemas.openxmlformats.org/officeDocument/2006/relationships/notesSlide" Target="/ppt/notesSlides/notesSlide23.xml" Id="R86fe608a6cc44e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de37e2f35744e1b" /><Relationship Type="http://schemas.openxmlformats.org/officeDocument/2006/relationships/notesSlide" Target="/ppt/notesSlides/notesSlide24.xml" Id="Rc8ea445594f14fb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a2427a154ca7455d" /><Relationship Type="http://schemas.openxmlformats.org/officeDocument/2006/relationships/notesSlide" Target="/ppt/notesSlides/notesSlide25.xml" Id="R5248ea98f3204c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57906df2b968426a" /><Relationship Type="http://schemas.openxmlformats.org/officeDocument/2006/relationships/notesSlide" Target="/ppt/notesSlides/notesSlide26.xml" Id="R32b28be0ffce4b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62b9ef547c4357" /><Relationship Type="http://schemas.openxmlformats.org/officeDocument/2006/relationships/notesSlide" Target="/ppt/notesSlides/notesSlide27.xml" Id="R134a4908560f4a8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72e6113a34114251" /><Relationship Type="http://schemas.openxmlformats.org/officeDocument/2006/relationships/notesSlide" Target="/ppt/notesSlides/notesSlide28.xml" Id="R10fb30dffd1f48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2.xml" Id="Rc9cd3d58a5054474" /><Relationship Type="http://schemas.openxmlformats.org/officeDocument/2006/relationships/notesSlide" Target="/ppt/notesSlides/notesSlide29.xml" Id="R14730d33fef249e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cdc83e9ae8e4491c" /><Relationship Type="http://schemas.openxmlformats.org/officeDocument/2006/relationships/notesSlide" Target="/ppt/notesSlides/notesSlide30.xml" Id="R20246867d2cd4f9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99b180635214692" /><Relationship Type="http://schemas.openxmlformats.org/officeDocument/2006/relationships/notesSlide" Target="/ppt/notesSlides/notesSlide31.xml" Id="Raf4ba140ca4b454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a8be467b033418e" /><Relationship Type="http://schemas.openxmlformats.org/officeDocument/2006/relationships/notesSlide" Target="/ppt/notesSlides/notesSlide32.xml" Id="R1c2034f13a9e49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914290daae94688" /><Relationship Type="http://schemas.openxmlformats.org/officeDocument/2006/relationships/notesSlide" Target="/ppt/notesSlides/notesSlide33.xml" Id="R384aa644bcd9490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f1d461029d94ba9" /><Relationship Type="http://schemas.openxmlformats.org/officeDocument/2006/relationships/notesSlide" Target="/ppt/notesSlides/notesSlide34.xml" Id="R3b06786c67ed40a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9919efcced948da" /><Relationship Type="http://schemas.openxmlformats.org/officeDocument/2006/relationships/notesSlide" Target="/ppt/notesSlides/notesSlide35.xml" Id="R84f925d04e4a430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28e492437cb457f" /><Relationship Type="http://schemas.openxmlformats.org/officeDocument/2006/relationships/notesSlide" Target="/ppt/notesSlides/notesSlide36.xml" Id="R1a99623daf54410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f162026838e4cf5" /><Relationship Type="http://schemas.openxmlformats.org/officeDocument/2006/relationships/notesSlide" Target="/ppt/notesSlides/notesSlide37.xml" Id="R69b0992b00494d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621D47-73A4-4D1C-8FE3-BA37B9B1BF7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第12回　合板・LVLとボード類</a:t>
            </a:r>
          </a:p>
        </p:txBody>
      </p:sp>
      <p:sp>
        <p:nvSpPr>
          <p:cNvPr id="2" name="">
            <a:extLst xmlns:a="http://schemas.openxmlformats.org/drawingml/2006/main">
              <a:ext uri="{FF2B5EF4-FFF2-40B4-BE49-F238E27FC236}">
                <a16:creationId xmlns:a16="http://schemas.microsoft.com/office/drawing/2014/main" id="{2DDC5977-06F4-461D-9535-1B1EE59FFD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4426E4-DA2F-4BE7-9220-FD4ED2B8C9A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EC2B89BA-1117-45D9-B857-A95DDD6FD59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8EC52A94-5A03-4892-B846-D479E78AF5C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単板・小片・繊維・ストランドを比較する</a:t>
            </a:r>
          </a:p>
        </p:txBody>
      </p:sp>
      <p:sp>
        <p:nvSpPr>
          <p:cNvPr id="6" name="">
            <a:extLst xmlns:a="http://schemas.openxmlformats.org/drawingml/2006/main">
              <a:ext uri="{FF2B5EF4-FFF2-40B4-BE49-F238E27FC236}">
                <a16:creationId xmlns:a16="http://schemas.microsoft.com/office/drawing/2014/main" id="{B7DAF071-5EA4-40DE-9D53-17C847E16D4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要素と配向、接着、密度、使用条件を読む</a:t>
            </a:r>
          </a:p>
        </p:txBody>
      </p:sp>
      <p:sp>
        <p:nvSpPr>
          <p:cNvPr id="7" name="">
            <a:extLst xmlns:a="http://schemas.openxmlformats.org/drawingml/2006/main">
              <a:ext uri="{FF2B5EF4-FFF2-40B4-BE49-F238E27FC236}">
                <a16:creationId xmlns:a16="http://schemas.microsoft.com/office/drawing/2014/main" id="{283D7439-6602-47A9-B04E-EC865AAA3F1B}"/>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外観と材料名だけで性能を決めない</a:t>
            </a:r>
          </a:p>
        </p:txBody>
      </p:sp>
    </p:spTree>
    <p:extLst>
      <p:ext uri="{BB962C8B-B14F-4D97-AF65-F5344CB8AC3E}">
        <p14:creationId xmlns:p14="http://schemas.microsoft.com/office/powerpoint/2010/main" val="19253980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B97184-A3A4-4DA4-8719-90EA57A6FFB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木質材料を比べる二つの軸</a:t>
            </a:r>
          </a:p>
        </p:txBody>
      </p:sp>
      <p:sp>
        <p:nvSpPr>
          <p:cNvPr id="2" name="">
            <a:extLst xmlns:a="http://schemas.openxmlformats.org/drawingml/2006/main">
              <a:ext uri="{FF2B5EF4-FFF2-40B4-BE49-F238E27FC236}">
                <a16:creationId xmlns:a16="http://schemas.microsoft.com/office/drawing/2014/main" id="{A5C4DBB9-D8DF-42C5-BA6D-AFF3F946C73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4121C7-298C-4FE5-A2E3-12C2D1C0C91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C42FB0B8-B34C-44BE-BDF8-109F533C7BA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graphicFrame>
        <p:nvGraphicFramePr>
          <p:cNvPr id="5" name="">
            <a:extLst xmlns:a="http://schemas.openxmlformats.org/drawingml/2006/main">
              <a:ext uri="{FF2B5EF4-FFF2-40B4-BE49-F238E27FC236}">
                <a16:creationId xmlns:a16="http://schemas.microsoft.com/office/drawing/2014/main" id="{CDF2D647-9464-47C5-BD41-DBD1430DB269}"/>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857500"/>
                <a:gridCol w="3714750"/>
                <a:gridCol w="3905250"/>
              </a:tblGrid>
              <a:tr h="809625">
                <a:tc>
                  <a:txBody>
                    <a:bodyPr lIns="95250" tIns="95250" rIns="95250" bIns="95250"/>
                    <a:lstStyle/>
                    <a:p>
                      <a:r>
                        <a:rPr sz="1875" b="1">
                          <a:solidFill>
                            <a:srgbClr val="FFFFFF"/>
                          </a:solidFill>
                          <a:latin typeface="Yu Gothic"/>
                          <a:ea typeface="Yu Gothic"/>
                          <a:cs typeface="Yu Gothic"/>
                        </a:rPr>
                        <a:t>要素</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例</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配向の見方</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単板</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合板・LVL</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交差／ほぼ平行</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小片・繊維</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PB・MDF等</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層構成、密度分布</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ストランド</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OSB</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層別の配向と主軸</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16276396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0CC97E86-A714-440C-A94D-32985918921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木質材料の構成と製法</a:t>
            </a:r>
          </a:p>
        </p:txBody>
      </p:sp>
      <p:cxnSp>
        <p:nvCxnSpPr>
          <p:cNvPr id="2" name="直線矢印コネクタ 1">
            <a:extLst xmlns:a="http://schemas.openxmlformats.org/drawingml/2006/main">
              <a:ext uri="{FF2B5EF4-FFF2-40B4-BE49-F238E27FC236}">
                <a16:creationId xmlns:a16="http://schemas.microsoft.com/office/drawing/2014/main" id="{00DF72BA-E90D-4A73-9F17-3E5E3BD55C0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33AAE66-8C09-40E6-A660-A4400F08025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985C17C6-F455-46CC-BD4F-05D350F3358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正方形/長方形 4">
            <a:extLst xmlns:a="http://schemas.openxmlformats.org/drawingml/2006/main">
              <a:ext uri="{FF2B5EF4-FFF2-40B4-BE49-F238E27FC236}">
                <a16:creationId xmlns:a16="http://schemas.microsoft.com/office/drawing/2014/main" id="{912B5177-1565-485C-9D01-360504AC944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単板、ひき板、小片、繊維など、原料の形を変えて再構成する</a:t>
            </a:r>
          </a:p>
        </p:txBody>
      </p:sp>
      <p:sp>
        <p:nvSpPr>
          <p:cNvPr id="6" name="正方形/長方形 5">
            <a:extLst xmlns:a="http://schemas.openxmlformats.org/drawingml/2006/main">
              <a:ext uri="{FF2B5EF4-FFF2-40B4-BE49-F238E27FC236}">
                <a16:creationId xmlns:a16="http://schemas.microsoft.com/office/drawing/2014/main" id="{6BFEDFDA-F820-42C1-A24A-12FE459C78F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節や寸法の制約を調整し、大きさ・形・方向別性能を設計する</a:t>
            </a:r>
          </a:p>
        </p:txBody>
      </p:sp>
      <p:sp>
        <p:nvSpPr>
          <p:cNvPr id="7" name="正方形/長方形 6">
            <a:extLst xmlns:a="http://schemas.openxmlformats.org/drawingml/2006/main">
              <a:ext uri="{FF2B5EF4-FFF2-40B4-BE49-F238E27FC236}">
                <a16:creationId xmlns:a16="http://schemas.microsoft.com/office/drawing/2014/main" id="{5092D855-2144-4E14-97C1-80509BE62DD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製造は原料調整、乾燥、配向・積層、接着、圧締・硬化などを含む</a:t>
            </a:r>
          </a:p>
        </p:txBody>
      </p:sp>
      <p:sp>
        <p:nvSpPr>
          <p:cNvPr id="8" name="正方形/長方形 7">
            <a:extLst xmlns:a="http://schemas.openxmlformats.org/drawingml/2006/main">
              <a:ext uri="{FF2B5EF4-FFF2-40B4-BE49-F238E27FC236}">
                <a16:creationId xmlns:a16="http://schemas.microsoft.com/office/drawing/2014/main" id="{0B67E117-59DF-4936-8FE4-124DA6EF452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接着品質と水分状態も、完成した材料の性能に関わる</a:t>
            </a:r>
          </a:p>
        </p:txBody>
      </p:sp>
      <p:sp>
        <p:nvSpPr>
          <p:cNvPr id="9" name="正方形/長方形 8">
            <a:extLst xmlns:a="http://schemas.openxmlformats.org/drawingml/2006/main">
              <a:ext uri="{FF2B5EF4-FFF2-40B4-BE49-F238E27FC236}">
                <a16:creationId xmlns:a16="http://schemas.microsoft.com/office/drawing/2014/main" id="{062FE36F-A386-42FE-B74D-5F89F1575C60}"/>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無垢材との比較では、同じ用途と使用期間にそろえる</a:t>
            </a:r>
          </a:p>
        </p:txBody>
      </p:sp>
    </p:spTree>
    <p:extLst>
      <p:ext uri="{BB962C8B-B14F-4D97-AF65-F5344CB8AC3E}">
        <p14:creationId xmlns:p14="http://schemas.microsoft.com/office/powerpoint/2010/main" val="1677352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FFCE34-6F94-4AB0-968F-95B8EF8FD5B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要素と配向の分類</a:t>
            </a:r>
          </a:p>
        </p:txBody>
      </p:sp>
      <p:sp>
        <p:nvSpPr>
          <p:cNvPr id="2" name="">
            <a:extLst xmlns:a="http://schemas.openxmlformats.org/drawingml/2006/main">
              <a:ext uri="{FF2B5EF4-FFF2-40B4-BE49-F238E27FC236}">
                <a16:creationId xmlns:a16="http://schemas.microsoft.com/office/drawing/2014/main" id="{FA9A1538-E184-4D3F-8B13-7D9D7EF3006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F2256A-5FFD-445F-9B0C-F6D7BC8E5A9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B02099D8-6B12-4AFB-AC7B-F3EA2A296DD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51C46A8B-11DF-4FE7-A3BD-A8BFC4C761C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合板、LVL、PB、MDF、OSBの五つを表にし、要素と主な配向を記</a:t>
            </a:r>
          </a:p>
        </p:txBody>
      </p:sp>
      <p:sp>
        <p:nvSpPr>
          <p:cNvPr id="6" name="">
            <a:extLst xmlns:a="http://schemas.openxmlformats.org/drawingml/2006/main">
              <a:ext uri="{FF2B5EF4-FFF2-40B4-BE49-F238E27FC236}">
                <a16:creationId xmlns:a16="http://schemas.microsoft.com/office/drawing/2014/main" id="{1D821F17-9002-49B3-9FBC-E1A3439598C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入してください。まだ分からない欄には印を付け、後半で補ってください。</a:t>
            </a:r>
          </a:p>
        </p:txBody>
      </p:sp>
      <p:sp>
        <p:nvSpPr>
          <p:cNvPr id="7" name="">
            <a:extLst xmlns:a="http://schemas.openxmlformats.org/drawingml/2006/main">
              <a:ext uri="{FF2B5EF4-FFF2-40B4-BE49-F238E27FC236}">
                <a16:creationId xmlns:a16="http://schemas.microsoft.com/office/drawing/2014/main" id="{A65B28C8-C5CD-4494-9DD0-434D2AA30C94}"/>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8173765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816CCD1F-59D7-45B4-9A00-4FB4886D87F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単板の製造と合板</a:t>
            </a:r>
          </a:p>
        </p:txBody>
      </p:sp>
      <p:cxnSp>
        <p:nvCxnSpPr>
          <p:cNvPr id="2" name="直線矢印コネクタ 1">
            <a:extLst xmlns:a="http://schemas.openxmlformats.org/drawingml/2006/main">
              <a:ext uri="{FF2B5EF4-FFF2-40B4-BE49-F238E27FC236}">
                <a16:creationId xmlns:a16="http://schemas.microsoft.com/office/drawing/2014/main" id="{0155DA44-4D2C-4C29-B1D4-4AEF4D7FE89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FA11695E-519C-4CAF-A4F9-9E6630225EC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D03E234F-1F1D-415C-BE7B-28C93567631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正方形/長方形 4">
            <a:extLst xmlns:a="http://schemas.openxmlformats.org/drawingml/2006/main">
              <a:ext uri="{FF2B5EF4-FFF2-40B4-BE49-F238E27FC236}">
                <a16:creationId xmlns:a16="http://schemas.microsoft.com/office/drawing/2014/main" id="{89FBBA60-0512-4F9A-9A9D-DBADC8F9512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ロータリー切削は丸太を回して連続的な単板を得る方法</a:t>
            </a:r>
          </a:p>
        </p:txBody>
      </p:sp>
      <p:sp>
        <p:nvSpPr>
          <p:cNvPr id="6" name="正方形/長方形 5">
            <a:extLst xmlns:a="http://schemas.openxmlformats.org/drawingml/2006/main">
              <a:ext uri="{FF2B5EF4-FFF2-40B4-BE49-F238E27FC236}">
                <a16:creationId xmlns:a16="http://schemas.microsoft.com/office/drawing/2014/main" id="{02E11022-BAB4-4B54-A1FC-37370B68A33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スライスは刃で薄く切り出し、化粧用途などにも用いる</a:t>
            </a:r>
          </a:p>
        </p:txBody>
      </p:sp>
      <p:sp>
        <p:nvSpPr>
          <p:cNvPr id="7" name="正方形/長方形 6">
            <a:extLst xmlns:a="http://schemas.openxmlformats.org/drawingml/2006/main">
              <a:ext uri="{FF2B5EF4-FFF2-40B4-BE49-F238E27FC236}">
                <a16:creationId xmlns:a16="http://schemas.microsoft.com/office/drawing/2014/main" id="{708C29F5-92A0-46BA-B0F2-4D1CF2C6850D}"/>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合板は、隣接単板の繊維方向を通常ほぼ直交させて積層する</a:t>
            </a:r>
          </a:p>
        </p:txBody>
      </p:sp>
      <p:sp>
        <p:nvSpPr>
          <p:cNvPr id="8" name="正方形/長方形 7">
            <a:extLst xmlns:a="http://schemas.openxmlformats.org/drawingml/2006/main">
              <a:ext uri="{FF2B5EF4-FFF2-40B4-BE49-F238E27FC236}">
                <a16:creationId xmlns:a16="http://schemas.microsoft.com/office/drawing/2014/main" id="{42624DFE-5DD9-4B78-9152-951C412BDC0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対称な層構成は、反りなどの寸法安定性を考えるうえで重要</a:t>
            </a:r>
          </a:p>
        </p:txBody>
      </p:sp>
      <p:sp>
        <p:nvSpPr>
          <p:cNvPr id="9" name="正方形/長方形 8">
            <a:extLst xmlns:a="http://schemas.openxmlformats.org/drawingml/2006/main">
              <a:ext uri="{FF2B5EF4-FFF2-40B4-BE49-F238E27FC236}">
                <a16:creationId xmlns:a16="http://schemas.microsoft.com/office/drawing/2014/main" id="{04F876C5-6906-4D98-B305-AA84574447E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表板の方向、単板の厚さ、層数で面内・面外の性能が変わる</a:t>
            </a:r>
          </a:p>
        </p:txBody>
      </p:sp>
    </p:spTree>
    <p:extLst>
      <p:ext uri="{BB962C8B-B14F-4D97-AF65-F5344CB8AC3E}">
        <p14:creationId xmlns:p14="http://schemas.microsoft.com/office/powerpoint/2010/main" val="1985748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正方形/長方形 48">
            <a:extLst xmlns:a="http://schemas.openxmlformats.org/drawingml/2006/main">
              <a:ext uri="{FF2B5EF4-FFF2-40B4-BE49-F238E27FC236}">
                <a16:creationId xmlns:a16="http://schemas.microsoft.com/office/drawing/2014/main" id="{483F075B-716F-44AA-AF3F-113A4D8164A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合板の交差積層</a:t>
            </a:r>
          </a:p>
        </p:txBody>
      </p:sp>
      <p:cxnSp>
        <p:nvCxnSpPr>
          <p:cNvPr id="2" name="直線矢印コネクタ 1">
            <a:extLst xmlns:a="http://schemas.openxmlformats.org/drawingml/2006/main">
              <a:ext uri="{FF2B5EF4-FFF2-40B4-BE49-F238E27FC236}">
                <a16:creationId xmlns:a16="http://schemas.microsoft.com/office/drawing/2014/main" id="{928BF08B-6196-49C6-B2DE-70CD053A0EB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E0B5F389-B9C3-4482-B90E-B8353B84B7E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0BF3E24C-F475-419A-8DB0-214AAE26889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a:t>
            </a:r>
          </a:p>
        </p:txBody>
      </p:sp>
      <p:sp>
        <p:nvSpPr>
          <p:cNvPr id="5" name="正方形/長方形 4">
            <a:extLst xmlns:a="http://schemas.openxmlformats.org/drawingml/2006/main">
              <a:ext uri="{FF2B5EF4-FFF2-40B4-BE49-F238E27FC236}">
                <a16:creationId xmlns:a16="http://schemas.microsoft.com/office/drawing/2014/main" id="{276A6369-FE0A-487A-BDEB-8D28F29F5A5C}"/>
              </a:ext>
            </a:extLst>
          </p:cNvPr>
          <p:cNvSpPr>
            <a:spLocks xmlns:a="http://schemas.openxmlformats.org/drawingml/2006/main" noGrp="1"/>
          </p:cNvSpPr>
          <p:nvPr/>
        </p:nvSpPr>
        <p:spPr>
          <a:xfrm xmlns:a="http://schemas.openxmlformats.org/drawingml/2006/main">
            <a:off x="1000125" y="20955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6" name="直線矢印コネクタ 5">
            <a:extLst xmlns:a="http://schemas.openxmlformats.org/drawingml/2006/main">
              <a:ext uri="{FF2B5EF4-FFF2-40B4-BE49-F238E27FC236}">
                <a16:creationId xmlns:a16="http://schemas.microsoft.com/office/drawing/2014/main" id="{74830AFF-1E89-43D7-B9A4-8FA5F9DE1001}"/>
              </a:ext>
            </a:extLst>
          </p:cNvPr>
          <p:cNvCxnSpPr/>
          <p:nvPr/>
        </p:nvCxnSpPr>
        <p:spPr>
          <a:xfrm xmlns:a="http://schemas.openxmlformats.org/drawingml/2006/main">
            <a:off x="1190625" y="2171700"/>
            <a:ext cx="4714875" cy="0"/>
          </a:xfrm>
          <a:prstGeom xmlns:a="http://schemas.openxmlformats.org/drawingml/2006/main" prst="straightConnector1">
            <a:avLst/>
          </a:prstGeom>
          <a:ln xmlns:a="http://schemas.openxmlformats.org/drawingml/2006/main" w="17145">
            <a:solidFill>
              <a:srgbClr val="B55D09"/>
            </a:solidFill>
          </a:ln>
        </p:spPr>
      </p:cxnSp>
      <p:cxnSp>
        <p:nvCxnSpPr>
          <p:cNvPr id="7" name="直線矢印コネクタ 6">
            <a:extLst xmlns:a="http://schemas.openxmlformats.org/drawingml/2006/main">
              <a:ext uri="{FF2B5EF4-FFF2-40B4-BE49-F238E27FC236}">
                <a16:creationId xmlns:a16="http://schemas.microsoft.com/office/drawing/2014/main" id="{6B64282F-7B5A-4BE5-B941-C078D7CACFE3}"/>
              </a:ext>
            </a:extLst>
          </p:cNvPr>
          <p:cNvCxnSpPr/>
          <p:nvPr/>
        </p:nvCxnSpPr>
        <p:spPr>
          <a:xfrm xmlns:a="http://schemas.openxmlformats.org/drawingml/2006/main">
            <a:off x="1190625" y="2257425"/>
            <a:ext cx="4714875" cy="0"/>
          </a:xfrm>
          <a:prstGeom xmlns:a="http://schemas.openxmlformats.org/drawingml/2006/main" prst="straightConnector1">
            <a:avLst/>
          </a:prstGeom>
          <a:ln xmlns:a="http://schemas.openxmlformats.org/drawingml/2006/main" w="17145">
            <a:solidFill>
              <a:srgbClr val="B55D09"/>
            </a:solidFill>
          </a:ln>
        </p:spPr>
      </p:cxnSp>
      <p:cxnSp>
        <p:nvCxnSpPr>
          <p:cNvPr id="8" name="直線矢印コネクタ 7">
            <a:extLst xmlns:a="http://schemas.openxmlformats.org/drawingml/2006/main">
              <a:ext uri="{FF2B5EF4-FFF2-40B4-BE49-F238E27FC236}">
                <a16:creationId xmlns:a16="http://schemas.microsoft.com/office/drawing/2014/main" id="{1F08DEBD-1D5D-4EE4-BB79-0E299AEF57CA}"/>
              </a:ext>
            </a:extLst>
          </p:cNvPr>
          <p:cNvCxnSpPr/>
          <p:nvPr/>
        </p:nvCxnSpPr>
        <p:spPr>
          <a:xfrm xmlns:a="http://schemas.openxmlformats.org/drawingml/2006/main">
            <a:off x="1190625" y="2343150"/>
            <a:ext cx="4714875" cy="0"/>
          </a:xfrm>
          <a:prstGeom xmlns:a="http://schemas.openxmlformats.org/drawingml/2006/main" prst="straightConnector1">
            <a:avLst/>
          </a:prstGeom>
          <a:ln xmlns:a="http://schemas.openxmlformats.org/drawingml/2006/main" w="17145">
            <a:solidFill>
              <a:srgbClr val="B55D09"/>
            </a:solidFill>
          </a:ln>
        </p:spPr>
      </p:cxnSp>
      <p:sp>
        <p:nvSpPr>
          <p:cNvPr id="9" name="正方形/長方形 8">
            <a:extLst xmlns:a="http://schemas.openxmlformats.org/drawingml/2006/main">
              <a:ext uri="{FF2B5EF4-FFF2-40B4-BE49-F238E27FC236}">
                <a16:creationId xmlns:a16="http://schemas.microsoft.com/office/drawing/2014/main" id="{A9A1FEBC-6BBA-4CF9-A9D0-00F602E73000}"/>
              </a:ext>
            </a:extLst>
          </p:cNvPr>
          <p:cNvSpPr>
            <a:spLocks xmlns:a="http://schemas.openxmlformats.org/drawingml/2006/main" noGrp="1"/>
          </p:cNvSpPr>
          <p:nvPr/>
        </p:nvSpPr>
        <p:spPr>
          <a:xfrm xmlns:a="http://schemas.openxmlformats.org/drawingml/2006/main">
            <a:off x="1000125" y="2495550"/>
            <a:ext cx="5095875" cy="371475"/>
          </a:xfrm>
          <a:prstGeom xmlns:a="http://schemas.openxmlformats.org/drawingml/2006/main" prst="rect">
            <a:avLst/>
          </a:prstGeom>
          <a:solidFill xmlns:a="http://schemas.openxmlformats.org/drawingml/2006/main">
            <a:srgbClr val="E7F0F6"/>
          </a:solidFill>
          <a:ln xmlns:a="http://schemas.openxmlformats.org/drawingml/2006/main" w="14288">
            <a:solidFill>
              <a:srgbClr val="C8D3DD"/>
            </a:solidFill>
          </a:ln>
        </p:spPr>
      </p:sp>
      <p:cxnSp>
        <p:nvCxnSpPr>
          <p:cNvPr id="10" name="直線矢印コネクタ 9">
            <a:extLst xmlns:a="http://schemas.openxmlformats.org/drawingml/2006/main">
              <a:ext uri="{FF2B5EF4-FFF2-40B4-BE49-F238E27FC236}">
                <a16:creationId xmlns:a16="http://schemas.microsoft.com/office/drawing/2014/main" id="{3AAB4E23-92D7-4C80-8D3E-6B01F8A87A1D}"/>
              </a:ext>
            </a:extLst>
          </p:cNvPr>
          <p:cNvCxnSpPr/>
          <p:nvPr/>
        </p:nvCxnSpPr>
        <p:spPr>
          <a:xfrm xmlns:a="http://schemas.openxmlformats.org/drawingml/2006/main">
            <a:off x="1209675"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1" name="直線矢印コネクタ 10">
            <a:extLst xmlns:a="http://schemas.openxmlformats.org/drawingml/2006/main">
              <a:ext uri="{FF2B5EF4-FFF2-40B4-BE49-F238E27FC236}">
                <a16:creationId xmlns:a16="http://schemas.microsoft.com/office/drawing/2014/main" id="{2406E939-A080-4321-878B-68369E0EF681}"/>
              </a:ext>
            </a:extLst>
          </p:cNvPr>
          <p:cNvCxnSpPr/>
          <p:nvPr/>
        </p:nvCxnSpPr>
        <p:spPr>
          <a:xfrm xmlns:a="http://schemas.openxmlformats.org/drawingml/2006/main">
            <a:off x="1602581"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2" name="直線矢印コネクタ 11">
            <a:extLst xmlns:a="http://schemas.openxmlformats.org/drawingml/2006/main">
              <a:ext uri="{FF2B5EF4-FFF2-40B4-BE49-F238E27FC236}">
                <a16:creationId xmlns:a16="http://schemas.microsoft.com/office/drawing/2014/main" id="{E5B784A0-D17A-42B9-BFEF-E760CCA37251}"/>
              </a:ext>
            </a:extLst>
          </p:cNvPr>
          <p:cNvCxnSpPr/>
          <p:nvPr/>
        </p:nvCxnSpPr>
        <p:spPr>
          <a:xfrm xmlns:a="http://schemas.openxmlformats.org/drawingml/2006/main">
            <a:off x="1995488"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3" name="直線矢印コネクタ 12">
            <a:extLst xmlns:a="http://schemas.openxmlformats.org/drawingml/2006/main">
              <a:ext uri="{FF2B5EF4-FFF2-40B4-BE49-F238E27FC236}">
                <a16:creationId xmlns:a16="http://schemas.microsoft.com/office/drawing/2014/main" id="{671231C3-2977-4C10-89A0-6D16A404E39F}"/>
              </a:ext>
            </a:extLst>
          </p:cNvPr>
          <p:cNvCxnSpPr/>
          <p:nvPr/>
        </p:nvCxnSpPr>
        <p:spPr>
          <a:xfrm xmlns:a="http://schemas.openxmlformats.org/drawingml/2006/main">
            <a:off x="2388394"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4" name="直線矢印コネクタ 13">
            <a:extLst xmlns:a="http://schemas.openxmlformats.org/drawingml/2006/main">
              <a:ext uri="{FF2B5EF4-FFF2-40B4-BE49-F238E27FC236}">
                <a16:creationId xmlns:a16="http://schemas.microsoft.com/office/drawing/2014/main" id="{BE3EFE7C-1EB7-470D-A504-A720BA149B21}"/>
              </a:ext>
            </a:extLst>
          </p:cNvPr>
          <p:cNvCxnSpPr/>
          <p:nvPr/>
        </p:nvCxnSpPr>
        <p:spPr>
          <a:xfrm xmlns:a="http://schemas.openxmlformats.org/drawingml/2006/main">
            <a:off x="2781300"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5" name="直線矢印コネクタ 14">
            <a:extLst xmlns:a="http://schemas.openxmlformats.org/drawingml/2006/main">
              <a:ext uri="{FF2B5EF4-FFF2-40B4-BE49-F238E27FC236}">
                <a16:creationId xmlns:a16="http://schemas.microsoft.com/office/drawing/2014/main" id="{9F804900-D1DC-4EAA-8C50-0AA1A0402B02}"/>
              </a:ext>
            </a:extLst>
          </p:cNvPr>
          <p:cNvCxnSpPr/>
          <p:nvPr/>
        </p:nvCxnSpPr>
        <p:spPr>
          <a:xfrm xmlns:a="http://schemas.openxmlformats.org/drawingml/2006/main">
            <a:off x="3174206"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6" name="直線矢印コネクタ 15">
            <a:extLst xmlns:a="http://schemas.openxmlformats.org/drawingml/2006/main">
              <a:ext uri="{FF2B5EF4-FFF2-40B4-BE49-F238E27FC236}">
                <a16:creationId xmlns:a16="http://schemas.microsoft.com/office/drawing/2014/main" id="{2EA7D355-21CE-4519-8A69-B7F811DFAF03}"/>
              </a:ext>
            </a:extLst>
          </p:cNvPr>
          <p:cNvCxnSpPr/>
          <p:nvPr/>
        </p:nvCxnSpPr>
        <p:spPr>
          <a:xfrm xmlns:a="http://schemas.openxmlformats.org/drawingml/2006/main">
            <a:off x="3567113"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7" name="直線矢印コネクタ 16">
            <a:extLst xmlns:a="http://schemas.openxmlformats.org/drawingml/2006/main">
              <a:ext uri="{FF2B5EF4-FFF2-40B4-BE49-F238E27FC236}">
                <a16:creationId xmlns:a16="http://schemas.microsoft.com/office/drawing/2014/main" id="{D12CFF18-C95A-45B3-B9E9-44FD14B3942E}"/>
              </a:ext>
            </a:extLst>
          </p:cNvPr>
          <p:cNvCxnSpPr/>
          <p:nvPr/>
        </p:nvCxnSpPr>
        <p:spPr>
          <a:xfrm xmlns:a="http://schemas.openxmlformats.org/drawingml/2006/main">
            <a:off x="3960019"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8" name="直線矢印コネクタ 17">
            <a:extLst xmlns:a="http://schemas.openxmlformats.org/drawingml/2006/main">
              <a:ext uri="{FF2B5EF4-FFF2-40B4-BE49-F238E27FC236}">
                <a16:creationId xmlns:a16="http://schemas.microsoft.com/office/drawing/2014/main" id="{C82F7C9A-DDE0-4BFB-AA36-993A2E3F6DA4}"/>
              </a:ext>
            </a:extLst>
          </p:cNvPr>
          <p:cNvCxnSpPr/>
          <p:nvPr/>
        </p:nvCxnSpPr>
        <p:spPr>
          <a:xfrm xmlns:a="http://schemas.openxmlformats.org/drawingml/2006/main">
            <a:off x="4352925"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19" name="直線矢印コネクタ 18">
            <a:extLst xmlns:a="http://schemas.openxmlformats.org/drawingml/2006/main">
              <a:ext uri="{FF2B5EF4-FFF2-40B4-BE49-F238E27FC236}">
                <a16:creationId xmlns:a16="http://schemas.microsoft.com/office/drawing/2014/main" id="{2E5976A7-C476-4E7B-B0D0-E8D7BDF57165}"/>
              </a:ext>
            </a:extLst>
          </p:cNvPr>
          <p:cNvCxnSpPr/>
          <p:nvPr/>
        </p:nvCxnSpPr>
        <p:spPr>
          <a:xfrm xmlns:a="http://schemas.openxmlformats.org/drawingml/2006/main">
            <a:off x="4745831"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20" name="直線矢印コネクタ 19">
            <a:extLst xmlns:a="http://schemas.openxmlformats.org/drawingml/2006/main">
              <a:ext uri="{FF2B5EF4-FFF2-40B4-BE49-F238E27FC236}">
                <a16:creationId xmlns:a16="http://schemas.microsoft.com/office/drawing/2014/main" id="{E47C0607-8310-4D7A-8758-4F323C18E9C1}"/>
              </a:ext>
            </a:extLst>
          </p:cNvPr>
          <p:cNvCxnSpPr/>
          <p:nvPr/>
        </p:nvCxnSpPr>
        <p:spPr>
          <a:xfrm xmlns:a="http://schemas.openxmlformats.org/drawingml/2006/main">
            <a:off x="5138738" y="2562225"/>
            <a:ext cx="0" cy="238125"/>
          </a:xfrm>
          <a:prstGeom xmlns:a="http://schemas.openxmlformats.org/drawingml/2006/main" prst="straightConnector1">
            <a:avLst/>
          </a:prstGeom>
          <a:ln xmlns:a="http://schemas.openxmlformats.org/drawingml/2006/main" w="19050">
            <a:solidFill>
              <a:srgbClr val="245C98"/>
            </a:solidFill>
          </a:ln>
        </p:spPr>
      </p:cxnSp>
      <p:cxnSp>
        <p:nvCxnSpPr>
          <p:cNvPr id="21" name="直線矢印コネクタ 20">
            <a:extLst xmlns:a="http://schemas.openxmlformats.org/drawingml/2006/main">
              <a:ext uri="{FF2B5EF4-FFF2-40B4-BE49-F238E27FC236}">
                <a16:creationId xmlns:a16="http://schemas.microsoft.com/office/drawing/2014/main" id="{9FED141C-E73D-493B-9FB1-AC6EE5E56F2D}"/>
              </a:ext>
            </a:extLst>
          </p:cNvPr>
          <p:cNvCxnSpPr/>
          <p:nvPr/>
        </p:nvCxnSpPr>
        <p:spPr>
          <a:xfrm xmlns:a="http://schemas.openxmlformats.org/drawingml/2006/main">
            <a:off x="5531644" y="2562225"/>
            <a:ext cx="0" cy="238125"/>
          </a:xfrm>
          <a:prstGeom xmlns:a="http://schemas.openxmlformats.org/drawingml/2006/main" prst="straightConnector1">
            <a:avLst/>
          </a:prstGeom>
          <a:ln xmlns:a="http://schemas.openxmlformats.org/drawingml/2006/main" w="19050">
            <a:solidFill>
              <a:srgbClr val="245C98"/>
            </a:solidFill>
          </a:ln>
        </p:spPr>
      </p:cxnSp>
      <p:sp>
        <p:nvSpPr>
          <p:cNvPr id="22" name="正方形/長方形 21">
            <a:extLst xmlns:a="http://schemas.openxmlformats.org/drawingml/2006/main">
              <a:ext uri="{FF2B5EF4-FFF2-40B4-BE49-F238E27FC236}">
                <a16:creationId xmlns:a16="http://schemas.microsoft.com/office/drawing/2014/main" id="{1A9BC646-A37F-4987-95EC-BA857369E71E}"/>
              </a:ext>
            </a:extLst>
          </p:cNvPr>
          <p:cNvSpPr>
            <a:spLocks xmlns:a="http://schemas.openxmlformats.org/drawingml/2006/main" noGrp="1"/>
          </p:cNvSpPr>
          <p:nvPr/>
        </p:nvSpPr>
        <p:spPr>
          <a:xfrm xmlns:a="http://schemas.openxmlformats.org/drawingml/2006/main">
            <a:off x="1000125" y="28956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23" name="直線矢印コネクタ 22">
            <a:extLst xmlns:a="http://schemas.openxmlformats.org/drawingml/2006/main">
              <a:ext uri="{FF2B5EF4-FFF2-40B4-BE49-F238E27FC236}">
                <a16:creationId xmlns:a16="http://schemas.microsoft.com/office/drawing/2014/main" id="{CFC0AC17-B139-4AFB-A55E-E977D392EE3E}"/>
              </a:ext>
            </a:extLst>
          </p:cNvPr>
          <p:cNvCxnSpPr/>
          <p:nvPr/>
        </p:nvCxnSpPr>
        <p:spPr>
          <a:xfrm xmlns:a="http://schemas.openxmlformats.org/drawingml/2006/main">
            <a:off x="1190625" y="2971800"/>
            <a:ext cx="4714875" cy="0"/>
          </a:xfrm>
          <a:prstGeom xmlns:a="http://schemas.openxmlformats.org/drawingml/2006/main" prst="straightConnector1">
            <a:avLst/>
          </a:prstGeom>
          <a:ln xmlns:a="http://schemas.openxmlformats.org/drawingml/2006/main" w="17145">
            <a:solidFill>
              <a:srgbClr val="B55D09"/>
            </a:solidFill>
          </a:ln>
        </p:spPr>
      </p:cxnSp>
      <p:cxnSp>
        <p:nvCxnSpPr>
          <p:cNvPr id="24" name="直線矢印コネクタ 23">
            <a:extLst xmlns:a="http://schemas.openxmlformats.org/drawingml/2006/main">
              <a:ext uri="{FF2B5EF4-FFF2-40B4-BE49-F238E27FC236}">
                <a16:creationId xmlns:a16="http://schemas.microsoft.com/office/drawing/2014/main" id="{7974D8C5-3BC0-4F7C-A672-A796D543DE9D}"/>
              </a:ext>
            </a:extLst>
          </p:cNvPr>
          <p:cNvCxnSpPr/>
          <p:nvPr/>
        </p:nvCxnSpPr>
        <p:spPr>
          <a:xfrm xmlns:a="http://schemas.openxmlformats.org/drawingml/2006/main">
            <a:off x="1190625" y="3057525"/>
            <a:ext cx="4714875" cy="0"/>
          </a:xfrm>
          <a:prstGeom xmlns:a="http://schemas.openxmlformats.org/drawingml/2006/main" prst="straightConnector1">
            <a:avLst/>
          </a:prstGeom>
          <a:ln xmlns:a="http://schemas.openxmlformats.org/drawingml/2006/main" w="17145">
            <a:solidFill>
              <a:srgbClr val="B55D09"/>
            </a:solidFill>
          </a:ln>
        </p:spPr>
      </p:cxnSp>
      <p:cxnSp>
        <p:nvCxnSpPr>
          <p:cNvPr id="25" name="直線矢印コネクタ 24">
            <a:extLst xmlns:a="http://schemas.openxmlformats.org/drawingml/2006/main">
              <a:ext uri="{FF2B5EF4-FFF2-40B4-BE49-F238E27FC236}">
                <a16:creationId xmlns:a16="http://schemas.microsoft.com/office/drawing/2014/main" id="{5FC7C88F-8EFE-46F4-8BD3-6DC671EA8AB0}"/>
              </a:ext>
            </a:extLst>
          </p:cNvPr>
          <p:cNvCxnSpPr/>
          <p:nvPr/>
        </p:nvCxnSpPr>
        <p:spPr>
          <a:xfrm xmlns:a="http://schemas.openxmlformats.org/drawingml/2006/main">
            <a:off x="1190625" y="3143250"/>
            <a:ext cx="4714875" cy="0"/>
          </a:xfrm>
          <a:prstGeom xmlns:a="http://schemas.openxmlformats.org/drawingml/2006/main" prst="straightConnector1">
            <a:avLst/>
          </a:prstGeom>
          <a:ln xmlns:a="http://schemas.openxmlformats.org/drawingml/2006/main" w="17145">
            <a:solidFill>
              <a:srgbClr val="B55D09"/>
            </a:solidFill>
          </a:ln>
        </p:spPr>
      </p:cxnSp>
      <p:sp>
        <p:nvSpPr>
          <p:cNvPr id="26" name="正方形/長方形 25">
            <a:extLst xmlns:a="http://schemas.openxmlformats.org/drawingml/2006/main">
              <a:ext uri="{FF2B5EF4-FFF2-40B4-BE49-F238E27FC236}">
                <a16:creationId xmlns:a16="http://schemas.microsoft.com/office/drawing/2014/main" id="{CEF82701-6A30-4112-831C-CC55EAC66811}"/>
              </a:ext>
            </a:extLst>
          </p:cNvPr>
          <p:cNvSpPr>
            <a:spLocks xmlns:a="http://schemas.openxmlformats.org/drawingml/2006/main" noGrp="1"/>
          </p:cNvSpPr>
          <p:nvPr/>
        </p:nvSpPr>
        <p:spPr>
          <a:xfrm xmlns:a="http://schemas.openxmlformats.org/drawingml/2006/main">
            <a:off x="1000125" y="3295650"/>
            <a:ext cx="5095875" cy="371475"/>
          </a:xfrm>
          <a:prstGeom xmlns:a="http://schemas.openxmlformats.org/drawingml/2006/main" prst="rect">
            <a:avLst/>
          </a:prstGeom>
          <a:solidFill xmlns:a="http://schemas.openxmlformats.org/drawingml/2006/main">
            <a:srgbClr val="E7F0F6"/>
          </a:solidFill>
          <a:ln xmlns:a="http://schemas.openxmlformats.org/drawingml/2006/main" w="14288">
            <a:solidFill>
              <a:srgbClr val="C8D3DD"/>
            </a:solidFill>
          </a:ln>
        </p:spPr>
      </p:sp>
      <p:cxnSp>
        <p:nvCxnSpPr>
          <p:cNvPr id="27" name="直線矢印コネクタ 26">
            <a:extLst xmlns:a="http://schemas.openxmlformats.org/drawingml/2006/main">
              <a:ext uri="{FF2B5EF4-FFF2-40B4-BE49-F238E27FC236}">
                <a16:creationId xmlns:a16="http://schemas.microsoft.com/office/drawing/2014/main" id="{192DFF72-6C4F-4C45-BA8C-B84DFB1EACEF}"/>
              </a:ext>
            </a:extLst>
          </p:cNvPr>
          <p:cNvCxnSpPr/>
          <p:nvPr/>
        </p:nvCxnSpPr>
        <p:spPr>
          <a:xfrm xmlns:a="http://schemas.openxmlformats.org/drawingml/2006/main">
            <a:off x="1209675"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28" name="直線矢印コネクタ 27">
            <a:extLst xmlns:a="http://schemas.openxmlformats.org/drawingml/2006/main">
              <a:ext uri="{FF2B5EF4-FFF2-40B4-BE49-F238E27FC236}">
                <a16:creationId xmlns:a16="http://schemas.microsoft.com/office/drawing/2014/main" id="{F9642E2A-FEF8-4E0F-9E1D-0FF37ED6BC14}"/>
              </a:ext>
            </a:extLst>
          </p:cNvPr>
          <p:cNvCxnSpPr/>
          <p:nvPr/>
        </p:nvCxnSpPr>
        <p:spPr>
          <a:xfrm xmlns:a="http://schemas.openxmlformats.org/drawingml/2006/main">
            <a:off x="1602581"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29" name="直線矢印コネクタ 28">
            <a:extLst xmlns:a="http://schemas.openxmlformats.org/drawingml/2006/main">
              <a:ext uri="{FF2B5EF4-FFF2-40B4-BE49-F238E27FC236}">
                <a16:creationId xmlns:a16="http://schemas.microsoft.com/office/drawing/2014/main" id="{A8055738-3F6F-48C7-87ED-772C4098C754}"/>
              </a:ext>
            </a:extLst>
          </p:cNvPr>
          <p:cNvCxnSpPr/>
          <p:nvPr/>
        </p:nvCxnSpPr>
        <p:spPr>
          <a:xfrm xmlns:a="http://schemas.openxmlformats.org/drawingml/2006/main">
            <a:off x="1995488"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0" name="直線矢印コネクタ 29">
            <a:extLst xmlns:a="http://schemas.openxmlformats.org/drawingml/2006/main">
              <a:ext uri="{FF2B5EF4-FFF2-40B4-BE49-F238E27FC236}">
                <a16:creationId xmlns:a16="http://schemas.microsoft.com/office/drawing/2014/main" id="{2D91219F-65F5-4EE6-A224-848A3A166434}"/>
              </a:ext>
            </a:extLst>
          </p:cNvPr>
          <p:cNvCxnSpPr/>
          <p:nvPr/>
        </p:nvCxnSpPr>
        <p:spPr>
          <a:xfrm xmlns:a="http://schemas.openxmlformats.org/drawingml/2006/main">
            <a:off x="2388394"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1" name="直線矢印コネクタ 30">
            <a:extLst xmlns:a="http://schemas.openxmlformats.org/drawingml/2006/main">
              <a:ext uri="{FF2B5EF4-FFF2-40B4-BE49-F238E27FC236}">
                <a16:creationId xmlns:a16="http://schemas.microsoft.com/office/drawing/2014/main" id="{5BEF4338-9491-4C10-80B0-1DA188A98EC2}"/>
              </a:ext>
            </a:extLst>
          </p:cNvPr>
          <p:cNvCxnSpPr/>
          <p:nvPr/>
        </p:nvCxnSpPr>
        <p:spPr>
          <a:xfrm xmlns:a="http://schemas.openxmlformats.org/drawingml/2006/main">
            <a:off x="2781300"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2" name="直線矢印コネクタ 31">
            <a:extLst xmlns:a="http://schemas.openxmlformats.org/drawingml/2006/main">
              <a:ext uri="{FF2B5EF4-FFF2-40B4-BE49-F238E27FC236}">
                <a16:creationId xmlns:a16="http://schemas.microsoft.com/office/drawing/2014/main" id="{02B9D50E-F69D-437A-9BFB-90513634C2F1}"/>
              </a:ext>
            </a:extLst>
          </p:cNvPr>
          <p:cNvCxnSpPr/>
          <p:nvPr/>
        </p:nvCxnSpPr>
        <p:spPr>
          <a:xfrm xmlns:a="http://schemas.openxmlformats.org/drawingml/2006/main">
            <a:off x="3174206"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3" name="直線矢印コネクタ 32">
            <a:extLst xmlns:a="http://schemas.openxmlformats.org/drawingml/2006/main">
              <a:ext uri="{FF2B5EF4-FFF2-40B4-BE49-F238E27FC236}">
                <a16:creationId xmlns:a16="http://schemas.microsoft.com/office/drawing/2014/main" id="{16F19D13-05E1-4AFC-8765-0B28526F0AE2}"/>
              </a:ext>
            </a:extLst>
          </p:cNvPr>
          <p:cNvCxnSpPr/>
          <p:nvPr/>
        </p:nvCxnSpPr>
        <p:spPr>
          <a:xfrm xmlns:a="http://schemas.openxmlformats.org/drawingml/2006/main">
            <a:off x="3567113"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4" name="直線矢印コネクタ 33">
            <a:extLst xmlns:a="http://schemas.openxmlformats.org/drawingml/2006/main">
              <a:ext uri="{FF2B5EF4-FFF2-40B4-BE49-F238E27FC236}">
                <a16:creationId xmlns:a16="http://schemas.microsoft.com/office/drawing/2014/main" id="{841671D7-3AB5-4182-9947-395D35704487}"/>
              </a:ext>
            </a:extLst>
          </p:cNvPr>
          <p:cNvCxnSpPr/>
          <p:nvPr/>
        </p:nvCxnSpPr>
        <p:spPr>
          <a:xfrm xmlns:a="http://schemas.openxmlformats.org/drawingml/2006/main">
            <a:off x="3960019"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5" name="直線矢印コネクタ 34">
            <a:extLst xmlns:a="http://schemas.openxmlformats.org/drawingml/2006/main">
              <a:ext uri="{FF2B5EF4-FFF2-40B4-BE49-F238E27FC236}">
                <a16:creationId xmlns:a16="http://schemas.microsoft.com/office/drawing/2014/main" id="{603CC6AD-EC58-4D9F-B21D-FA67305DBB74}"/>
              </a:ext>
            </a:extLst>
          </p:cNvPr>
          <p:cNvCxnSpPr/>
          <p:nvPr/>
        </p:nvCxnSpPr>
        <p:spPr>
          <a:xfrm xmlns:a="http://schemas.openxmlformats.org/drawingml/2006/main">
            <a:off x="4352925"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6" name="直線矢印コネクタ 35">
            <a:extLst xmlns:a="http://schemas.openxmlformats.org/drawingml/2006/main">
              <a:ext uri="{FF2B5EF4-FFF2-40B4-BE49-F238E27FC236}">
                <a16:creationId xmlns:a16="http://schemas.microsoft.com/office/drawing/2014/main" id="{67BDDE79-A530-41F1-843C-2BC41F03B2F2}"/>
              </a:ext>
            </a:extLst>
          </p:cNvPr>
          <p:cNvCxnSpPr/>
          <p:nvPr/>
        </p:nvCxnSpPr>
        <p:spPr>
          <a:xfrm xmlns:a="http://schemas.openxmlformats.org/drawingml/2006/main">
            <a:off x="4745831"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7" name="直線矢印コネクタ 36">
            <a:extLst xmlns:a="http://schemas.openxmlformats.org/drawingml/2006/main">
              <a:ext uri="{FF2B5EF4-FFF2-40B4-BE49-F238E27FC236}">
                <a16:creationId xmlns:a16="http://schemas.microsoft.com/office/drawing/2014/main" id="{573AA0B3-719E-4EFE-912C-66D558F1A914}"/>
              </a:ext>
            </a:extLst>
          </p:cNvPr>
          <p:cNvCxnSpPr/>
          <p:nvPr/>
        </p:nvCxnSpPr>
        <p:spPr>
          <a:xfrm xmlns:a="http://schemas.openxmlformats.org/drawingml/2006/main">
            <a:off x="5138738" y="3362325"/>
            <a:ext cx="0" cy="238125"/>
          </a:xfrm>
          <a:prstGeom xmlns:a="http://schemas.openxmlformats.org/drawingml/2006/main" prst="straightConnector1">
            <a:avLst/>
          </a:prstGeom>
          <a:ln xmlns:a="http://schemas.openxmlformats.org/drawingml/2006/main" w="19050">
            <a:solidFill>
              <a:srgbClr val="245C98"/>
            </a:solidFill>
          </a:ln>
        </p:spPr>
      </p:cxnSp>
      <p:cxnSp>
        <p:nvCxnSpPr>
          <p:cNvPr id="38" name="直線矢印コネクタ 37">
            <a:extLst xmlns:a="http://schemas.openxmlformats.org/drawingml/2006/main">
              <a:ext uri="{FF2B5EF4-FFF2-40B4-BE49-F238E27FC236}">
                <a16:creationId xmlns:a16="http://schemas.microsoft.com/office/drawing/2014/main" id="{B7AD04FB-A2E4-4781-88DA-1F54D119F0CB}"/>
              </a:ext>
            </a:extLst>
          </p:cNvPr>
          <p:cNvCxnSpPr/>
          <p:nvPr/>
        </p:nvCxnSpPr>
        <p:spPr>
          <a:xfrm xmlns:a="http://schemas.openxmlformats.org/drawingml/2006/main">
            <a:off x="5531644" y="3362325"/>
            <a:ext cx="0" cy="238125"/>
          </a:xfrm>
          <a:prstGeom xmlns:a="http://schemas.openxmlformats.org/drawingml/2006/main" prst="straightConnector1">
            <a:avLst/>
          </a:prstGeom>
          <a:ln xmlns:a="http://schemas.openxmlformats.org/drawingml/2006/main" w="19050">
            <a:solidFill>
              <a:srgbClr val="245C98"/>
            </a:solidFill>
          </a:ln>
        </p:spPr>
      </p:cxnSp>
      <p:sp>
        <p:nvSpPr>
          <p:cNvPr id="39" name="正方形/長方形 38">
            <a:extLst xmlns:a="http://schemas.openxmlformats.org/drawingml/2006/main">
              <a:ext uri="{FF2B5EF4-FFF2-40B4-BE49-F238E27FC236}">
                <a16:creationId xmlns:a16="http://schemas.microsoft.com/office/drawing/2014/main" id="{31A5B203-8FCD-456A-9D31-199ADD4C910A}"/>
              </a:ext>
            </a:extLst>
          </p:cNvPr>
          <p:cNvSpPr>
            <a:spLocks xmlns:a="http://schemas.openxmlformats.org/drawingml/2006/main" noGrp="1"/>
          </p:cNvSpPr>
          <p:nvPr/>
        </p:nvSpPr>
        <p:spPr>
          <a:xfrm xmlns:a="http://schemas.openxmlformats.org/drawingml/2006/main">
            <a:off x="1000125" y="36957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40" name="直線矢印コネクタ 39">
            <a:extLst xmlns:a="http://schemas.openxmlformats.org/drawingml/2006/main">
              <a:ext uri="{FF2B5EF4-FFF2-40B4-BE49-F238E27FC236}">
                <a16:creationId xmlns:a16="http://schemas.microsoft.com/office/drawing/2014/main" id="{24F9106E-B949-4D5E-8051-324844084E65}"/>
              </a:ext>
            </a:extLst>
          </p:cNvPr>
          <p:cNvCxnSpPr/>
          <p:nvPr/>
        </p:nvCxnSpPr>
        <p:spPr>
          <a:xfrm xmlns:a="http://schemas.openxmlformats.org/drawingml/2006/main">
            <a:off x="1190625" y="3771900"/>
            <a:ext cx="4714875" cy="0"/>
          </a:xfrm>
          <a:prstGeom xmlns:a="http://schemas.openxmlformats.org/drawingml/2006/main" prst="straightConnector1">
            <a:avLst/>
          </a:prstGeom>
          <a:ln xmlns:a="http://schemas.openxmlformats.org/drawingml/2006/main" w="17145">
            <a:solidFill>
              <a:srgbClr val="B55D09"/>
            </a:solidFill>
          </a:ln>
        </p:spPr>
      </p:cxnSp>
      <p:cxnSp>
        <p:nvCxnSpPr>
          <p:cNvPr id="41" name="直線矢印コネクタ 40">
            <a:extLst xmlns:a="http://schemas.openxmlformats.org/drawingml/2006/main">
              <a:ext uri="{FF2B5EF4-FFF2-40B4-BE49-F238E27FC236}">
                <a16:creationId xmlns:a16="http://schemas.microsoft.com/office/drawing/2014/main" id="{452E5867-348C-4E0E-9FAE-183F8A4012F8}"/>
              </a:ext>
            </a:extLst>
          </p:cNvPr>
          <p:cNvCxnSpPr/>
          <p:nvPr/>
        </p:nvCxnSpPr>
        <p:spPr>
          <a:xfrm xmlns:a="http://schemas.openxmlformats.org/drawingml/2006/main">
            <a:off x="1190625" y="3857625"/>
            <a:ext cx="4714875" cy="0"/>
          </a:xfrm>
          <a:prstGeom xmlns:a="http://schemas.openxmlformats.org/drawingml/2006/main" prst="straightConnector1">
            <a:avLst/>
          </a:prstGeom>
          <a:ln xmlns:a="http://schemas.openxmlformats.org/drawingml/2006/main" w="17145">
            <a:solidFill>
              <a:srgbClr val="B55D09"/>
            </a:solidFill>
          </a:ln>
        </p:spPr>
      </p:cxnSp>
      <p:cxnSp>
        <p:nvCxnSpPr>
          <p:cNvPr id="42" name="直線矢印コネクタ 41">
            <a:extLst xmlns:a="http://schemas.openxmlformats.org/drawingml/2006/main">
              <a:ext uri="{FF2B5EF4-FFF2-40B4-BE49-F238E27FC236}">
                <a16:creationId xmlns:a16="http://schemas.microsoft.com/office/drawing/2014/main" id="{1CFB61DE-8563-4D86-BF0C-C31886A131DE}"/>
              </a:ext>
            </a:extLst>
          </p:cNvPr>
          <p:cNvCxnSpPr/>
          <p:nvPr/>
        </p:nvCxnSpPr>
        <p:spPr>
          <a:xfrm xmlns:a="http://schemas.openxmlformats.org/drawingml/2006/main">
            <a:off x="1190625" y="3943350"/>
            <a:ext cx="4714875" cy="0"/>
          </a:xfrm>
          <a:prstGeom xmlns:a="http://schemas.openxmlformats.org/drawingml/2006/main" prst="straightConnector1">
            <a:avLst/>
          </a:prstGeom>
          <a:ln xmlns:a="http://schemas.openxmlformats.org/drawingml/2006/main" w="17145">
            <a:solidFill>
              <a:srgbClr val="B55D09"/>
            </a:solidFill>
          </a:ln>
        </p:spPr>
      </p:cxnSp>
      <p:sp>
        <p:nvSpPr>
          <p:cNvPr id="43" name="正方形/長方形 42">
            <a:extLst xmlns:a="http://schemas.openxmlformats.org/drawingml/2006/main">
              <a:ext uri="{FF2B5EF4-FFF2-40B4-BE49-F238E27FC236}">
                <a16:creationId xmlns:a16="http://schemas.microsoft.com/office/drawing/2014/main" id="{8F429E6F-2BFE-4A0D-B7A7-3D052FBC4C69}"/>
              </a:ext>
            </a:extLst>
          </p:cNvPr>
          <p:cNvSpPr>
            <a:spLocks xmlns:a="http://schemas.openxmlformats.org/drawingml/2006/main" noGrp="1"/>
          </p:cNvSpPr>
          <p:nvPr/>
        </p:nvSpPr>
        <p:spPr>
          <a:xfrm xmlns:a="http://schemas.openxmlformats.org/drawingml/2006/main">
            <a:off x="1000125" y="42291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xmlns:a="http://schemas.openxmlformats.org/drawingml/2006/main">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合板</a:t>
            </a:r>
          </a:p>
        </p:txBody>
      </p:sp>
      <p:sp>
        <p:nvSpPr>
          <p:cNvPr id="44" name="正方形/長方形 43">
            <a:extLst xmlns:a="http://schemas.openxmlformats.org/drawingml/2006/main">
              <a:ext uri="{FF2B5EF4-FFF2-40B4-BE49-F238E27FC236}">
                <a16:creationId xmlns:a16="http://schemas.microsoft.com/office/drawing/2014/main" id="{5F4AE832-690A-4DE2-AF7C-F32D11B888A7}"/>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要素：単板</a:t>
            </a:r>
          </a:p>
        </p:txBody>
      </p:sp>
      <p:sp>
        <p:nvSpPr>
          <p:cNvPr id="45" name="正方形/長方形 44">
            <a:extLst xmlns:a="http://schemas.openxmlformats.org/drawingml/2006/main">
              <a:ext uri="{FF2B5EF4-FFF2-40B4-BE49-F238E27FC236}">
                <a16:creationId xmlns:a16="http://schemas.microsoft.com/office/drawing/2014/main" id="{85B2592C-252A-4890-AD1F-E508B05DC99D}"/>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46" name="正方形/長方形 45">
            <a:extLst xmlns:a="http://schemas.openxmlformats.org/drawingml/2006/main">
              <a:ext uri="{FF2B5EF4-FFF2-40B4-BE49-F238E27FC236}">
                <a16:creationId xmlns:a16="http://schemas.microsoft.com/office/drawing/2014/main" id="{332F5319-8DE7-4836-816E-B3069F79E7AC}"/>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層の厚さ・位置も重要</a:t>
            </a:r>
          </a:p>
        </p:txBody>
      </p:sp>
      <p:sp>
        <p:nvSpPr>
          <p:cNvPr id="47" name="正方形/長方形 46">
            <a:extLst xmlns:a="http://schemas.openxmlformats.org/drawingml/2006/main">
              <a:ext uri="{FF2B5EF4-FFF2-40B4-BE49-F238E27FC236}">
                <a16:creationId xmlns:a16="http://schemas.microsoft.com/office/drawing/2014/main" id="{D87FE813-8E37-451D-BDF5-1788758FD307}"/>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接着と用途の条件も確認</a:t>
            </a:r>
          </a:p>
        </p:txBody>
      </p:sp>
    </p:spTree>
    <p:extLst>
      <p:ext uri="{BB962C8B-B14F-4D97-AF65-F5344CB8AC3E}">
        <p14:creationId xmlns:p14="http://schemas.microsoft.com/office/powerpoint/2010/main" val="2354318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6B88D0-6B8C-47C6-BA87-F7546EB9E9D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交差積層の図</a:t>
            </a:r>
          </a:p>
        </p:txBody>
      </p:sp>
      <p:sp>
        <p:nvSpPr>
          <p:cNvPr id="2" name="">
            <a:extLst xmlns:a="http://schemas.openxmlformats.org/drawingml/2006/main">
              <a:ext uri="{FF2B5EF4-FFF2-40B4-BE49-F238E27FC236}">
                <a16:creationId xmlns:a16="http://schemas.microsoft.com/office/drawing/2014/main" id="{5FB618CA-913D-42EA-93D4-9FE022A0F2C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C1C4C0-A486-4F89-A31B-35B65AEC2ED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6B2997F6-47E5-486F-9FD2-CE203C2F8D5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FC215CED-AFA8-4119-B891-356EDD96114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合板の五層を描き、各層に繊維方向の矢印を入れてください。表と裏、中央</a:t>
            </a:r>
          </a:p>
        </p:txBody>
      </p:sp>
      <p:sp>
        <p:nvSpPr>
          <p:cNvPr id="6" name="">
            <a:extLst xmlns:a="http://schemas.openxmlformats.org/drawingml/2006/main">
              <a:ext uri="{FF2B5EF4-FFF2-40B4-BE49-F238E27FC236}">
                <a16:creationId xmlns:a16="http://schemas.microsoft.com/office/drawing/2014/main" id="{359197DA-2F04-40AE-AF85-42A2B52AA50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の層に印を付け、紙面の向きと製品の方向を分けて説明してください。</a:t>
            </a:r>
          </a:p>
        </p:txBody>
      </p:sp>
      <p:sp>
        <p:nvSpPr>
          <p:cNvPr id="7" name="">
            <a:extLst xmlns:a="http://schemas.openxmlformats.org/drawingml/2006/main">
              <a:ext uri="{FF2B5EF4-FFF2-40B4-BE49-F238E27FC236}">
                <a16:creationId xmlns:a16="http://schemas.microsoft.com/office/drawing/2014/main" id="{8116FE6B-7DAC-4CD0-A01F-18971F853A1D}"/>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960395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正方形/長方形 30">
            <a:extLst xmlns:a="http://schemas.openxmlformats.org/drawingml/2006/main">
              <a:ext uri="{FF2B5EF4-FFF2-40B4-BE49-F238E27FC236}">
                <a16:creationId xmlns:a16="http://schemas.microsoft.com/office/drawing/2014/main" id="{E7529B7F-5442-4891-B4B8-882531FBB20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LVLの平行積層</a:t>
            </a:r>
          </a:p>
        </p:txBody>
      </p:sp>
      <p:cxnSp>
        <p:nvCxnSpPr>
          <p:cNvPr id="2" name="直線矢印コネクタ 1">
            <a:extLst xmlns:a="http://schemas.openxmlformats.org/drawingml/2006/main">
              <a:ext uri="{FF2B5EF4-FFF2-40B4-BE49-F238E27FC236}">
                <a16:creationId xmlns:a16="http://schemas.microsoft.com/office/drawing/2014/main" id="{6453E48B-D384-45FE-A269-FA9F362CAD1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AF8835E-CAF2-4306-827E-CC271F8A2FF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26ADFB1C-D0CC-47A0-BCC2-120AF564981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a:t>
            </a:r>
          </a:p>
        </p:txBody>
      </p:sp>
      <p:sp>
        <p:nvSpPr>
          <p:cNvPr id="5" name="正方形/長方形 4">
            <a:extLst xmlns:a="http://schemas.openxmlformats.org/drawingml/2006/main">
              <a:ext uri="{FF2B5EF4-FFF2-40B4-BE49-F238E27FC236}">
                <a16:creationId xmlns:a16="http://schemas.microsoft.com/office/drawing/2014/main" id="{908C130C-9F98-4767-94B5-FD39CA4B38E6}"/>
              </a:ext>
            </a:extLst>
          </p:cNvPr>
          <p:cNvSpPr>
            <a:spLocks xmlns:a="http://schemas.openxmlformats.org/drawingml/2006/main" noGrp="1"/>
          </p:cNvSpPr>
          <p:nvPr/>
        </p:nvSpPr>
        <p:spPr>
          <a:xfrm xmlns:a="http://schemas.openxmlformats.org/drawingml/2006/main">
            <a:off x="1000125" y="20955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6" name="直線矢印コネクタ 5">
            <a:extLst xmlns:a="http://schemas.openxmlformats.org/drawingml/2006/main">
              <a:ext uri="{FF2B5EF4-FFF2-40B4-BE49-F238E27FC236}">
                <a16:creationId xmlns:a16="http://schemas.microsoft.com/office/drawing/2014/main" id="{6723EE10-608A-4BF4-8E48-8222443A4FB9}"/>
              </a:ext>
            </a:extLst>
          </p:cNvPr>
          <p:cNvCxnSpPr/>
          <p:nvPr/>
        </p:nvCxnSpPr>
        <p:spPr>
          <a:xfrm xmlns:a="http://schemas.openxmlformats.org/drawingml/2006/main">
            <a:off x="1190625" y="2171700"/>
            <a:ext cx="4714875" cy="0"/>
          </a:xfrm>
          <a:prstGeom xmlns:a="http://schemas.openxmlformats.org/drawingml/2006/main" prst="straightConnector1">
            <a:avLst/>
          </a:prstGeom>
          <a:ln xmlns:a="http://schemas.openxmlformats.org/drawingml/2006/main" w="17145">
            <a:solidFill>
              <a:srgbClr val="B55D09"/>
            </a:solidFill>
          </a:ln>
        </p:spPr>
      </p:cxnSp>
      <p:cxnSp>
        <p:nvCxnSpPr>
          <p:cNvPr id="7" name="直線矢印コネクタ 6">
            <a:extLst xmlns:a="http://schemas.openxmlformats.org/drawingml/2006/main">
              <a:ext uri="{FF2B5EF4-FFF2-40B4-BE49-F238E27FC236}">
                <a16:creationId xmlns:a16="http://schemas.microsoft.com/office/drawing/2014/main" id="{9C955A26-F856-4618-A3D8-1928A3E307A9}"/>
              </a:ext>
            </a:extLst>
          </p:cNvPr>
          <p:cNvCxnSpPr/>
          <p:nvPr/>
        </p:nvCxnSpPr>
        <p:spPr>
          <a:xfrm xmlns:a="http://schemas.openxmlformats.org/drawingml/2006/main">
            <a:off x="1190625" y="2257425"/>
            <a:ext cx="4714875" cy="0"/>
          </a:xfrm>
          <a:prstGeom xmlns:a="http://schemas.openxmlformats.org/drawingml/2006/main" prst="straightConnector1">
            <a:avLst/>
          </a:prstGeom>
          <a:ln xmlns:a="http://schemas.openxmlformats.org/drawingml/2006/main" w="17145">
            <a:solidFill>
              <a:srgbClr val="B55D09"/>
            </a:solidFill>
          </a:ln>
        </p:spPr>
      </p:cxnSp>
      <p:cxnSp>
        <p:nvCxnSpPr>
          <p:cNvPr id="8" name="直線矢印コネクタ 7">
            <a:extLst xmlns:a="http://schemas.openxmlformats.org/drawingml/2006/main">
              <a:ext uri="{FF2B5EF4-FFF2-40B4-BE49-F238E27FC236}">
                <a16:creationId xmlns:a16="http://schemas.microsoft.com/office/drawing/2014/main" id="{F4E61A62-04CC-41EB-9BF7-FB0E1D689326}"/>
              </a:ext>
            </a:extLst>
          </p:cNvPr>
          <p:cNvCxnSpPr/>
          <p:nvPr/>
        </p:nvCxnSpPr>
        <p:spPr>
          <a:xfrm xmlns:a="http://schemas.openxmlformats.org/drawingml/2006/main">
            <a:off x="1190625" y="2343150"/>
            <a:ext cx="4714875" cy="0"/>
          </a:xfrm>
          <a:prstGeom xmlns:a="http://schemas.openxmlformats.org/drawingml/2006/main" prst="straightConnector1">
            <a:avLst/>
          </a:prstGeom>
          <a:ln xmlns:a="http://schemas.openxmlformats.org/drawingml/2006/main" w="17145">
            <a:solidFill>
              <a:srgbClr val="B55D09"/>
            </a:solidFill>
          </a:ln>
        </p:spPr>
      </p:cxnSp>
      <p:sp>
        <p:nvSpPr>
          <p:cNvPr id="9" name="正方形/長方形 8">
            <a:extLst xmlns:a="http://schemas.openxmlformats.org/drawingml/2006/main">
              <a:ext uri="{FF2B5EF4-FFF2-40B4-BE49-F238E27FC236}">
                <a16:creationId xmlns:a16="http://schemas.microsoft.com/office/drawing/2014/main" id="{3D058EF9-827C-4C7E-A0AE-032AE1B0B605}"/>
              </a:ext>
            </a:extLst>
          </p:cNvPr>
          <p:cNvSpPr>
            <a:spLocks xmlns:a="http://schemas.openxmlformats.org/drawingml/2006/main" noGrp="1"/>
          </p:cNvSpPr>
          <p:nvPr/>
        </p:nvSpPr>
        <p:spPr>
          <a:xfrm xmlns:a="http://schemas.openxmlformats.org/drawingml/2006/main">
            <a:off x="1000125" y="249555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10" name="直線矢印コネクタ 9">
            <a:extLst xmlns:a="http://schemas.openxmlformats.org/drawingml/2006/main">
              <a:ext uri="{FF2B5EF4-FFF2-40B4-BE49-F238E27FC236}">
                <a16:creationId xmlns:a16="http://schemas.microsoft.com/office/drawing/2014/main" id="{674FFF56-131F-4523-9B5A-7F2A4B0FE8F9}"/>
              </a:ext>
            </a:extLst>
          </p:cNvPr>
          <p:cNvCxnSpPr/>
          <p:nvPr/>
        </p:nvCxnSpPr>
        <p:spPr>
          <a:xfrm xmlns:a="http://schemas.openxmlformats.org/drawingml/2006/main">
            <a:off x="1190625" y="2571750"/>
            <a:ext cx="4714875" cy="0"/>
          </a:xfrm>
          <a:prstGeom xmlns:a="http://schemas.openxmlformats.org/drawingml/2006/main" prst="straightConnector1">
            <a:avLst/>
          </a:prstGeom>
          <a:ln xmlns:a="http://schemas.openxmlformats.org/drawingml/2006/main" w="17145">
            <a:solidFill>
              <a:srgbClr val="B55D09"/>
            </a:solidFill>
          </a:ln>
        </p:spPr>
      </p:cxnSp>
      <p:cxnSp>
        <p:nvCxnSpPr>
          <p:cNvPr id="11" name="直線矢印コネクタ 10">
            <a:extLst xmlns:a="http://schemas.openxmlformats.org/drawingml/2006/main">
              <a:ext uri="{FF2B5EF4-FFF2-40B4-BE49-F238E27FC236}">
                <a16:creationId xmlns:a16="http://schemas.microsoft.com/office/drawing/2014/main" id="{BEC25CBD-702C-440F-A2BB-9786CA4E2B26}"/>
              </a:ext>
            </a:extLst>
          </p:cNvPr>
          <p:cNvCxnSpPr/>
          <p:nvPr/>
        </p:nvCxnSpPr>
        <p:spPr>
          <a:xfrm xmlns:a="http://schemas.openxmlformats.org/drawingml/2006/main">
            <a:off x="1190625" y="2657475"/>
            <a:ext cx="4714875" cy="0"/>
          </a:xfrm>
          <a:prstGeom xmlns:a="http://schemas.openxmlformats.org/drawingml/2006/main" prst="straightConnector1">
            <a:avLst/>
          </a:prstGeom>
          <a:ln xmlns:a="http://schemas.openxmlformats.org/drawingml/2006/main" w="17145">
            <a:solidFill>
              <a:srgbClr val="B55D09"/>
            </a:solidFill>
          </a:ln>
        </p:spPr>
      </p:cxnSp>
      <p:cxnSp>
        <p:nvCxnSpPr>
          <p:cNvPr id="12" name="直線矢印コネクタ 11">
            <a:extLst xmlns:a="http://schemas.openxmlformats.org/drawingml/2006/main">
              <a:ext uri="{FF2B5EF4-FFF2-40B4-BE49-F238E27FC236}">
                <a16:creationId xmlns:a16="http://schemas.microsoft.com/office/drawing/2014/main" id="{586913B2-F4BE-4CC8-A017-4E7C5C2500D6}"/>
              </a:ext>
            </a:extLst>
          </p:cNvPr>
          <p:cNvCxnSpPr/>
          <p:nvPr/>
        </p:nvCxnSpPr>
        <p:spPr>
          <a:xfrm xmlns:a="http://schemas.openxmlformats.org/drawingml/2006/main">
            <a:off x="1190625" y="2743200"/>
            <a:ext cx="4714875" cy="0"/>
          </a:xfrm>
          <a:prstGeom xmlns:a="http://schemas.openxmlformats.org/drawingml/2006/main" prst="straightConnector1">
            <a:avLst/>
          </a:prstGeom>
          <a:ln xmlns:a="http://schemas.openxmlformats.org/drawingml/2006/main" w="17145">
            <a:solidFill>
              <a:srgbClr val="B55D09"/>
            </a:solidFill>
          </a:ln>
        </p:spPr>
      </p:cxnSp>
      <p:sp>
        <p:nvSpPr>
          <p:cNvPr id="13" name="正方形/長方形 12">
            <a:extLst xmlns:a="http://schemas.openxmlformats.org/drawingml/2006/main">
              <a:ext uri="{FF2B5EF4-FFF2-40B4-BE49-F238E27FC236}">
                <a16:creationId xmlns:a16="http://schemas.microsoft.com/office/drawing/2014/main" id="{DB511E17-ABBC-4805-925A-E6D5A62248BA}"/>
              </a:ext>
            </a:extLst>
          </p:cNvPr>
          <p:cNvSpPr>
            <a:spLocks xmlns:a="http://schemas.openxmlformats.org/drawingml/2006/main" noGrp="1"/>
          </p:cNvSpPr>
          <p:nvPr/>
        </p:nvSpPr>
        <p:spPr>
          <a:xfrm xmlns:a="http://schemas.openxmlformats.org/drawingml/2006/main">
            <a:off x="1000125" y="28956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14" name="直線矢印コネクタ 13">
            <a:extLst xmlns:a="http://schemas.openxmlformats.org/drawingml/2006/main">
              <a:ext uri="{FF2B5EF4-FFF2-40B4-BE49-F238E27FC236}">
                <a16:creationId xmlns:a16="http://schemas.microsoft.com/office/drawing/2014/main" id="{6553E32C-4BC1-4C28-8620-BF7449F7B834}"/>
              </a:ext>
            </a:extLst>
          </p:cNvPr>
          <p:cNvCxnSpPr/>
          <p:nvPr/>
        </p:nvCxnSpPr>
        <p:spPr>
          <a:xfrm xmlns:a="http://schemas.openxmlformats.org/drawingml/2006/main">
            <a:off x="1190625" y="2971800"/>
            <a:ext cx="4714875" cy="0"/>
          </a:xfrm>
          <a:prstGeom xmlns:a="http://schemas.openxmlformats.org/drawingml/2006/main" prst="straightConnector1">
            <a:avLst/>
          </a:prstGeom>
          <a:ln xmlns:a="http://schemas.openxmlformats.org/drawingml/2006/main" w="17145">
            <a:solidFill>
              <a:srgbClr val="B55D09"/>
            </a:solidFill>
          </a:ln>
        </p:spPr>
      </p:cxnSp>
      <p:cxnSp>
        <p:nvCxnSpPr>
          <p:cNvPr id="15" name="直線矢印コネクタ 14">
            <a:extLst xmlns:a="http://schemas.openxmlformats.org/drawingml/2006/main">
              <a:ext uri="{FF2B5EF4-FFF2-40B4-BE49-F238E27FC236}">
                <a16:creationId xmlns:a16="http://schemas.microsoft.com/office/drawing/2014/main" id="{E3A59909-C7D5-42B9-94E7-69F00337811A}"/>
              </a:ext>
            </a:extLst>
          </p:cNvPr>
          <p:cNvCxnSpPr/>
          <p:nvPr/>
        </p:nvCxnSpPr>
        <p:spPr>
          <a:xfrm xmlns:a="http://schemas.openxmlformats.org/drawingml/2006/main">
            <a:off x="1190625" y="3057525"/>
            <a:ext cx="4714875" cy="0"/>
          </a:xfrm>
          <a:prstGeom xmlns:a="http://schemas.openxmlformats.org/drawingml/2006/main" prst="straightConnector1">
            <a:avLst/>
          </a:prstGeom>
          <a:ln xmlns:a="http://schemas.openxmlformats.org/drawingml/2006/main" w="17145">
            <a:solidFill>
              <a:srgbClr val="B55D09"/>
            </a:solidFill>
          </a:ln>
        </p:spPr>
      </p:cxnSp>
      <p:cxnSp>
        <p:nvCxnSpPr>
          <p:cNvPr id="16" name="直線矢印コネクタ 15">
            <a:extLst xmlns:a="http://schemas.openxmlformats.org/drawingml/2006/main">
              <a:ext uri="{FF2B5EF4-FFF2-40B4-BE49-F238E27FC236}">
                <a16:creationId xmlns:a16="http://schemas.microsoft.com/office/drawing/2014/main" id="{4468FD2A-3CB6-43DA-BED3-4C66856CE032}"/>
              </a:ext>
            </a:extLst>
          </p:cNvPr>
          <p:cNvCxnSpPr/>
          <p:nvPr/>
        </p:nvCxnSpPr>
        <p:spPr>
          <a:xfrm xmlns:a="http://schemas.openxmlformats.org/drawingml/2006/main">
            <a:off x="1190625" y="3143250"/>
            <a:ext cx="4714875" cy="0"/>
          </a:xfrm>
          <a:prstGeom xmlns:a="http://schemas.openxmlformats.org/drawingml/2006/main" prst="straightConnector1">
            <a:avLst/>
          </a:prstGeom>
          <a:ln xmlns:a="http://schemas.openxmlformats.org/drawingml/2006/main" w="17145">
            <a:solidFill>
              <a:srgbClr val="B55D09"/>
            </a:solidFill>
          </a:ln>
        </p:spPr>
      </p:cxnSp>
      <p:sp>
        <p:nvSpPr>
          <p:cNvPr id="17" name="正方形/長方形 16">
            <a:extLst xmlns:a="http://schemas.openxmlformats.org/drawingml/2006/main">
              <a:ext uri="{FF2B5EF4-FFF2-40B4-BE49-F238E27FC236}">
                <a16:creationId xmlns:a16="http://schemas.microsoft.com/office/drawing/2014/main" id="{CE2C0298-B142-4453-AA4E-CD479FCACE1D}"/>
              </a:ext>
            </a:extLst>
          </p:cNvPr>
          <p:cNvSpPr>
            <a:spLocks xmlns:a="http://schemas.openxmlformats.org/drawingml/2006/main" noGrp="1"/>
          </p:cNvSpPr>
          <p:nvPr/>
        </p:nvSpPr>
        <p:spPr>
          <a:xfrm xmlns:a="http://schemas.openxmlformats.org/drawingml/2006/main">
            <a:off x="1000125" y="329565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18" name="直線矢印コネクタ 17">
            <a:extLst xmlns:a="http://schemas.openxmlformats.org/drawingml/2006/main">
              <a:ext uri="{FF2B5EF4-FFF2-40B4-BE49-F238E27FC236}">
                <a16:creationId xmlns:a16="http://schemas.microsoft.com/office/drawing/2014/main" id="{F3F9C503-2605-438F-BD7C-874F34E7762D}"/>
              </a:ext>
            </a:extLst>
          </p:cNvPr>
          <p:cNvCxnSpPr/>
          <p:nvPr/>
        </p:nvCxnSpPr>
        <p:spPr>
          <a:xfrm xmlns:a="http://schemas.openxmlformats.org/drawingml/2006/main">
            <a:off x="1190625" y="3371850"/>
            <a:ext cx="4714875" cy="0"/>
          </a:xfrm>
          <a:prstGeom xmlns:a="http://schemas.openxmlformats.org/drawingml/2006/main" prst="straightConnector1">
            <a:avLst/>
          </a:prstGeom>
          <a:ln xmlns:a="http://schemas.openxmlformats.org/drawingml/2006/main" w="17145">
            <a:solidFill>
              <a:srgbClr val="B55D09"/>
            </a:solidFill>
          </a:ln>
        </p:spPr>
      </p:cxnSp>
      <p:cxnSp>
        <p:nvCxnSpPr>
          <p:cNvPr id="19" name="直線矢印コネクタ 18">
            <a:extLst xmlns:a="http://schemas.openxmlformats.org/drawingml/2006/main">
              <a:ext uri="{FF2B5EF4-FFF2-40B4-BE49-F238E27FC236}">
                <a16:creationId xmlns:a16="http://schemas.microsoft.com/office/drawing/2014/main" id="{517F4CFF-55CC-4AF2-B0B0-10A2F1BF9AD3}"/>
              </a:ext>
            </a:extLst>
          </p:cNvPr>
          <p:cNvCxnSpPr/>
          <p:nvPr/>
        </p:nvCxnSpPr>
        <p:spPr>
          <a:xfrm xmlns:a="http://schemas.openxmlformats.org/drawingml/2006/main">
            <a:off x="1190625" y="3457575"/>
            <a:ext cx="4714875" cy="0"/>
          </a:xfrm>
          <a:prstGeom xmlns:a="http://schemas.openxmlformats.org/drawingml/2006/main" prst="straightConnector1">
            <a:avLst/>
          </a:prstGeom>
          <a:ln xmlns:a="http://schemas.openxmlformats.org/drawingml/2006/main" w="17145">
            <a:solidFill>
              <a:srgbClr val="B55D09"/>
            </a:solidFill>
          </a:ln>
        </p:spPr>
      </p:cxnSp>
      <p:cxnSp>
        <p:nvCxnSpPr>
          <p:cNvPr id="20" name="直線矢印コネクタ 19">
            <a:extLst xmlns:a="http://schemas.openxmlformats.org/drawingml/2006/main">
              <a:ext uri="{FF2B5EF4-FFF2-40B4-BE49-F238E27FC236}">
                <a16:creationId xmlns:a16="http://schemas.microsoft.com/office/drawing/2014/main" id="{08A65D1E-784D-43E9-9413-782A64EBDA1B}"/>
              </a:ext>
            </a:extLst>
          </p:cNvPr>
          <p:cNvCxnSpPr/>
          <p:nvPr/>
        </p:nvCxnSpPr>
        <p:spPr>
          <a:xfrm xmlns:a="http://schemas.openxmlformats.org/drawingml/2006/main">
            <a:off x="1190625" y="3543300"/>
            <a:ext cx="4714875" cy="0"/>
          </a:xfrm>
          <a:prstGeom xmlns:a="http://schemas.openxmlformats.org/drawingml/2006/main" prst="straightConnector1">
            <a:avLst/>
          </a:prstGeom>
          <a:ln xmlns:a="http://schemas.openxmlformats.org/drawingml/2006/main" w="17145">
            <a:solidFill>
              <a:srgbClr val="B55D09"/>
            </a:solidFill>
          </a:ln>
        </p:spPr>
      </p:cxnSp>
      <p:sp>
        <p:nvSpPr>
          <p:cNvPr id="21" name="正方形/長方形 20">
            <a:extLst xmlns:a="http://schemas.openxmlformats.org/drawingml/2006/main">
              <a:ext uri="{FF2B5EF4-FFF2-40B4-BE49-F238E27FC236}">
                <a16:creationId xmlns:a16="http://schemas.microsoft.com/office/drawing/2014/main" id="{9B825F1C-559A-445F-B409-397DFD3DE004}"/>
              </a:ext>
            </a:extLst>
          </p:cNvPr>
          <p:cNvSpPr>
            <a:spLocks xmlns:a="http://schemas.openxmlformats.org/drawingml/2006/main" noGrp="1"/>
          </p:cNvSpPr>
          <p:nvPr/>
        </p:nvSpPr>
        <p:spPr>
          <a:xfrm xmlns:a="http://schemas.openxmlformats.org/drawingml/2006/main">
            <a:off x="1000125" y="3695700"/>
            <a:ext cx="5095875" cy="371475"/>
          </a:xfrm>
          <a:prstGeom xmlns:a="http://schemas.openxmlformats.org/drawingml/2006/main" prst="rect">
            <a:avLst/>
          </a:prstGeom>
          <a:solidFill xmlns:a="http://schemas.openxmlformats.org/drawingml/2006/main">
            <a:srgbClr val="F5EFE4"/>
          </a:solidFill>
          <a:ln xmlns:a="http://schemas.openxmlformats.org/drawingml/2006/main" w="14288">
            <a:solidFill>
              <a:srgbClr val="C8D3DD"/>
            </a:solidFill>
          </a:ln>
        </p:spPr>
      </p:sp>
      <p:cxnSp>
        <p:nvCxnSpPr>
          <p:cNvPr id="22" name="直線矢印コネクタ 21">
            <a:extLst xmlns:a="http://schemas.openxmlformats.org/drawingml/2006/main">
              <a:ext uri="{FF2B5EF4-FFF2-40B4-BE49-F238E27FC236}">
                <a16:creationId xmlns:a16="http://schemas.microsoft.com/office/drawing/2014/main" id="{5F4F27DB-AFB9-4253-BFB3-AEFA88A7E35D}"/>
              </a:ext>
            </a:extLst>
          </p:cNvPr>
          <p:cNvCxnSpPr/>
          <p:nvPr/>
        </p:nvCxnSpPr>
        <p:spPr>
          <a:xfrm xmlns:a="http://schemas.openxmlformats.org/drawingml/2006/main">
            <a:off x="1190625" y="3771900"/>
            <a:ext cx="4714875" cy="0"/>
          </a:xfrm>
          <a:prstGeom xmlns:a="http://schemas.openxmlformats.org/drawingml/2006/main" prst="straightConnector1">
            <a:avLst/>
          </a:prstGeom>
          <a:ln xmlns:a="http://schemas.openxmlformats.org/drawingml/2006/main" w="17145">
            <a:solidFill>
              <a:srgbClr val="B55D09"/>
            </a:solidFill>
          </a:ln>
        </p:spPr>
      </p:cxnSp>
      <p:cxnSp>
        <p:nvCxnSpPr>
          <p:cNvPr id="23" name="直線矢印コネクタ 22">
            <a:extLst xmlns:a="http://schemas.openxmlformats.org/drawingml/2006/main">
              <a:ext uri="{FF2B5EF4-FFF2-40B4-BE49-F238E27FC236}">
                <a16:creationId xmlns:a16="http://schemas.microsoft.com/office/drawing/2014/main" id="{B094250E-3827-4237-9388-32FF7B9A91BB}"/>
              </a:ext>
            </a:extLst>
          </p:cNvPr>
          <p:cNvCxnSpPr/>
          <p:nvPr/>
        </p:nvCxnSpPr>
        <p:spPr>
          <a:xfrm xmlns:a="http://schemas.openxmlformats.org/drawingml/2006/main">
            <a:off x="1190625" y="3857625"/>
            <a:ext cx="4714875" cy="0"/>
          </a:xfrm>
          <a:prstGeom xmlns:a="http://schemas.openxmlformats.org/drawingml/2006/main" prst="straightConnector1">
            <a:avLst/>
          </a:prstGeom>
          <a:ln xmlns:a="http://schemas.openxmlformats.org/drawingml/2006/main" w="17145">
            <a:solidFill>
              <a:srgbClr val="B55D09"/>
            </a:solidFill>
          </a:ln>
        </p:spPr>
      </p:cxnSp>
      <p:cxnSp>
        <p:nvCxnSpPr>
          <p:cNvPr id="24" name="直線矢印コネクタ 23">
            <a:extLst xmlns:a="http://schemas.openxmlformats.org/drawingml/2006/main">
              <a:ext uri="{FF2B5EF4-FFF2-40B4-BE49-F238E27FC236}">
                <a16:creationId xmlns:a16="http://schemas.microsoft.com/office/drawing/2014/main" id="{350B840E-5D63-4688-9921-AB994F48CA7E}"/>
              </a:ext>
            </a:extLst>
          </p:cNvPr>
          <p:cNvCxnSpPr/>
          <p:nvPr/>
        </p:nvCxnSpPr>
        <p:spPr>
          <a:xfrm xmlns:a="http://schemas.openxmlformats.org/drawingml/2006/main">
            <a:off x="1190625" y="3943350"/>
            <a:ext cx="4714875" cy="0"/>
          </a:xfrm>
          <a:prstGeom xmlns:a="http://schemas.openxmlformats.org/drawingml/2006/main" prst="straightConnector1">
            <a:avLst/>
          </a:prstGeom>
          <a:ln xmlns:a="http://schemas.openxmlformats.org/drawingml/2006/main" w="17145">
            <a:solidFill>
              <a:srgbClr val="B55D09"/>
            </a:solidFill>
          </a:ln>
        </p:spPr>
      </p:cxnSp>
      <p:sp>
        <p:nvSpPr>
          <p:cNvPr id="25" name="正方形/長方形 24">
            <a:extLst xmlns:a="http://schemas.openxmlformats.org/drawingml/2006/main">
              <a:ext uri="{FF2B5EF4-FFF2-40B4-BE49-F238E27FC236}">
                <a16:creationId xmlns:a16="http://schemas.microsoft.com/office/drawing/2014/main" id="{9BC7E49A-21DD-4DD4-A740-4027FF8A0E12}"/>
              </a:ext>
            </a:extLst>
          </p:cNvPr>
          <p:cNvSpPr>
            <a:spLocks xmlns:a="http://schemas.openxmlformats.org/drawingml/2006/main" noGrp="1"/>
          </p:cNvSpPr>
          <p:nvPr/>
        </p:nvSpPr>
        <p:spPr>
          <a:xfrm xmlns:a="http://schemas.openxmlformats.org/drawingml/2006/main">
            <a:off x="1000125" y="42291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364F"/>
                </a:solidFill>
                <a:latin typeface="Yu Gothic"/>
                <a:ea typeface="Yu Gothic"/>
                <a:cs typeface="Yu Gothic"/>
              </a:defRPr>
            </a:defPPr>
            <a:lvl1pPr algn="ctr">
              <a:buNone/>
              <a:defRPr sz="2025" b="1">
                <a:solidFill>
                  <a:srgbClr val="18364F"/>
                </a:solidFill>
                <a:latin typeface="Yu Gothic"/>
                <a:ea typeface="Yu Gothic"/>
                <a:cs typeface="Yu Gothic"/>
              </a:defRPr>
            </a:lvl1pPr>
            <a:lvl2pPr algn="ctr">
              <a:buNone/>
              <a:defRPr sz="2025" b="1">
                <a:solidFill>
                  <a:srgbClr val="18364F"/>
                </a:solidFill>
                <a:latin typeface="Yu Gothic"/>
                <a:ea typeface="Yu Gothic"/>
                <a:cs typeface="Yu Gothic"/>
              </a:defRPr>
            </a:lvl2pPr>
            <a:lvl3pPr algn="ctr">
              <a:buNone/>
              <a:defRPr sz="2025" b="1">
                <a:solidFill>
                  <a:srgbClr val="18364F"/>
                </a:solidFill>
                <a:latin typeface="Yu Gothic"/>
                <a:ea typeface="Yu Gothic"/>
                <a:cs typeface="Yu Gothic"/>
              </a:defRPr>
            </a:lvl3pPr>
            <a:lvl4pPr algn="ctr">
              <a:buNone/>
              <a:defRPr sz="2025" b="1">
                <a:solidFill>
                  <a:srgbClr val="18364F"/>
                </a:solidFill>
                <a:latin typeface="Yu Gothic"/>
                <a:ea typeface="Yu Gothic"/>
                <a:cs typeface="Yu Gothic"/>
              </a:defRPr>
            </a:lvl4pPr>
            <a:lvl5pPr algn="ctr">
              <a:buNone/>
              <a:defRPr sz="2025" b="1">
                <a:solidFill>
                  <a:srgbClr val="18364F"/>
                </a:solidFill>
                <a:latin typeface="Yu Gothic"/>
                <a:ea typeface="Yu Gothic"/>
                <a:cs typeface="Yu Gothic"/>
              </a:defRPr>
            </a:lvl5pPr>
            <a:lvl6pPr algn="ctr">
              <a:buNone/>
              <a:defRPr sz="2025" b="1">
                <a:solidFill>
                  <a:srgbClr val="18364F"/>
                </a:solidFill>
                <a:latin typeface="Yu Gothic"/>
                <a:ea typeface="Yu Gothic"/>
                <a:cs typeface="Yu Gothic"/>
              </a:defRPr>
            </a:lvl6pPr>
            <a:lvl7pPr algn="ctr">
              <a:buNone/>
              <a:defRPr sz="2025" b="1">
                <a:solidFill>
                  <a:srgbClr val="18364F"/>
                </a:solidFill>
                <a:latin typeface="Yu Gothic"/>
                <a:ea typeface="Yu Gothic"/>
                <a:cs typeface="Yu Gothic"/>
              </a:defRPr>
            </a:lvl7pPr>
            <a:lvl8pPr algn="ctr">
              <a:buNone/>
              <a:defRPr sz="2025" b="1">
                <a:solidFill>
                  <a:srgbClr val="18364F"/>
                </a:solidFill>
                <a:latin typeface="Yu Gothic"/>
                <a:ea typeface="Yu Gothic"/>
                <a:cs typeface="Yu Gothic"/>
              </a:defRPr>
            </a:lvl8pPr>
            <a:lvl9pPr algn="ctr">
              <a:buNone/>
              <a:defRPr sz="2025" b="1">
                <a:solidFill>
                  <a:srgbClr val="18364F"/>
                </a:solidFill>
                <a:latin typeface="Yu Gothic"/>
                <a:ea typeface="Yu Gothic"/>
                <a:cs typeface="Yu Gothic"/>
              </a:defRPr>
            </a:lvl9pPr>
          </a:lstStyle>
          <a:p xmlns:a="http://schemas.openxmlformats.org/drawingml/2006/main">
            <a:pPr algn="ctr">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LVL</a:t>
            </a:r>
          </a:p>
        </p:txBody>
      </p:sp>
      <p:sp>
        <p:nvSpPr>
          <p:cNvPr id="26" name="正方形/長方形 25">
            <a:extLst xmlns:a="http://schemas.openxmlformats.org/drawingml/2006/main">
              <a:ext uri="{FF2B5EF4-FFF2-40B4-BE49-F238E27FC236}">
                <a16:creationId xmlns:a16="http://schemas.microsoft.com/office/drawing/2014/main" id="{CEB45AA1-6239-4452-8F69-F1752C5A9228}"/>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要素：単板</a:t>
            </a:r>
          </a:p>
        </p:txBody>
      </p:sp>
      <p:sp>
        <p:nvSpPr>
          <p:cNvPr id="27" name="正方形/長方形 26">
            <a:extLst xmlns:a="http://schemas.openxmlformats.org/drawingml/2006/main">
              <a:ext uri="{FF2B5EF4-FFF2-40B4-BE49-F238E27FC236}">
                <a16:creationId xmlns:a16="http://schemas.microsoft.com/office/drawing/2014/main" id="{236C8182-CDF8-456E-8C1E-289AAEEAFBF7}"/>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主な配向を色分け</a:t>
            </a:r>
          </a:p>
        </p:txBody>
      </p:sp>
      <p:sp>
        <p:nvSpPr>
          <p:cNvPr id="28" name="正方形/長方形 27">
            <a:extLst xmlns:a="http://schemas.openxmlformats.org/drawingml/2006/main">
              <a:ext uri="{FF2B5EF4-FFF2-40B4-BE49-F238E27FC236}">
                <a16:creationId xmlns:a16="http://schemas.microsoft.com/office/drawing/2014/main" id="{0CF3D3FE-8289-4828-B820-DC9651BFA242}"/>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層の厚さ・位置も重要</a:t>
            </a:r>
          </a:p>
        </p:txBody>
      </p:sp>
      <p:sp>
        <p:nvSpPr>
          <p:cNvPr id="29" name="正方形/長方形 28">
            <a:extLst xmlns:a="http://schemas.openxmlformats.org/drawingml/2006/main">
              <a:ext uri="{FF2B5EF4-FFF2-40B4-BE49-F238E27FC236}">
                <a16:creationId xmlns:a16="http://schemas.microsoft.com/office/drawing/2014/main" id="{65E6C4A5-7E4C-4140-9428-C78FD0CAD74F}"/>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接着と用途の条件も確認</a:t>
            </a:r>
          </a:p>
        </p:txBody>
      </p:sp>
    </p:spTree>
    <p:extLst>
      <p:ext uri="{BB962C8B-B14F-4D97-AF65-F5344CB8AC3E}">
        <p14:creationId xmlns:p14="http://schemas.microsoft.com/office/powerpoint/2010/main" val="6918219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6D04822A-284E-4C01-9899-6C8EDC29A95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LVLと方向別性能</a:t>
            </a:r>
          </a:p>
        </p:txBody>
      </p:sp>
      <p:cxnSp>
        <p:nvCxnSpPr>
          <p:cNvPr id="2" name="直線矢印コネクタ 1">
            <a:extLst xmlns:a="http://schemas.openxmlformats.org/drawingml/2006/main">
              <a:ext uri="{FF2B5EF4-FFF2-40B4-BE49-F238E27FC236}">
                <a16:creationId xmlns:a16="http://schemas.microsoft.com/office/drawing/2014/main" id="{73B91AD0-36B9-48D3-B140-B62167B0890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6640D5AD-42E4-4BD7-9039-843B2D2C213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6B786FBF-BA47-4E4C-872E-553D8BE7BFE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正方形/長方形 4">
            <a:extLst xmlns:a="http://schemas.openxmlformats.org/drawingml/2006/main">
              <a:ext uri="{FF2B5EF4-FFF2-40B4-BE49-F238E27FC236}">
                <a16:creationId xmlns:a16="http://schemas.microsoft.com/office/drawing/2014/main" id="{E8188B02-50A2-4574-9DF9-2BBC026C8F09}"/>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LVLは単板の主な繊維方向をほぼ平行にして積層する材料</a:t>
            </a:r>
          </a:p>
        </p:txBody>
      </p:sp>
      <p:sp>
        <p:nvSpPr>
          <p:cNvPr id="6" name="正方形/長方形 5">
            <a:extLst xmlns:a="http://schemas.openxmlformats.org/drawingml/2006/main">
              <a:ext uri="{FF2B5EF4-FFF2-40B4-BE49-F238E27FC236}">
                <a16:creationId xmlns:a16="http://schemas.microsoft.com/office/drawing/2014/main" id="{9A74D284-95A5-4FFD-A8EF-9EFCC79A203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単板を接合・積層し、長い部材や大きな断面を構成できる</a:t>
            </a:r>
          </a:p>
        </p:txBody>
      </p:sp>
      <p:sp>
        <p:nvSpPr>
          <p:cNvPr id="7" name="正方形/長方形 6">
            <a:extLst xmlns:a="http://schemas.openxmlformats.org/drawingml/2006/main">
              <a:ext uri="{FF2B5EF4-FFF2-40B4-BE49-F238E27FC236}">
                <a16:creationId xmlns:a16="http://schemas.microsoft.com/office/drawing/2014/main" id="{14A0E2CD-259A-4DAA-B742-D0CF8ECBA2AB}"/>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長手方向の剛性・強度を生かすが、横方向は同じ性能とは限らない</a:t>
            </a:r>
          </a:p>
        </p:txBody>
      </p:sp>
      <p:sp>
        <p:nvSpPr>
          <p:cNvPr id="8" name="正方形/長方形 7">
            <a:extLst xmlns:a="http://schemas.openxmlformats.org/drawingml/2006/main">
              <a:ext uri="{FF2B5EF4-FFF2-40B4-BE49-F238E27FC236}">
                <a16:creationId xmlns:a16="http://schemas.microsoft.com/office/drawing/2014/main" id="{FE9DB0A0-BC40-4637-BE21-542AFF3CE29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製品によって一部の直交単板を含む構成もある</a:t>
            </a:r>
          </a:p>
        </p:txBody>
      </p:sp>
      <p:sp>
        <p:nvSpPr>
          <p:cNvPr id="9" name="正方形/長方形 8">
            <a:extLst xmlns:a="http://schemas.openxmlformats.org/drawingml/2006/main">
              <a:ext uri="{FF2B5EF4-FFF2-40B4-BE49-F238E27FC236}">
                <a16:creationId xmlns:a16="http://schemas.microsoft.com/office/drawing/2014/main" id="{0421CF83-4B70-421C-BA21-8B745B133D8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合板との違いは、単板という要素の共通性と配向の違いから説明する</a:t>
            </a:r>
          </a:p>
        </p:txBody>
      </p:sp>
    </p:spTree>
    <p:extLst>
      <p:ext uri="{BB962C8B-B14F-4D97-AF65-F5344CB8AC3E}">
        <p14:creationId xmlns:p14="http://schemas.microsoft.com/office/powerpoint/2010/main" val="15619753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C2118EBF-F4AF-4BF2-A802-8773B0796BC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直線矢印コネクタ 1">
            <a:extLst xmlns:a="http://schemas.openxmlformats.org/drawingml/2006/main">
              <a:ext uri="{FF2B5EF4-FFF2-40B4-BE49-F238E27FC236}">
                <a16:creationId xmlns:a16="http://schemas.microsoft.com/office/drawing/2014/main" id="{54F38473-7F5A-4DDA-9020-04F02C4CB891}"/>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99A79A5-80E2-47AD-8DB4-16BEF13B680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E10B2723-1D65-4E4C-8440-A368C1BDBDC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graphicFrame>
        <p:nvGraphicFramePr>
          <p:cNvPr id="5" name="表 4">
            <a:extLst xmlns:a="http://schemas.openxmlformats.org/drawingml/2006/main">
              <a:ext uri="{FF2B5EF4-FFF2-40B4-BE49-F238E27FC236}">
                <a16:creationId xmlns:a16="http://schemas.microsoft.com/office/drawing/2014/main" id="{7AFA9A4C-4ECD-4AD0-88E5-3745A8ED6830}"/>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a:lstStyle/>
                    <a:p>
                      <a:r>
                        <a:rPr sz="1800" b="1">
                          <a:solidFill>
                            <a:srgbClr val="FFFFFF"/>
                          </a:solidFill>
                          <a:latin typeface="Yu Gothic"/>
                          <a:ea typeface="Yu Gothic"/>
                          <a:cs typeface="Yu Gothic"/>
                        </a:rPr>
                        <a:t>比較点</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合板</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LVL</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r>
              <a:tr h="695325">
                <a:tc>
                  <a:txBody>
                    <a:bodyPr/>
                    <a:lstStyle/>
                    <a:p>
                      <a:r>
                        <a:rPr sz="1800" b="0">
                          <a:solidFill>
                            <a:srgbClr val="253C4D"/>
                          </a:solidFill>
                          <a:latin typeface="Yu Gothic"/>
                          <a:ea typeface="Yu Gothic"/>
                          <a:cs typeface="Yu Gothic"/>
                        </a:rPr>
                        <a:t>構成要素</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単板</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単板</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主な配向</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交差させて積層</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ほぼ平行に積層</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r h="695325">
                <a:tc>
                  <a:txBody>
                    <a:bodyPr/>
                    <a:lstStyle/>
                    <a:p>
                      <a:r>
                        <a:rPr sz="1800" b="0">
                          <a:solidFill>
                            <a:srgbClr val="253C4D"/>
                          </a:solidFill>
                          <a:latin typeface="Yu Gothic"/>
                          <a:ea typeface="Yu Gothic"/>
                          <a:cs typeface="Yu Gothic"/>
                        </a:rPr>
                        <a:t>確かめる性能</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表板方向・層構成</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主な繊維方向</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共通の確認</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接着・含水状態</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用途・製品情報</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13101668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DBF455-7E23-4D87-8857-7979DA2F368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合板とLVLの比較</a:t>
            </a:r>
          </a:p>
        </p:txBody>
      </p:sp>
      <p:sp>
        <p:nvSpPr>
          <p:cNvPr id="2" name="">
            <a:extLst xmlns:a="http://schemas.openxmlformats.org/drawingml/2006/main">
              <a:ext uri="{FF2B5EF4-FFF2-40B4-BE49-F238E27FC236}">
                <a16:creationId xmlns:a16="http://schemas.microsoft.com/office/drawing/2014/main" id="{BE5B1E54-1B60-4782-8271-734E608E4F2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9180E2-612D-4EF7-BCF4-0C9ABD9351C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9B2AAE75-4CBC-4022-B6C7-721AAE70697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D721DCC4-AA01-4C0D-AB84-3D77F2B8C74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要素が同じなのに性能が違う理由を、配向と荷重方向を使って説明してくだ</a:t>
            </a:r>
          </a:p>
        </p:txBody>
      </p:sp>
      <p:sp>
        <p:nvSpPr>
          <p:cNvPr id="6" name="">
            <a:extLst xmlns:a="http://schemas.openxmlformats.org/drawingml/2006/main">
              <a:ext uri="{FF2B5EF4-FFF2-40B4-BE49-F238E27FC236}">
                <a16:creationId xmlns:a16="http://schemas.microsoft.com/office/drawing/2014/main" id="{AFADEC1E-44B2-4EFC-97CF-2F80DB953DA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さい。比較する物性値に付ける条件も三つ書いてください。</a:t>
            </a:r>
          </a:p>
        </p:txBody>
      </p:sp>
      <p:sp>
        <p:nvSpPr>
          <p:cNvPr id="7" name="">
            <a:extLst xmlns:a="http://schemas.openxmlformats.org/drawingml/2006/main">
              <a:ext uri="{FF2B5EF4-FFF2-40B4-BE49-F238E27FC236}">
                <a16:creationId xmlns:a16="http://schemas.microsoft.com/office/drawing/2014/main" id="{8A02920B-135E-48CC-AC8E-1F2CCEF709B2}"/>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0459311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71D3CC-3408-4821-A790-ECA2E3FBB9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18FDDA37-0D83-4D40-BA51-96A9EF97C4A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69D019-1F04-41C1-A94E-D844484A989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D9DB2EAF-2AC9-4B09-A07C-DC558F1730C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2A4021F-75B1-455E-9FC5-CA86BF5ED5A4}"/>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CF44F0AC-3860-4C96-87F4-827E8B653FF1}"/>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8C227B3-4A9E-4CC6-9E13-D64EBF4F635A}"/>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9D722BFD-E5A6-4BF6-88E6-F9922CA36BB3}"/>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再開したら：演習1　単板の積層方向へ進みます。</a:t>
            </a:r>
          </a:p>
        </p:txBody>
      </p:sp>
    </p:spTree>
    <p:extLst>
      <p:ext uri="{BB962C8B-B14F-4D97-AF65-F5344CB8AC3E}">
        <p14:creationId xmlns:p14="http://schemas.microsoft.com/office/powerpoint/2010/main" val="19977926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9D180644-1910-4FB6-8F2F-511811A01C1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単板の積層方向</a:t>
            </a:r>
          </a:p>
        </p:txBody>
      </p:sp>
      <p:cxnSp>
        <p:nvCxnSpPr>
          <p:cNvPr id="2" name="直線矢印コネクタ 1">
            <a:extLst xmlns:a="http://schemas.openxmlformats.org/drawingml/2006/main">
              <a:ext uri="{FF2B5EF4-FFF2-40B4-BE49-F238E27FC236}">
                <a16:creationId xmlns:a16="http://schemas.microsoft.com/office/drawing/2014/main" id="{E0D2DD4A-46AC-4A24-AF1E-F51E550BDF4D}"/>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664827EA-0061-4A83-BAB3-4A0DFCA05C4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C9A727E7-116B-4C68-A69B-611621B2A98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正方形/長方形 4">
            <a:extLst xmlns:a="http://schemas.openxmlformats.org/drawingml/2006/main">
              <a:ext uri="{FF2B5EF4-FFF2-40B4-BE49-F238E27FC236}">
                <a16:creationId xmlns:a16="http://schemas.microsoft.com/office/drawing/2014/main" id="{1F87917E-A311-49AE-964E-1CC5EF0F3C94}"/>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厚さ2 mmの同じ単板5枚を積層する。0°は全体の長手に沿う繊維方向</a:t>
            </a:r>
          </a:p>
        </p:txBody>
      </p:sp>
      <p:sp>
        <p:nvSpPr>
          <p:cNvPr id="6" name="正方形/長方形 5">
            <a:extLst xmlns:a="http://schemas.openxmlformats.org/drawingml/2006/main">
              <a:ext uri="{FF2B5EF4-FFF2-40B4-BE49-F238E27FC236}">
                <a16:creationId xmlns:a16="http://schemas.microsoft.com/office/drawing/2014/main" id="{C23C94DE-0323-45C5-B595-B9FE93993551}"/>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A：0°／90°／0°／90°／0°、B：0°／0°／0°／0°／0°</a:t>
            </a:r>
          </a:p>
        </p:txBody>
      </p:sp>
      <p:sp>
        <p:nvSpPr>
          <p:cNvPr id="7" name="正方形/長方形 6">
            <a:extLst xmlns:a="http://schemas.openxmlformats.org/drawingml/2006/main">
              <a:ext uri="{FF2B5EF4-FFF2-40B4-BE49-F238E27FC236}">
                <a16:creationId xmlns:a16="http://schemas.microsoft.com/office/drawing/2014/main" id="{89844A35-730E-4634-A3FA-A628B7122EA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全厚を求め、合板・LVLのモデルをA・Bに対応させる</a:t>
            </a:r>
          </a:p>
        </p:txBody>
      </p:sp>
      <p:sp>
        <p:nvSpPr>
          <p:cNvPr id="8" name="正方形/長方形 7">
            <a:extLst xmlns:a="http://schemas.openxmlformats.org/drawingml/2006/main">
              <a:ext uri="{FF2B5EF4-FFF2-40B4-BE49-F238E27FC236}">
                <a16:creationId xmlns:a16="http://schemas.microsoft.com/office/drawing/2014/main" id="{5A54DA15-CD11-430A-B29A-1BFABD1541A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Aの0°層・90°層の合計厚さは、それぞれ何mmか</a:t>
            </a:r>
          </a:p>
        </p:txBody>
      </p:sp>
      <p:sp>
        <p:nvSpPr>
          <p:cNvPr id="9" name="正方形/長方形 8">
            <a:extLst xmlns:a="http://schemas.openxmlformats.org/drawingml/2006/main">
              <a:ext uri="{FF2B5EF4-FFF2-40B4-BE49-F238E27FC236}">
                <a16:creationId xmlns:a16="http://schemas.microsoft.com/office/drawing/2014/main" id="{663290B7-0692-47B1-B4DB-52CBFB6A622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Aの面内二方向の曲げ性能を、全く同じと扱えるか。層の位置も考える</a:t>
            </a:r>
          </a:p>
        </p:txBody>
      </p:sp>
    </p:spTree>
    <p:extLst>
      <p:ext uri="{BB962C8B-B14F-4D97-AF65-F5344CB8AC3E}">
        <p14:creationId xmlns:p14="http://schemas.microsoft.com/office/powerpoint/2010/main" val="6583999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21AE58F0-8F67-4A19-8CF3-42D849F1F9C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　単板と積層方向</a:t>
            </a:r>
          </a:p>
        </p:txBody>
      </p:sp>
      <p:cxnSp>
        <p:nvCxnSpPr>
          <p:cNvPr id="2" name="直線矢印コネクタ 1">
            <a:extLst xmlns:a="http://schemas.openxmlformats.org/drawingml/2006/main">
              <a:ext uri="{FF2B5EF4-FFF2-40B4-BE49-F238E27FC236}">
                <a16:creationId xmlns:a16="http://schemas.microsoft.com/office/drawing/2014/main" id="{A77B19CD-408C-4067-8DB3-5208EC5691E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ABCC43B8-6805-4FB0-8DB1-28BC5913B2C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E9B96932-428C-45FF-AB2A-63FB0CA2041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正方形/長方形 4">
            <a:extLst xmlns:a="http://schemas.openxmlformats.org/drawingml/2006/main">
              <a:ext uri="{FF2B5EF4-FFF2-40B4-BE49-F238E27FC236}">
                <a16:creationId xmlns:a16="http://schemas.microsoft.com/office/drawing/2014/main" id="{07DACFB2-0ABD-4D60-AFC5-53EE68F38EE4}"/>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全厚2×5＝10 mm。Aは合板、BはLVLの単純化モデル</a:t>
            </a:r>
          </a:p>
        </p:txBody>
      </p:sp>
      <p:sp>
        <p:nvSpPr>
          <p:cNvPr id="6" name="正方形/長方形 5">
            <a:extLst xmlns:a="http://schemas.openxmlformats.org/drawingml/2006/main">
              <a:ext uri="{FF2B5EF4-FFF2-40B4-BE49-F238E27FC236}">
                <a16:creationId xmlns:a16="http://schemas.microsoft.com/office/drawing/2014/main" id="{E03BEC90-693A-4B8E-AD09-3CCAF23969B1}"/>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Aの0°層は6 mm、90°層は4 mm</a:t>
            </a:r>
          </a:p>
        </p:txBody>
      </p:sp>
      <p:sp>
        <p:nvSpPr>
          <p:cNvPr id="7" name="正方形/長方形 6">
            <a:extLst xmlns:a="http://schemas.openxmlformats.org/drawingml/2006/main">
              <a:ext uri="{FF2B5EF4-FFF2-40B4-BE49-F238E27FC236}">
                <a16:creationId xmlns:a16="http://schemas.microsoft.com/office/drawing/2014/main" id="{EA9021C5-A8AC-4D93-91A8-45D21E1C478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Aの二方向は、対応する層の厚さ・位置が同じではない</a:t>
            </a:r>
          </a:p>
        </p:txBody>
      </p:sp>
      <p:sp>
        <p:nvSpPr>
          <p:cNvPr id="8" name="正方形/長方形 7">
            <a:extLst xmlns:a="http://schemas.openxmlformats.org/drawingml/2006/main">
              <a:ext uri="{FF2B5EF4-FFF2-40B4-BE49-F238E27FC236}">
                <a16:creationId xmlns:a16="http://schemas.microsoft.com/office/drawing/2014/main" id="{2516D831-BB59-4455-B83A-029A785CD43D}"/>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曲げでは外側の層の影響も大きい。積層しただけで完全な等方性にはならない</a:t>
            </a:r>
          </a:p>
        </p:txBody>
      </p:sp>
      <p:sp>
        <p:nvSpPr>
          <p:cNvPr id="9" name="正方形/長方形 8">
            <a:extLst xmlns:a="http://schemas.openxmlformats.org/drawingml/2006/main">
              <a:ext uri="{FF2B5EF4-FFF2-40B4-BE49-F238E27FC236}">
                <a16:creationId xmlns:a16="http://schemas.microsoft.com/office/drawing/2014/main" id="{E9A66D05-1B8E-4982-A937-39C778F197DA}"/>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強度やEの数値を比較するには、単板と製品の条件に対応するデータが必要</a:t>
            </a:r>
          </a:p>
        </p:txBody>
      </p:sp>
    </p:spTree>
    <p:extLst>
      <p:ext uri="{BB962C8B-B14F-4D97-AF65-F5344CB8AC3E}">
        <p14:creationId xmlns:p14="http://schemas.microsoft.com/office/powerpoint/2010/main" val="13715658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59A4E992-D9D1-4707-970C-E002DCE4601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接着品質と使用環境</a:t>
            </a:r>
          </a:p>
        </p:txBody>
      </p:sp>
      <p:cxnSp>
        <p:nvCxnSpPr>
          <p:cNvPr id="2" name="直線矢印コネクタ 1">
            <a:extLst xmlns:a="http://schemas.openxmlformats.org/drawingml/2006/main">
              <a:ext uri="{FF2B5EF4-FFF2-40B4-BE49-F238E27FC236}">
                <a16:creationId xmlns:a16="http://schemas.microsoft.com/office/drawing/2014/main" id="{83B5A481-EBF1-425A-B084-4AD59EE5AE6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B58DA9EF-44A1-4A2C-914E-BFD80C33398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7D8C80BB-06E2-4694-BAAA-C2C33059A62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正方形/長方形 4">
            <a:extLst xmlns:a="http://schemas.openxmlformats.org/drawingml/2006/main">
              <a:ext uri="{FF2B5EF4-FFF2-40B4-BE49-F238E27FC236}">
                <a16:creationId xmlns:a16="http://schemas.microsoft.com/office/drawing/2014/main" id="{8B31E20B-1EAF-4915-8681-164E1DDE78D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接着は、木材の含水率・表面状態・塗布・圧締・硬化に左右される</a:t>
            </a:r>
          </a:p>
        </p:txBody>
      </p:sp>
      <p:sp>
        <p:nvSpPr>
          <p:cNvPr id="6" name="正方形/長方形 5">
            <a:extLst xmlns:a="http://schemas.openxmlformats.org/drawingml/2006/main">
              <a:ext uri="{FF2B5EF4-FFF2-40B4-BE49-F238E27FC236}">
                <a16:creationId xmlns:a16="http://schemas.microsoft.com/office/drawing/2014/main" id="{268FEEA3-8C2B-4E1D-9727-4B66247BB8B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乾燥した室内用と、湿潤条件を想定した製品は区別する</a:t>
            </a:r>
          </a:p>
        </p:txBody>
      </p:sp>
      <p:sp>
        <p:nvSpPr>
          <p:cNvPr id="7" name="正方形/長方形 6">
            <a:extLst xmlns:a="http://schemas.openxmlformats.org/drawingml/2006/main">
              <a:ext uri="{FF2B5EF4-FFF2-40B4-BE49-F238E27FC236}">
                <a16:creationId xmlns:a16="http://schemas.microsoft.com/office/drawing/2014/main" id="{79906B2B-831C-463C-8826-56D92C1887E0}"/>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接着の耐水性と、木材そのものの吸水・腐朽は別に考える</a:t>
            </a:r>
          </a:p>
        </p:txBody>
      </p:sp>
      <p:sp>
        <p:nvSpPr>
          <p:cNvPr id="8" name="正方形/長方形 7">
            <a:extLst xmlns:a="http://schemas.openxmlformats.org/drawingml/2006/main">
              <a:ext uri="{FF2B5EF4-FFF2-40B4-BE49-F238E27FC236}">
                <a16:creationId xmlns:a16="http://schemas.microsoft.com/office/drawing/2014/main" id="{C613626F-15C4-46D6-8D70-F87142DC41AA}"/>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構造用途では、方向別の製品性能と使用条件を確認する</a:t>
            </a:r>
          </a:p>
        </p:txBody>
      </p:sp>
      <p:sp>
        <p:nvSpPr>
          <p:cNvPr id="9" name="正方形/長方形 8">
            <a:extLst xmlns:a="http://schemas.openxmlformats.org/drawingml/2006/main">
              <a:ext uri="{FF2B5EF4-FFF2-40B4-BE49-F238E27FC236}">
                <a16:creationId xmlns:a16="http://schemas.microsoft.com/office/drawing/2014/main" id="{595D389A-455E-4789-A523-4C4384DD497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製品表示は規格・仕様書の最新版により、用途と評価条件を読む</a:t>
            </a:r>
          </a:p>
        </p:txBody>
      </p:sp>
    </p:spTree>
    <p:extLst>
      <p:ext uri="{BB962C8B-B14F-4D97-AF65-F5344CB8AC3E}">
        <p14:creationId xmlns:p14="http://schemas.microsoft.com/office/powerpoint/2010/main" val="11583218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558EA1-72E1-4568-BED7-F37A808355B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接着と吸水</a:t>
            </a:r>
          </a:p>
        </p:txBody>
      </p:sp>
      <p:sp>
        <p:nvSpPr>
          <p:cNvPr id="2" name="">
            <a:extLst xmlns:a="http://schemas.openxmlformats.org/drawingml/2006/main">
              <a:ext uri="{FF2B5EF4-FFF2-40B4-BE49-F238E27FC236}">
                <a16:creationId xmlns:a16="http://schemas.microsoft.com/office/drawing/2014/main" id="{965FF8B8-E5A9-4CFD-A7F8-0BDBCA5AC5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643E58-1511-422C-998E-14B7A042EAE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7523F102-3699-4D7A-836A-7302FE30E5D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6B28F84C-91BF-4843-A2D8-633694837C9E}"/>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接着が水に耐える製品でも、吸水、厚さ変化、腐朽の情報を別に確認する理</a:t>
            </a:r>
          </a:p>
        </p:txBody>
      </p:sp>
      <p:sp>
        <p:nvSpPr>
          <p:cNvPr id="6" name="">
            <a:extLst xmlns:a="http://schemas.openxmlformats.org/drawingml/2006/main">
              <a:ext uri="{FF2B5EF4-FFF2-40B4-BE49-F238E27FC236}">
                <a16:creationId xmlns:a16="http://schemas.microsoft.com/office/drawing/2014/main" id="{B0C78B1A-5522-4DF1-BAC8-10EE27D8518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由を書いてください。</a:t>
            </a:r>
          </a:p>
        </p:txBody>
      </p:sp>
      <p:sp>
        <p:nvSpPr>
          <p:cNvPr id="7" name="">
            <a:extLst xmlns:a="http://schemas.openxmlformats.org/drawingml/2006/main">
              <a:ext uri="{FF2B5EF4-FFF2-40B4-BE49-F238E27FC236}">
                <a16:creationId xmlns:a16="http://schemas.microsoft.com/office/drawing/2014/main" id="{7D7D8B41-1583-4AEE-9A42-3819B9F7AD4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3696396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232118-96F2-4F11-B115-BB5CA0114CA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単板から、小片・繊維へ</a:t>
            </a:r>
          </a:p>
        </p:txBody>
      </p:sp>
      <p:sp>
        <p:nvSpPr>
          <p:cNvPr id="2" name="">
            <a:extLst xmlns:a="http://schemas.openxmlformats.org/drawingml/2006/main">
              <a:ext uri="{FF2B5EF4-FFF2-40B4-BE49-F238E27FC236}">
                <a16:creationId xmlns:a16="http://schemas.microsoft.com/office/drawing/2014/main" id="{0EBC497F-B0FB-459A-86BA-5D18EA355EE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3518CB-C5A4-44A3-B6C5-29887329112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93221A10-ED1D-481C-83D4-F063E317186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2EE91B58-FC2D-4B04-BC8E-59F7EF16CE6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ここまで：合板とLVLは、単板の配向を変える</a:t>
            </a:r>
          </a:p>
        </p:txBody>
      </p:sp>
      <p:sp>
        <p:nvSpPr>
          <p:cNvPr id="6" name="">
            <a:extLst xmlns:a="http://schemas.openxmlformats.org/drawingml/2006/main">
              <a:ext uri="{FF2B5EF4-FFF2-40B4-BE49-F238E27FC236}">
                <a16:creationId xmlns:a16="http://schemas.microsoft.com/office/drawing/2014/main" id="{CEA3A78E-74BC-407E-B6AF-A0BDB271959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ここから：原料の形と大きさも変える</a:t>
            </a:r>
          </a:p>
        </p:txBody>
      </p:sp>
      <p:sp>
        <p:nvSpPr>
          <p:cNvPr id="7" name="">
            <a:extLst xmlns:a="http://schemas.openxmlformats.org/drawingml/2006/main">
              <a:ext uri="{FF2B5EF4-FFF2-40B4-BE49-F238E27FC236}">
                <a16:creationId xmlns:a16="http://schemas.microsoft.com/office/drawing/2014/main" id="{638E8641-22C6-438F-8DC6-B377FEFF5A7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表面の化粧と、内部の構成を分けて観察する</a:t>
            </a:r>
          </a:p>
        </p:txBody>
      </p:sp>
    </p:spTree>
    <p:extLst>
      <p:ext uri="{BB962C8B-B14F-4D97-AF65-F5344CB8AC3E}">
        <p14:creationId xmlns:p14="http://schemas.microsoft.com/office/powerpoint/2010/main" val="106518280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717C8374-FB34-4549-A899-6DB37B5E384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パーティクルボードの製造と性質</a:t>
            </a:r>
          </a:p>
        </p:txBody>
      </p:sp>
      <p:cxnSp>
        <p:nvCxnSpPr>
          <p:cNvPr id="2" name="直線矢印コネクタ 1">
            <a:extLst xmlns:a="http://schemas.openxmlformats.org/drawingml/2006/main">
              <a:ext uri="{FF2B5EF4-FFF2-40B4-BE49-F238E27FC236}">
                <a16:creationId xmlns:a16="http://schemas.microsoft.com/office/drawing/2014/main" id="{902C26FB-44BC-450C-9FF2-8E00C4E50EED}"/>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50FCAA2-B91D-4A39-ADDD-8AF72190F9B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103A071A-CBC9-4E40-A106-ADAFF79C35D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正方形/長方形 4">
            <a:extLst xmlns:a="http://schemas.openxmlformats.org/drawingml/2006/main">
              <a:ext uri="{FF2B5EF4-FFF2-40B4-BE49-F238E27FC236}">
                <a16:creationId xmlns:a16="http://schemas.microsoft.com/office/drawing/2014/main" id="{D87FEFB4-EDF1-40B6-BCD6-785847A76B2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木材を小片にし、乾燥・分級・接着剤添加の後に成形する</a:t>
            </a:r>
          </a:p>
        </p:txBody>
      </p:sp>
      <p:sp>
        <p:nvSpPr>
          <p:cNvPr id="6" name="正方形/長方形 5">
            <a:extLst xmlns:a="http://schemas.openxmlformats.org/drawingml/2006/main">
              <a:ext uri="{FF2B5EF4-FFF2-40B4-BE49-F238E27FC236}">
                <a16:creationId xmlns:a16="http://schemas.microsoft.com/office/drawing/2014/main" id="{2E7E80ED-04A7-4C26-92CD-91CA6A5C3C3B}"/>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熱圧で圧密・硬化させ、表層と内部の要素や密度を調整する</a:t>
            </a:r>
          </a:p>
        </p:txBody>
      </p:sp>
      <p:sp>
        <p:nvSpPr>
          <p:cNvPr id="7" name="正方形/長方形 6">
            <a:extLst xmlns:a="http://schemas.openxmlformats.org/drawingml/2006/main">
              <a:ext uri="{FF2B5EF4-FFF2-40B4-BE49-F238E27FC236}">
                <a16:creationId xmlns:a16="http://schemas.microsoft.com/office/drawing/2014/main" id="{C2B3641D-7996-4E8B-B46C-79221614C68B}"/>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表面の平滑さと、端面の小片の組合せを観察する</a:t>
            </a:r>
          </a:p>
        </p:txBody>
      </p:sp>
      <p:sp>
        <p:nvSpPr>
          <p:cNvPr id="8" name="正方形/長方形 7">
            <a:extLst xmlns:a="http://schemas.openxmlformats.org/drawingml/2006/main">
              <a:ext uri="{FF2B5EF4-FFF2-40B4-BE49-F238E27FC236}">
                <a16:creationId xmlns:a16="http://schemas.microsoft.com/office/drawing/2014/main" id="{373FDC33-3E10-4324-9659-3429EA23AD69}"/>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ねじ保持は密度だけでなく、面・端面、下穴、留付け条件にも依存する</a:t>
            </a:r>
          </a:p>
        </p:txBody>
      </p:sp>
      <p:sp>
        <p:nvSpPr>
          <p:cNvPr id="9" name="正方形/長方形 8">
            <a:extLst xmlns:a="http://schemas.openxmlformats.org/drawingml/2006/main">
              <a:ext uri="{FF2B5EF4-FFF2-40B4-BE49-F238E27FC236}">
                <a16:creationId xmlns:a16="http://schemas.microsoft.com/office/drawing/2014/main" id="{A0C48BB2-7941-4020-9640-D1BC6DEE2F9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端材や再生木材を利用できる一方、用途に合う品質管理が必要</a:t>
            </a:r>
          </a:p>
        </p:txBody>
      </p:sp>
    </p:spTree>
    <p:extLst>
      <p:ext uri="{BB962C8B-B14F-4D97-AF65-F5344CB8AC3E}">
        <p14:creationId xmlns:p14="http://schemas.microsoft.com/office/powerpoint/2010/main" val="29325862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6" name="正方形/長方形 45">
            <a:extLst xmlns:a="http://schemas.openxmlformats.org/drawingml/2006/main">
              <a:ext uri="{FF2B5EF4-FFF2-40B4-BE49-F238E27FC236}">
                <a16:creationId xmlns:a16="http://schemas.microsoft.com/office/drawing/2014/main" id="{CCEA49D2-F623-4197-B23B-F94C52EF49D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パーティクルボードの要素</a:t>
            </a:r>
          </a:p>
        </p:txBody>
      </p:sp>
      <p:cxnSp>
        <p:nvCxnSpPr>
          <p:cNvPr id="2" name="直線矢印コネクタ 1">
            <a:extLst xmlns:a="http://schemas.openxmlformats.org/drawingml/2006/main">
              <a:ext uri="{FF2B5EF4-FFF2-40B4-BE49-F238E27FC236}">
                <a16:creationId xmlns:a16="http://schemas.microsoft.com/office/drawing/2014/main" id="{FAA87E7C-A41B-40F9-A1AF-B10BAFFC328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A0BAEFB-538A-4B80-88DD-6D2F9458D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CA4339C9-A866-4F69-AF96-93876F97760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19</a:t>
            </a:r>
          </a:p>
        </p:txBody>
      </p:sp>
      <p:sp>
        <p:nvSpPr>
          <p:cNvPr id="5" name="正方形/長方形 4">
            <a:extLst xmlns:a="http://schemas.openxmlformats.org/drawingml/2006/main">
              <a:ext uri="{FF2B5EF4-FFF2-40B4-BE49-F238E27FC236}">
                <a16:creationId xmlns:a16="http://schemas.microsoft.com/office/drawing/2014/main" id="{BD7FBF9B-FB7A-4819-9C02-1D758C6F94C9}"/>
              </a:ext>
            </a:extLst>
          </p:cNvPr>
          <p:cNvSpPr>
            <a:spLocks xmlns:a="http://schemas.openxmlformats.org/drawingml/2006/main" noGrp="1"/>
          </p:cNvSpPr>
          <p:nvPr/>
        </p:nvSpPr>
        <p:spPr>
          <a:xfrm xmlns:a="http://schemas.openxmlformats.org/drawingml/2006/main">
            <a:off x="952500" y="1952625"/>
            <a:ext cx="5143500" cy="31432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正方形/長方形 5">
            <a:extLst xmlns:a="http://schemas.openxmlformats.org/drawingml/2006/main">
              <a:ext uri="{FF2B5EF4-FFF2-40B4-BE49-F238E27FC236}">
                <a16:creationId xmlns:a16="http://schemas.microsoft.com/office/drawing/2014/main" id="{0067A46F-853A-4D5C-88B4-A02BAA210630}"/>
              </a:ext>
            </a:extLst>
          </p:cNvPr>
          <p:cNvSpPr>
            <a:spLocks xmlns:a="http://schemas.openxmlformats.org/drawingml/2006/main" noGrp="1"/>
          </p:cNvSpPr>
          <p:nvPr/>
        </p:nvSpPr>
        <p:spPr>
          <a:xfrm xmlns:a="http://schemas.openxmlformats.org/drawingml/2006/main" rot="-1620000">
            <a:off x="1143000" y="2143125"/>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7" name="正方形/長方形 6">
            <a:extLst xmlns:a="http://schemas.openxmlformats.org/drawingml/2006/main">
              <a:ext uri="{FF2B5EF4-FFF2-40B4-BE49-F238E27FC236}">
                <a16:creationId xmlns:a16="http://schemas.microsoft.com/office/drawing/2014/main" id="{DB2C2FC2-8FE6-4DB8-BCD7-5A92E0A3DEF1}"/>
              </a:ext>
            </a:extLst>
          </p:cNvPr>
          <p:cNvSpPr>
            <a:spLocks xmlns:a="http://schemas.openxmlformats.org/drawingml/2006/main" noGrp="1"/>
          </p:cNvSpPr>
          <p:nvPr/>
        </p:nvSpPr>
        <p:spPr>
          <a:xfrm xmlns:a="http://schemas.openxmlformats.org/drawingml/2006/main" rot="960000">
            <a:off x="1828800" y="2143125"/>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8" name="正方形/長方形 7">
            <a:extLst xmlns:a="http://schemas.openxmlformats.org/drawingml/2006/main">
              <a:ext uri="{FF2B5EF4-FFF2-40B4-BE49-F238E27FC236}">
                <a16:creationId xmlns:a16="http://schemas.microsoft.com/office/drawing/2014/main" id="{E1D3386A-F199-48CA-9EFB-E461F53EF338}"/>
              </a:ext>
            </a:extLst>
          </p:cNvPr>
          <p:cNvSpPr>
            <a:spLocks xmlns:a="http://schemas.openxmlformats.org/drawingml/2006/main" noGrp="1"/>
          </p:cNvSpPr>
          <p:nvPr/>
        </p:nvSpPr>
        <p:spPr>
          <a:xfrm xmlns:a="http://schemas.openxmlformats.org/drawingml/2006/main" rot="2460000">
            <a:off x="2514600" y="2143125"/>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9" name="正方形/長方形 8">
            <a:extLst xmlns:a="http://schemas.openxmlformats.org/drawingml/2006/main">
              <a:ext uri="{FF2B5EF4-FFF2-40B4-BE49-F238E27FC236}">
                <a16:creationId xmlns:a16="http://schemas.microsoft.com/office/drawing/2014/main" id="{C2C3B7C2-CED6-4760-B9E6-64A732D6815A}"/>
              </a:ext>
            </a:extLst>
          </p:cNvPr>
          <p:cNvSpPr>
            <a:spLocks xmlns:a="http://schemas.openxmlformats.org/drawingml/2006/main" noGrp="1"/>
          </p:cNvSpPr>
          <p:nvPr/>
        </p:nvSpPr>
        <p:spPr>
          <a:xfrm xmlns:a="http://schemas.openxmlformats.org/drawingml/2006/main" rot="-840000">
            <a:off x="3200400" y="2143125"/>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10" name="正方形/長方形 9">
            <a:extLst xmlns:a="http://schemas.openxmlformats.org/drawingml/2006/main">
              <a:ext uri="{FF2B5EF4-FFF2-40B4-BE49-F238E27FC236}">
                <a16:creationId xmlns:a16="http://schemas.microsoft.com/office/drawing/2014/main" id="{46EC0C19-C35A-45E2-950C-151587A76F91}"/>
              </a:ext>
            </a:extLst>
          </p:cNvPr>
          <p:cNvSpPr>
            <a:spLocks xmlns:a="http://schemas.openxmlformats.org/drawingml/2006/main" noGrp="1"/>
          </p:cNvSpPr>
          <p:nvPr/>
        </p:nvSpPr>
        <p:spPr>
          <a:xfrm xmlns:a="http://schemas.openxmlformats.org/drawingml/2006/main">
            <a:off x="3886200" y="2143125"/>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11" name="正方形/長方形 10">
            <a:extLst xmlns:a="http://schemas.openxmlformats.org/drawingml/2006/main">
              <a:ext uri="{FF2B5EF4-FFF2-40B4-BE49-F238E27FC236}">
                <a16:creationId xmlns:a16="http://schemas.microsoft.com/office/drawing/2014/main" id="{6AF26971-920E-48FB-B843-D7830C312416}"/>
              </a:ext>
            </a:extLst>
          </p:cNvPr>
          <p:cNvSpPr>
            <a:spLocks xmlns:a="http://schemas.openxmlformats.org/drawingml/2006/main" noGrp="1"/>
          </p:cNvSpPr>
          <p:nvPr/>
        </p:nvSpPr>
        <p:spPr>
          <a:xfrm xmlns:a="http://schemas.openxmlformats.org/drawingml/2006/main" rot="-1620000">
            <a:off x="4572000" y="2143125"/>
            <a:ext cx="5143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12" name="正方形/長方形 11">
            <a:extLst xmlns:a="http://schemas.openxmlformats.org/drawingml/2006/main">
              <a:ext uri="{FF2B5EF4-FFF2-40B4-BE49-F238E27FC236}">
                <a16:creationId xmlns:a16="http://schemas.microsoft.com/office/drawing/2014/main" id="{D0AF9A12-D923-494A-B9FE-603611DE753E}"/>
              </a:ext>
            </a:extLst>
          </p:cNvPr>
          <p:cNvSpPr>
            <a:spLocks xmlns:a="http://schemas.openxmlformats.org/drawingml/2006/main" noGrp="1"/>
          </p:cNvSpPr>
          <p:nvPr/>
        </p:nvSpPr>
        <p:spPr>
          <a:xfrm xmlns:a="http://schemas.openxmlformats.org/drawingml/2006/main" rot="960000">
            <a:off x="5257800" y="2143125"/>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13" name="正方形/長方形 12">
            <a:extLst xmlns:a="http://schemas.openxmlformats.org/drawingml/2006/main">
              <a:ext uri="{FF2B5EF4-FFF2-40B4-BE49-F238E27FC236}">
                <a16:creationId xmlns:a16="http://schemas.microsoft.com/office/drawing/2014/main" id="{F6A417D8-FF80-4CA7-AEFA-32676C9326D8}"/>
              </a:ext>
            </a:extLst>
          </p:cNvPr>
          <p:cNvSpPr>
            <a:spLocks xmlns:a="http://schemas.openxmlformats.org/drawingml/2006/main" noGrp="1"/>
          </p:cNvSpPr>
          <p:nvPr/>
        </p:nvSpPr>
        <p:spPr>
          <a:xfrm xmlns:a="http://schemas.openxmlformats.org/drawingml/2006/main" rot="2460000">
            <a:off x="1143000" y="2724150"/>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14" name="正方形/長方形 13">
            <a:extLst xmlns:a="http://schemas.openxmlformats.org/drawingml/2006/main">
              <a:ext uri="{FF2B5EF4-FFF2-40B4-BE49-F238E27FC236}">
                <a16:creationId xmlns:a16="http://schemas.microsoft.com/office/drawing/2014/main" id="{0E8F4503-E45B-4DB0-8455-A08CB20C4417}"/>
              </a:ext>
            </a:extLst>
          </p:cNvPr>
          <p:cNvSpPr>
            <a:spLocks xmlns:a="http://schemas.openxmlformats.org/drawingml/2006/main" noGrp="1"/>
          </p:cNvSpPr>
          <p:nvPr/>
        </p:nvSpPr>
        <p:spPr>
          <a:xfrm xmlns:a="http://schemas.openxmlformats.org/drawingml/2006/main" rot="-840000">
            <a:off x="1828800" y="2724150"/>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15" name="正方形/長方形 14">
            <a:extLst xmlns:a="http://schemas.openxmlformats.org/drawingml/2006/main">
              <a:ext uri="{FF2B5EF4-FFF2-40B4-BE49-F238E27FC236}">
                <a16:creationId xmlns:a16="http://schemas.microsoft.com/office/drawing/2014/main" id="{8F13D732-B5D3-4E1F-93B8-0399B5B049AB}"/>
              </a:ext>
            </a:extLst>
          </p:cNvPr>
          <p:cNvSpPr>
            <a:spLocks xmlns:a="http://schemas.openxmlformats.org/drawingml/2006/main" noGrp="1"/>
          </p:cNvSpPr>
          <p:nvPr/>
        </p:nvSpPr>
        <p:spPr>
          <a:xfrm xmlns:a="http://schemas.openxmlformats.org/drawingml/2006/main">
            <a:off x="2514600" y="2724150"/>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16" name="正方形/長方形 15">
            <a:extLst xmlns:a="http://schemas.openxmlformats.org/drawingml/2006/main">
              <a:ext uri="{FF2B5EF4-FFF2-40B4-BE49-F238E27FC236}">
                <a16:creationId xmlns:a16="http://schemas.microsoft.com/office/drawing/2014/main" id="{44CA29F6-ABFA-448B-9651-9FBB2D59EFA9}"/>
              </a:ext>
            </a:extLst>
          </p:cNvPr>
          <p:cNvSpPr>
            <a:spLocks xmlns:a="http://schemas.openxmlformats.org/drawingml/2006/main" noGrp="1"/>
          </p:cNvSpPr>
          <p:nvPr/>
        </p:nvSpPr>
        <p:spPr>
          <a:xfrm xmlns:a="http://schemas.openxmlformats.org/drawingml/2006/main" rot="-1620000">
            <a:off x="3200400" y="2724150"/>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17" name="正方形/長方形 16">
            <a:extLst xmlns:a="http://schemas.openxmlformats.org/drawingml/2006/main">
              <a:ext uri="{FF2B5EF4-FFF2-40B4-BE49-F238E27FC236}">
                <a16:creationId xmlns:a16="http://schemas.microsoft.com/office/drawing/2014/main" id="{AA7118CC-2EED-4853-986F-1F18119D717A}"/>
              </a:ext>
            </a:extLst>
          </p:cNvPr>
          <p:cNvSpPr>
            <a:spLocks xmlns:a="http://schemas.openxmlformats.org/drawingml/2006/main" noGrp="1"/>
          </p:cNvSpPr>
          <p:nvPr/>
        </p:nvSpPr>
        <p:spPr>
          <a:xfrm xmlns:a="http://schemas.openxmlformats.org/drawingml/2006/main" rot="960000">
            <a:off x="3886200" y="2724150"/>
            <a:ext cx="5143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18" name="正方形/長方形 17">
            <a:extLst xmlns:a="http://schemas.openxmlformats.org/drawingml/2006/main">
              <a:ext uri="{FF2B5EF4-FFF2-40B4-BE49-F238E27FC236}">
                <a16:creationId xmlns:a16="http://schemas.microsoft.com/office/drawing/2014/main" id="{20F18134-437D-4330-9F0A-8F4B1D7DB5CD}"/>
              </a:ext>
            </a:extLst>
          </p:cNvPr>
          <p:cNvSpPr>
            <a:spLocks xmlns:a="http://schemas.openxmlformats.org/drawingml/2006/main" noGrp="1"/>
          </p:cNvSpPr>
          <p:nvPr/>
        </p:nvSpPr>
        <p:spPr>
          <a:xfrm xmlns:a="http://schemas.openxmlformats.org/drawingml/2006/main" rot="2460000">
            <a:off x="4572000" y="2724150"/>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19" name="正方形/長方形 18">
            <a:extLst xmlns:a="http://schemas.openxmlformats.org/drawingml/2006/main">
              <a:ext uri="{FF2B5EF4-FFF2-40B4-BE49-F238E27FC236}">
                <a16:creationId xmlns:a16="http://schemas.microsoft.com/office/drawing/2014/main" id="{2F425176-E60E-4416-8655-DAF7A4E3E5D0}"/>
              </a:ext>
            </a:extLst>
          </p:cNvPr>
          <p:cNvSpPr>
            <a:spLocks xmlns:a="http://schemas.openxmlformats.org/drawingml/2006/main" noGrp="1"/>
          </p:cNvSpPr>
          <p:nvPr/>
        </p:nvSpPr>
        <p:spPr>
          <a:xfrm xmlns:a="http://schemas.openxmlformats.org/drawingml/2006/main" rot="-840000">
            <a:off x="5257800" y="2724150"/>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20" name="正方形/長方形 19">
            <a:extLst xmlns:a="http://schemas.openxmlformats.org/drawingml/2006/main">
              <a:ext uri="{FF2B5EF4-FFF2-40B4-BE49-F238E27FC236}">
                <a16:creationId xmlns:a16="http://schemas.microsoft.com/office/drawing/2014/main" id="{D54687AE-8FC9-43F3-ADC6-25C9246F6D8C}"/>
              </a:ext>
            </a:extLst>
          </p:cNvPr>
          <p:cNvSpPr>
            <a:spLocks xmlns:a="http://schemas.openxmlformats.org/drawingml/2006/main" noGrp="1"/>
          </p:cNvSpPr>
          <p:nvPr/>
        </p:nvSpPr>
        <p:spPr>
          <a:xfrm xmlns:a="http://schemas.openxmlformats.org/drawingml/2006/main">
            <a:off x="1143000" y="3305175"/>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21" name="正方形/長方形 20">
            <a:extLst xmlns:a="http://schemas.openxmlformats.org/drawingml/2006/main">
              <a:ext uri="{FF2B5EF4-FFF2-40B4-BE49-F238E27FC236}">
                <a16:creationId xmlns:a16="http://schemas.microsoft.com/office/drawing/2014/main" id="{EED652FE-2B10-403B-8E55-47C412A40022}"/>
              </a:ext>
            </a:extLst>
          </p:cNvPr>
          <p:cNvSpPr>
            <a:spLocks xmlns:a="http://schemas.openxmlformats.org/drawingml/2006/main" noGrp="1"/>
          </p:cNvSpPr>
          <p:nvPr/>
        </p:nvSpPr>
        <p:spPr>
          <a:xfrm xmlns:a="http://schemas.openxmlformats.org/drawingml/2006/main" rot="-1620000">
            <a:off x="1828800" y="3305175"/>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22" name="正方形/長方形 21">
            <a:extLst xmlns:a="http://schemas.openxmlformats.org/drawingml/2006/main">
              <a:ext uri="{FF2B5EF4-FFF2-40B4-BE49-F238E27FC236}">
                <a16:creationId xmlns:a16="http://schemas.microsoft.com/office/drawing/2014/main" id="{68AFE812-FE29-46D4-A9DB-076B8CE97E39}"/>
              </a:ext>
            </a:extLst>
          </p:cNvPr>
          <p:cNvSpPr>
            <a:spLocks xmlns:a="http://schemas.openxmlformats.org/drawingml/2006/main" noGrp="1"/>
          </p:cNvSpPr>
          <p:nvPr/>
        </p:nvSpPr>
        <p:spPr>
          <a:xfrm xmlns:a="http://schemas.openxmlformats.org/drawingml/2006/main" rot="960000">
            <a:off x="2514600" y="3305175"/>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23" name="正方形/長方形 22">
            <a:extLst xmlns:a="http://schemas.openxmlformats.org/drawingml/2006/main">
              <a:ext uri="{FF2B5EF4-FFF2-40B4-BE49-F238E27FC236}">
                <a16:creationId xmlns:a16="http://schemas.microsoft.com/office/drawing/2014/main" id="{CEE1DE33-676D-4A48-8496-14A894249967}"/>
              </a:ext>
            </a:extLst>
          </p:cNvPr>
          <p:cNvSpPr>
            <a:spLocks xmlns:a="http://schemas.openxmlformats.org/drawingml/2006/main" noGrp="1"/>
          </p:cNvSpPr>
          <p:nvPr/>
        </p:nvSpPr>
        <p:spPr>
          <a:xfrm xmlns:a="http://schemas.openxmlformats.org/drawingml/2006/main" rot="2460000">
            <a:off x="3200400" y="3305175"/>
            <a:ext cx="5143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24" name="正方形/長方形 23">
            <a:extLst xmlns:a="http://schemas.openxmlformats.org/drawingml/2006/main">
              <a:ext uri="{FF2B5EF4-FFF2-40B4-BE49-F238E27FC236}">
                <a16:creationId xmlns:a16="http://schemas.microsoft.com/office/drawing/2014/main" id="{BE173EB3-8175-4A05-8EAE-DEB37BC7181F}"/>
              </a:ext>
            </a:extLst>
          </p:cNvPr>
          <p:cNvSpPr>
            <a:spLocks xmlns:a="http://schemas.openxmlformats.org/drawingml/2006/main" noGrp="1"/>
          </p:cNvSpPr>
          <p:nvPr/>
        </p:nvSpPr>
        <p:spPr>
          <a:xfrm xmlns:a="http://schemas.openxmlformats.org/drawingml/2006/main" rot="-840000">
            <a:off x="3886200" y="3305175"/>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25" name="正方形/長方形 24">
            <a:extLst xmlns:a="http://schemas.openxmlformats.org/drawingml/2006/main">
              <a:ext uri="{FF2B5EF4-FFF2-40B4-BE49-F238E27FC236}">
                <a16:creationId xmlns:a16="http://schemas.microsoft.com/office/drawing/2014/main" id="{35C74B42-817E-48DC-975E-07E064E223F5}"/>
              </a:ext>
            </a:extLst>
          </p:cNvPr>
          <p:cNvSpPr>
            <a:spLocks xmlns:a="http://schemas.openxmlformats.org/drawingml/2006/main" noGrp="1"/>
          </p:cNvSpPr>
          <p:nvPr/>
        </p:nvSpPr>
        <p:spPr>
          <a:xfrm xmlns:a="http://schemas.openxmlformats.org/drawingml/2006/main">
            <a:off x="4572000" y="3305175"/>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26" name="正方形/長方形 25">
            <a:extLst xmlns:a="http://schemas.openxmlformats.org/drawingml/2006/main">
              <a:ext uri="{FF2B5EF4-FFF2-40B4-BE49-F238E27FC236}">
                <a16:creationId xmlns:a16="http://schemas.microsoft.com/office/drawing/2014/main" id="{C9972142-98D3-4AD5-BD4E-0F1B9B2D68EE}"/>
              </a:ext>
            </a:extLst>
          </p:cNvPr>
          <p:cNvSpPr>
            <a:spLocks xmlns:a="http://schemas.openxmlformats.org/drawingml/2006/main" noGrp="1"/>
          </p:cNvSpPr>
          <p:nvPr/>
        </p:nvSpPr>
        <p:spPr>
          <a:xfrm xmlns:a="http://schemas.openxmlformats.org/drawingml/2006/main" rot="-1620000">
            <a:off x="5257800" y="3305175"/>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27" name="正方形/長方形 26">
            <a:extLst xmlns:a="http://schemas.openxmlformats.org/drawingml/2006/main">
              <a:ext uri="{FF2B5EF4-FFF2-40B4-BE49-F238E27FC236}">
                <a16:creationId xmlns:a16="http://schemas.microsoft.com/office/drawing/2014/main" id="{49214116-CE75-4470-BF27-19ED0A2FF2B9}"/>
              </a:ext>
            </a:extLst>
          </p:cNvPr>
          <p:cNvSpPr>
            <a:spLocks xmlns:a="http://schemas.openxmlformats.org/drawingml/2006/main" noGrp="1"/>
          </p:cNvSpPr>
          <p:nvPr/>
        </p:nvSpPr>
        <p:spPr>
          <a:xfrm xmlns:a="http://schemas.openxmlformats.org/drawingml/2006/main" rot="960000">
            <a:off x="1143000" y="3886200"/>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28" name="正方形/長方形 27">
            <a:extLst xmlns:a="http://schemas.openxmlformats.org/drawingml/2006/main">
              <a:ext uri="{FF2B5EF4-FFF2-40B4-BE49-F238E27FC236}">
                <a16:creationId xmlns:a16="http://schemas.microsoft.com/office/drawing/2014/main" id="{BB513DA6-1C76-400D-AD21-DD9573409B27}"/>
              </a:ext>
            </a:extLst>
          </p:cNvPr>
          <p:cNvSpPr>
            <a:spLocks xmlns:a="http://schemas.openxmlformats.org/drawingml/2006/main" noGrp="1"/>
          </p:cNvSpPr>
          <p:nvPr/>
        </p:nvSpPr>
        <p:spPr>
          <a:xfrm xmlns:a="http://schemas.openxmlformats.org/drawingml/2006/main" rot="2460000">
            <a:off x="1828800" y="3886200"/>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29" name="正方形/長方形 28">
            <a:extLst xmlns:a="http://schemas.openxmlformats.org/drawingml/2006/main">
              <a:ext uri="{FF2B5EF4-FFF2-40B4-BE49-F238E27FC236}">
                <a16:creationId xmlns:a16="http://schemas.microsoft.com/office/drawing/2014/main" id="{93F63A11-FCE4-4B94-A7A4-FB8008308E28}"/>
              </a:ext>
            </a:extLst>
          </p:cNvPr>
          <p:cNvSpPr>
            <a:spLocks xmlns:a="http://schemas.openxmlformats.org/drawingml/2006/main" noGrp="1"/>
          </p:cNvSpPr>
          <p:nvPr/>
        </p:nvSpPr>
        <p:spPr>
          <a:xfrm xmlns:a="http://schemas.openxmlformats.org/drawingml/2006/main" rot="-840000">
            <a:off x="2514600" y="3886200"/>
            <a:ext cx="5143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30" name="正方形/長方形 29">
            <a:extLst xmlns:a="http://schemas.openxmlformats.org/drawingml/2006/main">
              <a:ext uri="{FF2B5EF4-FFF2-40B4-BE49-F238E27FC236}">
                <a16:creationId xmlns:a16="http://schemas.microsoft.com/office/drawing/2014/main" id="{55033643-1F10-4450-9B3A-BAE3D7A8F9E3}"/>
              </a:ext>
            </a:extLst>
          </p:cNvPr>
          <p:cNvSpPr>
            <a:spLocks xmlns:a="http://schemas.openxmlformats.org/drawingml/2006/main" noGrp="1"/>
          </p:cNvSpPr>
          <p:nvPr/>
        </p:nvSpPr>
        <p:spPr>
          <a:xfrm xmlns:a="http://schemas.openxmlformats.org/drawingml/2006/main">
            <a:off x="3200400" y="3886200"/>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31" name="正方形/長方形 30">
            <a:extLst xmlns:a="http://schemas.openxmlformats.org/drawingml/2006/main">
              <a:ext uri="{FF2B5EF4-FFF2-40B4-BE49-F238E27FC236}">
                <a16:creationId xmlns:a16="http://schemas.microsoft.com/office/drawing/2014/main" id="{D07A2EE3-49D1-4C1E-93D7-91716488E007}"/>
              </a:ext>
            </a:extLst>
          </p:cNvPr>
          <p:cNvSpPr>
            <a:spLocks xmlns:a="http://schemas.openxmlformats.org/drawingml/2006/main" noGrp="1"/>
          </p:cNvSpPr>
          <p:nvPr/>
        </p:nvSpPr>
        <p:spPr>
          <a:xfrm xmlns:a="http://schemas.openxmlformats.org/drawingml/2006/main" rot="-1620000">
            <a:off x="3886200" y="3886200"/>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32" name="正方形/長方形 31">
            <a:extLst xmlns:a="http://schemas.openxmlformats.org/drawingml/2006/main">
              <a:ext uri="{FF2B5EF4-FFF2-40B4-BE49-F238E27FC236}">
                <a16:creationId xmlns:a16="http://schemas.microsoft.com/office/drawing/2014/main" id="{24911D91-0067-4FE2-8EEE-1B25FE2009A9}"/>
              </a:ext>
            </a:extLst>
          </p:cNvPr>
          <p:cNvSpPr>
            <a:spLocks xmlns:a="http://schemas.openxmlformats.org/drawingml/2006/main" noGrp="1"/>
          </p:cNvSpPr>
          <p:nvPr/>
        </p:nvSpPr>
        <p:spPr>
          <a:xfrm xmlns:a="http://schemas.openxmlformats.org/drawingml/2006/main" rot="960000">
            <a:off x="4572000" y="3886200"/>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33" name="正方形/長方形 32">
            <a:extLst xmlns:a="http://schemas.openxmlformats.org/drawingml/2006/main">
              <a:ext uri="{FF2B5EF4-FFF2-40B4-BE49-F238E27FC236}">
                <a16:creationId xmlns:a16="http://schemas.microsoft.com/office/drawing/2014/main" id="{AF7C731D-747D-4DDD-8ACD-07AB6AFACD61}"/>
              </a:ext>
            </a:extLst>
          </p:cNvPr>
          <p:cNvSpPr>
            <a:spLocks xmlns:a="http://schemas.openxmlformats.org/drawingml/2006/main" noGrp="1"/>
          </p:cNvSpPr>
          <p:nvPr/>
        </p:nvSpPr>
        <p:spPr>
          <a:xfrm xmlns:a="http://schemas.openxmlformats.org/drawingml/2006/main" rot="2460000">
            <a:off x="5257800" y="3886200"/>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34" name="正方形/長方形 33">
            <a:extLst xmlns:a="http://schemas.openxmlformats.org/drawingml/2006/main">
              <a:ext uri="{FF2B5EF4-FFF2-40B4-BE49-F238E27FC236}">
                <a16:creationId xmlns:a16="http://schemas.microsoft.com/office/drawing/2014/main" id="{EE20E545-3306-48B4-ADBD-3658BE6A034A}"/>
              </a:ext>
            </a:extLst>
          </p:cNvPr>
          <p:cNvSpPr>
            <a:spLocks xmlns:a="http://schemas.openxmlformats.org/drawingml/2006/main" noGrp="1"/>
          </p:cNvSpPr>
          <p:nvPr/>
        </p:nvSpPr>
        <p:spPr>
          <a:xfrm xmlns:a="http://schemas.openxmlformats.org/drawingml/2006/main" rot="-840000">
            <a:off x="1143000" y="4467225"/>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35" name="正方形/長方形 34">
            <a:extLst xmlns:a="http://schemas.openxmlformats.org/drawingml/2006/main">
              <a:ext uri="{FF2B5EF4-FFF2-40B4-BE49-F238E27FC236}">
                <a16:creationId xmlns:a16="http://schemas.microsoft.com/office/drawing/2014/main" id="{A22FB20A-5870-46BF-949E-88EDCC040B1A}"/>
              </a:ext>
            </a:extLst>
          </p:cNvPr>
          <p:cNvSpPr>
            <a:spLocks xmlns:a="http://schemas.openxmlformats.org/drawingml/2006/main" noGrp="1"/>
          </p:cNvSpPr>
          <p:nvPr/>
        </p:nvSpPr>
        <p:spPr>
          <a:xfrm xmlns:a="http://schemas.openxmlformats.org/drawingml/2006/main">
            <a:off x="1828800" y="4467225"/>
            <a:ext cx="5143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36" name="正方形/長方形 35">
            <a:extLst xmlns:a="http://schemas.openxmlformats.org/drawingml/2006/main">
              <a:ext uri="{FF2B5EF4-FFF2-40B4-BE49-F238E27FC236}">
                <a16:creationId xmlns:a16="http://schemas.microsoft.com/office/drawing/2014/main" id="{24BB3E75-D2AF-4A55-AE32-3D122F872205}"/>
              </a:ext>
            </a:extLst>
          </p:cNvPr>
          <p:cNvSpPr>
            <a:spLocks xmlns:a="http://schemas.openxmlformats.org/drawingml/2006/main" noGrp="1"/>
          </p:cNvSpPr>
          <p:nvPr/>
        </p:nvSpPr>
        <p:spPr>
          <a:xfrm xmlns:a="http://schemas.openxmlformats.org/drawingml/2006/main" rot="-1620000">
            <a:off x="2514600" y="4467225"/>
            <a:ext cx="4000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37" name="正方形/長方形 36">
            <a:extLst xmlns:a="http://schemas.openxmlformats.org/drawingml/2006/main">
              <a:ext uri="{FF2B5EF4-FFF2-40B4-BE49-F238E27FC236}">
                <a16:creationId xmlns:a16="http://schemas.microsoft.com/office/drawing/2014/main" id="{02B795A2-8558-4D58-A76D-EE8B10504EF0}"/>
              </a:ext>
            </a:extLst>
          </p:cNvPr>
          <p:cNvSpPr>
            <a:spLocks xmlns:a="http://schemas.openxmlformats.org/drawingml/2006/main" noGrp="1"/>
          </p:cNvSpPr>
          <p:nvPr/>
        </p:nvSpPr>
        <p:spPr>
          <a:xfrm xmlns:a="http://schemas.openxmlformats.org/drawingml/2006/main" rot="960000">
            <a:off x="3200400" y="4467225"/>
            <a:ext cx="45720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38" name="正方形/長方形 37">
            <a:extLst xmlns:a="http://schemas.openxmlformats.org/drawingml/2006/main">
              <a:ext uri="{FF2B5EF4-FFF2-40B4-BE49-F238E27FC236}">
                <a16:creationId xmlns:a16="http://schemas.microsoft.com/office/drawing/2014/main" id="{37FF694D-4BD2-4F8B-8D41-0C047FE21CEB}"/>
              </a:ext>
            </a:extLst>
          </p:cNvPr>
          <p:cNvSpPr>
            <a:spLocks xmlns:a="http://schemas.openxmlformats.org/drawingml/2006/main" noGrp="1"/>
          </p:cNvSpPr>
          <p:nvPr/>
        </p:nvSpPr>
        <p:spPr>
          <a:xfrm xmlns:a="http://schemas.openxmlformats.org/drawingml/2006/main" rot="2460000">
            <a:off x="3886200" y="4467225"/>
            <a:ext cx="51435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39" name="正方形/長方形 38">
            <a:extLst xmlns:a="http://schemas.openxmlformats.org/drawingml/2006/main">
              <a:ext uri="{FF2B5EF4-FFF2-40B4-BE49-F238E27FC236}">
                <a16:creationId xmlns:a16="http://schemas.microsoft.com/office/drawing/2014/main" id="{CE9B163E-CF5D-4D9C-8C4C-17715E57063C}"/>
              </a:ext>
            </a:extLst>
          </p:cNvPr>
          <p:cNvSpPr>
            <a:spLocks xmlns:a="http://schemas.openxmlformats.org/drawingml/2006/main" noGrp="1"/>
          </p:cNvSpPr>
          <p:nvPr/>
        </p:nvSpPr>
        <p:spPr>
          <a:xfrm xmlns:a="http://schemas.openxmlformats.org/drawingml/2006/main" rot="-840000">
            <a:off x="4572000" y="4467225"/>
            <a:ext cx="400050" cy="171450"/>
          </a:xfrm>
          <a:prstGeom xmlns:a="http://schemas.openxmlformats.org/drawingml/2006/main" prst="rect">
            <a:avLst/>
          </a:prstGeom>
          <a:solidFill xmlns:a="http://schemas.openxmlformats.org/drawingml/2006/main">
            <a:srgbClr val="D6BB96"/>
          </a:solidFill>
          <a:ln xmlns:a="http://schemas.openxmlformats.org/drawingml/2006/main" w="14288">
            <a:solidFill>
              <a:srgbClr val="B55D09"/>
            </a:solidFill>
          </a:ln>
        </p:spPr>
      </p:sp>
      <p:sp>
        <p:nvSpPr>
          <p:cNvPr id="40" name="正方形/長方形 39">
            <a:extLst xmlns:a="http://schemas.openxmlformats.org/drawingml/2006/main">
              <a:ext uri="{FF2B5EF4-FFF2-40B4-BE49-F238E27FC236}">
                <a16:creationId xmlns:a16="http://schemas.microsoft.com/office/drawing/2014/main" id="{41A99898-F39F-4E25-84E2-209B277E5D96}"/>
              </a:ext>
            </a:extLst>
          </p:cNvPr>
          <p:cNvSpPr>
            <a:spLocks xmlns:a="http://schemas.openxmlformats.org/drawingml/2006/main" noGrp="1"/>
          </p:cNvSpPr>
          <p:nvPr/>
        </p:nvSpPr>
        <p:spPr>
          <a:xfrm xmlns:a="http://schemas.openxmlformats.org/drawingml/2006/main">
            <a:off x="5257800" y="4467225"/>
            <a:ext cx="457200" cy="95250"/>
          </a:xfrm>
          <a:prstGeom xmlns:a="http://schemas.openxmlformats.org/drawingml/2006/main" prst="rect">
            <a:avLst/>
          </a:prstGeom>
          <a:solidFill xmlns:a="http://schemas.openxmlformats.org/drawingml/2006/main">
            <a:srgbClr val="BFAA8D"/>
          </a:solidFill>
          <a:ln xmlns:a="http://schemas.openxmlformats.org/drawingml/2006/main" w="14288">
            <a:solidFill>
              <a:srgbClr val="B55D09"/>
            </a:solidFill>
          </a:ln>
        </p:spPr>
      </p:sp>
      <p:sp>
        <p:nvSpPr>
          <p:cNvPr id="41" name="正方形/長方形 40">
            <a:extLst xmlns:a="http://schemas.openxmlformats.org/drawingml/2006/main">
              <a:ext uri="{FF2B5EF4-FFF2-40B4-BE49-F238E27FC236}">
                <a16:creationId xmlns:a16="http://schemas.microsoft.com/office/drawing/2014/main" id="{77E47770-96C3-4C09-815D-D6078205A44A}"/>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小片を要素にする</a:t>
            </a:r>
          </a:p>
        </p:txBody>
      </p:sp>
      <p:sp>
        <p:nvSpPr>
          <p:cNvPr id="42" name="正方形/長方形 41">
            <a:extLst xmlns:a="http://schemas.openxmlformats.org/drawingml/2006/main">
              <a:ext uri="{FF2B5EF4-FFF2-40B4-BE49-F238E27FC236}">
                <a16:creationId xmlns:a16="http://schemas.microsoft.com/office/drawing/2014/main" id="{46E4195F-B409-4DD8-90FD-B56999451082}"/>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粒の大きさと層構成</a:t>
            </a:r>
          </a:p>
        </p:txBody>
      </p:sp>
      <p:sp>
        <p:nvSpPr>
          <p:cNvPr id="43" name="正方形/長方形 42">
            <a:extLst xmlns:a="http://schemas.openxmlformats.org/drawingml/2006/main">
              <a:ext uri="{FF2B5EF4-FFF2-40B4-BE49-F238E27FC236}">
                <a16:creationId xmlns:a16="http://schemas.microsoft.com/office/drawing/2014/main" id="{BD59CDE3-E486-4EA5-84B8-C90DF9E01B36}"/>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密度分布と接着</a:t>
            </a:r>
          </a:p>
        </p:txBody>
      </p:sp>
      <p:sp>
        <p:nvSpPr>
          <p:cNvPr id="44" name="正方形/長方形 43">
            <a:extLst xmlns:a="http://schemas.openxmlformats.org/drawingml/2006/main">
              <a:ext uri="{FF2B5EF4-FFF2-40B4-BE49-F238E27FC236}">
                <a16:creationId xmlns:a16="http://schemas.microsoft.com/office/drawing/2014/main" id="{19A4FC6D-F92F-4551-B415-4BD50D72E2E4}"/>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端面・接合・耐湿性</a:t>
            </a:r>
          </a:p>
        </p:txBody>
      </p:sp>
    </p:spTree>
    <p:extLst>
      <p:ext uri="{BB962C8B-B14F-4D97-AF65-F5344CB8AC3E}">
        <p14:creationId xmlns:p14="http://schemas.microsoft.com/office/powerpoint/2010/main" val="15772688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047396-E7AD-4B45-B4BC-58FC3CC27ED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小片と層構成</a:t>
            </a:r>
          </a:p>
        </p:txBody>
      </p:sp>
      <p:sp>
        <p:nvSpPr>
          <p:cNvPr id="2" name="">
            <a:extLst xmlns:a="http://schemas.openxmlformats.org/drawingml/2006/main">
              <a:ext uri="{FF2B5EF4-FFF2-40B4-BE49-F238E27FC236}">
                <a16:creationId xmlns:a16="http://schemas.microsoft.com/office/drawing/2014/main" id="{B3B96717-6506-4F18-9630-57CFDC5F963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EF1A5B-EEB5-47AB-BB3B-956E3471146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CF828892-72DE-4ABC-A020-2A28267B19F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C8515440-603A-42CA-9869-C86933D5EDE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PBの表面と端面を観察するとしたら、何を記録しますか。さらに、ねじ保</a:t>
            </a:r>
          </a:p>
        </p:txBody>
      </p:sp>
      <p:sp>
        <p:nvSpPr>
          <p:cNvPr id="6" name="">
            <a:extLst xmlns:a="http://schemas.openxmlformats.org/drawingml/2006/main">
              <a:ext uri="{FF2B5EF4-FFF2-40B4-BE49-F238E27FC236}">
                <a16:creationId xmlns:a16="http://schemas.microsoft.com/office/drawing/2014/main" id="{90618D00-36CA-4B46-9ACE-1753AF8E136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持を調べる試験でそろえる条件を三つ挙げてください。</a:t>
            </a:r>
          </a:p>
        </p:txBody>
      </p:sp>
      <p:sp>
        <p:nvSpPr>
          <p:cNvPr id="7" name="">
            <a:extLst xmlns:a="http://schemas.openxmlformats.org/drawingml/2006/main">
              <a:ext uri="{FF2B5EF4-FFF2-40B4-BE49-F238E27FC236}">
                <a16:creationId xmlns:a16="http://schemas.microsoft.com/office/drawing/2014/main" id="{CC0FA91E-0C4E-4C69-994F-86C20B48EFBF}"/>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68288154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5D49D265-2BB3-4861-8457-B9433FE58D2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繊維板とMDF</a:t>
            </a:r>
          </a:p>
        </p:txBody>
      </p:sp>
      <p:cxnSp>
        <p:nvCxnSpPr>
          <p:cNvPr id="2" name="直線矢印コネクタ 1">
            <a:extLst xmlns:a="http://schemas.openxmlformats.org/drawingml/2006/main">
              <a:ext uri="{FF2B5EF4-FFF2-40B4-BE49-F238E27FC236}">
                <a16:creationId xmlns:a16="http://schemas.microsoft.com/office/drawing/2014/main" id="{756B3F71-12FB-49C4-B4AC-767BD239AD4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25EBB31F-9C26-4EA7-8BED-05B197C3A71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0F0E9E9D-08AB-44F3-ACFF-5527C746148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正方形/長方形 4">
            <a:extLst xmlns:a="http://schemas.openxmlformats.org/drawingml/2006/main">
              <a:ext uri="{FF2B5EF4-FFF2-40B4-BE49-F238E27FC236}">
                <a16:creationId xmlns:a16="http://schemas.microsoft.com/office/drawing/2014/main" id="{CA92C2F6-4C33-43CE-A5AA-36E79AD4FFCA}"/>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木材を繊維状にほぐして、再び板に成形する</a:t>
            </a:r>
          </a:p>
        </p:txBody>
      </p:sp>
      <p:sp>
        <p:nvSpPr>
          <p:cNvPr id="6" name="正方形/長方形 5">
            <a:extLst xmlns:a="http://schemas.openxmlformats.org/drawingml/2006/main">
              <a:ext uri="{FF2B5EF4-FFF2-40B4-BE49-F238E27FC236}">
                <a16:creationId xmlns:a16="http://schemas.microsoft.com/office/drawing/2014/main" id="{66DCD30F-D1D7-497B-98AC-C1AE6C67F0E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MDFは中密度繊維板で、微細な要素による平滑な表面が特徴</a:t>
            </a:r>
          </a:p>
        </p:txBody>
      </p:sp>
      <p:sp>
        <p:nvSpPr>
          <p:cNvPr id="7" name="正方形/長方形 6">
            <a:extLst xmlns:a="http://schemas.openxmlformats.org/drawingml/2006/main">
              <a:ext uri="{FF2B5EF4-FFF2-40B4-BE49-F238E27FC236}">
                <a16:creationId xmlns:a16="http://schemas.microsoft.com/office/drawing/2014/main" id="{58F14E84-9DB9-4E86-827D-D6B3DD09189D}"/>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切削や表面仕上げに適した製品があるが、製品差も大きい</a:t>
            </a:r>
          </a:p>
        </p:txBody>
      </p:sp>
      <p:sp>
        <p:nvSpPr>
          <p:cNvPr id="8" name="正方形/長方形 7">
            <a:extLst xmlns:a="http://schemas.openxmlformats.org/drawingml/2006/main">
              <a:ext uri="{FF2B5EF4-FFF2-40B4-BE49-F238E27FC236}">
                <a16:creationId xmlns:a16="http://schemas.microsoft.com/office/drawing/2014/main" id="{8D522814-0DBD-4C24-8E73-6F578026925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密度、厚さ方向の密度分布、接着、耐湿性が性能に関わる</a:t>
            </a:r>
          </a:p>
        </p:txBody>
      </p:sp>
      <p:sp>
        <p:nvSpPr>
          <p:cNvPr id="9" name="正方形/長方形 8">
            <a:extLst xmlns:a="http://schemas.openxmlformats.org/drawingml/2006/main">
              <a:ext uri="{FF2B5EF4-FFF2-40B4-BE49-F238E27FC236}">
                <a16:creationId xmlns:a16="http://schemas.microsoft.com/office/drawing/2014/main" id="{17889C31-9F94-4920-A728-6E8EE3FD9960}"/>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端面への接合と吸水による厚さ変化も、採用前に確認する</a:t>
            </a:r>
          </a:p>
        </p:txBody>
      </p:sp>
    </p:spTree>
    <p:extLst>
      <p:ext uri="{BB962C8B-B14F-4D97-AF65-F5344CB8AC3E}">
        <p14:creationId xmlns:p14="http://schemas.microsoft.com/office/powerpoint/2010/main" val="13462315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1" name="正方形/長方形 50">
            <a:extLst xmlns:a="http://schemas.openxmlformats.org/drawingml/2006/main">
              <a:ext uri="{FF2B5EF4-FFF2-40B4-BE49-F238E27FC236}">
                <a16:creationId xmlns:a16="http://schemas.microsoft.com/office/drawing/2014/main" id="{B2239B7B-1A79-4E86-91CF-C2BEF12DB4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繊維板の要素</a:t>
            </a:r>
          </a:p>
        </p:txBody>
      </p:sp>
      <p:cxnSp>
        <p:nvCxnSpPr>
          <p:cNvPr id="2" name="直線矢印コネクタ 1">
            <a:extLst xmlns:a="http://schemas.openxmlformats.org/drawingml/2006/main">
              <a:ext uri="{FF2B5EF4-FFF2-40B4-BE49-F238E27FC236}">
                <a16:creationId xmlns:a16="http://schemas.microsoft.com/office/drawing/2014/main" id="{8C750207-52DD-43E4-8ED7-9DA0276114E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68ABC60C-A72B-426B-90D2-C954FCEC74A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831E672A-6B27-4C3F-86E0-BA55DA89F1E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22</a:t>
            </a:r>
          </a:p>
        </p:txBody>
      </p:sp>
      <p:sp>
        <p:nvSpPr>
          <p:cNvPr id="5" name="正方形/長方形 4">
            <a:extLst xmlns:a="http://schemas.openxmlformats.org/drawingml/2006/main">
              <a:ext uri="{FF2B5EF4-FFF2-40B4-BE49-F238E27FC236}">
                <a16:creationId xmlns:a16="http://schemas.microsoft.com/office/drawing/2014/main" id="{25A345E1-C619-4B3F-9F76-AD4D4E3BD2F0}"/>
              </a:ext>
            </a:extLst>
          </p:cNvPr>
          <p:cNvSpPr>
            <a:spLocks xmlns:a="http://schemas.openxmlformats.org/drawingml/2006/main" noGrp="1"/>
          </p:cNvSpPr>
          <p:nvPr/>
        </p:nvSpPr>
        <p:spPr>
          <a:xfrm xmlns:a="http://schemas.openxmlformats.org/drawingml/2006/main">
            <a:off x="952500" y="1952625"/>
            <a:ext cx="5143500" cy="31432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6" name="直線矢印コネクタ 5">
            <a:extLst xmlns:a="http://schemas.openxmlformats.org/drawingml/2006/main">
              <a:ext uri="{FF2B5EF4-FFF2-40B4-BE49-F238E27FC236}">
                <a16:creationId xmlns:a16="http://schemas.microsoft.com/office/drawing/2014/main" id="{45402F8E-A70D-4AE3-B0A5-BBE5F8976675}"/>
              </a:ext>
            </a:extLst>
          </p:cNvPr>
          <p:cNvCxnSpPr/>
          <p:nvPr/>
        </p:nvCxnSpPr>
        <p:spPr>
          <a:xfrm xmlns:a="http://schemas.openxmlformats.org/drawingml/2006/main" flipV="1">
            <a:off x="1162050" y="200977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7" name="直線矢印コネクタ 6">
            <a:extLst xmlns:a="http://schemas.openxmlformats.org/drawingml/2006/main">
              <a:ext uri="{FF2B5EF4-FFF2-40B4-BE49-F238E27FC236}">
                <a16:creationId xmlns:a16="http://schemas.microsoft.com/office/drawing/2014/main" id="{12FD85B6-3A89-45C0-9D16-DB48B8C1C45B}"/>
              </a:ext>
            </a:extLst>
          </p:cNvPr>
          <p:cNvCxnSpPr/>
          <p:nvPr/>
        </p:nvCxnSpPr>
        <p:spPr>
          <a:xfrm xmlns:a="http://schemas.openxmlformats.org/drawingml/2006/main">
            <a:off x="1752600" y="2152650"/>
            <a:ext cx="361950" cy="0"/>
          </a:xfrm>
          <a:prstGeom xmlns:a="http://schemas.openxmlformats.org/drawingml/2006/main" prst="straightConnector1">
            <a:avLst/>
          </a:prstGeom>
          <a:ln xmlns:a="http://schemas.openxmlformats.org/drawingml/2006/main" w="19050">
            <a:solidFill>
              <a:srgbClr val="B55D09"/>
            </a:solidFill>
          </a:ln>
        </p:spPr>
      </p:cxnSp>
      <p:cxnSp>
        <p:nvCxnSpPr>
          <p:cNvPr id="8" name="直線矢印コネクタ 7">
            <a:extLst xmlns:a="http://schemas.openxmlformats.org/drawingml/2006/main">
              <a:ext uri="{FF2B5EF4-FFF2-40B4-BE49-F238E27FC236}">
                <a16:creationId xmlns:a16="http://schemas.microsoft.com/office/drawing/2014/main" id="{EA56D090-6824-4014-97CB-2C803E9438E6}"/>
              </a:ext>
            </a:extLst>
          </p:cNvPr>
          <p:cNvCxnSpPr/>
          <p:nvPr/>
        </p:nvCxnSpPr>
        <p:spPr>
          <a:xfrm xmlns:a="http://schemas.openxmlformats.org/drawingml/2006/main">
            <a:off x="2343150" y="215265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9" name="直線矢印コネクタ 8">
            <a:extLst xmlns:a="http://schemas.openxmlformats.org/drawingml/2006/main">
              <a:ext uri="{FF2B5EF4-FFF2-40B4-BE49-F238E27FC236}">
                <a16:creationId xmlns:a16="http://schemas.microsoft.com/office/drawing/2014/main" id="{65133881-077F-47D0-B287-9AC627643BC4}"/>
              </a:ext>
            </a:extLst>
          </p:cNvPr>
          <p:cNvCxnSpPr/>
          <p:nvPr/>
        </p:nvCxnSpPr>
        <p:spPr>
          <a:xfrm xmlns:a="http://schemas.openxmlformats.org/drawingml/2006/main" flipV="1">
            <a:off x="2933700" y="200977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10" name="直線矢印コネクタ 9">
            <a:extLst xmlns:a="http://schemas.openxmlformats.org/drawingml/2006/main">
              <a:ext uri="{FF2B5EF4-FFF2-40B4-BE49-F238E27FC236}">
                <a16:creationId xmlns:a16="http://schemas.microsoft.com/office/drawing/2014/main" id="{B6DDC842-5AFF-40E3-BB3E-8F1EBB858A39}"/>
              </a:ext>
            </a:extLst>
          </p:cNvPr>
          <p:cNvCxnSpPr/>
          <p:nvPr/>
        </p:nvCxnSpPr>
        <p:spPr>
          <a:xfrm xmlns:a="http://schemas.openxmlformats.org/drawingml/2006/main">
            <a:off x="3524250" y="2152650"/>
            <a:ext cx="361950" cy="0"/>
          </a:xfrm>
          <a:prstGeom xmlns:a="http://schemas.openxmlformats.org/drawingml/2006/main" prst="straightConnector1">
            <a:avLst/>
          </a:prstGeom>
          <a:ln xmlns:a="http://schemas.openxmlformats.org/drawingml/2006/main" w="19050">
            <a:solidFill>
              <a:srgbClr val="B55D09"/>
            </a:solidFill>
          </a:ln>
        </p:spPr>
      </p:cxnSp>
      <p:cxnSp>
        <p:nvCxnSpPr>
          <p:cNvPr id="11" name="直線矢印コネクタ 10">
            <a:extLst xmlns:a="http://schemas.openxmlformats.org/drawingml/2006/main">
              <a:ext uri="{FF2B5EF4-FFF2-40B4-BE49-F238E27FC236}">
                <a16:creationId xmlns:a16="http://schemas.microsoft.com/office/drawing/2014/main" id="{4EAED96C-C7FE-4CBB-9A83-ED13E962FB19}"/>
              </a:ext>
            </a:extLst>
          </p:cNvPr>
          <p:cNvCxnSpPr/>
          <p:nvPr/>
        </p:nvCxnSpPr>
        <p:spPr>
          <a:xfrm xmlns:a="http://schemas.openxmlformats.org/drawingml/2006/main">
            <a:off x="4114800" y="215265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12" name="直線矢印コネクタ 11">
            <a:extLst xmlns:a="http://schemas.openxmlformats.org/drawingml/2006/main">
              <a:ext uri="{FF2B5EF4-FFF2-40B4-BE49-F238E27FC236}">
                <a16:creationId xmlns:a16="http://schemas.microsoft.com/office/drawing/2014/main" id="{A77B26C5-A881-4DEC-AC7E-C6F0D7F9BC91}"/>
              </a:ext>
            </a:extLst>
          </p:cNvPr>
          <p:cNvCxnSpPr/>
          <p:nvPr/>
        </p:nvCxnSpPr>
        <p:spPr>
          <a:xfrm xmlns:a="http://schemas.openxmlformats.org/drawingml/2006/main" flipV="1">
            <a:off x="4705350" y="200977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13" name="直線矢印コネクタ 12">
            <a:extLst xmlns:a="http://schemas.openxmlformats.org/drawingml/2006/main">
              <a:ext uri="{FF2B5EF4-FFF2-40B4-BE49-F238E27FC236}">
                <a16:creationId xmlns:a16="http://schemas.microsoft.com/office/drawing/2014/main" id="{4B266F22-4D88-4ABD-B8E0-7CDB53A861B5}"/>
              </a:ext>
            </a:extLst>
          </p:cNvPr>
          <p:cNvCxnSpPr/>
          <p:nvPr/>
        </p:nvCxnSpPr>
        <p:spPr>
          <a:xfrm xmlns:a="http://schemas.openxmlformats.org/drawingml/2006/main">
            <a:off x="5295900" y="2152650"/>
            <a:ext cx="361950" cy="0"/>
          </a:xfrm>
          <a:prstGeom xmlns:a="http://schemas.openxmlformats.org/drawingml/2006/main" prst="straightConnector1">
            <a:avLst/>
          </a:prstGeom>
          <a:ln xmlns:a="http://schemas.openxmlformats.org/drawingml/2006/main" w="19050">
            <a:solidFill>
              <a:srgbClr val="B55D09"/>
            </a:solidFill>
          </a:ln>
        </p:spPr>
      </p:cxnSp>
      <p:cxnSp>
        <p:nvCxnSpPr>
          <p:cNvPr id="14" name="直線矢印コネクタ 13">
            <a:extLst xmlns:a="http://schemas.openxmlformats.org/drawingml/2006/main">
              <a:ext uri="{FF2B5EF4-FFF2-40B4-BE49-F238E27FC236}">
                <a16:creationId xmlns:a16="http://schemas.microsoft.com/office/drawing/2014/main" id="{4874F9C7-52B2-4EA7-84F8-5D15E1AAEC14}"/>
              </a:ext>
            </a:extLst>
          </p:cNvPr>
          <p:cNvCxnSpPr/>
          <p:nvPr/>
        </p:nvCxnSpPr>
        <p:spPr>
          <a:xfrm xmlns:a="http://schemas.openxmlformats.org/drawingml/2006/main">
            <a:off x="1162050" y="2733675"/>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15" name="直線矢印コネクタ 14">
            <a:extLst xmlns:a="http://schemas.openxmlformats.org/drawingml/2006/main">
              <a:ext uri="{FF2B5EF4-FFF2-40B4-BE49-F238E27FC236}">
                <a16:creationId xmlns:a16="http://schemas.microsoft.com/office/drawing/2014/main" id="{EEFD3305-A35A-44D3-87EA-4AB811387D2A}"/>
              </a:ext>
            </a:extLst>
          </p:cNvPr>
          <p:cNvCxnSpPr/>
          <p:nvPr/>
        </p:nvCxnSpPr>
        <p:spPr>
          <a:xfrm xmlns:a="http://schemas.openxmlformats.org/drawingml/2006/main" flipV="1">
            <a:off x="1752600" y="259080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16" name="直線矢印コネクタ 15">
            <a:extLst xmlns:a="http://schemas.openxmlformats.org/drawingml/2006/main">
              <a:ext uri="{FF2B5EF4-FFF2-40B4-BE49-F238E27FC236}">
                <a16:creationId xmlns:a16="http://schemas.microsoft.com/office/drawing/2014/main" id="{85FF876B-8EC4-4F20-A958-7809F8535D33}"/>
              </a:ext>
            </a:extLst>
          </p:cNvPr>
          <p:cNvCxnSpPr/>
          <p:nvPr/>
        </p:nvCxnSpPr>
        <p:spPr>
          <a:xfrm xmlns:a="http://schemas.openxmlformats.org/drawingml/2006/main">
            <a:off x="2343150" y="2733675"/>
            <a:ext cx="361950" cy="0"/>
          </a:xfrm>
          <a:prstGeom xmlns:a="http://schemas.openxmlformats.org/drawingml/2006/main" prst="straightConnector1">
            <a:avLst/>
          </a:prstGeom>
          <a:ln xmlns:a="http://schemas.openxmlformats.org/drawingml/2006/main" w="19050">
            <a:solidFill>
              <a:srgbClr val="B55D09"/>
            </a:solidFill>
          </a:ln>
        </p:spPr>
      </p:cxnSp>
      <p:cxnSp>
        <p:nvCxnSpPr>
          <p:cNvPr id="17" name="直線矢印コネクタ 16">
            <a:extLst xmlns:a="http://schemas.openxmlformats.org/drawingml/2006/main">
              <a:ext uri="{FF2B5EF4-FFF2-40B4-BE49-F238E27FC236}">
                <a16:creationId xmlns:a16="http://schemas.microsoft.com/office/drawing/2014/main" id="{64EC23C4-1278-4D5E-89D3-B2991BA5A803}"/>
              </a:ext>
            </a:extLst>
          </p:cNvPr>
          <p:cNvCxnSpPr/>
          <p:nvPr/>
        </p:nvCxnSpPr>
        <p:spPr>
          <a:xfrm xmlns:a="http://schemas.openxmlformats.org/drawingml/2006/main">
            <a:off x="2933700" y="2733675"/>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18" name="直線矢印コネクタ 17">
            <a:extLst xmlns:a="http://schemas.openxmlformats.org/drawingml/2006/main">
              <a:ext uri="{FF2B5EF4-FFF2-40B4-BE49-F238E27FC236}">
                <a16:creationId xmlns:a16="http://schemas.microsoft.com/office/drawing/2014/main" id="{94870764-5A23-4FD4-901F-60D1B00C825A}"/>
              </a:ext>
            </a:extLst>
          </p:cNvPr>
          <p:cNvCxnSpPr/>
          <p:nvPr/>
        </p:nvCxnSpPr>
        <p:spPr>
          <a:xfrm xmlns:a="http://schemas.openxmlformats.org/drawingml/2006/main" flipV="1">
            <a:off x="3524250" y="259080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19" name="直線矢印コネクタ 18">
            <a:extLst xmlns:a="http://schemas.openxmlformats.org/drawingml/2006/main">
              <a:ext uri="{FF2B5EF4-FFF2-40B4-BE49-F238E27FC236}">
                <a16:creationId xmlns:a16="http://schemas.microsoft.com/office/drawing/2014/main" id="{664489EB-6493-450A-A3A0-E741D3F36CB1}"/>
              </a:ext>
            </a:extLst>
          </p:cNvPr>
          <p:cNvCxnSpPr/>
          <p:nvPr/>
        </p:nvCxnSpPr>
        <p:spPr>
          <a:xfrm xmlns:a="http://schemas.openxmlformats.org/drawingml/2006/main">
            <a:off x="4114800" y="2733675"/>
            <a:ext cx="361950" cy="0"/>
          </a:xfrm>
          <a:prstGeom xmlns:a="http://schemas.openxmlformats.org/drawingml/2006/main" prst="straightConnector1">
            <a:avLst/>
          </a:prstGeom>
          <a:ln xmlns:a="http://schemas.openxmlformats.org/drawingml/2006/main" w="19050">
            <a:solidFill>
              <a:srgbClr val="B55D09"/>
            </a:solidFill>
          </a:ln>
        </p:spPr>
      </p:cxnSp>
      <p:cxnSp>
        <p:nvCxnSpPr>
          <p:cNvPr id="20" name="直線矢印コネクタ 19">
            <a:extLst xmlns:a="http://schemas.openxmlformats.org/drawingml/2006/main">
              <a:ext uri="{FF2B5EF4-FFF2-40B4-BE49-F238E27FC236}">
                <a16:creationId xmlns:a16="http://schemas.microsoft.com/office/drawing/2014/main" id="{21A9E56D-6697-4753-AE9B-D605ADA2982C}"/>
              </a:ext>
            </a:extLst>
          </p:cNvPr>
          <p:cNvCxnSpPr/>
          <p:nvPr/>
        </p:nvCxnSpPr>
        <p:spPr>
          <a:xfrm xmlns:a="http://schemas.openxmlformats.org/drawingml/2006/main">
            <a:off x="4705350" y="2733675"/>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21" name="直線矢印コネクタ 20">
            <a:extLst xmlns:a="http://schemas.openxmlformats.org/drawingml/2006/main">
              <a:ext uri="{FF2B5EF4-FFF2-40B4-BE49-F238E27FC236}">
                <a16:creationId xmlns:a16="http://schemas.microsoft.com/office/drawing/2014/main" id="{DD85FBFD-B963-4ED1-AF4B-BB653D77D1A1}"/>
              </a:ext>
            </a:extLst>
          </p:cNvPr>
          <p:cNvCxnSpPr/>
          <p:nvPr/>
        </p:nvCxnSpPr>
        <p:spPr>
          <a:xfrm xmlns:a="http://schemas.openxmlformats.org/drawingml/2006/main" flipV="1">
            <a:off x="5295900" y="259080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22" name="直線矢印コネクタ 21">
            <a:extLst xmlns:a="http://schemas.openxmlformats.org/drawingml/2006/main">
              <a:ext uri="{FF2B5EF4-FFF2-40B4-BE49-F238E27FC236}">
                <a16:creationId xmlns:a16="http://schemas.microsoft.com/office/drawing/2014/main" id="{EDC53339-2971-4010-9347-ACEB9E1D70C5}"/>
              </a:ext>
            </a:extLst>
          </p:cNvPr>
          <p:cNvCxnSpPr/>
          <p:nvPr/>
        </p:nvCxnSpPr>
        <p:spPr>
          <a:xfrm xmlns:a="http://schemas.openxmlformats.org/drawingml/2006/main">
            <a:off x="1162050" y="3314700"/>
            <a:ext cx="361950" cy="0"/>
          </a:xfrm>
          <a:prstGeom xmlns:a="http://schemas.openxmlformats.org/drawingml/2006/main" prst="straightConnector1">
            <a:avLst/>
          </a:prstGeom>
          <a:ln xmlns:a="http://schemas.openxmlformats.org/drawingml/2006/main" w="19050">
            <a:solidFill>
              <a:srgbClr val="B55D09"/>
            </a:solidFill>
          </a:ln>
        </p:spPr>
      </p:cxnSp>
      <p:cxnSp>
        <p:nvCxnSpPr>
          <p:cNvPr id="23" name="直線矢印コネクタ 22">
            <a:extLst xmlns:a="http://schemas.openxmlformats.org/drawingml/2006/main">
              <a:ext uri="{FF2B5EF4-FFF2-40B4-BE49-F238E27FC236}">
                <a16:creationId xmlns:a16="http://schemas.microsoft.com/office/drawing/2014/main" id="{6BE50DC8-8764-4D91-86A8-6677C99F8B3A}"/>
              </a:ext>
            </a:extLst>
          </p:cNvPr>
          <p:cNvCxnSpPr/>
          <p:nvPr/>
        </p:nvCxnSpPr>
        <p:spPr>
          <a:xfrm xmlns:a="http://schemas.openxmlformats.org/drawingml/2006/main">
            <a:off x="1752600" y="331470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24" name="直線矢印コネクタ 23">
            <a:extLst xmlns:a="http://schemas.openxmlformats.org/drawingml/2006/main">
              <a:ext uri="{FF2B5EF4-FFF2-40B4-BE49-F238E27FC236}">
                <a16:creationId xmlns:a16="http://schemas.microsoft.com/office/drawing/2014/main" id="{E3DF27E2-2078-4FCD-B7D6-494E992E71FA}"/>
              </a:ext>
            </a:extLst>
          </p:cNvPr>
          <p:cNvCxnSpPr/>
          <p:nvPr/>
        </p:nvCxnSpPr>
        <p:spPr>
          <a:xfrm xmlns:a="http://schemas.openxmlformats.org/drawingml/2006/main" flipV="1">
            <a:off x="2343150" y="317182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25" name="直線矢印コネクタ 24">
            <a:extLst xmlns:a="http://schemas.openxmlformats.org/drawingml/2006/main">
              <a:ext uri="{FF2B5EF4-FFF2-40B4-BE49-F238E27FC236}">
                <a16:creationId xmlns:a16="http://schemas.microsoft.com/office/drawing/2014/main" id="{4F8C6B11-E0F2-4572-97A4-7AF3DC56A7CF}"/>
              </a:ext>
            </a:extLst>
          </p:cNvPr>
          <p:cNvCxnSpPr/>
          <p:nvPr/>
        </p:nvCxnSpPr>
        <p:spPr>
          <a:xfrm xmlns:a="http://schemas.openxmlformats.org/drawingml/2006/main">
            <a:off x="2933700" y="3314700"/>
            <a:ext cx="361950" cy="0"/>
          </a:xfrm>
          <a:prstGeom xmlns:a="http://schemas.openxmlformats.org/drawingml/2006/main" prst="straightConnector1">
            <a:avLst/>
          </a:prstGeom>
          <a:ln xmlns:a="http://schemas.openxmlformats.org/drawingml/2006/main" w="19050">
            <a:solidFill>
              <a:srgbClr val="B55D09"/>
            </a:solidFill>
          </a:ln>
        </p:spPr>
      </p:cxnSp>
      <p:cxnSp>
        <p:nvCxnSpPr>
          <p:cNvPr id="26" name="直線矢印コネクタ 25">
            <a:extLst xmlns:a="http://schemas.openxmlformats.org/drawingml/2006/main">
              <a:ext uri="{FF2B5EF4-FFF2-40B4-BE49-F238E27FC236}">
                <a16:creationId xmlns:a16="http://schemas.microsoft.com/office/drawing/2014/main" id="{977379B5-A38D-4933-A951-D1F68A4A17A5}"/>
              </a:ext>
            </a:extLst>
          </p:cNvPr>
          <p:cNvCxnSpPr/>
          <p:nvPr/>
        </p:nvCxnSpPr>
        <p:spPr>
          <a:xfrm xmlns:a="http://schemas.openxmlformats.org/drawingml/2006/main">
            <a:off x="3524250" y="331470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27" name="直線矢印コネクタ 26">
            <a:extLst xmlns:a="http://schemas.openxmlformats.org/drawingml/2006/main">
              <a:ext uri="{FF2B5EF4-FFF2-40B4-BE49-F238E27FC236}">
                <a16:creationId xmlns:a16="http://schemas.microsoft.com/office/drawing/2014/main" id="{0DB5496F-F844-45F6-BE61-9EE420E7765C}"/>
              </a:ext>
            </a:extLst>
          </p:cNvPr>
          <p:cNvCxnSpPr/>
          <p:nvPr/>
        </p:nvCxnSpPr>
        <p:spPr>
          <a:xfrm xmlns:a="http://schemas.openxmlformats.org/drawingml/2006/main" flipV="1">
            <a:off x="4114800" y="317182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28" name="直線矢印コネクタ 27">
            <a:extLst xmlns:a="http://schemas.openxmlformats.org/drawingml/2006/main">
              <a:ext uri="{FF2B5EF4-FFF2-40B4-BE49-F238E27FC236}">
                <a16:creationId xmlns:a16="http://schemas.microsoft.com/office/drawing/2014/main" id="{2BB38FBD-19CE-4CF6-B5F6-1F573CC1388E}"/>
              </a:ext>
            </a:extLst>
          </p:cNvPr>
          <p:cNvCxnSpPr/>
          <p:nvPr/>
        </p:nvCxnSpPr>
        <p:spPr>
          <a:xfrm xmlns:a="http://schemas.openxmlformats.org/drawingml/2006/main">
            <a:off x="4705350" y="3314700"/>
            <a:ext cx="361950" cy="0"/>
          </a:xfrm>
          <a:prstGeom xmlns:a="http://schemas.openxmlformats.org/drawingml/2006/main" prst="straightConnector1">
            <a:avLst/>
          </a:prstGeom>
          <a:ln xmlns:a="http://schemas.openxmlformats.org/drawingml/2006/main" w="19050">
            <a:solidFill>
              <a:srgbClr val="B55D09"/>
            </a:solidFill>
          </a:ln>
        </p:spPr>
      </p:cxnSp>
      <p:cxnSp>
        <p:nvCxnSpPr>
          <p:cNvPr id="29" name="直線矢印コネクタ 28">
            <a:extLst xmlns:a="http://schemas.openxmlformats.org/drawingml/2006/main">
              <a:ext uri="{FF2B5EF4-FFF2-40B4-BE49-F238E27FC236}">
                <a16:creationId xmlns:a16="http://schemas.microsoft.com/office/drawing/2014/main" id="{BE01F19D-DEA9-4CEB-9692-37648C92444F}"/>
              </a:ext>
            </a:extLst>
          </p:cNvPr>
          <p:cNvCxnSpPr/>
          <p:nvPr/>
        </p:nvCxnSpPr>
        <p:spPr>
          <a:xfrm xmlns:a="http://schemas.openxmlformats.org/drawingml/2006/main">
            <a:off x="5295900" y="331470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30" name="直線矢印コネクタ 29">
            <a:extLst xmlns:a="http://schemas.openxmlformats.org/drawingml/2006/main">
              <a:ext uri="{FF2B5EF4-FFF2-40B4-BE49-F238E27FC236}">
                <a16:creationId xmlns:a16="http://schemas.microsoft.com/office/drawing/2014/main" id="{0737A38D-A7E1-4B19-905B-DC5D85322F1C}"/>
              </a:ext>
            </a:extLst>
          </p:cNvPr>
          <p:cNvCxnSpPr/>
          <p:nvPr/>
        </p:nvCxnSpPr>
        <p:spPr>
          <a:xfrm xmlns:a="http://schemas.openxmlformats.org/drawingml/2006/main" flipV="1">
            <a:off x="1162050" y="375285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31" name="直線矢印コネクタ 30">
            <a:extLst xmlns:a="http://schemas.openxmlformats.org/drawingml/2006/main">
              <a:ext uri="{FF2B5EF4-FFF2-40B4-BE49-F238E27FC236}">
                <a16:creationId xmlns:a16="http://schemas.microsoft.com/office/drawing/2014/main" id="{7F42098E-A357-4D5C-BC10-238C26FF162B}"/>
              </a:ext>
            </a:extLst>
          </p:cNvPr>
          <p:cNvCxnSpPr/>
          <p:nvPr/>
        </p:nvCxnSpPr>
        <p:spPr>
          <a:xfrm xmlns:a="http://schemas.openxmlformats.org/drawingml/2006/main">
            <a:off x="1752600" y="3895725"/>
            <a:ext cx="361950" cy="0"/>
          </a:xfrm>
          <a:prstGeom xmlns:a="http://schemas.openxmlformats.org/drawingml/2006/main" prst="straightConnector1">
            <a:avLst/>
          </a:prstGeom>
          <a:ln xmlns:a="http://schemas.openxmlformats.org/drawingml/2006/main" w="19050">
            <a:solidFill>
              <a:srgbClr val="B55D09"/>
            </a:solidFill>
          </a:ln>
        </p:spPr>
      </p:cxnSp>
      <p:cxnSp>
        <p:nvCxnSpPr>
          <p:cNvPr id="32" name="直線矢印コネクタ 31">
            <a:extLst xmlns:a="http://schemas.openxmlformats.org/drawingml/2006/main">
              <a:ext uri="{FF2B5EF4-FFF2-40B4-BE49-F238E27FC236}">
                <a16:creationId xmlns:a16="http://schemas.microsoft.com/office/drawing/2014/main" id="{9ECC88AD-E9BC-40EF-8BC3-723FE6FC1676}"/>
              </a:ext>
            </a:extLst>
          </p:cNvPr>
          <p:cNvCxnSpPr/>
          <p:nvPr/>
        </p:nvCxnSpPr>
        <p:spPr>
          <a:xfrm xmlns:a="http://schemas.openxmlformats.org/drawingml/2006/main">
            <a:off x="2343150" y="3895725"/>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33" name="直線矢印コネクタ 32">
            <a:extLst xmlns:a="http://schemas.openxmlformats.org/drawingml/2006/main">
              <a:ext uri="{FF2B5EF4-FFF2-40B4-BE49-F238E27FC236}">
                <a16:creationId xmlns:a16="http://schemas.microsoft.com/office/drawing/2014/main" id="{7A233B08-D498-429B-8EC4-607E5B81BA0B}"/>
              </a:ext>
            </a:extLst>
          </p:cNvPr>
          <p:cNvCxnSpPr/>
          <p:nvPr/>
        </p:nvCxnSpPr>
        <p:spPr>
          <a:xfrm xmlns:a="http://schemas.openxmlformats.org/drawingml/2006/main" flipV="1">
            <a:off x="2933700" y="375285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34" name="直線矢印コネクタ 33">
            <a:extLst xmlns:a="http://schemas.openxmlformats.org/drawingml/2006/main">
              <a:ext uri="{FF2B5EF4-FFF2-40B4-BE49-F238E27FC236}">
                <a16:creationId xmlns:a16="http://schemas.microsoft.com/office/drawing/2014/main" id="{4BEE0B58-EE09-41B1-AB6A-F5AD52783D0C}"/>
              </a:ext>
            </a:extLst>
          </p:cNvPr>
          <p:cNvCxnSpPr/>
          <p:nvPr/>
        </p:nvCxnSpPr>
        <p:spPr>
          <a:xfrm xmlns:a="http://schemas.openxmlformats.org/drawingml/2006/main">
            <a:off x="3524250" y="3895725"/>
            <a:ext cx="361950" cy="0"/>
          </a:xfrm>
          <a:prstGeom xmlns:a="http://schemas.openxmlformats.org/drawingml/2006/main" prst="straightConnector1">
            <a:avLst/>
          </a:prstGeom>
          <a:ln xmlns:a="http://schemas.openxmlformats.org/drawingml/2006/main" w="19050">
            <a:solidFill>
              <a:srgbClr val="B55D09"/>
            </a:solidFill>
          </a:ln>
        </p:spPr>
      </p:cxnSp>
      <p:cxnSp>
        <p:nvCxnSpPr>
          <p:cNvPr id="35" name="直線矢印コネクタ 34">
            <a:extLst xmlns:a="http://schemas.openxmlformats.org/drawingml/2006/main">
              <a:ext uri="{FF2B5EF4-FFF2-40B4-BE49-F238E27FC236}">
                <a16:creationId xmlns:a16="http://schemas.microsoft.com/office/drawing/2014/main" id="{A8C3527E-68DC-463D-8703-002D94FFA290}"/>
              </a:ext>
            </a:extLst>
          </p:cNvPr>
          <p:cNvCxnSpPr/>
          <p:nvPr/>
        </p:nvCxnSpPr>
        <p:spPr>
          <a:xfrm xmlns:a="http://schemas.openxmlformats.org/drawingml/2006/main">
            <a:off x="4114800" y="3895725"/>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36" name="直線矢印コネクタ 35">
            <a:extLst xmlns:a="http://schemas.openxmlformats.org/drawingml/2006/main">
              <a:ext uri="{FF2B5EF4-FFF2-40B4-BE49-F238E27FC236}">
                <a16:creationId xmlns:a16="http://schemas.microsoft.com/office/drawing/2014/main" id="{FAB0CFE0-4FD0-4668-90AA-26BB63FE49B5}"/>
              </a:ext>
            </a:extLst>
          </p:cNvPr>
          <p:cNvCxnSpPr/>
          <p:nvPr/>
        </p:nvCxnSpPr>
        <p:spPr>
          <a:xfrm xmlns:a="http://schemas.openxmlformats.org/drawingml/2006/main" flipV="1">
            <a:off x="4705350" y="3752850"/>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37" name="直線矢印コネクタ 36">
            <a:extLst xmlns:a="http://schemas.openxmlformats.org/drawingml/2006/main">
              <a:ext uri="{FF2B5EF4-FFF2-40B4-BE49-F238E27FC236}">
                <a16:creationId xmlns:a16="http://schemas.microsoft.com/office/drawing/2014/main" id="{BF78FF0B-244E-415D-A423-9C24023FF8AF}"/>
              </a:ext>
            </a:extLst>
          </p:cNvPr>
          <p:cNvCxnSpPr/>
          <p:nvPr/>
        </p:nvCxnSpPr>
        <p:spPr>
          <a:xfrm xmlns:a="http://schemas.openxmlformats.org/drawingml/2006/main">
            <a:off x="5295900" y="3895725"/>
            <a:ext cx="361950" cy="0"/>
          </a:xfrm>
          <a:prstGeom xmlns:a="http://schemas.openxmlformats.org/drawingml/2006/main" prst="straightConnector1">
            <a:avLst/>
          </a:prstGeom>
          <a:ln xmlns:a="http://schemas.openxmlformats.org/drawingml/2006/main" w="19050">
            <a:solidFill>
              <a:srgbClr val="B55D09"/>
            </a:solidFill>
          </a:ln>
        </p:spPr>
      </p:cxnSp>
      <p:cxnSp>
        <p:nvCxnSpPr>
          <p:cNvPr id="38" name="直線矢印コネクタ 37">
            <a:extLst xmlns:a="http://schemas.openxmlformats.org/drawingml/2006/main">
              <a:ext uri="{FF2B5EF4-FFF2-40B4-BE49-F238E27FC236}">
                <a16:creationId xmlns:a16="http://schemas.microsoft.com/office/drawing/2014/main" id="{E510185D-6C36-49CB-B00A-98998EB27560}"/>
              </a:ext>
            </a:extLst>
          </p:cNvPr>
          <p:cNvCxnSpPr/>
          <p:nvPr/>
        </p:nvCxnSpPr>
        <p:spPr>
          <a:xfrm xmlns:a="http://schemas.openxmlformats.org/drawingml/2006/main">
            <a:off x="1162050" y="447675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39" name="直線矢印コネクタ 38">
            <a:extLst xmlns:a="http://schemas.openxmlformats.org/drawingml/2006/main">
              <a:ext uri="{FF2B5EF4-FFF2-40B4-BE49-F238E27FC236}">
                <a16:creationId xmlns:a16="http://schemas.microsoft.com/office/drawing/2014/main" id="{BAAEF380-08DD-493E-9D52-B60E130D5DA3}"/>
              </a:ext>
            </a:extLst>
          </p:cNvPr>
          <p:cNvCxnSpPr/>
          <p:nvPr/>
        </p:nvCxnSpPr>
        <p:spPr>
          <a:xfrm xmlns:a="http://schemas.openxmlformats.org/drawingml/2006/main" flipV="1">
            <a:off x="1752600" y="433387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40" name="直線矢印コネクタ 39">
            <a:extLst xmlns:a="http://schemas.openxmlformats.org/drawingml/2006/main">
              <a:ext uri="{FF2B5EF4-FFF2-40B4-BE49-F238E27FC236}">
                <a16:creationId xmlns:a16="http://schemas.microsoft.com/office/drawing/2014/main" id="{E00C1B29-1BA4-47EA-BD07-F0CC6DC2B7A5}"/>
              </a:ext>
            </a:extLst>
          </p:cNvPr>
          <p:cNvCxnSpPr/>
          <p:nvPr/>
        </p:nvCxnSpPr>
        <p:spPr>
          <a:xfrm xmlns:a="http://schemas.openxmlformats.org/drawingml/2006/main">
            <a:off x="2343150" y="4476750"/>
            <a:ext cx="361950" cy="0"/>
          </a:xfrm>
          <a:prstGeom xmlns:a="http://schemas.openxmlformats.org/drawingml/2006/main" prst="straightConnector1">
            <a:avLst/>
          </a:prstGeom>
          <a:ln xmlns:a="http://schemas.openxmlformats.org/drawingml/2006/main" w="19050">
            <a:solidFill>
              <a:srgbClr val="B55D09"/>
            </a:solidFill>
          </a:ln>
        </p:spPr>
      </p:cxnSp>
      <p:cxnSp>
        <p:nvCxnSpPr>
          <p:cNvPr id="41" name="直線矢印コネクタ 40">
            <a:extLst xmlns:a="http://schemas.openxmlformats.org/drawingml/2006/main">
              <a:ext uri="{FF2B5EF4-FFF2-40B4-BE49-F238E27FC236}">
                <a16:creationId xmlns:a16="http://schemas.microsoft.com/office/drawing/2014/main" id="{6D1EE7FC-28C0-405E-A2AB-4CB3414AD367}"/>
              </a:ext>
            </a:extLst>
          </p:cNvPr>
          <p:cNvCxnSpPr/>
          <p:nvPr/>
        </p:nvCxnSpPr>
        <p:spPr>
          <a:xfrm xmlns:a="http://schemas.openxmlformats.org/drawingml/2006/main">
            <a:off x="2933700" y="447675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42" name="直線矢印コネクタ 41">
            <a:extLst xmlns:a="http://schemas.openxmlformats.org/drawingml/2006/main">
              <a:ext uri="{FF2B5EF4-FFF2-40B4-BE49-F238E27FC236}">
                <a16:creationId xmlns:a16="http://schemas.microsoft.com/office/drawing/2014/main" id="{13FF1F44-77BF-46BD-8E23-09F6C4364F1D}"/>
              </a:ext>
            </a:extLst>
          </p:cNvPr>
          <p:cNvCxnSpPr/>
          <p:nvPr/>
        </p:nvCxnSpPr>
        <p:spPr>
          <a:xfrm xmlns:a="http://schemas.openxmlformats.org/drawingml/2006/main" flipV="1">
            <a:off x="3524250" y="4333875"/>
            <a:ext cx="285750" cy="142875"/>
          </a:xfrm>
          <a:prstGeom xmlns:a="http://schemas.openxmlformats.org/drawingml/2006/main" prst="straightConnector1">
            <a:avLst/>
          </a:prstGeom>
          <a:ln xmlns:a="http://schemas.openxmlformats.org/drawingml/2006/main" w="19050">
            <a:solidFill>
              <a:srgbClr val="B55D09"/>
            </a:solidFill>
          </a:ln>
        </p:spPr>
      </p:cxnSp>
      <p:cxnSp>
        <p:nvCxnSpPr>
          <p:cNvPr id="43" name="直線矢印コネクタ 42">
            <a:extLst xmlns:a="http://schemas.openxmlformats.org/drawingml/2006/main">
              <a:ext uri="{FF2B5EF4-FFF2-40B4-BE49-F238E27FC236}">
                <a16:creationId xmlns:a16="http://schemas.microsoft.com/office/drawing/2014/main" id="{0379A425-ADF8-480F-A762-E5C3E8A9975C}"/>
              </a:ext>
            </a:extLst>
          </p:cNvPr>
          <p:cNvCxnSpPr/>
          <p:nvPr/>
        </p:nvCxnSpPr>
        <p:spPr>
          <a:xfrm xmlns:a="http://schemas.openxmlformats.org/drawingml/2006/main">
            <a:off x="4114800" y="4476750"/>
            <a:ext cx="361950" cy="0"/>
          </a:xfrm>
          <a:prstGeom xmlns:a="http://schemas.openxmlformats.org/drawingml/2006/main" prst="straightConnector1">
            <a:avLst/>
          </a:prstGeom>
          <a:ln xmlns:a="http://schemas.openxmlformats.org/drawingml/2006/main" w="19050">
            <a:solidFill>
              <a:srgbClr val="B55D09"/>
            </a:solidFill>
          </a:ln>
        </p:spPr>
      </p:cxnSp>
      <p:cxnSp>
        <p:nvCxnSpPr>
          <p:cNvPr id="44" name="直線矢印コネクタ 43">
            <a:extLst xmlns:a="http://schemas.openxmlformats.org/drawingml/2006/main">
              <a:ext uri="{FF2B5EF4-FFF2-40B4-BE49-F238E27FC236}">
                <a16:creationId xmlns:a16="http://schemas.microsoft.com/office/drawing/2014/main" id="{0482D16A-070E-4F0D-857F-1177352523A7}"/>
              </a:ext>
            </a:extLst>
          </p:cNvPr>
          <p:cNvCxnSpPr/>
          <p:nvPr/>
        </p:nvCxnSpPr>
        <p:spPr>
          <a:xfrm xmlns:a="http://schemas.openxmlformats.org/drawingml/2006/main">
            <a:off x="4705350" y="4476750"/>
            <a:ext cx="438150" cy="142875"/>
          </a:xfrm>
          <a:prstGeom xmlns:a="http://schemas.openxmlformats.org/drawingml/2006/main" prst="straightConnector1">
            <a:avLst/>
          </a:prstGeom>
          <a:ln xmlns:a="http://schemas.openxmlformats.org/drawingml/2006/main" w="19050">
            <a:solidFill>
              <a:srgbClr val="B55D09"/>
            </a:solidFill>
          </a:ln>
        </p:spPr>
      </p:cxnSp>
      <p:cxnSp>
        <p:nvCxnSpPr>
          <p:cNvPr id="45" name="直線矢印コネクタ 44">
            <a:extLst xmlns:a="http://schemas.openxmlformats.org/drawingml/2006/main">
              <a:ext uri="{FF2B5EF4-FFF2-40B4-BE49-F238E27FC236}">
                <a16:creationId xmlns:a16="http://schemas.microsoft.com/office/drawing/2014/main" id="{B540F0C0-9EF3-43E3-9DF1-74170882A71B}"/>
              </a:ext>
            </a:extLst>
          </p:cNvPr>
          <p:cNvCxnSpPr/>
          <p:nvPr/>
        </p:nvCxnSpPr>
        <p:spPr>
          <a:xfrm xmlns:a="http://schemas.openxmlformats.org/drawingml/2006/main" flipV="1">
            <a:off x="5295900" y="4333875"/>
            <a:ext cx="285750" cy="142875"/>
          </a:xfrm>
          <a:prstGeom xmlns:a="http://schemas.openxmlformats.org/drawingml/2006/main" prst="straightConnector1">
            <a:avLst/>
          </a:prstGeom>
          <a:ln xmlns:a="http://schemas.openxmlformats.org/drawingml/2006/main" w="19050">
            <a:solidFill>
              <a:srgbClr val="B55D09"/>
            </a:solidFill>
          </a:ln>
        </p:spPr>
      </p:cxnSp>
      <p:sp>
        <p:nvSpPr>
          <p:cNvPr id="46" name="正方形/長方形 45">
            <a:extLst xmlns:a="http://schemas.openxmlformats.org/drawingml/2006/main">
              <a:ext uri="{FF2B5EF4-FFF2-40B4-BE49-F238E27FC236}">
                <a16:creationId xmlns:a16="http://schemas.microsoft.com/office/drawing/2014/main" id="{3D8606FE-4C29-472D-9640-9085A5894D93}"/>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細かな繊維を要素にする</a:t>
            </a:r>
          </a:p>
        </p:txBody>
      </p:sp>
      <p:sp>
        <p:nvSpPr>
          <p:cNvPr id="47" name="正方形/長方形 46">
            <a:extLst xmlns:a="http://schemas.openxmlformats.org/drawingml/2006/main">
              <a:ext uri="{FF2B5EF4-FFF2-40B4-BE49-F238E27FC236}">
                <a16:creationId xmlns:a16="http://schemas.microsoft.com/office/drawing/2014/main" id="{16C9BE7B-73E9-4584-83D2-E5287799CDBA}"/>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密度・製法で性質が変わる</a:t>
            </a:r>
          </a:p>
        </p:txBody>
      </p:sp>
      <p:sp>
        <p:nvSpPr>
          <p:cNvPr id="48" name="正方形/長方形 47">
            <a:extLst xmlns:a="http://schemas.openxmlformats.org/drawingml/2006/main">
              <a:ext uri="{FF2B5EF4-FFF2-40B4-BE49-F238E27FC236}">
                <a16:creationId xmlns:a16="http://schemas.microsoft.com/office/drawing/2014/main" id="{638167FE-A07C-4BBF-B0EE-B482C0FECF82}"/>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表面と端面を観察</a:t>
            </a:r>
          </a:p>
        </p:txBody>
      </p:sp>
      <p:sp>
        <p:nvSpPr>
          <p:cNvPr id="49" name="正方形/長方形 48">
            <a:extLst xmlns:a="http://schemas.openxmlformats.org/drawingml/2006/main">
              <a:ext uri="{FF2B5EF4-FFF2-40B4-BE49-F238E27FC236}">
                <a16:creationId xmlns:a16="http://schemas.microsoft.com/office/drawing/2014/main" id="{B069BF58-2C2B-46CF-9D03-7DC77075FAF2}"/>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用途に合う製品情報</a:t>
            </a:r>
          </a:p>
        </p:txBody>
      </p:sp>
    </p:spTree>
    <p:extLst>
      <p:ext uri="{BB962C8B-B14F-4D97-AF65-F5344CB8AC3E}">
        <p14:creationId xmlns:p14="http://schemas.microsoft.com/office/powerpoint/2010/main" val="192866681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4A1506-3B2A-416A-A495-A857FB76043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PBとMDFの違い</a:t>
            </a:r>
          </a:p>
        </p:txBody>
      </p:sp>
      <p:sp>
        <p:nvSpPr>
          <p:cNvPr id="2" name="">
            <a:extLst xmlns:a="http://schemas.openxmlformats.org/drawingml/2006/main">
              <a:ext uri="{FF2B5EF4-FFF2-40B4-BE49-F238E27FC236}">
                <a16:creationId xmlns:a16="http://schemas.microsoft.com/office/drawing/2014/main" id="{BBA2B795-62B7-4350-9C20-83A4EE64B45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1C8438-782B-481E-9E89-A9956D565C9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64BB00E7-A308-4FC0-B4D1-F464E002CE6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42EC0EC8-9411-4DF1-8A4B-18E54EF9272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二つの模式図を比べ、要素、表面、端面の三つの欄で違いを記述してくださ</a:t>
            </a:r>
          </a:p>
        </p:txBody>
      </p:sp>
      <p:sp>
        <p:nvSpPr>
          <p:cNvPr id="6" name="">
            <a:extLst xmlns:a="http://schemas.openxmlformats.org/drawingml/2006/main">
              <a:ext uri="{FF2B5EF4-FFF2-40B4-BE49-F238E27FC236}">
                <a16:creationId xmlns:a16="http://schemas.microsoft.com/office/drawing/2014/main" id="{37BB543F-8125-4DE2-83A9-65EB80C946E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い。製品情報で確かめることも一つ加えます。</a:t>
            </a:r>
          </a:p>
        </p:txBody>
      </p:sp>
      <p:sp>
        <p:nvSpPr>
          <p:cNvPr id="7" name="">
            <a:extLst xmlns:a="http://schemas.openxmlformats.org/drawingml/2006/main">
              <a:ext uri="{FF2B5EF4-FFF2-40B4-BE49-F238E27FC236}">
                <a16:creationId xmlns:a16="http://schemas.microsoft.com/office/drawing/2014/main" id="{DEB13A9C-6640-446C-9FAA-0D418FA799BB}"/>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205544577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EF6ECC-6F31-4212-87EB-79424E11EEA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0137FB9A-0F3E-45AA-A658-0FD065338A3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F7C8A7-6CD1-4353-9F1E-81D41CD613F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DFC36283-5791-436C-BFDD-25332060CD2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02964803-65ED-49AF-8B3B-A3F8850A3E75}"/>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CF0BAEA-AE75-4107-AED9-0C897E6DA565}"/>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2ED0E31B-5A8E-4956-BD16-C2A426536601}"/>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A986AF56-C2F2-4096-8033-E2FB995A8E40}"/>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再開したら：OSBとストランドの配向へ進みます。</a:t>
            </a:r>
          </a:p>
        </p:txBody>
      </p:sp>
    </p:spTree>
    <p:extLst>
      <p:ext uri="{BB962C8B-B14F-4D97-AF65-F5344CB8AC3E}">
        <p14:creationId xmlns:p14="http://schemas.microsoft.com/office/powerpoint/2010/main" val="26070736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2AFBB748-0CC0-4856-BEB9-1904FD5439C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OSBとストランドの配向</a:t>
            </a:r>
          </a:p>
        </p:txBody>
      </p:sp>
      <p:cxnSp>
        <p:nvCxnSpPr>
          <p:cNvPr id="2" name="直線矢印コネクタ 1">
            <a:extLst xmlns:a="http://schemas.openxmlformats.org/drawingml/2006/main">
              <a:ext uri="{FF2B5EF4-FFF2-40B4-BE49-F238E27FC236}">
                <a16:creationId xmlns:a16="http://schemas.microsoft.com/office/drawing/2014/main" id="{B2274A22-781A-4765-8FFA-42535F5FD92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44E1001-BAA1-41F9-8B90-A9F2053B94E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E647AD5B-04C7-49D1-9A2B-ED781652479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正方形/長方形 4">
            <a:extLst xmlns:a="http://schemas.openxmlformats.org/drawingml/2006/main">
              <a:ext uri="{FF2B5EF4-FFF2-40B4-BE49-F238E27FC236}">
                <a16:creationId xmlns:a16="http://schemas.microsoft.com/office/drawing/2014/main" id="{9C54C1DF-3011-4349-A037-FFA4CE606042}"/>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OSBは細長いストランドを、層ごとに配向させて成形する</a:t>
            </a:r>
          </a:p>
        </p:txBody>
      </p:sp>
      <p:sp>
        <p:nvSpPr>
          <p:cNvPr id="6" name="正方形/長方形 5">
            <a:extLst xmlns:a="http://schemas.openxmlformats.org/drawingml/2006/main">
              <a:ext uri="{FF2B5EF4-FFF2-40B4-BE49-F238E27FC236}">
                <a16:creationId xmlns:a16="http://schemas.microsoft.com/office/drawing/2014/main" id="{68B67E44-E07D-40F0-9A9A-7635FF2C940B}"/>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表層と内層の方向を組み合わせ、面材としての性能を調整する</a:t>
            </a:r>
          </a:p>
        </p:txBody>
      </p:sp>
      <p:sp>
        <p:nvSpPr>
          <p:cNvPr id="7" name="正方形/長方形 6">
            <a:extLst xmlns:a="http://schemas.openxmlformats.org/drawingml/2006/main">
              <a:ext uri="{FF2B5EF4-FFF2-40B4-BE49-F238E27FC236}">
                <a16:creationId xmlns:a16="http://schemas.microsoft.com/office/drawing/2014/main" id="{027862A5-91CB-4239-8565-6D6A5804E45D}"/>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主軸方向とそれに直交する方向で、曲げ性能などが異なる</a:t>
            </a:r>
          </a:p>
        </p:txBody>
      </p:sp>
      <p:sp>
        <p:nvSpPr>
          <p:cNvPr id="8" name="正方形/長方形 7">
            <a:extLst xmlns:a="http://schemas.openxmlformats.org/drawingml/2006/main">
              <a:ext uri="{FF2B5EF4-FFF2-40B4-BE49-F238E27FC236}">
                <a16:creationId xmlns:a16="http://schemas.microsoft.com/office/drawing/2014/main" id="{CF446247-EEE9-438B-BF47-05FDC6AEFF4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見える木片の向きと、製品表示の評価方向を対応させる</a:t>
            </a:r>
          </a:p>
        </p:txBody>
      </p:sp>
      <p:sp>
        <p:nvSpPr>
          <p:cNvPr id="9" name="正方形/長方形 8">
            <a:extLst xmlns:a="http://schemas.openxmlformats.org/drawingml/2006/main">
              <a:ext uri="{FF2B5EF4-FFF2-40B4-BE49-F238E27FC236}">
                <a16:creationId xmlns:a16="http://schemas.microsoft.com/office/drawing/2014/main" id="{F0922F3E-90AC-47BA-9EB5-ED27183A692C}"/>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PB・MDF・OSBは要素の形と配向から区別できる</a:t>
            </a:r>
          </a:p>
        </p:txBody>
      </p:sp>
    </p:spTree>
    <p:extLst>
      <p:ext uri="{BB962C8B-B14F-4D97-AF65-F5344CB8AC3E}">
        <p14:creationId xmlns:p14="http://schemas.microsoft.com/office/powerpoint/2010/main" val="265636615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0F75297D-C738-4C54-B707-06D4CDF706B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直線矢印コネクタ 1">
            <a:extLst xmlns:a="http://schemas.openxmlformats.org/drawingml/2006/main">
              <a:ext uri="{FF2B5EF4-FFF2-40B4-BE49-F238E27FC236}">
                <a16:creationId xmlns:a16="http://schemas.microsoft.com/office/drawing/2014/main" id="{C606477C-3F4C-41DF-8E02-C2C9E1D6F65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46207D4-036F-47AE-B259-B446826A105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F21FC94F-28A0-4037-82EE-BA552A304FD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26</a:t>
            </a:r>
          </a:p>
        </p:txBody>
      </p:sp>
      <p:graphicFrame>
        <p:nvGraphicFramePr>
          <p:cNvPr id="5" name="表 4">
            <a:extLst xmlns:a="http://schemas.openxmlformats.org/drawingml/2006/main">
              <a:ext uri="{FF2B5EF4-FFF2-40B4-BE49-F238E27FC236}">
                <a16:creationId xmlns:a16="http://schemas.microsoft.com/office/drawing/2014/main" id="{CFE40A3E-AAE0-4588-821A-6F5C4001735A}"/>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a:lstStyle/>
                    <a:p>
                      <a:r>
                        <a:rPr sz="1800" b="1">
                          <a:solidFill>
                            <a:srgbClr val="FFFFFF"/>
                          </a:solidFill>
                          <a:latin typeface="Yu Gothic"/>
                          <a:ea typeface="Yu Gothic"/>
                          <a:cs typeface="Yu Gothic"/>
                        </a:rPr>
                        <a:t>材料</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主な要素</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確認すること</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r>
              <a:tr h="695325">
                <a:tc>
                  <a:txBody>
                    <a:bodyPr/>
                    <a:lstStyle/>
                    <a:p>
                      <a:r>
                        <a:rPr sz="1800" b="0">
                          <a:solidFill>
                            <a:srgbClr val="253C4D"/>
                          </a:solidFill>
                          <a:latin typeface="Yu Gothic"/>
                          <a:ea typeface="Yu Gothic"/>
                          <a:cs typeface="Yu Gothic"/>
                        </a:rPr>
                        <a:t>PB</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小片</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層・密度・接合位置</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MDF等</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繊維</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密度・加工・湿潤条件</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r h="695325">
                <a:tc>
                  <a:txBody>
                    <a:bodyPr/>
                    <a:lstStyle/>
                    <a:p>
                      <a:r>
                        <a:rPr sz="1800" b="0">
                          <a:solidFill>
                            <a:srgbClr val="253C4D"/>
                          </a:solidFill>
                          <a:latin typeface="Yu Gothic"/>
                          <a:ea typeface="Yu Gothic"/>
                          <a:cs typeface="Yu Gothic"/>
                        </a:rPr>
                        <a:t>OSB</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ストランド</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要素の配向・方向別性能</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共通</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製法・接着</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厚さ・用途・製品情報</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29387253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4787D3-8A7C-4859-A2F9-3EB53B81EE1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OSBの主軸</a:t>
            </a:r>
          </a:p>
        </p:txBody>
      </p:sp>
      <p:sp>
        <p:nvSpPr>
          <p:cNvPr id="2" name="">
            <a:extLst xmlns:a="http://schemas.openxmlformats.org/drawingml/2006/main">
              <a:ext uri="{FF2B5EF4-FFF2-40B4-BE49-F238E27FC236}">
                <a16:creationId xmlns:a16="http://schemas.microsoft.com/office/drawing/2014/main" id="{8C300CF9-E8A6-4B17-801A-5F53C0A2908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917CE2-ED25-462F-9CE4-655752FB9A2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3232D821-190B-4B44-B2E0-DE3EFD30B53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61C5EA22-2765-4258-B9F6-20E61BF4C60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パネルの主軸と支持する二辺を図示してください。板を九十度回したとき、</a:t>
            </a:r>
          </a:p>
        </p:txBody>
      </p:sp>
      <p:sp>
        <p:nvSpPr>
          <p:cNvPr id="6" name="">
            <a:extLst xmlns:a="http://schemas.openxmlformats.org/drawingml/2006/main">
              <a:ext uri="{FF2B5EF4-FFF2-40B4-BE49-F238E27FC236}">
                <a16:creationId xmlns:a16="http://schemas.microsoft.com/office/drawing/2014/main" id="{6DFB21F3-1FE6-4694-9575-1A4D3E0F1AB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同じと仮定できない性能を一つ説明してください。</a:t>
            </a:r>
          </a:p>
        </p:txBody>
      </p:sp>
      <p:sp>
        <p:nvSpPr>
          <p:cNvPr id="7" name="">
            <a:extLst xmlns:a="http://schemas.openxmlformats.org/drawingml/2006/main">
              <a:ext uri="{FF2B5EF4-FFF2-40B4-BE49-F238E27FC236}">
                <a16:creationId xmlns:a16="http://schemas.microsoft.com/office/drawing/2014/main" id="{B6D03DC2-F191-4542-9EBB-2E196D51B28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9893449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158A1AE0-253C-4078-B70D-2B7B9200170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ボードの密度</a:t>
            </a:r>
          </a:p>
        </p:txBody>
      </p:sp>
      <p:cxnSp>
        <p:nvCxnSpPr>
          <p:cNvPr id="2" name="直線矢印コネクタ 1">
            <a:extLst xmlns:a="http://schemas.openxmlformats.org/drawingml/2006/main">
              <a:ext uri="{FF2B5EF4-FFF2-40B4-BE49-F238E27FC236}">
                <a16:creationId xmlns:a16="http://schemas.microsoft.com/office/drawing/2014/main" id="{3AE87BA7-6F7F-4663-A4C1-BA498643398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637BC066-F99D-42C7-A99C-174DE7B6231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3EF8AE57-5C09-4F52-B233-305DBFE591B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28</a:t>
            </a:r>
          </a:p>
        </p:txBody>
      </p:sp>
      <p:sp>
        <p:nvSpPr>
          <p:cNvPr id="5" name="正方形/長方形 4">
            <a:extLst xmlns:a="http://schemas.openxmlformats.org/drawingml/2006/main">
              <a:ext uri="{FF2B5EF4-FFF2-40B4-BE49-F238E27FC236}">
                <a16:creationId xmlns:a16="http://schemas.microsoft.com/office/drawing/2014/main" id="{C06DE286-B12B-4453-A3F8-736AC5FD67D6}"/>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試料A：300×300×10 mm、質量630 g</a:t>
            </a:r>
          </a:p>
        </p:txBody>
      </p:sp>
      <p:sp>
        <p:nvSpPr>
          <p:cNvPr id="6" name="正方形/長方形 5">
            <a:extLst xmlns:a="http://schemas.openxmlformats.org/drawingml/2006/main">
              <a:ext uri="{FF2B5EF4-FFF2-40B4-BE49-F238E27FC236}">
                <a16:creationId xmlns:a16="http://schemas.microsoft.com/office/drawing/2014/main" id="{A375081D-2691-412C-B57F-9264AAD93180}"/>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試料B：同寸法、質量450 g</a:t>
            </a:r>
          </a:p>
        </p:txBody>
      </p:sp>
      <p:sp>
        <p:nvSpPr>
          <p:cNvPr id="7" name="正方形/長方形 6">
            <a:extLst xmlns:a="http://schemas.openxmlformats.org/drawingml/2006/main">
              <a:ext uri="{FF2B5EF4-FFF2-40B4-BE49-F238E27FC236}">
                <a16:creationId xmlns:a16="http://schemas.microsoft.com/office/drawing/2014/main" id="{D26A0DE3-D515-42BE-AC25-C4DF1AB35DD4}"/>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体積と密度を求める</a:t>
            </a:r>
          </a:p>
        </p:txBody>
      </p:sp>
      <p:sp>
        <p:nvSpPr>
          <p:cNvPr id="8" name="正方形/長方形 7">
            <a:extLst xmlns:a="http://schemas.openxmlformats.org/drawingml/2006/main">
              <a:ext uri="{FF2B5EF4-FFF2-40B4-BE49-F238E27FC236}">
                <a16:creationId xmlns:a16="http://schemas.microsoft.com/office/drawing/2014/main" id="{5282D3CF-838E-442F-ADB3-1E9759D7253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密度だけで、ねじ保持や耐湿性まで順位付けできるか？</a:t>
            </a:r>
          </a:p>
        </p:txBody>
      </p:sp>
    </p:spTree>
    <p:extLst>
      <p:ext uri="{BB962C8B-B14F-4D97-AF65-F5344CB8AC3E}">
        <p14:creationId xmlns:p14="http://schemas.microsoft.com/office/powerpoint/2010/main" val="14292118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DD06B04A-CBC8-46D8-A09C-63685CC5221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ボードの密度</a:t>
            </a:r>
          </a:p>
        </p:txBody>
      </p:sp>
      <p:cxnSp>
        <p:nvCxnSpPr>
          <p:cNvPr id="2" name="直線矢印コネクタ 1">
            <a:extLst xmlns:a="http://schemas.openxmlformats.org/drawingml/2006/main">
              <a:ext uri="{FF2B5EF4-FFF2-40B4-BE49-F238E27FC236}">
                <a16:creationId xmlns:a16="http://schemas.microsoft.com/office/drawing/2014/main" id="{62BBA138-5400-4BA4-B0E5-41AA5F4ABEB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1807F5E-45A9-4B35-A620-E8BD279B2F7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6B624227-7DD8-4280-8935-C1F9D29C275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29</a:t>
            </a:r>
          </a:p>
        </p:txBody>
      </p:sp>
      <p:sp>
        <p:nvSpPr>
          <p:cNvPr id="5" name="正方形/長方形 4">
            <a:extLst xmlns:a="http://schemas.openxmlformats.org/drawingml/2006/main">
              <a:ext uri="{FF2B5EF4-FFF2-40B4-BE49-F238E27FC236}">
                <a16:creationId xmlns:a16="http://schemas.microsoft.com/office/drawing/2014/main" id="{FCC85A71-6A6F-4D5F-B764-F8B3B809A8E5}"/>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体積 = 900 cm³</a:t>
            </a:r>
          </a:p>
        </p:txBody>
      </p:sp>
      <p:sp>
        <p:nvSpPr>
          <p:cNvPr id="6" name="正方形/長方形 5">
            <a:extLst xmlns:a="http://schemas.openxmlformats.org/drawingml/2006/main">
              <a:ext uri="{FF2B5EF4-FFF2-40B4-BE49-F238E27FC236}">
                <a16:creationId xmlns:a16="http://schemas.microsoft.com/office/drawing/2014/main" id="{08E8EBAD-FED6-4A72-8D56-4C0ED72F13A7}"/>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A：0.700 g/cm³ = 700 kg/m³</a:t>
            </a:r>
          </a:p>
        </p:txBody>
      </p:sp>
      <p:sp>
        <p:nvSpPr>
          <p:cNvPr id="7" name="正方形/長方形 6">
            <a:extLst xmlns:a="http://schemas.openxmlformats.org/drawingml/2006/main">
              <a:ext uri="{FF2B5EF4-FFF2-40B4-BE49-F238E27FC236}">
                <a16:creationId xmlns:a16="http://schemas.microsoft.com/office/drawing/2014/main" id="{234480FE-550B-4613-9009-23077E90A41A}"/>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B：0.500 g/cm³ = 500 kg/m³</a:t>
            </a:r>
          </a:p>
        </p:txBody>
      </p:sp>
      <p:sp>
        <p:nvSpPr>
          <p:cNvPr id="8" name="正方形/長方形 7">
            <a:extLst xmlns:a="http://schemas.openxmlformats.org/drawingml/2006/main">
              <a:ext uri="{FF2B5EF4-FFF2-40B4-BE49-F238E27FC236}">
                <a16:creationId xmlns:a16="http://schemas.microsoft.com/office/drawing/2014/main" id="{C0615025-C0B2-420C-BE45-9334A2D243BC}"/>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接合・耐湿性等には、製品別データが必要</a:t>
            </a:r>
          </a:p>
        </p:txBody>
      </p:sp>
    </p:spTree>
    <p:extLst>
      <p:ext uri="{BB962C8B-B14F-4D97-AF65-F5344CB8AC3E}">
        <p14:creationId xmlns:p14="http://schemas.microsoft.com/office/powerpoint/2010/main" val="217939847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8694EF94-9A78-4393-8091-8BDE1577D98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ボード類の性能を比較する項目</a:t>
            </a:r>
          </a:p>
        </p:txBody>
      </p:sp>
      <p:cxnSp>
        <p:nvCxnSpPr>
          <p:cNvPr id="2" name="直線矢印コネクタ 1">
            <a:extLst xmlns:a="http://schemas.openxmlformats.org/drawingml/2006/main">
              <a:ext uri="{FF2B5EF4-FFF2-40B4-BE49-F238E27FC236}">
                <a16:creationId xmlns:a16="http://schemas.microsoft.com/office/drawing/2014/main" id="{C0AE0930-A3F5-4ED3-A373-5C30520C15E5}"/>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D865255-35B5-479F-BE95-29A23C46153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正方形/長方形 3">
            <a:extLst xmlns:a="http://schemas.openxmlformats.org/drawingml/2006/main">
              <a:ext uri="{FF2B5EF4-FFF2-40B4-BE49-F238E27FC236}">
                <a16:creationId xmlns:a16="http://schemas.microsoft.com/office/drawing/2014/main" id="{EF47C1CA-5401-4125-9315-CA93D30D510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正方形/長方形 4">
            <a:extLst xmlns:a="http://schemas.openxmlformats.org/drawingml/2006/main">
              <a:ext uri="{FF2B5EF4-FFF2-40B4-BE49-F238E27FC236}">
                <a16:creationId xmlns:a16="http://schemas.microsoft.com/office/drawing/2014/main" id="{9063F208-BB8F-48E7-AB60-F99082AA5DC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密度：体積当たりの質量。含水状態も記録する</a:t>
            </a:r>
          </a:p>
        </p:txBody>
      </p:sp>
      <p:sp>
        <p:nvSpPr>
          <p:cNvPr id="6" name="正方形/長方形 5">
            <a:extLst xmlns:a="http://schemas.openxmlformats.org/drawingml/2006/main">
              <a:ext uri="{FF2B5EF4-FFF2-40B4-BE49-F238E27FC236}">
                <a16:creationId xmlns:a16="http://schemas.microsoft.com/office/drawing/2014/main" id="{C44CFC9F-8AD2-482F-9453-C8909E3ADC31}"/>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曲げ：厚さ、主軸方向、試験の支点間距離などをそろえる</a:t>
            </a:r>
          </a:p>
        </p:txBody>
      </p:sp>
      <p:sp>
        <p:nvSpPr>
          <p:cNvPr id="7" name="正方形/長方形 6">
            <a:extLst xmlns:a="http://schemas.openxmlformats.org/drawingml/2006/main">
              <a:ext uri="{FF2B5EF4-FFF2-40B4-BE49-F238E27FC236}">
                <a16:creationId xmlns:a16="http://schemas.microsoft.com/office/drawing/2014/main" id="{9BCA3682-09D2-4DB4-B534-B230871C328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ねじ保持：面か端面か、ねじ径・下穴・端距離などを確認する</a:t>
            </a:r>
          </a:p>
        </p:txBody>
      </p:sp>
      <p:sp>
        <p:nvSpPr>
          <p:cNvPr id="8" name="正方形/長方形 7">
            <a:extLst xmlns:a="http://schemas.openxmlformats.org/drawingml/2006/main">
              <a:ext uri="{FF2B5EF4-FFF2-40B4-BE49-F238E27FC236}">
                <a16:creationId xmlns:a16="http://schemas.microsoft.com/office/drawing/2014/main" id="{429FBEEC-3778-4541-8629-EFED32D58E50}"/>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水分：吸水、厚さ膨張、接着性能と、使用環境を確認する</a:t>
            </a:r>
          </a:p>
        </p:txBody>
      </p:sp>
      <p:sp>
        <p:nvSpPr>
          <p:cNvPr id="9" name="正方形/長方形 8">
            <a:extLst xmlns:a="http://schemas.openxmlformats.org/drawingml/2006/main">
              <a:ext uri="{FF2B5EF4-FFF2-40B4-BE49-F238E27FC236}">
                <a16:creationId xmlns:a16="http://schemas.microsoft.com/office/drawing/2014/main" id="{70A0908A-3601-46C5-A0F1-8CC0C283C797}"/>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化粧面だけで内部を判断せず、断面と製品情報を読む</a:t>
            </a:r>
          </a:p>
        </p:txBody>
      </p:sp>
    </p:spTree>
    <p:extLst>
      <p:ext uri="{BB962C8B-B14F-4D97-AF65-F5344CB8AC3E}">
        <p14:creationId xmlns:p14="http://schemas.microsoft.com/office/powerpoint/2010/main" val="12574522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FF1230-A3BC-4CE3-913F-45712D3F03E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密度と材料選択</a:t>
            </a:r>
          </a:p>
        </p:txBody>
      </p:sp>
      <p:sp>
        <p:nvSpPr>
          <p:cNvPr id="2" name="">
            <a:extLst xmlns:a="http://schemas.openxmlformats.org/drawingml/2006/main">
              <a:ext uri="{FF2B5EF4-FFF2-40B4-BE49-F238E27FC236}">
                <a16:creationId xmlns:a16="http://schemas.microsoft.com/office/drawing/2014/main" id="{DC7E2628-983B-4FC5-BF32-F61245860A1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4043A1-B043-4389-8252-A00E166ECAD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472088A8-002A-4AAB-AAAC-CAF76A3DA35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714FE326-0C6B-4DBE-914F-F8231DB32C5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密度が高いという結果から、ねじ保持、耐湿性、加工性が全て優れると結論</a:t>
            </a:r>
          </a:p>
        </p:txBody>
      </p:sp>
      <p:sp>
        <p:nvSpPr>
          <p:cNvPr id="6" name="">
            <a:extLst xmlns:a="http://schemas.openxmlformats.org/drawingml/2006/main">
              <a:ext uri="{FF2B5EF4-FFF2-40B4-BE49-F238E27FC236}">
                <a16:creationId xmlns:a16="http://schemas.microsoft.com/office/drawing/2014/main" id="{EE29530C-302E-410A-AD2B-45EE0D7D760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できるでしょうか。必要な追加情報を整理してください。</a:t>
            </a:r>
          </a:p>
        </p:txBody>
      </p:sp>
      <p:sp>
        <p:nvSpPr>
          <p:cNvPr id="7" name="">
            <a:extLst xmlns:a="http://schemas.openxmlformats.org/drawingml/2006/main">
              <a:ext uri="{FF2B5EF4-FFF2-40B4-BE49-F238E27FC236}">
                <a16:creationId xmlns:a16="http://schemas.microsoft.com/office/drawing/2014/main" id="{1B582937-FA02-4978-8247-91306E89569D}"/>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69936493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916782-CF84-4B94-A616-0B209DFD0B5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B3702F15-FCE0-4AB0-AC03-853CC2AAF5A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9A5E9D-DB30-449F-A56A-BF28A7DFD24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D2EE5041-5B74-4E23-95ED-EF591E22F11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BB655C66-D5D4-4F19-9207-2B631F205965}"/>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115E9795-FEB7-4A3B-95E7-8A092AEFC606}"/>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7498137A-3B3F-4DCA-9A2D-709DB6B1C09B}"/>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F2BDE60-C9B9-416F-9C40-1E66F2E69038}"/>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教室の家具側板を選ぶへ進みます。</a:t>
            </a:r>
          </a:p>
        </p:txBody>
      </p:sp>
    </p:spTree>
    <p:extLst>
      <p:ext uri="{BB962C8B-B14F-4D97-AF65-F5344CB8AC3E}">
        <p14:creationId xmlns:p14="http://schemas.microsoft.com/office/powerpoint/2010/main" val="145890686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D6C187-0756-4B24-92C0-619BF3A06D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教室の家具側板を選ぶ</a:t>
            </a:r>
          </a:p>
        </p:txBody>
      </p:sp>
      <p:sp>
        <p:nvSpPr>
          <p:cNvPr id="2" name="">
            <a:extLst xmlns:a="http://schemas.openxmlformats.org/drawingml/2006/main">
              <a:ext uri="{FF2B5EF4-FFF2-40B4-BE49-F238E27FC236}">
                <a16:creationId xmlns:a16="http://schemas.microsoft.com/office/drawing/2014/main" id="{DA3252C0-BAFF-4755-97CB-E066B43B450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EFA625-EB30-4BD7-A29B-8C148AC8741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8A29D585-FF97-45C6-8504-A4499BCA8E5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82652638-268B-4DA1-8C1D-34C309D9A43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候補：合板・PB・MDF。荷重、材厚、接合位置を指定</a:t>
            </a:r>
          </a:p>
        </p:txBody>
      </p:sp>
      <p:sp>
        <p:nvSpPr>
          <p:cNvPr id="6" name="">
            <a:extLst xmlns:a="http://schemas.openxmlformats.org/drawingml/2006/main">
              <a:ext uri="{FF2B5EF4-FFF2-40B4-BE49-F238E27FC236}">
                <a16:creationId xmlns:a16="http://schemas.microsoft.com/office/drawing/2014/main" id="{B6092CA1-53A1-4E07-8176-D5DA494B265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断面と表面から、要素と向きを説明する</a:t>
            </a:r>
          </a:p>
        </p:txBody>
      </p:sp>
      <p:sp>
        <p:nvSpPr>
          <p:cNvPr id="7" name="">
            <a:extLst xmlns:a="http://schemas.openxmlformats.org/drawingml/2006/main">
              <a:ext uri="{FF2B5EF4-FFF2-40B4-BE49-F238E27FC236}">
                <a16:creationId xmlns:a16="http://schemas.microsoft.com/office/drawing/2014/main" id="{DE7993BE-A3EB-4824-8A40-46EB3E3E8DF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面／端面のねじ保持、濡れ方、表面仕上げを確認</a:t>
            </a:r>
          </a:p>
        </p:txBody>
      </p:sp>
      <p:sp>
        <p:nvSpPr>
          <p:cNvPr id="8" name="">
            <a:extLst xmlns:a="http://schemas.openxmlformats.org/drawingml/2006/main">
              <a:ext uri="{FF2B5EF4-FFF2-40B4-BE49-F238E27FC236}">
                <a16:creationId xmlns:a16="http://schemas.microsoft.com/office/drawing/2014/main" id="{862D2E6E-E8F4-4C19-A26C-D78D917BDD7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採用の条件、不足情報、確かめる試験を記述する</a:t>
            </a:r>
          </a:p>
        </p:txBody>
      </p:sp>
    </p:spTree>
    <p:extLst>
      <p:ext uri="{BB962C8B-B14F-4D97-AF65-F5344CB8AC3E}">
        <p14:creationId xmlns:p14="http://schemas.microsoft.com/office/powerpoint/2010/main" val="14766484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3E688E-85F2-426C-A985-0FB71E69721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材料選択の解説：値と、使う条件</a:t>
            </a:r>
          </a:p>
        </p:txBody>
      </p:sp>
      <p:sp>
        <p:nvSpPr>
          <p:cNvPr id="2" name="">
            <a:extLst xmlns:a="http://schemas.openxmlformats.org/drawingml/2006/main">
              <a:ext uri="{FF2B5EF4-FFF2-40B4-BE49-F238E27FC236}">
                <a16:creationId xmlns:a16="http://schemas.microsoft.com/office/drawing/2014/main" id="{76B9E4A2-54AF-45CE-AE21-371905C65C8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D31064-93EC-4573-B57C-6A6D2D13A4D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4AF1EB10-4BC7-45AF-A1AD-26A6CE71D75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21E65D30-F8CA-4615-B0F8-814BC3F3AFF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密度の大小だけで、ねじ保持や耐湿性を決めない</a:t>
            </a:r>
          </a:p>
        </p:txBody>
      </p:sp>
      <p:sp>
        <p:nvSpPr>
          <p:cNvPr id="6" name="">
            <a:extLst xmlns:a="http://schemas.openxmlformats.org/drawingml/2006/main">
              <a:ext uri="{FF2B5EF4-FFF2-40B4-BE49-F238E27FC236}">
                <a16:creationId xmlns:a16="http://schemas.microsoft.com/office/drawing/2014/main" id="{3CB3C56B-56DD-4F54-AE5D-A72DDA92CF3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方向・厚さ・支点間距離と、試験条件をそろえる</a:t>
            </a:r>
          </a:p>
        </p:txBody>
      </p:sp>
      <p:sp>
        <p:nvSpPr>
          <p:cNvPr id="7" name="">
            <a:extLst xmlns:a="http://schemas.openxmlformats.org/drawingml/2006/main">
              <a:ext uri="{FF2B5EF4-FFF2-40B4-BE49-F238E27FC236}">
                <a16:creationId xmlns:a16="http://schemas.microsoft.com/office/drawing/2014/main" id="{8071CAA0-F6FC-42F0-9E48-67F5135B811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接着の耐水性と、吸水・厚さ膨張・腐朽を分ける</a:t>
            </a:r>
          </a:p>
        </p:txBody>
      </p:sp>
      <p:sp>
        <p:nvSpPr>
          <p:cNvPr id="8" name="">
            <a:extLst xmlns:a="http://schemas.openxmlformats.org/drawingml/2006/main">
              <a:ext uri="{FF2B5EF4-FFF2-40B4-BE49-F238E27FC236}">
                <a16:creationId xmlns:a16="http://schemas.microsoft.com/office/drawing/2014/main" id="{80588905-04A7-4E8B-A681-9BDE5E11246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構造用途は製品の等級・表示・適用条件を確認する</a:t>
            </a:r>
          </a:p>
        </p:txBody>
      </p:sp>
    </p:spTree>
    <p:extLst>
      <p:ext uri="{BB962C8B-B14F-4D97-AF65-F5344CB8AC3E}">
        <p14:creationId xmlns:p14="http://schemas.microsoft.com/office/powerpoint/2010/main" val="43539097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C0DB79-4871-4646-BB11-DE43D9E1F68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確認：要素と配向を、一枚の表へ</a:t>
            </a:r>
          </a:p>
        </p:txBody>
      </p:sp>
      <p:sp>
        <p:nvSpPr>
          <p:cNvPr id="2" name="">
            <a:extLst xmlns:a="http://schemas.openxmlformats.org/drawingml/2006/main">
              <a:ext uri="{FF2B5EF4-FFF2-40B4-BE49-F238E27FC236}">
                <a16:creationId xmlns:a16="http://schemas.microsoft.com/office/drawing/2014/main" id="{CFF9E6D8-2903-4028-AE07-39FF3243EC3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37F10D-3A53-4618-A4A7-427F8B8C8AE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DF7E3AF2-B916-42B9-A424-8E53D9C24B2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473321CC-DA0A-4E46-AB0E-93DEAEA32FAE}"/>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合板・LVL・PB・MDF・OSBを分類する</a:t>
            </a:r>
          </a:p>
        </p:txBody>
      </p:sp>
      <p:sp>
        <p:nvSpPr>
          <p:cNvPr id="6" name="">
            <a:extLst xmlns:a="http://schemas.openxmlformats.org/drawingml/2006/main">
              <a:ext uri="{FF2B5EF4-FFF2-40B4-BE49-F238E27FC236}">
                <a16:creationId xmlns:a16="http://schemas.microsoft.com/office/drawing/2014/main" id="{89F59CFB-CED0-4F93-85D2-15A8A18B968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主な要素、配向、観察箇所、確認する性能を記入</a:t>
            </a:r>
          </a:p>
        </p:txBody>
      </p:sp>
      <p:sp>
        <p:nvSpPr>
          <p:cNvPr id="7" name="">
            <a:extLst xmlns:a="http://schemas.openxmlformats.org/drawingml/2006/main">
              <a:ext uri="{FF2B5EF4-FFF2-40B4-BE49-F238E27FC236}">
                <a16:creationId xmlns:a16="http://schemas.microsoft.com/office/drawing/2014/main" id="{C7B3CE66-A96E-4CE3-B4ED-6872B16A65D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「接着した板は全て耐水」の説明を修正する</a:t>
            </a:r>
          </a:p>
        </p:txBody>
      </p:sp>
      <p:sp>
        <p:nvSpPr>
          <p:cNvPr id="8" name="">
            <a:extLst xmlns:a="http://schemas.openxmlformats.org/drawingml/2006/main">
              <a:ext uri="{FF2B5EF4-FFF2-40B4-BE49-F238E27FC236}">
                <a16:creationId xmlns:a16="http://schemas.microsoft.com/office/drawing/2014/main" id="{DE73C3F1-58FE-4318-9334-200380123F2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次回は、ひき板を使う集成材とCLTへ</a:t>
            </a:r>
          </a:p>
        </p:txBody>
      </p:sp>
    </p:spTree>
    <p:extLst>
      <p:ext uri="{BB962C8B-B14F-4D97-AF65-F5344CB8AC3E}">
        <p14:creationId xmlns:p14="http://schemas.microsoft.com/office/powerpoint/2010/main" val="154460959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6BC6CF-8C35-43F8-A715-65B672A2070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自己確認　中学生への説明</a:t>
            </a:r>
          </a:p>
        </p:txBody>
      </p:sp>
      <p:sp>
        <p:nvSpPr>
          <p:cNvPr id="2" name="">
            <a:extLst xmlns:a="http://schemas.openxmlformats.org/drawingml/2006/main">
              <a:ext uri="{FF2B5EF4-FFF2-40B4-BE49-F238E27FC236}">
                <a16:creationId xmlns:a16="http://schemas.microsoft.com/office/drawing/2014/main" id="{59606BCA-7376-471A-BA7C-8F60C829642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A3C9BC-3F4A-4A79-AAAB-015F8AB49DD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7C6143A4-4DE7-4F67-9AD2-6D46495FF03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FAE51CE3-2071-496E-9EAC-0C65059ED8C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五つの製品を、表面の見た目だけで選ばないための発問を一つ作り、生徒が</a:t>
            </a:r>
          </a:p>
        </p:txBody>
      </p:sp>
      <p:sp>
        <p:nvSpPr>
          <p:cNvPr id="6" name="">
            <a:extLst xmlns:a="http://schemas.openxmlformats.org/drawingml/2006/main">
              <a:ext uri="{FF2B5EF4-FFF2-40B4-BE49-F238E27FC236}">
                <a16:creationId xmlns:a16="http://schemas.microsoft.com/office/drawing/2014/main" id="{E4FD8008-B676-4FFD-89F3-87F0833AD7E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示す図や記録を考えてください。</a:t>
            </a:r>
          </a:p>
        </p:txBody>
      </p:sp>
      <p:sp>
        <p:nvSpPr>
          <p:cNvPr id="7" name="">
            <a:extLst xmlns:a="http://schemas.openxmlformats.org/drawingml/2006/main">
              <a:ext uri="{FF2B5EF4-FFF2-40B4-BE49-F238E27FC236}">
                <a16:creationId xmlns:a16="http://schemas.microsoft.com/office/drawing/2014/main" id="{59C17D97-1F8E-44B9-A259-91766C89B5C7}"/>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自己確認用。提出課題の追加ではありません。</a:t>
            </a:r>
          </a:p>
        </p:txBody>
      </p:sp>
    </p:spTree>
    <p:extLst>
      <p:ext uri="{BB962C8B-B14F-4D97-AF65-F5344CB8AC3E}">
        <p14:creationId xmlns:p14="http://schemas.microsoft.com/office/powerpoint/2010/main" val="101579379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3A7E48-6974-45FB-B8BD-99C6B97E366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a:t>
            </a:r>
          </a:p>
        </p:txBody>
      </p:sp>
      <p:sp>
        <p:nvSpPr>
          <p:cNvPr id="2" name="">
            <a:extLst xmlns:a="http://schemas.openxmlformats.org/drawingml/2006/main">
              <a:ext uri="{FF2B5EF4-FFF2-40B4-BE49-F238E27FC236}">
                <a16:creationId xmlns:a16="http://schemas.microsoft.com/office/drawing/2014/main" id="{9FC95FD1-F5C0-4F72-94D1-80B2A44587E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3B68EC-722C-4326-9ECF-D1DC164613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第12回</a:t>
            </a:r>
          </a:p>
        </p:txBody>
      </p:sp>
      <p:sp>
        <p:nvSpPr>
          <p:cNvPr id="4" name="">
            <a:extLst xmlns:a="http://schemas.openxmlformats.org/drawingml/2006/main">
              <a:ext uri="{FF2B5EF4-FFF2-40B4-BE49-F238E27FC236}">
                <a16:creationId xmlns:a16="http://schemas.microsoft.com/office/drawing/2014/main" id="{EA0527B0-3DF1-44AF-B4D8-4770C4E846B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72FB4794-46B4-41FF-8623-3529205F11B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Wood Handbook 2021 第10章：接着の形成と性能</a:t>
            </a:r>
          </a:p>
        </p:txBody>
      </p:sp>
      <p:sp>
        <p:nvSpPr>
          <p:cNvPr id="6" name="">
            <a:extLst xmlns:a="http://schemas.openxmlformats.org/drawingml/2006/main">
              <a:ext uri="{FF2B5EF4-FFF2-40B4-BE49-F238E27FC236}">
                <a16:creationId xmlns:a16="http://schemas.microsoft.com/office/drawing/2014/main" id="{A80E85EF-D418-404C-BCEA-F178BCA8C75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第11章：木質材料の要素・製法・構成</a:t>
            </a:r>
          </a:p>
        </p:txBody>
      </p:sp>
      <p:sp>
        <p:nvSpPr>
          <p:cNvPr id="7" name="">
            <a:extLst xmlns:a="http://schemas.openxmlformats.org/drawingml/2006/main">
              <a:ext uri="{FF2B5EF4-FFF2-40B4-BE49-F238E27FC236}">
                <a16:creationId xmlns:a16="http://schemas.microsoft.com/office/drawing/2014/main" id="{7D8B1343-2BC8-46F0-BD89-0099ACE199E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第12章：木質材料の力学的性質</a:t>
            </a:r>
          </a:p>
        </p:txBody>
      </p:sp>
      <p:sp>
        <p:nvSpPr>
          <p:cNvPr id="8" name="">
            <a:extLst xmlns:a="http://schemas.openxmlformats.org/drawingml/2006/main">
              <a:ext uri="{FF2B5EF4-FFF2-40B4-BE49-F238E27FC236}">
                <a16:creationId xmlns:a16="http://schemas.microsoft.com/office/drawing/2014/main" id="{235A4D32-7E0C-4589-B320-AB2160743DC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原典の対象と、製品・方向・湿潤条件を確かめる</a:t>
            </a:r>
          </a:p>
        </p:txBody>
      </p:sp>
    </p:spTree>
    <p:extLst>
      <p:ext uri="{BB962C8B-B14F-4D97-AF65-F5344CB8AC3E}">
        <p14:creationId xmlns:p14="http://schemas.microsoft.com/office/powerpoint/2010/main" val="807382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2026-10-27T23:46:22.6660000Z</dcterms:created>
  <dcterms:modified xsi:type="dcterms:W3CDTF">2026-10-27T23:46:22.6670000Z</dcterms:modified>
</coreProperties>
</file>