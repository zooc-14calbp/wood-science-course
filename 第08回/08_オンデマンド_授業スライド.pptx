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1.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dfa4b3718fb40f6" /><Relationship Type="http://schemas.openxmlformats.org/officeDocument/2006/relationships/extended-properties" Target="/docProps/app.xml" Id="Rc5919839ea4d4706" /><Relationship Type="http://schemas.openxmlformats.org/officeDocument/2006/relationships/officeDocument" Target="/ppt/presentation.xml" Id="R4afc7f2529184a14" /></Relationships>
</file>

<file path=ppt/presentation.xml><?xml version="1.0" encoding="utf-8"?>
<p:presentation xmlns:p="http://schemas.openxmlformats.org/presentationml/2006/main">
  <p:sldMasterIdLst>
    <p:sldMasterId xmlns:r="http://schemas.openxmlformats.org/officeDocument/2006/relationships" id="2147483648" r:id="R85a4cca645c54fa6"/>
    <p:sldMasterId xmlns:r="http://schemas.openxmlformats.org/officeDocument/2006/relationships" id="2147483655" r:id="R36f253397d8a43f3"/>
  </p:sldMasterIdLst>
  <p:notesMasterIdLst>
    <p:notesMasterId xmlns:r="http://schemas.openxmlformats.org/officeDocument/2006/relationships" r:id="R38ef42ab440a4ad0"/>
  </p:notesMasterIdLst>
  <p:sldIdLst>
    <p:sldId xmlns:r="http://schemas.openxmlformats.org/officeDocument/2006/relationships" id="256" r:id="R4a9adaaaccea42b2"/>
    <p:sldId xmlns:r="http://schemas.openxmlformats.org/officeDocument/2006/relationships" id="257" r:id="R58442c42154a4100"/>
    <p:sldId xmlns:r="http://schemas.openxmlformats.org/officeDocument/2006/relationships" id="258" r:id="R1c1e6a4857df46ac"/>
    <p:sldId xmlns:r="http://schemas.openxmlformats.org/officeDocument/2006/relationships" id="259" r:id="R4cbb3ea650544729"/>
    <p:sldId xmlns:r="http://schemas.openxmlformats.org/officeDocument/2006/relationships" id="260" r:id="R5988d81f19584494"/>
    <p:sldId xmlns:r="http://schemas.openxmlformats.org/officeDocument/2006/relationships" id="261" r:id="R961b420f761a4870"/>
    <p:sldId xmlns:r="http://schemas.openxmlformats.org/officeDocument/2006/relationships" id="262" r:id="Rb19172374b764515"/>
    <p:sldId xmlns:r="http://schemas.openxmlformats.org/officeDocument/2006/relationships" id="263" r:id="R5b6a6190623a4f00"/>
    <p:sldId xmlns:r="http://schemas.openxmlformats.org/officeDocument/2006/relationships" id="264" r:id="R6c3c61f83b484668"/>
    <p:sldId xmlns:r="http://schemas.openxmlformats.org/officeDocument/2006/relationships" id="265" r:id="R6abbb9ffba2340ca"/>
    <p:sldId xmlns:r="http://schemas.openxmlformats.org/officeDocument/2006/relationships" id="266" r:id="R71837f69c26d4dde"/>
    <p:sldId xmlns:r="http://schemas.openxmlformats.org/officeDocument/2006/relationships" id="267" r:id="R0381854a7a67439a"/>
    <p:sldId xmlns:r="http://schemas.openxmlformats.org/officeDocument/2006/relationships" id="268" r:id="Rf2970fad2a564e1a"/>
    <p:sldId xmlns:r="http://schemas.openxmlformats.org/officeDocument/2006/relationships" id="269" r:id="R8eb116071c704581"/>
    <p:sldId xmlns:r="http://schemas.openxmlformats.org/officeDocument/2006/relationships" id="270" r:id="R96e874d9bf46461e"/>
    <p:sldId xmlns:r="http://schemas.openxmlformats.org/officeDocument/2006/relationships" id="271" r:id="Re86a163f169f480a"/>
    <p:sldId xmlns:r="http://schemas.openxmlformats.org/officeDocument/2006/relationships" id="272" r:id="Rd83aa59033854b62"/>
    <p:sldId xmlns:r="http://schemas.openxmlformats.org/officeDocument/2006/relationships" id="273" r:id="Ra875a06540a247dd"/>
    <p:sldId xmlns:r="http://schemas.openxmlformats.org/officeDocument/2006/relationships" id="274" r:id="Rcbdd99ebfaac4f7f"/>
    <p:sldId xmlns:r="http://schemas.openxmlformats.org/officeDocument/2006/relationships" id="275" r:id="R30f61ba4f8f94781"/>
    <p:sldId xmlns:r="http://schemas.openxmlformats.org/officeDocument/2006/relationships" id="276" r:id="R5c3faf8fa60545b8"/>
    <p:sldId xmlns:r="http://schemas.openxmlformats.org/officeDocument/2006/relationships" id="277" r:id="R2fd52d1e7fd54672"/>
    <p:sldId xmlns:r="http://schemas.openxmlformats.org/officeDocument/2006/relationships" id="278" r:id="R067a9465b1434dc6"/>
    <p:sldId xmlns:r="http://schemas.openxmlformats.org/officeDocument/2006/relationships" id="279" r:id="Rdf11af1233e54470"/>
    <p:sldId xmlns:r="http://schemas.openxmlformats.org/officeDocument/2006/relationships" id="280" r:id="R6617c398aa414195"/>
    <p:sldId xmlns:r="http://schemas.openxmlformats.org/officeDocument/2006/relationships" id="281" r:id="R4b8c13f1b2a7441b"/>
    <p:sldId xmlns:r="http://schemas.openxmlformats.org/officeDocument/2006/relationships" id="282" r:id="R4d14cc9e8d054f4a"/>
    <p:sldId xmlns:r="http://schemas.openxmlformats.org/officeDocument/2006/relationships" id="283" r:id="Rccdb01510ca4457f"/>
    <p:sldId xmlns:r="http://schemas.openxmlformats.org/officeDocument/2006/relationships" id="284" r:id="R7b1953ee067a4b45"/>
    <p:sldId xmlns:r="http://schemas.openxmlformats.org/officeDocument/2006/relationships" id="285" r:id="Rc2eefe5e2a47421c"/>
    <p:sldId xmlns:r="http://schemas.openxmlformats.org/officeDocument/2006/relationships" id="286" r:id="R47b55744a1214da5"/>
    <p:sldId xmlns:r="http://schemas.openxmlformats.org/officeDocument/2006/relationships" id="287" r:id="R68b0bc3127c249e2"/>
    <p:sldId xmlns:r="http://schemas.openxmlformats.org/officeDocument/2006/relationships" id="288" r:id="R7daf2e9561b84e3b"/>
    <p:sldId xmlns:r="http://schemas.openxmlformats.org/officeDocument/2006/relationships" id="289" r:id="R180bd4e6beb74979"/>
    <p:sldId xmlns:r="http://schemas.openxmlformats.org/officeDocument/2006/relationships" id="290" r:id="R66fef0a37f174d1f"/>
    <p:sldId xmlns:r="http://schemas.openxmlformats.org/officeDocument/2006/relationships" id="291" r:id="Re858a5fbc5784de3"/>
    <p:sldId xmlns:r="http://schemas.openxmlformats.org/officeDocument/2006/relationships" id="292" r:id="R6fbb61631fa648ce"/>
    <p:sldId xmlns:r="http://schemas.openxmlformats.org/officeDocument/2006/relationships" id="293" r:id="Rbeaac0654f454f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9a1874f47c4414" /><Relationship Type="http://schemas.openxmlformats.org/officeDocument/2006/relationships/slideMaster" Target="/ppt/slideMasters/slideMaster1.xml" Id="R85a4cca645c54fa6" /><Relationship Type="http://schemas.openxmlformats.org/officeDocument/2006/relationships/slideMaster" Target="/ppt/slideMasters/slideMaster2.xml" Id="R36f253397d8a43f3" /><Relationship Type="http://schemas.openxmlformats.org/officeDocument/2006/relationships/notesMaster" Target="/ppt/notesMasters/notesMaster1.xml" Id="R38ef42ab440a4ad0" /><Relationship Type="http://schemas.openxmlformats.org/officeDocument/2006/relationships/presProps" Target="/ppt/presProps.xml" Id="R511367d36d5042ab" /><Relationship Type="http://schemas.openxmlformats.org/officeDocument/2006/relationships/tableStyles" Target="/ppt/tableStyles.xml" Id="R23606d74326e4b98" /><Relationship Type="http://schemas.openxmlformats.org/officeDocument/2006/relationships/slide" Target="/ppt/slides/slide1.xml" Id="R4a9adaaaccea42b2" /><Relationship Type="http://schemas.openxmlformats.org/officeDocument/2006/relationships/slide" Target="/ppt/slides/slide2.xml" Id="R58442c42154a4100" /><Relationship Type="http://schemas.openxmlformats.org/officeDocument/2006/relationships/slide" Target="/ppt/slides/slide3.xml" Id="R1c1e6a4857df46ac" /><Relationship Type="http://schemas.openxmlformats.org/officeDocument/2006/relationships/slide" Target="/ppt/slides/slide4.xml" Id="R4cbb3ea650544729" /><Relationship Type="http://schemas.openxmlformats.org/officeDocument/2006/relationships/slide" Target="/ppt/slides/slide5.xml" Id="R5988d81f19584494" /><Relationship Type="http://schemas.openxmlformats.org/officeDocument/2006/relationships/slide" Target="/ppt/slides/slide6.xml" Id="R961b420f761a4870" /><Relationship Type="http://schemas.openxmlformats.org/officeDocument/2006/relationships/slide" Target="/ppt/slides/slide7.xml" Id="Rb19172374b764515" /><Relationship Type="http://schemas.openxmlformats.org/officeDocument/2006/relationships/slide" Target="/ppt/slides/slide8.xml" Id="R5b6a6190623a4f00" /><Relationship Type="http://schemas.openxmlformats.org/officeDocument/2006/relationships/slide" Target="/ppt/slides/slide9.xml" Id="R6c3c61f83b484668" /><Relationship Type="http://schemas.openxmlformats.org/officeDocument/2006/relationships/slide" Target="/ppt/slides/slide10.xml" Id="R6abbb9ffba2340ca" /><Relationship Type="http://schemas.openxmlformats.org/officeDocument/2006/relationships/slide" Target="/ppt/slides/slide11.xml" Id="R71837f69c26d4dde" /><Relationship Type="http://schemas.openxmlformats.org/officeDocument/2006/relationships/slide" Target="/ppt/slides/slide12.xml" Id="R0381854a7a67439a" /><Relationship Type="http://schemas.openxmlformats.org/officeDocument/2006/relationships/slide" Target="/ppt/slides/slide13.xml" Id="Rf2970fad2a564e1a" /><Relationship Type="http://schemas.openxmlformats.org/officeDocument/2006/relationships/slide" Target="/ppt/slides/slide14.xml" Id="R8eb116071c704581" /><Relationship Type="http://schemas.openxmlformats.org/officeDocument/2006/relationships/slide" Target="/ppt/slides/slide15.xml" Id="R96e874d9bf46461e" /><Relationship Type="http://schemas.openxmlformats.org/officeDocument/2006/relationships/slide" Target="/ppt/slides/slide16.xml" Id="Re86a163f169f480a" /><Relationship Type="http://schemas.openxmlformats.org/officeDocument/2006/relationships/slide" Target="/ppt/slides/slide17.xml" Id="Rd83aa59033854b62" /><Relationship Type="http://schemas.openxmlformats.org/officeDocument/2006/relationships/slide" Target="/ppt/slides/slide18.xml" Id="Ra875a06540a247dd" /><Relationship Type="http://schemas.openxmlformats.org/officeDocument/2006/relationships/slide" Target="/ppt/slides/slide19.xml" Id="Rcbdd99ebfaac4f7f" /><Relationship Type="http://schemas.openxmlformats.org/officeDocument/2006/relationships/slide" Target="/ppt/slides/slide20.xml" Id="R30f61ba4f8f94781" /><Relationship Type="http://schemas.openxmlformats.org/officeDocument/2006/relationships/slide" Target="/ppt/slides/slide21.xml" Id="R5c3faf8fa60545b8" /><Relationship Type="http://schemas.openxmlformats.org/officeDocument/2006/relationships/slide" Target="/ppt/slides/slide22.xml" Id="R2fd52d1e7fd54672" /><Relationship Type="http://schemas.openxmlformats.org/officeDocument/2006/relationships/slide" Target="/ppt/slides/slide23.xml" Id="R067a9465b1434dc6" /><Relationship Type="http://schemas.openxmlformats.org/officeDocument/2006/relationships/slide" Target="/ppt/slides/slide24.xml" Id="Rdf11af1233e54470" /><Relationship Type="http://schemas.openxmlformats.org/officeDocument/2006/relationships/slide" Target="/ppt/slides/slide25.xml" Id="R6617c398aa414195" /><Relationship Type="http://schemas.openxmlformats.org/officeDocument/2006/relationships/slide" Target="/ppt/slides/slide26.xml" Id="R4b8c13f1b2a7441b" /><Relationship Type="http://schemas.openxmlformats.org/officeDocument/2006/relationships/slide" Target="/ppt/slides/slide27.xml" Id="R4d14cc9e8d054f4a" /><Relationship Type="http://schemas.openxmlformats.org/officeDocument/2006/relationships/slide" Target="/ppt/slides/slide28.xml" Id="Rccdb01510ca4457f" /><Relationship Type="http://schemas.openxmlformats.org/officeDocument/2006/relationships/slide" Target="/ppt/slides/slide29.xml" Id="R7b1953ee067a4b45" /><Relationship Type="http://schemas.openxmlformats.org/officeDocument/2006/relationships/slide" Target="/ppt/slides/slide30.xml" Id="Rc2eefe5e2a47421c" /><Relationship Type="http://schemas.openxmlformats.org/officeDocument/2006/relationships/slide" Target="/ppt/slides/slide31.xml" Id="R47b55744a1214da5" /><Relationship Type="http://schemas.openxmlformats.org/officeDocument/2006/relationships/slide" Target="/ppt/slides/slide32.xml" Id="R68b0bc3127c249e2" /><Relationship Type="http://schemas.openxmlformats.org/officeDocument/2006/relationships/slide" Target="/ppt/slides/slide33.xml" Id="R7daf2e9561b84e3b" /><Relationship Type="http://schemas.openxmlformats.org/officeDocument/2006/relationships/slide" Target="/ppt/slides/slide34.xml" Id="R180bd4e6beb74979" /><Relationship Type="http://schemas.openxmlformats.org/officeDocument/2006/relationships/slide" Target="/ppt/slides/slide35.xml" Id="R66fef0a37f174d1f" /><Relationship Type="http://schemas.openxmlformats.org/officeDocument/2006/relationships/slide" Target="/ppt/slides/slide36.xml" Id="Re858a5fbc5784de3" /><Relationship Type="http://schemas.openxmlformats.org/officeDocument/2006/relationships/slide" Target="/ppt/slides/slide37.xml" Id="R6fbb61631fa648ce" /><Relationship Type="http://schemas.openxmlformats.org/officeDocument/2006/relationships/slide" Target="/ppt/slides/slide38.xml" Id="Rbeaac0654f454f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0a8959e1b4246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a202cb9ca4435c" /><Relationship Type="http://schemas.openxmlformats.org/officeDocument/2006/relationships/notesMaster" Target="/ppt/notesMasters/notesMaster1.xml" Id="Rea47762b8f1e4d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59de341be040e3" /><Relationship Type="http://schemas.openxmlformats.org/officeDocument/2006/relationships/notesMaster" Target="/ppt/notesMasters/notesMaster1.xml" Id="R2f037d6cd52548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185921ad114b4c" /><Relationship Type="http://schemas.openxmlformats.org/officeDocument/2006/relationships/notesMaster" Target="/ppt/notesMasters/notesMaster1.xml" Id="Rc22204959bc84c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b39a105e504b8b" /><Relationship Type="http://schemas.openxmlformats.org/officeDocument/2006/relationships/notesMaster" Target="/ppt/notesMasters/notesMaster1.xml" Id="Rbc5d10ae94b447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20a5dd63064ff3" /><Relationship Type="http://schemas.openxmlformats.org/officeDocument/2006/relationships/notesMaster" Target="/ppt/notesMasters/notesMaster1.xml" Id="R8402366636754f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f3e4cd4165431e" /><Relationship Type="http://schemas.openxmlformats.org/officeDocument/2006/relationships/notesMaster" Target="/ppt/notesMasters/notesMaster1.xml" Id="R881827dd45d948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d95793b03c4d76" /><Relationship Type="http://schemas.openxmlformats.org/officeDocument/2006/relationships/notesMaster" Target="/ppt/notesMasters/notesMaster1.xml" Id="R8716f441265a44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4ce63da0514171" /><Relationship Type="http://schemas.openxmlformats.org/officeDocument/2006/relationships/notesMaster" Target="/ppt/notesMasters/notesMaster1.xml" Id="R71e438d77ea54c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bfcc45aa88461b" /><Relationship Type="http://schemas.openxmlformats.org/officeDocument/2006/relationships/notesMaster" Target="/ppt/notesMasters/notesMaster1.xml" Id="R6ce7a959ea5b42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8a06a292a94af3" /><Relationship Type="http://schemas.openxmlformats.org/officeDocument/2006/relationships/notesMaster" Target="/ppt/notesMasters/notesMaster1.xml" Id="Ra221b9c49ca345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139a92f745496f" /><Relationship Type="http://schemas.openxmlformats.org/officeDocument/2006/relationships/notesMaster" Target="/ppt/notesMasters/notesMaster1.xml" Id="R2f3ec2eaa6e246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6a4ac5867e41e5" /><Relationship Type="http://schemas.openxmlformats.org/officeDocument/2006/relationships/notesMaster" Target="/ppt/notesMasters/notesMaster1.xml" Id="R5d3c1699f30f4b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511de33559487f" /><Relationship Type="http://schemas.openxmlformats.org/officeDocument/2006/relationships/notesMaster" Target="/ppt/notesMasters/notesMaster1.xml" Id="R82ac5d06c3684a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b3bf07db754c73" /><Relationship Type="http://schemas.openxmlformats.org/officeDocument/2006/relationships/notesMaster" Target="/ppt/notesMasters/notesMaster1.xml" Id="R099f8279bbdc47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ced5d6080cb47d8" /><Relationship Type="http://schemas.openxmlformats.org/officeDocument/2006/relationships/notesMaster" Target="/ppt/notesMasters/notesMaster1.xml" Id="R27437f9567e0476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1a5cf99ddd419a" /><Relationship Type="http://schemas.openxmlformats.org/officeDocument/2006/relationships/notesMaster" Target="/ppt/notesMasters/notesMaster1.xml" Id="R16b1d986948749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fc195ad6954e99" /><Relationship Type="http://schemas.openxmlformats.org/officeDocument/2006/relationships/notesMaster" Target="/ppt/notesMasters/notesMaster1.xml" Id="Rb3409b3fa75f42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5fd0ddb07ce4bc8" /><Relationship Type="http://schemas.openxmlformats.org/officeDocument/2006/relationships/notesMaster" Target="/ppt/notesMasters/notesMaster1.xml" Id="R7f2488824d264a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c797d7b0d74b3e" /><Relationship Type="http://schemas.openxmlformats.org/officeDocument/2006/relationships/notesMaster" Target="/ppt/notesMasters/notesMaster1.xml" Id="R2b90fcd0164140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5320c70498b4efd" /><Relationship Type="http://schemas.openxmlformats.org/officeDocument/2006/relationships/notesMaster" Target="/ppt/notesMasters/notesMaster1.xml" Id="Ra2fe5c3bcdec432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7047cfaf7a74df7" /><Relationship Type="http://schemas.openxmlformats.org/officeDocument/2006/relationships/notesMaster" Target="/ppt/notesMasters/notesMaster1.xml" Id="Reddade53824448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14c2176b21446ea" /><Relationship Type="http://schemas.openxmlformats.org/officeDocument/2006/relationships/notesMaster" Target="/ppt/notesMasters/notesMaster1.xml" Id="Ra835479b010b41c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e4169789c9d4b5b" /><Relationship Type="http://schemas.openxmlformats.org/officeDocument/2006/relationships/notesMaster" Target="/ppt/notesMasters/notesMaster1.xml" Id="Rb421276a619744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c7234bf91b4f1c" /><Relationship Type="http://schemas.openxmlformats.org/officeDocument/2006/relationships/notesMaster" Target="/ppt/notesMasters/notesMaster1.xml" Id="R213dd8df576d48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f29a6759180404a" /><Relationship Type="http://schemas.openxmlformats.org/officeDocument/2006/relationships/notesMaster" Target="/ppt/notesMasters/notesMaster1.xml" Id="R7926119ca6d544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36a8c5fd8f47a3" /><Relationship Type="http://schemas.openxmlformats.org/officeDocument/2006/relationships/notesMaster" Target="/ppt/notesMasters/notesMaster1.xml" Id="R645bf669af6c447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002386d07064a06" /><Relationship Type="http://schemas.openxmlformats.org/officeDocument/2006/relationships/notesMaster" Target="/ppt/notesMasters/notesMaster1.xml" Id="R71ddcc307f6b47d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56ff5651634b0a" /><Relationship Type="http://schemas.openxmlformats.org/officeDocument/2006/relationships/notesMaster" Target="/ppt/notesMasters/notesMaster1.xml" Id="R0658e63f313c4a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e3f0f387f754323" /><Relationship Type="http://schemas.openxmlformats.org/officeDocument/2006/relationships/notesMaster" Target="/ppt/notesMasters/notesMaster1.xml" Id="R29b2b1bf75474e9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171049140764406" /><Relationship Type="http://schemas.openxmlformats.org/officeDocument/2006/relationships/notesMaster" Target="/ppt/notesMasters/notesMaster1.xml" Id="Rd9f2a219d1d344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daabb26b36e41b5" /><Relationship Type="http://schemas.openxmlformats.org/officeDocument/2006/relationships/notesMaster" Target="/ppt/notesMasters/notesMaster1.xml" Id="R5baaaa62f8d3494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e2b630d08144c40" /><Relationship Type="http://schemas.openxmlformats.org/officeDocument/2006/relationships/notesMaster" Target="/ppt/notesMasters/notesMaster1.xml" Id="Rc8e471673ba1470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a1d0a0920241ac" /><Relationship Type="http://schemas.openxmlformats.org/officeDocument/2006/relationships/notesMaster" Target="/ppt/notesMasters/notesMaster1.xml" Id="R6be53fa1a9b5462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c28ce0b502f48a3" /><Relationship Type="http://schemas.openxmlformats.org/officeDocument/2006/relationships/notesMaster" Target="/ppt/notesMasters/notesMaster1.xml" Id="R6f1744d1d46c4e7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ba888cfe589453f" /><Relationship Type="http://schemas.openxmlformats.org/officeDocument/2006/relationships/notesMaster" Target="/ppt/notesMasters/notesMaster1.xml" Id="Rc6af4ae9c6f64ce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1e37f1e71544028" /><Relationship Type="http://schemas.openxmlformats.org/officeDocument/2006/relationships/notesMaster" Target="/ppt/notesMasters/notesMaster1.xml" Id="Rcf99978bc527490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23dc7b33ff44276" /><Relationship Type="http://schemas.openxmlformats.org/officeDocument/2006/relationships/notesMaster" Target="/ppt/notesMasters/notesMaster1.xml" Id="R67fdfa8d2de943a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508e73d32c48ca" /><Relationship Type="http://schemas.openxmlformats.org/officeDocument/2006/relationships/notesMaster" Target="/ppt/notesMasters/notesMaster1.xml" Id="R07e23b10e1fa4c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八回です。今回は、木材と水です。前回、密度の比較では質量と体積の含水状態を指定することを学びました。今日は、水の量を含水率で表し、水のある場所を自由水と壁内の水に分けます。木材で使う乾量基準と、食品や農産物でよく使う湿量基準を、同じ試料で比べましょう。さらに、繊維飽和点と平衡含水率を整理し、日常の教室や製作品の水分へつなげます。電卓と図を描けるノートを用意してください。計算や作図の時間には音声が流れないことがあります。その間は画面上部に、音声なしという案内と残り時間が表示されます。三回の休憩を含む九十分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は、空気中で乾いた感じがしていても、内部に水を含んでいます。その水をどれくらい含むかを、何かと比べた割合で表したものが含水率です。ただし、割合という言葉だけでは、何を分母にしたかが決まりません。ここを今日の最初の問いにします。同じ試料について、水が七十五グラム、乾いた木材が五十グラムなら、水は乾いた木材の一・五倍です。一方、全体百二十五グラムのうち六割が水です。この二つは、同時に成り立ちます。百五十パーセントと六十パーセントを見て、水が違う量になったと考えないようにします。そのうえで、水がどこにあるかは、含水率の数だけでは十分に説明できないことも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中学校で木材の乾燥を説明するとき、食品の水分の割合からイメージする生徒もいるでしょう。百分率なら全て同じ分母だ、という思い込みに気付く機会になります。初めに水そのものの質量を取り出し、その後に分母を選ぶ順序を示すと、数値の大きさだけに戸惑わず考えられ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提を三つ確かめます。第一に、水を含む試料の質量と、その試料の全乾質量を区別します。第二に、細胞の内側の内腔と、細胞壁の内部は違う場所です。第三に、水分は周囲の環境と時間によって変化します。同じ温度や湿度へ移しても、木材の内部まで瞬時に同じ状態になるわけではありません。今日は、量の計算、水の所在、空気との平衡という順序で進めます。細胞壁の成分を学んだ第4回では、水と相互作用する基や成分の話をしました。今回の結合水という言葉は、それらと関わる壁内の水を考えるために使います。内腔にたまる水と同じ場所の水だと考えない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吸湿と吸水という言葉も、何がどこから入るかで整理できます。空気の水蒸気とのやり取りと、液体の水が接触して入り込む場合には、境界条件が違います。水という物質は同じでも、供給される状態や移動経路が違うため、同じ速さで進むと決め付けないことが大切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に、水を含む質量から全乾質量を引くと、水の質量になるという収支を確認します。次に、その水が内腔などにあるか、細胞壁の中にあるかを分けます。最後に、自由水がほぼ失われた後、壁内の水が減る範囲と、寸法や力学的性質の変化を結びます。この三つを、計算、図、現象の説明に対応させます。表や式が出てきても、分母だけを選ぶ練習にせず、どの量を取り出したかを図へ戻してください。内腔の青い部分だけが木材中の水の全てではありません。見える空間と、壁の内部という二つの尺度を行き来して考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今日の例題は、乾物と水だけの質量収支として単純化しています。実際の測定では、乾燥方法や他の揮発成分の扱いにも条件があります。特に食品では、加熱で減った量を常に純粋な水だけと見なせるとは限りません。ここでの定義の比較と、個別の測定規格の手順は区別して読み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文字を実体へ置き換えます。エムは、水を含むときの試料全体の質量です。エムゼロは、同じ試料から水を除いた全乾質量です。したがって、エムは全乾木材の質量に水の質量を足したもの、と書けます。そこからエムゼロを引く計算は、かっこ全乾木材と水、かっこ閉じ、引く全乾木材、となり、残るのは水だけです。水を引くのではありません。これを最初に確かめると、分子を取り違えにくくなります。例えば全乾八十グラム、水二十グラムなら、試料全体は百グラムです。百引く八十が二十で、水が取り出せます。百引く二十では、乾いた木材の八十グラムが残り、求めたい分子ではな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式を見て、どちらを引くか迷ったら、試料の構成を言葉で書いてから確かめてください。全体から乾いた材料を取り除く、という操作です。量の名前を消して文字だけを動かすより、何を取り出したいかを先に決めると、含水率の分母が変わる問題でも同じ収支を使え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含水率は、通常、全乾木材の質量を基準にします。式の分子は、エム引くエムゼロで、水の質量です。分母は、エムゼロ、全乾木材の質量です。その比を百倍して百分率にします。言葉の式でも、かっこ全乾木材プラス水、かっこ閉じ、引く全乾木材、これを全乾木材で割る、と書いてあります。つまり、乾いた木材百グラムに対して、何グラムの水があるかを示す問いです。全乾百グラムに水二十グラムなら、含水率は二十パーセントです。全体の質量は百二十グラムですが、分母へは入れません。授業中の添字ダブリューはウッドの意味で、木材を示すための記号です。ウェットベーシスのダブリューを意味していません。乾量基準という言葉と、ドライベーシスという表記も一緒に確認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乾量基準を使うと、乾燥によって水が減る間も、乾いた材料が失われないという仮定のもとでは、分母を同じに保てます。材料そのものに対する水の増減を比較しやすい点が、乾燥や物性との関係を扱う際に役立ちます。水が二倍になれば乾量基準含水率も二倍になりますが、体積変化や強さまで二倍だという意味ではありません。</a:t>
            </a:r>
          </a:p>
          <a:p xmlns:a="http://schemas.openxmlformats.org/drawingml/2006/main">
            <a:r>
              <a:t/>
            </a:r>
          </a:p>
          <a:p xmlns:a="http://schemas.openxmlformats.org/drawingml/2006/main">
            <a:r>
              <a:t>参照</a:t>
            </a:r>
          </a:p>
          <a:p xmlns:a="http://schemas.openxmlformats.org/drawingml/2006/main">
            <a:r>
              <a:t>Mは測定時の水を含む木材の質量、M₀はその試料の全乾質量。分子は（全乾木材＋水）−全乾木材＝水の質量。MC_w（%）=100(M−M₀)/M₀。ここでのwはwoodを示す授業用の添字で、wet basisのwではない。まず二つの質量を図で指し、引き算で水だけを取り出してから、分母を選ぶ。全乾100g、水20gなら20%。</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食品や農産物では、水を含む全体の質量を基準にする湿量基準がよく使われます。分子は先ほどと同じ、水の質量です。分母を、乾物と水を合わせた全体の質量エムに替えます。問いは、試料全体に占める水の割合です。全乾の乾物八十グラム、水二十グラムなら、全体百グラムのうち二十グラムなので、湿量基準は二十パーセントです。これを乾量基準で計算すると、二十割る八十で二十五パーセントです。添字エフはフードという授業用の表記で、食品でしか使えない定義ではありません。食品でも乾量基準を使う研究があり、木質燃料などで湿量基準を用いる場合もあります。分野の名称だけで分母を決めず、資料に書かれた定義を読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食品の成分表示の割合を見慣れていると、水分は必ず百パーセント以下だと感じるかもしれません。それは、水を含む全体を分母とする場合の考え方です。乾いた物質を分母にする木材の式へ、その制限を持ち込むことはできません。二つの基準を、正しい基準と間違った基準の対立として扱わず、答えたい問いの違いとして理解しましょう。</a:t>
            </a:r>
          </a:p>
          <a:p xmlns:a="http://schemas.openxmlformats.org/drawingml/2006/main">
            <a:r>
              <a:t/>
            </a:r>
          </a:p>
          <a:p xmlns:a="http://schemas.openxmlformats.org/drawingml/2006/main">
            <a:r>
              <a:t>参照</a:t>
            </a:r>
          </a:p>
          <a:p xmlns:a="http://schemas.openxmlformats.org/drawingml/2006/main">
            <a:r>
              <a:t>食品・農産物では湿量基準がよく使われる。MC_f（%）=100(M−M₀)/M。分子は（乾物＋水）−乾物＝水の質量、分母は乾物＋水。fはfoodを示す授業内の記号で、食品にだけ適用できる式という意味ではない。研究等では食品でも乾量基準を使う場合があり、木質燃料等で湿量基準を使う場合もある。定義とdb/wbを明記する。食品の測定法は試料や規格で異なり、加熱減量を常に純粋な水だけとみなせるわけではない。ここでは乾物と水の質量収支の定義を比較する。</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仮想試料で比較します。全乾木材が五十グラム、水が七十五グラム、全体が百二十五グラムです。乾量基準では、水七十五グラムを全乾五十グラムで割るため、一・五、百五十パーセントです。湿量基準では、七十五を全体百二十五で割るため、〇・六、六十パーセントになります。百五十から六十へ水の量が減ったわけではありません。両方とも水七十五グラムを表し、何と比べたかが違います。乾いた材料の質量を、水の質量が上回ることはあり得るので、乾量基準の百パーセント超は矛盾ではありません。一方、乾物が正の質量をもつ水と乾物のモデルでは、湿量基準は百パーセント未満です。同じパーセント記号でも、定義が違うことを表の分母の行で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生徒の、百五十パーセントはおかしい、という反応は、全体を分母と考えていることを知る手掛かりです。数値を直ちに否定するのでなく、全体を何と考えているかを問い返すと、分母の理解を確かめられます。割合の算数と、木材の質量収支を結び付ける場面になります。</a:t>
            </a:r>
          </a:p>
          <a:p xmlns:a="http://schemas.openxmlformats.org/drawingml/2006/main">
            <a:r>
              <a:t/>
            </a:r>
          </a:p>
          <a:p xmlns:a="http://schemas.openxmlformats.org/drawingml/2006/main">
            <a:r>
              <a:t>参照</a:t>
            </a:r>
          </a:p>
          <a:p xmlns:a="http://schemas.openxmlformats.org/drawingml/2006/main">
            <a:r>
              <a:t>「150%はおかしい」という反応は、分母を水を含む全体と思っている手掛かり。水75gは全乾50gの1.5倍なので150%、全体125gの0.6倍なので60%。乾量基準は100%を超え得る。湿量基準は非負の乾物と水からなる試料では0～100%で、乾物が正なら100%未満。物理的な水の量を先に計算し、問いと分母を対応させる。数値は同一仮想試料の比較で、食品の推奨保存水分値ではない。</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量基準と湿量基準の換算式を、基準となる百グラムから導きます。乾量基準の百分率の数値をエーとします。全乾質量を百グラムと置けば、水はエーグラム、全体は百プラスエーグラムです。湿量基準は、水エーを全体の百プラスエーで割り、百倍すれば求まります。逆に、湿量基準の数値をビーとして、全体を百グラムと置くと、水はビーグラム、乾物は百引くビーグラムです。乾量基準は、ビーを百引くビーで割り、百倍します。どちらも、分母を言葉で作っただけです。エーが百五十なら、湿量基準は百五十割る二百五十の百倍で六十。ビーが六十なら、乾量基準は六十割る四十の百倍で百五十に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の式のエーとビーは、百分率で表した数値です。二十パーセントなら二十を入れ、〇・二という比をそのまま入れません。比で式を書きたい場合には、百という係数を含む式の形が変わります。同じ記号を使いながら、百分率の数値と無次元の比を途中で混ぜないことが大切です。また、逆算の分母である百引くビーがゼロになる場合は、全乾質量が正という今回の前提から外れます。</a:t>
            </a:r>
          </a:p>
          <a:p xmlns:a="http://schemas.openxmlformats.org/drawingml/2006/main">
            <a:r>
              <a:t/>
            </a:r>
          </a:p>
          <a:p xmlns:a="http://schemas.openxmlformats.org/drawingml/2006/main">
            <a:r>
              <a:t>参照</a:t>
            </a:r>
          </a:p>
          <a:p xmlns:a="http://schemas.openxmlformats.org/drawingml/2006/main">
            <a:r>
              <a:t>aを乾量基準百分率の数値とし、全乾質量を100gとおけば水a g、全体100+a g。湿量基準b=100a/(100+a)。逆に全体100gとおけば水b g、乾物100−b gなのでa=100b/(100−b)。b&lt;100、M₀&gt;0を仮定。演習へ進む前に、式の文字を暗記させるより基準100gを言葉で説明する。a=150→b=60、a=20→b=16.666…、a=100→b=50。</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式の練習です。乾量基準二十パーセントと百パーセントを、それぞれ湿量基準へ直してください。次に、湿量基準二十パーセントと五十パーセントを乾量基準へ直します。四つとも同じ二十や百という数字を、機械的に移すのでなく、乾いた百グラム、あるいは全体百グラムの図から確かめましょう。最後に、乾量基準の方が湿量基準より大きくなる理由を、分母の大小で説明してください。ここで三分、四つの分数と、その分母の意味を残します。</a:t>
            </a:r>
          </a:p>
          <a:p xmlns:a="http://schemas.openxmlformats.org/drawingml/2006/main">
            <a:r>
              <a:t/>
            </a:r>
          </a:p>
          <a:p xmlns:a="http://schemas.openxmlformats.org/drawingml/2006/main">
            <a:r>
              <a:t>乾量二十パーセントは、水二十、全体百二十なので、湿量は約十六・七パーセントです。乾量百パーセントは、乾物百、水百、全体二百なので、湿量五十パーセントです。湿量二十パーセントは、全体百のうち水二十、乾物八十で、乾量二十五パーセントです。湿量五十パーセントは、水五十、乾物五十なので、乾量百パーセントです。水が正の量なら、同じ水を、より小さい乾物だけの質量で割る乾量基準の方が大きい数になります。水がゼロの場合は、両方ゼロ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の試料は、湿った状態の質量百二十五グラム、全乾質量五十グラムです。水の質量は、百二十五引く五十で求めます。表の水の質量と含水率の欄が空いていますが、同じ種類の空欄ではありません。水の質量にはグラムという単位、含水率には基準を付けた百分率を記録します。最初に差から水を求め、その次に分母を選ぶ順序を守ります。もしも百二十五引く七十五という式を書いていたら、七十五が何の質量かを言葉に戻して点検してください。式の文字と、試料の中身の対応を確かめてから、次の演習へ進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全乾質量は別の木片の平均質量ではなく、ここでは同じ試料の全乾質量です。別々の寸法や密度の木片の質量を引いても、その差が水だけとは限りません。この条件は、実験の説明でも省かないようにします。学校で全乾の測定を直接行わない場合は、教師が提供した同一試料の基準値として扱うこともでき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から水の質量を求め、木材の乾量基準含水率と、食品などでよく使う湿量基準含水率を計算してください。最後に、百パーセントを超える答えが出る理由を、中学生にも通じる一文で説明します。先ほど例を見たので数値は思い出せるかもしれませんが、今回は計算の順序と、引き算の意味を残してください。分子を、全乾木材プラス水から全乾木材を引く、と言葉でも書いてみます。ここで三分、二つの基準と説明を整理しましょう。早く終わった人は、どちらの基準でも水の質量は同じ七十五グラムに戻るか、逆算して確かめ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は百二十五引く五十で、七十五グラムです。乾量基準は、七十五割る五十の百倍で百五十パーセントです。湿量基準は、七十五割る百二十五の百倍で六十パーセントです。説明の例は、水の質量が乾いた木材の質量の一・五倍だから百五十パーセントであり、水を含む全体の百五十パーセントという意味ではない、です。逆算も行いましょう。乾量百五十パーセントに全乾五十グラムを掛ければ、水七十五グラムです。湿量六十パーセントに全体百二十五グラムを掛けても、水七十五グラムです。二つの値が、同じ試料を違う分母で説明していることを確認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含水率が大きい値を見たときには、まず乾量基準か湿量基準かを確認します。値を見てから都合よく基準を選ぶのでなく、資料にある定義と単位を先に読みます。物性表の注記、乾燥の記録、食品の水分値を比較するときに共通する読み方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誤答から分母と分子を読むへ進みます。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の誤りを、原因から説明する練習です。生徒エーは、全乾五十グラム、水七十五グラムの試料について、含水率は五十割る百二十五の百倍で四十パーセント、と答えました。生徒ビーは、百五十パーセントは百を超えるから、この試料の値は間違いだ、と答えました。それぞれ、どの量を何と比べたのかを書き、木材の乾量基準の説明へ直してください。四十パーセントという数字を、単に計算間違いとして扱わず、何の割合としては意味を持つかも考えます。ここで二分、二人に対する声掛けを作りましょう。</a:t>
            </a:r>
          </a:p>
          <a:p xmlns:a="http://schemas.openxmlformats.org/drawingml/2006/main">
            <a:r>
              <a:t/>
            </a:r>
          </a:p>
          <a:p xmlns:a="http://schemas.openxmlformats.org/drawingml/2006/main">
            <a:r>
              <a:t>エーの四十パーセントは、乾いた木材が、水を含む全体に占める割合です。全体のうち水が六十パーセントなので、残りの乾物が四十パーセントという関係は成り立ちます。しかし、それは水を分子にした木材含水率ではありません。まず百二十五引く五十で水七十五グラムを求め、全乾五十グラムと比べるように促します。ビーには、百五十パーセントの分母が何かを確認します。全体ではなく、全乾木材に対する水の質量なので、百を超えても矛盾しません。間違いを、式のどの量の取り違えかに分けると、割合の意味を説明し直すことができ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を含む試料全体の質量が百二十グラムで、含水率が二十パーセントとだけ書かれている資料を考えます。まず乾量基準だと分かっている場合の、全乾質量と水の質量を求めてください。次に、湿量基準二十パーセントだった場合についても同じ計算をします。二つの計算で、なぜ同じ二十パーセントから違う水の質量が出るかを、分母から説明しましょう。乾量基準の場合、百二十グラムに〇・二をそのまま掛けた値は、水の質量でしょうか。ここで三分、二つの式を別々に立ててから計算します。割合の基準が不明な資料を使うと、質量へ戻す計算でも違いが生じることを確かめます。</a:t>
            </a:r>
          </a:p>
          <a:p xmlns:a="http://schemas.openxmlformats.org/drawingml/2006/main">
            <a:r>
              <a:t/>
            </a:r>
          </a:p>
          <a:p xmlns:a="http://schemas.openxmlformats.org/drawingml/2006/main">
            <a:r>
              <a:t>乾量二十パーセントでは、全体質量は全乾質量の一・二倍なので、全乾質量は百二十割る一・二で百グラム、水は二十グラムです。湿量二十パーセントなら、水は全体百二十に〇・二を掛けた二十四グラム、乾物は九十六グラムです。乾量の二十パーセントを全体の質量へそのまま掛けると、湿量の計算をしてしまいます。二十グラムと二十四グラムの差は、丸め誤差ではなく、比の定義が違うためです。資料に基準が書かれていない場合、物理的な水の量へ戻すにも情報が不足します。見慣れた分野だからと自動的に判断せず、定義を確かめ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上下は、全乾木材の質量と水の質量を分けています。木材の乾量基準では、下の水の量を、全乾木材の部分と比べます。上下を合わせた全体を分母にすると、湿量基準になります。図の面積が厳密に実際の質量比や体積比を測ったものではない点も確認してください。質量の説明図で大きさを使ったとしても、細胞の体積の図と同じ意味ではありません。水がどこにあるかを描く場合には、次の細胞壁と内腔の模式図へ戻ります。同じ四角や青色を使っていても、質量の収支を表す図か、空間の所在を表す図かを区別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教師が図を用いるときにも、どの面積や長さをどの量へ対応させたかを、最初に示す必要があります。水の量が全乾木材より多い試料を説明する場合、質量の棒を水の方が長く描くことはできますが、それがそのまま細胞壁や内腔の体積比を示すわけではありません。図の用途を分けることが、分子と分母の理解を助け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に、水の所在の図へ移ります。外側の枠は細胞壁、内側の空いた部分は内腔です。内腔側の青い部分は自由水の例、壁に重ねた色は、壁内にも水があることを表しています。水が全部、中央の大きい空間にたまるだけの図ではありません。壁内の水は、成分の水と相互作用しやすい部分と関係し、壁が水を取り込むときの構造の変化にも関わります。ここでは、描いた水の量や壁の厚さを、そのまま含水率や収縮率へ換算できません。水の場所の区別を、次の乾燥と寸法変化の説明へ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内腔の水がなくなったら、木材の水は全てゼロだ、という説明になっていないかを、自分の言葉で点検してください。空気中で使う乾いた木材でも、細胞壁の中に水が残ることがあります。その状態を、全乾という語と区別して表現できることが重要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由水は、主に細胞内腔や細胞間の空隙にある液体の水として考えます。壁内の水は、セルロースやヘミセルロースなどの成分と相互作用している水です。前者の出入りは、質量の変化と関わりますが、壁の内部へ入る水の出入りとは、寸法への影響が同じではありません。壁内の水が増減すると、膨潤や収縮、力学的な性質の変化へつながります。また、木口から液体の水を吸う場合は、長さ方向の通導要素や壁孔などの経路が関わります。木材の含水率という一つの平均値が分かっても、水の分布や移動の経路を全て示せたわけではありません。量と場所を併せて考え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結合水という言葉から、水分子が全て動かない状態で固定されている、と単純化しないようにします。水分のやり取りは起こります。ここでは、細胞壁の成分と相互作用する場所の水を、内腔等の水と区別するための言葉として用います。分子の相互作用と、材の寸法という尺度をつなぐ足場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繊維飽和点を、乾燥の途中で考えます。内腔などの自由水がほぼ失われ、壁には十分に水がある、という状態を目安にします。これより低い含水率域では、壁内の水が減ることに伴う収縮が顕著になります。約三十パーセントは代表的な目安で、全樹種に共通の固定値ではありません。実際には、何を測って境界を決めるかでも値が異なります。材全体の平均含水率が三十になった瞬間に、全ての細胞の自由水が一斉にゼロになる、という説明は避けます。表面と内部に水分むらがあるからです。授業の最初には単純なモデルで見通しを作り、その後に、実際の材では位置や時間による違いがある、と付け加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繊維飽和点より高いところでは、質量も全く変化しない、と説明すると誤りになります。自由水が減れば質量は減ります。小さいのは、自由水の増減そのものによる寸法や多くの力学的性質の変化です。次回の収縮率の計算では、どの含水率区間を扱うかを、必ず確認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の量と所在を、乾燥の三段階で考えます。全乾質量百グラムの試料について、乾量基準含水率六十、四十、二十パーセントの状態を比べます。まず各状態の水と全体の質量を求めます。次に、この説明用モデルでは繊維飽和点を三十パーセントと仮定し、六十から四十への変化と、四十から二十への変化のどちらで、壁の収縮を考える必要があるかを図示してください。最後に、各状態で自由水と壁内の水を色分けします。全ての細胞が一様という単純化を使ったモデルです。ここで三分、三つの質量と、水の所在の図を作りましょう。</a:t>
            </a:r>
          </a:p>
          <a:p xmlns:a="http://schemas.openxmlformats.org/drawingml/2006/main">
            <a:r>
              <a:t/>
            </a:r>
          </a:p>
          <a:p xmlns:a="http://schemas.openxmlformats.org/drawingml/2006/main">
            <a:r>
              <a:t>水は順に六十、四十、二十グラムです。全体の質量は、乾いた百グラムを加えて、百六十、百四十、百二十グラムです。モデルで繊維飽和点を三十と置くなら、六十から四十では主に自由水が減る範囲、四十から二十では、その境界をまたぎ、壁内の水も減る範囲を含みます。したがって、後者では収縮を考える必要があります。ただし、実材の材内分布や、測定法による境界の違いはこのモデルに含んでいません。水が二十グラム減ったという量だけから、両方とも同じだけ縮むと結論することはできません。</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均値と、場所ごとの値を区別します。厚い材について、材全体の平均含水率は四十パーセント、表面付近は二十五パーセントだったという説明用の状況を考えます。内部は表面より湿っているとします。繊維飽和点を三十パーセントとする見通しのもとで、生徒は、平均が三十より高いので、どこも縮まないはずだ、と書きました。どこに問題があるでしょうか。材の断面図に、乾いた表面と湿った内部を分け、表面が縮もうとすることを矢印で示してください。数値から内部の含水率を厳密に計算する必要はありません。ここで三分、平均と局所の違いを説明し、次回の乾燥応力につながる問いを一つ書きます。</a:t>
            </a:r>
          </a:p>
          <a:p xmlns:a="http://schemas.openxmlformats.org/drawingml/2006/main">
            <a:r>
              <a:t/>
            </a:r>
          </a:p>
          <a:p xmlns:a="http://schemas.openxmlformats.org/drawingml/2006/main">
            <a:r>
              <a:t>材全体の平均が四十パーセントでも、表面の二十五パーセントは、仮定した繊維飽和点より低い値です。表面では壁内の水が減って収縮しようとする一方、内部はまだ湿っている状況を考えられます。平均値だけから、材の全ての場所で同じ水の所在や寸法変化だと結論できません。表面が縮もうとしても内部とのつながりで自由に縮めないなら、何が起こるか、という問いが次回の応力や割れの説明へつながります。全体の水分量と、材内分布を分けるためのモデルであり、ここで内部の具体的な値や割れの発生を確定したわけではありません。</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それでは、再開します。演習2　含水率から質量を求めるへ進みます。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試料を、目標の含水率まで乾かす問題です。全乾質量五十グラム、水を含む初めの質量百二十五グラムを、乾量基準二十パーセントまで乾かすとします。まず、含水率の式を変形して、目標の全体質量エムを、全乾質量と含水率で表してください。次に、初めと終わりの水の質量を比べ、取り除く水を求めます。さらに、初めの高含水率状態と終わりの状態で、水の所在がどう違うかを、模式図に加えます。最後に、繊維飽和点と平衡含水率を、乾燥の説明にそれぞれ一文ずつ使ってください。ここで三分、式の変形、質量の計算、図の順に取り組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乾量基準含水率を百で割ると、水の質量を全乾質量で割った比です。両辺に全乾質量を掛け、全乾質量を加えると、全体質量は、全乾質量に、一プラス含水率割る百を掛けた形になります。二十パーセントなら、五十かける一・二で六十グラムです。初めの水は七十五グラム、終わりの水は十グラムなので、取り除く水は六十五グラムです。百二十五引く六十でも同じ値になります。乾燥では、初めに多い自由水が減り、その後、壁内の水も減って収縮が顕著になります。繊維飽和点はその見通しの目安です。平衡含水率は、置かれた温湿度の空気との平衡で定まる値です。目標二十パーセントへ、どんな空気条件でも必ずそのまま到達するという意味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周囲の空気と平衡する値が目標より高ければ、ただその空気中に置くだけで目標まで乾くとは限りません。反対に、目標より低い環境では、そのまま置き続けるとさらに水が減る可能性があります。乾燥目標の数と、周囲の環境が決める平衡の数を分けて考え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二つの概念を比較して説明し直します。繊維飽和点は、水の所在と物性変化をつなぐ目安です。平衡含水率は、特定の温度と相対湿度の空気と水分について平衡になったときの値です。例えば、室内で十五パーセント程度の含水率の木材があったとして、その値を繊維飽和点だと呼ぶことはできません。壁内に水が残り、内腔に自由水がほぼないという低含水率側の状態を考えます。湿度が変われば、平衡の目標も変わり、壁内の水の増減が寸法へ影響します。通常の使用域で寸法が動く理由が、ここにつなが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空気との平衡は、一つの温湿度条件についての説明です。全国平均約十五パーセントという研究上の目安は、地域や期間をまとめた値です。どの教室でも同じ一つの平衡値になる、という意味ではありません。条件を言葉で添えると、二つの概念も、平均と個別の値も区別しやすくなり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衡含水率は、木材が周囲の空気から水分を受け取る量と、放す量が釣り合い、見掛け上増減しなくなったときの含水率です。一定の温度と相対湿度で、十分な時間を置いた状態を考えます。同じ温度なら、一般に相対湿度が高いほど、平衡含水率も高くなります。ただし、乾いた状態から吸湿して近付いたか、湿った状態から放湿して近付いたかで、値に差が出ます。これを吸放湿の履歴として考えます。また、実際の空気は時々刻々変わるので、木片の内部までその瞬間の目標値へ追い付くとは限りません。気乾を、常に完全な平衡で、一定の含水率にある状態だと決め付けないよう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温度と相対湿度は、一緒に記録する必要があります。同じ相対湿度の数字でも、温度が変われば平衡含水率を求める条件が違います。また、液体の水が直接触れる場合の吸水は、空気の水蒸気とだけ釣り合うというこの条件から外れます。乾燥した教室、雨の当たる木材、密封した容器を、同じ空気中の問題として扱わないことが大切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対湿度と木材の含水率を取り違えないため、原典の表を読みます。ウッドハンドブック第4章の表四の二から、温度二十一・一度の三つの値を抜き出しました。相対湿度五十パーセントのとき平衡含水率九・二、六十五のとき十二・〇、八十のとき十六・〇パーセントです。湿度計の八十パーセントは、木材含水率八十パーセントという意味ではありません。まず全乾質量五十グラムの木片が、各条件で表の平衡含水率へ近付いたと仮定し、水と全体の質量を求めてください。次に、相対湿度八十と木材の含水率十六で、何に対する割合が違うかを説明します。ここで二分、表の入力と出力、分母の意味を整理しましょう。</a:t>
            </a:r>
          </a:p>
          <a:p xmlns:a="http://schemas.openxmlformats.org/drawingml/2006/main">
            <a:r>
              <a:t/>
            </a:r>
          </a:p>
          <a:p xmlns:a="http://schemas.openxmlformats.org/drawingml/2006/main">
            <a:r>
              <a:t>水の質量は順に、五十かける〇・〇九二で四・六グラム、五十かける〇・一二で六・〇グラム、五十かける〇・一六で八・〇グラムです。全体は五十四・六、五十六・〇、五十八・〇グラムになります。相対湿度は、その温度の空気についての水蒸気の状態を表す比です。木材の乾量基準含水率は、水の質量を全乾木材の質量と比べています。比べている対象も分母も違うため、両方にパーセントが付いても同じ数値にはなりません。また、実際の木片が表の値へ達するには時間が必要で、履歴や試料条件も考えることを思い出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7回で見た月別のグラフを、平衡含水率という言葉から読み直します。札幌、東京、徳島の線は、気象庁の千九百九十一年から二千二十年の月平均気温と相対湿度を、ウッドハンドブックの式へ入れた計算値です。横軸は月、縦軸は乾量基準の含水率です。相対湿度そのものを縦軸へ描いたのではありません。東京は一月の推定値が約九・七、七月が約十四・五パーセントでした。木片の含水率を同じ期間に毎月測った値ではなく、気象条件が与える目標の変化を表しています。地域ごとに線の形が違うことも確かめてください。全国平均約十五パーセントの研究とは、集めた地点数も期間も異なります。この三地点の線から全国平均を検証したとは言え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月平均気温と月平均湿度を非線形の式に入れた計算は、日々または毎時の値で計算した平衡含水率を平均したものと、必ずしも一致しません。今日のグラフは、季節と地域で目標が動くことを見るための近似です。雨、日射、空調、壁内へ水分が移る時間は含んでいません。測定値、統計値、モデル計算を分けることも、調べ学習で大切な読み方で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二つの木片を考えます。同じ温度、同じ相対湿度の空気へ置き、十分な時間が経ったところ、含水率が一方で十パーセント、もう一方で十二パーセントだったとします。この値は特定樹種の実測値ではなく、考えるための仮想例です。一方は乾いた状態から吸湿し、他方は湿った状態から放湿して近付いてきたという履歴があります。まず、同じ空気なのだから、二つの値は必ず測定ミスだと判断できるかを説明してください。次に、木片を移した直後に質量を測った場合の、別の理由も考えます。最後に、比較の記録へ追加する情報を三つ挙げてください。ここで二分、履歴と平衡へ近付く時間を分けて整理します。</a:t>
            </a:r>
          </a:p>
          <a:p xmlns:a="http://schemas.openxmlformats.org/drawingml/2006/main">
            <a:r>
              <a:t/>
            </a:r>
          </a:p>
          <a:p xmlns:a="http://schemas.openxmlformats.org/drawingml/2006/main">
            <a:r>
              <a:t>吸湿と放湿の経路によって、同じ温湿度でも平衡含水率に差が生じることがあるので、違いだけで必ず測定ミスとは判断できません。これが吸放湿履歴の影響です。一方、移した直後なら、まだ平衡へ達していないという時間の問題も考えられます。記録には、以前の保管条件、吸湿か放湿か、置いた時間、試料の寸法、実際の温湿度や質量の経過などを加えます。履歴による平衡値の違いと、まだ平衡へ達していないための違いを、同じ原因として混ぜないように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吸放湿を記録する学習を考えます。同じ木片について、質量と保管場所の温度、相対湿度を継続して記録します。全乾質量が教師から提供されていれば、各時点の含水率を計算できます。まだ全乾質量が分からないなら、まず質量変化の記録として扱い、含水率と同じ見出しで数を並べないようにします。発問は、空気中で乾いた木片にも水が残るか、温湿度が変わった日と木片の質量が変わった日は完全に同じか、といった問いです。予想に合わない記録が出たときには、測り方、時刻、保管場所、履歴を戻って点検します。目標値を教師が先に与え、必ずその値を答えさせる活動にし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の学習の中心は、専用の装置や難しい式を全て使うことではありません。何を同じ試料で追い、どの環境条件と一緒に記録したかを明らかにすることです。木材の性質を、材料の選択や加工、保管の判断へつなぐ学習として設計でき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含水率の式から、乾燥の記録表を作る総合練習です。全乾質量が八十グラムの同じ試料について、乾量基準含水率が百、四十、十五、ゼロパーセントの四つの状態を考えます。各行に、水の質量、全体質量、湿量基準含水率を書いてください。次に、繊維飽和点を三十パーセントとする単純モデルで、各状態を高い範囲と低い範囲に分けます。最後に、十五パーセントという行を、全ての使用環境で必ず到達する値だとしてよいかを説明します。ここで三分、四行の表と、状態の区分を作りましょう。</a:t>
            </a:r>
          </a:p>
          <a:p xmlns:a="http://schemas.openxmlformats.org/drawingml/2006/main">
            <a:r>
              <a:t/>
            </a:r>
          </a:p>
          <a:p xmlns:a="http://schemas.openxmlformats.org/drawingml/2006/main">
            <a:r>
              <a:t>百パーセントのとき、水八十グラム、全体百六十グラム、湿量基準五十パーセントです。四十パーセントなら水三十二、全体百十二グラムで、湿量基準は約二十八・六パーセントです。十五パーセントなら水十二、全体九十二グラムで、湿量基準は約十三・〇パーセントです。ゼロでは水ゼロ、全体八十グラム、両基準ともゼロです。モデルでの三十パーセントより高いのは百と四十、低いのは十五とゼロです。十五は目安として使うことがあっても、周囲の温湿度や時間に関係なく木材が必ずなる値ではありません。量、基準、水の場所、環境の四つを一枚の表で対応させ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「乾いた木にも水がある」を説明するへ進みます。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中学校での説明を短く組み立てます。生徒が、乾いた木は水がゼロで、穴の水が全部なくなると収縮する、と話しました。まず、この説明のどの部分が、全乾と気乾の取り違えに当たるかを書きます。次に、内腔と細胞壁の二つの場所を図示し、収縮と特に関係する水を示します。さらに、部屋の湿度が変わると、木材の水分がどうなり得るかを、平衡含水率の言葉を使い過ぎず説明してください。ここで三分、図と一分程度の説明文を作ります。大学で学んだ専門語を全て並べるのでなく、言葉と図が同じ場所を指しているかを点検しましょう。</a:t>
            </a:r>
          </a:p>
          <a:p xmlns:a="http://schemas.openxmlformats.org/drawingml/2006/main">
            <a:r>
              <a:t/>
            </a:r>
          </a:p>
          <a:p xmlns:a="http://schemas.openxmlformats.org/drawingml/2006/main">
            <a:r>
              <a:t>説明の例です。空気中で乾いた木でも、細胞の壁の中には水が残ることがあります。大きい内腔にたまる水と、壁の中に入る水を分けて考えましょう。壁の水が増えたり減ったりすると、壁が膨らんだり縮んだりし、それが木材の寸法変化へつながります。部屋の湿度が変わると、木材が近付く水分の目安も変わりますが、内部まで同時に追い付くとは限りません。確認する問いは、穴に水が見えなければ水はゼロといえるか、です。図の内腔と壁を指しながら答えさせると、場所の区別と、全乾ではない乾燥状態の理解を確かめられ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問題です。全体十二グラム、全乾十グラムの試料について、乾量基準と湿量基準はいくつでしょうか。次に、空気が乾けば木材の含水率は必ずゼロになるかを説明してください。最後に、内腔の水と壁内の水を、同じ細胞の図へ区別して描き、繊維飽和点より低い状態を示します。ここで九十秒、分子の引き算、二つの分母、図の順に整理しましょう。</a:t>
            </a:r>
          </a:p>
          <a:p xmlns:a="http://schemas.openxmlformats.org/drawingml/2006/main">
            <a:r>
              <a:t/>
            </a:r>
          </a:p>
          <a:p xmlns:a="http://schemas.openxmlformats.org/drawingml/2006/main">
            <a:r>
              <a:t>水は二グラムです。乾量基準は二割る十の百倍で二十パーセント、湿量基準は二割る十二の百倍で約十六・七パーセントです。空気中で乾燥するだけで必ずゼロになるわけではなく、その温湿度での平衡含水率へ近付きます。図では、低含水率の範囲でも壁内に水が残ることを表し、内腔に水が見えないことを全乾と同一視しないように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式を、自分で導けるか確かめます。乾量基準の百分率の数値をエーとしたとき、全乾百グラムを置くところから、水の質量と全体質量を書いてください。その式から、乾量百パーセントと二十パーセントを湿量基準へ直します。さらに、湿量基準の数値をビーと置き、全体百グラムから逆の式も作ってください。最初から二つの公式を写すのでなく、どの百グラムを置いたかを言葉にする練習です。ここで三分、式と図を作ります。早く終わった人は、乾物が正という条件のもとで、湿量基準の値が百パーセントに達するかも考えてください。</a:t>
            </a:r>
          </a:p>
          <a:p xmlns:a="http://schemas.openxmlformats.org/drawingml/2006/main">
            <a:r>
              <a:t/>
            </a:r>
          </a:p>
          <a:p xmlns:a="http://schemas.openxmlformats.org/drawingml/2006/main">
            <a:r>
              <a:t>全乾百グラムなら、水はエーグラム、全体百プラスエーグラムです。湿量基準は百エーを百プラスエーで割った値となり、乾量百では五十、乾量二十では約十六・七パーセントです。逆に全体百グラムなら、水はビー、乾物は百引くビーなので、乾量基準は百ビーを百引くビーで割ります。乾物が正なら、湿量基準は百パーセントより小さくなります。数値だけを入れ替えるのでなく、分母を試料の構成から作る手順を覚え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要点を整理します。水を含む全体から全乾木材を引くと、水の質量が求まります。その水を全乾質量で割る乾量基準と、全体で割る湿量基準は、答えたい問いが違います。同じ試料でも数値が違い、乾量基準は百パーセントを超えることがあります。次に、含水率の総量と、水の所在を区別しました。繊維飽和点は水の所在と物性の変化、平衡含水率は周囲の空気との関係です。通常の使用域では、壁内の水が環境によって変わります。次回は、その変化がなぜ方向別の収縮や膨潤につながるかを学びます。板が反る、扉が動きにくくなるといった身近な現象へ、今日の定義を持って進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資料です。ウッドハンドブック第4章には、木材含水率、自由水と壁内の水、繊維飽和点、平衡含水率と温湿度の関係がまとめられています。食品や穀類の基準との比較は、エフエーオーの資料の乾量基準と湿量基準の説明も参照してください。今回の月別グラフは気象庁の平年値からの計算です。元の温度と湿度、その単位、式の条件を、教員用の再編集用資料へ保存しています。調べ学習では、含水率の数字を引用する前に分母を確認し、どの図や表で確かめたかを残します。木材の式を食品の式で上書きしたり、両方同じだとして混ぜたりしないようにしてください。第八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d4d413ab0f42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a9f52e2c4e47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9e8aad2f184d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8e127c0c5a4e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3c07a51d9a4c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62e2cc7662455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7db532fb2bcf4b5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4d84089772314a0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2eafd4a09cd478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c9af86478ddf486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b06ac811cae245e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b174013fbb2045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D11DE0-467A-4C79-998F-D50CBBF3DB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CD4873-C9B1-46B1-BC01-73E91D7C39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55ADDD-DC82-4C7A-B36E-FC5400858FF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BA81F7-26C2-4069-88DA-9692D68CDD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2FE260-8A8B-45E1-9A15-1D7CC47B61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F15175-7C05-4C88-B594-CC90A3EC70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87AB5A-922E-45C6-A0C3-27253D9E9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F3C83C-6354-493D-988C-32702F2969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F20DF3-899D-4180-BDB5-878E1ACF5C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FB35A6-7376-47EA-8FAA-E003DC7438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2e4063cefa48ef" /><Relationship Type="http://schemas.openxmlformats.org/officeDocument/2006/relationships/slideLayout" Target="/ppt/slideLayouts/slideLayout1.xml" Id="Rac018633994d46b1" /><Relationship Type="http://schemas.openxmlformats.org/officeDocument/2006/relationships/slideLayout" Target="/ppt/slideLayouts/slideLayout2.xml" Id="R2c4f88bbc81b4ed4" /><Relationship Type="http://schemas.openxmlformats.org/officeDocument/2006/relationships/slideLayout" Target="/ppt/slideLayouts/slideLayout3.xml" Id="R98f1d4e897754adb" /><Relationship Type="http://schemas.openxmlformats.org/officeDocument/2006/relationships/slideLayout" Target="/ppt/slideLayouts/slideLayout4.xml" Id="R2658ee8614624234" /><Relationship Type="http://schemas.openxmlformats.org/officeDocument/2006/relationships/slideLayout" Target="/ppt/slideLayouts/slideLayout5.xml" Id="R0d700bd3fdbd43ec" /><Relationship Type="http://schemas.openxmlformats.org/officeDocument/2006/relationships/slideLayout" Target="/ppt/slideLayouts/slideLayout6.xml" Id="R1bc0afcfe115434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3abdca579474a18" /><Relationship Type="http://schemas.openxmlformats.org/officeDocument/2006/relationships/slideLayout" Target="/ppt/slideLayouts/slideLayout7.xml" Id="Rb0e54cbfbc52426c" /><Relationship Type="http://schemas.openxmlformats.org/officeDocument/2006/relationships/slideLayout" Target="/ppt/slideLayouts/slideLayout8.xml" Id="R5845f2a6a75d436a" /><Relationship Type="http://schemas.openxmlformats.org/officeDocument/2006/relationships/slideLayout" Target="/ppt/slideLayouts/slideLayout9.xml" Id="Rbb9e697574384246" /><Relationship Type="http://schemas.openxmlformats.org/officeDocument/2006/relationships/slideLayout" Target="/ppt/slideLayouts/slideLayout10.xml" Id="R68f37a7caf794a9f" /><Relationship Type="http://schemas.openxmlformats.org/officeDocument/2006/relationships/slideLayout" Target="/ppt/slideLayouts/slideLayout11.xml" Id="Rba8c1b0f7f3a47cb" /><Relationship Type="http://schemas.openxmlformats.org/officeDocument/2006/relationships/slideLayout" Target="/ppt/slideLayouts/slideLayout12.xml" Id="R936ce27742b948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018633994d46b1"/>
    <p:sldLayoutId xmlns:r="http://schemas.openxmlformats.org/officeDocument/2006/relationships" id="2147483650" r:id="R2c4f88bbc81b4ed4"/>
    <p:sldLayoutId xmlns:r="http://schemas.openxmlformats.org/officeDocument/2006/relationships" id="2147483651" r:id="R98f1d4e897754adb"/>
    <p:sldLayoutId xmlns:r="http://schemas.openxmlformats.org/officeDocument/2006/relationships" id="2147483652" r:id="R2658ee8614624234"/>
    <p:sldLayoutId xmlns:r="http://schemas.openxmlformats.org/officeDocument/2006/relationships" id="2147483653" r:id="R0d700bd3fdbd43ec"/>
    <p:sldLayoutId xmlns:r="http://schemas.openxmlformats.org/officeDocument/2006/relationships" id="2147483654" r:id="R1bc0afcfe11543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b0e54cbfbc52426c"/>
    <p:sldLayoutId xmlns:r="http://schemas.openxmlformats.org/officeDocument/2006/relationships" id="2147483657" r:id="R5845f2a6a75d436a"/>
    <p:sldLayoutId xmlns:r="http://schemas.openxmlformats.org/officeDocument/2006/relationships" id="2147483658" r:id="Rbb9e697574384246"/>
    <p:sldLayoutId xmlns:r="http://schemas.openxmlformats.org/officeDocument/2006/relationships" id="2147483659" r:id="R68f37a7caf794a9f"/>
    <p:sldLayoutId xmlns:r="http://schemas.openxmlformats.org/officeDocument/2006/relationships" id="2147483660" r:id="Rba8c1b0f7f3a47cb"/>
    <p:sldLayoutId xmlns:r="http://schemas.openxmlformats.org/officeDocument/2006/relationships" id="2147483661" r:id="R936ce27742b948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6e7307bb054ad2" /><Relationship Type="http://schemas.openxmlformats.org/officeDocument/2006/relationships/hyperlink" Target="https://lc-nue.naruto-u.ac.jp/lcu-web/SC_06001B00_22" TargetMode="External" Id="R8d64204192784b79" /><Relationship Type="http://schemas.openxmlformats.org/officeDocument/2006/relationships/notesSlide" Target="/ppt/notesSlides/notesSlide1.xml" Id="R4ae34bb1bb764f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f3aadad7f0d486c" /><Relationship Type="http://schemas.openxmlformats.org/officeDocument/2006/relationships/notesSlide" Target="/ppt/notesSlides/notesSlide2.xml" Id="Rb96341c23d5a45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a752320285a4151" /><Relationship Type="http://schemas.openxmlformats.org/officeDocument/2006/relationships/notesSlide" Target="/ppt/notesSlides/notesSlide3.xml" Id="R1dfb312d31bc4c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ce1d3dce183e4c68" /><Relationship Type="http://schemas.openxmlformats.org/officeDocument/2006/relationships/notesSlide" Target="/ppt/notesSlides/notesSlide4.xml" Id="Rf98785cd8fed43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abc1b58b1e4998" /><Relationship Type="http://schemas.openxmlformats.org/officeDocument/2006/relationships/notesSlide" Target="/ppt/notesSlides/notesSlide5.xml" Id="R84c2fe741e7747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b51fed06b04a18" /><Relationship Type="http://schemas.openxmlformats.org/officeDocument/2006/relationships/notesSlide" Target="/ppt/notesSlides/notesSlide6.xml" Id="Rc38e865770d544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1c618df123434e" /><Relationship Type="http://schemas.openxmlformats.org/officeDocument/2006/relationships/notesSlide" Target="/ppt/notesSlides/notesSlide7.xml" Id="R0f344efacf2144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2ca8deddc64617" /><Relationship Type="http://schemas.openxmlformats.org/officeDocument/2006/relationships/notesSlide" Target="/ppt/notesSlides/notesSlide8.xml" Id="R8d1b2ab031ae46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cbf72879f944a2" /><Relationship Type="http://schemas.openxmlformats.org/officeDocument/2006/relationships/notesSlide" Target="/ppt/notesSlides/notesSlide9.xml" Id="R9a3332d893ea4b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d06b881fe54a7e" /><Relationship Type="http://schemas.openxmlformats.org/officeDocument/2006/relationships/notesSlide" Target="/ppt/notesSlides/notesSlide10.xml" Id="Rcc7cd5f937dc4e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a197e8e5cb1401f" /><Relationship Type="http://schemas.openxmlformats.org/officeDocument/2006/relationships/notesSlide" Target="/ppt/notesSlides/notesSlide11.xml" Id="Rcade77d671184b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83cd3ad2fb4049" /><Relationship Type="http://schemas.openxmlformats.org/officeDocument/2006/relationships/notesSlide" Target="/ppt/notesSlides/notesSlide12.xml" Id="R2a092847512f42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fe7b2b5032446d2" /><Relationship Type="http://schemas.openxmlformats.org/officeDocument/2006/relationships/notesSlide" Target="/ppt/notesSlides/notesSlide13.xml" Id="R699bf8dc51f54d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4e5e1d954434990" /><Relationship Type="http://schemas.openxmlformats.org/officeDocument/2006/relationships/notesSlide" Target="/ppt/notesSlides/notesSlide14.xml" Id="R815a9780957b43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927119c27af4dbf" /><Relationship Type="http://schemas.openxmlformats.org/officeDocument/2006/relationships/notesSlide" Target="/ppt/notesSlides/notesSlide15.xml" Id="Rf09f2036351143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335d853ef2489d" /><Relationship Type="http://schemas.openxmlformats.org/officeDocument/2006/relationships/notesSlide" Target="/ppt/notesSlides/notesSlide16.xml" Id="R1d8a8f51052f42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d1bce32ed34d5f" /><Relationship Type="http://schemas.openxmlformats.org/officeDocument/2006/relationships/notesSlide" Target="/ppt/notesSlides/notesSlide17.xml" Id="R4bcda6ace2b34c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1150980f0e0441e" /><Relationship Type="http://schemas.openxmlformats.org/officeDocument/2006/relationships/notesSlide" Target="/ppt/notesSlides/notesSlide18.xml" Id="R4123f43f29424cf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ae04311be7614c50" /><Relationship Type="http://schemas.openxmlformats.org/officeDocument/2006/relationships/notesSlide" Target="/ppt/notesSlides/notesSlide19.xml" Id="R6a0921b4db424c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2.xml" Id="R6d29350342074428" /><Relationship Type="http://schemas.openxmlformats.org/officeDocument/2006/relationships/notesSlide" Target="/ppt/notesSlides/notesSlide20.xml" Id="Rbb72eb8eb7534c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49aa947cd3a4c14" /><Relationship Type="http://schemas.openxmlformats.org/officeDocument/2006/relationships/notesSlide" Target="/ppt/notesSlides/notesSlide21.xml" Id="R96df5e6707464c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ecb9303acc44c7b" /><Relationship Type="http://schemas.openxmlformats.org/officeDocument/2006/relationships/notesSlide" Target="/ppt/notesSlides/notesSlide22.xml" Id="Rb61a1e8a9efa416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94647ab282c45e2" /><Relationship Type="http://schemas.openxmlformats.org/officeDocument/2006/relationships/notesSlide" Target="/ppt/notesSlides/notesSlide23.xml" Id="Rb790bc176a1c49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5f2c4b255d664aa0" /><Relationship Type="http://schemas.openxmlformats.org/officeDocument/2006/relationships/notesSlide" Target="/ppt/notesSlides/notesSlide24.xml" Id="R4c57906e33ed46f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9122216af70e4b9f" /><Relationship Type="http://schemas.openxmlformats.org/officeDocument/2006/relationships/notesSlide" Target="/ppt/notesSlides/notesSlide25.xml" Id="R90c2eb50695a434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403227e47a84382" /><Relationship Type="http://schemas.openxmlformats.org/officeDocument/2006/relationships/notesSlide" Target="/ppt/notesSlides/notesSlide26.xml" Id="Re13e89399b2541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2.xml" Id="Rde9bad1af2294d82" /><Relationship Type="http://schemas.openxmlformats.org/officeDocument/2006/relationships/notesSlide" Target="/ppt/notesSlides/notesSlide27.xml" Id="R028f3d0917e9415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9c6dcf07cd8451e" /><Relationship Type="http://schemas.openxmlformats.org/officeDocument/2006/relationships/notesSlide" Target="/ppt/notesSlides/notesSlide28.xml" Id="R137f437c4738485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b749150d6534b46" /><Relationship Type="http://schemas.openxmlformats.org/officeDocument/2006/relationships/chart" Target="/ppt/slides/charts/chart1.xml" Id="Rc8c82e22afa94948" /><Relationship Type="http://schemas.openxmlformats.org/officeDocument/2006/relationships/notesSlide" Target="/ppt/notesSlides/notesSlide29.xml" Id="Rf5f1b424d2654e2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ea36a2ab0da4e6f" /><Relationship Type="http://schemas.openxmlformats.org/officeDocument/2006/relationships/notesSlide" Target="/ppt/notesSlides/notesSlide30.xml" Id="R4593c9574ace4fe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2.xml" Id="R357106be4d194626" /><Relationship Type="http://schemas.openxmlformats.org/officeDocument/2006/relationships/notesSlide" Target="/ppt/notesSlides/notesSlide31.xml" Id="R1bdc33b867164bf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032d7b1baf94baf" /><Relationship Type="http://schemas.openxmlformats.org/officeDocument/2006/relationships/notesSlide" Target="/ppt/notesSlides/notesSlide32.xml" Id="Rc0c27bcc405b4e9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20057df97f34b92" /><Relationship Type="http://schemas.openxmlformats.org/officeDocument/2006/relationships/notesSlide" Target="/ppt/notesSlides/notesSlide33.xml" Id="Rc00f19755c7c4f8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497b1772ba14556" /><Relationship Type="http://schemas.openxmlformats.org/officeDocument/2006/relationships/notesSlide" Target="/ppt/notesSlides/notesSlide34.xml" Id="R742b96c4700c415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d3deee6733d4605" /><Relationship Type="http://schemas.openxmlformats.org/officeDocument/2006/relationships/notesSlide" Target="/ppt/notesSlides/notesSlide35.xml" Id="R162d3d150f494e9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8bfc6ae70fb4ee3" /><Relationship Type="http://schemas.openxmlformats.org/officeDocument/2006/relationships/notesSlide" Target="/ppt/notesSlides/notesSlide36.xml" Id="R58ae4338a8694b9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1419709c0c84ef4" /><Relationship Type="http://schemas.openxmlformats.org/officeDocument/2006/relationships/notesSlide" Target="/ppt/notesSlides/notesSlide37.xml" Id="R6501cdf1054846b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2.xml" Id="R896764c38807445b" /><Relationship Type="http://schemas.openxmlformats.org/officeDocument/2006/relationships/hyperlink" Target="https://www.fao.org/4/t1838e/T1838E0u.htm" TargetMode="External" Id="R456153b328624d7c" /><Relationship Type="http://schemas.openxmlformats.org/officeDocument/2006/relationships/notesSlide" Target="/ppt/notesSlides/notesSlide38.xml" Id="R37c0949a8ead44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札幌</c:v>
          </c:tx>
          <c:spPr>
            <a:ln xmlns:a="http://schemas.openxmlformats.org/drawingml/2006/main" w="28575">
              <a:solidFill>
                <a:srgbClr val="2876A8"/>
              </a:solidFill>
            </a:ln>
          </c:spPr>
          <c:marker>
            <c:symbol val="circle"/>
            <c:size val="5"/>
            <c:spPr>
              <a:solidFill xmlns:a="http://schemas.openxmlformats.org/drawingml/2006/main">
                <a:srgbClr val="2876A8"/>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13.301</c:v>
                </c:pt>
                <c:pt idx="1">
                  <c:v>13.062</c:v>
                </c:pt>
                <c:pt idx="2">
                  <c:v>12.377</c:v>
                </c:pt>
                <c:pt idx="3">
                  <c:v>11.487</c:v>
                </c:pt>
                <c:pt idx="4">
                  <c:v>12.206</c:v>
                </c:pt>
                <c:pt idx="5">
                  <c:v>13.746</c:v>
                </c:pt>
                <c:pt idx="6">
                  <c:v>14.414</c:v>
                </c:pt>
                <c:pt idx="7">
                  <c:v>14.363</c:v>
                </c:pt>
                <c:pt idx="8">
                  <c:v>13.434</c:v>
                </c:pt>
                <c:pt idx="9">
                  <c:v>12.671</c:v>
                </c:pt>
                <c:pt idx="10">
                  <c:v>12.796</c:v>
                </c:pt>
                <c:pt idx="11">
                  <c:v>13.067</c:v>
                </c:pt>
              </c:numCache>
            </c:numRef>
          </c:val>
        </c:ser>
        <c:ser>
          <c:idx val="1"/>
          <c:order val="1"/>
          <c:tx>
            <c:v>東京</c:v>
          </c:tx>
          <c:spPr>
            <a:ln xmlns:a="http://schemas.openxmlformats.org/drawingml/2006/main" w="28575">
              <a:solidFill>
                <a:srgbClr val="C4483C"/>
              </a:solidFill>
            </a:ln>
          </c:spPr>
          <c:marker>
            <c:symbol val="circle"/>
            <c:size val="5"/>
            <c:spPr>
              <a:solidFill xmlns:a="http://schemas.openxmlformats.org/drawingml/2006/main">
                <a:srgbClr val="C4483C"/>
              </a:solidFill>
            </c:spPr>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9.683</c:v>
                </c:pt>
                <c:pt idx="1">
                  <c:v>9.848</c:v>
                </c:pt>
                <c:pt idx="2">
                  <c:v>10.694</c:v>
                </c:pt>
                <c:pt idx="3">
                  <c:v>11.552</c:v>
                </c:pt>
                <c:pt idx="4">
                  <c:v>12.704</c:v>
                </c:pt>
                <c:pt idx="5">
                  <c:v>14.38</c:v>
                </c:pt>
                <c:pt idx="6">
                  <c:v>14.501</c:v>
                </c:pt>
                <c:pt idx="7">
                  <c:v>13.877</c:v>
                </c:pt>
                <c:pt idx="8">
                  <c:v>14.32</c:v>
                </c:pt>
                <c:pt idx="9">
                  <c:v>13.455</c:v>
                </c:pt>
                <c:pt idx="10">
                  <c:v>12.005</c:v>
                </c:pt>
                <c:pt idx="11">
                  <c:v>10.535</c:v>
                </c:pt>
              </c:numCache>
            </c:numRef>
          </c:val>
        </c:ser>
        <c:ser>
          <c:idx val="2"/>
          <c:order val="2"/>
          <c:tx>
            <c:v>徳島</c:v>
          </c:tx>
          <c:spPr>
            <a:ln xmlns:a="http://schemas.openxmlformats.org/drawingml/2006/main" w="28575">
              <a:solidFill>
                <a:srgbClr val="087E8B"/>
              </a:solidFill>
            </a:ln>
          </c:spPr>
          <c:marker>
            <c:symbol val="circle"/>
            <c:size val="5"/>
            <c:spPr>
              <a:solidFill xmlns:a="http://schemas.openxmlformats.org/drawingml/2006/main">
                <a:srgbClr val="087E8B"/>
              </a:solidFill>
            </c:spPr>
          </c:marker>
          <c:cat>
            <c:numRef>
              <c:f>'Chart Data'!$E$2:$E$13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Data'!$F$2:$F$13</c:f>
              <c:numCache>
                <c:formatCode>General</c:formatCode>
                <c:ptCount val="12"/>
                <c:pt idx="0">
                  <c:v>11.5</c:v>
                </c:pt>
                <c:pt idx="1">
                  <c:v>11.494</c:v>
                </c:pt>
                <c:pt idx="2">
                  <c:v>11.447</c:v>
                </c:pt>
                <c:pt idx="3">
                  <c:v>11.535</c:v>
                </c:pt>
                <c:pt idx="4">
                  <c:v>12.45</c:v>
                </c:pt>
                <c:pt idx="5">
                  <c:v>14.333</c:v>
                </c:pt>
                <c:pt idx="6">
                  <c:v>14.749</c:v>
                </c:pt>
                <c:pt idx="7">
                  <c:v>13.551</c:v>
                </c:pt>
                <c:pt idx="8">
                  <c:v>13.442</c:v>
                </c:pt>
                <c:pt idx="9">
                  <c:v>12.921</c:v>
                </c:pt>
                <c:pt idx="10">
                  <c:v>12.404</c:v>
                </c:pt>
                <c:pt idx="11">
                  <c:v>11.872</c:v>
                </c:pt>
              </c:numCache>
            </c:numRef>
          </c:val>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月</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推定EMC（乾量基準 %）</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50112"/>
        <c:crossBetween val="between"/>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Yu Gothic"/>
              <a:ea typeface="Yu Gothic"/>
              <a:cs typeface="Yu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7EC16B-4A16-4785-B373-F7381B398316}"/>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defRPr sz="4050" b="1">
                <a:solidFill>
                  <a:srgbClr val="18364F"/>
                </a:solidFill>
                <a:latin typeface="Yu Gothic"/>
                <a:ea typeface="Yu Gothic"/>
                <a:cs typeface="Yu Gothic"/>
              </a:defRPr>
            </a:lvl1pPr>
            <a:lvl2pPr>
              <a:defRPr sz="4050" b="1">
                <a:solidFill>
                  <a:srgbClr val="18364F"/>
                </a:solidFill>
                <a:latin typeface="Yu Gothic"/>
                <a:ea typeface="Yu Gothic"/>
                <a:cs typeface="Yu Gothic"/>
              </a:defRPr>
            </a:lvl2pPr>
            <a:lvl3pPr>
              <a:defRPr sz="4050" b="1">
                <a:solidFill>
                  <a:srgbClr val="18364F"/>
                </a:solidFill>
                <a:latin typeface="Yu Gothic"/>
                <a:ea typeface="Yu Gothic"/>
                <a:cs typeface="Yu Gothic"/>
              </a:defRPr>
            </a:lvl3pPr>
            <a:lvl4pPr>
              <a:defRPr sz="4050" b="1">
                <a:solidFill>
                  <a:srgbClr val="18364F"/>
                </a:solidFill>
                <a:latin typeface="Yu Gothic"/>
                <a:ea typeface="Yu Gothic"/>
                <a:cs typeface="Yu Gothic"/>
              </a:defRPr>
            </a:lvl4pPr>
            <a:lvl5pPr>
              <a:defRPr sz="4050" b="1">
                <a:solidFill>
                  <a:srgbClr val="18364F"/>
                </a:solidFill>
                <a:latin typeface="Yu Gothic"/>
                <a:ea typeface="Yu Gothic"/>
                <a:cs typeface="Yu Gothic"/>
              </a:defRPr>
            </a:lvl5pPr>
            <a:lvl6pPr>
              <a:defRPr sz="4050" b="1">
                <a:solidFill>
                  <a:srgbClr val="18364F"/>
                </a:solidFill>
                <a:latin typeface="Yu Gothic"/>
                <a:ea typeface="Yu Gothic"/>
                <a:cs typeface="Yu Gothic"/>
              </a:defRPr>
            </a:lvl6pPr>
            <a:lvl7pPr>
              <a:defRPr sz="4050" b="1">
                <a:solidFill>
                  <a:srgbClr val="18364F"/>
                </a:solidFill>
                <a:latin typeface="Yu Gothic"/>
                <a:ea typeface="Yu Gothic"/>
                <a:cs typeface="Yu Gothic"/>
              </a:defRPr>
            </a:lvl7pPr>
            <a:lvl8pPr>
              <a:defRPr sz="4050" b="1">
                <a:solidFill>
                  <a:srgbClr val="18364F"/>
                </a:solidFill>
                <a:latin typeface="Yu Gothic"/>
                <a:ea typeface="Yu Gothic"/>
                <a:cs typeface="Yu Gothic"/>
              </a:defRPr>
            </a:lvl8pPr>
            <a:lvl9pPr>
              <a:defRPr sz="4050" b="1">
                <a:solidFill>
                  <a:srgbClr val="18364F"/>
                </a:solidFill>
                <a:latin typeface="Yu Gothic"/>
                <a:ea typeface="Yu Gothic"/>
                <a:cs typeface="Yu Gothic"/>
              </a:defRPr>
            </a:lvl9pPr>
          </a:lstStyle>
          <a:p xmlns:a="http://schemas.openxmlformats.org/drawingml/2006/main">
            <a:pPr>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73F373F6-16B9-40E3-B9E4-A0A5EF1C88E3}"/>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defRPr sz="2925" b="1">
                <a:solidFill>
                  <a:srgbClr val="087E8B"/>
                </a:solidFill>
                <a:latin typeface="Yu Gothic"/>
                <a:ea typeface="Yu Gothic"/>
                <a:cs typeface="Yu Gothic"/>
              </a:defRPr>
            </a:lvl1pPr>
            <a:lvl2pPr>
              <a:defRPr sz="2925" b="1">
                <a:solidFill>
                  <a:srgbClr val="087E8B"/>
                </a:solidFill>
                <a:latin typeface="Yu Gothic"/>
                <a:ea typeface="Yu Gothic"/>
                <a:cs typeface="Yu Gothic"/>
              </a:defRPr>
            </a:lvl2pPr>
            <a:lvl3pPr>
              <a:defRPr sz="2925" b="1">
                <a:solidFill>
                  <a:srgbClr val="087E8B"/>
                </a:solidFill>
                <a:latin typeface="Yu Gothic"/>
                <a:ea typeface="Yu Gothic"/>
                <a:cs typeface="Yu Gothic"/>
              </a:defRPr>
            </a:lvl3pPr>
            <a:lvl4pPr>
              <a:defRPr sz="2925" b="1">
                <a:solidFill>
                  <a:srgbClr val="087E8B"/>
                </a:solidFill>
                <a:latin typeface="Yu Gothic"/>
                <a:ea typeface="Yu Gothic"/>
                <a:cs typeface="Yu Gothic"/>
              </a:defRPr>
            </a:lvl4pPr>
            <a:lvl5pPr>
              <a:defRPr sz="2925" b="1">
                <a:solidFill>
                  <a:srgbClr val="087E8B"/>
                </a:solidFill>
                <a:latin typeface="Yu Gothic"/>
                <a:ea typeface="Yu Gothic"/>
                <a:cs typeface="Yu Gothic"/>
              </a:defRPr>
            </a:lvl5pPr>
            <a:lvl6pPr>
              <a:defRPr sz="2925" b="1">
                <a:solidFill>
                  <a:srgbClr val="087E8B"/>
                </a:solidFill>
                <a:latin typeface="Yu Gothic"/>
                <a:ea typeface="Yu Gothic"/>
                <a:cs typeface="Yu Gothic"/>
              </a:defRPr>
            </a:lvl6pPr>
            <a:lvl7pPr>
              <a:defRPr sz="2925" b="1">
                <a:solidFill>
                  <a:srgbClr val="087E8B"/>
                </a:solidFill>
                <a:latin typeface="Yu Gothic"/>
                <a:ea typeface="Yu Gothic"/>
                <a:cs typeface="Yu Gothic"/>
              </a:defRPr>
            </a:lvl7pPr>
            <a:lvl8pPr>
              <a:defRPr sz="2925" b="1">
                <a:solidFill>
                  <a:srgbClr val="087E8B"/>
                </a:solidFill>
                <a:latin typeface="Yu Gothic"/>
                <a:ea typeface="Yu Gothic"/>
                <a:cs typeface="Yu Gothic"/>
              </a:defRPr>
            </a:lvl8pPr>
            <a:lvl9pPr>
              <a:defRPr sz="2925" b="1">
                <a:solidFill>
                  <a:srgbClr val="087E8B"/>
                </a:solidFill>
                <a:latin typeface="Yu Gothic"/>
                <a:ea typeface="Yu Gothic"/>
                <a:cs typeface="Yu Gothic"/>
              </a:defRPr>
            </a:lvl9pPr>
          </a:lstStyle>
          <a:p xmlns:a="http://schemas.openxmlformats.org/drawingml/2006/main">
            <a:pPr>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第8回　木材と水</a:t>
            </a:r>
          </a:p>
        </p:txBody>
      </p:sp>
      <p:sp>
        <p:nvSpPr>
          <p:cNvPr id="3" name="">
            <a:extLst xmlns:a="http://schemas.openxmlformats.org/drawingml/2006/main">
              <a:ext uri="{FF2B5EF4-FFF2-40B4-BE49-F238E27FC236}">
                <a16:creationId xmlns:a16="http://schemas.microsoft.com/office/drawing/2014/main" id="{FCB03933-BAE6-4442-9E06-FABDAFFEFB5F}"/>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2B0838-A8B6-44D0-B0FF-AA25D42EA692}"/>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5EEFBF8C-E489-4133-8D3C-B14E52F5579B}"/>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6F694FE4-FFBE-4AC7-AE75-805FA2B3362C}"/>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defRPr sz="1950" b="0">
                <a:solidFill>
                  <a:srgbClr val="253C4D"/>
                </a:solidFill>
                <a:latin typeface="Yu Gothic"/>
                <a:ea typeface="Yu Gothic"/>
                <a:cs typeface="Yu Gothic"/>
              </a:defRPr>
            </a:lvl1pPr>
            <a:lvl2pPr>
              <a:defRPr sz="1950" b="0">
                <a:solidFill>
                  <a:srgbClr val="253C4D"/>
                </a:solidFill>
                <a:latin typeface="Yu Gothic"/>
                <a:ea typeface="Yu Gothic"/>
                <a:cs typeface="Yu Gothic"/>
              </a:defRPr>
            </a:lvl2pPr>
            <a:lvl3pPr>
              <a:defRPr sz="1950" b="0">
                <a:solidFill>
                  <a:srgbClr val="253C4D"/>
                </a:solidFill>
                <a:latin typeface="Yu Gothic"/>
                <a:ea typeface="Yu Gothic"/>
                <a:cs typeface="Yu Gothic"/>
              </a:defRPr>
            </a:lvl3pPr>
            <a:lvl4pPr>
              <a:defRPr sz="1950" b="0">
                <a:solidFill>
                  <a:srgbClr val="253C4D"/>
                </a:solidFill>
                <a:latin typeface="Yu Gothic"/>
                <a:ea typeface="Yu Gothic"/>
                <a:cs typeface="Yu Gothic"/>
              </a:defRPr>
            </a:lvl4pPr>
            <a:lvl5pPr>
              <a:defRPr sz="1950" b="0">
                <a:solidFill>
                  <a:srgbClr val="253C4D"/>
                </a:solidFill>
                <a:latin typeface="Yu Gothic"/>
                <a:ea typeface="Yu Gothic"/>
                <a:cs typeface="Yu Gothic"/>
              </a:defRPr>
            </a:lvl5pPr>
            <a:lvl6pPr>
              <a:defRPr sz="1950" b="0">
                <a:solidFill>
                  <a:srgbClr val="253C4D"/>
                </a:solidFill>
                <a:latin typeface="Yu Gothic"/>
                <a:ea typeface="Yu Gothic"/>
                <a:cs typeface="Yu Gothic"/>
              </a:defRPr>
            </a:lvl6pPr>
            <a:lvl7pPr>
              <a:defRPr sz="1950" b="0">
                <a:solidFill>
                  <a:srgbClr val="253C4D"/>
                </a:solidFill>
                <a:latin typeface="Yu Gothic"/>
                <a:ea typeface="Yu Gothic"/>
                <a:cs typeface="Yu Gothic"/>
              </a:defRPr>
            </a:lvl7pPr>
            <a:lvl8pPr>
              <a:defRPr sz="1950" b="0">
                <a:solidFill>
                  <a:srgbClr val="253C4D"/>
                </a:solidFill>
                <a:latin typeface="Yu Gothic"/>
                <a:ea typeface="Yu Gothic"/>
                <a:cs typeface="Yu Gothic"/>
              </a:defRPr>
            </a:lvl8pPr>
            <a:lvl9pPr>
              <a:defRPr sz="1950" b="0">
                <a:solidFill>
                  <a:srgbClr val="253C4D"/>
                </a:solidFill>
                <a:latin typeface="Yu Gothic"/>
                <a:ea typeface="Yu Gothic"/>
                <a:cs typeface="Yu Gothic"/>
              </a:defRPr>
            </a:lvl9pPr>
          </a:lstStyle>
          <a:p xmlns:a="http://schemas.openxmlformats.org/drawingml/2006/main">
            <a:pPr>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EE2393BC-A639-445B-BD96-7BEAD02501A7}"/>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defRPr sz="1575" b="1">
                <a:solidFill>
                  <a:srgbClr val="18364F"/>
                </a:solidFill>
                <a:latin typeface="Yu Gothic"/>
                <a:ea typeface="Yu Gothic"/>
                <a:cs typeface="Yu Gothic"/>
              </a:defRPr>
            </a:lvl1pPr>
            <a:lvl2pPr>
              <a:defRPr sz="1575" b="1">
                <a:solidFill>
                  <a:srgbClr val="18364F"/>
                </a:solidFill>
                <a:latin typeface="Yu Gothic"/>
                <a:ea typeface="Yu Gothic"/>
                <a:cs typeface="Yu Gothic"/>
              </a:defRPr>
            </a:lvl2pPr>
            <a:lvl3pPr>
              <a:defRPr sz="1575" b="1">
                <a:solidFill>
                  <a:srgbClr val="18364F"/>
                </a:solidFill>
                <a:latin typeface="Yu Gothic"/>
                <a:ea typeface="Yu Gothic"/>
                <a:cs typeface="Yu Gothic"/>
              </a:defRPr>
            </a:lvl3pPr>
            <a:lvl4pPr>
              <a:defRPr sz="1575" b="1">
                <a:solidFill>
                  <a:srgbClr val="18364F"/>
                </a:solidFill>
                <a:latin typeface="Yu Gothic"/>
                <a:ea typeface="Yu Gothic"/>
                <a:cs typeface="Yu Gothic"/>
              </a:defRPr>
            </a:lvl4pPr>
            <a:lvl5pPr>
              <a:defRPr sz="1575" b="1">
                <a:solidFill>
                  <a:srgbClr val="18364F"/>
                </a:solidFill>
                <a:latin typeface="Yu Gothic"/>
                <a:ea typeface="Yu Gothic"/>
                <a:cs typeface="Yu Gothic"/>
              </a:defRPr>
            </a:lvl5pPr>
            <a:lvl6pPr>
              <a:defRPr sz="1575" b="1">
                <a:solidFill>
                  <a:srgbClr val="18364F"/>
                </a:solidFill>
                <a:latin typeface="Yu Gothic"/>
                <a:ea typeface="Yu Gothic"/>
                <a:cs typeface="Yu Gothic"/>
              </a:defRPr>
            </a:lvl6pPr>
            <a:lvl7pPr>
              <a:defRPr sz="1575" b="1">
                <a:solidFill>
                  <a:srgbClr val="18364F"/>
                </a:solidFill>
                <a:latin typeface="Yu Gothic"/>
                <a:ea typeface="Yu Gothic"/>
                <a:cs typeface="Yu Gothic"/>
              </a:defRPr>
            </a:lvl7pPr>
            <a:lvl8pPr>
              <a:defRPr sz="1575" b="1">
                <a:solidFill>
                  <a:srgbClr val="18364F"/>
                </a:solidFill>
                <a:latin typeface="Yu Gothic"/>
                <a:ea typeface="Yu Gothic"/>
                <a:cs typeface="Yu Gothic"/>
              </a:defRPr>
            </a:lvl8pPr>
            <a:lvl9pPr>
              <a:defRPr sz="1575" b="1">
                <a:solidFill>
                  <a:srgbClr val="18364F"/>
                </a:solidFill>
                <a:latin typeface="Yu Gothic"/>
                <a:ea typeface="Yu Gothic"/>
                <a:cs typeface="Yu Gothic"/>
              </a:defRPr>
            </a:lvl9pPr>
          </a:lstStyle>
          <a:p xmlns:a="http://schemas.openxmlformats.org/drawingml/2006/main">
            <a:pPr>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1C181052-2066-494E-AB87-FF2B04DC3DEC}"/>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defRPr sz="1575" b="0">
                <a:solidFill>
                  <a:srgbClr val="596875"/>
                </a:solidFill>
                <a:latin typeface="Yu Gothic"/>
                <a:ea typeface="Yu Gothic"/>
                <a:cs typeface="Yu Gothic"/>
              </a:defRPr>
            </a:lvl1pPr>
            <a:lvl2pPr>
              <a:defRPr sz="1575" b="0">
                <a:solidFill>
                  <a:srgbClr val="596875"/>
                </a:solidFill>
                <a:latin typeface="Yu Gothic"/>
                <a:ea typeface="Yu Gothic"/>
                <a:cs typeface="Yu Gothic"/>
              </a:defRPr>
            </a:lvl2pPr>
            <a:lvl3pPr>
              <a:defRPr sz="1575" b="0">
                <a:solidFill>
                  <a:srgbClr val="596875"/>
                </a:solidFill>
                <a:latin typeface="Yu Gothic"/>
                <a:ea typeface="Yu Gothic"/>
                <a:cs typeface="Yu Gothic"/>
              </a:defRPr>
            </a:lvl3pPr>
            <a:lvl4pPr>
              <a:defRPr sz="1575" b="0">
                <a:solidFill>
                  <a:srgbClr val="596875"/>
                </a:solidFill>
                <a:latin typeface="Yu Gothic"/>
                <a:ea typeface="Yu Gothic"/>
                <a:cs typeface="Yu Gothic"/>
              </a:defRPr>
            </a:lvl4pPr>
            <a:lvl5pPr>
              <a:defRPr sz="1575" b="0">
                <a:solidFill>
                  <a:srgbClr val="596875"/>
                </a:solidFill>
                <a:latin typeface="Yu Gothic"/>
                <a:ea typeface="Yu Gothic"/>
                <a:cs typeface="Yu Gothic"/>
              </a:defRPr>
            </a:lvl5pPr>
            <a:lvl6pPr>
              <a:defRPr sz="1575" b="0">
                <a:solidFill>
                  <a:srgbClr val="596875"/>
                </a:solidFill>
                <a:latin typeface="Yu Gothic"/>
                <a:ea typeface="Yu Gothic"/>
                <a:cs typeface="Yu Gothic"/>
              </a:defRPr>
            </a:lvl6pPr>
            <a:lvl7pPr>
              <a:defRPr sz="1575" b="0">
                <a:solidFill>
                  <a:srgbClr val="596875"/>
                </a:solidFill>
                <a:latin typeface="Yu Gothic"/>
                <a:ea typeface="Yu Gothic"/>
                <a:cs typeface="Yu Gothic"/>
              </a:defRPr>
            </a:lvl7pPr>
            <a:lvl8pPr>
              <a:defRPr sz="1575" b="0">
                <a:solidFill>
                  <a:srgbClr val="596875"/>
                </a:solidFill>
                <a:latin typeface="Yu Gothic"/>
                <a:ea typeface="Yu Gothic"/>
                <a:cs typeface="Yu Gothic"/>
              </a:defRPr>
            </a:lvl8pPr>
            <a:lvl9pPr>
              <a:defRPr sz="1575" b="0">
                <a:solidFill>
                  <a:srgbClr val="596875"/>
                </a:solidFill>
                <a:latin typeface="Yu Gothic"/>
                <a:ea typeface="Yu Gothic"/>
                <a:cs typeface="Yu Gothic"/>
              </a:defRPr>
            </a:lvl9pPr>
          </a:lstStyle>
          <a:p xmlns:a="http://schemas.openxmlformats.org/drawingml/2006/main">
            <a:pPr>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8d64204192784b79"/>
              </a:rPr>
              <a:t>https://lc-nue.naruto-u.ac.jp/lcu-web/SC_06001B00_22</a:t>
            </a:r>
          </a:p>
        </p:txBody>
      </p:sp>
      <p:sp>
        <p:nvSpPr>
          <p:cNvPr id="9" name="">
            <a:extLst xmlns:a="http://schemas.openxmlformats.org/drawingml/2006/main">
              <a:ext uri="{FF2B5EF4-FFF2-40B4-BE49-F238E27FC236}">
                <a16:creationId xmlns:a16="http://schemas.microsoft.com/office/drawing/2014/main" id="{613F46E4-34B7-41D7-8F70-260A1E770755}"/>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1179471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D19479-8356-426E-B755-4660A00C546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第8回　木材と水</a:t>
            </a:r>
          </a:p>
        </p:txBody>
      </p:sp>
      <p:cxnSp>
        <p:nvCxnSpPr>
          <p:cNvPr id="2" name="">
            <a:extLst xmlns:a="http://schemas.openxmlformats.org/drawingml/2006/main">
              <a:ext uri="{FF2B5EF4-FFF2-40B4-BE49-F238E27FC236}">
                <a16:creationId xmlns:a16="http://schemas.microsoft.com/office/drawing/2014/main" id="{CB2FD6FF-1497-4FC4-84FB-443C2E70DA4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E9370CC-DCA8-482C-8EFE-4BF8C772455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A797CBB4-A4F4-4CD5-BAE5-C38142EF208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51E99DC8-7D79-43C5-9DB8-E3FAA2BE8F38}"/>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木材と水：含水率と水の所在</a:t>
            </a:r>
          </a:p>
        </p:txBody>
      </p:sp>
      <p:sp>
        <p:nvSpPr>
          <p:cNvPr id="6" name="">
            <a:extLst xmlns:a="http://schemas.openxmlformats.org/drawingml/2006/main">
              <a:ext uri="{FF2B5EF4-FFF2-40B4-BE49-F238E27FC236}">
                <a16:creationId xmlns:a16="http://schemas.microsoft.com/office/drawing/2014/main" id="{4BAFC2C2-5661-411F-AA34-2BE00B771849}"/>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乾量基準含水率を計算し、細胞内腔等の水と細胞壁内の水を区別する。</a:t>
            </a:r>
          </a:p>
        </p:txBody>
      </p:sp>
    </p:spTree>
    <p:extLst>
      <p:ext uri="{BB962C8B-B14F-4D97-AF65-F5344CB8AC3E}">
        <p14:creationId xmlns:p14="http://schemas.microsoft.com/office/powerpoint/2010/main" val="20996759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501E60-543E-4C1A-A758-B33212DA8B0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A3509846-0F43-49D1-8539-E8F1C1F6C60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4D0BB4EE-7611-4B81-92D9-F3280439CF4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80F6BD00-BA02-44F7-8ECD-1CD58F60EF5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42E3011A-8545-44A5-B73B-20DFA38624CC}"/>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絶乾質量と、湿ったときの質量を区別する</a:t>
            </a:r>
          </a:p>
        </p:txBody>
      </p:sp>
      <p:sp>
        <p:nvSpPr>
          <p:cNvPr id="6" name="">
            <a:extLst xmlns:a="http://schemas.openxmlformats.org/drawingml/2006/main">
              <a:ext uri="{FF2B5EF4-FFF2-40B4-BE49-F238E27FC236}">
                <a16:creationId xmlns:a16="http://schemas.microsoft.com/office/drawing/2014/main" id="{F41ED717-AB5D-40E9-BC8C-C741E2D7F81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細胞内腔と、細胞壁の内部は別の場所</a:t>
            </a:r>
          </a:p>
        </p:txBody>
      </p:sp>
      <p:sp>
        <p:nvSpPr>
          <p:cNvPr id="7" name="">
            <a:extLst xmlns:a="http://schemas.openxmlformats.org/drawingml/2006/main">
              <a:ext uri="{FF2B5EF4-FFF2-40B4-BE49-F238E27FC236}">
                <a16:creationId xmlns:a16="http://schemas.microsoft.com/office/drawing/2014/main" id="{9C3C2F6E-4F6D-4334-9753-B9C47174BFA4}"/>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水の量と所在を、同じ図で考える</a:t>
            </a:r>
          </a:p>
        </p:txBody>
      </p:sp>
    </p:spTree>
    <p:extLst>
      <p:ext uri="{BB962C8B-B14F-4D97-AF65-F5344CB8AC3E}">
        <p14:creationId xmlns:p14="http://schemas.microsoft.com/office/powerpoint/2010/main" val="3223938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299235-CCE8-4AF1-9CF1-9C4EC788217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0FFCE7A0-6338-4390-9270-BDB48E81D90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35A5F16-4B59-4B5E-837F-66FDC0BC216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3D4000F-3E2B-4615-B545-679B86C4118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FF58B593-1ACF-437F-A019-38BC2249AB9C}"/>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水を含む質量 M − 全乾質量 M₀ = 水の質量</a:t>
            </a:r>
          </a:p>
        </p:txBody>
      </p:sp>
      <p:sp>
        <p:nvSpPr>
          <p:cNvPr id="6" name="">
            <a:extLst xmlns:a="http://schemas.openxmlformats.org/drawingml/2006/main">
              <a:ext uri="{FF2B5EF4-FFF2-40B4-BE49-F238E27FC236}">
                <a16:creationId xmlns:a16="http://schemas.microsoft.com/office/drawing/2014/main" id="{00C03BC1-9E68-4333-A630-B018AB4E4AD9}"/>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自由水は、主に細胞内腔や細胞間の空隙にある液体の水</a:t>
            </a:r>
          </a:p>
        </p:txBody>
      </p:sp>
      <p:sp>
        <p:nvSpPr>
          <p:cNvPr id="7" name="">
            <a:extLst xmlns:a="http://schemas.openxmlformats.org/drawingml/2006/main">
              <a:ext uri="{FF2B5EF4-FFF2-40B4-BE49-F238E27FC236}">
                <a16:creationId xmlns:a16="http://schemas.microsoft.com/office/drawing/2014/main" id="{22B21AF6-BCD0-4307-8F29-96D85FCE8F9F}"/>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内腔の自由水を失い、細胞壁には水が多く残る状態を考える概念</a:t>
            </a:r>
          </a:p>
        </p:txBody>
      </p:sp>
      <p:sp>
        <p:nvSpPr>
          <p:cNvPr id="8" name="">
            <a:extLst xmlns:a="http://schemas.openxmlformats.org/drawingml/2006/main">
              <a:ext uri="{FF2B5EF4-FFF2-40B4-BE49-F238E27FC236}">
                <a16:creationId xmlns:a16="http://schemas.microsoft.com/office/drawing/2014/main" id="{1272A197-2DAB-4435-ABD4-A7A3100F6BFE}"/>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2339798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0A4E12-2DA6-4717-B4DC-05327DBBFD0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分子は「（全乾木材＋水）−全乾木材」</a:t>
            </a:r>
          </a:p>
        </p:txBody>
      </p:sp>
      <p:sp>
        <p:nvSpPr>
          <p:cNvPr id="2" name="">
            <a:extLst xmlns:a="http://schemas.openxmlformats.org/drawingml/2006/main">
              <a:ext uri="{FF2B5EF4-FFF2-40B4-BE49-F238E27FC236}">
                <a16:creationId xmlns:a16="http://schemas.microsoft.com/office/drawing/2014/main" id="{D8797B66-5280-4C14-BE6E-74DDC8C7963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815B63-C2C9-4AB4-9519-76C4CF68795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E702FB7-9010-4710-B64C-3B3C0FC9D3A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graphicFrame>
        <p:nvGraphicFramePr>
          <p:cNvPr id="5" name="">
            <a:extLst xmlns:a="http://schemas.openxmlformats.org/drawingml/2006/main">
              <a:ext uri="{FF2B5EF4-FFF2-40B4-BE49-F238E27FC236}">
                <a16:creationId xmlns:a16="http://schemas.microsoft.com/office/drawing/2014/main" id="{063177E9-368D-4307-BD7E-8CC52F3341A7}"/>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量</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意味</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仮想例</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M</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全乾木材＋水の質量</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100 g</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M₀</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全乾木材の質量</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80 g</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M − M₀</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（全乾木材＋水）−全乾木材＝水</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20 g</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AA4DC350-D3B7-49E8-83A5-80C75A46AE56}"/>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全体から「全乾木材」を引く。水を引く式ではない。</a:t>
            </a:r>
          </a:p>
        </p:txBody>
      </p:sp>
    </p:spTree>
    <p:extLst>
      <p:ext uri="{BB962C8B-B14F-4D97-AF65-F5344CB8AC3E}">
        <p14:creationId xmlns:p14="http://schemas.microsoft.com/office/powerpoint/2010/main" val="1629645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FD29DD8-639D-4172-B934-C7D71672662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木材の含水率：全乾質量を基準にする</a:t>
            </a:r>
          </a:p>
        </p:txBody>
      </p:sp>
      <p:sp>
        <p:nvSpPr>
          <p:cNvPr id="2" name="">
            <a:extLst xmlns:a="http://schemas.openxmlformats.org/drawingml/2006/main">
              <a:ext uri="{FF2B5EF4-FFF2-40B4-BE49-F238E27FC236}">
                <a16:creationId xmlns:a16="http://schemas.microsoft.com/office/drawing/2014/main" id="{4F8E13CC-A80A-4703-85C6-E1D08C08810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88F9FF-540B-49A2-9449-6F3D3BAB7D4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88BCB51-297A-4224-9060-3C40FC45912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481A255A-A00E-4077-B877-A167405EFC67}"/>
              </a:ext>
            </a:extLst>
          </p:cNvPr>
          <p:cNvSpPr>
            <a:spLocks xmlns:a="http://schemas.openxmlformats.org/drawingml/2006/main" noGrp="1"/>
          </p:cNvSpPr>
          <p:nvPr/>
        </p:nvSpPr>
        <p:spPr>
          <a:xfrm xmlns:a="http://schemas.openxmlformats.org/drawingml/2006/main">
            <a:off x="838200" y="15144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 = 全乾木材 + 水、M₀ = 全乾木材（いずれも質量）</a:t>
            </a:r>
          </a:p>
        </p:txBody>
      </p:sp>
      <p:sp>
        <p:nvSpPr>
          <p:cNvPr id="6" name="">
            <a:extLst xmlns:a="http://schemas.openxmlformats.org/drawingml/2006/main">
              <a:ext uri="{FF2B5EF4-FFF2-40B4-BE49-F238E27FC236}">
                <a16:creationId xmlns:a16="http://schemas.microsoft.com/office/drawing/2014/main" id="{9048CF6A-1537-4804-8AB0-BDB564E1B02A}"/>
              </a:ext>
            </a:extLst>
          </p:cNvPr>
          <p:cNvSpPr>
            <a:spLocks xmlns:a="http://schemas.openxmlformats.org/drawingml/2006/main" noGrp="1"/>
          </p:cNvSpPr>
          <p:nvPr/>
        </p:nvSpPr>
        <p:spPr>
          <a:xfrm xmlns:a="http://schemas.openxmlformats.org/drawingml/2006/main">
            <a:off x="838200" y="2238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7" name="">
            <a:extLst xmlns:a="http://schemas.openxmlformats.org/drawingml/2006/main">
              <a:ext uri="{FF2B5EF4-FFF2-40B4-BE49-F238E27FC236}">
                <a16:creationId xmlns:a16="http://schemas.microsoft.com/office/drawing/2014/main" id="{75B17EDA-2BDF-4B09-909B-783EC90D2C43}"/>
              </a:ext>
            </a:extLst>
          </p:cNvPr>
          <p:cNvSpPr>
            <a:spLocks xmlns:a="http://schemas.openxmlformats.org/drawingml/2006/main" noGrp="1"/>
          </p:cNvSpPr>
          <p:nvPr/>
        </p:nvSpPr>
        <p:spPr>
          <a:xfrm xmlns:a="http://schemas.openxmlformats.org/drawingml/2006/main">
            <a:off x="1438275" y="239077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8" name="">
            <a:extLst xmlns:a="http://schemas.openxmlformats.org/drawingml/2006/main">
              <a:ext uri="{FF2B5EF4-FFF2-40B4-BE49-F238E27FC236}">
                <a16:creationId xmlns:a16="http://schemas.microsoft.com/office/drawing/2014/main" id="{821E1435-53B7-4DC8-96F9-E3B4873CB560}"/>
              </a:ext>
            </a:extLst>
          </p:cNvPr>
          <p:cNvSpPr>
            <a:spLocks xmlns:a="http://schemas.openxmlformats.org/drawingml/2006/main" noGrp="1"/>
          </p:cNvSpPr>
          <p:nvPr/>
        </p:nvSpPr>
        <p:spPr>
          <a:xfrm xmlns:a="http://schemas.openxmlformats.org/drawingml/2006/main">
            <a:off x="1704975"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B32DF569-7B8A-4F81-A404-43300FCE665E}"/>
              </a:ext>
            </a:extLst>
          </p:cNvPr>
          <p:cNvSpPr>
            <a:spLocks xmlns:a="http://schemas.openxmlformats.org/drawingml/2006/main" noGrp="1"/>
          </p:cNvSpPr>
          <p:nvPr/>
        </p:nvSpPr>
        <p:spPr>
          <a:xfrm xmlns:a="http://schemas.openxmlformats.org/drawingml/2006/main">
            <a:off x="3714750" y="188595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 − M₀</a:t>
            </a:r>
          </a:p>
        </p:txBody>
      </p:sp>
      <p:sp>
        <p:nvSpPr>
          <p:cNvPr id="10" name="">
            <a:extLst xmlns:a="http://schemas.openxmlformats.org/drawingml/2006/main">
              <a:ext uri="{FF2B5EF4-FFF2-40B4-BE49-F238E27FC236}">
                <a16:creationId xmlns:a16="http://schemas.microsoft.com/office/drawing/2014/main" id="{07E8F415-B727-498B-8816-732E5312D461}"/>
              </a:ext>
            </a:extLst>
          </p:cNvPr>
          <p:cNvSpPr>
            <a:spLocks xmlns:a="http://schemas.openxmlformats.org/drawingml/2006/main" noGrp="1"/>
          </p:cNvSpPr>
          <p:nvPr/>
        </p:nvSpPr>
        <p:spPr>
          <a:xfrm xmlns:a="http://schemas.openxmlformats.org/drawingml/2006/main">
            <a:off x="3714750" y="244792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M₀</a:t>
            </a:r>
          </a:p>
        </p:txBody>
      </p:sp>
      <p:sp>
        <p:nvSpPr>
          <p:cNvPr id="11" name="">
            <a:extLst xmlns:a="http://schemas.openxmlformats.org/drawingml/2006/main">
              <a:ext uri="{FF2B5EF4-FFF2-40B4-BE49-F238E27FC236}">
                <a16:creationId xmlns:a16="http://schemas.microsoft.com/office/drawing/2014/main" id="{92CD71B8-6CE9-4F9D-8A74-9549ACECE627}"/>
              </a:ext>
            </a:extLst>
          </p:cNvPr>
          <p:cNvSpPr>
            <a:spLocks xmlns:a="http://schemas.openxmlformats.org/drawingml/2006/main" noGrp="1"/>
          </p:cNvSpPr>
          <p:nvPr/>
        </p:nvSpPr>
        <p:spPr>
          <a:xfrm xmlns:a="http://schemas.openxmlformats.org/drawingml/2006/main">
            <a:off x="3714750" y="2371725"/>
            <a:ext cx="3905250" cy="9525"/>
          </a:xfrm>
          <a:custGeom xmlns:a="http://schemas.openxmlformats.org/drawingml/2006/main">
            <a:pathLst>
              <a:path w="3905250" h="9525">
                <a:moveTo>
                  <a:pt x="0" y="0"/>
                </a:moveTo>
                <a:lnTo>
                  <a:pt x="3905250" y="0"/>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F395F7AA-D5E7-420B-961B-D73EC367AEAF}"/>
              </a:ext>
            </a:extLst>
          </p:cNvPr>
          <p:cNvSpPr>
            <a:spLocks xmlns:a="http://schemas.openxmlformats.org/drawingml/2006/main" noGrp="1"/>
          </p:cNvSpPr>
          <p:nvPr/>
        </p:nvSpPr>
        <p:spPr>
          <a:xfrm xmlns:a="http://schemas.openxmlformats.org/drawingml/2006/main">
            <a:off x="8315325" y="22383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3" name="">
            <a:extLst xmlns:a="http://schemas.openxmlformats.org/drawingml/2006/main">
              <a:ext uri="{FF2B5EF4-FFF2-40B4-BE49-F238E27FC236}">
                <a16:creationId xmlns:a16="http://schemas.microsoft.com/office/drawing/2014/main" id="{9B1D0E0E-28A0-4340-9B69-06A906E45F7F}"/>
              </a:ext>
            </a:extLst>
          </p:cNvPr>
          <p:cNvSpPr>
            <a:spLocks xmlns:a="http://schemas.openxmlformats.org/drawingml/2006/main" noGrp="1"/>
          </p:cNvSpPr>
          <p:nvPr/>
        </p:nvSpPr>
        <p:spPr>
          <a:xfrm xmlns:a="http://schemas.openxmlformats.org/drawingml/2006/main">
            <a:off x="838200" y="39719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14" name="">
            <a:extLst xmlns:a="http://schemas.openxmlformats.org/drawingml/2006/main">
              <a:ext uri="{FF2B5EF4-FFF2-40B4-BE49-F238E27FC236}">
                <a16:creationId xmlns:a16="http://schemas.microsoft.com/office/drawing/2014/main" id="{63EC62E5-D62C-4B7D-B8CB-F1B4E4204CF4}"/>
              </a:ext>
            </a:extLst>
          </p:cNvPr>
          <p:cNvSpPr>
            <a:spLocks xmlns:a="http://schemas.openxmlformats.org/drawingml/2006/main" noGrp="1"/>
          </p:cNvSpPr>
          <p:nvPr/>
        </p:nvSpPr>
        <p:spPr>
          <a:xfrm xmlns:a="http://schemas.openxmlformats.org/drawingml/2006/main">
            <a:off x="1438275" y="412432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15" name="">
            <a:extLst xmlns:a="http://schemas.openxmlformats.org/drawingml/2006/main">
              <a:ext uri="{FF2B5EF4-FFF2-40B4-BE49-F238E27FC236}">
                <a16:creationId xmlns:a16="http://schemas.microsoft.com/office/drawing/2014/main" id="{8458F301-2D0E-405B-BBCF-0FB4991B2E49}"/>
              </a:ext>
            </a:extLst>
          </p:cNvPr>
          <p:cNvSpPr>
            <a:spLocks xmlns:a="http://schemas.openxmlformats.org/drawingml/2006/main" noGrp="1"/>
          </p:cNvSpPr>
          <p:nvPr/>
        </p:nvSpPr>
        <p:spPr>
          <a:xfrm xmlns:a="http://schemas.openxmlformats.org/drawingml/2006/main">
            <a:off x="1704975" y="397192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285A484F-702D-466E-9BFC-9A76CF49B31A}"/>
              </a:ext>
            </a:extLst>
          </p:cNvPr>
          <p:cNvSpPr>
            <a:spLocks xmlns:a="http://schemas.openxmlformats.org/drawingml/2006/main" noGrp="1"/>
          </p:cNvSpPr>
          <p:nvPr/>
        </p:nvSpPr>
        <p:spPr>
          <a:xfrm xmlns:a="http://schemas.openxmlformats.org/drawingml/2006/main">
            <a:off x="3190875" y="36195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 + 水）− 全乾木材</a:t>
            </a:r>
          </a:p>
        </p:txBody>
      </p:sp>
      <p:sp>
        <p:nvSpPr>
          <p:cNvPr id="17" name="">
            <a:extLst xmlns:a="http://schemas.openxmlformats.org/drawingml/2006/main">
              <a:ext uri="{FF2B5EF4-FFF2-40B4-BE49-F238E27FC236}">
                <a16:creationId xmlns:a16="http://schemas.microsoft.com/office/drawing/2014/main" id="{1C3B49DE-B865-4612-9F2C-EF0CCF2CAE37}"/>
              </a:ext>
            </a:extLst>
          </p:cNvPr>
          <p:cNvSpPr>
            <a:spLocks xmlns:a="http://schemas.openxmlformats.org/drawingml/2006/main" noGrp="1"/>
          </p:cNvSpPr>
          <p:nvPr/>
        </p:nvSpPr>
        <p:spPr>
          <a:xfrm xmlns:a="http://schemas.openxmlformats.org/drawingml/2006/main">
            <a:off x="3190875" y="4181475"/>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a:t>
            </a:r>
          </a:p>
        </p:txBody>
      </p:sp>
      <p:sp>
        <p:nvSpPr>
          <p:cNvPr id="18" name="">
            <a:extLst xmlns:a="http://schemas.openxmlformats.org/drawingml/2006/main">
              <a:ext uri="{FF2B5EF4-FFF2-40B4-BE49-F238E27FC236}">
                <a16:creationId xmlns:a16="http://schemas.microsoft.com/office/drawing/2014/main" id="{0E39FD40-1A83-499D-B547-D0852683CCDD}"/>
              </a:ext>
            </a:extLst>
          </p:cNvPr>
          <p:cNvSpPr>
            <a:spLocks xmlns:a="http://schemas.openxmlformats.org/drawingml/2006/main" noGrp="1"/>
          </p:cNvSpPr>
          <p:nvPr/>
        </p:nvSpPr>
        <p:spPr>
          <a:xfrm xmlns:a="http://schemas.openxmlformats.org/drawingml/2006/main">
            <a:off x="3190875" y="4105275"/>
            <a:ext cx="6572250" cy="9525"/>
          </a:xfrm>
          <a:custGeom xmlns:a="http://schemas.openxmlformats.org/drawingml/2006/main">
            <a:pathLst>
              <a:path w="6572250" h="9525">
                <a:moveTo>
                  <a:pt x="0" y="0"/>
                </a:moveTo>
                <a:lnTo>
                  <a:pt x="6572250" y="0"/>
                </a:lnTo>
              </a:path>
            </a:pathLst>
          </a:custGeom>
          <a:noFill xmlns:a="http://schemas.openxmlformats.org/drawingml/2006/main"/>
          <a:ln xmlns:a="http://schemas.openxmlformats.org/drawingml/2006/main" w="19050">
            <a:solidFill>
              <a:srgbClr val="18364F"/>
            </a:solidFill>
          </a:ln>
        </p:spPr>
      </p:sp>
      <p:sp>
        <p:nvSpPr>
          <p:cNvPr id="19" name="">
            <a:extLst xmlns:a="http://schemas.openxmlformats.org/drawingml/2006/main">
              <a:ext uri="{FF2B5EF4-FFF2-40B4-BE49-F238E27FC236}">
                <a16:creationId xmlns:a16="http://schemas.microsoft.com/office/drawing/2014/main" id="{FD2870B2-B267-4559-B815-97FBA59A7DDB}"/>
              </a:ext>
            </a:extLst>
          </p:cNvPr>
          <p:cNvSpPr>
            <a:spLocks xmlns:a="http://schemas.openxmlformats.org/drawingml/2006/main" noGrp="1"/>
          </p:cNvSpPr>
          <p:nvPr/>
        </p:nvSpPr>
        <p:spPr>
          <a:xfrm xmlns:a="http://schemas.openxmlformats.org/drawingml/2006/main">
            <a:off x="10001250" y="3971925"/>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 100</a:t>
            </a:r>
          </a:p>
        </p:txBody>
      </p:sp>
      <p:sp>
        <p:nvSpPr>
          <p:cNvPr id="20" name="">
            <a:extLst xmlns:a="http://schemas.openxmlformats.org/drawingml/2006/main">
              <a:ext uri="{FF2B5EF4-FFF2-40B4-BE49-F238E27FC236}">
                <a16:creationId xmlns:a16="http://schemas.microsoft.com/office/drawing/2014/main" id="{03612255-A9D1-48F4-AF52-CA3B8CF799CD}"/>
              </a:ext>
            </a:extLst>
          </p:cNvPr>
          <p:cNvSpPr>
            <a:spLocks xmlns:a="http://schemas.openxmlformats.org/drawingml/2006/main" noGrp="1"/>
          </p:cNvSpPr>
          <p:nvPr/>
        </p:nvSpPr>
        <p:spPr>
          <a:xfrm xmlns:a="http://schemas.openxmlformats.org/drawingml/2006/main">
            <a:off x="838200" y="51911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分子は水の質量。分母は、乾いた木材の質量。</a:t>
            </a:r>
          </a:p>
        </p:txBody>
      </p:sp>
      <p:sp>
        <p:nvSpPr>
          <p:cNvPr id="21" name="">
            <a:extLst xmlns:a="http://schemas.openxmlformats.org/drawingml/2006/main">
              <a:ext uri="{FF2B5EF4-FFF2-40B4-BE49-F238E27FC236}">
                <a16:creationId xmlns:a16="http://schemas.microsoft.com/office/drawing/2014/main" id="{A0434258-6A52-41B5-83DD-EA777A603291}"/>
              </a:ext>
            </a:extLst>
          </p:cNvPr>
          <p:cNvSpPr>
            <a:spLocks xmlns:a="http://schemas.openxmlformats.org/drawingml/2006/main" noGrp="1"/>
          </p:cNvSpPr>
          <p:nvPr/>
        </p:nvSpPr>
        <p:spPr>
          <a:xfrm xmlns:a="http://schemas.openxmlformats.org/drawingml/2006/main">
            <a:off x="8382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xmlns:a="http://schemas.openxmlformats.org/drawingml/2006/main">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木材で通常使う乾量基準。全乾木材100 gに対する水の質量を表す。</a:t>
            </a:r>
          </a:p>
        </p:txBody>
      </p:sp>
    </p:spTree>
    <p:extLst>
      <p:ext uri="{BB962C8B-B14F-4D97-AF65-F5344CB8AC3E}">
        <p14:creationId xmlns:p14="http://schemas.microsoft.com/office/powerpoint/2010/main" val="2358497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368124-60A3-4325-A1A4-C3D585BA3FC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食品・農産物の含水率：全体を基準にする</a:t>
            </a:r>
          </a:p>
        </p:txBody>
      </p:sp>
      <p:sp>
        <p:nvSpPr>
          <p:cNvPr id="2" name="">
            <a:extLst xmlns:a="http://schemas.openxmlformats.org/drawingml/2006/main">
              <a:ext uri="{FF2B5EF4-FFF2-40B4-BE49-F238E27FC236}">
                <a16:creationId xmlns:a16="http://schemas.microsoft.com/office/drawing/2014/main" id="{25BFFBFF-EDC4-4B32-BBAE-EFA6EA60705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E7F3DB-DD9A-4F0A-A57F-F223BA61FCA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C970FA7-9F88-444C-99BD-DD8D8362AF6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7CF8D278-F10F-4BD6-8D33-054D80C0CB17}"/>
              </a:ext>
            </a:extLst>
          </p:cNvPr>
          <p:cNvSpPr>
            <a:spLocks xmlns:a="http://schemas.openxmlformats.org/drawingml/2006/main" noGrp="1"/>
          </p:cNvSpPr>
          <p:nvPr/>
        </p:nvSpPr>
        <p:spPr>
          <a:xfrm xmlns:a="http://schemas.openxmlformats.org/drawingml/2006/main">
            <a:off x="838200" y="15144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 = 乾物 + 水、M₀ = 乾物（いずれも質量）</a:t>
            </a:r>
          </a:p>
        </p:txBody>
      </p:sp>
      <p:sp>
        <p:nvSpPr>
          <p:cNvPr id="6" name="">
            <a:extLst xmlns:a="http://schemas.openxmlformats.org/drawingml/2006/main">
              <a:ext uri="{FF2B5EF4-FFF2-40B4-BE49-F238E27FC236}">
                <a16:creationId xmlns:a16="http://schemas.microsoft.com/office/drawing/2014/main" id="{B5C79716-13A0-484D-8B28-8E7576D4AA86}"/>
              </a:ext>
            </a:extLst>
          </p:cNvPr>
          <p:cNvSpPr>
            <a:spLocks xmlns:a="http://schemas.openxmlformats.org/drawingml/2006/main" noGrp="1"/>
          </p:cNvSpPr>
          <p:nvPr/>
        </p:nvSpPr>
        <p:spPr>
          <a:xfrm xmlns:a="http://schemas.openxmlformats.org/drawingml/2006/main">
            <a:off x="838200" y="2238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7" name="">
            <a:extLst xmlns:a="http://schemas.openxmlformats.org/drawingml/2006/main">
              <a:ext uri="{FF2B5EF4-FFF2-40B4-BE49-F238E27FC236}">
                <a16:creationId xmlns:a16="http://schemas.microsoft.com/office/drawing/2014/main" id="{288E644C-B484-4123-B702-62D9127CD873}"/>
              </a:ext>
            </a:extLst>
          </p:cNvPr>
          <p:cNvSpPr>
            <a:spLocks xmlns:a="http://schemas.openxmlformats.org/drawingml/2006/main" noGrp="1"/>
          </p:cNvSpPr>
          <p:nvPr/>
        </p:nvSpPr>
        <p:spPr>
          <a:xfrm xmlns:a="http://schemas.openxmlformats.org/drawingml/2006/main">
            <a:off x="1438275" y="239077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f</a:t>
            </a:r>
          </a:p>
        </p:txBody>
      </p:sp>
      <p:sp>
        <p:nvSpPr>
          <p:cNvPr id="8" name="">
            <a:extLst xmlns:a="http://schemas.openxmlformats.org/drawingml/2006/main">
              <a:ext uri="{FF2B5EF4-FFF2-40B4-BE49-F238E27FC236}">
                <a16:creationId xmlns:a16="http://schemas.microsoft.com/office/drawing/2014/main" id="{1A02F640-F6EF-4CC7-ABF8-C48AC42886C5}"/>
              </a:ext>
            </a:extLst>
          </p:cNvPr>
          <p:cNvSpPr>
            <a:spLocks xmlns:a="http://schemas.openxmlformats.org/drawingml/2006/main" noGrp="1"/>
          </p:cNvSpPr>
          <p:nvPr/>
        </p:nvSpPr>
        <p:spPr>
          <a:xfrm xmlns:a="http://schemas.openxmlformats.org/drawingml/2006/main">
            <a:off x="1704975"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099EC609-9614-4412-847A-376EA817E9E3}"/>
              </a:ext>
            </a:extLst>
          </p:cNvPr>
          <p:cNvSpPr>
            <a:spLocks xmlns:a="http://schemas.openxmlformats.org/drawingml/2006/main" noGrp="1"/>
          </p:cNvSpPr>
          <p:nvPr/>
        </p:nvSpPr>
        <p:spPr>
          <a:xfrm xmlns:a="http://schemas.openxmlformats.org/drawingml/2006/main">
            <a:off x="3714750" y="188595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 − M₀</a:t>
            </a:r>
          </a:p>
        </p:txBody>
      </p:sp>
      <p:sp>
        <p:nvSpPr>
          <p:cNvPr id="10" name="">
            <a:extLst xmlns:a="http://schemas.openxmlformats.org/drawingml/2006/main">
              <a:ext uri="{FF2B5EF4-FFF2-40B4-BE49-F238E27FC236}">
                <a16:creationId xmlns:a16="http://schemas.microsoft.com/office/drawing/2014/main" id="{9EADA6B0-DD58-48BE-8EF6-1A793E9C22E1}"/>
              </a:ext>
            </a:extLst>
          </p:cNvPr>
          <p:cNvSpPr>
            <a:spLocks xmlns:a="http://schemas.openxmlformats.org/drawingml/2006/main" noGrp="1"/>
          </p:cNvSpPr>
          <p:nvPr/>
        </p:nvSpPr>
        <p:spPr>
          <a:xfrm xmlns:a="http://schemas.openxmlformats.org/drawingml/2006/main">
            <a:off x="3714750" y="244792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a:t>
            </a:r>
          </a:p>
        </p:txBody>
      </p:sp>
      <p:sp>
        <p:nvSpPr>
          <p:cNvPr id="11" name="">
            <a:extLst xmlns:a="http://schemas.openxmlformats.org/drawingml/2006/main">
              <a:ext uri="{FF2B5EF4-FFF2-40B4-BE49-F238E27FC236}">
                <a16:creationId xmlns:a16="http://schemas.microsoft.com/office/drawing/2014/main" id="{78B23E47-BCAB-41D8-8037-4944E169ADAE}"/>
              </a:ext>
            </a:extLst>
          </p:cNvPr>
          <p:cNvSpPr>
            <a:spLocks xmlns:a="http://schemas.openxmlformats.org/drawingml/2006/main" noGrp="1"/>
          </p:cNvSpPr>
          <p:nvPr/>
        </p:nvSpPr>
        <p:spPr>
          <a:xfrm xmlns:a="http://schemas.openxmlformats.org/drawingml/2006/main">
            <a:off x="3714750" y="2371725"/>
            <a:ext cx="3905250" cy="9525"/>
          </a:xfrm>
          <a:custGeom xmlns:a="http://schemas.openxmlformats.org/drawingml/2006/main">
            <a:pathLst>
              <a:path w="3905250" h="9525">
                <a:moveTo>
                  <a:pt x="0" y="0"/>
                </a:moveTo>
                <a:lnTo>
                  <a:pt x="3905250" y="0"/>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3FAA8606-FDD6-4D10-85FB-69AAA6B88460}"/>
              </a:ext>
            </a:extLst>
          </p:cNvPr>
          <p:cNvSpPr>
            <a:spLocks xmlns:a="http://schemas.openxmlformats.org/drawingml/2006/main" noGrp="1"/>
          </p:cNvSpPr>
          <p:nvPr/>
        </p:nvSpPr>
        <p:spPr>
          <a:xfrm xmlns:a="http://schemas.openxmlformats.org/drawingml/2006/main">
            <a:off x="8315325" y="22383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3" name="">
            <a:extLst xmlns:a="http://schemas.openxmlformats.org/drawingml/2006/main">
              <a:ext uri="{FF2B5EF4-FFF2-40B4-BE49-F238E27FC236}">
                <a16:creationId xmlns:a16="http://schemas.microsoft.com/office/drawing/2014/main" id="{8CDD5F3C-DD09-44E8-BDAC-3D48FD23197D}"/>
              </a:ext>
            </a:extLst>
          </p:cNvPr>
          <p:cNvSpPr>
            <a:spLocks xmlns:a="http://schemas.openxmlformats.org/drawingml/2006/main" noGrp="1"/>
          </p:cNvSpPr>
          <p:nvPr/>
        </p:nvSpPr>
        <p:spPr>
          <a:xfrm xmlns:a="http://schemas.openxmlformats.org/drawingml/2006/main">
            <a:off x="838200" y="39719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14" name="">
            <a:extLst xmlns:a="http://schemas.openxmlformats.org/drawingml/2006/main">
              <a:ext uri="{FF2B5EF4-FFF2-40B4-BE49-F238E27FC236}">
                <a16:creationId xmlns:a16="http://schemas.microsoft.com/office/drawing/2014/main" id="{C333F71E-1FF5-46E4-B504-DB5545EAEE76}"/>
              </a:ext>
            </a:extLst>
          </p:cNvPr>
          <p:cNvSpPr>
            <a:spLocks xmlns:a="http://schemas.openxmlformats.org/drawingml/2006/main" noGrp="1"/>
          </p:cNvSpPr>
          <p:nvPr/>
        </p:nvSpPr>
        <p:spPr>
          <a:xfrm xmlns:a="http://schemas.openxmlformats.org/drawingml/2006/main">
            <a:off x="1438275" y="412432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f</a:t>
            </a:r>
          </a:p>
        </p:txBody>
      </p:sp>
      <p:sp>
        <p:nvSpPr>
          <p:cNvPr id="15" name="">
            <a:extLst xmlns:a="http://schemas.openxmlformats.org/drawingml/2006/main">
              <a:ext uri="{FF2B5EF4-FFF2-40B4-BE49-F238E27FC236}">
                <a16:creationId xmlns:a16="http://schemas.microsoft.com/office/drawing/2014/main" id="{F7321ED0-2498-4DB1-8F45-90C9A8660E36}"/>
              </a:ext>
            </a:extLst>
          </p:cNvPr>
          <p:cNvSpPr>
            <a:spLocks xmlns:a="http://schemas.openxmlformats.org/drawingml/2006/main" noGrp="1"/>
          </p:cNvSpPr>
          <p:nvPr/>
        </p:nvSpPr>
        <p:spPr>
          <a:xfrm xmlns:a="http://schemas.openxmlformats.org/drawingml/2006/main">
            <a:off x="1704975" y="397192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8A52922A-6055-45A2-A0E6-265CD67AED0F}"/>
              </a:ext>
            </a:extLst>
          </p:cNvPr>
          <p:cNvSpPr>
            <a:spLocks xmlns:a="http://schemas.openxmlformats.org/drawingml/2006/main" noGrp="1"/>
          </p:cNvSpPr>
          <p:nvPr/>
        </p:nvSpPr>
        <p:spPr>
          <a:xfrm xmlns:a="http://schemas.openxmlformats.org/drawingml/2006/main">
            <a:off x="3190875" y="36195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（乾物 + 水）− 乾物</a:t>
            </a:r>
          </a:p>
        </p:txBody>
      </p:sp>
      <p:sp>
        <p:nvSpPr>
          <p:cNvPr id="17" name="">
            <a:extLst xmlns:a="http://schemas.openxmlformats.org/drawingml/2006/main">
              <a:ext uri="{FF2B5EF4-FFF2-40B4-BE49-F238E27FC236}">
                <a16:creationId xmlns:a16="http://schemas.microsoft.com/office/drawing/2014/main" id="{4BA35331-8D0A-4663-8873-3147C1F331AB}"/>
              </a:ext>
            </a:extLst>
          </p:cNvPr>
          <p:cNvSpPr>
            <a:spLocks xmlns:a="http://schemas.openxmlformats.org/drawingml/2006/main" noGrp="1"/>
          </p:cNvSpPr>
          <p:nvPr/>
        </p:nvSpPr>
        <p:spPr>
          <a:xfrm xmlns:a="http://schemas.openxmlformats.org/drawingml/2006/main">
            <a:off x="3190875" y="4181475"/>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乾物 + 水</a:t>
            </a:r>
          </a:p>
        </p:txBody>
      </p:sp>
      <p:sp>
        <p:nvSpPr>
          <p:cNvPr id="18" name="">
            <a:extLst xmlns:a="http://schemas.openxmlformats.org/drawingml/2006/main">
              <a:ext uri="{FF2B5EF4-FFF2-40B4-BE49-F238E27FC236}">
                <a16:creationId xmlns:a16="http://schemas.microsoft.com/office/drawing/2014/main" id="{BA5EA169-0F22-4121-A784-C3F4BC7A228A}"/>
              </a:ext>
            </a:extLst>
          </p:cNvPr>
          <p:cNvSpPr>
            <a:spLocks xmlns:a="http://schemas.openxmlformats.org/drawingml/2006/main" noGrp="1"/>
          </p:cNvSpPr>
          <p:nvPr/>
        </p:nvSpPr>
        <p:spPr>
          <a:xfrm xmlns:a="http://schemas.openxmlformats.org/drawingml/2006/main">
            <a:off x="3190875" y="4105275"/>
            <a:ext cx="6572250" cy="9525"/>
          </a:xfrm>
          <a:custGeom xmlns:a="http://schemas.openxmlformats.org/drawingml/2006/main">
            <a:pathLst>
              <a:path w="6572250" h="9525">
                <a:moveTo>
                  <a:pt x="0" y="0"/>
                </a:moveTo>
                <a:lnTo>
                  <a:pt x="6572250" y="0"/>
                </a:lnTo>
              </a:path>
            </a:pathLst>
          </a:custGeom>
          <a:noFill xmlns:a="http://schemas.openxmlformats.org/drawingml/2006/main"/>
          <a:ln xmlns:a="http://schemas.openxmlformats.org/drawingml/2006/main" w="19050">
            <a:solidFill>
              <a:srgbClr val="18364F"/>
            </a:solidFill>
          </a:ln>
        </p:spPr>
      </p:sp>
      <p:sp>
        <p:nvSpPr>
          <p:cNvPr id="19" name="">
            <a:extLst xmlns:a="http://schemas.openxmlformats.org/drawingml/2006/main">
              <a:ext uri="{FF2B5EF4-FFF2-40B4-BE49-F238E27FC236}">
                <a16:creationId xmlns:a16="http://schemas.microsoft.com/office/drawing/2014/main" id="{C40DAA3E-F7CA-4CB7-B07C-4BEB405910FD}"/>
              </a:ext>
            </a:extLst>
          </p:cNvPr>
          <p:cNvSpPr>
            <a:spLocks xmlns:a="http://schemas.openxmlformats.org/drawingml/2006/main" noGrp="1"/>
          </p:cNvSpPr>
          <p:nvPr/>
        </p:nvSpPr>
        <p:spPr>
          <a:xfrm xmlns:a="http://schemas.openxmlformats.org/drawingml/2006/main">
            <a:off x="10001250" y="3971925"/>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 100</a:t>
            </a:r>
          </a:p>
        </p:txBody>
      </p:sp>
      <p:sp>
        <p:nvSpPr>
          <p:cNvPr id="20" name="">
            <a:extLst xmlns:a="http://schemas.openxmlformats.org/drawingml/2006/main">
              <a:ext uri="{FF2B5EF4-FFF2-40B4-BE49-F238E27FC236}">
                <a16:creationId xmlns:a16="http://schemas.microsoft.com/office/drawing/2014/main" id="{D243E159-90CD-4891-B0C7-CD9B916AE9D8}"/>
              </a:ext>
            </a:extLst>
          </p:cNvPr>
          <p:cNvSpPr>
            <a:spLocks xmlns:a="http://schemas.openxmlformats.org/drawingml/2006/main" noGrp="1"/>
          </p:cNvSpPr>
          <p:nvPr/>
        </p:nvSpPr>
        <p:spPr>
          <a:xfrm xmlns:a="http://schemas.openxmlformats.org/drawingml/2006/main">
            <a:off x="838200" y="51911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分子は水の質量。分母は、水を含む全体の質量。</a:t>
            </a:r>
          </a:p>
        </p:txBody>
      </p:sp>
      <p:sp>
        <p:nvSpPr>
          <p:cNvPr id="21" name="">
            <a:extLst xmlns:a="http://schemas.openxmlformats.org/drawingml/2006/main">
              <a:ext uri="{FF2B5EF4-FFF2-40B4-BE49-F238E27FC236}">
                <a16:creationId xmlns:a16="http://schemas.microsoft.com/office/drawing/2014/main" id="{CE59982B-CCCD-414E-8504-562454D640D5}"/>
              </a:ext>
            </a:extLst>
          </p:cNvPr>
          <p:cNvSpPr>
            <a:spLocks xmlns:a="http://schemas.openxmlformats.org/drawingml/2006/main" noGrp="1"/>
          </p:cNvSpPr>
          <p:nvPr/>
        </p:nvSpPr>
        <p:spPr>
          <a:xfrm xmlns:a="http://schemas.openxmlformats.org/drawingml/2006/main">
            <a:off x="8382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xmlns:a="http://schemas.openxmlformats.org/drawingml/2006/main">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食品・農産物でよく使う湿量基準。乾物を基準にする場合もある。</a:t>
            </a:r>
          </a:p>
        </p:txBody>
      </p:sp>
    </p:spTree>
    <p:extLst>
      <p:ext uri="{BB962C8B-B14F-4D97-AF65-F5344CB8AC3E}">
        <p14:creationId xmlns:p14="http://schemas.microsoft.com/office/powerpoint/2010/main" val="2130954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F9F7F5-D400-4051-9EB5-AC74A871AEE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同じ試料でも、含水率の意味が違う</a:t>
            </a:r>
          </a:p>
        </p:txBody>
      </p:sp>
      <p:sp>
        <p:nvSpPr>
          <p:cNvPr id="2" name="">
            <a:extLst xmlns:a="http://schemas.openxmlformats.org/drawingml/2006/main">
              <a:ext uri="{FF2B5EF4-FFF2-40B4-BE49-F238E27FC236}">
                <a16:creationId xmlns:a16="http://schemas.microsoft.com/office/drawing/2014/main" id="{9C7D81E5-1E18-4F2F-AA60-C5E665CAFC7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7C76D6-9343-43C9-B2DF-607262FE5BE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47DD1761-E5C9-4180-825E-2216AAB311C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graphicFrame>
        <p:nvGraphicFramePr>
          <p:cNvPr id="5" name="">
            <a:extLst xmlns:a="http://schemas.openxmlformats.org/drawingml/2006/main">
              <a:ext uri="{FF2B5EF4-FFF2-40B4-BE49-F238E27FC236}">
                <a16:creationId xmlns:a16="http://schemas.microsoft.com/office/drawing/2014/main" id="{A67399FC-90D1-4092-A77E-83BC39EC761C}"/>
              </a:ext>
            </a:extLst>
          </p:cNvPr>
          <p:cNvGraphicFramePr/>
          <p:nvPr/>
        </p:nvGraphicFramePr>
        <p:xfrm>
          <a:off xmlns:a="http://schemas.openxmlformats.org/drawingml/2006/main" x="838200" y="1714500"/>
          <a:ext xmlns:a="http://schemas.openxmlformats.org/drawingml/2006/main" cx="10477500" cy="3476625"/>
        </p:xfrm>
        <a:graphic xmlns:a="http://schemas.openxmlformats.org/drawingml/2006/main">
          <a:graphicData uri="http://schemas.openxmlformats.org/drawingml/2006/table">
            <a:tbl>
              <a:tblPr/>
              <a:tblGrid>
                <a:gridCol w="1619250"/>
                <a:gridCol w="4429125"/>
                <a:gridCol w="4429125"/>
              </a:tblGrid>
              <a:tr h="695325">
                <a:tc>
                  <a:txBody>
                    <a:bodyPr lIns="95250" tIns="95250" rIns="95250" bIns="95250"/>
                    <a:lstStyle/>
                    <a:p>
                      <a:r>
                        <a:rPr sz="1875" b="1">
                          <a:solidFill>
                            <a:srgbClr val="FFFFFF"/>
                          </a:solidFill>
                          <a:latin typeface="Yu Gothic"/>
                          <a:ea typeface="Yu Gothic"/>
                          <a:cs typeface="Yu Gothic"/>
                        </a:rPr>
                        <a:t>比較</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木材で通常使う乾量基準</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食品等でよく使う湿量基準</a:t>
                      </a:r>
                    </a:p>
                  </a:txBody>
                  <a:tcPr marL="91440" marR="91440" marT="45720" marB="45720">
                    <a:solidFill>
                      <a:srgbClr val="18364F"/>
                    </a:solidFill>
                  </a:tcPr>
                </a:tc>
              </a:tr>
              <a:tr h="695325">
                <a:tc>
                  <a:txBody>
                    <a:bodyPr lIns="95250" tIns="95250" rIns="95250" bIns="95250"/>
                    <a:lstStyle/>
                    <a:p>
                      <a:r>
                        <a:rPr sz="1875" b="0">
                          <a:solidFill>
                            <a:srgbClr val="253C4D"/>
                          </a:solidFill>
                          <a:latin typeface="Yu Gothic"/>
                          <a:ea typeface="Yu Gothic"/>
                          <a:cs typeface="Yu Gothic"/>
                        </a:rPr>
                        <a:t>分母</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全乾木材・乾物 M₀</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水を含む全体 M</a:t>
                      </a:r>
                    </a:p>
                  </a:txBody>
                  <a:tcPr marL="91440" marR="91440" marT="45720" marB="45720">
                    <a:solidFill>
                      <a:srgbClr val="F1F5F7"/>
                    </a:solidFill>
                  </a:tcPr>
                </a:tc>
              </a:tr>
              <a:tr h="695325">
                <a:tc>
                  <a:txBody>
                    <a:bodyPr lIns="95250" tIns="95250" rIns="95250" bIns="95250"/>
                    <a:lstStyle/>
                    <a:p>
                      <a:r>
                        <a:rPr sz="1875" b="0">
                          <a:solidFill>
                            <a:srgbClr val="253C4D"/>
                          </a:solidFill>
                          <a:latin typeface="Yu Gothic"/>
                          <a:ea typeface="Yu Gothic"/>
                          <a:cs typeface="Yu Gothic"/>
                        </a:rPr>
                        <a:t>問い</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乾いた材料に対する水の量</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水を含む全体に占める水の割合</a:t>
                      </a:r>
                    </a:p>
                  </a:txBody>
                  <a:tcPr marL="91440" marR="91440" marT="45720" marB="45720">
                    <a:solidFill>
                      <a:srgbClr val="FFFFFF"/>
                    </a:solidFill>
                  </a:tcPr>
                </a:tc>
              </a:tr>
              <a:tr h="695325">
                <a:tc>
                  <a:txBody>
                    <a:bodyPr lIns="95250" tIns="95250" rIns="95250" bIns="95250"/>
                    <a:lstStyle/>
                    <a:p>
                      <a:r>
                        <a:rPr sz="1875" b="0">
                          <a:solidFill>
                            <a:srgbClr val="253C4D"/>
                          </a:solidFill>
                          <a:latin typeface="Yu Gothic"/>
                          <a:ea typeface="Yu Gothic"/>
                          <a:cs typeface="Yu Gothic"/>
                        </a:rPr>
                        <a:t>同一試料の例</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全乾50 g、水75 g、全体125 g</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全乾50 g、水75 g、全体125 g</a:t>
                      </a:r>
                    </a:p>
                  </a:txBody>
                  <a:tcPr marL="91440" marR="91440" marT="45720" marB="45720">
                    <a:solidFill>
                      <a:srgbClr val="F1F5F7"/>
                    </a:solidFill>
                  </a:tcPr>
                </a:tc>
              </a:tr>
              <a:tr h="695325">
                <a:tc>
                  <a:txBody>
                    <a:bodyPr lIns="95250" tIns="95250" rIns="95250" bIns="95250"/>
                    <a:lstStyle/>
                    <a:p>
                      <a:r>
                        <a:rPr sz="1875" b="0">
                          <a:solidFill>
                            <a:srgbClr val="253C4D"/>
                          </a:solidFill>
                          <a:latin typeface="Yu Gothic"/>
                          <a:ea typeface="Yu Gothic"/>
                          <a:cs typeface="Yu Gothic"/>
                        </a:rPr>
                        <a:t>計算結果</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75/50 × 100 = 150%</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75/125 × 100 = 60%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9896046-A1E0-4187-9767-1196235A7998}"/>
              </a:ext>
            </a:extLst>
          </p:cNvPr>
          <p:cNvSpPr>
            <a:spLocks xmlns:a="http://schemas.openxmlformats.org/drawingml/2006/main" noGrp="1"/>
          </p:cNvSpPr>
          <p:nvPr/>
        </p:nvSpPr>
        <p:spPr>
          <a:xfrm xmlns:a="http://schemas.openxmlformats.org/drawingml/2006/main">
            <a:off x="838200" y="54959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水の量が変わったのではなく、同じ水を何と比べるかが違う。</a:t>
            </a:r>
          </a:p>
        </p:txBody>
      </p:sp>
    </p:spTree>
    <p:extLst>
      <p:ext uri="{BB962C8B-B14F-4D97-AF65-F5344CB8AC3E}">
        <p14:creationId xmlns:p14="http://schemas.microsoft.com/office/powerpoint/2010/main" val="15686291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B8FC1E-14D7-4D80-8BE8-F88D97178DA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乾量基準と湿量基準の換算</a:t>
            </a:r>
          </a:p>
        </p:txBody>
      </p:sp>
      <p:sp>
        <p:nvSpPr>
          <p:cNvPr id="2" name="">
            <a:extLst xmlns:a="http://schemas.openxmlformats.org/drawingml/2006/main">
              <a:ext uri="{FF2B5EF4-FFF2-40B4-BE49-F238E27FC236}">
                <a16:creationId xmlns:a16="http://schemas.microsoft.com/office/drawing/2014/main" id="{E9AEA4D6-99A8-4207-9F57-21A984C580E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8B82CC-0C43-4B8F-AE4C-E78EC4194F4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F2E721A6-882F-4595-95BF-0B62EDE8BB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F91DDC3E-4602-48EA-8604-BCD66E812E8E}"/>
              </a:ext>
            </a:extLst>
          </p:cNvPr>
          <p:cNvSpPr>
            <a:spLocks xmlns:a="http://schemas.openxmlformats.org/drawingml/2006/main" noGrp="1"/>
          </p:cNvSpPr>
          <p:nvPr/>
        </p:nvSpPr>
        <p:spPr>
          <a:xfrm xmlns:a="http://schemas.openxmlformats.org/drawingml/2006/main">
            <a:off x="838200" y="15716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乾量基準の値を a（%）とおく</a:t>
            </a:r>
          </a:p>
        </p:txBody>
      </p:sp>
      <p:sp>
        <p:nvSpPr>
          <p:cNvPr id="6" name="">
            <a:extLst xmlns:a="http://schemas.openxmlformats.org/drawingml/2006/main">
              <a:ext uri="{FF2B5EF4-FFF2-40B4-BE49-F238E27FC236}">
                <a16:creationId xmlns:a16="http://schemas.microsoft.com/office/drawing/2014/main" id="{1BD86954-9D0B-4F5A-B49E-049153460F5D}"/>
              </a:ext>
            </a:extLst>
          </p:cNvPr>
          <p:cNvSpPr>
            <a:spLocks xmlns:a="http://schemas.openxmlformats.org/drawingml/2006/main" noGrp="1"/>
          </p:cNvSpPr>
          <p:nvPr/>
        </p:nvSpPr>
        <p:spPr>
          <a:xfrm xmlns:a="http://schemas.openxmlformats.org/drawingml/2006/main">
            <a:off x="838200" y="214312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全乾質量100 gを基準にすると、水は a g、全体は 100 + a g</a:t>
            </a:r>
          </a:p>
        </p:txBody>
      </p:sp>
      <p:sp>
        <p:nvSpPr>
          <p:cNvPr id="7" name="">
            <a:extLst xmlns:a="http://schemas.openxmlformats.org/drawingml/2006/main">
              <a:ext uri="{FF2B5EF4-FFF2-40B4-BE49-F238E27FC236}">
                <a16:creationId xmlns:a16="http://schemas.microsoft.com/office/drawing/2014/main" id="{A079E245-E25F-4FC4-AE85-54921B8B0ED6}"/>
              </a:ext>
            </a:extLst>
          </p:cNvPr>
          <p:cNvSpPr>
            <a:spLocks xmlns:a="http://schemas.openxmlformats.org/drawingml/2006/main" noGrp="1"/>
          </p:cNvSpPr>
          <p:nvPr/>
        </p:nvSpPr>
        <p:spPr>
          <a:xfrm xmlns:a="http://schemas.openxmlformats.org/drawingml/2006/main">
            <a:off x="838200" y="31908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湿量基準（%）=</a:t>
            </a:r>
          </a:p>
        </p:txBody>
      </p:sp>
      <p:sp>
        <p:nvSpPr>
          <p:cNvPr id="8" name="">
            <a:extLst xmlns:a="http://schemas.openxmlformats.org/drawingml/2006/main">
              <a:ext uri="{FF2B5EF4-FFF2-40B4-BE49-F238E27FC236}">
                <a16:creationId xmlns:a16="http://schemas.microsoft.com/office/drawing/2014/main" id="{7B59A72D-FFAD-4CCF-9CAD-2A44466C0BB1}"/>
              </a:ext>
            </a:extLst>
          </p:cNvPr>
          <p:cNvSpPr>
            <a:spLocks xmlns:a="http://schemas.openxmlformats.org/drawingml/2006/main" noGrp="1"/>
          </p:cNvSpPr>
          <p:nvPr/>
        </p:nvSpPr>
        <p:spPr>
          <a:xfrm xmlns:a="http://schemas.openxmlformats.org/drawingml/2006/main">
            <a:off x="4095750" y="2857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a</a:t>
            </a:r>
          </a:p>
        </p:txBody>
      </p:sp>
      <p:sp>
        <p:nvSpPr>
          <p:cNvPr id="9" name="">
            <a:extLst xmlns:a="http://schemas.openxmlformats.org/drawingml/2006/main">
              <a:ext uri="{FF2B5EF4-FFF2-40B4-BE49-F238E27FC236}">
                <a16:creationId xmlns:a16="http://schemas.microsoft.com/office/drawing/2014/main" id="{48C3704B-4610-4760-81C1-F326BFA75908}"/>
              </a:ext>
            </a:extLst>
          </p:cNvPr>
          <p:cNvSpPr>
            <a:spLocks xmlns:a="http://schemas.openxmlformats.org/drawingml/2006/main" noGrp="1"/>
          </p:cNvSpPr>
          <p:nvPr/>
        </p:nvSpPr>
        <p:spPr>
          <a:xfrm xmlns:a="http://schemas.openxmlformats.org/drawingml/2006/main">
            <a:off x="4095750" y="341947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100 + a</a:t>
            </a:r>
          </a:p>
        </p:txBody>
      </p:sp>
      <p:sp>
        <p:nvSpPr>
          <p:cNvPr id="10" name="">
            <a:extLst xmlns:a="http://schemas.openxmlformats.org/drawingml/2006/main">
              <a:ext uri="{FF2B5EF4-FFF2-40B4-BE49-F238E27FC236}">
                <a16:creationId xmlns:a16="http://schemas.microsoft.com/office/drawing/2014/main" id="{3618F4A3-6E17-44E0-9EE9-B5F3A080A744}"/>
              </a:ext>
            </a:extLst>
          </p:cNvPr>
          <p:cNvSpPr>
            <a:spLocks xmlns:a="http://schemas.openxmlformats.org/drawingml/2006/main" noGrp="1"/>
          </p:cNvSpPr>
          <p:nvPr/>
        </p:nvSpPr>
        <p:spPr>
          <a:xfrm xmlns:a="http://schemas.openxmlformats.org/drawingml/2006/main">
            <a:off x="4095750" y="3343275"/>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48810EE8-31C2-49B1-9F78-C1662274ECE2}"/>
              </a:ext>
            </a:extLst>
          </p:cNvPr>
          <p:cNvSpPr>
            <a:spLocks xmlns:a="http://schemas.openxmlformats.org/drawingml/2006/main" noGrp="1"/>
          </p:cNvSpPr>
          <p:nvPr/>
        </p:nvSpPr>
        <p:spPr>
          <a:xfrm xmlns:a="http://schemas.openxmlformats.org/drawingml/2006/main">
            <a:off x="8143875" y="3190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2" name="">
            <a:extLst xmlns:a="http://schemas.openxmlformats.org/drawingml/2006/main">
              <a:ext uri="{FF2B5EF4-FFF2-40B4-BE49-F238E27FC236}">
                <a16:creationId xmlns:a16="http://schemas.microsoft.com/office/drawing/2014/main" id="{E1E565B6-2A1C-4398-AC73-7FC94F4B792E}"/>
              </a:ext>
            </a:extLst>
          </p:cNvPr>
          <p:cNvSpPr>
            <a:spLocks xmlns:a="http://schemas.openxmlformats.org/drawingml/2006/main" noGrp="1"/>
          </p:cNvSpPr>
          <p:nvPr/>
        </p:nvSpPr>
        <p:spPr>
          <a:xfrm xmlns:a="http://schemas.openxmlformats.org/drawingml/2006/main">
            <a:off x="838200" y="4343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18364F"/>
                </a:solidFill>
                <a:latin typeface="Yu Gothic"/>
                <a:ea typeface="Yu Gothic"/>
                <a:cs typeface="Yu Gothic"/>
              </a:defRPr>
            </a:defPPr>
            <a:lvl1pPr>
              <a:buNone/>
              <a:defRPr sz="2250" b="1">
                <a:solidFill>
                  <a:srgbClr val="18364F"/>
                </a:solidFill>
                <a:latin typeface="Yu Gothic"/>
                <a:ea typeface="Yu Gothic"/>
                <a:cs typeface="Yu Gothic"/>
              </a:defRPr>
            </a:lvl1pPr>
            <a:lvl2pPr>
              <a:buNone/>
              <a:defRPr sz="2250" b="1">
                <a:solidFill>
                  <a:srgbClr val="18364F"/>
                </a:solidFill>
                <a:latin typeface="Yu Gothic"/>
                <a:ea typeface="Yu Gothic"/>
                <a:cs typeface="Yu Gothic"/>
              </a:defRPr>
            </a:lvl2pPr>
            <a:lvl3pPr>
              <a:buNone/>
              <a:defRPr sz="2250" b="1">
                <a:solidFill>
                  <a:srgbClr val="18364F"/>
                </a:solidFill>
                <a:latin typeface="Yu Gothic"/>
                <a:ea typeface="Yu Gothic"/>
                <a:cs typeface="Yu Gothic"/>
              </a:defRPr>
            </a:lvl3pPr>
            <a:lvl4pPr>
              <a:buNone/>
              <a:defRPr sz="2250" b="1">
                <a:solidFill>
                  <a:srgbClr val="18364F"/>
                </a:solidFill>
                <a:latin typeface="Yu Gothic"/>
                <a:ea typeface="Yu Gothic"/>
                <a:cs typeface="Yu Gothic"/>
              </a:defRPr>
            </a:lvl4pPr>
            <a:lvl5pPr>
              <a:buNone/>
              <a:defRPr sz="2250" b="1">
                <a:solidFill>
                  <a:srgbClr val="18364F"/>
                </a:solidFill>
                <a:latin typeface="Yu Gothic"/>
                <a:ea typeface="Yu Gothic"/>
                <a:cs typeface="Yu Gothic"/>
              </a:defRPr>
            </a:lvl5pPr>
            <a:lvl6pPr>
              <a:buNone/>
              <a:defRPr sz="2250" b="1">
                <a:solidFill>
                  <a:srgbClr val="18364F"/>
                </a:solidFill>
                <a:latin typeface="Yu Gothic"/>
                <a:ea typeface="Yu Gothic"/>
                <a:cs typeface="Yu Gothic"/>
              </a:defRPr>
            </a:lvl6pPr>
            <a:lvl7pPr>
              <a:buNone/>
              <a:defRPr sz="2250" b="1">
                <a:solidFill>
                  <a:srgbClr val="18364F"/>
                </a:solidFill>
                <a:latin typeface="Yu Gothic"/>
                <a:ea typeface="Yu Gothic"/>
                <a:cs typeface="Yu Gothic"/>
              </a:defRPr>
            </a:lvl7pPr>
            <a:lvl8pPr>
              <a:buNone/>
              <a:defRPr sz="2250" b="1">
                <a:solidFill>
                  <a:srgbClr val="18364F"/>
                </a:solidFill>
                <a:latin typeface="Yu Gothic"/>
                <a:ea typeface="Yu Gothic"/>
                <a:cs typeface="Yu Gothic"/>
              </a:defRPr>
            </a:lvl8pPr>
            <a:lvl9pPr>
              <a:buNone/>
              <a:defRPr sz="2250" b="1">
                <a:solidFill>
                  <a:srgbClr val="18364F"/>
                </a:solidFill>
                <a:latin typeface="Yu Gothic"/>
                <a:ea typeface="Yu Gothic"/>
                <a:cs typeface="Yu Gothic"/>
              </a:defRPr>
            </a:lvl9pPr>
          </a:lstStyle>
          <a:p xmlns:a="http://schemas.openxmlformats.org/drawingml/2006/main">
            <a:pPr>
              <a:buNone/>
              <a:defRPr sz="2250" b="1">
                <a:solidFill>
                  <a:srgbClr val="18364F"/>
                </a:solidFill>
                <a:latin typeface="Yu Gothic"/>
                <a:ea typeface="Yu Gothic"/>
                <a:cs typeface="Yu Gothic"/>
              </a:defRPr>
            </a:pPr>
            <a:r>
              <a:rPr sz="2250" b="1">
                <a:solidFill>
                  <a:srgbClr val="18364F"/>
                </a:solidFill>
                <a:latin typeface="Yu Gothic"/>
                <a:ea typeface="Yu Gothic"/>
                <a:cs typeface="Yu Gothic"/>
              </a:rPr>
              <a:t>逆に、湿量基準 b（%） → 乾量基準 = 100b / (100 − b)</a:t>
            </a:r>
          </a:p>
        </p:txBody>
      </p:sp>
      <p:sp>
        <p:nvSpPr>
          <p:cNvPr id="13" name="">
            <a:extLst xmlns:a="http://schemas.openxmlformats.org/drawingml/2006/main">
              <a:ext uri="{FF2B5EF4-FFF2-40B4-BE49-F238E27FC236}">
                <a16:creationId xmlns:a16="http://schemas.microsoft.com/office/drawing/2014/main" id="{109450F9-63AE-44BD-9072-533DD3DCB0EF}"/>
              </a:ext>
            </a:extLst>
          </p:cNvPr>
          <p:cNvSpPr>
            <a:spLocks xmlns:a="http://schemas.openxmlformats.org/drawingml/2006/main" noGrp="1"/>
          </p:cNvSpPr>
          <p:nvPr/>
        </p:nvSpPr>
        <p:spPr>
          <a:xfrm xmlns:a="http://schemas.openxmlformats.org/drawingml/2006/main">
            <a:off x="838200" y="52482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例：乾量150% → 湿量60% ／ 湿量60% → 乾量150%</a:t>
            </a:r>
          </a:p>
        </p:txBody>
      </p:sp>
      <p:sp>
        <p:nvSpPr>
          <p:cNvPr id="14" name="">
            <a:extLst xmlns:a="http://schemas.openxmlformats.org/drawingml/2006/main">
              <a:ext uri="{FF2B5EF4-FFF2-40B4-BE49-F238E27FC236}">
                <a16:creationId xmlns:a16="http://schemas.microsoft.com/office/drawing/2014/main" id="{C50EEDA9-F340-480A-BBAF-EF7558B2D57C}"/>
              </a:ext>
            </a:extLst>
          </p:cNvPr>
          <p:cNvSpPr>
            <a:spLocks xmlns:a="http://schemas.openxmlformats.org/drawingml/2006/main" noGrp="1"/>
          </p:cNvSpPr>
          <p:nvPr/>
        </p:nvSpPr>
        <p:spPr>
          <a:xfrm xmlns:a="http://schemas.openxmlformats.org/drawingml/2006/main">
            <a:off x="838200" y="5924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a・b は百分率の数値。0.20のような比をそのまま代入しない。</a:t>
            </a:r>
          </a:p>
        </p:txBody>
      </p:sp>
    </p:spTree>
    <p:extLst>
      <p:ext uri="{BB962C8B-B14F-4D97-AF65-F5344CB8AC3E}">
        <p14:creationId xmlns:p14="http://schemas.microsoft.com/office/powerpoint/2010/main" val="933291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B47A9C-6DEC-46B2-8E44-36F000416BF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四つの換算を図で確かめる</a:t>
            </a:r>
          </a:p>
        </p:txBody>
      </p:sp>
      <p:sp>
        <p:nvSpPr>
          <p:cNvPr id="2" name="">
            <a:extLst xmlns:a="http://schemas.openxmlformats.org/drawingml/2006/main">
              <a:ext uri="{FF2B5EF4-FFF2-40B4-BE49-F238E27FC236}">
                <a16:creationId xmlns:a16="http://schemas.microsoft.com/office/drawing/2014/main" id="{4CB220E5-EA77-483D-B1FA-2501DC7F187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267920-1166-4104-9363-CB9EA42C0C8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1623B87-5524-4F58-9695-EE43734A106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B4786189-B216-4F17-93A5-716AC57081F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乾量20% → 湿量？ ／ 乾量100% → 湿量？</a:t>
            </a:r>
          </a:p>
        </p:txBody>
      </p:sp>
      <p:sp>
        <p:nvSpPr>
          <p:cNvPr id="6" name="">
            <a:extLst xmlns:a="http://schemas.openxmlformats.org/drawingml/2006/main">
              <a:ext uri="{FF2B5EF4-FFF2-40B4-BE49-F238E27FC236}">
                <a16:creationId xmlns:a16="http://schemas.microsoft.com/office/drawing/2014/main" id="{83F62BF8-BC4B-478E-996C-74C745E7907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湿量20% → 乾量？ ／ 湿量50% → 乾量？</a:t>
            </a:r>
          </a:p>
        </p:txBody>
      </p:sp>
      <p:sp>
        <p:nvSpPr>
          <p:cNvPr id="7" name="">
            <a:extLst xmlns:a="http://schemas.openxmlformats.org/drawingml/2006/main">
              <a:ext uri="{FF2B5EF4-FFF2-40B4-BE49-F238E27FC236}">
                <a16:creationId xmlns:a16="http://schemas.microsoft.com/office/drawing/2014/main" id="{085003F1-2FE1-43AD-A839-025A59C7CD95}"/>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分母を「乾物100 g」「全体100 g」から作る</a:t>
            </a:r>
          </a:p>
        </p:txBody>
      </p:sp>
      <p:sp>
        <p:nvSpPr>
          <p:cNvPr id="8" name="">
            <a:extLst xmlns:a="http://schemas.openxmlformats.org/drawingml/2006/main">
              <a:ext uri="{FF2B5EF4-FFF2-40B4-BE49-F238E27FC236}">
                <a16:creationId xmlns:a16="http://schemas.microsoft.com/office/drawing/2014/main" id="{DCC7D655-C00A-4CB0-BE9E-AD26E698C3F1}"/>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乾量基準の方が大きい理由を説明する</a:t>
            </a:r>
          </a:p>
        </p:txBody>
      </p:sp>
    </p:spTree>
    <p:extLst>
      <p:ext uri="{BB962C8B-B14F-4D97-AF65-F5344CB8AC3E}">
        <p14:creationId xmlns:p14="http://schemas.microsoft.com/office/powerpoint/2010/main" val="3549115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D61273-1A37-444F-9460-D0B53FADC61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5D34AA30-0A12-47AA-8EFF-3ACA5728AA0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925FDF37-78F8-4AB6-83D6-FAD7F759E65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7A6C29C2-08D8-42B1-B273-316898E9622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11</a:t>
            </a:r>
          </a:p>
        </p:txBody>
      </p:sp>
      <p:graphicFrame>
        <p:nvGraphicFramePr>
          <p:cNvPr id="5" name="">
            <a:extLst xmlns:a="http://schemas.openxmlformats.org/drawingml/2006/main">
              <a:ext uri="{FF2B5EF4-FFF2-40B4-BE49-F238E27FC236}">
                <a16:creationId xmlns:a16="http://schemas.microsoft.com/office/drawing/2014/main" id="{9F8B1523-CBEB-4C0B-96BC-56E38BFBABB0}"/>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lIns="95250" tIns="95250" rIns="95250" bIns="95250"/>
                    <a:lstStyle/>
                    <a:p>
                      <a:r>
                        <a:rPr sz="1800" b="1">
                          <a:solidFill>
                            <a:srgbClr val="FFFFFF"/>
                          </a:solidFill>
                          <a:latin typeface="Yu Gothic"/>
                          <a:ea typeface="Yu Gothic"/>
                          <a:cs typeface="Yu Gothic"/>
                        </a:rPr>
                        <a:t>状態</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質量 / g</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演習用の同一試料</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695325">
                <a:tc>
                  <a:txBody>
                    <a:bodyPr lIns="95250" tIns="95250" rIns="95250" bIns="95250"/>
                    <a:lstStyle/>
                    <a:p>
                      <a:r>
                        <a:rPr sz="1800" b="0">
                          <a:solidFill>
                            <a:srgbClr val="253C4D"/>
                          </a:solidFill>
                          <a:latin typeface="Yu Gothic"/>
                          <a:ea typeface="Yu Gothic"/>
                          <a:cs typeface="Yu Gothic"/>
                        </a:rPr>
                        <a:t>湿った状態</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125</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水を含む</a:t>
                      </a:r>
                    </a:p>
                  </a:txBody>
                  <a:tcPr marL="91440" marR="91440" marT="45720" marB="45720" anchor="ctr">
                    <a:lnR w="9525">
                      <a:solidFill>
                        <a:srgbClr val="C8D3DD"/>
                      </a:solidFill>
                    </a:lnR>
                    <a:lnB w="9525">
                      <a:solidFill>
                        <a:srgbClr val="C8D3DD"/>
                      </a:solidFill>
                    </a:lnB>
                    <a:solidFill>
                      <a:srgbClr val="EDF2F6"/>
                    </a:solidFill>
                  </a:tcPr>
                </a:tc>
              </a:tr>
              <a:tr h="695325">
                <a:tc>
                  <a:txBody>
                    <a:bodyPr lIns="95250" tIns="95250" rIns="95250" bIns="95250"/>
                    <a:lstStyle/>
                    <a:p>
                      <a:r>
                        <a:rPr sz="1800" b="0">
                          <a:solidFill>
                            <a:srgbClr val="253C4D"/>
                          </a:solidFill>
                          <a:latin typeface="Yu Gothic"/>
                          <a:ea typeface="Yu Gothic"/>
                          <a:cs typeface="Yu Gothic"/>
                        </a:rPr>
                        <a:t>絶乾</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50</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M₀</a:t>
                      </a:r>
                    </a:p>
                  </a:txBody>
                  <a:tcPr marL="91440" marR="91440" marT="45720" marB="45720" anchor="ctr">
                    <a:lnR w="9525">
                      <a:solidFill>
                        <a:srgbClr val="C8D3DD"/>
                      </a:solidFill>
                    </a:lnR>
                    <a:lnB w="9525">
                      <a:solidFill>
                        <a:srgbClr val="C8D3DD"/>
                      </a:solidFill>
                    </a:lnB>
                    <a:solidFill>
                      <a:srgbClr val="FFFFFF"/>
                    </a:solidFill>
                  </a:tcPr>
                </a:tc>
              </a:tr>
              <a:tr h="695325">
                <a:tc>
                  <a:txBody>
                    <a:bodyPr lIns="95250" tIns="95250" rIns="95250" bIns="95250"/>
                    <a:lstStyle/>
                    <a:p>
                      <a:r>
                        <a:rPr sz="1800" b="0">
                          <a:solidFill>
                            <a:srgbClr val="253C4D"/>
                          </a:solidFill>
                          <a:latin typeface="Yu Gothic"/>
                          <a:ea typeface="Yu Gothic"/>
                          <a:cs typeface="Yu Gothic"/>
                        </a:rPr>
                        <a:t>水の質量</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125 − 50</a:t>
                      </a:r>
                    </a:p>
                  </a:txBody>
                  <a:tcPr marL="91440" marR="91440" marT="45720" marB="45720" anchor="ctr">
                    <a:lnR w="9525">
                      <a:solidFill>
                        <a:srgbClr val="C8D3DD"/>
                      </a:solidFill>
                    </a:lnR>
                    <a:lnB w="9525">
                      <a:solidFill>
                        <a:srgbClr val="C8D3DD"/>
                      </a:solidFill>
                    </a:lnB>
                    <a:solidFill>
                      <a:srgbClr val="EDF2F6"/>
                    </a:solidFill>
                  </a:tcPr>
                </a:tc>
              </a:tr>
              <a:tr h="695325">
                <a:tc>
                  <a:txBody>
                    <a:bodyPr lIns="95250" tIns="95250" rIns="95250" bIns="95250"/>
                    <a:lstStyle/>
                    <a:p>
                      <a:r>
                        <a:rPr sz="1800" b="0">
                          <a:solidFill>
                            <a:srgbClr val="253C4D"/>
                          </a:solidFill>
                          <a:latin typeface="Yu Gothic"/>
                          <a:ea typeface="Yu Gothic"/>
                          <a:cs typeface="Yu Gothic"/>
                        </a:rPr>
                        <a:t>含水率</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乾量基準で計算</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997656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DA6D83-18F7-4AC9-88D0-94BC7123853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乾量基準と湿量基準</a:t>
            </a:r>
          </a:p>
        </p:txBody>
      </p:sp>
      <p:cxnSp>
        <p:nvCxnSpPr>
          <p:cNvPr id="2" name="">
            <a:extLst xmlns:a="http://schemas.openxmlformats.org/drawingml/2006/main">
              <a:ext uri="{FF2B5EF4-FFF2-40B4-BE49-F238E27FC236}">
                <a16:creationId xmlns:a16="http://schemas.microsoft.com/office/drawing/2014/main" id="{BB342545-2FD9-45BB-B7DF-2446B17B156A}"/>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A7F4B75-6648-434B-95DF-3AA853AD40E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30E8ED89-0D22-47A3-8FB0-7DDD0E24DC3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51753439-9A34-44A9-8D49-5B9CCE1C4DE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表の試料の木材含水率（乾量基準）を求める</a:t>
            </a:r>
          </a:p>
        </p:txBody>
      </p:sp>
      <p:sp>
        <p:nvSpPr>
          <p:cNvPr id="6" name="">
            <a:extLst xmlns:a="http://schemas.openxmlformats.org/drawingml/2006/main">
              <a:ext uri="{FF2B5EF4-FFF2-40B4-BE49-F238E27FC236}">
                <a16:creationId xmlns:a16="http://schemas.microsoft.com/office/drawing/2014/main" id="{C519DF0B-8879-4BDB-9586-BD588B035020}"/>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食品等でよく使う湿量基準でも計算する</a:t>
            </a:r>
          </a:p>
        </p:txBody>
      </p:sp>
      <p:sp>
        <p:nvSpPr>
          <p:cNvPr id="7" name="">
            <a:extLst xmlns:a="http://schemas.openxmlformats.org/drawingml/2006/main">
              <a:ext uri="{FF2B5EF4-FFF2-40B4-BE49-F238E27FC236}">
                <a16:creationId xmlns:a16="http://schemas.microsoft.com/office/drawing/2014/main" id="{4DDC20C4-7A30-49E4-8B4A-46F73FAD68E6}"/>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なぜ100％を超えられるか説明する</a:t>
            </a:r>
          </a:p>
        </p:txBody>
      </p:sp>
      <p:sp>
        <p:nvSpPr>
          <p:cNvPr id="8" name="">
            <a:extLst xmlns:a="http://schemas.openxmlformats.org/drawingml/2006/main">
              <a:ext uri="{FF2B5EF4-FFF2-40B4-BE49-F238E27FC236}">
                <a16:creationId xmlns:a16="http://schemas.microsoft.com/office/drawing/2014/main" id="{96FEEABE-F803-43C8-810F-C2049A0BB04E}"/>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百分率と質量比を混用しない</a:t>
            </a:r>
          </a:p>
        </p:txBody>
      </p:sp>
    </p:spTree>
    <p:extLst>
      <p:ext uri="{BB962C8B-B14F-4D97-AF65-F5344CB8AC3E}">
        <p14:creationId xmlns:p14="http://schemas.microsoft.com/office/powerpoint/2010/main" val="11876734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75FFF0-CCFF-4A9D-AE3E-8585C73F589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乾量基準と湿量基準</a:t>
            </a:r>
          </a:p>
        </p:txBody>
      </p:sp>
      <p:cxnSp>
        <p:nvCxnSpPr>
          <p:cNvPr id="2" name="">
            <a:extLst xmlns:a="http://schemas.openxmlformats.org/drawingml/2006/main">
              <a:ext uri="{FF2B5EF4-FFF2-40B4-BE49-F238E27FC236}">
                <a16:creationId xmlns:a16="http://schemas.microsoft.com/office/drawing/2014/main" id="{BBE14A2D-5F98-46AC-8C40-0C378162022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95B5AB7-EDA2-4B1E-AA6E-C41FCEC2716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790B7435-57BD-4CFD-BAA0-D9B6BBE70EC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3ADCE628-801D-4714-B26D-705248B900D1}"/>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水は125 − 50 = 75 g。乾量基準は150%</a:t>
            </a:r>
          </a:p>
        </p:txBody>
      </p:sp>
      <p:sp>
        <p:nvSpPr>
          <p:cNvPr id="6" name="">
            <a:extLst xmlns:a="http://schemas.openxmlformats.org/drawingml/2006/main">
              <a:ext uri="{FF2B5EF4-FFF2-40B4-BE49-F238E27FC236}">
                <a16:creationId xmlns:a16="http://schemas.microsoft.com/office/drawing/2014/main" id="{F892E35F-4A09-469F-9452-2292AFD9D7CE}"/>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湿量基準は75/125 × 100 = 60%</a:t>
            </a:r>
          </a:p>
        </p:txBody>
      </p:sp>
      <p:sp>
        <p:nvSpPr>
          <p:cNvPr id="7" name="">
            <a:extLst xmlns:a="http://schemas.openxmlformats.org/drawingml/2006/main">
              <a:ext uri="{FF2B5EF4-FFF2-40B4-BE49-F238E27FC236}">
                <a16:creationId xmlns:a16="http://schemas.microsoft.com/office/drawing/2014/main" id="{2DE593F9-6B5F-4D44-8C56-8BA75B5DBC0A}"/>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乾いた木材より水の質量が多くても矛盾しない</a:t>
            </a:r>
          </a:p>
        </p:txBody>
      </p:sp>
      <p:sp>
        <p:nvSpPr>
          <p:cNvPr id="8" name="">
            <a:extLst xmlns:a="http://schemas.openxmlformats.org/drawingml/2006/main">
              <a:ext uri="{FF2B5EF4-FFF2-40B4-BE49-F238E27FC236}">
                <a16:creationId xmlns:a16="http://schemas.microsoft.com/office/drawing/2014/main" id="{2677185C-739C-4B02-AE37-C9630FE4D656}"/>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二つの百分率は、分母が違う</a:t>
            </a:r>
          </a:p>
        </p:txBody>
      </p:sp>
    </p:spTree>
    <p:extLst>
      <p:ext uri="{BB962C8B-B14F-4D97-AF65-F5344CB8AC3E}">
        <p14:creationId xmlns:p14="http://schemas.microsoft.com/office/powerpoint/2010/main" val="10138999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71B701-A436-49A8-BB17-8BC35BB2CFF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DA4870B8-270A-48FE-B6F8-656C27A6D11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7EC4E3-B000-4D77-A407-3491419AAD8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F070435E-75FC-41EB-8149-F63DD79AD2F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B9579DD4-1784-4560-8D8C-80386E9AD59D}"/>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A351587A-867C-4E6F-B8A9-C0BACA9172A7}"/>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06ADF095-C563-4DBB-9F82-24637D91F75C}"/>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1CBA293A-4316-46D4-A846-B4F762DD58A6}"/>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誤答から分母と分子を読むへ進みます。</a:t>
            </a:r>
          </a:p>
        </p:txBody>
      </p:sp>
    </p:spTree>
    <p:extLst>
      <p:ext uri="{BB962C8B-B14F-4D97-AF65-F5344CB8AC3E}">
        <p14:creationId xmlns:p14="http://schemas.microsoft.com/office/powerpoint/2010/main" val="14927022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B581B5-6C90-424B-A020-B7EE50F7B1F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誤答から分母と分子を読む</a:t>
            </a:r>
          </a:p>
        </p:txBody>
      </p:sp>
      <p:sp>
        <p:nvSpPr>
          <p:cNvPr id="2" name="">
            <a:extLst xmlns:a="http://schemas.openxmlformats.org/drawingml/2006/main">
              <a:ext uri="{FF2B5EF4-FFF2-40B4-BE49-F238E27FC236}">
                <a16:creationId xmlns:a16="http://schemas.microsoft.com/office/drawing/2014/main" id="{D7169879-8EF1-42D9-9C4C-137FEA7E2E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10CA1F-88D2-4EF1-9A86-F3D891A1308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B2E7434-3B43-4226-A726-295AFC64FAB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9D6788CB-1D34-4492-99C1-EC26D99BDD0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A「50/125×100 = 40%が含水率」</a:t>
            </a:r>
          </a:p>
        </p:txBody>
      </p:sp>
      <p:sp>
        <p:nvSpPr>
          <p:cNvPr id="6" name="">
            <a:extLst xmlns:a="http://schemas.openxmlformats.org/drawingml/2006/main">
              <a:ext uri="{FF2B5EF4-FFF2-40B4-BE49-F238E27FC236}">
                <a16:creationId xmlns:a16="http://schemas.microsoft.com/office/drawing/2014/main" id="{2522FF53-B530-4821-9505-B52CAEB8924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B「150%は100%を超えるから誤り」</a:t>
            </a:r>
          </a:p>
        </p:txBody>
      </p:sp>
      <p:sp>
        <p:nvSpPr>
          <p:cNvPr id="7" name="">
            <a:extLst xmlns:a="http://schemas.openxmlformats.org/drawingml/2006/main">
              <a:ext uri="{FF2B5EF4-FFF2-40B4-BE49-F238E27FC236}">
                <a16:creationId xmlns:a16="http://schemas.microsoft.com/office/drawing/2014/main" id="{D23C0A4B-4E99-4D61-9AF2-AC2F4CFCEC1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各生徒が何を分母・分子にしたか説明する</a:t>
            </a:r>
          </a:p>
        </p:txBody>
      </p:sp>
      <p:sp>
        <p:nvSpPr>
          <p:cNvPr id="8" name="">
            <a:extLst xmlns:a="http://schemas.openxmlformats.org/drawingml/2006/main">
              <a:ext uri="{FF2B5EF4-FFF2-40B4-BE49-F238E27FC236}">
                <a16:creationId xmlns:a16="http://schemas.microsoft.com/office/drawing/2014/main" id="{DC840A08-0B4A-41C0-BE44-BD0323F7DF57}"/>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木材の乾量基準へ、理由付きで修正する</a:t>
            </a:r>
          </a:p>
        </p:txBody>
      </p:sp>
    </p:spTree>
    <p:extLst>
      <p:ext uri="{BB962C8B-B14F-4D97-AF65-F5344CB8AC3E}">
        <p14:creationId xmlns:p14="http://schemas.microsoft.com/office/powerpoint/2010/main" val="11466127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1D7428-1894-4521-A7C3-95CBA61175B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全体質量から水を逆算する</a:t>
            </a:r>
          </a:p>
        </p:txBody>
      </p:sp>
      <p:sp>
        <p:nvSpPr>
          <p:cNvPr id="2" name="">
            <a:extLst xmlns:a="http://schemas.openxmlformats.org/drawingml/2006/main">
              <a:ext uri="{FF2B5EF4-FFF2-40B4-BE49-F238E27FC236}">
                <a16:creationId xmlns:a16="http://schemas.microsoft.com/office/drawing/2014/main" id="{FCC77CC5-4D34-4B65-9C98-249F97FA116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133B16-E41E-4615-A1C9-46BF3A7ED3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0A0A614-65F1-4A58-B2C0-4DE1DED636D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07C54683-C91E-4051-AFC4-228FC3D61E7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全体質量120 g、含水率20%という資料</a:t>
            </a:r>
          </a:p>
        </p:txBody>
      </p:sp>
      <p:sp>
        <p:nvSpPr>
          <p:cNvPr id="6" name="">
            <a:extLst xmlns:a="http://schemas.openxmlformats.org/drawingml/2006/main">
              <a:ext uri="{FF2B5EF4-FFF2-40B4-BE49-F238E27FC236}">
                <a16:creationId xmlns:a16="http://schemas.microsoft.com/office/drawing/2014/main" id="{DF319B57-6472-4597-A957-5416E0D0A0E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乾量基準なら、全乾質量と水は何gか</a:t>
            </a:r>
          </a:p>
        </p:txBody>
      </p:sp>
      <p:sp>
        <p:nvSpPr>
          <p:cNvPr id="7" name="">
            <a:extLst xmlns:a="http://schemas.openxmlformats.org/drawingml/2006/main">
              <a:ext uri="{FF2B5EF4-FFF2-40B4-BE49-F238E27FC236}">
                <a16:creationId xmlns:a16="http://schemas.microsoft.com/office/drawing/2014/main" id="{96828D6F-3224-4677-B776-B1D9768B024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湿量基準なら、それぞれ何gか</a:t>
            </a:r>
          </a:p>
        </p:txBody>
      </p:sp>
      <p:sp>
        <p:nvSpPr>
          <p:cNvPr id="8" name="">
            <a:extLst xmlns:a="http://schemas.openxmlformats.org/drawingml/2006/main">
              <a:ext uri="{FF2B5EF4-FFF2-40B4-BE49-F238E27FC236}">
                <a16:creationId xmlns:a16="http://schemas.microsoft.com/office/drawing/2014/main" id="{85AEC52B-11C1-47CA-AF2C-16628DEE0F5B}"/>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基準不明の資料を使う問題点を説明する</a:t>
            </a:r>
          </a:p>
        </p:txBody>
      </p:sp>
    </p:spTree>
    <p:extLst>
      <p:ext uri="{BB962C8B-B14F-4D97-AF65-F5344CB8AC3E}">
        <p14:creationId xmlns:p14="http://schemas.microsoft.com/office/powerpoint/2010/main" val="151008551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7B88D4-3FC0-4D6B-BC7F-EFD437DD24D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含水率の分母と水の質量</a:t>
            </a:r>
          </a:p>
        </p:txBody>
      </p:sp>
      <p:cxnSp>
        <p:nvCxnSpPr>
          <p:cNvPr id="2" name="">
            <a:extLst xmlns:a="http://schemas.openxmlformats.org/drawingml/2006/main">
              <a:ext uri="{FF2B5EF4-FFF2-40B4-BE49-F238E27FC236}">
                <a16:creationId xmlns:a16="http://schemas.microsoft.com/office/drawing/2014/main" id="{264FFC4D-135C-4824-AA1A-E6BE515D05C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A5AEB71-C6E4-4715-A889-BBE8EE30874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6FCD55FC-17F9-4F16-937E-96C8A474815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A834CA6D-E567-44B5-ACC5-B44CB44F4114}"/>
              </a:ext>
            </a:extLst>
          </p:cNvPr>
          <p:cNvSpPr>
            <a:spLocks xmlns:a="http://schemas.openxmlformats.org/drawingml/2006/main" noGrp="1"/>
          </p:cNvSpPr>
          <p:nvPr/>
        </p:nvSpPr>
        <p:spPr>
          <a:xfrm xmlns:a="http://schemas.openxmlformats.org/drawingml/2006/main">
            <a:off x="1143000" y="2381250"/>
            <a:ext cx="4667250" cy="9525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
            <a:extLst xmlns:a="http://schemas.openxmlformats.org/drawingml/2006/main">
              <a:ext uri="{FF2B5EF4-FFF2-40B4-BE49-F238E27FC236}">
                <a16:creationId xmlns:a16="http://schemas.microsoft.com/office/drawing/2014/main" id="{034BE4B2-9B9E-45B0-90A6-5A5C577117EC}"/>
              </a:ext>
            </a:extLst>
          </p:cNvPr>
          <p:cNvSpPr>
            <a:spLocks xmlns:a="http://schemas.openxmlformats.org/drawingml/2006/main" noGrp="1"/>
          </p:cNvSpPr>
          <p:nvPr/>
        </p:nvSpPr>
        <p:spPr>
          <a:xfrm xmlns:a="http://schemas.openxmlformats.org/drawingml/2006/main">
            <a:off x="1143000" y="3333750"/>
            <a:ext cx="4667250" cy="1428750"/>
          </a:xfrm>
          <a:prstGeom xmlns:a="http://schemas.openxmlformats.org/drawingml/2006/main" prst="rect">
            <a:avLst/>
          </a:prstGeom>
          <a:solidFill xmlns:a="http://schemas.openxmlformats.org/drawingml/2006/main">
            <a:srgbClr val="C7DDED"/>
          </a:solidFill>
          <a:ln xmlns:a="http://schemas.openxmlformats.org/drawingml/2006/main" w="14288">
            <a:solidFill>
              <a:srgbClr val="245C98"/>
            </a:solidFill>
          </a:ln>
        </p:spPr>
      </p:sp>
      <p:sp>
        <p:nvSpPr>
          <p:cNvPr id="7" name="">
            <a:extLst xmlns:a="http://schemas.openxmlformats.org/drawingml/2006/main">
              <a:ext uri="{FF2B5EF4-FFF2-40B4-BE49-F238E27FC236}">
                <a16:creationId xmlns:a16="http://schemas.microsoft.com/office/drawing/2014/main" id="{9B831C5B-634C-48FD-8423-ADB59989112A}"/>
              </a:ext>
            </a:extLst>
          </p:cNvPr>
          <p:cNvSpPr>
            <a:spLocks xmlns:a="http://schemas.openxmlformats.org/drawingml/2006/main" noGrp="1"/>
          </p:cNvSpPr>
          <p:nvPr/>
        </p:nvSpPr>
        <p:spPr>
          <a:xfrm xmlns:a="http://schemas.openxmlformats.org/drawingml/2006/main">
            <a:off x="1428750" y="2571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B55D09"/>
                </a:solidFill>
                <a:latin typeface="Yu Gothic"/>
                <a:ea typeface="Yu Gothic"/>
                <a:cs typeface="Yu Gothic"/>
              </a:defRPr>
            </a:defPPr>
            <a:lvl1pPr algn="l">
              <a:buNone/>
              <a:defRPr sz="2625" b="1">
                <a:solidFill>
                  <a:srgbClr val="B55D09"/>
                </a:solidFill>
                <a:latin typeface="Yu Gothic"/>
                <a:ea typeface="Yu Gothic"/>
                <a:cs typeface="Yu Gothic"/>
              </a:defRPr>
            </a:lvl1pPr>
            <a:lvl2pPr algn="l">
              <a:buNone/>
              <a:defRPr sz="2625" b="1">
                <a:solidFill>
                  <a:srgbClr val="B55D09"/>
                </a:solidFill>
                <a:latin typeface="Yu Gothic"/>
                <a:ea typeface="Yu Gothic"/>
                <a:cs typeface="Yu Gothic"/>
              </a:defRPr>
            </a:lvl2pPr>
            <a:lvl3pPr algn="l">
              <a:buNone/>
              <a:defRPr sz="2625" b="1">
                <a:solidFill>
                  <a:srgbClr val="B55D09"/>
                </a:solidFill>
                <a:latin typeface="Yu Gothic"/>
                <a:ea typeface="Yu Gothic"/>
                <a:cs typeface="Yu Gothic"/>
              </a:defRPr>
            </a:lvl3pPr>
            <a:lvl4pPr algn="l">
              <a:buNone/>
              <a:defRPr sz="2625" b="1">
                <a:solidFill>
                  <a:srgbClr val="B55D09"/>
                </a:solidFill>
                <a:latin typeface="Yu Gothic"/>
                <a:ea typeface="Yu Gothic"/>
                <a:cs typeface="Yu Gothic"/>
              </a:defRPr>
            </a:lvl4pPr>
            <a:lvl5pPr algn="l">
              <a:buNone/>
              <a:defRPr sz="2625" b="1">
                <a:solidFill>
                  <a:srgbClr val="B55D09"/>
                </a:solidFill>
                <a:latin typeface="Yu Gothic"/>
                <a:ea typeface="Yu Gothic"/>
                <a:cs typeface="Yu Gothic"/>
              </a:defRPr>
            </a:lvl5pPr>
            <a:lvl6pPr algn="l">
              <a:buNone/>
              <a:defRPr sz="2625" b="1">
                <a:solidFill>
                  <a:srgbClr val="B55D09"/>
                </a:solidFill>
                <a:latin typeface="Yu Gothic"/>
                <a:ea typeface="Yu Gothic"/>
                <a:cs typeface="Yu Gothic"/>
              </a:defRPr>
            </a:lvl6pPr>
            <a:lvl7pPr algn="l">
              <a:buNone/>
              <a:defRPr sz="2625" b="1">
                <a:solidFill>
                  <a:srgbClr val="B55D09"/>
                </a:solidFill>
                <a:latin typeface="Yu Gothic"/>
                <a:ea typeface="Yu Gothic"/>
                <a:cs typeface="Yu Gothic"/>
              </a:defRPr>
            </a:lvl7pPr>
            <a:lvl8pPr algn="l">
              <a:buNone/>
              <a:defRPr sz="2625" b="1">
                <a:solidFill>
                  <a:srgbClr val="B55D09"/>
                </a:solidFill>
                <a:latin typeface="Yu Gothic"/>
                <a:ea typeface="Yu Gothic"/>
                <a:cs typeface="Yu Gothic"/>
              </a:defRPr>
            </a:lvl8pPr>
            <a:lvl9pPr algn="l">
              <a:buNone/>
              <a:defRPr sz="2625" b="1">
                <a:solidFill>
                  <a:srgbClr val="B55D09"/>
                </a:solidFill>
                <a:latin typeface="Yu Gothic"/>
                <a:ea typeface="Yu Gothic"/>
                <a:cs typeface="Yu Gothic"/>
              </a:defRPr>
            </a:lvl9pPr>
          </a:lstStyle>
          <a:p xmlns:a="http://schemas.openxmlformats.org/drawingml/2006/main">
            <a:pPr algn="l">
              <a:buNone/>
              <a:defRPr sz="2625" b="1">
                <a:solidFill>
                  <a:srgbClr val="B55D09"/>
                </a:solidFill>
                <a:latin typeface="Yu Gothic"/>
                <a:ea typeface="Yu Gothic"/>
                <a:cs typeface="Yu Gothic"/>
              </a:defRPr>
            </a:pPr>
            <a:r>
              <a:rPr sz="2625" b="1">
                <a:solidFill>
                  <a:srgbClr val="B55D09"/>
                </a:solidFill>
                <a:latin typeface="Yu Gothic"/>
                <a:ea typeface="Yu Gothic"/>
                <a:cs typeface="Yu Gothic"/>
              </a:rPr>
              <a:t>全乾質量 M₀</a:t>
            </a:r>
          </a:p>
        </p:txBody>
      </p:sp>
      <p:sp>
        <p:nvSpPr>
          <p:cNvPr id="8" name="">
            <a:extLst xmlns:a="http://schemas.openxmlformats.org/drawingml/2006/main">
              <a:ext uri="{FF2B5EF4-FFF2-40B4-BE49-F238E27FC236}">
                <a16:creationId xmlns:a16="http://schemas.microsoft.com/office/drawing/2014/main" id="{F95D4263-49AD-4EA5-B911-BEF1CD28EDF4}"/>
              </a:ext>
            </a:extLst>
          </p:cNvPr>
          <p:cNvSpPr>
            <a:spLocks xmlns:a="http://schemas.openxmlformats.org/drawingml/2006/main" noGrp="1"/>
          </p:cNvSpPr>
          <p:nvPr/>
        </p:nvSpPr>
        <p:spPr>
          <a:xfrm xmlns:a="http://schemas.openxmlformats.org/drawingml/2006/main">
            <a:off x="1428750" y="3714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245C98"/>
                </a:solidFill>
                <a:latin typeface="Yu Gothic"/>
                <a:ea typeface="Yu Gothic"/>
                <a:cs typeface="Yu Gothic"/>
              </a:defRPr>
            </a:defPPr>
            <a:lvl1pPr algn="l">
              <a:buNone/>
              <a:defRPr sz="2625" b="1">
                <a:solidFill>
                  <a:srgbClr val="245C98"/>
                </a:solidFill>
                <a:latin typeface="Yu Gothic"/>
                <a:ea typeface="Yu Gothic"/>
                <a:cs typeface="Yu Gothic"/>
              </a:defRPr>
            </a:lvl1pPr>
            <a:lvl2pPr algn="l">
              <a:buNone/>
              <a:defRPr sz="2625" b="1">
                <a:solidFill>
                  <a:srgbClr val="245C98"/>
                </a:solidFill>
                <a:latin typeface="Yu Gothic"/>
                <a:ea typeface="Yu Gothic"/>
                <a:cs typeface="Yu Gothic"/>
              </a:defRPr>
            </a:lvl2pPr>
            <a:lvl3pPr algn="l">
              <a:buNone/>
              <a:defRPr sz="2625" b="1">
                <a:solidFill>
                  <a:srgbClr val="245C98"/>
                </a:solidFill>
                <a:latin typeface="Yu Gothic"/>
                <a:ea typeface="Yu Gothic"/>
                <a:cs typeface="Yu Gothic"/>
              </a:defRPr>
            </a:lvl3pPr>
            <a:lvl4pPr algn="l">
              <a:buNone/>
              <a:defRPr sz="2625" b="1">
                <a:solidFill>
                  <a:srgbClr val="245C98"/>
                </a:solidFill>
                <a:latin typeface="Yu Gothic"/>
                <a:ea typeface="Yu Gothic"/>
                <a:cs typeface="Yu Gothic"/>
              </a:defRPr>
            </a:lvl4pPr>
            <a:lvl5pPr algn="l">
              <a:buNone/>
              <a:defRPr sz="2625" b="1">
                <a:solidFill>
                  <a:srgbClr val="245C98"/>
                </a:solidFill>
                <a:latin typeface="Yu Gothic"/>
                <a:ea typeface="Yu Gothic"/>
                <a:cs typeface="Yu Gothic"/>
              </a:defRPr>
            </a:lvl5pPr>
            <a:lvl6pPr algn="l">
              <a:buNone/>
              <a:defRPr sz="2625" b="1">
                <a:solidFill>
                  <a:srgbClr val="245C98"/>
                </a:solidFill>
                <a:latin typeface="Yu Gothic"/>
                <a:ea typeface="Yu Gothic"/>
                <a:cs typeface="Yu Gothic"/>
              </a:defRPr>
            </a:lvl6pPr>
            <a:lvl7pPr algn="l">
              <a:buNone/>
              <a:defRPr sz="2625" b="1">
                <a:solidFill>
                  <a:srgbClr val="245C98"/>
                </a:solidFill>
                <a:latin typeface="Yu Gothic"/>
                <a:ea typeface="Yu Gothic"/>
                <a:cs typeface="Yu Gothic"/>
              </a:defRPr>
            </a:lvl7pPr>
            <a:lvl8pPr algn="l">
              <a:buNone/>
              <a:defRPr sz="2625" b="1">
                <a:solidFill>
                  <a:srgbClr val="245C98"/>
                </a:solidFill>
                <a:latin typeface="Yu Gothic"/>
                <a:ea typeface="Yu Gothic"/>
                <a:cs typeface="Yu Gothic"/>
              </a:defRPr>
            </a:lvl8pPr>
            <a:lvl9pPr algn="l">
              <a:buNone/>
              <a:defRPr sz="2625" b="1">
                <a:solidFill>
                  <a:srgbClr val="245C98"/>
                </a:solidFill>
                <a:latin typeface="Yu Gothic"/>
                <a:ea typeface="Yu Gothic"/>
                <a:cs typeface="Yu Gothic"/>
              </a:defRPr>
            </a:lvl9pPr>
          </a:lstStyle>
          <a:p xmlns:a="http://schemas.openxmlformats.org/drawingml/2006/main">
            <a:pPr algn="l">
              <a:buNone/>
              <a:defRPr sz="2625" b="1">
                <a:solidFill>
                  <a:srgbClr val="245C98"/>
                </a:solidFill>
                <a:latin typeface="Yu Gothic"/>
                <a:ea typeface="Yu Gothic"/>
                <a:cs typeface="Yu Gothic"/>
              </a:defRPr>
            </a:pPr>
            <a:r>
              <a:rPr sz="2625" b="1">
                <a:solidFill>
                  <a:srgbClr val="245C98"/>
                </a:solidFill>
                <a:latin typeface="Yu Gothic"/>
                <a:ea typeface="Yu Gothic"/>
                <a:cs typeface="Yu Gothic"/>
              </a:rPr>
              <a:t>水の質量 M − M₀</a:t>
            </a:r>
          </a:p>
        </p:txBody>
      </p:sp>
      <p:sp>
        <p:nvSpPr>
          <p:cNvPr id="9" name="">
            <a:extLst xmlns:a="http://schemas.openxmlformats.org/drawingml/2006/main">
              <a:ext uri="{FF2B5EF4-FFF2-40B4-BE49-F238E27FC236}">
                <a16:creationId xmlns:a16="http://schemas.microsoft.com/office/drawing/2014/main" id="{B3ECAEC7-EEC3-4D8C-B945-DAB3D4643AAE}"/>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木材含水率の分母は M₀</a:t>
            </a:r>
          </a:p>
        </p:txBody>
      </p:sp>
      <p:sp>
        <p:nvSpPr>
          <p:cNvPr id="10" name="">
            <a:extLst xmlns:a="http://schemas.openxmlformats.org/drawingml/2006/main">
              <a:ext uri="{FF2B5EF4-FFF2-40B4-BE49-F238E27FC236}">
                <a16:creationId xmlns:a16="http://schemas.microsoft.com/office/drawing/2014/main" id="{EE8BA8C9-ACE0-4AF1-B71F-758F3F5249E1}"/>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水の質量との比を取る</a:t>
            </a:r>
          </a:p>
        </p:txBody>
      </p:sp>
      <p:sp>
        <p:nvSpPr>
          <p:cNvPr id="11" name="">
            <a:extLst xmlns:a="http://schemas.openxmlformats.org/drawingml/2006/main">
              <a:ext uri="{FF2B5EF4-FFF2-40B4-BE49-F238E27FC236}">
                <a16:creationId xmlns:a16="http://schemas.microsoft.com/office/drawing/2014/main" id="{E1814195-9D16-4705-AC5A-9BCE362B2FD3}"/>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乾量基準 = 100(M − M₀)/M₀</a:t>
            </a:r>
          </a:p>
        </p:txBody>
      </p:sp>
      <p:sp>
        <p:nvSpPr>
          <p:cNvPr id="12" name="">
            <a:extLst xmlns:a="http://schemas.openxmlformats.org/drawingml/2006/main">
              <a:ext uri="{FF2B5EF4-FFF2-40B4-BE49-F238E27FC236}">
                <a16:creationId xmlns:a16="http://schemas.microsoft.com/office/drawing/2014/main" id="{A0F5ACAC-0B0E-4096-821B-C73DAF09BE51}"/>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100％超も定義と両立する</a:t>
            </a:r>
          </a:p>
        </p:txBody>
      </p:sp>
    </p:spTree>
    <p:extLst>
      <p:ext uri="{BB962C8B-B14F-4D97-AF65-F5344CB8AC3E}">
        <p14:creationId xmlns:p14="http://schemas.microsoft.com/office/powerpoint/2010/main" val="5146634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5F94C3-2F27-479C-9169-F82B9B92E78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細胞壁内の水と自由水</a:t>
            </a:r>
          </a:p>
        </p:txBody>
      </p:sp>
      <p:cxnSp>
        <p:nvCxnSpPr>
          <p:cNvPr id="2" name="">
            <a:extLst xmlns:a="http://schemas.openxmlformats.org/drawingml/2006/main">
              <a:ext uri="{FF2B5EF4-FFF2-40B4-BE49-F238E27FC236}">
                <a16:creationId xmlns:a16="http://schemas.microsoft.com/office/drawing/2014/main" id="{0E3224A6-7FF9-4622-8CF6-9DAD5BDCBB4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7F947CC-461E-46FF-BC85-FE5635A8FBC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0C1AF0F-B6D3-4900-91E3-FACC3582992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B8A6242B-63EA-4119-9339-1254FDC9F2DC}"/>
              </a:ext>
            </a:extLst>
          </p:cNvPr>
          <p:cNvSpPr>
            <a:spLocks xmlns:a="http://schemas.openxmlformats.org/drawingml/2006/main" noGrp="1"/>
          </p:cNvSpPr>
          <p:nvPr/>
        </p:nvSpPr>
        <p:spPr>
          <a:xfrm xmlns:a="http://schemas.openxmlformats.org/drawingml/2006/main">
            <a:off x="1143000" y="1905000"/>
            <a:ext cx="4667250" cy="3333750"/>
          </a:xfrm>
          <a:prstGeom xmlns:a="http://schemas.openxmlformats.org/drawingml/2006/main" prst="rect">
            <a:avLst/>
          </a:prstGeom>
          <a:solidFill xmlns:a="http://schemas.openxmlformats.org/drawingml/2006/main">
            <a:srgbClr val="D8E9E6"/>
          </a:solidFill>
          <a:ln xmlns:a="http://schemas.openxmlformats.org/drawingml/2006/main" w="14288">
            <a:solidFill>
              <a:srgbClr val="087E8B"/>
            </a:solidFill>
          </a:ln>
        </p:spPr>
      </p:sp>
      <p:sp>
        <p:nvSpPr>
          <p:cNvPr id="6" name="">
            <a:extLst xmlns:a="http://schemas.openxmlformats.org/drawingml/2006/main">
              <a:ext uri="{FF2B5EF4-FFF2-40B4-BE49-F238E27FC236}">
                <a16:creationId xmlns:a16="http://schemas.microsoft.com/office/drawing/2014/main" id="{D23AFF33-4D48-4AB6-BF53-FAF0FD24F676}"/>
              </a:ext>
            </a:extLst>
          </p:cNvPr>
          <p:cNvSpPr>
            <a:spLocks xmlns:a="http://schemas.openxmlformats.org/drawingml/2006/main" noGrp="1"/>
          </p:cNvSpPr>
          <p:nvPr/>
        </p:nvSpPr>
        <p:spPr>
          <a:xfrm xmlns:a="http://schemas.openxmlformats.org/drawingml/2006/main">
            <a:off x="1666875" y="2428875"/>
            <a:ext cx="3619500" cy="2286000"/>
          </a:xfrm>
          <a:prstGeom xmlns:a="http://schemas.openxmlformats.org/drawingml/2006/main" prst="rect">
            <a:avLst/>
          </a:prstGeom>
          <a:solidFill xmlns:a="http://schemas.openxmlformats.org/drawingml/2006/main">
            <a:srgbClr val="FFFFFF"/>
          </a:solidFill>
          <a:ln xmlns:a="http://schemas.openxmlformats.org/drawingml/2006/main" w="14288">
            <a:solidFill>
              <a:srgbClr val="C8D3DD"/>
            </a:solidFill>
          </a:ln>
        </p:spPr>
      </p:sp>
      <p:sp>
        <p:nvSpPr>
          <p:cNvPr id="7" name="">
            <a:extLst xmlns:a="http://schemas.openxmlformats.org/drawingml/2006/main">
              <a:ext uri="{FF2B5EF4-FFF2-40B4-BE49-F238E27FC236}">
                <a16:creationId xmlns:a16="http://schemas.microsoft.com/office/drawing/2014/main" id="{D04FBAE2-AB56-4E5A-AEDF-C1F4CAE1BDDC}"/>
              </a:ext>
            </a:extLst>
          </p:cNvPr>
          <p:cNvSpPr>
            <a:spLocks xmlns:a="http://schemas.openxmlformats.org/drawingml/2006/main" noGrp="1"/>
          </p:cNvSpPr>
          <p:nvPr/>
        </p:nvSpPr>
        <p:spPr>
          <a:xfrm xmlns:a="http://schemas.openxmlformats.org/drawingml/2006/main">
            <a:off x="1666875" y="3714750"/>
            <a:ext cx="3619500" cy="1000125"/>
          </a:xfrm>
          <a:prstGeom xmlns:a="http://schemas.openxmlformats.org/drawingml/2006/main" prst="rect">
            <a:avLst/>
          </a:prstGeom>
          <a:solidFill xmlns:a="http://schemas.openxmlformats.org/drawingml/2006/main">
            <a:srgbClr val="C7DDED"/>
          </a:solidFill>
          <a:ln xmlns:a="http://schemas.openxmlformats.org/drawingml/2006/main" w="14288">
            <a:solidFill>
              <a:srgbClr val="245C98"/>
            </a:solidFill>
          </a:ln>
        </p:spPr>
      </p:sp>
      <p:sp>
        <p:nvSpPr>
          <p:cNvPr id="8" name="">
            <a:extLst xmlns:a="http://schemas.openxmlformats.org/drawingml/2006/main">
              <a:ext uri="{FF2B5EF4-FFF2-40B4-BE49-F238E27FC236}">
                <a16:creationId xmlns:a16="http://schemas.microsoft.com/office/drawing/2014/main" id="{8C915B3D-694B-46AF-A892-34A57F1DEBA3}"/>
              </a:ext>
            </a:extLst>
          </p:cNvPr>
          <p:cNvSpPr>
            <a:spLocks xmlns:a="http://schemas.openxmlformats.org/drawingml/2006/main" noGrp="1"/>
          </p:cNvSpPr>
          <p:nvPr/>
        </p:nvSpPr>
        <p:spPr>
          <a:xfrm xmlns:a="http://schemas.openxmlformats.org/drawingml/2006/main">
            <a:off x="1143000" y="19335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087E8B"/>
                </a:solidFill>
                <a:latin typeface="Yu Gothic"/>
                <a:ea typeface="Yu Gothic"/>
                <a:cs typeface="Yu Gothic"/>
              </a:defRPr>
            </a:defPPr>
            <a:lvl1pPr algn="ctr">
              <a:buNone/>
              <a:defRPr sz="2175" b="1">
                <a:solidFill>
                  <a:srgbClr val="087E8B"/>
                </a:solidFill>
                <a:latin typeface="Yu Gothic"/>
                <a:ea typeface="Yu Gothic"/>
                <a:cs typeface="Yu Gothic"/>
              </a:defRPr>
            </a:lvl1pPr>
            <a:lvl2pPr algn="ctr">
              <a:buNone/>
              <a:defRPr sz="2175" b="1">
                <a:solidFill>
                  <a:srgbClr val="087E8B"/>
                </a:solidFill>
                <a:latin typeface="Yu Gothic"/>
                <a:ea typeface="Yu Gothic"/>
                <a:cs typeface="Yu Gothic"/>
              </a:defRPr>
            </a:lvl2pPr>
            <a:lvl3pPr algn="ctr">
              <a:buNone/>
              <a:defRPr sz="2175" b="1">
                <a:solidFill>
                  <a:srgbClr val="087E8B"/>
                </a:solidFill>
                <a:latin typeface="Yu Gothic"/>
                <a:ea typeface="Yu Gothic"/>
                <a:cs typeface="Yu Gothic"/>
              </a:defRPr>
            </a:lvl3pPr>
            <a:lvl4pPr algn="ctr">
              <a:buNone/>
              <a:defRPr sz="2175" b="1">
                <a:solidFill>
                  <a:srgbClr val="087E8B"/>
                </a:solidFill>
                <a:latin typeface="Yu Gothic"/>
                <a:ea typeface="Yu Gothic"/>
                <a:cs typeface="Yu Gothic"/>
              </a:defRPr>
            </a:lvl4pPr>
            <a:lvl5pPr algn="ctr">
              <a:buNone/>
              <a:defRPr sz="2175" b="1">
                <a:solidFill>
                  <a:srgbClr val="087E8B"/>
                </a:solidFill>
                <a:latin typeface="Yu Gothic"/>
                <a:ea typeface="Yu Gothic"/>
                <a:cs typeface="Yu Gothic"/>
              </a:defRPr>
            </a:lvl5pPr>
            <a:lvl6pPr algn="ctr">
              <a:buNone/>
              <a:defRPr sz="2175" b="1">
                <a:solidFill>
                  <a:srgbClr val="087E8B"/>
                </a:solidFill>
                <a:latin typeface="Yu Gothic"/>
                <a:ea typeface="Yu Gothic"/>
                <a:cs typeface="Yu Gothic"/>
              </a:defRPr>
            </a:lvl6pPr>
            <a:lvl7pPr algn="ctr">
              <a:buNone/>
              <a:defRPr sz="2175" b="1">
                <a:solidFill>
                  <a:srgbClr val="087E8B"/>
                </a:solidFill>
                <a:latin typeface="Yu Gothic"/>
                <a:ea typeface="Yu Gothic"/>
                <a:cs typeface="Yu Gothic"/>
              </a:defRPr>
            </a:lvl7pPr>
            <a:lvl8pPr algn="ctr">
              <a:buNone/>
              <a:defRPr sz="2175" b="1">
                <a:solidFill>
                  <a:srgbClr val="087E8B"/>
                </a:solidFill>
                <a:latin typeface="Yu Gothic"/>
                <a:ea typeface="Yu Gothic"/>
                <a:cs typeface="Yu Gothic"/>
              </a:defRPr>
            </a:lvl8pPr>
            <a:lvl9pPr algn="ctr">
              <a:buNone/>
              <a:defRPr sz="2175" b="1">
                <a:solidFill>
                  <a:srgbClr val="087E8B"/>
                </a:solidFill>
                <a:latin typeface="Yu Gothic"/>
                <a:ea typeface="Yu Gothic"/>
                <a:cs typeface="Yu Gothic"/>
              </a:defRPr>
            </a:lvl9pPr>
          </a:lstStyle>
          <a:p xmlns:a="http://schemas.openxmlformats.org/drawingml/2006/main">
            <a:pPr algn="ct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壁内の水</a:t>
            </a:r>
          </a:p>
        </p:txBody>
      </p:sp>
      <p:sp>
        <p:nvSpPr>
          <p:cNvPr id="9" name="">
            <a:extLst xmlns:a="http://schemas.openxmlformats.org/drawingml/2006/main">
              <a:ext uri="{FF2B5EF4-FFF2-40B4-BE49-F238E27FC236}">
                <a16:creationId xmlns:a16="http://schemas.microsoft.com/office/drawing/2014/main" id="{891FDC8F-7CF2-4554-9F71-2A04CA2BD993}"/>
              </a:ext>
            </a:extLst>
          </p:cNvPr>
          <p:cNvSpPr>
            <a:spLocks xmlns:a="http://schemas.openxmlformats.org/drawingml/2006/main" noGrp="1"/>
          </p:cNvSpPr>
          <p:nvPr/>
        </p:nvSpPr>
        <p:spPr>
          <a:xfrm xmlns:a="http://schemas.openxmlformats.org/drawingml/2006/main">
            <a:off x="1676400" y="3952875"/>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245C98"/>
                </a:solidFill>
                <a:latin typeface="Yu Gothic"/>
                <a:ea typeface="Yu Gothic"/>
                <a:cs typeface="Yu Gothic"/>
              </a:defRPr>
            </a:defPPr>
            <a:lvl1pPr algn="ctr">
              <a:buNone/>
              <a:defRPr sz="2175" b="1">
                <a:solidFill>
                  <a:srgbClr val="245C98"/>
                </a:solidFill>
                <a:latin typeface="Yu Gothic"/>
                <a:ea typeface="Yu Gothic"/>
                <a:cs typeface="Yu Gothic"/>
              </a:defRPr>
            </a:lvl1pPr>
            <a:lvl2pPr algn="ctr">
              <a:buNone/>
              <a:defRPr sz="2175" b="1">
                <a:solidFill>
                  <a:srgbClr val="245C98"/>
                </a:solidFill>
                <a:latin typeface="Yu Gothic"/>
                <a:ea typeface="Yu Gothic"/>
                <a:cs typeface="Yu Gothic"/>
              </a:defRPr>
            </a:lvl2pPr>
            <a:lvl3pPr algn="ctr">
              <a:buNone/>
              <a:defRPr sz="2175" b="1">
                <a:solidFill>
                  <a:srgbClr val="245C98"/>
                </a:solidFill>
                <a:latin typeface="Yu Gothic"/>
                <a:ea typeface="Yu Gothic"/>
                <a:cs typeface="Yu Gothic"/>
              </a:defRPr>
            </a:lvl3pPr>
            <a:lvl4pPr algn="ctr">
              <a:buNone/>
              <a:defRPr sz="2175" b="1">
                <a:solidFill>
                  <a:srgbClr val="245C98"/>
                </a:solidFill>
                <a:latin typeface="Yu Gothic"/>
                <a:ea typeface="Yu Gothic"/>
                <a:cs typeface="Yu Gothic"/>
              </a:defRPr>
            </a:lvl4pPr>
            <a:lvl5pPr algn="ctr">
              <a:buNone/>
              <a:defRPr sz="2175" b="1">
                <a:solidFill>
                  <a:srgbClr val="245C98"/>
                </a:solidFill>
                <a:latin typeface="Yu Gothic"/>
                <a:ea typeface="Yu Gothic"/>
                <a:cs typeface="Yu Gothic"/>
              </a:defRPr>
            </a:lvl5pPr>
            <a:lvl6pPr algn="ctr">
              <a:buNone/>
              <a:defRPr sz="2175" b="1">
                <a:solidFill>
                  <a:srgbClr val="245C98"/>
                </a:solidFill>
                <a:latin typeface="Yu Gothic"/>
                <a:ea typeface="Yu Gothic"/>
                <a:cs typeface="Yu Gothic"/>
              </a:defRPr>
            </a:lvl6pPr>
            <a:lvl7pPr algn="ctr">
              <a:buNone/>
              <a:defRPr sz="2175" b="1">
                <a:solidFill>
                  <a:srgbClr val="245C98"/>
                </a:solidFill>
                <a:latin typeface="Yu Gothic"/>
                <a:ea typeface="Yu Gothic"/>
                <a:cs typeface="Yu Gothic"/>
              </a:defRPr>
            </a:lvl7pPr>
            <a:lvl8pPr algn="ctr">
              <a:buNone/>
              <a:defRPr sz="2175" b="1">
                <a:solidFill>
                  <a:srgbClr val="245C98"/>
                </a:solidFill>
                <a:latin typeface="Yu Gothic"/>
                <a:ea typeface="Yu Gothic"/>
                <a:cs typeface="Yu Gothic"/>
              </a:defRPr>
            </a:lvl8pPr>
            <a:lvl9pPr algn="ctr">
              <a:buNone/>
              <a:defRPr sz="2175" b="1">
                <a:solidFill>
                  <a:srgbClr val="245C98"/>
                </a:solidFill>
                <a:latin typeface="Yu Gothic"/>
                <a:ea typeface="Yu Gothic"/>
                <a:cs typeface="Yu Gothic"/>
              </a:defRPr>
            </a:lvl9pPr>
          </a:lstStyle>
          <a:p xmlns:a="http://schemas.openxmlformats.org/drawingml/2006/main">
            <a:pPr algn="ctr">
              <a:buNone/>
              <a:defRPr sz="2175" b="1">
                <a:solidFill>
                  <a:srgbClr val="245C98"/>
                </a:solidFill>
                <a:latin typeface="Yu Gothic"/>
                <a:ea typeface="Yu Gothic"/>
                <a:cs typeface="Yu Gothic"/>
              </a:defRPr>
            </a:pPr>
            <a:r>
              <a:rPr sz="2175" b="1">
                <a:solidFill>
                  <a:srgbClr val="245C98"/>
                </a:solidFill>
                <a:latin typeface="Yu Gothic"/>
                <a:ea typeface="Yu Gothic"/>
                <a:cs typeface="Yu Gothic"/>
              </a:rPr>
              <a:t>内腔等の自由水</a:t>
            </a:r>
          </a:p>
        </p:txBody>
      </p:sp>
      <p:sp>
        <p:nvSpPr>
          <p:cNvPr id="10" name="">
            <a:extLst xmlns:a="http://schemas.openxmlformats.org/drawingml/2006/main">
              <a:ext uri="{FF2B5EF4-FFF2-40B4-BE49-F238E27FC236}">
                <a16:creationId xmlns:a16="http://schemas.microsoft.com/office/drawing/2014/main" id="{A18746FC-1650-4C56-90BE-110C355060A5}"/>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水の所在を分ける</a:t>
            </a:r>
          </a:p>
        </p:txBody>
      </p:sp>
      <p:sp>
        <p:nvSpPr>
          <p:cNvPr id="11" name="">
            <a:extLst xmlns:a="http://schemas.openxmlformats.org/drawingml/2006/main">
              <a:ext uri="{FF2B5EF4-FFF2-40B4-BE49-F238E27FC236}">
                <a16:creationId xmlns:a16="http://schemas.microsoft.com/office/drawing/2014/main" id="{1AFFD8F5-D943-4FA8-98C3-3F73D2E386F2}"/>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壁の成分との相互作用</a:t>
            </a:r>
          </a:p>
        </p:txBody>
      </p:sp>
      <p:sp>
        <p:nvSpPr>
          <p:cNvPr id="12" name="">
            <a:extLst xmlns:a="http://schemas.openxmlformats.org/drawingml/2006/main">
              <a:ext uri="{FF2B5EF4-FFF2-40B4-BE49-F238E27FC236}">
                <a16:creationId xmlns:a16="http://schemas.microsoft.com/office/drawing/2014/main" id="{21C580C4-E0FD-46D1-9509-FDF1C0691B3A}"/>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水分変化と寸法を結ぶ</a:t>
            </a:r>
          </a:p>
        </p:txBody>
      </p:sp>
      <p:sp>
        <p:nvSpPr>
          <p:cNvPr id="13" name="">
            <a:extLst xmlns:a="http://schemas.openxmlformats.org/drawingml/2006/main">
              <a:ext uri="{FF2B5EF4-FFF2-40B4-BE49-F238E27FC236}">
                <a16:creationId xmlns:a16="http://schemas.microsoft.com/office/drawing/2014/main" id="{B1FA8E3F-E8EA-4FB1-8508-5C739EE8DD49}"/>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水量と寸法比は模式的</a:t>
            </a:r>
          </a:p>
        </p:txBody>
      </p:sp>
    </p:spTree>
    <p:extLst>
      <p:ext uri="{BB962C8B-B14F-4D97-AF65-F5344CB8AC3E}">
        <p14:creationId xmlns:p14="http://schemas.microsoft.com/office/powerpoint/2010/main" val="11503268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187F78-0865-48FF-8080-A63B49739A4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細胞壁中の水と自由水</a:t>
            </a:r>
          </a:p>
        </p:txBody>
      </p:sp>
      <p:cxnSp>
        <p:nvCxnSpPr>
          <p:cNvPr id="2" name="">
            <a:extLst xmlns:a="http://schemas.openxmlformats.org/drawingml/2006/main">
              <a:ext uri="{FF2B5EF4-FFF2-40B4-BE49-F238E27FC236}">
                <a16:creationId xmlns:a16="http://schemas.microsoft.com/office/drawing/2014/main" id="{8F904A9C-939B-4C62-B038-3E9AD6F1052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9EFD12D7-A708-42D7-B4C3-9A5EDD99380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CB84658-735F-4C73-99F1-41600886F90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B004E0D5-7BC6-4C9E-986F-9837FB6BF29E}"/>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自由水は、主に細胞内腔や細胞間の空隙にある液体の水</a:t>
            </a:r>
          </a:p>
        </p:txBody>
      </p:sp>
      <p:sp>
        <p:nvSpPr>
          <p:cNvPr id="6" name="">
            <a:extLst xmlns:a="http://schemas.openxmlformats.org/drawingml/2006/main">
              <a:ext uri="{FF2B5EF4-FFF2-40B4-BE49-F238E27FC236}">
                <a16:creationId xmlns:a16="http://schemas.microsoft.com/office/drawing/2014/main" id="{4D8625F9-EAB6-4D15-9A9F-6B346FE9FFFE}"/>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細胞壁中の水は、セルロース・ヘミセルロースなどと相互作用する</a:t>
            </a:r>
          </a:p>
        </p:txBody>
      </p:sp>
      <p:sp>
        <p:nvSpPr>
          <p:cNvPr id="7" name="">
            <a:extLst xmlns:a="http://schemas.openxmlformats.org/drawingml/2006/main">
              <a:ext uri="{FF2B5EF4-FFF2-40B4-BE49-F238E27FC236}">
                <a16:creationId xmlns:a16="http://schemas.microsoft.com/office/drawing/2014/main" id="{64746BD5-0A87-4632-A0C1-CE76CDCBDA21}"/>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壁の水が増減すると、膨潤・収縮や力学的性質が変わる</a:t>
            </a:r>
          </a:p>
        </p:txBody>
      </p:sp>
      <p:sp>
        <p:nvSpPr>
          <p:cNvPr id="8" name="">
            <a:extLst xmlns:a="http://schemas.openxmlformats.org/drawingml/2006/main">
              <a:ext uri="{FF2B5EF4-FFF2-40B4-BE49-F238E27FC236}">
                <a16:creationId xmlns:a16="http://schemas.microsoft.com/office/drawing/2014/main" id="{7FDA15DD-69B6-4081-81EF-9DFC4034D73B}"/>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木口からの吸水では、L方向の通導要素や壁孔も経路になる</a:t>
            </a:r>
          </a:p>
        </p:txBody>
      </p:sp>
      <p:sp>
        <p:nvSpPr>
          <p:cNvPr id="9" name="">
            <a:extLst xmlns:a="http://schemas.openxmlformats.org/drawingml/2006/main">
              <a:ext uri="{FF2B5EF4-FFF2-40B4-BE49-F238E27FC236}">
                <a16:creationId xmlns:a16="http://schemas.microsoft.com/office/drawing/2014/main" id="{D9DC55B2-4EDA-43EF-BAB9-A2DE4A0C1C6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水の総量と、水がある場所を併せて考える</a:t>
            </a:r>
          </a:p>
        </p:txBody>
      </p:sp>
    </p:spTree>
    <p:extLst>
      <p:ext uri="{BB962C8B-B14F-4D97-AF65-F5344CB8AC3E}">
        <p14:creationId xmlns:p14="http://schemas.microsoft.com/office/powerpoint/2010/main" val="1480403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962B11-0D58-48BD-AFFA-BE5F3FAAD5A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繊維飽和点と寸法変化</a:t>
            </a:r>
          </a:p>
        </p:txBody>
      </p:sp>
      <p:cxnSp>
        <p:nvCxnSpPr>
          <p:cNvPr id="2" name="">
            <a:extLst xmlns:a="http://schemas.openxmlformats.org/drawingml/2006/main">
              <a:ext uri="{FF2B5EF4-FFF2-40B4-BE49-F238E27FC236}">
                <a16:creationId xmlns:a16="http://schemas.microsoft.com/office/drawing/2014/main" id="{B7B6FDF5-4F0A-4197-AD41-BB14DEC0B5CF}"/>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7BEFF75-5C2F-47A9-A2B7-1DD0D616B46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D3C04CFC-D3C8-4053-B240-5EE4F357A2A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E3BBE67A-047A-46E1-A2D3-E1AA1659E86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内腔の自由水を失い、細胞壁には水が多く残る状態を考える概念</a:t>
            </a:r>
          </a:p>
        </p:txBody>
      </p:sp>
      <p:sp>
        <p:nvSpPr>
          <p:cNvPr id="6" name="">
            <a:extLst xmlns:a="http://schemas.openxmlformats.org/drawingml/2006/main">
              <a:ext uri="{FF2B5EF4-FFF2-40B4-BE49-F238E27FC236}">
                <a16:creationId xmlns:a16="http://schemas.microsoft.com/office/drawing/2014/main" id="{867857F5-CFE7-42A7-B480-6AF875B8FEC4}"/>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通常の説明では、この付近より低い含水率域で収縮が顕著になる</a:t>
            </a:r>
          </a:p>
        </p:txBody>
      </p:sp>
      <p:sp>
        <p:nvSpPr>
          <p:cNvPr id="7" name="">
            <a:extLst xmlns:a="http://schemas.openxmlformats.org/drawingml/2006/main">
              <a:ext uri="{FF2B5EF4-FFF2-40B4-BE49-F238E27FC236}">
                <a16:creationId xmlns:a16="http://schemas.microsoft.com/office/drawing/2014/main" id="{3096A391-97FB-48D7-A3E6-A436050062A8}"/>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約30％は目安で、樹種・温度・測定方法によって異なる</a:t>
            </a:r>
          </a:p>
        </p:txBody>
      </p:sp>
      <p:sp>
        <p:nvSpPr>
          <p:cNvPr id="8" name="">
            <a:extLst xmlns:a="http://schemas.openxmlformats.org/drawingml/2006/main">
              <a:ext uri="{FF2B5EF4-FFF2-40B4-BE49-F238E27FC236}">
                <a16:creationId xmlns:a16="http://schemas.microsoft.com/office/drawing/2014/main" id="{4C2456FD-F656-46EB-97EB-AD8569EB160B}"/>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細胞ごとの水分状態が、材全体で同時に切り替わるわけではない</a:t>
            </a:r>
          </a:p>
        </p:txBody>
      </p:sp>
      <p:sp>
        <p:nvSpPr>
          <p:cNvPr id="9" name="">
            <a:extLst xmlns:a="http://schemas.openxmlformats.org/drawingml/2006/main">
              <a:ext uri="{FF2B5EF4-FFF2-40B4-BE49-F238E27FC236}">
                <a16:creationId xmlns:a16="http://schemas.microsoft.com/office/drawing/2014/main" id="{1FB686AD-7BAA-42B0-9C67-77B7635AB96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平衡含水率は空気との関係、繊維飽和点は水の所在と物性変化の関係</a:t>
            </a:r>
          </a:p>
        </p:txBody>
      </p:sp>
    </p:spTree>
    <p:extLst>
      <p:ext uri="{BB962C8B-B14F-4D97-AF65-F5344CB8AC3E}">
        <p14:creationId xmlns:p14="http://schemas.microsoft.com/office/powerpoint/2010/main" val="926175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27BDCD-C513-433A-BD38-284703CD805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同じ20 gの水の減少を比べる</a:t>
            </a:r>
          </a:p>
        </p:txBody>
      </p:sp>
      <p:sp>
        <p:nvSpPr>
          <p:cNvPr id="2" name="">
            <a:extLst xmlns:a="http://schemas.openxmlformats.org/drawingml/2006/main">
              <a:ext uri="{FF2B5EF4-FFF2-40B4-BE49-F238E27FC236}">
                <a16:creationId xmlns:a16="http://schemas.microsoft.com/office/drawing/2014/main" id="{277B7B63-0D11-4B28-ABA3-6D725C856C7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10E02F-BC04-4C8C-9D11-02236C0BB79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4B626DB4-544D-4995-9CD5-89DA8110A62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1E8ACF4B-778B-4F22-B13F-14B47C991CF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全乾質量100 g、MCは60% → 40% → 20%</a:t>
            </a:r>
          </a:p>
        </p:txBody>
      </p:sp>
      <p:sp>
        <p:nvSpPr>
          <p:cNvPr id="6" name="">
            <a:extLst xmlns:a="http://schemas.openxmlformats.org/drawingml/2006/main">
              <a:ext uri="{FF2B5EF4-FFF2-40B4-BE49-F238E27FC236}">
                <a16:creationId xmlns:a16="http://schemas.microsoft.com/office/drawing/2014/main" id="{95432694-10A4-4C2B-A12E-7D46EF08F47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 = 30%と仮定した一様な説明モデル</a:t>
            </a:r>
          </a:p>
        </p:txBody>
      </p:sp>
      <p:sp>
        <p:nvSpPr>
          <p:cNvPr id="7" name="">
            <a:extLst xmlns:a="http://schemas.openxmlformats.org/drawingml/2006/main">
              <a:ext uri="{FF2B5EF4-FFF2-40B4-BE49-F238E27FC236}">
                <a16:creationId xmlns:a16="http://schemas.microsoft.com/office/drawing/2014/main" id="{24EE76AE-45E6-410D-98A7-354D52F7901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各状態の水と全体の質量を求める</a:t>
            </a:r>
          </a:p>
        </p:txBody>
      </p:sp>
      <p:sp>
        <p:nvSpPr>
          <p:cNvPr id="8" name="">
            <a:extLst xmlns:a="http://schemas.openxmlformats.org/drawingml/2006/main">
              <a:ext uri="{FF2B5EF4-FFF2-40B4-BE49-F238E27FC236}">
                <a16:creationId xmlns:a16="http://schemas.microsoft.com/office/drawing/2014/main" id="{D1589DFC-636C-46A5-9EA6-055D0CC11CBF}"/>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水の所在と、収縮が関わる区間を図示する</a:t>
            </a:r>
          </a:p>
        </p:txBody>
      </p:sp>
    </p:spTree>
    <p:extLst>
      <p:ext uri="{BB962C8B-B14F-4D97-AF65-F5344CB8AC3E}">
        <p14:creationId xmlns:p14="http://schemas.microsoft.com/office/powerpoint/2010/main" val="44542464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21EA6B-C7FD-4745-B378-CCC1BCE6AD2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平均MCが高ければ、表面も縮まないか</a:t>
            </a:r>
          </a:p>
        </p:txBody>
      </p:sp>
      <p:sp>
        <p:nvSpPr>
          <p:cNvPr id="2" name="">
            <a:extLst xmlns:a="http://schemas.openxmlformats.org/drawingml/2006/main">
              <a:ext uri="{FF2B5EF4-FFF2-40B4-BE49-F238E27FC236}">
                <a16:creationId xmlns:a16="http://schemas.microsoft.com/office/drawing/2014/main" id="{95530CF8-DB3F-486B-95EF-8B6EC6C85E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0E62BF-1D06-4F3C-84FF-4D69A4A7225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34EAF4F-EF5D-4CA1-94E4-CD6BEE6E005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042C0DEF-6E81-47BD-A27E-5ABA95A21EEA}"/>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仮想例：材全体の平均MC40%、表面付近25%</a:t>
            </a:r>
          </a:p>
        </p:txBody>
      </p:sp>
      <p:sp>
        <p:nvSpPr>
          <p:cNvPr id="6" name="">
            <a:extLst xmlns:a="http://schemas.openxmlformats.org/drawingml/2006/main">
              <a:ext uri="{FF2B5EF4-FFF2-40B4-BE49-F238E27FC236}">
                <a16:creationId xmlns:a16="http://schemas.microsoft.com/office/drawing/2014/main" id="{A7928681-120B-4D71-8D51-CA26931E6F7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内部は表面より湿潤。FSP30%を仮定</a:t>
            </a:r>
          </a:p>
        </p:txBody>
      </p:sp>
      <p:sp>
        <p:nvSpPr>
          <p:cNvPr id="7" name="">
            <a:extLst xmlns:a="http://schemas.openxmlformats.org/drawingml/2006/main">
              <a:ext uri="{FF2B5EF4-FFF2-40B4-BE49-F238E27FC236}">
                <a16:creationId xmlns:a16="http://schemas.microsoft.com/office/drawing/2014/main" id="{748F0069-80EE-4CED-A354-D8EDB6BC097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「どこも縮まない」という主張を検討する</a:t>
            </a:r>
          </a:p>
        </p:txBody>
      </p:sp>
      <p:sp>
        <p:nvSpPr>
          <p:cNvPr id="8" name="">
            <a:extLst xmlns:a="http://schemas.openxmlformats.org/drawingml/2006/main">
              <a:ext uri="{FF2B5EF4-FFF2-40B4-BE49-F238E27FC236}">
                <a16:creationId xmlns:a16="http://schemas.microsoft.com/office/drawing/2014/main" id="{1F76C32F-6DC7-495B-B586-17BCA818EE7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平均と局所を分け、断面と矢印で説明する</a:t>
            </a:r>
          </a:p>
        </p:txBody>
      </p:sp>
    </p:spTree>
    <p:extLst>
      <p:ext uri="{BB962C8B-B14F-4D97-AF65-F5344CB8AC3E}">
        <p14:creationId xmlns:p14="http://schemas.microsoft.com/office/powerpoint/2010/main" val="14732337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F82A8A-98DD-4BB4-8126-8F7CBCDD45F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325E7EB0-CE59-44FC-A682-BDEEA425E63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518ED2-6AD6-4949-B3A2-E638D8C640F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622DB40B-1459-4D8B-9B4D-C2A1E103970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5AA39522-DB09-4B42-8A2E-12EE7C58B2E1}"/>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6285689C-6228-4EB4-A9BA-7F5D6838C956}"/>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BE4BF66E-5857-480E-9662-A76933BE0867}"/>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95205B4-106A-4ADF-8C5E-56538EB05BC2}"/>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再開したら：演習2　含水率から質量を求めるへ進みます。</a:t>
            </a:r>
          </a:p>
        </p:txBody>
      </p:sp>
    </p:spTree>
    <p:extLst>
      <p:ext uri="{BB962C8B-B14F-4D97-AF65-F5344CB8AC3E}">
        <p14:creationId xmlns:p14="http://schemas.microsoft.com/office/powerpoint/2010/main" val="205495434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EAE95E-61E7-4C37-80CC-9E6458AC3A5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含水率から質量を求める</a:t>
            </a:r>
          </a:p>
        </p:txBody>
      </p:sp>
      <p:cxnSp>
        <p:nvCxnSpPr>
          <p:cNvPr id="2" name="">
            <a:extLst xmlns:a="http://schemas.openxmlformats.org/drawingml/2006/main">
              <a:ext uri="{FF2B5EF4-FFF2-40B4-BE49-F238E27FC236}">
                <a16:creationId xmlns:a16="http://schemas.microsoft.com/office/drawing/2014/main" id="{718E3848-1F5C-4EA1-91FF-AC1E256FC81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2B76BDB-5B4E-42FC-B37C-B66C800D27C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29C37213-7304-4D0B-9B84-D8B881BAA70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3D09AF00-F472-4D06-B639-0AD94E39DDC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前の試料（全乾50 g・水を含む質量125 g）を、含水率20％まで乾かす</a:t>
            </a:r>
          </a:p>
        </p:txBody>
      </p:sp>
      <p:sp>
        <p:nvSpPr>
          <p:cNvPr id="6" name="">
            <a:extLst xmlns:a="http://schemas.openxmlformats.org/drawingml/2006/main">
              <a:ext uri="{FF2B5EF4-FFF2-40B4-BE49-F238E27FC236}">
                <a16:creationId xmlns:a16="http://schemas.microsoft.com/office/drawing/2014/main" id="{BB2547F1-8A66-4EA2-9998-63DC541749E7}"/>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木材の乾量基準の式を変形し、目標の質量 M を求める</a:t>
            </a:r>
          </a:p>
        </p:txBody>
      </p:sp>
      <p:sp>
        <p:nvSpPr>
          <p:cNvPr id="7" name="">
            <a:extLst xmlns:a="http://schemas.openxmlformats.org/drawingml/2006/main">
              <a:ext uri="{FF2B5EF4-FFF2-40B4-BE49-F238E27FC236}">
                <a16:creationId xmlns:a16="http://schemas.microsoft.com/office/drawing/2014/main" id="{3247B6F7-1EA4-4668-8E7D-A77CEDD287DB}"/>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取り除く水の質量は何gか。初めと終わりの水の所在も図示する</a:t>
            </a:r>
          </a:p>
        </p:txBody>
      </p:sp>
      <p:sp>
        <p:nvSpPr>
          <p:cNvPr id="8" name="">
            <a:extLst xmlns:a="http://schemas.openxmlformats.org/drawingml/2006/main">
              <a:ext uri="{FF2B5EF4-FFF2-40B4-BE49-F238E27FC236}">
                <a16:creationId xmlns:a16="http://schemas.microsoft.com/office/drawing/2014/main" id="{BBAAB852-9C38-4072-9B18-0D4EC67F96E3}"/>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繊維飽和点と平衡含水率の違いを、乾燥の説明に加える</a:t>
            </a:r>
          </a:p>
        </p:txBody>
      </p:sp>
    </p:spTree>
    <p:extLst>
      <p:ext uri="{BB962C8B-B14F-4D97-AF65-F5344CB8AC3E}">
        <p14:creationId xmlns:p14="http://schemas.microsoft.com/office/powerpoint/2010/main" val="18848313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0B36E4-C108-42C5-A9D8-0F9B6862FCC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　質量と水の移動</a:t>
            </a:r>
          </a:p>
        </p:txBody>
      </p:sp>
      <p:cxnSp>
        <p:nvCxnSpPr>
          <p:cNvPr id="2" name="">
            <a:extLst xmlns:a="http://schemas.openxmlformats.org/drawingml/2006/main">
              <a:ext uri="{FF2B5EF4-FFF2-40B4-BE49-F238E27FC236}">
                <a16:creationId xmlns:a16="http://schemas.microsoft.com/office/drawing/2014/main" id="{1BD79C5B-C50E-4149-B80A-B6C0A1048DA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A04100B-756C-47E2-A423-5BFB4FD146C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F6E8341-E946-4B57-A634-6075FABB343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8C711901-5227-4381-8965-2EDD45C98C79}"/>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M = M₀(1 + 含水率/100) = 50 × 1.20 = 60 g</a:t>
            </a:r>
          </a:p>
        </p:txBody>
      </p:sp>
      <p:sp>
        <p:nvSpPr>
          <p:cNvPr id="6" name="">
            <a:extLst xmlns:a="http://schemas.openxmlformats.org/drawingml/2006/main">
              <a:ext uri="{FF2B5EF4-FFF2-40B4-BE49-F238E27FC236}">
                <a16:creationId xmlns:a16="http://schemas.microsoft.com/office/drawing/2014/main" id="{DF2B2C4B-7BA5-4AD7-81EC-C468502B1401}"/>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初めの水75 g、終わりの水10 g。取り除く水は65 g</a:t>
            </a:r>
          </a:p>
        </p:txBody>
      </p:sp>
      <p:sp>
        <p:nvSpPr>
          <p:cNvPr id="7" name="">
            <a:extLst xmlns:a="http://schemas.openxmlformats.org/drawingml/2006/main">
              <a:ext uri="{FF2B5EF4-FFF2-40B4-BE49-F238E27FC236}">
                <a16:creationId xmlns:a16="http://schemas.microsoft.com/office/drawing/2014/main" id="{1A9AB67B-2661-421E-9073-BEA03023E600}"/>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乾燥が進むと自由水が減り、さらに細胞壁中の水が減って収縮が顕著になる</a:t>
            </a:r>
          </a:p>
        </p:txBody>
      </p:sp>
      <p:sp>
        <p:nvSpPr>
          <p:cNvPr id="8" name="">
            <a:extLst xmlns:a="http://schemas.openxmlformats.org/drawingml/2006/main">
              <a:ext uri="{FF2B5EF4-FFF2-40B4-BE49-F238E27FC236}">
                <a16:creationId xmlns:a16="http://schemas.microsoft.com/office/drawing/2014/main" id="{6EF4261B-45BF-46FB-B2B8-44C18D53429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繊維飽和点は自由水と細胞壁中の水を考える目安。実材では水分状態にむらがある</a:t>
            </a:r>
          </a:p>
        </p:txBody>
      </p:sp>
      <p:sp>
        <p:nvSpPr>
          <p:cNvPr id="9" name="">
            <a:extLst xmlns:a="http://schemas.openxmlformats.org/drawingml/2006/main">
              <a:ext uri="{FF2B5EF4-FFF2-40B4-BE49-F238E27FC236}">
                <a16:creationId xmlns:a16="http://schemas.microsoft.com/office/drawing/2014/main" id="{934CCDED-8D45-4373-B2DF-2F1030EF391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平衡含水率は、一定の温湿度の空気と木材の水分が平衡になったときの値</a:t>
            </a:r>
          </a:p>
        </p:txBody>
      </p:sp>
    </p:spTree>
    <p:extLst>
      <p:ext uri="{BB962C8B-B14F-4D97-AF65-F5344CB8AC3E}">
        <p14:creationId xmlns:p14="http://schemas.microsoft.com/office/powerpoint/2010/main" val="4330892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157F26-5FE6-403A-BE95-34E216E7E7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FSPとEMCを、使う場面で区別する</a:t>
            </a:r>
          </a:p>
        </p:txBody>
      </p:sp>
      <p:sp>
        <p:nvSpPr>
          <p:cNvPr id="2" name="">
            <a:extLst xmlns:a="http://schemas.openxmlformats.org/drawingml/2006/main">
              <a:ext uri="{FF2B5EF4-FFF2-40B4-BE49-F238E27FC236}">
                <a16:creationId xmlns:a16="http://schemas.microsoft.com/office/drawing/2014/main" id="{4AB10BAF-A841-4A61-9FEC-4A0CE24A848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2F1E08-8D58-48D0-B6DC-ECFCA8F0855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8907EAF5-DBEF-438E-B03C-AF9CDE507FF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90D32532-45CD-4179-9A25-E7E7F7E6750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FSP：水の所在と、寸法・力学的性質の変化</a:t>
            </a:r>
          </a:p>
        </p:txBody>
      </p:sp>
      <p:sp>
        <p:nvSpPr>
          <p:cNvPr id="6" name="">
            <a:extLst xmlns:a="http://schemas.openxmlformats.org/drawingml/2006/main">
              <a:ext uri="{FF2B5EF4-FFF2-40B4-BE49-F238E27FC236}">
                <a16:creationId xmlns:a16="http://schemas.microsoft.com/office/drawing/2014/main" id="{683C1068-AFE5-4500-ABA2-FD9B5D4E8AD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EMC：特定の温度・相対湿度の空気との平衡</a:t>
            </a:r>
          </a:p>
        </p:txBody>
      </p:sp>
      <p:sp>
        <p:nvSpPr>
          <p:cNvPr id="7" name="">
            <a:extLst xmlns:a="http://schemas.openxmlformats.org/drawingml/2006/main">
              <a:ext uri="{FF2B5EF4-FFF2-40B4-BE49-F238E27FC236}">
                <a16:creationId xmlns:a16="http://schemas.microsoft.com/office/drawing/2014/main" id="{7FF36855-C448-418A-8EEB-CE7544199C15}"/>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通常の使用域（FSP以下）でも、壁内の水は変わる</a:t>
            </a:r>
          </a:p>
        </p:txBody>
      </p:sp>
      <p:sp>
        <p:nvSpPr>
          <p:cNvPr id="8" name="">
            <a:extLst xmlns:a="http://schemas.openxmlformats.org/drawingml/2006/main">
              <a:ext uri="{FF2B5EF4-FFF2-40B4-BE49-F238E27FC236}">
                <a16:creationId xmlns:a16="http://schemas.microsoft.com/office/drawing/2014/main" id="{9F92EE66-2516-4C22-9831-7097E92F5A4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全国平均の目安と、個別の使用場所の値は別</a:t>
            </a:r>
          </a:p>
        </p:txBody>
      </p:sp>
    </p:spTree>
    <p:extLst>
      <p:ext uri="{BB962C8B-B14F-4D97-AF65-F5344CB8AC3E}">
        <p14:creationId xmlns:p14="http://schemas.microsoft.com/office/powerpoint/2010/main" val="11273837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BFC166-2414-4863-B236-166DC2DEE4A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吸放湿と平衡含水率</a:t>
            </a:r>
          </a:p>
        </p:txBody>
      </p:sp>
      <p:cxnSp>
        <p:nvCxnSpPr>
          <p:cNvPr id="2" name="">
            <a:extLst xmlns:a="http://schemas.openxmlformats.org/drawingml/2006/main">
              <a:ext uri="{FF2B5EF4-FFF2-40B4-BE49-F238E27FC236}">
                <a16:creationId xmlns:a16="http://schemas.microsoft.com/office/drawing/2014/main" id="{8D6CC127-B95D-452B-B973-10C88E7C458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73FA995-452A-420A-811A-F9CE7A47792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CE0455D0-97F4-4C26-9830-BB4F29DA11E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D544366A-E7FF-45E7-B2BD-F0E44FAF0CFC}"/>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一定の温度・相対湿度の空気中で、木材は水蒸気を吸ったり放したりする</a:t>
            </a:r>
          </a:p>
        </p:txBody>
      </p:sp>
      <p:sp>
        <p:nvSpPr>
          <p:cNvPr id="6" name="">
            <a:extLst xmlns:a="http://schemas.openxmlformats.org/drawingml/2006/main">
              <a:ext uri="{FF2B5EF4-FFF2-40B4-BE49-F238E27FC236}">
                <a16:creationId xmlns:a16="http://schemas.microsoft.com/office/drawing/2014/main" id="{F8177196-9A05-4E5A-91BA-2DF7E7B9538D}"/>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十分な時間の後、質量変化が落ち着いたときの含水率を平衡含水率という</a:t>
            </a:r>
          </a:p>
        </p:txBody>
      </p:sp>
      <p:sp>
        <p:nvSpPr>
          <p:cNvPr id="7" name="">
            <a:extLst xmlns:a="http://schemas.openxmlformats.org/drawingml/2006/main">
              <a:ext uri="{FF2B5EF4-FFF2-40B4-BE49-F238E27FC236}">
                <a16:creationId xmlns:a16="http://schemas.microsoft.com/office/drawing/2014/main" id="{322E2881-1299-45DD-AD04-6D21AF692C2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同じ温度でも、相対湿度が高いほど平衡含水率は高くなる</a:t>
            </a:r>
          </a:p>
        </p:txBody>
      </p:sp>
      <p:sp>
        <p:nvSpPr>
          <p:cNvPr id="8" name="">
            <a:extLst xmlns:a="http://schemas.openxmlformats.org/drawingml/2006/main">
              <a:ext uri="{FF2B5EF4-FFF2-40B4-BE49-F238E27FC236}">
                <a16:creationId xmlns:a16="http://schemas.microsoft.com/office/drawing/2014/main" id="{11E5B8DF-D09A-4CFC-81C4-ABC14EBC95E6}"/>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吸湿して近付くか、放湿して近付くかで差がある。これを履歴として考える</a:t>
            </a:r>
          </a:p>
        </p:txBody>
      </p:sp>
      <p:sp>
        <p:nvSpPr>
          <p:cNvPr id="9" name="">
            <a:extLst xmlns:a="http://schemas.openxmlformats.org/drawingml/2006/main">
              <a:ext uri="{FF2B5EF4-FFF2-40B4-BE49-F238E27FC236}">
                <a16:creationId xmlns:a16="http://schemas.microsoft.com/office/drawing/2014/main" id="{B3289943-6187-4362-AC39-557FC333296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気乾は全乾ではなく、温湿度に応じて水分が残る状態</a:t>
            </a:r>
          </a:p>
        </p:txBody>
      </p:sp>
    </p:spTree>
    <p:extLst>
      <p:ext uri="{BB962C8B-B14F-4D97-AF65-F5344CB8AC3E}">
        <p14:creationId xmlns:p14="http://schemas.microsoft.com/office/powerpoint/2010/main" val="90458552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C7EF54-3C18-4EB3-8907-E3E9DB0E915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湿度計の%と木材のMCは同じか</a:t>
            </a:r>
          </a:p>
        </p:txBody>
      </p:sp>
      <p:sp>
        <p:nvSpPr>
          <p:cNvPr id="2" name="">
            <a:extLst xmlns:a="http://schemas.openxmlformats.org/drawingml/2006/main">
              <a:ext uri="{FF2B5EF4-FFF2-40B4-BE49-F238E27FC236}">
                <a16:creationId xmlns:a16="http://schemas.microsoft.com/office/drawing/2014/main" id="{526FA046-9E12-4BC3-975A-E09DAD0A113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C9C7E0-1D8D-48EA-824E-36E4816703E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DC063425-6D45-4665-9C94-36A377E0183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graphicFrame>
        <p:nvGraphicFramePr>
          <p:cNvPr id="5" name="">
            <a:extLst xmlns:a="http://schemas.openxmlformats.org/drawingml/2006/main">
              <a:ext uri="{FF2B5EF4-FFF2-40B4-BE49-F238E27FC236}">
                <a16:creationId xmlns:a16="http://schemas.microsoft.com/office/drawing/2014/main" id="{103826CB-B4E5-415B-9A6D-D4586DEA1360}"/>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温度21.1℃の相対湿度</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平衡含水率（乾量基準）</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全乾50 gの水と全体は？</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50%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9.2%</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計算する</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65%</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12.0%</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計算する</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80%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16.0%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計算する</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E50C2B96-6DD8-4AB6-B750-2DA7703BCFDD}"/>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Wood Handbook 2021, Table 4–2, 4–4頁。表の条件へ平衡すると仮定。</a:t>
            </a:r>
          </a:p>
        </p:txBody>
      </p:sp>
    </p:spTree>
    <p:extLst>
      <p:ext uri="{BB962C8B-B14F-4D97-AF65-F5344CB8AC3E}">
        <p14:creationId xmlns:p14="http://schemas.microsoft.com/office/powerpoint/2010/main" val="15275061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987DCD-B5F2-46A9-9480-5E89C630CFA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月別のEMC：気象値からの推定を読む</a:t>
            </a:r>
          </a:p>
        </p:txBody>
      </p:sp>
      <p:sp>
        <p:nvSpPr>
          <p:cNvPr id="2" name="">
            <a:extLst xmlns:a="http://schemas.openxmlformats.org/drawingml/2006/main">
              <a:ext uri="{FF2B5EF4-FFF2-40B4-BE49-F238E27FC236}">
                <a16:creationId xmlns:a16="http://schemas.microsoft.com/office/drawing/2014/main" id="{3A06379E-BFAD-4F4A-9021-A7DB35FFD0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69DA58-525D-4D8C-BDFD-57EA9E81241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31F4123A-3047-441D-AC5E-6730300B424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graphicFrame>
        <p:nvGraphicFramePr>
          <p:cNvPr id="5" name="Chart">
            <a:extLst xmlns:a="http://schemas.openxmlformats.org/drawingml/2006/main">
              <a:ext uri="{FF2B5EF4-FFF2-40B4-BE49-F238E27FC236}">
                <a16:creationId xmlns:a16="http://schemas.microsoft.com/office/drawing/2014/main" id="{102148B6-3426-4887-B3B8-49148C36B78E}"/>
              </a:ext>
            </a:extLst>
          </p:cNvPr>
          <p:cNvGraphicFramePr/>
          <p:nvPr/>
        </p:nvGraphicFramePr>
        <p:xfrm>
          <a:off xmlns:a="http://schemas.openxmlformats.org/drawingml/2006/main" x="857250" y="1619250"/>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c8c82e22afa94948"/>
          </a:graphicData>
        </a:graphic>
      </p:graphicFrame>
      <p:sp>
        <p:nvSpPr>
          <p:cNvPr id="6" name="">
            <a:extLst xmlns:a="http://schemas.openxmlformats.org/drawingml/2006/main">
              <a:ext uri="{FF2B5EF4-FFF2-40B4-BE49-F238E27FC236}">
                <a16:creationId xmlns:a16="http://schemas.microsoft.com/office/drawing/2014/main" id="{E215F238-1A8F-463D-93CB-823C57A6F0B1}"/>
              </a:ext>
            </a:extLst>
          </p:cNvPr>
          <p:cNvSpPr>
            <a:spLocks xmlns:a="http://schemas.openxmlformats.org/drawingml/2006/main" noGrp="1"/>
          </p:cNvSpPr>
          <p:nvPr/>
        </p:nvSpPr>
        <p:spPr>
          <a:xfrm xmlns:a="http://schemas.openxmlformats.org/drawingml/2006/main">
            <a:off x="838200" y="5467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defRPr sz="1725" b="0">
                <a:solidFill>
                  <a:srgbClr val="596875"/>
                </a:solidFill>
                <a:latin typeface="Yu Gothic"/>
                <a:ea typeface="Yu Gothic"/>
                <a:cs typeface="Yu Gothic"/>
              </a:defRPr>
            </a:lvl1pPr>
            <a:lvl2pPr>
              <a:defRPr sz="1725" b="0">
                <a:solidFill>
                  <a:srgbClr val="596875"/>
                </a:solidFill>
                <a:latin typeface="Yu Gothic"/>
                <a:ea typeface="Yu Gothic"/>
                <a:cs typeface="Yu Gothic"/>
              </a:defRPr>
            </a:lvl2pPr>
            <a:lvl3pPr>
              <a:defRPr sz="1725" b="0">
                <a:solidFill>
                  <a:srgbClr val="596875"/>
                </a:solidFill>
                <a:latin typeface="Yu Gothic"/>
                <a:ea typeface="Yu Gothic"/>
                <a:cs typeface="Yu Gothic"/>
              </a:defRPr>
            </a:lvl3pPr>
            <a:lvl4pPr>
              <a:defRPr sz="1725" b="0">
                <a:solidFill>
                  <a:srgbClr val="596875"/>
                </a:solidFill>
                <a:latin typeface="Yu Gothic"/>
                <a:ea typeface="Yu Gothic"/>
                <a:cs typeface="Yu Gothic"/>
              </a:defRPr>
            </a:lvl4pPr>
            <a:lvl5pPr>
              <a:defRPr sz="1725" b="0">
                <a:solidFill>
                  <a:srgbClr val="596875"/>
                </a:solidFill>
                <a:latin typeface="Yu Gothic"/>
                <a:ea typeface="Yu Gothic"/>
                <a:cs typeface="Yu Gothic"/>
              </a:defRPr>
            </a:lvl5pPr>
            <a:lvl6pPr>
              <a:defRPr sz="1725" b="0">
                <a:solidFill>
                  <a:srgbClr val="596875"/>
                </a:solidFill>
                <a:latin typeface="Yu Gothic"/>
                <a:ea typeface="Yu Gothic"/>
                <a:cs typeface="Yu Gothic"/>
              </a:defRPr>
            </a:lvl6pPr>
            <a:lvl7pPr>
              <a:defRPr sz="1725" b="0">
                <a:solidFill>
                  <a:srgbClr val="596875"/>
                </a:solidFill>
                <a:latin typeface="Yu Gothic"/>
                <a:ea typeface="Yu Gothic"/>
                <a:cs typeface="Yu Gothic"/>
              </a:defRPr>
            </a:lvl7pPr>
            <a:lvl8pPr>
              <a:defRPr sz="1725" b="0">
                <a:solidFill>
                  <a:srgbClr val="596875"/>
                </a:solidFill>
                <a:latin typeface="Yu Gothic"/>
                <a:ea typeface="Yu Gothic"/>
                <a:cs typeface="Yu Gothic"/>
              </a:defRPr>
            </a:lvl8pPr>
            <a:lvl9pPr>
              <a:defRPr sz="1725" b="0">
                <a:solidFill>
                  <a:srgbClr val="596875"/>
                </a:solidFill>
                <a:latin typeface="Yu Gothic"/>
                <a:ea typeface="Yu Gothic"/>
                <a:cs typeface="Yu Gothic"/>
              </a:defRPr>
            </a:lvl9pPr>
          </a:lstStyle>
          <a:p xmlns:a="http://schemas.openxmlformats.org/drawingml/2006/main">
            <a:pPr>
              <a:defRPr sz="1725" b="0">
                <a:solidFill>
                  <a:srgbClr val="596875"/>
                </a:solidFill>
                <a:latin typeface="Yu Gothic"/>
                <a:ea typeface="Yu Gothic"/>
                <a:cs typeface="Yu Gothic"/>
              </a:defRPr>
            </a:pPr>
            <a:r>
              <a:rPr sz="1725" b="0">
                <a:solidFill>
                  <a:srgbClr val="596875"/>
                </a:solidFill>
                <a:latin typeface="Yu Gothic"/>
                <a:ea typeface="Yu Gothic"/>
                <a:cs typeface="Yu Gothic"/>
              </a:rPr>
              <a:t>気象庁1991–2020年の月平均温湿度 → Wood Handbook式(4–5)で計算</a:t>
            </a:r>
          </a:p>
        </p:txBody>
      </p:sp>
      <p:sp>
        <p:nvSpPr>
          <p:cNvPr id="7" name="">
            <a:extLst xmlns:a="http://schemas.openxmlformats.org/drawingml/2006/main">
              <a:ext uri="{FF2B5EF4-FFF2-40B4-BE49-F238E27FC236}">
                <a16:creationId xmlns:a16="http://schemas.microsoft.com/office/drawing/2014/main" id="{A214817D-BEE6-4DA2-9385-8AC0A30FF00B}"/>
              </a:ext>
            </a:extLst>
          </p:cNvPr>
          <p:cNvSpPr>
            <a:spLocks xmlns:a="http://schemas.openxmlformats.org/drawingml/2006/main" noGrp="1"/>
          </p:cNvSpPr>
          <p:nvPr/>
        </p:nvSpPr>
        <p:spPr>
          <a:xfrm xmlns:a="http://schemas.openxmlformats.org/drawingml/2006/main">
            <a:off x="838200" y="58959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defRPr sz="1725" b="1">
                <a:solidFill>
                  <a:srgbClr val="087E8B"/>
                </a:solidFill>
                <a:latin typeface="Yu Gothic"/>
                <a:ea typeface="Yu Gothic"/>
                <a:cs typeface="Yu Gothic"/>
              </a:defRPr>
            </a:lvl1pPr>
            <a:lvl2pPr>
              <a:defRPr sz="1725" b="1">
                <a:solidFill>
                  <a:srgbClr val="087E8B"/>
                </a:solidFill>
                <a:latin typeface="Yu Gothic"/>
                <a:ea typeface="Yu Gothic"/>
                <a:cs typeface="Yu Gothic"/>
              </a:defRPr>
            </a:lvl2pPr>
            <a:lvl3pPr>
              <a:defRPr sz="1725" b="1">
                <a:solidFill>
                  <a:srgbClr val="087E8B"/>
                </a:solidFill>
                <a:latin typeface="Yu Gothic"/>
                <a:ea typeface="Yu Gothic"/>
                <a:cs typeface="Yu Gothic"/>
              </a:defRPr>
            </a:lvl3pPr>
            <a:lvl4pPr>
              <a:defRPr sz="1725" b="1">
                <a:solidFill>
                  <a:srgbClr val="087E8B"/>
                </a:solidFill>
                <a:latin typeface="Yu Gothic"/>
                <a:ea typeface="Yu Gothic"/>
                <a:cs typeface="Yu Gothic"/>
              </a:defRPr>
            </a:lvl4pPr>
            <a:lvl5pPr>
              <a:defRPr sz="1725" b="1">
                <a:solidFill>
                  <a:srgbClr val="087E8B"/>
                </a:solidFill>
                <a:latin typeface="Yu Gothic"/>
                <a:ea typeface="Yu Gothic"/>
                <a:cs typeface="Yu Gothic"/>
              </a:defRPr>
            </a:lvl5pPr>
            <a:lvl6pPr>
              <a:defRPr sz="1725" b="1">
                <a:solidFill>
                  <a:srgbClr val="087E8B"/>
                </a:solidFill>
                <a:latin typeface="Yu Gothic"/>
                <a:ea typeface="Yu Gothic"/>
                <a:cs typeface="Yu Gothic"/>
              </a:defRPr>
            </a:lvl6pPr>
            <a:lvl7pPr>
              <a:defRPr sz="1725" b="1">
                <a:solidFill>
                  <a:srgbClr val="087E8B"/>
                </a:solidFill>
                <a:latin typeface="Yu Gothic"/>
                <a:ea typeface="Yu Gothic"/>
                <a:cs typeface="Yu Gothic"/>
              </a:defRPr>
            </a:lvl7pPr>
            <a:lvl8pPr>
              <a:defRPr sz="1725" b="1">
                <a:solidFill>
                  <a:srgbClr val="087E8B"/>
                </a:solidFill>
                <a:latin typeface="Yu Gothic"/>
                <a:ea typeface="Yu Gothic"/>
                <a:cs typeface="Yu Gothic"/>
              </a:defRPr>
            </a:lvl8pPr>
            <a:lvl9pPr>
              <a:defRPr sz="1725" b="1">
                <a:solidFill>
                  <a:srgbClr val="087E8B"/>
                </a:solidFill>
                <a:latin typeface="Yu Gothic"/>
                <a:ea typeface="Yu Gothic"/>
                <a:cs typeface="Yu Gothic"/>
              </a:defRPr>
            </a:lvl9pPr>
          </a:lstStyle>
          <a:p xmlns:a="http://schemas.openxmlformats.org/drawingml/2006/main">
            <a:pPr>
              <a:defRPr sz="1725" b="1">
                <a:solidFill>
                  <a:srgbClr val="087E8B"/>
                </a:solidFill>
                <a:latin typeface="Yu Gothic"/>
                <a:ea typeface="Yu Gothic"/>
                <a:cs typeface="Yu Gothic"/>
              </a:defRPr>
            </a:pPr>
            <a:r>
              <a:rPr sz="1725" b="1">
                <a:solidFill>
                  <a:srgbClr val="087E8B"/>
                </a:solidFill>
                <a:latin typeface="Yu Gothic"/>
                <a:ea typeface="Yu Gothic"/>
                <a:cs typeface="Yu Gothic"/>
              </a:rPr>
              <a:t>木材含水率の実測ではない。室内・降雨・応答の遅れは含めない。</a:t>
            </a:r>
          </a:p>
        </p:txBody>
      </p:sp>
    </p:spTree>
    <p:extLst>
      <p:ext uri="{BB962C8B-B14F-4D97-AF65-F5344CB8AC3E}">
        <p14:creationId xmlns:p14="http://schemas.microsoft.com/office/powerpoint/2010/main" val="186256586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CE909D-26D8-4C24-8A89-BC762795B2B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同じ温湿度で含水率が違う理由</a:t>
            </a:r>
          </a:p>
        </p:txBody>
      </p:sp>
      <p:sp>
        <p:nvSpPr>
          <p:cNvPr id="2" name="">
            <a:extLst xmlns:a="http://schemas.openxmlformats.org/drawingml/2006/main">
              <a:ext uri="{FF2B5EF4-FFF2-40B4-BE49-F238E27FC236}">
                <a16:creationId xmlns:a16="http://schemas.microsoft.com/office/drawing/2014/main" id="{8421925B-6A30-4685-AFEA-DCF57EF2162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EC8C91-B248-4B90-A164-DDF157E2BC1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7FFA8A5A-659A-4B7C-8395-1C2A3B490E4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sp>
        <p:nvSpPr>
          <p:cNvPr id="5" name="">
            <a:extLst xmlns:a="http://schemas.openxmlformats.org/drawingml/2006/main">
              <a:ext uri="{FF2B5EF4-FFF2-40B4-BE49-F238E27FC236}">
                <a16:creationId xmlns:a16="http://schemas.microsoft.com/office/drawing/2014/main" id="{C31D975B-83AC-4925-B5C2-C3C97A979645}"/>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同じ空気中の仮想例：木片Aは10%、Bは12%</a:t>
            </a:r>
          </a:p>
        </p:txBody>
      </p:sp>
      <p:sp>
        <p:nvSpPr>
          <p:cNvPr id="6" name="">
            <a:extLst xmlns:a="http://schemas.openxmlformats.org/drawingml/2006/main">
              <a:ext uri="{FF2B5EF4-FFF2-40B4-BE49-F238E27FC236}">
                <a16:creationId xmlns:a16="http://schemas.microsoft.com/office/drawing/2014/main" id="{B84B9F07-D356-4A40-A6A9-83AA517BFEE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Aは乾いた状態から吸湿、Bは湿った状態から放湿</a:t>
            </a:r>
          </a:p>
        </p:txBody>
      </p:sp>
      <p:sp>
        <p:nvSpPr>
          <p:cNvPr id="7" name="">
            <a:extLst xmlns:a="http://schemas.openxmlformats.org/drawingml/2006/main">
              <a:ext uri="{FF2B5EF4-FFF2-40B4-BE49-F238E27FC236}">
                <a16:creationId xmlns:a16="http://schemas.microsoft.com/office/drawing/2014/main" id="{D777871D-9C55-455A-933E-4AA53420B68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違いだけで測定ミスと判断できるか</a:t>
            </a:r>
          </a:p>
        </p:txBody>
      </p:sp>
      <p:sp>
        <p:nvSpPr>
          <p:cNvPr id="8" name="">
            <a:extLst xmlns:a="http://schemas.openxmlformats.org/drawingml/2006/main">
              <a:ext uri="{FF2B5EF4-FFF2-40B4-BE49-F238E27FC236}">
                <a16:creationId xmlns:a16="http://schemas.microsoft.com/office/drawing/2014/main" id="{82C62CDF-BD11-4A1E-B707-F8B46A002FC4}"/>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移動直後の値なら、ほかに何を考えるか</a:t>
            </a:r>
          </a:p>
        </p:txBody>
      </p:sp>
    </p:spTree>
    <p:extLst>
      <p:ext uri="{BB962C8B-B14F-4D97-AF65-F5344CB8AC3E}">
        <p14:creationId xmlns:p14="http://schemas.microsoft.com/office/powerpoint/2010/main" val="28964897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75DE22-8C5E-47BF-8D90-854C648AC23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吸放湿を記録する学習</a:t>
            </a:r>
          </a:p>
        </p:txBody>
      </p:sp>
      <p:cxnSp>
        <p:nvCxnSpPr>
          <p:cNvPr id="2" name="">
            <a:extLst xmlns:a="http://schemas.openxmlformats.org/drawingml/2006/main">
              <a:ext uri="{FF2B5EF4-FFF2-40B4-BE49-F238E27FC236}">
                <a16:creationId xmlns:a16="http://schemas.microsoft.com/office/drawing/2014/main" id="{8BA65AE4-8F65-419C-B329-CE190AF1C15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29C0C336-051F-43E1-B103-FCA161636E2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81238627-4A0C-4F55-83AB-0DCCEC4F290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AFF511EF-114C-496E-AC44-F9C41FE9574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同じ木片の質量と、保管場所の温湿度を継続記録する</a:t>
            </a:r>
          </a:p>
        </p:txBody>
      </p:sp>
      <p:sp>
        <p:nvSpPr>
          <p:cNvPr id="6" name="">
            <a:extLst xmlns:a="http://schemas.openxmlformats.org/drawingml/2006/main">
              <a:ext uri="{FF2B5EF4-FFF2-40B4-BE49-F238E27FC236}">
                <a16:creationId xmlns:a16="http://schemas.microsoft.com/office/drawing/2014/main" id="{1445979E-739F-4B8A-A1EF-9D5647113507}"/>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提供された全乾質量を用い、含水率の変化を計算する</a:t>
            </a:r>
          </a:p>
        </p:txBody>
      </p:sp>
      <p:sp>
        <p:nvSpPr>
          <p:cNvPr id="7" name="">
            <a:extLst xmlns:a="http://schemas.openxmlformats.org/drawingml/2006/main">
              <a:ext uri="{FF2B5EF4-FFF2-40B4-BE49-F238E27FC236}">
                <a16:creationId xmlns:a16="http://schemas.microsoft.com/office/drawing/2014/main" id="{CBB16AB3-9B20-41A9-AEF3-FDB73D23AE0D}"/>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発問：空気中で乾いた木片にも、水は残っているか</a:t>
            </a:r>
          </a:p>
        </p:txBody>
      </p:sp>
      <p:sp>
        <p:nvSpPr>
          <p:cNvPr id="8" name="">
            <a:extLst xmlns:a="http://schemas.openxmlformats.org/drawingml/2006/main">
              <a:ext uri="{FF2B5EF4-FFF2-40B4-BE49-F238E27FC236}">
                <a16:creationId xmlns:a16="http://schemas.microsoft.com/office/drawing/2014/main" id="{A44BBC4C-878B-4F5B-A6E4-696141B770AC}"/>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期待する説明：周囲の温湿度に応じた平衡含水率へ近付く</a:t>
            </a:r>
          </a:p>
        </p:txBody>
      </p:sp>
      <p:sp>
        <p:nvSpPr>
          <p:cNvPr id="9" name="">
            <a:extLst xmlns:a="http://schemas.openxmlformats.org/drawingml/2006/main">
              <a:ext uri="{FF2B5EF4-FFF2-40B4-BE49-F238E27FC236}">
                <a16:creationId xmlns:a16="http://schemas.microsoft.com/office/drawing/2014/main" id="{7122DBB3-D36E-4F77-BFED-CD472B52DA4B}"/>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教科書の接点：木材の吸湿と乾燥／A(1)ア</a:t>
            </a:r>
          </a:p>
        </p:txBody>
      </p:sp>
    </p:spTree>
    <p:extLst>
      <p:ext uri="{BB962C8B-B14F-4D97-AF65-F5344CB8AC3E}">
        <p14:creationId xmlns:p14="http://schemas.microsoft.com/office/powerpoint/2010/main" val="149005987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C248E9-10D1-4D12-80DB-FC8C492950C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乾燥記録表を四つの状態で作る</a:t>
            </a:r>
          </a:p>
        </p:txBody>
      </p:sp>
      <p:sp>
        <p:nvSpPr>
          <p:cNvPr id="2" name="">
            <a:extLst xmlns:a="http://schemas.openxmlformats.org/drawingml/2006/main">
              <a:ext uri="{FF2B5EF4-FFF2-40B4-BE49-F238E27FC236}">
                <a16:creationId xmlns:a16="http://schemas.microsoft.com/office/drawing/2014/main" id="{6AB97403-C32A-48EF-AB45-25D6C3FA0C6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BD784D-6D0B-4910-A998-F446F26A363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D2AC0A92-5A2C-4A51-A4D5-1716583052F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186CAA58-D268-450D-BAA5-A14A0A7BB136}"/>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全乾質量80 g。乾量MC：100%、40%、15%、0%</a:t>
            </a:r>
          </a:p>
        </p:txBody>
      </p:sp>
      <p:sp>
        <p:nvSpPr>
          <p:cNvPr id="6" name="">
            <a:extLst xmlns:a="http://schemas.openxmlformats.org/drawingml/2006/main">
              <a:ext uri="{FF2B5EF4-FFF2-40B4-BE49-F238E27FC236}">
                <a16:creationId xmlns:a16="http://schemas.microsoft.com/office/drawing/2014/main" id="{B685A471-7BEA-495E-9081-1CA648720D7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水・全体の質量と、湿量基準MCを表にする</a:t>
            </a:r>
          </a:p>
        </p:txBody>
      </p:sp>
      <p:sp>
        <p:nvSpPr>
          <p:cNvPr id="7" name="">
            <a:extLst xmlns:a="http://schemas.openxmlformats.org/drawingml/2006/main">
              <a:ext uri="{FF2B5EF4-FFF2-40B4-BE49-F238E27FC236}">
                <a16:creationId xmlns:a16="http://schemas.microsoft.com/office/drawing/2014/main" id="{25B70F0B-02A9-486A-85BA-27D15AFBBF9B}"/>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FSP30%の単純モデルで区分する</a:t>
            </a:r>
          </a:p>
        </p:txBody>
      </p:sp>
      <p:sp>
        <p:nvSpPr>
          <p:cNvPr id="8" name="">
            <a:extLst xmlns:a="http://schemas.openxmlformats.org/drawingml/2006/main">
              <a:ext uri="{FF2B5EF4-FFF2-40B4-BE49-F238E27FC236}">
                <a16:creationId xmlns:a16="http://schemas.microsoft.com/office/drawing/2014/main" id="{DCC73D46-222C-42FF-B43B-BCE7D827C201}"/>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「15%なら必ず平衡」という説明を点検する</a:t>
            </a:r>
          </a:p>
        </p:txBody>
      </p:sp>
    </p:spTree>
    <p:extLst>
      <p:ext uri="{BB962C8B-B14F-4D97-AF65-F5344CB8AC3E}">
        <p14:creationId xmlns:p14="http://schemas.microsoft.com/office/powerpoint/2010/main" val="4939852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7C0309-B9E6-4416-9445-0D45B56A52E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E772E1F3-91EE-4793-B10F-A923BC9465E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9342A5-7892-45C8-8A88-F4C6D188D6B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37BBEB13-90FA-4F13-A637-EF9EB7748D1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A7B87F07-08B7-45D2-943D-14DB3D134218}"/>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4A9EE142-C6A4-45B0-8E33-422E78251A45}"/>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917ADCF-CCEC-4881-B626-33B88C50154A}"/>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A733E116-100B-4F90-AB23-6767AD9E8393}"/>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defRPr sz="2175" b="0">
                <a:solidFill>
                  <a:srgbClr val="253C4D"/>
                </a:solidFill>
                <a:latin typeface="Yu Gothic"/>
                <a:ea typeface="Yu Gothic"/>
                <a:cs typeface="Yu Gothic"/>
              </a:defRPr>
            </a:lvl1pPr>
            <a:lvl2pPr>
              <a:defRPr sz="2175" b="0">
                <a:solidFill>
                  <a:srgbClr val="253C4D"/>
                </a:solidFill>
                <a:latin typeface="Yu Gothic"/>
                <a:ea typeface="Yu Gothic"/>
                <a:cs typeface="Yu Gothic"/>
              </a:defRPr>
            </a:lvl2pPr>
            <a:lvl3pPr>
              <a:defRPr sz="2175" b="0">
                <a:solidFill>
                  <a:srgbClr val="253C4D"/>
                </a:solidFill>
                <a:latin typeface="Yu Gothic"/>
                <a:ea typeface="Yu Gothic"/>
                <a:cs typeface="Yu Gothic"/>
              </a:defRPr>
            </a:lvl3pPr>
            <a:lvl4pPr>
              <a:defRPr sz="2175" b="0">
                <a:solidFill>
                  <a:srgbClr val="253C4D"/>
                </a:solidFill>
                <a:latin typeface="Yu Gothic"/>
                <a:ea typeface="Yu Gothic"/>
                <a:cs typeface="Yu Gothic"/>
              </a:defRPr>
            </a:lvl4pPr>
            <a:lvl5pPr>
              <a:defRPr sz="2175" b="0">
                <a:solidFill>
                  <a:srgbClr val="253C4D"/>
                </a:solidFill>
                <a:latin typeface="Yu Gothic"/>
                <a:ea typeface="Yu Gothic"/>
                <a:cs typeface="Yu Gothic"/>
              </a:defRPr>
            </a:lvl5pPr>
            <a:lvl6pPr>
              <a:defRPr sz="2175" b="0">
                <a:solidFill>
                  <a:srgbClr val="253C4D"/>
                </a:solidFill>
                <a:latin typeface="Yu Gothic"/>
                <a:ea typeface="Yu Gothic"/>
                <a:cs typeface="Yu Gothic"/>
              </a:defRPr>
            </a:lvl6pPr>
            <a:lvl7pPr>
              <a:defRPr sz="2175" b="0">
                <a:solidFill>
                  <a:srgbClr val="253C4D"/>
                </a:solidFill>
                <a:latin typeface="Yu Gothic"/>
                <a:ea typeface="Yu Gothic"/>
                <a:cs typeface="Yu Gothic"/>
              </a:defRPr>
            </a:lvl7pPr>
            <a:lvl8pPr>
              <a:defRPr sz="2175" b="0">
                <a:solidFill>
                  <a:srgbClr val="253C4D"/>
                </a:solidFill>
                <a:latin typeface="Yu Gothic"/>
                <a:ea typeface="Yu Gothic"/>
                <a:cs typeface="Yu Gothic"/>
              </a:defRPr>
            </a:lvl8pPr>
            <a:lvl9pPr>
              <a:defRPr sz="2175" b="0">
                <a:solidFill>
                  <a:srgbClr val="253C4D"/>
                </a:solidFill>
                <a:latin typeface="Yu Gothic"/>
                <a:ea typeface="Yu Gothic"/>
                <a:cs typeface="Yu Gothic"/>
              </a:defRPr>
            </a:lvl9pPr>
          </a:lstStyle>
          <a:p xmlns:a="http://schemas.openxmlformats.org/drawingml/2006/main">
            <a:pPr>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「乾いた木にも水がある」を説明するへ進みます。</a:t>
            </a:r>
          </a:p>
        </p:txBody>
      </p:sp>
    </p:spTree>
    <p:extLst>
      <p:ext uri="{BB962C8B-B14F-4D97-AF65-F5344CB8AC3E}">
        <p14:creationId xmlns:p14="http://schemas.microsoft.com/office/powerpoint/2010/main" val="115041783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E7E7C7-D3EC-44A8-8A4E-93C175D9A0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defRPr sz="3000" b="1">
                <a:solidFill>
                  <a:srgbClr val="18364F"/>
                </a:solidFill>
                <a:latin typeface="Yu Gothic"/>
                <a:ea typeface="Yu Gothic"/>
                <a:cs typeface="Yu Gothic"/>
              </a:defRPr>
            </a:lvl1pPr>
            <a:lvl2pPr>
              <a:defRPr sz="3000" b="1">
                <a:solidFill>
                  <a:srgbClr val="18364F"/>
                </a:solidFill>
                <a:latin typeface="Yu Gothic"/>
                <a:ea typeface="Yu Gothic"/>
                <a:cs typeface="Yu Gothic"/>
              </a:defRPr>
            </a:lvl2pPr>
            <a:lvl3pPr>
              <a:defRPr sz="3000" b="1">
                <a:solidFill>
                  <a:srgbClr val="18364F"/>
                </a:solidFill>
                <a:latin typeface="Yu Gothic"/>
                <a:ea typeface="Yu Gothic"/>
                <a:cs typeface="Yu Gothic"/>
              </a:defRPr>
            </a:lvl3pPr>
            <a:lvl4pPr>
              <a:defRPr sz="3000" b="1">
                <a:solidFill>
                  <a:srgbClr val="18364F"/>
                </a:solidFill>
                <a:latin typeface="Yu Gothic"/>
                <a:ea typeface="Yu Gothic"/>
                <a:cs typeface="Yu Gothic"/>
              </a:defRPr>
            </a:lvl4pPr>
            <a:lvl5pPr>
              <a:defRPr sz="3000" b="1">
                <a:solidFill>
                  <a:srgbClr val="18364F"/>
                </a:solidFill>
                <a:latin typeface="Yu Gothic"/>
                <a:ea typeface="Yu Gothic"/>
                <a:cs typeface="Yu Gothic"/>
              </a:defRPr>
            </a:lvl5pPr>
            <a:lvl6pPr>
              <a:defRPr sz="3000" b="1">
                <a:solidFill>
                  <a:srgbClr val="18364F"/>
                </a:solidFill>
                <a:latin typeface="Yu Gothic"/>
                <a:ea typeface="Yu Gothic"/>
                <a:cs typeface="Yu Gothic"/>
              </a:defRPr>
            </a:lvl6pPr>
            <a:lvl7pPr>
              <a:defRPr sz="3000" b="1">
                <a:solidFill>
                  <a:srgbClr val="18364F"/>
                </a:solidFill>
                <a:latin typeface="Yu Gothic"/>
                <a:ea typeface="Yu Gothic"/>
                <a:cs typeface="Yu Gothic"/>
              </a:defRPr>
            </a:lvl7pPr>
            <a:lvl8pPr>
              <a:defRPr sz="3000" b="1">
                <a:solidFill>
                  <a:srgbClr val="18364F"/>
                </a:solidFill>
                <a:latin typeface="Yu Gothic"/>
                <a:ea typeface="Yu Gothic"/>
                <a:cs typeface="Yu Gothic"/>
              </a:defRPr>
            </a:lvl8pPr>
            <a:lvl9pPr>
              <a:defRPr sz="3000" b="1">
                <a:solidFill>
                  <a:srgbClr val="18364F"/>
                </a:solidFill>
                <a:latin typeface="Yu Gothic"/>
                <a:ea typeface="Yu Gothic"/>
                <a:cs typeface="Yu Gothic"/>
              </a:defRPr>
            </a:lvl9pPr>
          </a:lstStyle>
          <a:p xmlns:a="http://schemas.openxmlformats.org/drawingml/2006/main">
            <a:pPr>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「乾いた木にも水がある」を説明する</a:t>
            </a:r>
          </a:p>
        </p:txBody>
      </p:sp>
      <p:sp>
        <p:nvSpPr>
          <p:cNvPr id="2" name="">
            <a:extLst xmlns:a="http://schemas.openxmlformats.org/drawingml/2006/main">
              <a:ext uri="{FF2B5EF4-FFF2-40B4-BE49-F238E27FC236}">
                <a16:creationId xmlns:a16="http://schemas.microsoft.com/office/drawing/2014/main" id="{FC22350C-76A7-4482-9B19-8998CCAB42D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A44C85-F928-4A5D-BEF6-0EE366C31C8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251CEFE0-5648-4848-9430-BB6D7221070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defRPr sz="1425" b="0">
                <a:solidFill>
                  <a:srgbClr val="596875"/>
                </a:solidFill>
                <a:latin typeface="Yu Gothic"/>
                <a:ea typeface="Yu Gothic"/>
                <a:cs typeface="Yu Gothic"/>
              </a:defRPr>
            </a:lvl1pPr>
            <a:lvl2pPr>
              <a:defRPr sz="1425" b="0">
                <a:solidFill>
                  <a:srgbClr val="596875"/>
                </a:solidFill>
                <a:latin typeface="Yu Gothic"/>
                <a:ea typeface="Yu Gothic"/>
                <a:cs typeface="Yu Gothic"/>
              </a:defRPr>
            </a:lvl2pPr>
            <a:lvl3pPr>
              <a:defRPr sz="1425" b="0">
                <a:solidFill>
                  <a:srgbClr val="596875"/>
                </a:solidFill>
                <a:latin typeface="Yu Gothic"/>
                <a:ea typeface="Yu Gothic"/>
                <a:cs typeface="Yu Gothic"/>
              </a:defRPr>
            </a:lvl3pPr>
            <a:lvl4pPr>
              <a:defRPr sz="1425" b="0">
                <a:solidFill>
                  <a:srgbClr val="596875"/>
                </a:solidFill>
                <a:latin typeface="Yu Gothic"/>
                <a:ea typeface="Yu Gothic"/>
                <a:cs typeface="Yu Gothic"/>
              </a:defRPr>
            </a:lvl4pPr>
            <a:lvl5pPr>
              <a:defRPr sz="1425" b="0">
                <a:solidFill>
                  <a:srgbClr val="596875"/>
                </a:solidFill>
                <a:latin typeface="Yu Gothic"/>
                <a:ea typeface="Yu Gothic"/>
                <a:cs typeface="Yu Gothic"/>
              </a:defRPr>
            </a:lvl5pPr>
            <a:lvl6pPr>
              <a:defRPr sz="1425" b="0">
                <a:solidFill>
                  <a:srgbClr val="596875"/>
                </a:solidFill>
                <a:latin typeface="Yu Gothic"/>
                <a:ea typeface="Yu Gothic"/>
                <a:cs typeface="Yu Gothic"/>
              </a:defRPr>
            </a:lvl6pPr>
            <a:lvl7pPr>
              <a:defRPr sz="1425" b="0">
                <a:solidFill>
                  <a:srgbClr val="596875"/>
                </a:solidFill>
                <a:latin typeface="Yu Gothic"/>
                <a:ea typeface="Yu Gothic"/>
                <a:cs typeface="Yu Gothic"/>
              </a:defRPr>
            </a:lvl7pPr>
            <a:lvl8pPr>
              <a:defRPr sz="1425" b="0">
                <a:solidFill>
                  <a:srgbClr val="596875"/>
                </a:solidFill>
                <a:latin typeface="Yu Gothic"/>
                <a:ea typeface="Yu Gothic"/>
                <a:cs typeface="Yu Gothic"/>
              </a:defRPr>
            </a:lvl8pPr>
            <a:lvl9pPr>
              <a:defRPr sz="1425" b="0">
                <a:solidFill>
                  <a:srgbClr val="596875"/>
                </a:solidFill>
                <a:latin typeface="Yu Gothic"/>
                <a:ea typeface="Yu Gothic"/>
                <a:cs typeface="Yu Gothic"/>
              </a:defRPr>
            </a:lvl9pPr>
          </a:lstStyle>
          <a:p xmlns:a="http://schemas.openxmlformats.org/drawingml/2006/main">
            <a:pPr>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3EF64D17-19BC-40A3-93E5-FD871E92825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生徒「乾いた木は水ゼロ。穴の水がなくなると収縮」</a:t>
            </a:r>
          </a:p>
        </p:txBody>
      </p:sp>
      <p:sp>
        <p:nvSpPr>
          <p:cNvPr id="6" name="">
            <a:extLst xmlns:a="http://schemas.openxmlformats.org/drawingml/2006/main">
              <a:ext uri="{FF2B5EF4-FFF2-40B4-BE49-F238E27FC236}">
                <a16:creationId xmlns:a16="http://schemas.microsoft.com/office/drawing/2014/main" id="{29D7F776-2D6E-4D15-8DE1-57EFA7EC27B6}"/>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全乾と気乾を区別する</a:t>
            </a:r>
          </a:p>
        </p:txBody>
      </p:sp>
      <p:sp>
        <p:nvSpPr>
          <p:cNvPr id="7" name="">
            <a:extLst xmlns:a="http://schemas.openxmlformats.org/drawingml/2006/main">
              <a:ext uri="{FF2B5EF4-FFF2-40B4-BE49-F238E27FC236}">
                <a16:creationId xmlns:a16="http://schemas.microsoft.com/office/drawing/2014/main" id="{C1F8FCC9-B357-4269-9E09-90B166EE464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内腔と壁を描き、寸法変化へつなぐ</a:t>
            </a:r>
          </a:p>
        </p:txBody>
      </p:sp>
      <p:sp>
        <p:nvSpPr>
          <p:cNvPr id="8" name="">
            <a:extLst xmlns:a="http://schemas.openxmlformats.org/drawingml/2006/main">
              <a:ext uri="{FF2B5EF4-FFF2-40B4-BE49-F238E27FC236}">
                <a16:creationId xmlns:a16="http://schemas.microsoft.com/office/drawing/2014/main" id="{95097795-7F01-42BB-88AE-0432E432DCA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defRPr sz="2250" b="0">
                <a:solidFill>
                  <a:srgbClr val="253C4D"/>
                </a:solidFill>
                <a:latin typeface="Yu Gothic"/>
                <a:ea typeface="Yu Gothic"/>
                <a:cs typeface="Yu Gothic"/>
              </a:defRPr>
            </a:lvl1pPr>
            <a:lvl2pPr>
              <a:defRPr sz="2250" b="0">
                <a:solidFill>
                  <a:srgbClr val="253C4D"/>
                </a:solidFill>
                <a:latin typeface="Yu Gothic"/>
                <a:ea typeface="Yu Gothic"/>
                <a:cs typeface="Yu Gothic"/>
              </a:defRPr>
            </a:lvl2pPr>
            <a:lvl3pPr>
              <a:defRPr sz="2250" b="0">
                <a:solidFill>
                  <a:srgbClr val="253C4D"/>
                </a:solidFill>
                <a:latin typeface="Yu Gothic"/>
                <a:ea typeface="Yu Gothic"/>
                <a:cs typeface="Yu Gothic"/>
              </a:defRPr>
            </a:lvl3pPr>
            <a:lvl4pPr>
              <a:defRPr sz="2250" b="0">
                <a:solidFill>
                  <a:srgbClr val="253C4D"/>
                </a:solidFill>
                <a:latin typeface="Yu Gothic"/>
                <a:ea typeface="Yu Gothic"/>
                <a:cs typeface="Yu Gothic"/>
              </a:defRPr>
            </a:lvl4pPr>
            <a:lvl5pPr>
              <a:defRPr sz="2250" b="0">
                <a:solidFill>
                  <a:srgbClr val="253C4D"/>
                </a:solidFill>
                <a:latin typeface="Yu Gothic"/>
                <a:ea typeface="Yu Gothic"/>
                <a:cs typeface="Yu Gothic"/>
              </a:defRPr>
            </a:lvl5pPr>
            <a:lvl6pPr>
              <a:defRPr sz="2250" b="0">
                <a:solidFill>
                  <a:srgbClr val="253C4D"/>
                </a:solidFill>
                <a:latin typeface="Yu Gothic"/>
                <a:ea typeface="Yu Gothic"/>
                <a:cs typeface="Yu Gothic"/>
              </a:defRPr>
            </a:lvl6pPr>
            <a:lvl7pPr>
              <a:defRPr sz="2250" b="0">
                <a:solidFill>
                  <a:srgbClr val="253C4D"/>
                </a:solidFill>
                <a:latin typeface="Yu Gothic"/>
                <a:ea typeface="Yu Gothic"/>
                <a:cs typeface="Yu Gothic"/>
              </a:defRPr>
            </a:lvl7pPr>
            <a:lvl8pPr>
              <a:defRPr sz="2250" b="0">
                <a:solidFill>
                  <a:srgbClr val="253C4D"/>
                </a:solidFill>
                <a:latin typeface="Yu Gothic"/>
                <a:ea typeface="Yu Gothic"/>
                <a:cs typeface="Yu Gothic"/>
              </a:defRPr>
            </a:lvl8pPr>
            <a:lvl9pPr>
              <a:defRPr sz="2250" b="0">
                <a:solidFill>
                  <a:srgbClr val="253C4D"/>
                </a:solidFill>
                <a:latin typeface="Yu Gothic"/>
                <a:ea typeface="Yu Gothic"/>
                <a:cs typeface="Yu Gothic"/>
              </a:defRPr>
            </a:lvl9pPr>
          </a:lstStyle>
          <a:p xmlns:a="http://schemas.openxmlformats.org/drawingml/2006/main">
            <a:pPr>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図と1分程度の説明文を作る</a:t>
            </a:r>
          </a:p>
        </p:txBody>
      </p:sp>
    </p:spTree>
    <p:extLst>
      <p:ext uri="{BB962C8B-B14F-4D97-AF65-F5344CB8AC3E}">
        <p14:creationId xmlns:p14="http://schemas.microsoft.com/office/powerpoint/2010/main" val="1890786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019488-0DEF-4ED6-9762-0617FBDC668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8483EC9C-0EED-45C6-9359-B653C0808C1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B1781DE-B7F3-4E81-8A4E-BB5E85D8B26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911C0807-45F1-453E-9706-B2E9F9AC4AD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35</a:t>
            </a:r>
          </a:p>
        </p:txBody>
      </p:sp>
      <p:sp>
        <p:nvSpPr>
          <p:cNvPr id="5" name="">
            <a:extLst xmlns:a="http://schemas.openxmlformats.org/drawingml/2006/main">
              <a:ext uri="{FF2B5EF4-FFF2-40B4-BE49-F238E27FC236}">
                <a16:creationId xmlns:a16="http://schemas.microsoft.com/office/drawing/2014/main" id="{74C7CEB0-800E-4FDD-B4C1-5B94BE2561BE}"/>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M = 12 g、M₀ = 10 g。乾量基準と湿量基準は？</a:t>
            </a:r>
          </a:p>
        </p:txBody>
      </p:sp>
      <p:sp>
        <p:nvSpPr>
          <p:cNvPr id="6" name="">
            <a:extLst xmlns:a="http://schemas.openxmlformats.org/drawingml/2006/main">
              <a:ext uri="{FF2B5EF4-FFF2-40B4-BE49-F238E27FC236}">
                <a16:creationId xmlns:a16="http://schemas.microsoft.com/office/drawing/2014/main" id="{3F55CA47-38CD-4A5C-A14F-BB70DBEA3649}"/>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空気が乾けば、必ず含水率0％になるか</a:t>
            </a:r>
          </a:p>
        </p:txBody>
      </p:sp>
      <p:sp>
        <p:nvSpPr>
          <p:cNvPr id="7" name="">
            <a:extLst xmlns:a="http://schemas.openxmlformats.org/drawingml/2006/main">
              <a:ext uri="{FF2B5EF4-FFF2-40B4-BE49-F238E27FC236}">
                <a16:creationId xmlns:a16="http://schemas.microsoft.com/office/drawing/2014/main" id="{1B8FED5F-232F-486D-8EB1-385DB5D40CE9}"/>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内腔の水と壁の水を区別して描く</a:t>
            </a:r>
          </a:p>
        </p:txBody>
      </p:sp>
    </p:spTree>
    <p:extLst>
      <p:ext uri="{BB962C8B-B14F-4D97-AF65-F5344CB8AC3E}">
        <p14:creationId xmlns:p14="http://schemas.microsoft.com/office/powerpoint/2010/main" val="172623731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59FA7E-2D64-4716-8907-DCAF1A69F66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復習と次の学習</a:t>
            </a:r>
          </a:p>
        </p:txBody>
      </p:sp>
      <p:cxnSp>
        <p:nvCxnSpPr>
          <p:cNvPr id="2" name="">
            <a:extLst xmlns:a="http://schemas.openxmlformats.org/drawingml/2006/main">
              <a:ext uri="{FF2B5EF4-FFF2-40B4-BE49-F238E27FC236}">
                <a16:creationId xmlns:a16="http://schemas.microsoft.com/office/drawing/2014/main" id="{A344A4EC-A6AB-48B5-990E-27651D07E62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7D6B2C9-DC48-4FFB-9676-83718BA7958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4913D24-0CA2-4F1E-A9ED-A6051FB5C40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36</a:t>
            </a:r>
          </a:p>
        </p:txBody>
      </p:sp>
      <p:sp>
        <p:nvSpPr>
          <p:cNvPr id="5" name="">
            <a:extLst xmlns:a="http://schemas.openxmlformats.org/drawingml/2006/main">
              <a:ext uri="{FF2B5EF4-FFF2-40B4-BE49-F238E27FC236}">
                <a16:creationId xmlns:a16="http://schemas.microsoft.com/office/drawing/2014/main" id="{7C6D073F-6C60-4A77-8561-3F6A9ED51CF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乾量基準から湿量基準への換算式を、言葉と記号で導く</a:t>
            </a:r>
          </a:p>
        </p:txBody>
      </p:sp>
      <p:sp>
        <p:nvSpPr>
          <p:cNvPr id="6" name="">
            <a:extLst xmlns:a="http://schemas.openxmlformats.org/drawingml/2006/main">
              <a:ext uri="{FF2B5EF4-FFF2-40B4-BE49-F238E27FC236}">
                <a16:creationId xmlns:a16="http://schemas.microsoft.com/office/drawing/2014/main" id="{8A8CFD04-3EFA-4F8B-B71A-505BF7BDA92C}"/>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乾量100%、20%のときの湿量基準を計算する</a:t>
            </a:r>
          </a:p>
        </p:txBody>
      </p:sp>
      <p:sp>
        <p:nvSpPr>
          <p:cNvPr id="7" name="">
            <a:extLst xmlns:a="http://schemas.openxmlformats.org/drawingml/2006/main">
              <a:ext uri="{FF2B5EF4-FFF2-40B4-BE49-F238E27FC236}">
                <a16:creationId xmlns:a16="http://schemas.microsoft.com/office/drawing/2014/main" id="{053AC9B3-B8BB-4155-A316-059D60EB49C3}"/>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発展：同じ環境でも経路の違いを考える</a:t>
            </a:r>
          </a:p>
        </p:txBody>
      </p:sp>
    </p:spTree>
    <p:extLst>
      <p:ext uri="{BB962C8B-B14F-4D97-AF65-F5344CB8AC3E}">
        <p14:creationId xmlns:p14="http://schemas.microsoft.com/office/powerpoint/2010/main" val="141828158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735411-9EC6-4A57-AEC8-F968DF3C057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BA8386A3-F6FD-46AD-B68F-ED1EA0FC824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4057E71-6248-4F5E-8FEB-D39D9B5E56C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D5A40D3-9980-4717-8562-6D9C5257E0A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37</a:t>
            </a:r>
          </a:p>
        </p:txBody>
      </p:sp>
      <p:sp>
        <p:nvSpPr>
          <p:cNvPr id="5" name="">
            <a:extLst xmlns:a="http://schemas.openxmlformats.org/drawingml/2006/main">
              <a:ext uri="{FF2B5EF4-FFF2-40B4-BE49-F238E27FC236}">
                <a16:creationId xmlns:a16="http://schemas.microsoft.com/office/drawing/2014/main" id="{057AAF09-D860-42D1-8EF2-B312EBC6C99B}"/>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含水率は基準（db/wb）を明記し、水の場所とも区別する</a:t>
            </a:r>
          </a:p>
        </p:txBody>
      </p:sp>
      <p:sp>
        <p:nvSpPr>
          <p:cNvPr id="6" name="">
            <a:extLst xmlns:a="http://schemas.openxmlformats.org/drawingml/2006/main">
              <a:ext uri="{FF2B5EF4-FFF2-40B4-BE49-F238E27FC236}">
                <a16:creationId xmlns:a16="http://schemas.microsoft.com/office/drawing/2014/main" id="{8CFAF867-F44C-461C-BF9D-4C66FD85E91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水分と周囲の環境を、時間も含めて考える</a:t>
            </a:r>
          </a:p>
        </p:txBody>
      </p:sp>
      <p:sp>
        <p:nvSpPr>
          <p:cNvPr id="7" name="">
            <a:extLst xmlns:a="http://schemas.openxmlformats.org/drawingml/2006/main">
              <a:ext uri="{FF2B5EF4-FFF2-40B4-BE49-F238E27FC236}">
                <a16:creationId xmlns:a16="http://schemas.microsoft.com/office/drawing/2014/main" id="{DD163B0C-A2FD-46D7-A34E-01DD6DAA95D4}"/>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次は、細胞壁の水と寸法変化を結ぶ</a:t>
            </a:r>
          </a:p>
        </p:txBody>
      </p:sp>
    </p:spTree>
    <p:extLst>
      <p:ext uri="{BB962C8B-B14F-4D97-AF65-F5344CB8AC3E}">
        <p14:creationId xmlns:p14="http://schemas.microsoft.com/office/powerpoint/2010/main" val="14344117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BF3483-F04D-49CB-90CD-0748A422BCC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B4F55A44-269E-494E-84D0-90A4C6D4F9C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72BDB6C-51D3-4DC9-B69C-CD229EA73419}"/>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第4章 </a:t>
            </a:r>
          </a:p>
        </p:txBody>
      </p:sp>
      <p:sp>
        <p:nvSpPr>
          <p:cNvPr id="4" name="">
            <a:extLst xmlns:a="http://schemas.openxmlformats.org/drawingml/2006/main">
              <a:ext uri="{FF2B5EF4-FFF2-40B4-BE49-F238E27FC236}">
                <a16:creationId xmlns:a16="http://schemas.microsoft.com/office/drawing/2014/main" id="{A3D404FA-940C-4EB4-9627-8F5A480E9F3E}"/>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https://research.fs.usda.gov/treesearch/62243</a:t>
            </a:r>
          </a:p>
        </p:txBody>
      </p:sp>
      <p:sp>
        <p:nvSpPr>
          <p:cNvPr id="5" name="">
            <a:extLst xmlns:a="http://schemas.openxmlformats.org/drawingml/2006/main">
              <a:ext uri="{FF2B5EF4-FFF2-40B4-BE49-F238E27FC236}">
                <a16:creationId xmlns:a16="http://schemas.microsoft.com/office/drawing/2014/main" id="{B92C68C3-8F29-4E03-AB07-C27AAA4AC995}"/>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6" name="">
            <a:extLst xmlns:a="http://schemas.openxmlformats.org/drawingml/2006/main">
              <a:ext uri="{FF2B5EF4-FFF2-40B4-BE49-F238E27FC236}">
                <a16:creationId xmlns:a16="http://schemas.microsoft.com/office/drawing/2014/main" id="{32965C2A-C301-4A65-B92D-E517F453C438}"/>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7" name="">
            <a:extLst xmlns:a="http://schemas.openxmlformats.org/drawingml/2006/main">
              <a:ext uri="{FF2B5EF4-FFF2-40B4-BE49-F238E27FC236}">
                <a16:creationId xmlns:a16="http://schemas.microsoft.com/office/drawing/2014/main" id="{B66CEF3E-A704-486A-BDCC-42FB0A5742B0}"/>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開隆堂 R7評価規準例 PDF1頁</a:t>
            </a:r>
          </a:p>
        </p:txBody>
      </p:sp>
      <p:sp>
        <p:nvSpPr>
          <p:cNvPr id="8" name="">
            <a:extLst xmlns:a="http://schemas.openxmlformats.org/drawingml/2006/main">
              <a:ext uri="{FF2B5EF4-FFF2-40B4-BE49-F238E27FC236}">
                <a16:creationId xmlns:a16="http://schemas.microsoft.com/office/drawing/2014/main" id="{028EA625-5E4E-4888-A4F7-4188726DEBAF}"/>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https://www.kairyudo.co.jp/contents/04_shiryo/nenkei/chu/data/r7chu-gi_hyokakijun.pdf</a:t>
            </a:r>
          </a:p>
        </p:txBody>
      </p:sp>
      <p:sp>
        <p:nvSpPr>
          <p:cNvPr id="9" name="">
            <a:extLst xmlns:a="http://schemas.openxmlformats.org/drawingml/2006/main">
              <a:ext uri="{FF2B5EF4-FFF2-40B4-BE49-F238E27FC236}">
                <a16:creationId xmlns:a16="http://schemas.microsoft.com/office/drawing/2014/main" id="{312D0CC3-60F9-4681-BB32-2AA3D4DF9C22}"/>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0" name="">
            <a:extLst xmlns:a="http://schemas.openxmlformats.org/drawingml/2006/main">
              <a:ext uri="{FF2B5EF4-FFF2-40B4-BE49-F238E27FC236}">
                <a16:creationId xmlns:a16="http://schemas.microsoft.com/office/drawing/2014/main" id="{2432E44B-E608-4E8C-B74F-2CD616DA5FF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11" name="">
            <a:extLst xmlns:a="http://schemas.openxmlformats.org/drawingml/2006/main">
              <a:ext uri="{FF2B5EF4-FFF2-40B4-BE49-F238E27FC236}">
                <a16:creationId xmlns:a16="http://schemas.microsoft.com/office/drawing/2014/main" id="{F39BAEA9-9E3E-4A35-86D8-DA4A6A9982B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38</a:t>
            </a:r>
          </a:p>
        </p:txBody>
      </p:sp>
      <p:sp>
        <p:nvSpPr>
          <p:cNvPr id="13" name="">
            <a:extLst xmlns:a="http://schemas.openxmlformats.org/drawingml/2006/main">
              <a:ext uri="{FF2B5EF4-FFF2-40B4-BE49-F238E27FC236}">
                <a16:creationId xmlns:a16="http://schemas.microsoft.com/office/drawing/2014/main" id="{43270C47-EA17-4142-804F-33D7C00D7903}"/>
              </a:ext>
            </a:extLst>
          </p:cNvPr>
          <p:cNvSpPr>
            <a:spLocks xmlns:a="http://schemas.openxmlformats.org/drawingml/2006/main" noGrp="1"/>
          </p:cNvSpPr>
          <p:nvPr/>
        </p:nvSpPr>
        <p:spPr>
          <a:xfrm xmlns:a="http://schemas.openxmlformats.org/drawingml/2006/main">
            <a:off x="685800" y="4857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FAO：穀類の含水率（湿量基準と乾量基準）</a:t>
            </a:r>
          </a:p>
        </p:txBody>
      </p:sp>
      <p:sp>
        <p:nvSpPr>
          <p:cNvPr id="14" name="">
            <a:extLst xmlns:a="http://schemas.openxmlformats.org/drawingml/2006/main">
              <a:ext uri="{FF2B5EF4-FFF2-40B4-BE49-F238E27FC236}">
                <a16:creationId xmlns:a16="http://schemas.microsoft.com/office/drawing/2014/main" id="{2F4CB2E4-E6CC-4D05-893D-EF21E1999E90}"/>
              </a:ext>
            </a:extLst>
          </p:cNvPr>
          <p:cNvSpPr>
            <a:spLocks xmlns:a="http://schemas.openxmlformats.org/drawingml/2006/main" noGrp="1"/>
          </p:cNvSpPr>
          <p:nvPr/>
        </p:nvSpPr>
        <p:spPr>
          <a:xfrm xmlns:a="http://schemas.openxmlformats.org/drawingml/2006/main">
            <a:off x="685800" y="523875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456153b328624d7c"/>
              </a:rPr>
              <a:t>https://www.fao.org/4/t1838e/T1838E0u.htm</a:t>
            </a:r>
          </a:p>
        </p:txBody>
      </p:sp>
    </p:spTree>
    <p:extLst>
      <p:ext uri="{BB962C8B-B14F-4D97-AF65-F5344CB8AC3E}">
        <p14:creationId xmlns:p14="http://schemas.microsoft.com/office/powerpoint/2010/main" val="2143175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2026-10-27T05:47:03.2090000Z</dcterms:created>
  <dcterms:modified xsi:type="dcterms:W3CDTF">2026-10-27T05:47:03.2090000Z</dcterms:modified>
</coreProperties>
</file>