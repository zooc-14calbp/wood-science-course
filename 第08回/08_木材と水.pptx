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68c7f540554de1" /><Relationship Type="http://schemas.openxmlformats.org/officeDocument/2006/relationships/extended-properties" Target="/docProps/app.xml" Id="R135dbb2f89534c4a" /><Relationship Type="http://schemas.openxmlformats.org/officeDocument/2006/relationships/officeDocument" Target="/ppt/presentation.xml" Id="Rd3be80d035f14c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c5756294434094"/>
    <p:sldMasterId xmlns:r="http://schemas.openxmlformats.org/officeDocument/2006/relationships" id="2147483655" r:id="R70b4c3bc91b94a79"/>
  </p:sldMasterIdLst>
  <p:notesMasterIdLst>
    <p:notesMasterId xmlns:r="http://schemas.openxmlformats.org/officeDocument/2006/relationships" r:id="R6149fb5b52504006"/>
  </p:notesMasterIdLst>
  <p:sldIdLst>
    <p:sldId xmlns:r="http://schemas.openxmlformats.org/officeDocument/2006/relationships" id="256" r:id="R8c88a1123f504944"/>
    <p:sldId xmlns:r="http://schemas.openxmlformats.org/officeDocument/2006/relationships" id="257" r:id="R5b6516d1915a4677"/>
    <p:sldId xmlns:r="http://schemas.openxmlformats.org/officeDocument/2006/relationships" id="258" r:id="Rad42d3f8f05748b2"/>
    <p:sldId xmlns:r="http://schemas.openxmlformats.org/officeDocument/2006/relationships" id="259" r:id="R0843c0e283414dee"/>
    <p:sldId xmlns:r="http://schemas.openxmlformats.org/officeDocument/2006/relationships" id="260" r:id="R7948ff20beda414f"/>
    <p:sldId xmlns:r="http://schemas.openxmlformats.org/officeDocument/2006/relationships" id="261" r:id="R2efa3ffd679d4385"/>
    <p:sldId xmlns:r="http://schemas.openxmlformats.org/officeDocument/2006/relationships" id="262" r:id="R841f0af37de24a68"/>
    <p:sldId xmlns:r="http://schemas.openxmlformats.org/officeDocument/2006/relationships" id="263" r:id="Ra2d20dffeb2a472c"/>
    <p:sldId xmlns:r="http://schemas.openxmlformats.org/officeDocument/2006/relationships" id="264" r:id="R1d73e6962f864488"/>
    <p:sldId xmlns:r="http://schemas.openxmlformats.org/officeDocument/2006/relationships" id="265" r:id="Rfbdf9e250f4c4541"/>
    <p:sldId xmlns:r="http://schemas.openxmlformats.org/officeDocument/2006/relationships" id="266" r:id="R8ad0aee9d9724841"/>
    <p:sldId xmlns:r="http://schemas.openxmlformats.org/officeDocument/2006/relationships" id="267" r:id="Rf9c414aa47f149a4"/>
    <p:sldId xmlns:r="http://schemas.openxmlformats.org/officeDocument/2006/relationships" id="268" r:id="R361c402231734723"/>
    <p:sldId xmlns:r="http://schemas.openxmlformats.org/officeDocument/2006/relationships" id="269" r:id="Re626036f2c9342b0"/>
    <p:sldId xmlns:r="http://schemas.openxmlformats.org/officeDocument/2006/relationships" id="270" r:id="R6116cf10be954bd3"/>
    <p:sldId xmlns:r="http://schemas.openxmlformats.org/officeDocument/2006/relationships" id="271" r:id="Re91394d32f404f9d"/>
    <p:sldId xmlns:r="http://schemas.openxmlformats.org/officeDocument/2006/relationships" id="272" r:id="R8029c2c199c446a5"/>
    <p:sldId xmlns:r="http://schemas.openxmlformats.org/officeDocument/2006/relationships" id="273" r:id="R053c0c41fbdd4b8a"/>
    <p:sldId xmlns:r="http://schemas.openxmlformats.org/officeDocument/2006/relationships" id="274" r:id="R752088ed9fbd46eb"/>
    <p:sldId xmlns:r="http://schemas.openxmlformats.org/officeDocument/2006/relationships" id="275" r:id="Race00053c34448a7"/>
    <p:sldId xmlns:r="http://schemas.openxmlformats.org/officeDocument/2006/relationships" id="276" r:id="R6fecb4970892424c"/>
    <p:sldId xmlns:r="http://schemas.openxmlformats.org/officeDocument/2006/relationships" id="277" r:id="Rb3ee3a54dd524d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12b5e9014740fa" /><Relationship Type="http://schemas.openxmlformats.org/officeDocument/2006/relationships/slideMaster" Target="/ppt/slideMasters/slideMaster1.xml" Id="Rafc5756294434094" /><Relationship Type="http://schemas.openxmlformats.org/officeDocument/2006/relationships/slideMaster" Target="/ppt/slideMasters/slideMaster2.xml" Id="R70b4c3bc91b94a79" /><Relationship Type="http://schemas.openxmlformats.org/officeDocument/2006/relationships/notesMaster" Target="/ppt/notesMasters/notesMaster1.xml" Id="R6149fb5b52504006" /><Relationship Type="http://schemas.openxmlformats.org/officeDocument/2006/relationships/presProps" Target="/ppt/presProps.xml" Id="Rf018e11ef22e4877" /><Relationship Type="http://schemas.openxmlformats.org/officeDocument/2006/relationships/tableStyles" Target="/ppt/tableStyles.xml" Id="R1133252d3fb6467e" /><Relationship Type="http://schemas.openxmlformats.org/officeDocument/2006/relationships/slide" Target="/ppt/slides/slide1.xml" Id="R8c88a1123f504944" /><Relationship Type="http://schemas.openxmlformats.org/officeDocument/2006/relationships/slide" Target="/ppt/slides/slide2.xml" Id="R5b6516d1915a4677" /><Relationship Type="http://schemas.openxmlformats.org/officeDocument/2006/relationships/slide" Target="/ppt/slides/slide3.xml" Id="Rad42d3f8f05748b2" /><Relationship Type="http://schemas.openxmlformats.org/officeDocument/2006/relationships/slide" Target="/ppt/slides/slide4.xml" Id="R0843c0e283414dee" /><Relationship Type="http://schemas.openxmlformats.org/officeDocument/2006/relationships/slide" Target="/ppt/slides/slide5.xml" Id="R7948ff20beda414f" /><Relationship Type="http://schemas.openxmlformats.org/officeDocument/2006/relationships/slide" Target="/ppt/slides/slide6.xml" Id="R2efa3ffd679d4385" /><Relationship Type="http://schemas.openxmlformats.org/officeDocument/2006/relationships/slide" Target="/ppt/slides/slide7.xml" Id="R841f0af37de24a68" /><Relationship Type="http://schemas.openxmlformats.org/officeDocument/2006/relationships/slide" Target="/ppt/slides/slide8.xml" Id="Ra2d20dffeb2a472c" /><Relationship Type="http://schemas.openxmlformats.org/officeDocument/2006/relationships/slide" Target="/ppt/slides/slide9.xml" Id="R1d73e6962f864488" /><Relationship Type="http://schemas.openxmlformats.org/officeDocument/2006/relationships/slide" Target="/ppt/slides/slide10.xml" Id="Rfbdf9e250f4c4541" /><Relationship Type="http://schemas.openxmlformats.org/officeDocument/2006/relationships/slide" Target="/ppt/slides/slide11.xml" Id="R8ad0aee9d9724841" /><Relationship Type="http://schemas.openxmlformats.org/officeDocument/2006/relationships/slide" Target="/ppt/slides/slide12.xml" Id="Rf9c414aa47f149a4" /><Relationship Type="http://schemas.openxmlformats.org/officeDocument/2006/relationships/slide" Target="/ppt/slides/slide13.xml" Id="R361c402231734723" /><Relationship Type="http://schemas.openxmlformats.org/officeDocument/2006/relationships/slide" Target="/ppt/slides/slide14.xml" Id="Re626036f2c9342b0" /><Relationship Type="http://schemas.openxmlformats.org/officeDocument/2006/relationships/slide" Target="/ppt/slides/slide15.xml" Id="R6116cf10be954bd3" /><Relationship Type="http://schemas.openxmlformats.org/officeDocument/2006/relationships/slide" Target="/ppt/slides/slide16.xml" Id="Re91394d32f404f9d" /><Relationship Type="http://schemas.openxmlformats.org/officeDocument/2006/relationships/slide" Target="/ppt/slides/slide17.xml" Id="R8029c2c199c446a5" /><Relationship Type="http://schemas.openxmlformats.org/officeDocument/2006/relationships/slide" Target="/ppt/slides/slide18.xml" Id="R053c0c41fbdd4b8a" /><Relationship Type="http://schemas.openxmlformats.org/officeDocument/2006/relationships/slide" Target="/ppt/slides/slide19.xml" Id="R752088ed9fbd46eb" /><Relationship Type="http://schemas.openxmlformats.org/officeDocument/2006/relationships/slide" Target="/ppt/slides/slide20.xml" Id="Race00053c34448a7" /><Relationship Type="http://schemas.openxmlformats.org/officeDocument/2006/relationships/slide" Target="/ppt/slides/slide21.xml" Id="R6fecb4970892424c" /><Relationship Type="http://schemas.openxmlformats.org/officeDocument/2006/relationships/slide" Target="/ppt/slides/slide22.xml" Id="Rb3ee3a54dd524d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b79f7f56a2044f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01567e3e2f4dae" /><Relationship Type="http://schemas.openxmlformats.org/officeDocument/2006/relationships/notesMaster" Target="/ppt/notesMasters/notesMaster1.xml" Id="Rcc4bc830f2d44b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75da97f8d54414" /><Relationship Type="http://schemas.openxmlformats.org/officeDocument/2006/relationships/notesMaster" Target="/ppt/notesMasters/notesMaster1.xml" Id="Ra70aa207966c4e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a418cb33f54f79" /><Relationship Type="http://schemas.openxmlformats.org/officeDocument/2006/relationships/notesMaster" Target="/ppt/notesMasters/notesMaster1.xml" Id="Rca27d6e1aa954f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cf3152f5434c33" /><Relationship Type="http://schemas.openxmlformats.org/officeDocument/2006/relationships/notesMaster" Target="/ppt/notesMasters/notesMaster1.xml" Id="Rea6892be8ac242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81e4491a1b42e5" /><Relationship Type="http://schemas.openxmlformats.org/officeDocument/2006/relationships/notesMaster" Target="/ppt/notesMasters/notesMaster1.xml" Id="Re4897b9b772944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e8a7aef52143d1" /><Relationship Type="http://schemas.openxmlformats.org/officeDocument/2006/relationships/notesMaster" Target="/ppt/notesMasters/notesMaster1.xml" Id="R8b65b57e6dae4b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72822a38304d4d" /><Relationship Type="http://schemas.openxmlformats.org/officeDocument/2006/relationships/notesMaster" Target="/ppt/notesMasters/notesMaster1.xml" Id="R0870c5f4b21841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6e8163ca594451" /><Relationship Type="http://schemas.openxmlformats.org/officeDocument/2006/relationships/notesMaster" Target="/ppt/notesMasters/notesMaster1.xml" Id="Rfcb0849837ff47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7b82b44085450d" /><Relationship Type="http://schemas.openxmlformats.org/officeDocument/2006/relationships/notesMaster" Target="/ppt/notesMasters/notesMaster1.xml" Id="R9c6e6665800f42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bd1c7ca15b427f" /><Relationship Type="http://schemas.openxmlformats.org/officeDocument/2006/relationships/notesMaster" Target="/ppt/notesMasters/notesMaster1.xml" Id="R138c53f11eb04e2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09ee20f64747bc" /><Relationship Type="http://schemas.openxmlformats.org/officeDocument/2006/relationships/notesMaster" Target="/ppt/notesMasters/notesMaster1.xml" Id="Rcb8074e3e3864bf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9cdfb6434cb4d06" /><Relationship Type="http://schemas.openxmlformats.org/officeDocument/2006/relationships/notesMaster" Target="/ppt/notesMasters/notesMaster1.xml" Id="R00339198ff814cd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0e376e59a1144ab" /><Relationship Type="http://schemas.openxmlformats.org/officeDocument/2006/relationships/notesMaster" Target="/ppt/notesMasters/notesMaster1.xml" Id="R5d0d8072bbe9455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1d7deb05c0840e3" /><Relationship Type="http://schemas.openxmlformats.org/officeDocument/2006/relationships/notesMaster" Target="/ppt/notesMasters/notesMaster1.xml" Id="R0ecf6634d7b948d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c6fdf1217d042fc" /><Relationship Type="http://schemas.openxmlformats.org/officeDocument/2006/relationships/notesMaster" Target="/ppt/notesMasters/notesMaster1.xml" Id="R73e390d34e2645e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c2287d998bf4520" /><Relationship Type="http://schemas.openxmlformats.org/officeDocument/2006/relationships/notesMaster" Target="/ppt/notesMasters/notesMaster1.xml" Id="R9d959d66f75046b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f5edc33db69496a" /><Relationship Type="http://schemas.openxmlformats.org/officeDocument/2006/relationships/notesMaster" Target="/ppt/notesMasters/notesMaster1.xml" Id="R9aabd89a1da9446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81152a4e4d14605" /><Relationship Type="http://schemas.openxmlformats.org/officeDocument/2006/relationships/notesMaster" Target="/ppt/notesMasters/notesMaster1.xml" Id="Reed8e5f4cc94456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116d7dab27741f9" /><Relationship Type="http://schemas.openxmlformats.org/officeDocument/2006/relationships/notesMaster" Target="/ppt/notesMasters/notesMaster1.xml" Id="R747e4df36efa4d5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f9c13cde7554ca1" /><Relationship Type="http://schemas.openxmlformats.org/officeDocument/2006/relationships/notesMaster" Target="/ppt/notesMasters/notesMaster1.xml" Id="R7e9cd3841d524f9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90a2be632bc4798" /><Relationship Type="http://schemas.openxmlformats.org/officeDocument/2006/relationships/notesMaster" Target="/ppt/notesMasters/notesMaster1.xml" Id="Rf23a0d4e55604bc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24848d4e7554ab4" /><Relationship Type="http://schemas.openxmlformats.org/officeDocument/2006/relationships/notesMaster" Target="/ppt/notesMasters/notesMaster1.xml" Id="Rf963582040d640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Mは測定時の水を含む木材の質量、M₀はその試料の全乾質量。分子は（全乾木材＋水）−全乾木材＝水の質量。MC_w（%）=100(M−M₀)/M₀。ここでのwはwoodを示す授業用の添字で、wet basisのwではない。まず二つの質量を図で指し、引き算で水だけを取り出してから、分母を選ぶ。全乾100g、水20gなら20%。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食品・農産物では湿量基準がよく使われる。MC_f（%）=100(M−M₀)/M。分子は（乾物＋水）−乾物＝水の質量、分母は乾物＋水。fはfoodを示す授業内の記号で、食品にだけ適用できる式という意味ではない。研究等では食品でも乾量基準を使う場合があり、木質燃料等で湿量基準を使う場合もある。定義とdb/wbを明記する。食品の測定法は試料や規格で異なり、加熱減量を常に純粋な水だけとみなせるわけではない。ここでは乾物と水の質量収支の定義を比較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「150%はおかしい」という反応は、分母を水を含む全体と思っている手掛かり。水75gは全乾50gの1.5倍なので150%、全体125gの0.6倍なので60%。乾量基準は100%を超え得る。湿量基準は非負の乾物と水からなる試料では0～100%で、乾物が正なら100%未満。物理的な水の量を先に計算し、問いと分母を対応させる。数値は同一仮想試料の比較で、食品の推奨保存水分値では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aを乾量基準百分率の数値とし、全乾質量を100gとおけば水a g、全体100+a g。湿量基準b=100a/(100+a)。逆に全体100gとおけば水b g、乾物100−b gなのでa=100b/(100−b)。b&lt;100、M₀&gt;0を仮定。演習へ進む前に、式の文字を暗記させるより基準100gを言葉で説明する。a=150→b=60、a=20→b=16.666…、a=100→b=50。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https://research.fs.usda.gov/treesearch/62243</a:t>
            </a:r>
          </a:p>
          <a:p xmlns:a="http://schemas.openxmlformats.org/drawingml/2006/main">
            <a:r>
              <a:t>https://www.fao.org/4/t1838e/T1838E0u.htm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5bd0a3c92446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8afa0733a547a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78c11a4938489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838090d7c4c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31e274186d47c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b5416e21db413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e71ae7bf5a94b4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72150ba92ff4f5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15a5e1863e546b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3683c22b49f458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ecd7cb170624ba6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aa350a2d3af4a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1C7C26-445A-4D2B-B3C7-396867FB0B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B5D4EA-C627-40D7-9758-804A643458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1CE61B8-28BB-4702-9732-28A9987ACF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E7F6E55-8690-47ED-864F-706BBEC8A7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7069715-EF7B-4A71-8465-B50E0902B8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E716BFF-F3DE-4802-9F20-2B36975A44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A92231-EE06-4908-81FE-DF5B092187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9D9F0F-98C8-41E8-B65D-12F25AED7F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15E71F-154A-4B4C-BE61-9E87652713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3A76AE-530B-471B-A6D0-E3B5D8D7B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7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ED11DE0-467A-4C79-998F-D50CBBF3DB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9CD4873-C9B1-46B1-BC01-73E91D7C396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B55ADDD-DC82-4C7A-B36E-FC5400858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9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BA81F7-26C2-4069-88DA-9692D68CDD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82FE260-8A8B-45E1-9A15-1D7CC47B61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EF15175-7C05-4C88-B594-CC90A3EC70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87AB5A-922E-45C6-A0C3-27253D9E9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3F3C83C-6354-493D-988C-32702F2969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1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F20DF3-899D-4180-BDB5-878E1ACF5C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FB35A6-7376-47EA-8FAA-E003DC7438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2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f4d5c8dcc3414b" /><Relationship Type="http://schemas.openxmlformats.org/officeDocument/2006/relationships/slideLayout" Target="/ppt/slideLayouts/slideLayout1.xml" Id="R810d6e582f1d4f19" /><Relationship Type="http://schemas.openxmlformats.org/officeDocument/2006/relationships/slideLayout" Target="/ppt/slideLayouts/slideLayout2.xml" Id="R64ae04acbdac49b9" /><Relationship Type="http://schemas.openxmlformats.org/officeDocument/2006/relationships/slideLayout" Target="/ppt/slideLayouts/slideLayout3.xml" Id="Re4958452fd2740a3" /><Relationship Type="http://schemas.openxmlformats.org/officeDocument/2006/relationships/slideLayout" Target="/ppt/slideLayouts/slideLayout4.xml" Id="Reb5caa9b64ee4b45" /><Relationship Type="http://schemas.openxmlformats.org/officeDocument/2006/relationships/slideLayout" Target="/ppt/slideLayouts/slideLayout5.xml" Id="R7182d7525ee54eca" /><Relationship Type="http://schemas.openxmlformats.org/officeDocument/2006/relationships/slideLayout" Target="/ppt/slideLayouts/slideLayout6.xml" Id="R3f8fb1c4b75e4446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f44ebcb79d9e479b" /><Relationship Type="http://schemas.openxmlformats.org/officeDocument/2006/relationships/slideLayout" Target="/ppt/slideLayouts/slideLayout7.xml" Id="R0932689a9def433f" /><Relationship Type="http://schemas.openxmlformats.org/officeDocument/2006/relationships/slideLayout" Target="/ppt/slideLayouts/slideLayout8.xml" Id="R4df612594c03478b" /><Relationship Type="http://schemas.openxmlformats.org/officeDocument/2006/relationships/slideLayout" Target="/ppt/slideLayouts/slideLayout9.xml" Id="Rf2d87679702d456f" /><Relationship Type="http://schemas.openxmlformats.org/officeDocument/2006/relationships/slideLayout" Target="/ppt/slideLayouts/slideLayout10.xml" Id="R15635762812d4418" /><Relationship Type="http://schemas.openxmlformats.org/officeDocument/2006/relationships/slideLayout" Target="/ppt/slideLayouts/slideLayout11.xml" Id="R2e539ffad4984f19" /><Relationship Type="http://schemas.openxmlformats.org/officeDocument/2006/relationships/slideLayout" Target="/ppt/slideLayouts/slideLayout12.xml" Id="R926a6d70e38d4f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0d6e582f1d4f19"/>
    <p:sldLayoutId xmlns:r="http://schemas.openxmlformats.org/officeDocument/2006/relationships" id="2147483650" r:id="R64ae04acbdac49b9"/>
    <p:sldLayoutId xmlns:r="http://schemas.openxmlformats.org/officeDocument/2006/relationships" id="2147483651" r:id="Re4958452fd2740a3"/>
    <p:sldLayoutId xmlns:r="http://schemas.openxmlformats.org/officeDocument/2006/relationships" id="2147483652" r:id="Reb5caa9b64ee4b45"/>
    <p:sldLayoutId xmlns:r="http://schemas.openxmlformats.org/officeDocument/2006/relationships" id="2147483653" r:id="R7182d7525ee54eca"/>
    <p:sldLayoutId xmlns:r="http://schemas.openxmlformats.org/officeDocument/2006/relationships" id="2147483654" r:id="R3f8fb1c4b75e44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0932689a9def433f"/>
    <p:sldLayoutId xmlns:r="http://schemas.openxmlformats.org/officeDocument/2006/relationships" id="2147483657" r:id="R4df612594c03478b"/>
    <p:sldLayoutId xmlns:r="http://schemas.openxmlformats.org/officeDocument/2006/relationships" id="2147483658" r:id="Rf2d87679702d456f"/>
    <p:sldLayoutId xmlns:r="http://schemas.openxmlformats.org/officeDocument/2006/relationships" id="2147483659" r:id="R15635762812d4418"/>
    <p:sldLayoutId xmlns:r="http://schemas.openxmlformats.org/officeDocument/2006/relationships" id="2147483660" r:id="R2e539ffad4984f19"/>
    <p:sldLayoutId xmlns:r="http://schemas.openxmlformats.org/officeDocument/2006/relationships" id="2147483661" r:id="R926a6d70e38d4f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bc1b611d974840" /><Relationship Type="http://schemas.openxmlformats.org/officeDocument/2006/relationships/notesSlide" Target="/ppt/notesSlides/notesSlide1.xml" Id="R3905de85530d4c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83e823748147b4" /><Relationship Type="http://schemas.openxmlformats.org/officeDocument/2006/relationships/notesSlide" Target="/ppt/notesSlides/notesSlide2.xml" Id="R04b48bb092ba48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624b36df0fa45f3" /><Relationship Type="http://schemas.openxmlformats.org/officeDocument/2006/relationships/notesSlide" Target="/ppt/notesSlides/notesSlide3.xml" Id="Reafc95e132ce4b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eea75a17c94f9a" /><Relationship Type="http://schemas.openxmlformats.org/officeDocument/2006/relationships/notesSlide" Target="/ppt/notesSlides/notesSlide4.xml" Id="R6b84049e7bb841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b810bc656d4c28" /><Relationship Type="http://schemas.openxmlformats.org/officeDocument/2006/relationships/notesSlide" Target="/ppt/notesSlides/notesSlide5.xml" Id="R5d24600ca8d041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afd68fbbf442ad" /><Relationship Type="http://schemas.openxmlformats.org/officeDocument/2006/relationships/notesSlide" Target="/ppt/notesSlides/notesSlide6.xml" Id="R459e2b355da94e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826a9158464e33" /><Relationship Type="http://schemas.openxmlformats.org/officeDocument/2006/relationships/notesSlide" Target="/ppt/notesSlides/notesSlide7.xml" Id="Re6a1b431de9a4a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2c69ac025f486f" /><Relationship Type="http://schemas.openxmlformats.org/officeDocument/2006/relationships/notesSlide" Target="/ppt/notesSlides/notesSlide8.xml" Id="Rce33bdbd3b3448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9c0ea3ca11f495e" /><Relationship Type="http://schemas.openxmlformats.org/officeDocument/2006/relationships/notesSlide" Target="/ppt/notesSlides/notesSlide9.xml" Id="Rb5e11c7e8ace45f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9d50df8f204a5c" /><Relationship Type="http://schemas.openxmlformats.org/officeDocument/2006/relationships/notesSlide" Target="/ppt/notesSlides/notesSlide10.xml" Id="R31c81420401842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f4d15124d84b8f" /><Relationship Type="http://schemas.openxmlformats.org/officeDocument/2006/relationships/notesSlide" Target="/ppt/notesSlides/notesSlide11.xml" Id="R2ca71560f22f4e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151e551f03443b" /><Relationship Type="http://schemas.openxmlformats.org/officeDocument/2006/relationships/notesSlide" Target="/ppt/notesSlides/notesSlide12.xml" Id="R022d473fab864b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b65581ae4704fbe" /><Relationship Type="http://schemas.openxmlformats.org/officeDocument/2006/relationships/notesSlide" Target="/ppt/notesSlides/notesSlide13.xml" Id="R6c71423f33994f9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969db2868c4bca" /><Relationship Type="http://schemas.openxmlformats.org/officeDocument/2006/relationships/notesSlide" Target="/ppt/notesSlides/notesSlide14.xml" Id="R492a2f71b3eb4f7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2a9264d0584f4fa6" /><Relationship Type="http://schemas.openxmlformats.org/officeDocument/2006/relationships/notesSlide" Target="/ppt/notesSlides/notesSlide15.xml" Id="R6f130d0f711245d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af7f576db11149d7" /><Relationship Type="http://schemas.openxmlformats.org/officeDocument/2006/relationships/notesSlide" Target="/ppt/notesSlides/notesSlide16.xml" Id="R2aa48ec8d98e4b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2eaae95d4604128" /><Relationship Type="http://schemas.openxmlformats.org/officeDocument/2006/relationships/notesSlide" Target="/ppt/notesSlides/notesSlide17.xml" Id="R0a0c3b4df99f4e6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694eee6f1fc45c2" /><Relationship Type="http://schemas.openxmlformats.org/officeDocument/2006/relationships/notesSlide" Target="/ppt/notesSlides/notesSlide18.xml" Id="Rf5e19827abb34c2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e9b041d3944909" /><Relationship Type="http://schemas.openxmlformats.org/officeDocument/2006/relationships/notesSlide" Target="/ppt/notesSlides/notesSlide19.xml" Id="R65b07a11338d4d6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78b00e72ee4572" /><Relationship Type="http://schemas.openxmlformats.org/officeDocument/2006/relationships/notesSlide" Target="/ppt/notesSlides/notesSlide20.xml" Id="R6bc3cd4c41264dd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5359b3749c46a7" /><Relationship Type="http://schemas.openxmlformats.org/officeDocument/2006/relationships/notesSlide" Target="/ppt/notesSlides/notesSlide21.xml" Id="R102dd82d9dac499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316213f4109438a" /><Relationship Type="http://schemas.openxmlformats.org/officeDocument/2006/relationships/hyperlink" Target="https://www.fao.org/4/t1838e/T1838E0u.htm" TargetMode="External" Id="R7e44c60c84c944c8" /><Relationship Type="http://schemas.openxmlformats.org/officeDocument/2006/relationships/notesSlide" Target="/ppt/notesSlides/notesSlide22.xml" Id="Rdadd6a627f76450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D19479-8356-426E-B755-4660A00C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第8回　木材と水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A4590-318B-4860-8B4C-93D71316226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9370CC-DCA8-482C-8EFE-4BF8C772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7CBB4-A4F4-4CD5-BAE5-C38142EF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99DC8-7D79-43C5-9DB8-E3FAA2BE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木材と水：含水率と水の所在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AFC2C2-5661-411F-AA34-2BE00B77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08204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乾量基準含水率を計算し、細胞内腔等の水と細胞壁内の水を区別する。</a:t>
            </a:r>
          </a:p>
        </p:txBody>
      </p:sp>
    </p:spTree>
    <p:extLst>
      <p:ext uri="{BB962C8B-B14F-4D97-AF65-F5344CB8AC3E}">
        <p14:creationId xmlns:p14="http://schemas.microsoft.com/office/powerpoint/2010/main" val="20996759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01E60-543E-4C1A-A758-B33212DA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今回の前提を確かめる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FDD57-901B-4795-AD6D-19E137C9122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0BB4EE-7611-4B81-92D9-F3280439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F6BD00-BA02-44F7-8ECD-1CD58F60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3011A-8545-44A5-B73B-20DFA386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絶乾質量と、湿ったときの質量を区別する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1ED717-AB5D-40E9-BC8C-C741E2D7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細胞内腔と、細胞壁の内部は別の場所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3C2F6E-4F6D-4334-9753-B9C47174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水の量と所在を、同じ図で考える</a:t>
            </a:r>
          </a:p>
        </p:txBody>
      </p:sp>
    </p:spTree>
    <p:extLst>
      <p:ext uri="{BB962C8B-B14F-4D97-AF65-F5344CB8AC3E}">
        <p14:creationId xmlns:p14="http://schemas.microsoft.com/office/powerpoint/2010/main" val="3223938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299235-CCE8-4AF1-9CF1-9C4EC788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今回考える三つの関係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742A3-A699-4841-B482-A5460019435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5A5F16-4B59-4B5E-837F-66FDC0BC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4000F-3E2B-4615-B545-679B86C4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58B593-1ACF-437F-A019-38BC2249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水を含む質量 M − 全乾質量 M₀ = 水の質量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03BC1-9E68-4333-A630-B018AB4E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自由水は、主に細胞内腔や細胞間の空隙にある液体の水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B21AF6-BCD0-4307-8F29-96D85FCE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内腔の自由水を失い、細胞壁には水が多く残る状態を考える概念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2A197-2DAB-4435-ABD4-A7A3100F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演習では、式・単位・観察の根拠を残して説明する</a:t>
            </a:r>
          </a:p>
        </p:txBody>
      </p:sp>
    </p:spTree>
    <p:extLst>
      <p:ext uri="{BB962C8B-B14F-4D97-AF65-F5344CB8AC3E}">
        <p14:creationId xmlns:p14="http://schemas.microsoft.com/office/powerpoint/2010/main" val="12339798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D29DD8-639D-4172-B934-C7D71672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木材の含水率：全乾質量を基準にする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E13CC-A80A-4703-85C6-E1D08C08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88F9FF-540B-49A2-9449-6F3D3BAB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8BCB51-297A-4224-9060-3C40FC45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1A255A-A00E-4077-B877-A167405E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14475"/>
            <a:ext cx="1047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M = 全乾木材 + 水、M₀ = 全乾木材（いずれも質量）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48CF6A-1537-4804-8AB0-BDB564E1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38375"/>
            <a:ext cx="61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MC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B17EDA-2BDF-4B09-909B-783EC90D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3907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1E1435-53B7-4DC8-96F9-E3B4873C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238375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（%）=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2DF569-7B8A-4F81-A404-43300FCE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85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M − M₀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8F415-B727-498B-8816-732E5312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47925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M₀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CD71B8-6CE9-4F9D-8A74-9549ACEC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71725"/>
            <a:ext cx="3905250" cy="9525"/>
          </a:xfrm>
          <a:custGeom xmlns:a="http://schemas.openxmlformats.org/drawingml/2006/main">
            <a:pathLst>
              <a:path w="3905250" h="9525">
                <a:moveTo>
                  <a:pt x="0" y="0"/>
                </a:moveTo>
                <a:lnTo>
                  <a:pt x="390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8364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95F7AA-D5E7-420B-961B-D73EC367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238375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× 100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1D0E0E-28A0-4340-9B69-06A906E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71925"/>
            <a:ext cx="61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MC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C62E5-D62C-4B7D-B8CB-F1B4E420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1243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58F301-2D0E-405B-BBCF-0FB4991B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71925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（%）=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A484F-702D-466E-9BFC-9A76CF49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619500"/>
            <a:ext cx="657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（全乾木材 + 水）− 全乾木材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B49DE-B865-4612-9F2C-EF0CCF2C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181475"/>
            <a:ext cx="657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全乾木材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39FD40-1A83-499D-B547-D0852683C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105275"/>
            <a:ext cx="6572250" cy="9525"/>
          </a:xfrm>
          <a:custGeom xmlns:a="http://schemas.openxmlformats.org/drawingml/2006/main">
            <a:pathLst>
              <a:path w="6572250" h="9525">
                <a:moveTo>
                  <a:pt x="0" y="0"/>
                </a:moveTo>
                <a:lnTo>
                  <a:pt x="657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8364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2870B2-B267-4559-B815-97FBA59A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71925"/>
            <a:ext cx="147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× 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612255-A9D1-48F4-AF52-CA3B8CF7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91125"/>
            <a:ext cx="1047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分子は水の質量。分母は、乾いた木材の質量。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434258-6A52-41B5-83DD-EA777A60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047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木材で通常使う乾量基準。全乾木材100 gに対する水の質量を表す。</a:t>
            </a:r>
          </a:p>
        </p:txBody>
      </p:sp>
    </p:spTree>
    <p:extLst>
      <p:ext uri="{BB962C8B-B14F-4D97-AF65-F5344CB8AC3E}">
        <p14:creationId xmlns:p14="http://schemas.microsoft.com/office/powerpoint/2010/main" val="235849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368124-60A3-4325-A1A4-C3D585BA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食品・農産物の含水率：全体を基準にする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BFFBFF-EDC4-4B32-BBAE-EFA6EA60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E7F3DB-DD9A-4F0A-A57F-F223BA61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970FA7-9F88-444C-99BD-DD8D8362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F8D278-F10F-4BD6-8D33-054D80C0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14475"/>
            <a:ext cx="1047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M = 乾物 + 水、M₀ = 乾物（いずれも質量）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79716-13A0-484D-8B28-8E7576D4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38375"/>
            <a:ext cx="61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MC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E644C-B484-4123-B702-62D9127C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3907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02F640-F6EF-4CC7-ABF8-C48AC428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238375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（%）=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EC609-9614-4412-847A-376EA817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85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M − M₀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DA6B0-DD58-48BE-8EF6-1A793E9C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47925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B23E47-BCAB-41D8-8037-4944E169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71725"/>
            <a:ext cx="3905250" cy="9525"/>
          </a:xfrm>
          <a:custGeom xmlns:a="http://schemas.openxmlformats.org/drawingml/2006/main">
            <a:pathLst>
              <a:path w="3905250" h="9525">
                <a:moveTo>
                  <a:pt x="0" y="0"/>
                </a:moveTo>
                <a:lnTo>
                  <a:pt x="390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8364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AA8606-FDD6-4D10-85FB-69AAA6B8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238375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× 100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DD5F3C-DD09-44E8-BDAC-3D48FD23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71925"/>
            <a:ext cx="61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MC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33F71E-1FF5-46E4-B504-DB5545EA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1243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321ED0-2498-4DB1-8F45-90C9A866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71925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（%）=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52922A-6055-45A2-A0E6-265CD67A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619500"/>
            <a:ext cx="657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（乾物 + 水）− 乾物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A35331-8D0A-4663-8873-3147C1F3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181475"/>
            <a:ext cx="657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乾物 + 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5EA169-0F22-4121-A784-C3F4BC7A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105275"/>
            <a:ext cx="6572250" cy="9525"/>
          </a:xfrm>
          <a:custGeom xmlns:a="http://schemas.openxmlformats.org/drawingml/2006/main">
            <a:pathLst>
              <a:path w="6572250" h="9525">
                <a:moveTo>
                  <a:pt x="0" y="0"/>
                </a:moveTo>
                <a:lnTo>
                  <a:pt x="657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8364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0DAA3E-F7CA-4CB7-B07C-4BEB4059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71925"/>
            <a:ext cx="147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× 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43E159-90CD-4891-B0C7-CD9B916A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91125"/>
            <a:ext cx="1047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分子は水の質量。分母は、水を含む全体の質量。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59982B-CCCD-414E-8504-562454D6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047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食品・農産物でよく使う湿量基準。乾物を基準にする場合もある。</a:t>
            </a:r>
          </a:p>
        </p:txBody>
      </p:sp>
    </p:spTree>
    <p:extLst>
      <p:ext uri="{BB962C8B-B14F-4D97-AF65-F5344CB8AC3E}">
        <p14:creationId xmlns:p14="http://schemas.microsoft.com/office/powerpoint/2010/main" val="2130954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9F7F5-D400-4051-9EB5-AC74A871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同じ試料でも、含水率の意味が違う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D81E5-1E18-4F2F-AA60-C5E665CA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C76D6-9343-43C9-B2DF-607262FE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D1761-E5C9-4180-825E-2216AAB3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A74D77-FB7C-4486-A5AD-96F68D6AB702}"/>
              </a:ext>
            </a:extLst>
          </p:cNvPr>
          <p:cNvGraphicFramePr/>
          <p:nvPr/>
        </p:nvGraphicFramePr>
        <p:xfrm>
          <a:off xmlns:a="http://schemas.openxmlformats.org/drawingml/2006/main" x="838200" y="1714500"/>
          <a:ext xmlns:a="http://schemas.openxmlformats.org/drawingml/2006/main" cx="104775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4429125"/>
                <a:gridCol w="4429125"/>
              </a:tblGrid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比較</a:t>
                      </a:r>
                    </a:p>
                  </a:txBody>
                  <a:tcPr marL="91440" marR="91440" marT="45720" marB="45720"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木材で通常使う乾量基準</a:t>
                      </a:r>
                    </a:p>
                  </a:txBody>
                  <a:tcPr marL="91440" marR="91440" marT="45720" marB="45720"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食品等でよく使う湿量基準</a:t>
                      </a:r>
                    </a:p>
                  </a:txBody>
                  <a:tcPr marL="91440" marR="91440" marT="45720" marB="45720">
                    <a:solidFill>
                      <a:srgbClr val="18364F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分母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全乾木材・乾物 M₀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水を含む全体 M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問い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乾いた材料に対する水の量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水を含む全体に占める水の割合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同一試料の例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全乾50 g、水75 g、全体125 g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全乾50 g、水75 g、全体125 g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計算結果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75/50 × 100 = 150%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75/125 × 100 = 60%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896046-A1E0-4187-9767-1196235A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9592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水の量が変わったのではなく、同じ水を何と比べるかが違う。</a:t>
            </a:r>
          </a:p>
        </p:txBody>
      </p:sp>
    </p:spTree>
    <p:extLst>
      <p:ext uri="{BB962C8B-B14F-4D97-AF65-F5344CB8AC3E}">
        <p14:creationId xmlns:p14="http://schemas.microsoft.com/office/powerpoint/2010/main" val="15686291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B8FC1E-14D7-4D80-8BE8-F88D9717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乾量基準と湿量基準の換算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AEA4D6-99A8-4207-9F57-21A984C5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8B82CC-0C43-4B8F-AE4C-E78EC419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E721A6-882F-4595-95BF-0B62EDE8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1DDC3E-4602-48EA-8604-BCD66E81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71625"/>
            <a:ext cx="1047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乾量基準の値を a（%）とおく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86954-9D0B-4F5A-B49E-04915346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0477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全乾質量100 gを基準にすると、水は a g、全体は 100 + a 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9E245-E25F-4FC4-AE85-54921B8B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90875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湿量基準（%）=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59A72D-FFAD-4CCF-9CAD-2A44466C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575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C3704B-4610-4760-81C1-F326BFA7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194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100 + 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18F4A3-6E17-44E0-9EE9-B5F3A080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43275"/>
            <a:ext cx="3333750" cy="9525"/>
          </a:xfrm>
          <a:custGeom xmlns:a="http://schemas.openxmlformats.org/drawingml/2006/main">
            <a:pathLst>
              <a:path w="3333750" h="9525">
                <a:moveTo>
                  <a:pt x="0" y="0"/>
                </a:moveTo>
                <a:lnTo>
                  <a:pt x="333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8364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810EE8-31C2-49B1-9F78-C1662274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1908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× 100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565B6-2A1C-4398-AC73-7FC94F4B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逆に、湿量基準 b（%） → 乾量基準 = 100b / (100 − b)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9450F9-63AE-44BD-9072-533DD3DC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27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例：乾量150% → 湿量60% ／ 湿量60% → 乾量150%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0EEDA9-F340-480A-BBAF-EF7558B2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245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a・b は百分率の数値。0.20のような比をそのまま代入しない。</a:t>
            </a:r>
          </a:p>
        </p:txBody>
      </p:sp>
    </p:spTree>
    <p:extLst>
      <p:ext uri="{BB962C8B-B14F-4D97-AF65-F5344CB8AC3E}">
        <p14:creationId xmlns:p14="http://schemas.microsoft.com/office/powerpoint/2010/main" val="9332914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5F94C3-2F27-479C-9169-F82B9B92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細胞壁内の水と自由水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149818-7F36-4022-AECA-74942852A9B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947CC-461E-46FF-BC85-FE5635A8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1AF0F-B6D3-4900-91E3-FACC3582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6242B-63EA-4119-9339-1254FDC9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05000"/>
            <a:ext cx="4667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9E6"/>
          </a:solidFill>
          <a:ln xmlns:a="http://schemas.openxmlformats.org/drawingml/2006/main" w="14288">
            <a:solidFill>
              <a:srgbClr val="087E8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3AFF33-4D48-4AB6-BF53-FAF0FD24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428875"/>
            <a:ext cx="3619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8D3D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FBAE2-AB56-4E5A-AEDF-C1F4CAE1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714750"/>
            <a:ext cx="3619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DED"/>
          </a:solidFill>
          <a:ln xmlns:a="http://schemas.openxmlformats.org/drawingml/2006/main" w="14288">
            <a:solidFill>
              <a:srgbClr val="245C9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915B3D-694B-46AF-A892-34A57F1D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33575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 algn="ctr">
              <a:buNone/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 algn="ctr">
              <a:buNone/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 algn="ctr">
              <a:buNone/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 algn="ctr">
              <a:buNone/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 algn="ctr">
              <a:buNone/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 algn="ctr">
              <a:buNone/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 algn="ctr">
              <a:buNone/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 algn="ctr">
              <a:buNone/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 algn="ctr">
              <a:buNone/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buNone/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壁内の水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FDC8F-7CF2-4554-9F71-2A04CA2B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952875"/>
            <a:ext cx="3600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defPPr>
            <a:lvl1pPr algn="ctr">
              <a:buNone/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1pPr>
            <a:lvl2pPr algn="ctr">
              <a:buNone/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2pPr>
            <a:lvl3pPr algn="ctr">
              <a:buNone/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3pPr>
            <a:lvl4pPr algn="ctr">
              <a:buNone/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4pPr>
            <a:lvl5pPr algn="ctr">
              <a:buNone/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5pPr>
            <a:lvl6pPr algn="ctr">
              <a:buNone/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6pPr>
            <a:lvl7pPr algn="ctr">
              <a:buNone/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7pPr>
            <a:lvl8pPr algn="ctr">
              <a:buNone/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8pPr>
            <a:lvl9pPr algn="ctr">
              <a:buNone/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buNone/>
              <a:def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245C98"/>
                </a:solidFill>
                <a:latin typeface="Yu Gothic"/>
                <a:ea typeface="Yu Gothic"/>
                <a:cs typeface="Yu Gothic"/>
              </a:rPr>
              <a:t>内腔等の自由水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8746FC-1650-4C56-90BE-110C3550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9335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水の所在を分ける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FFD8F5-D943-4FA8-98C3-3F73D2E3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098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壁の成分との相互作用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C580C4-E0FD-46D1-9509-FDF1C069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861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水分変化と寸法を結ぶ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FA8E3F-E8EA-4FB1-8508-5C739EE8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5624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水量と寸法比は模式的</a:t>
            </a:r>
          </a:p>
        </p:txBody>
      </p:sp>
    </p:spTree>
    <p:extLst>
      <p:ext uri="{BB962C8B-B14F-4D97-AF65-F5344CB8AC3E}">
        <p14:creationId xmlns:p14="http://schemas.microsoft.com/office/powerpoint/2010/main" val="11503268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187F78-0865-48FF-8080-A63B4973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細胞壁中の水と自由水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84E1A8-7059-4234-89BA-DD5057CD769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FD12D7-A708-42D7-B4C3-9A5EDD99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84658-735F-4C73-99F1-41600886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04E0D5-7BC6-4C9E-986F-9837FB6B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自由水は、主に細胞内腔や細胞間の空隙にある液体の水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625F9-EAB6-4D15-9A9F-6B346FE9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細胞壁中の水は、セルロース・ヘミセルロースなどと相互作用する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46BD5-0A87-4632-A0C1-CE76CDCB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壁の水が増減すると、膨潤・収縮や力学的性質が変わる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A15DD-69B6-4081-81EF-9DFC4034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木口からの吸水では、L方向の通導要素や壁孔も経路になる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DC55B2-4EDA-43EF-BAB9-A2DE4A0C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水の総量と、水がある場所を併せて考える</a:t>
            </a:r>
          </a:p>
        </p:txBody>
      </p:sp>
    </p:spTree>
    <p:extLst>
      <p:ext uri="{BB962C8B-B14F-4D97-AF65-F5344CB8AC3E}">
        <p14:creationId xmlns:p14="http://schemas.microsoft.com/office/powerpoint/2010/main" val="1480403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61273-1A37-444F-9460-D0B53FAD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比較するデータと条件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AE7D11-4425-4CC4-855A-2DCB81C235D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5FDF37-78F8-4AB6-83D6-FAD7F759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C29C2-08D8-42B1-B273-316898E9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C5DD7-5172-4BB1-BA12-19DDAAAA663A}"/>
              </a:ext>
            </a:extLst>
          </p:cNvPr>
          <p:cNvGraphicFramePr/>
          <p:nvPr/>
        </p:nvGraphicFramePr>
        <p:xfrm>
          <a:off xmlns:a="http://schemas.openxmlformats.org/drawingml/2006/main" x="685800" y="1733550"/>
          <a:ext xmlns:a="http://schemas.openxmlformats.org/drawingml/2006/main" cx="108204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 / g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演習用の同一試料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湿った状態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125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水を含む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絶乾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50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M₀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水の質量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125 − 50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含水率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乾量基準で計算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76564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DA6D83-18F7-4AC9-88D0-94BC7123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演習1　乾量基準と湿量基準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802AD5-ABC6-4B52-B772-08AD212B9C5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7F4B75-6648-434B-95DF-3AA853AD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E8ED89-0D22-47A3-8FB0-7DDD0E24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53439-9A34-44A9-8D49-5B9CCE1C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表の試料の木材含水率（乾量基準）を求める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19DF0B-8879-4BDB-9586-BD588B03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860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食品等でよく使う湿量基準でも計算する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DC20C4-7A30-49E4-8B4A-46F73FAD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なぜ100％を超えられるか説明する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FEEABE-F803-43C8-810F-C2049A0B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百分率と質量比を混用しない</a:t>
            </a:r>
          </a:p>
        </p:txBody>
      </p:sp>
    </p:spTree>
    <p:extLst>
      <p:ext uri="{BB962C8B-B14F-4D97-AF65-F5344CB8AC3E}">
        <p14:creationId xmlns:p14="http://schemas.microsoft.com/office/powerpoint/2010/main" val="11876734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75FFF0-CCFF-4A9D-AE3E-8585C73F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演習1の解説　乾量基準と湿量基準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587529-98D0-45CD-AFE2-F453D3845FD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5B5AB7-EDA2-4B1E-AA6E-C41FCEC2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0B7435-57BD-4CFD-BAA0-D9B6BBE7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CE628-801D-4714-B26D-705248B9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水は125 − 50 = 75 g。乾量基準は150%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2E35F-4A09-469F-9452-2292AFD9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860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湿量基準は75/125 × 100 = 60%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593F9-6B5F-4D44-8C56-8BA75B5D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乾いた木材より水の質量が多くても矛盾しない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77185C-739C-4B02-AE37-C9630FE4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二つの百分率は、分母が違う</a:t>
            </a:r>
          </a:p>
        </p:txBody>
      </p:sp>
    </p:spTree>
    <p:extLst>
      <p:ext uri="{BB962C8B-B14F-4D97-AF65-F5344CB8AC3E}">
        <p14:creationId xmlns:p14="http://schemas.microsoft.com/office/powerpoint/2010/main" val="10138999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BFC166-2414-4863-B236-166DC2DE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吸放湿と平衡含水率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FF0EC1-F7FE-4DE5-BCF8-3E0DCF36704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3FA995-452A-420A-811A-F9CE7A47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455D0-97F4-4C26-9830-BB4F29DA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4366A-E7FF-45E7-B2BD-F0E44FAF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一定の温度・相対湿度の空気中で、木材は水蒸気を吸ったり放したりする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77196-9A05-4E5A-91BA-2DF7E7B9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十分な時間の後、質量変化が落ち着いたときの含水率を平衡含水率という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2E2881-1299-45DD-AD04-6D21AF69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同じ温度でも、相対湿度が高いほど平衡含水率は高くなる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5B8DF-D09A-4CFC-81C4-ABC14EBC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吸湿して近付くか、放湿して近付くかで差がある。これを履歴として考える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289943-6187-4362-AC39-557FC333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気乾は全乾ではなく、温湿度に応じて水分が残る状態</a:t>
            </a:r>
          </a:p>
        </p:txBody>
      </p:sp>
    </p:spTree>
    <p:extLst>
      <p:ext uri="{BB962C8B-B14F-4D97-AF65-F5344CB8AC3E}">
        <p14:creationId xmlns:p14="http://schemas.microsoft.com/office/powerpoint/2010/main" val="9045855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7B88D4-3FC0-4D6B-BC7F-EFD437DD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含水率の分母と水の質量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2F45D-0B09-4713-B535-EB62316A35C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5AEB71-C6E4-4715-A889-BBE8EE30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D55FC-17F9-4F16-937E-96C8A474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34CA6D-E567-44B5-ACC5-B44CB44F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4667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B55D0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BE4B2-9B9E-45B0-90A6-5A5C5771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4667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DED"/>
          </a:solidFill>
          <a:ln xmlns:a="http://schemas.openxmlformats.org/drawingml/2006/main" w="14288">
            <a:solidFill>
              <a:srgbClr val="245C9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831C5B-634C-48FD-8423-ADB59989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B55D09"/>
                </a:solidFill>
                <a:latin typeface="Yu Gothic"/>
                <a:ea typeface="Yu Gothic"/>
                <a:cs typeface="Yu Gothic"/>
              </a:rPr>
              <a:t>全乾質量 M₀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5D4263-49AD-4EA5-B911-BEF1CD28E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147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245C98"/>
                </a:solidFill>
                <a:latin typeface="Yu Gothic"/>
                <a:ea typeface="Yu Gothic"/>
                <a:cs typeface="Yu Gothic"/>
              </a:rPr>
              <a:t>水の質量 M − M₀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CAEC7-EEC3-4D8C-B945-DAB3D464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9335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木材含水率の分母は M₀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8BA8C9-ACE0-4AF1-B71F-758F3F52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098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水の質量との比を取る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814195-9D16-4705-AC5A-9BCE362B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861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乾量基準 = 100(M − M₀)/M₀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F5ACAC-0B0E-4096-821B-C73DAF09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5624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100％超も定義と両立する</a:t>
            </a:r>
          </a:p>
        </p:txBody>
      </p:sp>
    </p:spTree>
    <p:extLst>
      <p:ext uri="{BB962C8B-B14F-4D97-AF65-F5344CB8AC3E}">
        <p14:creationId xmlns:p14="http://schemas.microsoft.com/office/powerpoint/2010/main" val="5146634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962B11-0D58-48BD-AFFA-BE5F3FAA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繊維飽和点と寸法変化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223F74-1A81-4F71-80AC-15CDBBD4B4A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EFF75-5C2F-47A9-A2B7-1DD0D616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04CFC-D3C8-4053-B240-5EE4F357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BBE67A-047A-46E1-A2D3-E1AA1659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内腔の自由水を失い、細胞壁には水が多く残る状態を考える概念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857F5-CFE7-42A7-B480-6AF875B8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通常の説明では、この付近より低い含水率域で収縮が顕著になる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96A391-97FB-48D7-A3E6-A4360500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約30％は目安で、樹種・温度・測定方法によって異なる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2456FD-F656-46EB-97EB-AD8569EB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細胞ごとの水分状態が、材全体で同時に切り替わるわけではない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686AD-7BAA-42B0-9C67-77B7635A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平衡含水率は空気との関係、繊維飽和点は水の所在と物性変化の関係</a:t>
            </a:r>
          </a:p>
        </p:txBody>
      </p:sp>
    </p:spTree>
    <p:extLst>
      <p:ext uri="{BB962C8B-B14F-4D97-AF65-F5344CB8AC3E}">
        <p14:creationId xmlns:p14="http://schemas.microsoft.com/office/powerpoint/2010/main" val="926175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AE95E-61E7-4C37-80CC-9E6458AC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演習2　含水率から質量を求める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104400-8321-4AFE-BFE6-B021485D1CC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B76BDB-5B4E-42FC-B37C-B66C800D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37213-7304-4D0B-9B84-D8B881BA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09AF00-F472-4D06-B639-0AD94E39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前の試料（全乾50 g・水を含む質量125 g）を、含水率20％まで乾かす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547F1-8A66-4EA2-9998-63DC5417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木材の乾量基準の式を変形し、目標の質量 M を求める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47B6F7-1EA4-4668-8E7D-A77CEDD2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取り除く水の質量は何gか。初めと終わりの水の所在も図示する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AB852-9C38-4072-9B18-0D4EC67F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繊維飽和点と平衡含水率の違いを、乾燥の説明に加える</a:t>
            </a:r>
          </a:p>
        </p:txBody>
      </p:sp>
    </p:spTree>
    <p:extLst>
      <p:ext uri="{BB962C8B-B14F-4D97-AF65-F5344CB8AC3E}">
        <p14:creationId xmlns:p14="http://schemas.microsoft.com/office/powerpoint/2010/main" val="18848313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0B36E4-C108-42C5-A9D8-0F9B6862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演習2の解説　質量と水の移動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A9426B-B963-47AE-BA6E-B43EC2ABB4D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4100B-756C-47E2-A423-5BFB4FD1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E8341-E946-4B57-A634-6075FABB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11901-5227-4381-8965-2EDD45C9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M = M₀(1 + 含水率/100) = 50 × 1.20 = 60 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2B2C4B-7BA5-4AD7-81EC-C468502B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初めの水75 g、終わりの水10 g。取り除く水は65 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9AB67B-2661-421E-9073-BEA03023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乾燥が進むと自由水が減り、さらに細胞壁中の水が減って収縮が顕著になる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F4261B-45BF-46FB-B2B8-44C18D53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繊維飽和点は自由水と細胞壁中の水を考える目安。実材では水分状態にむらがある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4CCDED-8D45-4373-B2DF-2F1030EF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平衡含水率は、一定の温湿度の空気と木材の水分が平衡になったときの値</a:t>
            </a:r>
          </a:p>
        </p:txBody>
      </p:sp>
    </p:spTree>
    <p:extLst>
      <p:ext uri="{BB962C8B-B14F-4D97-AF65-F5344CB8AC3E}">
        <p14:creationId xmlns:p14="http://schemas.microsoft.com/office/powerpoint/2010/main" val="4330892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75DE22-8C5E-47BF-8D90-854C648A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吸放湿を記録する学習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78B77-B534-43A2-A01A-CDF5B173753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C0C336-051F-43E1-B103-FCA16163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38627-4A0C-4F55-83AB-0DCCEC4F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511EF-114C-496E-AC44-F9C41FE9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同じ木片の質量と、保管場所の温湿度を継続記録する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5979E-739F-4B8A-A1EF-9D564711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提供された全乾質量を用い、含水率の変化を計算する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B16AB3-9B20-41A9-AEF3-FDB73D23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発問：空気中で乾いた木片にも、水は残っているか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BBC4C-878B-4F5B-A6E4-696141B7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期待する説明：周囲の温湿度に応じた平衡含水率へ近付く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2DBB3-D36E-4F77-BFED-CD472B52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教科書の接点：木材の吸湿と乾燥／A(1)ア</a:t>
            </a:r>
          </a:p>
        </p:txBody>
      </p:sp>
    </p:spTree>
    <p:extLst>
      <p:ext uri="{BB962C8B-B14F-4D97-AF65-F5344CB8AC3E}">
        <p14:creationId xmlns:p14="http://schemas.microsoft.com/office/powerpoint/2010/main" val="149005987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019488-0DEF-4ED6-9762-0617FBDC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確認問題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40844-5D82-4229-8B39-EC31636A91F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781DE-B7F3-4E81-8A4E-BB5E85D8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1C0807-45F1-453E-9706-B2E9F9AC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7CEB0-800E-4FDD-B4C1-5B94BE25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M = 12 g、M₀ = 10 g。乾量基準と湿量基準は？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55CA47-38CD-4A5C-A14F-BB70DBEA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空気が乾けば、必ず含水率0％になるか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8FED5F-232F-486D-8EB1-385DB5D4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内腔の水と壁の水を区別して描く</a:t>
            </a:r>
          </a:p>
        </p:txBody>
      </p:sp>
    </p:spTree>
    <p:extLst>
      <p:ext uri="{BB962C8B-B14F-4D97-AF65-F5344CB8AC3E}">
        <p14:creationId xmlns:p14="http://schemas.microsoft.com/office/powerpoint/2010/main" val="17262373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35411-9EC6-4A57-AEC8-F968DF3C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要点の整理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10823-4760-4AE1-8886-908047CC68A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57E71-6248-4F5E-8FEB-D39D9B5E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5A40D3-9980-4717-8562-6D9C5257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AAF09-D860-42D1-8EF2-B312EBC6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含水率は基準（db/wb）を明記し、水の場所とも区別する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FAF867-F44C-461C-BF9D-4C66FD85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水分と周囲の環境を、時間も含めて考える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63B0C-A2FD-46D7-A34E-01DD6DAA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次は、細胞壁の水と寸法変化を結ぶ</a:t>
            </a:r>
          </a:p>
        </p:txBody>
      </p:sp>
    </p:spTree>
    <p:extLst>
      <p:ext uri="{BB962C8B-B14F-4D97-AF65-F5344CB8AC3E}">
        <p14:creationId xmlns:p14="http://schemas.microsoft.com/office/powerpoint/2010/main" val="14344117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9FA7E-2D64-4716-8907-DCAF1A69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復習と次の学習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F1BFA-5A4F-4209-B9C5-8ECD4F95787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6B2C9-DC48-4FFB-9676-83718BA7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913D24-0CA2-4F1E-A9ED-A6051FB5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6D073F-6C60-4A77-8561-3F6A9ED5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乾量基準から湿量基準への換算式を、言葉と記号で導く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CFD04-3EFA-4F8B-B71A-505BF7BD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乾量100%、20%のときの湿量基準を計算する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AC9B3-B8BB-4155-A316-059D60EB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発展：同じ環境でも経路の違いを考える</a:t>
            </a:r>
          </a:p>
        </p:txBody>
      </p:sp>
    </p:spTree>
    <p:extLst>
      <p:ext uri="{BB962C8B-B14F-4D97-AF65-F5344CB8AC3E}">
        <p14:creationId xmlns:p14="http://schemas.microsoft.com/office/powerpoint/2010/main" val="141828158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BF3483-F04D-49CB-90CD-0748A422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参考資料と読み進め方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B82DD6-712A-4DC4-8952-06082D5EAB9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2BDB6C-51D3-4DC9-B69C-CD229EA7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906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Wood Handbook 2021 第4章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404FA-940C-4EB4-9627-8F5A480E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https://research.fs.usda.gov/treesearch/62243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2C68C3-8F29-4E03-AB07-C27AAA4A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学習指導要領解説 A 材料と加工の技術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65C2A-C301-4A65-B92D-E517F453C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https://www.mext.go.jp/component/a_menu/education/micro_detail/__icsFiles/afieldfile/2019/03/18/1387018_009.pdf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CEF3E-A704-486A-BDCC-42FB0A57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開隆堂 R7評価規準例 PDF1頁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EA625-5E4E-4888-A4F7-4188726D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https://www.kairyudo.co.jp/contents/04_shiryo/nenkei/chu/data/r7chu-gi_hyokakijun.pdf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D0CC3-60F9-4681-BB32-2AA3D4DF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講義で扱った図・式・用語に該当する節を参照し、出典箇所を記録する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32E44B-E608-4E8C-B74F-2CD616DA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第8回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9BAEA9-9E3E-4A35-86D8-DA4A6A99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270C47-EA17-4142-804F-33D7C00D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FAO：穀類の含水率（湿量基準と乾量基準）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4CB2E4-E6CC-4D05-893D-EF21E199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96875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7e44c60c84c944c8"/>
              </a:rPr>
              <a:t>https://www.fao.org/4/t1838e/T1838E0u.htm</a:t>
            </a:r>
          </a:p>
        </p:txBody>
      </p:sp>
    </p:spTree>
    <p:extLst>
      <p:ext uri="{BB962C8B-B14F-4D97-AF65-F5344CB8AC3E}">
        <p14:creationId xmlns:p14="http://schemas.microsoft.com/office/powerpoint/2010/main" val="21431758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2026-10-25T22:03:47.7100000Z</dcterms:created>
  <dcterms:modified xsi:type="dcterms:W3CDTF">2026-10-25T22:03:47.7100000Z</dcterms:modified>
</coreProperties>
</file>