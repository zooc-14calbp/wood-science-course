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1291a219ca4817" /><Relationship Type="http://schemas.openxmlformats.org/officeDocument/2006/relationships/extended-properties" Target="/docProps/app.xml" Id="Recd6dff5bebc4074" /><Relationship Type="http://schemas.openxmlformats.org/officeDocument/2006/relationships/officeDocument" Target="/ppt/presentation.xml" Id="R84ec2d88463e4f70" /></Relationships>
</file>

<file path=ppt/presentation.xml><?xml version="1.0" encoding="utf-8"?>
<p:presentation xmlns:p="http://schemas.openxmlformats.org/presentationml/2006/main">
  <p:sldMasterIdLst>
    <p:sldMasterId xmlns:r="http://schemas.openxmlformats.org/officeDocument/2006/relationships" id="2147483648" r:id="Ra385a32378134b93"/>
  </p:sldMasterIdLst>
  <p:notesMasterIdLst>
    <p:notesMasterId xmlns:r="http://schemas.openxmlformats.org/officeDocument/2006/relationships" r:id="R8441b4b2c0414234"/>
  </p:notesMasterIdLst>
  <p:sldIdLst>
    <p:sldId xmlns:r="http://schemas.openxmlformats.org/officeDocument/2006/relationships" id="256" r:id="R2c80ed8e2fa84ef2"/>
    <p:sldId xmlns:r="http://schemas.openxmlformats.org/officeDocument/2006/relationships" id="257" r:id="R44022b96dfea41ed"/>
    <p:sldId xmlns:r="http://schemas.openxmlformats.org/officeDocument/2006/relationships" id="258" r:id="Ra792108f2e094f57"/>
    <p:sldId xmlns:r="http://schemas.openxmlformats.org/officeDocument/2006/relationships" id="259" r:id="Rc810331b73e14abf"/>
    <p:sldId xmlns:r="http://schemas.openxmlformats.org/officeDocument/2006/relationships" id="260" r:id="R83fbf348edcf4788"/>
    <p:sldId xmlns:r="http://schemas.openxmlformats.org/officeDocument/2006/relationships" id="261" r:id="Rddf8e29997454383"/>
    <p:sldId xmlns:r="http://schemas.openxmlformats.org/officeDocument/2006/relationships" id="262" r:id="Rb22c09c565b34d16"/>
    <p:sldId xmlns:r="http://schemas.openxmlformats.org/officeDocument/2006/relationships" id="263" r:id="Rc67c4d7193714c87"/>
    <p:sldId xmlns:r="http://schemas.openxmlformats.org/officeDocument/2006/relationships" id="264" r:id="R2904424dd3c5494d"/>
    <p:sldId xmlns:r="http://schemas.openxmlformats.org/officeDocument/2006/relationships" id="265" r:id="R1b77b90fef2c4b30"/>
    <p:sldId xmlns:r="http://schemas.openxmlformats.org/officeDocument/2006/relationships" id="266" r:id="R4a1e0164f40d4a19"/>
    <p:sldId xmlns:r="http://schemas.openxmlformats.org/officeDocument/2006/relationships" id="267" r:id="R0af0c4b7bb2f4790"/>
    <p:sldId xmlns:r="http://schemas.openxmlformats.org/officeDocument/2006/relationships" id="268" r:id="R9a01a9eda115491f"/>
    <p:sldId xmlns:r="http://schemas.openxmlformats.org/officeDocument/2006/relationships" id="269" r:id="R8623a08da4614cf4"/>
    <p:sldId xmlns:r="http://schemas.openxmlformats.org/officeDocument/2006/relationships" id="270" r:id="R2dd9b1c6ea4d4c85"/>
    <p:sldId xmlns:r="http://schemas.openxmlformats.org/officeDocument/2006/relationships" id="271" r:id="R02eb582df3ea4e94"/>
    <p:sldId xmlns:r="http://schemas.openxmlformats.org/officeDocument/2006/relationships" id="272" r:id="R5478514399ad48ea"/>
    <p:sldId xmlns:r="http://schemas.openxmlformats.org/officeDocument/2006/relationships" id="273" r:id="Refdd8cffad0f425f"/>
    <p:sldId xmlns:r="http://schemas.openxmlformats.org/officeDocument/2006/relationships" id="274" r:id="Rcb9623b1aced4f38"/>
    <p:sldId xmlns:r="http://schemas.openxmlformats.org/officeDocument/2006/relationships" id="275" r:id="Rb22acf14c3aa41b2"/>
    <p:sldId xmlns:r="http://schemas.openxmlformats.org/officeDocument/2006/relationships" id="276" r:id="R2f697dedc4eb4a3c"/>
    <p:sldId xmlns:r="http://schemas.openxmlformats.org/officeDocument/2006/relationships" id="277" r:id="R12f286d361e442e7"/>
    <p:sldId xmlns:r="http://schemas.openxmlformats.org/officeDocument/2006/relationships" id="278" r:id="R5f57d15e2501447e"/>
    <p:sldId xmlns:r="http://schemas.openxmlformats.org/officeDocument/2006/relationships" id="279" r:id="R92f213f1cb4b4c54"/>
    <p:sldId xmlns:r="http://schemas.openxmlformats.org/officeDocument/2006/relationships" id="280" r:id="R91d8dc5dc1854077"/>
    <p:sldId xmlns:r="http://schemas.openxmlformats.org/officeDocument/2006/relationships" id="281" r:id="Red1bb6db94f040f4"/>
    <p:sldId xmlns:r="http://schemas.openxmlformats.org/officeDocument/2006/relationships" id="282" r:id="R8887ffaad4454850"/>
    <p:sldId xmlns:r="http://schemas.openxmlformats.org/officeDocument/2006/relationships" id="283" r:id="R5aa3e1a20b8043f8"/>
    <p:sldId xmlns:r="http://schemas.openxmlformats.org/officeDocument/2006/relationships" id="284" r:id="R33d43886607247fc"/>
    <p:sldId xmlns:r="http://schemas.openxmlformats.org/officeDocument/2006/relationships" id="285" r:id="R298de194b41444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658f832be34f5e" /><Relationship Type="http://schemas.openxmlformats.org/officeDocument/2006/relationships/slideMaster" Target="/ppt/slideMasters/slideMaster1.xml" Id="Ra385a32378134b93" /><Relationship Type="http://schemas.openxmlformats.org/officeDocument/2006/relationships/notesMaster" Target="/ppt/notesMasters/notesMaster1.xml" Id="R8441b4b2c0414234" /><Relationship Type="http://schemas.openxmlformats.org/officeDocument/2006/relationships/presProps" Target="/ppt/presProps.xml" Id="Rf2392de012d64c9b" /><Relationship Type="http://schemas.openxmlformats.org/officeDocument/2006/relationships/tableStyles" Target="/ppt/tableStyles.xml" Id="R14bb0400541245d0" /><Relationship Type="http://schemas.openxmlformats.org/officeDocument/2006/relationships/slide" Target="/ppt/slides/slide1.xml" Id="R2c80ed8e2fa84ef2" /><Relationship Type="http://schemas.openxmlformats.org/officeDocument/2006/relationships/slide" Target="/ppt/slides/slide2.xml" Id="R44022b96dfea41ed" /><Relationship Type="http://schemas.openxmlformats.org/officeDocument/2006/relationships/slide" Target="/ppt/slides/slide3.xml" Id="Ra792108f2e094f57" /><Relationship Type="http://schemas.openxmlformats.org/officeDocument/2006/relationships/slide" Target="/ppt/slides/slide4.xml" Id="Rc810331b73e14abf" /><Relationship Type="http://schemas.openxmlformats.org/officeDocument/2006/relationships/slide" Target="/ppt/slides/slide5.xml" Id="R83fbf348edcf4788" /><Relationship Type="http://schemas.openxmlformats.org/officeDocument/2006/relationships/slide" Target="/ppt/slides/slide6.xml" Id="Rddf8e29997454383" /><Relationship Type="http://schemas.openxmlformats.org/officeDocument/2006/relationships/slide" Target="/ppt/slides/slide7.xml" Id="Rb22c09c565b34d16" /><Relationship Type="http://schemas.openxmlformats.org/officeDocument/2006/relationships/slide" Target="/ppt/slides/slide8.xml" Id="Rc67c4d7193714c87" /><Relationship Type="http://schemas.openxmlformats.org/officeDocument/2006/relationships/slide" Target="/ppt/slides/slide9.xml" Id="R2904424dd3c5494d" /><Relationship Type="http://schemas.openxmlformats.org/officeDocument/2006/relationships/slide" Target="/ppt/slides/slide10.xml" Id="R1b77b90fef2c4b30" /><Relationship Type="http://schemas.openxmlformats.org/officeDocument/2006/relationships/slide" Target="/ppt/slides/slide11.xml" Id="R4a1e0164f40d4a19" /><Relationship Type="http://schemas.openxmlformats.org/officeDocument/2006/relationships/slide" Target="/ppt/slides/slide12.xml" Id="R0af0c4b7bb2f4790" /><Relationship Type="http://schemas.openxmlformats.org/officeDocument/2006/relationships/slide" Target="/ppt/slides/slide13.xml" Id="R9a01a9eda115491f" /><Relationship Type="http://schemas.openxmlformats.org/officeDocument/2006/relationships/slide" Target="/ppt/slides/slide14.xml" Id="R8623a08da4614cf4" /><Relationship Type="http://schemas.openxmlformats.org/officeDocument/2006/relationships/slide" Target="/ppt/slides/slide15.xml" Id="R2dd9b1c6ea4d4c85" /><Relationship Type="http://schemas.openxmlformats.org/officeDocument/2006/relationships/slide" Target="/ppt/slides/slide16.xml" Id="R02eb582df3ea4e94" /><Relationship Type="http://schemas.openxmlformats.org/officeDocument/2006/relationships/slide" Target="/ppt/slides/slide17.xml" Id="R5478514399ad48ea" /><Relationship Type="http://schemas.openxmlformats.org/officeDocument/2006/relationships/slide" Target="/ppt/slides/slide18.xml" Id="Refdd8cffad0f425f" /><Relationship Type="http://schemas.openxmlformats.org/officeDocument/2006/relationships/slide" Target="/ppt/slides/slide19.xml" Id="Rcb9623b1aced4f38" /><Relationship Type="http://schemas.openxmlformats.org/officeDocument/2006/relationships/slide" Target="/ppt/slides/slide20.xml" Id="Rb22acf14c3aa41b2" /><Relationship Type="http://schemas.openxmlformats.org/officeDocument/2006/relationships/slide" Target="/ppt/slides/slide21.xml" Id="R2f697dedc4eb4a3c" /><Relationship Type="http://schemas.openxmlformats.org/officeDocument/2006/relationships/slide" Target="/ppt/slides/slide22.xml" Id="R12f286d361e442e7" /><Relationship Type="http://schemas.openxmlformats.org/officeDocument/2006/relationships/slide" Target="/ppt/slides/slide23.xml" Id="R5f57d15e2501447e" /><Relationship Type="http://schemas.openxmlformats.org/officeDocument/2006/relationships/slide" Target="/ppt/slides/slide24.xml" Id="R92f213f1cb4b4c54" /><Relationship Type="http://schemas.openxmlformats.org/officeDocument/2006/relationships/slide" Target="/ppt/slides/slide25.xml" Id="R91d8dc5dc1854077" /><Relationship Type="http://schemas.openxmlformats.org/officeDocument/2006/relationships/slide" Target="/ppt/slides/slide26.xml" Id="Red1bb6db94f040f4" /><Relationship Type="http://schemas.openxmlformats.org/officeDocument/2006/relationships/slide" Target="/ppt/slides/slide27.xml" Id="R8887ffaad4454850" /><Relationship Type="http://schemas.openxmlformats.org/officeDocument/2006/relationships/slide" Target="/ppt/slides/slide28.xml" Id="R5aa3e1a20b8043f8" /><Relationship Type="http://schemas.openxmlformats.org/officeDocument/2006/relationships/slide" Target="/ppt/slides/slide29.xml" Id="R33d43886607247fc" /><Relationship Type="http://schemas.openxmlformats.org/officeDocument/2006/relationships/slide" Target="/ppt/slides/slide30.xml" Id="R298de194b41444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be925867ea47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6aa58e5a734f8b" /><Relationship Type="http://schemas.openxmlformats.org/officeDocument/2006/relationships/notesMaster" Target="/ppt/notesMasters/notesMaster1.xml" Id="Rd3d5511027a946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abf9991f254197" /><Relationship Type="http://schemas.openxmlformats.org/officeDocument/2006/relationships/notesMaster" Target="/ppt/notesMasters/notesMaster1.xml" Id="Re0dec00997a34e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3c4f04ad2f499e" /><Relationship Type="http://schemas.openxmlformats.org/officeDocument/2006/relationships/notesMaster" Target="/ppt/notesMasters/notesMaster1.xml" Id="R04006a947e7249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1933c7a1f44f97" /><Relationship Type="http://schemas.openxmlformats.org/officeDocument/2006/relationships/notesMaster" Target="/ppt/notesMasters/notesMaster1.xml" Id="R310cff507bc747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5900a0e6604373" /><Relationship Type="http://schemas.openxmlformats.org/officeDocument/2006/relationships/notesMaster" Target="/ppt/notesMasters/notesMaster1.xml" Id="R8d001c9d84a847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853d755dc14c6a" /><Relationship Type="http://schemas.openxmlformats.org/officeDocument/2006/relationships/notesMaster" Target="/ppt/notesMasters/notesMaster1.xml" Id="Rf0da6f224e0143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a1e295a4ad4382" /><Relationship Type="http://schemas.openxmlformats.org/officeDocument/2006/relationships/notesMaster" Target="/ppt/notesMasters/notesMaster1.xml" Id="R7f54f32208534a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85478fd666420d" /><Relationship Type="http://schemas.openxmlformats.org/officeDocument/2006/relationships/notesMaster" Target="/ppt/notesMasters/notesMaster1.xml" Id="R93442121be3c4d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e47e3ca1384843" /><Relationship Type="http://schemas.openxmlformats.org/officeDocument/2006/relationships/notesMaster" Target="/ppt/notesMasters/notesMaster1.xml" Id="Rc3cd955a6b474e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e8bf3095b24fe6" /><Relationship Type="http://schemas.openxmlformats.org/officeDocument/2006/relationships/notesMaster" Target="/ppt/notesMasters/notesMaster1.xml" Id="R9f631cc8eef144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515414e7af4fbf" /><Relationship Type="http://schemas.openxmlformats.org/officeDocument/2006/relationships/notesMaster" Target="/ppt/notesMasters/notesMaster1.xml" Id="Rb1aade31d4d04c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5cc50e05e84da3" /><Relationship Type="http://schemas.openxmlformats.org/officeDocument/2006/relationships/notesMaster" Target="/ppt/notesMasters/notesMaster1.xml" Id="Rf157452ee5f04b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a1a3a7e96147a8" /><Relationship Type="http://schemas.openxmlformats.org/officeDocument/2006/relationships/notesMaster" Target="/ppt/notesMasters/notesMaster1.xml" Id="R193c367941e742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54b0bf4e5b4bba" /><Relationship Type="http://schemas.openxmlformats.org/officeDocument/2006/relationships/notesMaster" Target="/ppt/notesMasters/notesMaster1.xml" Id="R0d0710e910db43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c1632fe22d4e9e" /><Relationship Type="http://schemas.openxmlformats.org/officeDocument/2006/relationships/notesMaster" Target="/ppt/notesMasters/notesMaster1.xml" Id="Reaeb6937f0a04a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87cd24de8a45ed" /><Relationship Type="http://schemas.openxmlformats.org/officeDocument/2006/relationships/notesMaster" Target="/ppt/notesMasters/notesMaster1.xml" Id="R92363f4a075643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c2f6b87bed457e" /><Relationship Type="http://schemas.openxmlformats.org/officeDocument/2006/relationships/notesMaster" Target="/ppt/notesMasters/notesMaster1.xml" Id="Red3d0e8d715c443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e88785d1794965" /><Relationship Type="http://schemas.openxmlformats.org/officeDocument/2006/relationships/notesMaster" Target="/ppt/notesMasters/notesMaster1.xml" Id="R1e963905a4a149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f4b4d418ce4853" /><Relationship Type="http://schemas.openxmlformats.org/officeDocument/2006/relationships/notesMaster" Target="/ppt/notesMasters/notesMaster1.xml" Id="R340d51ca40ac495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89d54abc2bb4ad5" /><Relationship Type="http://schemas.openxmlformats.org/officeDocument/2006/relationships/notesMaster" Target="/ppt/notesMasters/notesMaster1.xml" Id="R47ef6ed07bbb4de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d8b70d6e2945eb" /><Relationship Type="http://schemas.openxmlformats.org/officeDocument/2006/relationships/notesMaster" Target="/ppt/notesMasters/notesMaster1.xml" Id="Ra9bf48f3394a43e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33299cfe33c4412" /><Relationship Type="http://schemas.openxmlformats.org/officeDocument/2006/relationships/notesMaster" Target="/ppt/notesMasters/notesMaster1.xml" Id="R4e11b58c960748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e40e7b9272418a" /><Relationship Type="http://schemas.openxmlformats.org/officeDocument/2006/relationships/notesMaster" Target="/ppt/notesMasters/notesMaster1.xml" Id="R39e704d165be40d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45db6d1b2894420" /><Relationship Type="http://schemas.openxmlformats.org/officeDocument/2006/relationships/notesMaster" Target="/ppt/notesMasters/notesMaster1.xml" Id="R5e169b4d856a4ac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75e625274354584" /><Relationship Type="http://schemas.openxmlformats.org/officeDocument/2006/relationships/notesMaster" Target="/ppt/notesMasters/notesMaster1.xml" Id="Rb9696c892429406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d0a53ff5af74e2e" /><Relationship Type="http://schemas.openxmlformats.org/officeDocument/2006/relationships/notesMaster" Target="/ppt/notesMasters/notesMaster1.xml" Id="R4d435ee392c3489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ed59fb4babf4cd5" /><Relationship Type="http://schemas.openxmlformats.org/officeDocument/2006/relationships/notesMaster" Target="/ppt/notesMasters/notesMaster1.xml" Id="R06b338e39cc6450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23b77d86d1d4fc4" /><Relationship Type="http://schemas.openxmlformats.org/officeDocument/2006/relationships/notesMaster" Target="/ppt/notesMasters/notesMaster1.xml" Id="Rd6990df429994e1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289cb0f73994c25" /><Relationship Type="http://schemas.openxmlformats.org/officeDocument/2006/relationships/notesMaster" Target="/ppt/notesMasters/notesMaster1.xml" Id="Rc3fe714b4eb24b0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9fcf78f2c374158" /><Relationship Type="http://schemas.openxmlformats.org/officeDocument/2006/relationships/notesMaster" Target="/ppt/notesMasters/notesMaster1.xml" Id="R023a2f2e0bc245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3回を始めます。今回は、超微細構造です。前回観察した細胞の壁をさらに拡大し、壁の内部の構造と、方向による変形の違いを結び付けます。配布資料と、図を描くためのノートを用意してください。映像は、問いを考える時間と三回の短い休憩を含む九十分です。図を見直したいときには、一時停止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は、細胞壁と内腔の割合から、木材の密度を考えました。同じ大きさの範囲に壁物質が多ければ、全乾状態の密度が高くなるというモデルでした。今回は、その壁の中で、細長い構造がどちらへ並ぶかを考えます。壁がどれだけあるかという量の話に、壁の中の向きという情報を加えます。</a:t>
            </a:r>
          </a:p>
          <a:p xmlns:a="http://schemas.openxmlformats.org/drawingml/2006/main">
            <a:r>
              <a:t>到達点は、細胞壁の層を図でたどれること、ミクロフィブリルとその傾角を図で説明できること、そして、細胞壁内部の配向と、板全体の繊維の向きを区別できることです。専門語だけを増やすことが目標ではありません。それぞれの語が、図のどの部分を指すかを確認してください。</a:t>
            </a:r>
          </a:p>
          <a:p xmlns:a="http://schemas.openxmlformats.org/drawingml/2006/main">
            <a:r>
              <a:t>前半は、尺度と壁の層構造を学びます。途中で単位換算と倍率の演習を行います。後半は、傾きの基準を確かめ、ヤング率の復習と、目切れとの比較へ進みます。最後には、中学校の授業でどの模型を使い、何を説明するかを考えます。今日の問いは自己確認用です。提出課題は既存の課題案内に従っ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口で観察した細胞を思い出します。細胞の外形の内側に、壁と内腔がありました。内腔は、ここでは「ないこう」と読みます。主に繊維方向へ長い細胞を横切って見ると、壁で囲まれた切り口が並びます。その横断面だけを見て、細胞全体が小さな立方体だと考えないようにしましょう。</a:t>
            </a:r>
          </a:p>
          <a:p xmlns:a="http://schemas.openxmlformats.org/drawingml/2006/main">
            <a:r>
              <a:t>前回のモデルでは、外形を同じ正方形とし、壁を厚くすると、内腔が狭くなりました。壁の体積割合が高いほど、同じ体積に含まれる壁物質の量が増えます。しかし、密度という値だけに、内部の向きやつながりの情報が全て入っているわけではありません。</a:t>
            </a:r>
          </a:p>
          <a:p xmlns:a="http://schemas.openxmlformats.org/drawingml/2006/main">
            <a:r>
              <a:t>今日の図では、一つの細胞だけでなく隣の細胞も描きます。隣り合う細胞の壁は、接し合って木材全体の構造をつくります。壁の内部を拡大しても、どちらが内腔側で、どちらが隣の細胞側かを見失わないことが大切です。</a:t>
            </a:r>
          </a:p>
          <a:p xmlns:a="http://schemas.openxmlformats.org/drawingml/2006/main">
            <a:r>
              <a:t>ノートに二つの内腔を描き、その間にある壁を指してください。内腔そのものと、二つの内腔を隔てる壁を、言葉で区別してみましょう。</a:t>
            </a:r>
          </a:p>
          <a:p xmlns:a="http://schemas.openxmlformats.org/drawingml/2006/main">
            <a:r>
              <a:t/>
            </a:r>
          </a:p>
          <a:p xmlns:a="http://schemas.openxmlformats.org/drawingml/2006/main">
            <a:r>
              <a:t>内腔は細胞内部の空間です。その間の壁には、それぞれの細胞がつくった壁と、細胞同士を結ぶ細胞間層があります。これから、その重なりを詳しく見ます。</a:t>
            </a:r>
          </a:p>
          <a:p xmlns:a="http://schemas.openxmlformats.org/drawingml/2006/main">
            <a:r>
              <a:t/>
            </a:r>
          </a:p>
          <a:p xmlns:a="http://schemas.openxmlformats.org/drawingml/2006/main">
            <a:r>
              <a:t>成熟した木部の細胞では、生きた内容物が失われ、壁と内腔の構造が残って機能するものが多くあります。一方、辺材の柔細胞などには、生きた細胞も存在します。木材の細胞を壁と内腔として観察することと、全ての細胞の生死を一律に決めることは別です。図の白い領域は、ここでは内腔の位置を表しています。立木や湿った材料で、その場所が必ず空気だけを含むという意味ではありません。</a:t>
            </a:r>
          </a:p>
          <a:p xmlns:a="http://schemas.openxmlformats.org/drawingml/2006/main">
            <a:r>
              <a:t>前回の密度モデルを、仮の数値で振り返ります。壁の体積割合を零点二、壁物質の密度を一・五グラム毎立方センチメートルと置くと、全乾密度は零点三です。同じ外形で壁の割合を零点四へ変えると、密度は零点六となります。この計算は、壁物質の量の違いを表します。もし壁の割合と壁物質の密度を同じにそろえても、内部の細長い集合の向きが違う場合、密度の計算にはその違いが表れません。質量を体積で割った値と、力を加えたときの変形の仕方が、異なる種類の情報であることが分かります。密度が重要であることと、密度一つで全て説明できることは同じではありません。壁と内腔の図は、次の内部構造を考える土台として、そのまま使い続け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早い段階で、今日何度も使う立体図を見ます。アメリカの森林研究機関が公開しているウッドハンドブックの、細胞壁の切り開き図です。上の部分では、壁の層を少しずつずらして示しています。実物の壁が、この図のように階段状に剥がれているという意味ではありません。内部の重なりを見せる模式図です。</a:t>
            </a:r>
          </a:p>
          <a:p xmlns:a="http://schemas.openxmlformats.org/drawingml/2006/main">
            <a:r>
              <a:t>図の上側から、エススリー、エスツー、エスワン、ピー、エムエルという記号が見えます。ピーは一次壁、エムエルは細胞間層です。エスワンからエススリーが、二次壁の三つの層を表します。内腔の側から外へたどると、この順です。外から内へたどる場合は、逆になります。</a:t>
            </a:r>
          </a:p>
          <a:p xmlns:a="http://schemas.openxmlformats.org/drawingml/2006/main">
            <a:r>
              <a:t>各層に描かれた細い線の向きにも注目してください。壁の中の細長い集合が、層ごとに異なる向きへ配向する様子を示しています。この細長い集合を、この後にミクロフィブリルとして説明します。初めは層の重なりだけを見て、後で線の向きへ戻りましょう。</a:t>
            </a:r>
          </a:p>
          <a:p xmlns:a="http://schemas.openxmlformats.org/drawingml/2006/main">
            <a:r>
              <a:t>下側には壁孔の構造もあります。壁孔は前回扱った細胞間の連絡に関わる場所です。今日はその細部を追加で暗記せず、壁に層があり、その壁が隣の細胞と接しているという全体像を確認します。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専門資料の図を読むときには、図の中の記号を全部一度に覚える必要はありません。今日使う範囲を、層の重なりと細い線の向きに限定して読みます。次の平面図と照合すると、立体図のどこを横切って見ているかが分かります。図の出典はスライドとノートに残しています。同じ図を後の説明でも使うので、前に見た位置関係を、少しずつ詳しい意味へつなげてください。</a:t>
            </a:r>
          </a:p>
          <a:p xmlns:a="http://schemas.openxmlformats.org/drawingml/2006/main">
            <a:r>
              <a:t>立体図の読み方を、もう一段具体的に確かめます。壁を外から順に重ねたものと考えると、細胞間層、その内側の一次壁、その内側の二次壁の順になります。二次壁をさらに三つに分けると、外側からエスワン、エスツー、エススリーです。図では、内側の層の方を高く取り出して見せているので、上へ行くほど外側とは限りません。高さという紙面上の配置と、細胞の内外の関係を区別して読みます。説明するときには、記号を上から順に読み上げるだけではなく、どちらに内腔があるかを先に示すと、順序が伝わりやすくなります。次に色付きの平面図で見たとき、同じ順序をたどれるかを確認してください。図を変えても同じ構造を指せることが、理解の確認になり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年輪を木口面で見る尺度と、細胞壁の中を見る尺度を分けます。年輪幅の例ではミリメートルを使いました。細胞の径や壁の厚さでは、マイクロメートルを使います。さらに、セルロース分子の集合を考えるときには、ナノメートルの尺度になります。同じ木材を扱っていても、観察対象によって適した単位が変わります。</a:t>
            </a:r>
          </a:p>
          <a:p xmlns:a="http://schemas.openxmlformats.org/drawingml/2006/main">
            <a:r>
              <a:t>一ミリメートルは千マイクロメートルです。一マイクロメートルは千ナノメートルです。マイクロは百万分の一、ナノは十億分の一を表します。小さな単位で数えると、同じ長さを表す数字は大きくなります。二マイクロメートルは二千ナノメートルです。</a:t>
            </a:r>
          </a:p>
          <a:p xmlns:a="http://schemas.openxmlformats.org/drawingml/2006/main">
            <a:r>
              <a:t>壁の厚さをマイクロメートルで示した図と、内部の集合をナノメートルで示した図を隣に置いても、絵の大きさが同じなら実物も同じ大きさ、とは考えられません。倍率やスケールバーを一緒に読みます。模式図については、寸法比を正確に再現しているかも確認します。</a:t>
            </a:r>
          </a:p>
          <a:p xmlns:a="http://schemas.openxmlformats.org/drawingml/2006/main">
            <a:r>
              <a:t>ノートの図には、観察対象の名称と単位を一組で書いてください。木材の繊維方向と、壁内部の配向を混同しないためにも、どの尺度の話かを残す習慣が役立ちます。</a:t>
            </a:r>
          </a:p>
          <a:p xmlns:a="http://schemas.openxmlformats.org/drawingml/2006/main">
            <a:r>
              <a:t/>
            </a:r>
          </a:p>
          <a:p xmlns:a="http://schemas.openxmlformats.org/drawingml/2006/main">
            <a:r>
              <a:t/>
            </a:r>
          </a:p>
          <a:p xmlns:a="http://schemas.openxmlformats.org/drawingml/2006/main">
            <a:r>
              <a:t/>
            </a:r>
          </a:p>
          <a:p xmlns:a="http://schemas.openxmlformats.org/drawingml/2006/main">
            <a:r>
              <a:t>情報機器で使う記号にも、同じ接頭語があります。ただし、今日のマイクロメートルとナノメートルは長さの単位です。接頭語の大小の関係を知ることと、何の量を測っているかを知ることを、両方行います。例えば、記憶容量のギガバイトと細胞寸法のナノメートルを、数字だけで大小比較することはできません。数量と単位を一緒に読むという点は、教科をまたいで共通する基礎です。</a:t>
            </a:r>
          </a:p>
          <a:p xmlns:a="http://schemas.openxmlformats.org/drawingml/2006/main">
            <a:r>
              <a:t>単位の換算を、二つの違う書き方で確かめます。零点零零二ミリメートルをマイクロメートルに直すと、千を掛けて二になります。その二マイクロメートルをナノメートルに直すと、さらに千を掛けて二千です。最初の零点零零二と最後の二千は、数字として大きく異なりますが、表している実物の長さは同じです。どちらの単位で表すかにより、使う数字が変わりました。逆に二千ナノメートルからミリメートルへ戻すと、千で二回割ります。専門資料を比較するときには、数字の大小だけでなく単位を先に確認します。特に、壁の厚さを表す数値と、ミクロフィブリルの太さを表す数値を、両方とも二という数字だったから同じ長さだと考えないようにしましょう。</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細胞が隣り合う部分を、横断面の模式図で見ます。左の白い領域と右の白い領域が、それぞれ別の細胞の内腔です。中央に、細胞間層があります。この資料では、細胞間層をアイ、またはエムエルと表します。英語のミドルラメラに対応する記号が、エムエルです。</a:t>
            </a:r>
          </a:p>
          <a:p xmlns:a="http://schemas.openxmlformats.org/drawingml/2006/main">
            <a:r>
              <a:t>中央の細胞間層の両側に、それぞれの細胞の一次壁、ピーがあります。そのさらに内腔側に、二次壁のエスワン、エスツー、エススリーが続きます。左の内腔から中央へたどる順と、中央から右の内腔へたどる順は、左右対称になります。一つの細胞の壁だけを、隣の細胞の壁までまとめて数えないようにしてください。</a:t>
            </a:r>
          </a:p>
          <a:p xmlns:a="http://schemas.openxmlformats.org/drawingml/2006/main">
            <a:r>
              <a:t>緑のエスツーを、他の二次壁の層より十分厚く描きました。典型的な軸方向の細胞では、エスツーが二次壁の厚さの大きな部分を占めます。これは、今日の力学的な性質の説明で、エスツーの配向へ注目する理由の一つです。色は学習用に付けたもので、実際の顕微鏡像の色ではありません。</a:t>
            </a:r>
          </a:p>
          <a:p xmlns:a="http://schemas.openxmlformats.org/drawingml/2006/main">
            <a:r>
              <a:t>一次壁、細胞間層、隣の一次壁を合わせて、複合細胞間層と呼びます。細胞間層だけと、複合細胞間層は指す範囲が異なります。まず中央の三つの領域を指して、その範囲を確かめてください。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一つの内腔から外へ出るつもりで、順を声にしてみます。エススリー、エスツー、エスワン、一次壁、細胞間層です。そこから隣の内腔へ進むなら、隣の一次壁、エスワン、エスツー、エススリーを通ります。層は内腔を囲む立体として連続しており、この図はその一部分を切って並べたものです。各領域の幅は模式的です。特に、一次壁や細胞間層の幅を、この図から実物の数値として測ることはできません。</a:t>
            </a:r>
          </a:p>
          <a:p xmlns:a="http://schemas.openxmlformats.org/drawingml/2006/main">
            <a:r>
              <a:t>細胞の壁の数え方も、図に沿って確認できます。左の細胞の二次壁は、左の内腔を囲む構造です。右の細胞の二次壁は、右の内腔を囲みます。その間で、中央の細胞間層を、左側にも右側にも二重に描いているわけではありません。図の中央に一つの領域として示しました。一次壁がその両側にあることが、複合細胞間層という範囲の理解に関わります。顕微鏡で各部分の境をいつも容易に見分けられるとは限りません。そのため、観察資料では複合細胞間層として扱う場合があります。名称を聞いたときに、どの領域を含めているかを確認してください。ノートで中央を一つの帯として塗り、両側の一次壁を別の色で示すと、細胞間層だけと複合細胞間層の違いを、自分の図で表せます。</a:t>
            </a:r>
          </a:p>
          <a:p xmlns:a="http://schemas.openxmlformats.org/drawingml/2006/main">
            <a:r>
              <a:t>複合細胞間層という語が必要な理由を、観察する側から考えます。模式図では、一次壁、細胞間層、隣の一次壁を、三本の帯として描き分けました。しかし、実際の材料で境を見分けることは、図の色分けほど単純ではありません。隣の一次壁までを含めて一つの領域として扱う名称があれば、何を含めて観察しているかを示せます。一次壁をエスワンと同じ層と考えてしまうと、二次壁の数え方もずれます。ピーは一次壁、エスワンは二次壁の外側の層です。この違いを、中央から内腔へ向かう順で確かめてください。図の記号は分類の階層を表しているので、単に色の名前として覚えるより、どの区分に属するかを一緒に書くと、次回の成分の説明にも使え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層の中に描かれた細い線が何かを説明します。細胞壁には、セルロースという成分があります。セルロースは、分子の鎖が長くつながった構造をもちます。その分子の鎖が集まって、細長い集合をつくります。これが、ここでいうミクロフィブリルです。</a:t>
            </a:r>
          </a:p>
          <a:p xmlns:a="http://schemas.openxmlformats.org/drawingml/2006/main">
            <a:r>
              <a:t>細胞一本のことをミクロフィブリルと呼ぶのではありません。壁を含む細胞全体と、壁をつくる細長い集合では、大きさの尺度が違います。また、板に見える木目の線を、そのまま一本のミクロフィブリルとして見ているわけでもありません。細胞、細胞壁、壁内部の集合という順に、観察対象を小さくしています。</a:t>
            </a:r>
          </a:p>
          <a:p xmlns:a="http://schemas.openxmlformats.org/drawingml/2006/main">
            <a:r>
              <a:t>図のセルロースの鎖と、その集合は、関係を示すための模式図です。分子一本の形や本数、集合の正確な断面寸法を、この線の数から決めないでください。ここでは、細長い構造が壁の中にあり、向きをもって並ぶという点を理解します。</a:t>
            </a:r>
          </a:p>
          <a:p xmlns:a="http://schemas.openxmlformats.org/drawingml/2006/main">
            <a:r>
              <a:t>壁にはセルロースだけがあるわけではありません。ヘミセルロースとリグニンなども関わっています。これらの成分の詳しい役割は、次回に整理します。今日は、ミクロフィブリルが、壁のどこかに独立した太い紐として入っているという想像ではなく、他の成分とも組み合わさった壁内部の構造だと捉え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模型で考える場合、一本の細長い細胞をストローで表せますが、ストロー一本を、そのままミクロフィブリルと説明すると尺度が飛びます。ストローの壁の一部分を拡大する図を添え、その中にさらに細長い集合を描けば、何を拡大したかが伝わります。模型の材料が同じである必要はありません。模型のどの部分が実物の何を表すかを、言葉と指示で対応させることが、説明の正確さを支えます。</a:t>
            </a:r>
          </a:p>
          <a:p xmlns:a="http://schemas.openxmlformats.org/drawingml/2006/main">
            <a:r>
              <a:t>名前の中の「ミクロ」という音から、大きさを決めてしまわないようにします。ミクロフィブリルという名称と、マイクロメートルという単位は、同じ意味の語ではありません。ミクロフィブリルを説明した図の寸法を調べる際には、必ずその図のスケールや説明を確認します。また、分子鎖の集合を、一本の均一な棒として単純化した場合、実際の壁内の構造の全てを表しているわけではありません。今日の段階では、細長い集合が存在し、その主な向きが変形に関わるという点を使います。化学の回ではセルロースの分子鎖の結び付きと、他の成分との関係を学びます。いま覚えておくとよいのは、ミクロフィブリルが何から構成され、細胞のどこにあるかという二つの対応で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ほどの立体図へ戻ります。一次壁の表面には、いろいろな向きの線が描かれています。一次壁では、ミクロフィブリルの向きが一定の一方向だけにそろう、という説明にはしません。これに対して、二次壁の層では、細胞の長手方向を軸として、らせん状に取り巻く配向を模式的に示しています。</a:t>
            </a:r>
          </a:p>
          <a:p xmlns:a="http://schemas.openxmlformats.org/drawingml/2006/main">
            <a:r>
              <a:t>エスワン、エスツー、エススリーでは、その取り巻き方の傾きが異なります。典型的には、エスワンとエススリーで細胞軸に対する傾きが大きく、厚いエスツーでは、より細胞軸に近い方向へ配向します。図のエスツーの線をたどり、細胞の長さ方向と比べてみてください。</a:t>
            </a:r>
          </a:p>
          <a:p xmlns:a="http://schemas.openxmlformats.org/drawingml/2006/main">
            <a:r>
              <a:t>重要なのは、細胞壁の面の上で斜めに並ぶという立体の関係です。紙に描いた斜めの一本線だけでは、どの面の上にあるかが伝わりにくいので、この切り開き図と合わせます。壁の層を取り出して平面へ広げると、らせん状に巻く向きが斜めの平行線として表せます。</a:t>
            </a:r>
          </a:p>
          <a:p xmlns:a="http://schemas.openxmlformats.org/drawingml/2006/main">
            <a:r>
              <a:t>厚さの違いと向きの違いは、別々の情報です。エスツーは厚いという量の特徴があり、その内部のミクロフィブリルには配向という特徴があります。この二つを一緒にして、後半で長さ方向の変形との関係を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ウッドハンドブックでは、細胞軸に対する角度の典型例として、エスワンは五十から七十度、エスツーは五から三十度、エススリーは七十度より大きい範囲を挙げています。ただし、樹種や形成条件、層内の位置による違いがあります。全ての細胞に固定した同じ角度を当てはめる表ではありません。今日の到達点は、その数値範囲の暗記ではなく、基準となる細胞軸と、層ごとに配向が異なるという関係を図で示すことです。</a:t>
            </a:r>
          </a:p>
          <a:p xmlns:a="http://schemas.openxmlformats.org/drawingml/2006/main">
            <a:r>
              <a:t>各層の特徴を、厚さと向きという二つの欄で整理してみましょう。エスワンは薄く、軸に対する傾角は比較的大きい。エスツーは厚く、典型例では軸に比較的近い配向をもちます。エススリーは薄く、傾角は比較的大きい。一次壁については、この三層と同じように一定の向きの線だけで表さず、さまざまな方向を含むことを示します。この整理をすると、層の名前と角度の名前が別々の情報だと分かります。エスツーという語を聞いただけで、実際の角度を一つの数値に決めることはできません。同じ層でも試料による違いがあり、その違いが材質を考える対象になるからです。図の線の本数や間隔は、主な向きを見せるために単純化しています。線が密に描かれた部分ほど必ず密度が高い、という読み方にも使いません。</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それでは、再開します。らせんと、壁を広げた図へ進みます。</a:t>
            </a:r>
          </a:p>
          <a:p xmlns:a="http://schemas.openxmlformats.org/drawingml/2006/main">
            <a:r>
              <a:t/>
            </a:r>
          </a:p>
          <a:p xmlns:a="http://schemas.openxmlformats.org/drawingml/2006/main">
            <a:r>
              <a:t>出典</a:t>
            </a:r>
          </a:p>
          <a:p xmlns:a="http://schemas.openxmlformats.org/drawingml/2006/main">
            <a:r>
              <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立体図を、今度は巻き付き方に注目して読みます。円筒状の表面を、斜めに回りながら進む線を想像してください。線が一周する間に、長さ方向へ大きく進む場合は、細胞軸に比較的近い向きです。一周しても長さ方向へあまり進まない場合は、軸から大きく傾いた向きになります。</a:t>
            </a:r>
          </a:p>
          <a:p xmlns:a="http://schemas.openxmlformats.org/drawingml/2006/main">
            <a:r>
              <a:t>この壁の表面を、縦に切って広げるとします。巻き付いていた向きは、平面上では斜めの線で表せます。右の図では、縦の線を細胞軸として示し、それに対する細い集合の向きを描きました。角度を読むときは、この細胞軸と線のなす角を使います。</a:t>
            </a:r>
          </a:p>
          <a:p xmlns:a="http://schemas.openxmlformats.org/drawingml/2006/main">
            <a:r>
              <a:t>立体を斜めから見た図では、見かけの傾きが変わります。したがって、左の透視図を分度器で直接測って、実物の傾角を求めるという使い方はしません。定義を確認するときは、壁を広げた模式図で、基準線と線の向きの対応を見ます。</a:t>
            </a:r>
          </a:p>
          <a:p xmlns:a="http://schemas.openxmlformats.org/drawingml/2006/main">
            <a:r>
              <a:t>ノートに縦の基準線を一本、その横に斜めの線を一本描いてください。斜めの線と、縦の基準線の間の小さい角を丸で囲みます。机や紙面の横方向からの角を囲んでいないかを確かめましょう。</a:t>
            </a:r>
          </a:p>
          <a:p xmlns:a="http://schemas.openxmlformats.org/drawingml/2006/main">
            <a:r>
              <a:t/>
            </a:r>
          </a:p>
          <a:p xmlns:a="http://schemas.openxmlformats.org/drawingml/2006/main">
            <a:r>
              <a:t>角度の基準は、細胞の長手方向、つまり細胞軸です。紙面の横方向を常に基準にすると、図を回転しただけで定義が変わってしまいます。</a:t>
            </a:r>
          </a:p>
          <a:p xmlns:a="http://schemas.openxmlformats.org/drawingml/2006/main">
            <a:r>
              <a:t/>
            </a:r>
          </a:p>
          <a:p xmlns:a="http://schemas.openxmlformats.org/drawingml/2006/main">
            <a:r>
              <a:t>例えば、軸と十度をなす向きは、軸にほぼ沿っています。軸と四十度をなす向きは、それより斜めに進みます。同じ細胞を横向きに描いても、それぞれの角度は十度と四十度のままです。図の回転と、実物の内部の向きが変わることを分けてください。教員として図を使う際にも、軸の矢印を先に示すと、学習者が紙の縦横へ引きずられにくくなります。</a:t>
            </a:r>
          </a:p>
          <a:p xmlns:a="http://schemas.openxmlformats.org/drawingml/2006/main">
            <a:r>
              <a:t>細い紙を円筒状にし、斜めの線を一本描いた状態を想像すると、展開図の意味が分かります。紙を広げれば斜めの線、丸めれば表面を回り込む線になります。このとき、円筒の長手方向の基準線も同じ紙に描いてあれば、広げた後も角度を対応させられます。ただし、この紙の模型を、そのまま実際の分子構造の寸法や強度を表すものとしては扱いません。模型で確かめているのは、曲面上の配向と、平面に広げたときの見え方の関係です。図を説明する人は、立体のどの方向を展開図の縦へ対応させたかを先に示してください。矢印を省くと、学習者は紙面の上下左右だけを手掛かりにしてしまいます。軸の矢印は、角度の意味を保つために必要な情報で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までの図を、尺度ごとに整理します。表の左には観察する尺度、中央には見ている構造、右には、その構造から何を説明するかを示しました。以前の「説明する内容」という見出しを、具体的な問いに置き換えて読んでみましょう。</a:t>
            </a:r>
          </a:p>
          <a:p xmlns:a="http://schemas.openxmlformats.org/drawingml/2006/main">
            <a:r>
              <a:t>木材全体の尺度では、年輪、節、繊維の流れを見ます。部材に対して繊維がどちらを向くか、節の周りで向きがどう変わるかを説明します。細胞の尺度では、壁と内腔、細胞の配列を見ます。空隙の割合や、細胞が長く続く向きが、材質の手掛かりになります。</a:t>
            </a:r>
          </a:p>
          <a:p xmlns:a="http://schemas.openxmlformats.org/drawingml/2006/main">
            <a:r>
              <a:t>細胞壁の内部では、図のエスツーなどの層と、ミクロフィブリルの配向を見ます。長さ方向の変形しにくさを説明する際に、この内部の向きが関わります。水との関係も壁内部の構造と関わりますが、詳しい説明は水分を扱う回へつなぎます。</a:t>
            </a:r>
          </a:p>
          <a:p xmlns:a="http://schemas.openxmlformats.org/drawingml/2006/main">
            <a:r>
              <a:t>同じ「方向」という語を使っても、板の中の細胞の並びと、壁内部の集合の配向では尺度が違います。説明を書くときに、何がどちらへ向いているのかを一つずつ指定してください。図のエスツーを指し、その中の向きを説明する場合と、板全体の長手方向を指す場合を、分けて言ってみ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データを比較するときにも、この尺度の区別が必要です。壁の内部を測った角度と、板の表面で読んだ繊維の傾きを、同じ列の数値として混ぜません。密度のデータなら、どの状態で質量と体積を測ったかを確認します。ヤング率のデータなら、荷重の方向や試験方法も確認します。数字の単位が同じであっても、測っている対象と方法が違えば、そのまま同じ意味の値として比較できるとは限りません。</a:t>
            </a:r>
          </a:p>
          <a:p xmlns:a="http://schemas.openxmlformats.org/drawingml/2006/main">
            <a:r>
              <a:t>同じ問いを、尺度を変えて尋ねる練習もできます。板を示して「どちらへ長いか」と問えば、部材全体の長手方向を答えられます。細胞の模型を示して同じ問いをすれば、細胞の長軸を答えます。壁の拡大図を示せば、ミクロフィブリルの主な向きを答えることになります。問いの言葉が同じでも、指している対象が違えば、答える向きも違います。教師が図を複数並べる場合には、どの図の何について問うかを明確にします。今日の尺度の表は、そのための整理です。板の変形を説明する場面で、全ての尺度の語を一文に詰め込むより、一つの図で一つの向きを示し、次の拡大図へ移る方が、構造の関係を追いやすくなり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位と倍率を確かめる演習です。実物で厚さ二マイクロメートルの壁を、紙の上では二十ミリメートルに描いたとします。これは計算用の寸法設定です。今表示している壁の模式図を実測した値ではありません。</a:t>
            </a:r>
          </a:p>
          <a:p xmlns:a="http://schemas.openxmlformats.org/drawingml/2006/main">
            <a:r>
              <a:t>一つ目は、図の倍率です。図の長さを実物の長さで割ります。その前に、ミリメートルとマイクロメートルを同じ単位にそろえてください。二十を二で割るだけでは、違う単位の数値をそのまま計算したことになります。</a:t>
            </a:r>
          </a:p>
          <a:p xmlns:a="http://schemas.openxmlformats.org/drawingml/2006/main">
            <a:r>
              <a:t>二つ目は、実物で五マイクロメートル離れた二点です。同じ倍率の図では何ミリメートル離れるかを求めます。図を大きく描く倍率なら、実物の長さに何をすればよいでしょうか。</a:t>
            </a:r>
          </a:p>
          <a:p xmlns:a="http://schemas.openxmlformats.org/drawingml/2006/main">
            <a:r>
              <a:t>三つ目は、図で八ミリメートルに描かれた層の実物の厚さです。今度は、図の長さから実物へ戻ります。答えには、途中の換算と最後の単位を残してください。計算用の図は、紙の上の長さとして設定しています。パソコンの画面を定規で測って解く問題ではありません。</a:t>
            </a:r>
          </a:p>
          <a:p xmlns:a="http://schemas.openxmlformats.org/drawingml/2006/main">
            <a:r>
              <a:t>まず単位をそろえる行まで書き、それから三つの問いへ進みましょう。必要なら一時停止して、自分の計算を終えてから再開してください。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つ目を確認します。二十ミリメートルは、二万マイクロメートルです。図の長さ二万を、実物の長さ二で割ると、一万になります。したがって倍率は一万倍です。単位をそろえた後に割るので、倍率そのものには単位が付きません。</a:t>
            </a:r>
          </a:p>
          <a:p xmlns:a="http://schemas.openxmlformats.org/drawingml/2006/main">
            <a:r>
              <a:t>二つ目では、実物の五マイクロメートルに一万を掛けます。五万マイクロメートルです。これを千で割ると、五十ミリメートルになります。最初の設定の、実物二に対して図二十と比べても、実物が二点五倍になれば図も二点五倍で五十となり、確かめられます。</a:t>
            </a:r>
          </a:p>
          <a:p xmlns:a="http://schemas.openxmlformats.org/drawingml/2006/main">
            <a:r>
              <a:t>三つ目では、図の八ミリメートルを一万で割ります。零点零零零八ミリメートルです。これをマイクロメートルへ直すため、千を掛けます。答えは零点八マイクロメートルです。最初に八ミリメートルを八千マイクロメートルへ直してから、一万で割っても同じ結果です。</a:t>
            </a:r>
          </a:p>
          <a:p xmlns:a="http://schemas.openxmlformats.org/drawingml/2006/main">
            <a:r>
              <a:t>写真を配布資料へ貼り付けて大きさを変えると、印刷した写真の倍率も変わります。一方、写真の中に対象と一緒にスケールバーがあれば、同じ割合で拡大されます。そのバーとの長さの比から寸法を求められます。倍率の数字とスケールバーの役割を区別して読ん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解答を点検するときは、二つの見方を使えます。一つは、実物から図へ拡大するのか、図から実物へ戻すのかという向きです。もう一つは、最初の設定に対する比です。図の八ミリメートルは二十ミリメートルより小さいので、実物の厚さも二マイクロメートルより小さくなるはずです。八を二十で割った零点四を、二マイクロメートルへ掛ければ零点八です。計算結果が、予想される大小関係に合うかも確かめましょう。</a:t>
            </a:r>
          </a:p>
          <a:p xmlns:a="http://schemas.openxmlformats.org/drawingml/2006/main">
            <a:r>
              <a:t>スケールバーを読む計算例を追加します。写真に、実物で十マイクロメートルを示すバーがあるとします。印刷した紙の上で、そのバーは二十ミリメートルでした。同じ紙の上で、測りたい部分が六ミリメートルなら、バーに対する比は六割る二十、つまり零点三です。実物の寸法は、十マイクロメートルに零点三を掛けて、三マイクロメートルになります。紙の上で測った二つの長さの比を使うため、両方を同じ単位で測れば、比には単位が残りません。写真全体とバーを一緒に拡大縮小すれば、この比は保たれます。ただし、縦横で違う比率へ引き伸ばすと、方向によって尺度が変わってしまいます。教材へ画像を貼り付ける際にも、縦横比を保つことが必要です。</a:t>
            </a:r>
          </a:p>
          <a:p xmlns:a="http://schemas.openxmlformats.org/drawingml/2006/main">
            <a:r>
              <a:t>写真を二倍の大きさへ印刷し直した場合も考えます。先ほどのバーは紙面で四十ミリメートル、測りたい部分は十二ミリメートルになります。比は十二割る四十で、やはり零点三です。バーが示す実物の十マイクロメートルへ掛ければ、同じ三マイクロメートルになります。一方、写真の下に「二千倍」と文字だけを書き、その文字を更新せずに写真を二倍へ拡大すると、印刷物の長さと倍率の数字が対応しなくなります。画像と一体のスケールバーがあることは、このような誤解を減らすために役立ちます。授業資料では、スケールバーを切り落としていないか、撮影画像を横だけへ引き伸ばしていないかを確認してください。実際の寸法を問う問題では、どの長さを測ればよいかと、その測定に必要な尺度が提示されていることが条件になり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角度の名前と略語を対応させます。エムエフエーは、英語のマイクロフィブリル、アングルの頭文字です。日本語では、ミクロフィブリル傾角と呼びます。この後、資料にエムエフエーと書いてあれば、この角度のことです。</a:t>
            </a:r>
          </a:p>
          <a:p xmlns:a="http://schemas.openxmlformats.org/drawingml/2006/main">
            <a:r>
              <a:t>図の赤い基準線は、細胞の長手方向、つまり細胞軸です。緑の斜めの線は、壁の中のミクロフィブリルの向きを表しています。両者の間の角が、ミクロフィブリル傾角です。特に木材の性質との関係を扱う際には、エスツー層の傾角へ注目します。</a:t>
            </a:r>
          </a:p>
          <a:p xmlns:a="http://schemas.openxmlformats.org/drawingml/2006/main">
            <a:r>
              <a:t>角度が小さいと、配向は細胞軸に近くなります。角度が大きくなると、より横へ回り込むような向きになります。この関係は、図の縦横の置き方に依存しません。細胞を横向きに描いた場合も、基準はその細胞の長手方向です。</a:t>
            </a:r>
          </a:p>
          <a:p xmlns:a="http://schemas.openxmlformats.org/drawingml/2006/main">
            <a:r>
              <a:t>一次壁の中の向きと、エスツー層の主な配向は、同じ一つの向きとしてまとめません。実際の角度は測定する場所や方法によって分布をもちます。今日の十度や四十度という図は、定義と大小の関係を理解するための代表的な向きとして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略語を使う資料では、最初に正式な語と意味を確かめます。エムエフエーを、木材の繊維方向そのものを表す記号だと理解すると、板の目切れと混同しやすくなります。ノートには、エムエフエーという文字だけでなく、細胞軸と壁内の線を一本ずつ描いてください。線の間の角へ記号を書き込めれば、単語の暗記から、図に基づく説明へ進めます。</a:t>
            </a:r>
          </a:p>
          <a:p xmlns:a="http://schemas.openxmlformats.org/drawingml/2006/main">
            <a:r>
              <a:t>基準線の意味を、身近な角度と比べます。坂道の勾配を説明する場合は、水平な面に対する傾きを使うことがあります。しかし、ミクロフィブリル傾角は、最初から細胞軸に対する角として定義しています。日常の「斜め」という感覚を、そのまま水平線へ結び付けないことが必要です。角度の名前を聞いたら、何と何の間かを確認する習慣は、技術科の図や設計にも共通します。ノートの図では、細胞軸に「長手方向」と書き添え、斜めの線に「壁内部の配向」と書けば、角度を表す二つの対象が残ります。後で図を回転したときにも、この二つのラベルを一緒に動かして考えてください。</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の例は傾角十度、右の例は四十度です。両方とも、赤い細胞軸を縦にそろえてあります。緑の線と、赤い軸の間の角を読んでください。十度の方が、軸に近い向きです。四十度の方は、軸に対して大きく傾いています。</a:t>
            </a:r>
          </a:p>
          <a:p xmlns:a="http://schemas.openxmlformats.org/drawingml/2006/main">
            <a:r>
              <a:t>ここで、紙面の横方向から角を測ると、左の図では八十度になります。しかし、八十度をエムエフエーとは呼びません。定義で決めた基準が細胞軸だからです。計算以前に、どの二つの方向の間の角かを確かめます。</a:t>
            </a:r>
          </a:p>
          <a:p xmlns:a="http://schemas.openxmlformats.org/drawingml/2006/main">
            <a:r>
              <a:t>同じセルロースの細長い集合がある場合にも、長さ方向へ力を加えたときに、その集合がどの向きへ配向しているかは、変形の仕方へ関わります。一般に、他の条件がそろうと、エスツー層の傾角が小さい材ほど、繊維方向のヤング率が高い傾向があります。</a:t>
            </a:r>
          </a:p>
          <a:p xmlns:a="http://schemas.openxmlformats.org/drawingml/2006/main">
            <a:r>
              <a:t>ただし、線の角度だけを見て、実際の板のヤング率を数値で決めることはしません。壁の量、他の成分、水分、細胞の構造なども関わります。今は、傾角の大小の読み方と、変形しにくさの傾向を結び付ける段階です。</a:t>
            </a:r>
          </a:p>
          <a:p xmlns:a="http://schemas.openxmlformats.org/drawingml/2006/main">
            <a:r>
              <a:t/>
            </a:r>
          </a:p>
          <a:p xmlns:a="http://schemas.openxmlformats.org/drawingml/2006/main">
            <a:r>
              <a:t/>
            </a:r>
          </a:p>
          <a:p xmlns:a="http://schemas.openxmlformats.org/drawingml/2006/main">
            <a:r>
              <a:t/>
            </a:r>
          </a:p>
          <a:p xmlns:a="http://schemas.openxmlformats.org/drawingml/2006/main">
            <a:r>
              <a:t>直線の図は、壁を平面に展開したときの主な配向の説明です。細胞の壁全体が、二本の細い線だけでできているわけではありません。また、傾角が小さいことは、どの方向の全ての強度も同じように高くなるという意味ではありません。ここで説明するのは、主に繊維方向の弾性変形との関係です。変形の話と破壊の話、長さ方向と横方向の話を、一度に一つの順位へまとめないようにしましょう。</a:t>
            </a:r>
          </a:p>
          <a:p xmlns:a="http://schemas.openxmlformats.org/drawingml/2006/main">
            <a:r>
              <a:t>十度と四十度の比較から分かることを、言葉を変えて確かめます。十度は、小さい傾角、軸に近い配向、長さ方向へ比較的沿った向き、という三つの表現で説明できます。四十度は、それと比べて軸から離れた配向です。数値の大小と言葉の関係が一致しているかを確かめましょう。ときどき、紙面の横から見た角が大きい方を、傾角も大きいと読んでしまうことがあります。赤い基準線を指すことで、この逆転を防げます。同じ応力を加えたときのひずみという話へ進む場合にも、最初にどちらが軸に近いかを図で確認してから、ヤング率との傾向を述べます。図の定義、関係の予想、計算の順を守ることが、専門語が増えたときの理解を助け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変形しにくさを表す量を復習します。ばねの実験では、力をエフ、伸びをエックスとすると、比例する範囲で、エフ、イコール、ケー、エックスでした。同じ力なら、ばね定数ケーが大きい方が伸びは小さくなります。</a:t>
            </a:r>
          </a:p>
          <a:p xmlns:a="http://schemas.openxmlformats.org/drawingml/2006/main">
            <a:r>
              <a:t>棒を引っ張る場合には、力だけでなく断面積を考えます。応力シグマは、力を断面積で割った値です。ひずみイプシロンは、伸びを元の長さで割った比です。応力とひずみが比例する弾性範囲で、シグマ、イコール、イー、イプシロンと表します。このイーがヤング率です。</a:t>
            </a:r>
          </a:p>
          <a:p xmlns:a="http://schemas.openxmlformats.org/drawingml/2006/main">
            <a:r>
              <a:t>同じ応力を加える場合、ヤング率が大きければ、ひずみは小さくなります。このことを、変形しにくい、あるいは剛性が高いという説明へつなぎます。ただし、棒全体の伸びは断面積と長さでも変わります。材料の量としてのイーと、寸法を含むばね定数ケーを区別してください。</a:t>
            </a:r>
          </a:p>
          <a:p xmlns:a="http://schemas.openxmlformats.org/drawingml/2006/main">
            <a:r>
              <a:t>木材では、測る方向でヤング率が異なります。今日の傾角との関係は、主に繊維方向のヤング率です。また、比例する範囲でどれだけ変形するかと、どこで壊れるかは異なる問いです。ヤング率という値を、そのまま破壊荷重として読むことはでき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式をつなげると、伸びは、力と元の長さを掛けたものを、ヤング率と断面積の積で割って求められます。デルタエル、イコール、エフ、エル、割る、イー、エーです。元の長さが長いほど伸びが大きく、断面積が大きいほど伸びが小さくなる形です。二本の棒を比較するときには、材料の違いだけを見るなら、長さ、断面積、荷重、方向、含水状態をそろえます。何を同じにしたかが、比較を説明する条件になります。</a:t>
            </a:r>
          </a:p>
          <a:p xmlns:a="http://schemas.openxmlformats.org/drawingml/2006/main">
            <a:r>
              <a:t>ひずみの単位を確認します。伸びが零点一ミリメートル、元の長さが百ミリメートルなら、割ると零点零零一です。分子と分母に同じミリメートルがあるので、単位が約分されます。この比を百分率で表すなら、百を掛けて零点一パーセントです。零点零零一という比と、零点一パーセントは同じひずみを表しています。応力とヤング率は、どちらもメガパスカルへそろえて割れます。一メガパスカルは一ニュートン毎平方ミリメートルです。もし片方だけギガパスカルで与えられたら、単位をそろえてから計算してください。倍率の演習と同じように、計算の前に単位を整えることが必要です。</a:t>
            </a:r>
          </a:p>
          <a:p xmlns:a="http://schemas.openxmlformats.org/drawingml/2006/main">
            <a:r>
              <a:t>ばね定数とヤング率の関係も、式の置き換えで確かめられます。シグマに力割る断面積を入れ、イプシロンに伸び割る元の長さを入れます。力割る断面積、イコール、ヤング率掛ける伸び割る元の長さです。両辺に断面積を掛けると、力は、ヤング率と断面積を掛けて元の長さで割った量に、伸びを掛けた形になります。ばねの式と比べれば、棒全体のばね定数は、イー、エー、割る、エルです。材料のヤング率が同じでも、太く短い棒は、細く長い棒より全体として伸びにくくなります。これは四則計算と式の変形による導入で、微分や積分を使わずに説明できます。木材内部の配向が材料の性質へ関わることと、部材の寸法が全体の変形へ関わることを、式の異なる場所に対応させられ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それでは、再開します。配向・剛性・形成された部位へ進みます。</a:t>
            </a:r>
          </a:p>
          <a:p xmlns:a="http://schemas.openxmlformats.org/drawingml/2006/main">
            <a:r>
              <a:t/>
            </a:r>
          </a:p>
          <a:p xmlns:a="http://schemas.openxmlformats.org/drawingml/2006/main">
            <a:r>
              <a:t>出典</a:t>
            </a:r>
          </a:p>
          <a:p xmlns:a="http://schemas.openxmlformats.org/drawingml/2006/main">
            <a:r>
              <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ミクロフィブリルの配向を、形成された部位の違いへ結び付けます。髄の近くで若い形成層によってつくられた未成熟材では、成熟材に比べて、エスツー層の傾角が大きい場合が多く見られます。一般的な傾向であり、髄から一定の距離を境に全樹種が同じ値へ変わるという意味ではありません。</a:t>
            </a:r>
          </a:p>
          <a:p xmlns:a="http://schemas.openxmlformats.org/drawingml/2006/main">
            <a:r>
              <a:t>傾角が大きい材では、繊維方向のヤング率や、長さ方向の乾燥収縮が、外側の材と異なる場合があります。年輪の幅や密度だけを見ていては、十分説明できない違いを、壁内部の構造と合わせて考えられます。</a:t>
            </a:r>
          </a:p>
          <a:p xmlns:a="http://schemas.openxmlformats.org/drawingml/2006/main">
            <a:r>
              <a:t>幹や枝の姿勢に関わって形成される、あて材にも注意が必要です。針葉樹の圧縮あて材と、広葉樹の引張あて材では、構造や成分の変化が異なります。あて材なら全て、同じように傾角が大きい、と一括りにはしません。今日の段階では、形成条件によって壁の構造が変わり、材質へつながるという関係を押さえます。</a:t>
            </a:r>
          </a:p>
          <a:p xmlns:a="http://schemas.openxmlformats.org/drawingml/2006/main">
            <a:r>
              <a:t>比較する際には、樹種、形成部位、密度、含水状態、試験方向を確認します。節が見えない板でも、内部の構造や形成された履歴による違いがあり得ます。外観だけで全ての性能を確定せず、適切な物性データと対応させます。</a:t>
            </a:r>
          </a:p>
          <a:p xmlns:a="http://schemas.openxmlformats.org/drawingml/2006/main">
            <a:r>
              <a:t/>
            </a:r>
          </a:p>
          <a:p xmlns:a="http://schemas.openxmlformats.org/drawingml/2006/main">
            <a:r>
              <a:t/>
            </a:r>
          </a:p>
          <a:p xmlns:a="http://schemas.openxmlformats.org/drawingml/2006/main">
            <a:r>
              <a:t/>
            </a:r>
          </a:p>
          <a:p xmlns:a="http://schemas.openxmlformats.org/drawingml/2006/main">
            <a:r>
              <a:t>未成熟材という語を、伐採した木全体が若いかどうかという判断だけで使わないことも大切です。大きく育った幹にも、髄に近い部分には、若い形成層によって形成された材が残っています。幹のどこから板を取ったかという情報は、外周からの距離や年輪数、密度などとともに材質を理解する手掛かりになります。生物の成長と、材料として使うときの性質が、同じ木材の中でつながる例です。</a:t>
            </a:r>
          </a:p>
          <a:p xmlns:a="http://schemas.openxmlformats.org/drawingml/2006/main">
            <a:r>
              <a:t>材の形成された位置を考えるときには、樹木の年齢と、形成層の年齢を区別する視点が役立ちます。ある高さの幹の髄近くにある材は、その位置で若い形成層が形成した材です。年を重ねるにつれ、その外側へ新しい木部が加わります。今見ている板のどこが髄に近かったかという情報は、形成された部位を理解する手掛かりになります。ただし、未成熟材の範囲は、外見上の一定の色の線だけで必ず見分けられるものではありません。どの性質を指標に定義したかによっても整理の仕方が異なります。教材では、髄の近くで形成された材の性質が、外側と異なる場合があるという関係を押さえ、全てを一本の境界で確定した図として扱わないようにし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実際の研究が、何を測り、どのように説明したかを読みます。宮下さんたちの二千二十一年の研究は、スギの幼齢期に形成された年輪のミクロフィブリル傾角と、雪圧害による根元曲がりの関係を調べたものです。</a:t>
            </a:r>
          </a:p>
          <a:p xmlns:a="http://schemas.openxmlformats.org/drawingml/2006/main">
            <a:r>
              <a:t>研究では、雪圧害への抵抗性が高いと評価された六系統と、対照の六系統を用いました。胸の高さの幹から試料を取り、髄から何番目の年輪かを数え、その年輪の晩材仮道管のエスツー層の傾角を測っています。木材全体の、どの部分の角度を測ったかが具体的に決められています。</a:t>
            </a:r>
          </a:p>
          <a:p xmlns:a="http://schemas.openxmlformats.org/drawingml/2006/main">
            <a:r>
              <a:t>抵抗性グループの角度は、調べた各年輪で対照グループより小さく、第三、第五年輪ではグループ間の有意差が示されました。研究では、傾角が小さいと樹幹の曲げヤング率が高いという一般的関係から、幼齢期の樹幹が変形しにくかった可能性を考察しています。</a:t>
            </a:r>
          </a:p>
          <a:p xmlns:a="http://schemas.openxmlformats.org/drawingml/2006/main">
            <a:r>
              <a:t>傾角を測った結果と、そこからヤング率や根元曲がりの仕組みを考察した部分を、分けて読んでください。この研究だけから、全ての樹種の板の性能を計算できるわけではありません。樹木の育成と、細胞壁内部の構造と、材料の変形がつながる具体例として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論文を引用して説明する場合、研究対象のスギ、測定した晩材仮道管のエスツー、比較した系統群という条件を落とさないことが大切です。結果を「角度が小さければ木は必ず曲がらない」と言い換えると、研究の範囲を超えてしまいます。測定された関係から、どのような機構が考えられたかを、推測と結果を区別して説明します。生物育成の授業でも、栽培や育種の結果を材料の性質へつなぐ際に、この読み方を使えます。</a:t>
            </a:r>
          </a:p>
          <a:p xmlns:a="http://schemas.openxmlformats.org/drawingml/2006/main">
            <a:r>
              <a:t>この例で、測定されたものと推定されたものをノートの二つの欄に分けてください。測定されたものの欄には、年輪ごとの傾角や根元曲がりの情報を書きます。考察の欄には、一般的な傾角とヤング率の関係を使って、幼齢期の樹幹が変形しにくかった可能性が説明された、と書けます。論文の結果を授業で簡単に紹介するときほど、この違いを保つことが大切です。対象や条件を省きすぎると、関係があるという報告を、一つの原因だけで全て決まるという説明へ変えてしまいます。研究の詳しい統計手法を今日全て学ぶ必要はありませんが、何を測り、どこから推測したかは、図や文章の読み方として確認でき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の演習に入る前に、目切れを図で確認します。左の長方形は、一枚の板を横から見た図です。板の長手方向を赤い線で示しました。内部の繊維方向が、板の長手方向にそろっていれば、繊維は主に端から端へ続くように表せます。</a:t>
            </a:r>
          </a:p>
          <a:p xmlns:a="http://schemas.openxmlformats.org/drawingml/2006/main">
            <a:r>
              <a:t>右の板では、繊維の向きが部材の長手方向に対して傾いています。図の斜めの線をたどると、板の側面へ抜けます。このように、繊維が部材の側面で途切れる状態を、目切れとして考えます。製材する向きや、節の周りの繊維の流れなどとも関わります。</a:t>
            </a:r>
          </a:p>
          <a:p xmlns:a="http://schemas.openxmlformats.org/drawingml/2006/main">
            <a:r>
              <a:t>ここで見ているのは、板という部材と、その中の細胞の主な長手方向の関係です。壁の内部のミクロフィブリルの角度とは尺度が異なります。目切れでは、部材の長手方向を基準に繊維の傾きを考えます。ミクロフィブリル傾角では、細胞の長手方向を基準に壁内部の配向を考えます。</a:t>
            </a:r>
          </a:p>
          <a:p xmlns:a="http://schemas.openxmlformats.org/drawingml/2006/main">
            <a:r>
              <a:t>木目模様の線を全て、そのまま正確な繊維の向きとして読めるとは限りません。図は繊維の流れを説明するために単純化しています。実材では割れやすい方向、節の周り、加工する向きなどと合わせて観察します。まず二つの図で、何を基準線にしたかを指してみ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板の軸と細胞軸がそろっている場合でも、その細胞の壁の中では、ミクロフィブリルが斜めに配向できます。逆に、目切れがある板の中にも、個々の細胞に対するミクロフィブリル傾角があります。二つの角度は、一方があると他方が無くなるという関係ではありません。大きな尺度の方向と、小さな尺度の方向を、入れ子の図として持っておくと、同じ「傾き」という言葉を使い分けられます。</a:t>
            </a:r>
          </a:p>
          <a:p xmlns:a="http://schemas.openxmlformats.org/drawingml/2006/main">
            <a:r>
              <a:t>目切れの模式図を、指でたどるつもりで見てください。左の板では、繊維を示す一本の線が長い端から反対の端へ続いています。右の板では、斜めの線を進むと、長い側面へ出ます。部材の形に対する繊維の通り方が違います。これが、加工や力を受けるときの挙動を考える手掛かりになります。ただし、目切れの角度だけで、加工条件や破壊荷重を一つに決めることはできません。節の周りで向きが変わる場合や、刃の進め方、支え方なども関係します。今日の目的は、板の図で何を指しているかを、細胞壁の図の角度と区別することです。もし「木の繊維が斜め」とだけ書いたら、どの尺度の繊維かと、何に対して斜めかを加えてください。</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目の演習です。資料の図や、自分のノートに描いた基準線を使って答えます。一つ目は、細胞軸を縦に描き、エムエフエーが十度と四十度の二例を作図してください。どちらの角にも、細胞軸からの角度だと分かる印を付けます。</a:t>
            </a:r>
          </a:p>
          <a:p xmlns:a="http://schemas.openxmlformats.org/drawingml/2006/main">
            <a:r>
              <a:t>二つ目は、樹種、密度、含水状態などの条件をそろえたとき、どちらが繊維方向へ変形しにくいと予想されるかです。十度、四十度のいずれかを選び、ヤング率という語を使って理由を一文で書いてください。実測した数値を与えていないので、数値を推測して書く必要はありません。</a:t>
            </a:r>
          </a:p>
          <a:p xmlns:a="http://schemas.openxmlformats.org/drawingml/2006/main">
            <a:r>
              <a:t>三つ目は、十度の図を、紙の上で九十度回した場合です。細胞軸が横向きになっても、ミクロフィブリル傾角十度を示す位置に角の印を付けてください。図の回転に合わせて、基準線も一緒に回ります。横を向いた細胞でも、同じ二つの向きの間の角を示すことができます。</a:t>
            </a:r>
          </a:p>
          <a:p xmlns:a="http://schemas.openxmlformats.org/drawingml/2006/main">
            <a:r>
              <a:t>四つ目は、目切れとエムエフエーの説明です。それぞれについて、何の向きと何の向きの間の角かを、二つずつ書きます。板の図と細胞の壁の図を見比べて、基準になる線を確認してください。必要なら一時停止して、図を描き終えてから解説へ進み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答えを作る際には、名称だけでなく、線を指して説明することを目標にします。十度と書いていても、紙面の横から角を取っていれば、定義を図へ移せていません。また「変形しにくい」の理由は、同じ応力に対してひずみが小さいという関係へ戻せます。今日の問いでは、実物の材料の性能を保証する答案を求めていません。図の読み方と、条件をそろえたときの傾向を、根拠を伴って説明する練習です。</a:t>
            </a:r>
          </a:p>
          <a:p xmlns:a="http://schemas.openxmlformats.org/drawingml/2006/main">
            <a:r>
              <a:t>図を描くことが難しい場合は、基準線を先に一本だけ描きます。次に、同じ始点からもう一本の線を出します。細胞軸に近ければ十度の例、より離れれば四十度の例になります。分度器がなければ、正確な測図よりも、どこから測った角かをはっきり示すことを優先して構いません。三つ目では、紙を実際に横へ回して考えてもよいでしょう。二つの線を一緒に回せば、線同士の関係は変わりません。四つ目は、二つの語の定義を別々に書いてから、基準になる対象に下線を付けます。図の読み方を確かめる演習なので、知らない材料の性能値を調べなければ答えられない問いにはしていません。手元の図と、今日の定義を使って順に答えてください。</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一つ目では、赤い細胞軸と緑の線の間に、十度と四十度の角を付けます。十度の線の方が、細胞軸に近い向きになります。斜めの線の見た目だけで判断せず、どの基準線に対する角かを確かめます。</a:t>
            </a:r>
          </a:p>
          <a:p xmlns:a="http://schemas.openxmlformats.org/drawingml/2006/main">
            <a:r>
              <a:t>二つ目では、他の条件が同じなら、十度の例で、繊維方向のヤング率が高く、同じ応力に対するひずみが小さい傾向を予想します。角度が四分の一なので、伸びも四分の一になる、といった比例式は与えていません。角度の数値の比を、変形量の数値の比へ直接置き換えないことも大切です。</a:t>
            </a:r>
          </a:p>
          <a:p xmlns:a="http://schemas.openxmlformats.org/drawingml/2006/main">
            <a:r>
              <a:t>三つ目では、図を九十度回転すると、細胞軸は横向きになります。ミクロフィブリルの向きも一緒に回転するため、二つの向きの間の角は十度のままです。角を紙の横や縦から取り直した場合は、基準の選び方を修正してください。</a:t>
            </a:r>
          </a:p>
          <a:p xmlns:a="http://schemas.openxmlformats.org/drawingml/2006/main">
            <a:r>
              <a:t>四つ目では、目切れは、部材の長手方向と繊維方向の関係です。ミクロフィブリル傾角は、細胞の長手方向と、細胞壁内部のミクロフィブリルの主な向きの関係です。板の中の細胞と、その壁の中の集合を、異なる尺度として示せれば、二つの傾きを説明できます。</a:t>
            </a:r>
          </a:p>
          <a:p xmlns:a="http://schemas.openxmlformats.org/drawingml/2006/main">
            <a:r>
              <a:t/>
            </a:r>
          </a:p>
          <a:p xmlns:a="http://schemas.openxmlformats.org/drawingml/2006/main">
            <a:r>
              <a:t/>
            </a:r>
          </a:p>
          <a:p xmlns:a="http://schemas.openxmlformats.org/drawingml/2006/main">
            <a:r>
              <a:t/>
            </a:r>
          </a:p>
          <a:p xmlns:a="http://schemas.openxmlformats.org/drawingml/2006/main">
            <a:r>
              <a:t>自分の答案を見直す場合、基本の確認は四点です。角の基準線が分かること、小さい角が軸に近いこと、図を回転しても同じ角になること、目切れとエムエフエーで対象を使い分けることです。専門語の表記だけでなく、図と文章が同じ関係を示しているかを確かめましょう。中学生への説明を考える教員にも、言葉と図がずれた場合に、どこを確認すればよいかを知ることが必要です。</a:t>
            </a:r>
          </a:p>
          <a:p xmlns:a="http://schemas.openxmlformats.org/drawingml/2006/main">
            <a:r>
              <a:t>この演習を中学校の生徒への説明へ応用するなら、図の回転で変わるものと、変わらないものを尋ねる活動にできます。紙面の上向きという位置は変わりますが、物の中の二つの向きの関係は、図を回しただけでは変わりません。実物の木片を机の上で回したときにも、木材の繊維方向は木片に付いて回ります。机の前後と木材の方向を同じ記号で固定しないことが、異方性を考える際に必要です。専門的なミクロフィブリル傾角の数値を中学生へ暗記させなくても、物を基準に向きを考えるという、図の読み方の基礎へつなげられます。大学で学ぶ細かな構造を、どの学習上の考え方へ還元するかも考えてみてください。</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ヤング率の違いを、数値の計算で確かめます。これは、傾角からヤング率を求める式ではありません。比較のために、ヤング率が六千メガパスカルと、一万二千メガパスカルの二つの棒を設定します。どちらも繊維方向に引っ張り、元の長さを百ミリメートル、応力を六メガパスカルとします。</a:t>
            </a:r>
          </a:p>
          <a:p xmlns:a="http://schemas.openxmlformats.org/drawingml/2006/main">
            <a:r>
              <a:t>応力とひずみが比例する範囲では、ひずみは応力をヤング率で割った値です。六千の棒では、六を六千で割って零点零零一です。これは長さの比で、零点一パーセントです。百ミリメートルに掛けると、伸びは零点一ミリメートルになります。</a:t>
            </a:r>
          </a:p>
          <a:p xmlns:a="http://schemas.openxmlformats.org/drawingml/2006/main">
            <a:r>
              <a:t>一万二千の棒では、六を一万二千で割って、零点零零零五です。元の長さ百ミリメートルに掛けると、伸びは零点零五ミリメートルです。同じ応力と元の長さなら、ヤング率が二倍の例で伸びが半分になりました。</a:t>
            </a:r>
          </a:p>
          <a:p xmlns:a="http://schemas.openxmlformats.org/drawingml/2006/main">
            <a:r>
              <a:t>この二つのヤング率は説明用の設定値です。十度の材料なら必ず一万二千、四十度なら必ず六千という対応を示していません。角度との傾向を説明することと、与えられた物性値から変形を計算することを分けます。また、壊れるまでの荷重も、この計算だけでは決ま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力で比較するなら、断面積もそろえる必要があります。例えば断面積を十平方ミリメートルとし、六十ニュートンで引けば、応力は六ニュートン毎平方ミリメートル、つまり六メガパスカルになります。違う断面積の棒に同じ力を加えた場合には、応力が変わります。材料のヤング率だけの違いを確かめる比較なのか、部材全体の設計の違いを比べるのかを、計算の前に決めておきます。</a:t>
            </a:r>
          </a:p>
          <a:p xmlns:a="http://schemas.openxmlformats.org/drawingml/2006/main">
            <a:r>
              <a:t>与えられた応力と長さをそろえた比較を、式の形で確認します。伸びは、応力をヤング率で割ったひずみに、元の長さを掛けたものです。したがって、応力と元の長さが同じなら、伸びはヤング率へ反比例します。今回の二つの値では、ヤング率の比が一対二なので、伸びの比が二対一になりました。もし元の長さまで二倍になっていたら、ヤング率二倍による効果と相殺される場合があります。比較表で、変えた条件とそろえた条件を分ける理由がここにあります。木材の物性表を使う演習でも、単に大きい値を選ぶより、式のどこへ使う値か、他の条件をどうそろえたかを説明できることが大切です。</a:t>
            </a:r>
          </a:p>
          <a:p xmlns:a="http://schemas.openxmlformats.org/drawingml/2006/main">
            <a:r>
              <a:t>数値を力と断面積から求めるところへ戻します。断面積が十平方ミリメートルで、力が六十ニュートンなら、六十割る十で六メガパスカルです。同じ力を、断面積二十平方ミリメートルの棒へ加えると、応力は三メガパスカルになります。ヤング率六千メガパスカル、元の長さ百ミリメートルなら、ひずみは三割る六千で零点零零零五、伸びは零点零五ミリメートルです。今度は材料のヤング率を変えず、断面積を二倍にして、伸びが半分になりました。最初の二つの棒の比較と同じ伸びの比が出ても、理由が異なります。最初は材料のヤング率を変え、後の例では断面積を変えました。結果の数字だけを見て、材料の内部構造の効果だと判断しないために、条件を記録することが必要で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員の立場から、今日の内容を中学校の説明へ戻します。ストローの束の模型は、長い細胞の配列と、内腔の位置を示す際に使えます。一本のストローを細胞一本に対応させるなら、その壁の内部には、さらに細かな構造があるという、別の拡大図を添えます。</a:t>
            </a:r>
          </a:p>
          <a:p xmlns:a="http://schemas.openxmlformats.org/drawingml/2006/main">
            <a:r>
              <a:t>ストローの壁は木材の細胞壁と同じ成分でも、同じ層構造でもありません。模型が表すのは、どの構造のどの特徴かを明示します。模型を曲げたときの数値を、そのまま実際の木材の数値にすることもできません。模型は、位置と方向の理解を助けるために使います。</a:t>
            </a:r>
          </a:p>
          <a:p xmlns:a="http://schemas.openxmlformats.org/drawingml/2006/main">
            <a:r>
              <a:t>中学校学習指導要領解説では、材料と加工の技術において、材料の性質や加工方法などを理解する学習へつながります。中学生には、繊維方向による変形や加工の違いを、観察や製作と結び付けることができます。今日の一次壁やエスツーという名称を、そのまま全て必須の暗記項目へ加える必要はありません。</a:t>
            </a:r>
          </a:p>
          <a:p xmlns:a="http://schemas.openxmlformats.org/drawingml/2006/main">
            <a:r>
              <a:t>大学で背景を理解した教員が、生徒の問いに応じて、壁と内腔や配列の図へ戻って説明できることが大切です。例えば「同じ木材なのに、向きを変えると違うのはなぜか」という問いに、どの図を使い、どの向きを指すかを考えてみ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説明文の例を作ります。「木材の中では、細長い細胞が主に同じ方向へ並んでいる。細胞の壁の中にも向きをもつ構造があるので、力を加える向きによって変形の仕方が違う」。これなら、模型の束を指す部分と、壁を拡大した図を指す部分を分けられます。説明の難しさは、使う用語の数だけでは決まりません。どの図を見て、何を比較するかが明確なら、短い説明でも構造と性質の関係を伝えられます。</a:t>
            </a:r>
          </a:p>
          <a:p xmlns:a="http://schemas.openxmlformats.org/drawingml/2006/main">
            <a:r>
              <a:t>生徒の説明を評価する場面を考えます。「木材には繊維があるから」という一文だけなら、どの構造がどの方向へ並ぶかはまだ分かりません。ストロー束の図へ長手方向の矢印を付け、横から力を受ける場合と、長さ方向に引く場合を示せれば、方向との関係を確かめられます。さらに必要なら壁の拡大図を添えます。教師は、生徒がどの段階まで図で説明したかを見て、次の問いを選べます。用語の数が多い答案を常に高く評価するより、対象、方向、比較する性質が対応しているかを見ます。これは、調べ学習で得た文章をそのまま写す場合と、自分の観察や図へ結び付けて説明する場合を区別する観点にもなります。</a:t>
            </a:r>
          </a:p>
          <a:p xmlns:a="http://schemas.openxmlformats.org/drawingml/2006/main">
            <a:r>
              <a:t>短い授業場面を組み立てるなら、まず木片の長手方向へ矢印を一つ描かせます。次に、同じ木片を回しても、その矢印が木片と一緒に回ることを確かめます。その後に、細長い細胞が主にその向きへ続く模型を示せます。さらに「その細胞の壁の中にも向きがある」と拡大図を一枚だけ加えれば、今日の大学の説明との接点を作れます。全ての細胞や層の名称を一度に提示する必要はありません。学習者が困っている点が、方向の基準なのか、壁と内腔の位置なのか、変形の比較条件なのかを見極め、必要な図へ戻ります。材料の性質を観察する活動と、その理由を構造で説明する活動を、同じ対象の図でつなぐことが、技術科の授業を考える際の一つの方法になり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それでは、再開します。確認問題　図を見ずに説明へ進みます。</a:t>
            </a:r>
          </a:p>
          <a:p xmlns:a="http://schemas.openxmlformats.org/drawingml/2006/main">
            <a:r>
              <a:t/>
            </a:r>
          </a:p>
          <a:p xmlns:a="http://schemas.openxmlformats.org/drawingml/2006/main">
            <a:r>
              <a:t>出典</a:t>
            </a:r>
          </a:p>
          <a:p xmlns:a="http://schemas.openxmlformats.org/drawingml/2006/main">
            <a:r>
              <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の自己確認です。まず、エスツーとは何を表す記号でしょうか。木材全体の放射方向や接線方向の記号ではなく、何のどの層かを、一文で答えてください。必要なら先ほどの二つの細胞の図を描き直して、位置を示します。</a:t>
            </a:r>
          </a:p>
          <a:p xmlns:a="http://schemas.openxmlformats.org/drawingml/2006/main">
            <a:r>
              <a:t>二つ目は、ミクロフィブリル傾角の基準です。何の長手方向と、何の向きの間の角でしょうか。細胞という語と、壁内部という語を使って答えます。図を横に回しても、その定義は変わらないことを確かめてください。</a:t>
            </a:r>
          </a:p>
          <a:p xmlns:a="http://schemas.openxmlformats.org/drawingml/2006/main">
            <a:r>
              <a:t>三つ目は単位です。一マイクロメートルは何ナノメートルでしょうか。そして、小さな長さを表す単位はどちらでしょうか。数字が千になることと、単位一個あたりの長さが千分の一であることを対応させて説明します。</a:t>
            </a:r>
          </a:p>
          <a:p xmlns:a="http://schemas.openxmlformats.org/drawingml/2006/main">
            <a:r>
              <a:t>四つ目は、目切れとミクロフィブリル傾角の違いです。板の軸、細胞軸、壁の中の配向の三つを、二組の比較に分けてください。名称を全部思い出せなくても、どの二本の線の角かが描けるかを確認しましょう。ここで短く時間を取ります。必要なら止めて考えてください。</a:t>
            </a:r>
          </a:p>
          <a:p xmlns:a="http://schemas.openxmlformats.org/drawingml/2006/main">
            <a:r>
              <a:t/>
            </a:r>
          </a:p>
          <a:p xmlns:a="http://schemas.openxmlformats.org/drawingml/2006/main">
            <a:r>
              <a:t>エスツーは、細胞壁の二次壁の層です。ミクロフィブリル傾角は、細胞の長軸と壁内部のミクロフィブリルの主な向きの間の角です。一マイクロメートルは千ナノメートルで、より小さな単位はナノメートルです。目切れでは部材の軸と繊維方向を比べます。自分の図が、この対応を示しているか確かめましょう。</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内容を、最初の図へ戻って整理します。二つの細胞の内腔の間には、それぞれの細胞の二次壁と一次壁、中央の細胞間層があります。二次壁はエスワン、エスツー、エススリーに分かれ、典型的にはエスツーが厚さの大きな部分を占めます。</a:t>
            </a:r>
          </a:p>
          <a:p xmlns:a="http://schemas.openxmlformats.org/drawingml/2006/main">
            <a:r>
              <a:t>壁内部には、セルロースの分子鎖が集まったミクロフィブリルがあります。その配向は層によって異なり、エスツー層の傾角は、繊維方向の弾性変形を考える際の重要な要素です。ミクロフィブリル傾角の基準は、細胞の長手方向です。</a:t>
            </a:r>
          </a:p>
          <a:p xmlns:a="http://schemas.openxmlformats.org/drawingml/2006/main">
            <a:r>
              <a:t>一方、板の目切れでは、部材の長手方向と、内部の主な繊維方向を比べます。木材全体の尺度と、細胞壁内部の尺度を分けて持つことで、異方性の背景を、言葉だけでなく図で説明できます。</a:t>
            </a:r>
          </a:p>
          <a:p xmlns:a="http://schemas.openxmlformats.org/drawingml/2006/main">
            <a:r>
              <a:t>今日扱った角度だけで、全ての材質が決まるわけではありません。密度、含水状態、節、形成部位、荷重方向なども合わせて確かめます。どの性質を、どの条件で比べるかを明らかにした上で、構造の知識を使います。次回は、この壁をつくる主要な成分と、その役割へ進みます。</a:t>
            </a:r>
          </a:p>
          <a:p xmlns:a="http://schemas.openxmlformats.org/drawingml/2006/main">
            <a:r>
              <a:t/>
            </a:r>
          </a:p>
          <a:p xmlns:a="http://schemas.openxmlformats.org/drawingml/2006/main">
            <a:r>
              <a:t/>
            </a:r>
          </a:p>
          <a:p xmlns:a="http://schemas.openxmlformats.org/drawingml/2006/main">
            <a:r>
              <a:t/>
            </a:r>
          </a:p>
          <a:p xmlns:a="http://schemas.openxmlformats.org/drawingml/2006/main">
            <a:r>
              <a:t>初めに密度の話をした理由も思い出してください。壁がどれだけあるかを示す量と、壁の内部がどのように配向するかを示す情報は、補い合います。同じ密度でも、方向や壁内部の構造が異なれば、同じヤング率になるとは限りません。逆に、配向だけが分かっても、実際の棒の伸びを数値で求めるには、ヤング率と寸法や荷重などが必要です。観察、傾向の説明、数値計算のそれぞれで使った情報を、自分のノートで整理しましょう。</a:t>
            </a:r>
          </a:p>
          <a:p xmlns:a="http://schemas.openxmlformats.org/drawingml/2006/main">
            <a:r>
              <a:t>最初に見た立体図を、説明なしで読めるかを最後に試します。ピーを探せば一次壁です。エムエルを探せば隣り合う細胞の間の層です。エスワン、エスツー、エススリーを見つけたら、内腔側がどちらかを答えます。次にエスツーの線の向きを、細胞軸と比べます。この順なら、一つの図で層の位置と内部の配向を段階的に確認できます。初めにこの図を見たとき、知らない記号が多かったとしても、いま指し示せる対象が増えていれば、学習が進んだことを確かめられます。以降の回でも同じ図へ成分や水の関係を加え、図そのものを入れ替えるたびに位置関係を覚え直す負担を抑え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復習として、一枚のノートに、木材、細胞、細胞壁の三つの尺度を描いてください。木材の図には、部材の長手方向と主な繊維方向を入れます。細胞の図には、内腔と壁を示します。壁を拡大した図には、一次壁、二次壁の三層、隣の細胞を含む細胞間層の位置を示します。</a:t>
            </a:r>
          </a:p>
          <a:p xmlns:a="http://schemas.openxmlformats.org/drawingml/2006/main">
            <a:r>
              <a:t>最後に、エスツーの中に細胞軸とミクロフィブリルの向きを描き、その間の角へエムエフエーと書き込みます。倍率や寸法比を正確に再現する必要はありません。模式図と明記し、ミリメートル、マイクロメートル、ナノメートルのどの尺度を考えているかを添えます。</a:t>
            </a:r>
          </a:p>
          <a:p xmlns:a="http://schemas.openxmlformats.org/drawingml/2006/main">
            <a:r>
              <a:t>説明は、名称を並べるだけでなく、量と向きの違いを含めて書きます。「エスツーは厚さの大きな部分を占め、その内部の配向が繊維方向の変形と関わる」という一文を、自分の図のどこへ対応させられるかを確かめてください。</a:t>
            </a:r>
          </a:p>
          <a:p xmlns:a="http://schemas.openxmlformats.org/drawingml/2006/main">
            <a:r>
              <a:t>これは自己確認用の復習です。新しい提出課題を追加するものではありません。既存の課題は、第四回後のエーワンなど、授業で案内された時期と方法に従ってください。次回は、今日の図を使いながら、主要な構成成分の役割を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を描いた後は、二つの点を点検します。内腔から外へたどったときに、エススリー、エスツー、エスワン、一次壁、細胞間層という順になっているでしょうか。また、角の基準は、紙面の横方向ではなく細胞軸になっているでしょうか。この二点は、文字の説明だけでは気付きにくい誤りを見つける手掛かりになります。次回も同じ図を使うので、修正した理由を図のそばへ短く残すと、成分の説明を加えやすくなります。</a:t>
            </a:r>
          </a:p>
          <a:p xmlns:a="http://schemas.openxmlformats.org/drawingml/2006/main">
            <a:r>
              <a:t>復習の図を人へ説明するなら、最初にどの尺度の図かを伝えます。「これは二つの細胞の境を拡大した模式図です」と始めれば、相手は内腔と壁の位置を探せます。次に中央から左右へ層をたどり、エスツーが厚いことを示します。その後に、細胞の長手方向を別の矢印で示し、壁内部の配向との角度を説明します。図の上に名称だけを一度に並べるより、指す順序に沿って情報を加える説明です。教員としての準備では、図が正確であることに加え、どの順に指せば理解しやすいかも考えます。分かりにくい場所があれば、色を増やす前に、基準となる内腔や軸をはっきりさせてみましょう。</a:t>
            </a:r>
          </a:p>
          <a:p xmlns:a="http://schemas.openxmlformats.org/drawingml/2006/main">
            <a:r>
              <a:t>次回へ向けて、図の中に成分を書き込むための余白を残してください。層の名前と成分の名前は、一対一には対応しません。エスツーがセルロースだけ、一次壁が別の成分だけ、という色分けにはしません。複数の主要成分が組み合わさって壁をつくり、その割合や構造に違いがあります。今日は、その説明を加えるための位置と方向の図を準備しました。壁のどこを話題にしているかを先に把握しておけば、次回の化学の用語も、材料の構造から切り離された名前の列になりにくくなります。</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の読み方を確認します。ウッドハンドブックの第三章では、細胞、細胞壁、壁孔などの構造を、図と対応させて読むことができます。今回借用した図は、第三章の図三の六です。冊子のページでは、三の七にあります。その次の三の八には、一次壁や二次壁の各層、配向の特徴が説明されています。</a:t>
            </a:r>
          </a:p>
          <a:p xmlns:a="http://schemas.openxmlformats.org/drawingml/2006/main">
            <a:r>
              <a:t>図を再利用するときには、図番号、資料名、版、ページ、リンクを一緒に残します。図を切り抜いて使う場合も、元の出典へ戻れるようにします。今回の色付きの隣接細胞の図は、層の関係を説明するために作った模式図です。借用した原図と、説明用の模式図の区別も記載しています。</a:t>
            </a:r>
          </a:p>
          <a:p xmlns:a="http://schemas.openxmlformats.org/drawingml/2006/main">
            <a:r>
              <a:t>宮下さんたちの論文では、対象となったスギの系統群、測定した年輪と細胞、傾角と根元曲がりの関係を確認してください。図の角度の定義を知ることと、特定の研究の結果を引用することは、読む際の目的が少し異なります。</a:t>
            </a:r>
          </a:p>
          <a:p xmlns:a="http://schemas.openxmlformats.org/drawingml/2006/main">
            <a:r>
              <a:t>購入やスキャンを進めている専門書については、受領後に、書名、版、ページを確認して補います。現在の教材では、公開されている資料と、今回の計算用の設定値を区別して使っています。実際の材料の数値を調べる際にも、測定条件と出典を一緒に記録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との接点は、学習指導要領解説の、材料と加工の技術です。材料の性質や加工方法を理解し、製作や材料の選択へつなげる際に、今日の構造の理解が、教員の説明の背景になります。大学で学んだ細かな層名を、そのまま中学生全員の学習目標へ移すことはしません。</a:t>
            </a:r>
          </a:p>
          <a:p xmlns:a="http://schemas.openxmlformats.org/drawingml/2006/main">
            <a:r>
              <a:t>東京書籍が公開している年間指導計画も、教科書で扱う材料の性質や製作の学習を確認する手掛かりとして挙げています。公開の計画や目次を照合したことと、実際の採択教科書の本文や図を全て確認したことは区別します。使用する版の具体的なページは、手元の教科書で照合してください。</a:t>
            </a:r>
          </a:p>
          <a:p xmlns:a="http://schemas.openxmlformats.org/drawingml/2006/main">
            <a:r>
              <a:t>今日の図で、どの構造を見て、何の性質を説明したかを振り返りましょう。細胞壁は均一な塊ではなく、層と配向をもちます。細胞の並びによる方向性に、壁内部の方向性を加えて、木材の異方性を考えました。</a:t>
            </a:r>
          </a:p>
          <a:p xmlns:a="http://schemas.openxmlformats.org/drawingml/2006/main">
            <a:r>
              <a:t>次回は、セルロース、ヘミセルロース、リグニンという主要な成分を、今日の壁の図へ対応させます。壁の構造と成分の組合せを理解すると、その後の強度や水分との関係にも進みやすくなります。第三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a:t>
            </a:r>
          </a:p>
          <a:p xmlns:a="http://schemas.openxmlformats.org/drawingml/2006/main">
            <a:r>
              <a:t>https://research.fs.usda.gov/treesearch/62242</a:t>
            </a:r>
          </a:p>
          <a:p xmlns:a="http://schemas.openxmlformats.org/drawingml/2006/main">
            <a:r>
              <a:t>https://doi.org/10.4005/jjfs.103.71</a:t>
            </a:r>
          </a:p>
          <a:p xmlns:a="http://schemas.openxmlformats.org/drawingml/2006/main">
            <a:r>
              <a:t>https://www.mext.go.jp/component/a_menu/education/micro_detail/__icsFiles/afieldfile/2019/03/18/1387018_009.pdf</a:t>
            </a:r>
          </a:p>
          <a:p xmlns:a="http://schemas.openxmlformats.org/drawingml/2006/main">
            <a:r>
              <a:t>https://ten.tokyo-shoseki.co.jp/text/chu/gijutsu/download/documents/R7gijutsu_keikaku.pdf</a:t>
            </a:r>
          </a:p>
          <a:p xmlns:a="http://schemas.openxmlformats.org/drawingml/2006/main">
            <a:r>
              <a:t>借用図：USDA Wood Handbook 2021 第3章 Fig. 3–6, p.3–7。公開原図をトリミング。色付きの壁・角度等は原図と説明を基にした編集可能な模式図。元の寸法比・性能を再現するものではない。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f28b5ceaf849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b68aaa4f4949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fce4ef7a124e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b8e511a37d45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7ee7a1f4e54b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93694f369642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905FE3-C4A0-4E59-AFB2-04B396954A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A0E240-D517-412E-A294-283A6716AF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4D16D2-EC8E-41C0-A06A-2837E11CDE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E7607A-C19D-4B8E-80CA-ECAA7D7561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A3F5FA-8018-4A5C-98E4-B8FFDB5004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127D5D-01CB-4B08-8EB7-A580FC9A7E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0DD092-F786-4F72-A125-60D2B83236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CD6B07-EB01-42AE-B23B-F2BCCE63D05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50436D-993C-4622-A0C8-FF46100106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6FF4F3-201A-48A6-BC09-A4E0A65423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af743ac07549f3" /><Relationship Type="http://schemas.openxmlformats.org/officeDocument/2006/relationships/slideLayout" Target="/ppt/slideLayouts/slideLayout1.xml" Id="Re817d54062334a00" /><Relationship Type="http://schemas.openxmlformats.org/officeDocument/2006/relationships/slideLayout" Target="/ppt/slideLayouts/slideLayout2.xml" Id="R22b3f9d2f4f440ef" /><Relationship Type="http://schemas.openxmlformats.org/officeDocument/2006/relationships/slideLayout" Target="/ppt/slideLayouts/slideLayout3.xml" Id="R902c48fd78cf49ac" /><Relationship Type="http://schemas.openxmlformats.org/officeDocument/2006/relationships/slideLayout" Target="/ppt/slideLayouts/slideLayout4.xml" Id="R0a7e1164c00b4b08" /><Relationship Type="http://schemas.openxmlformats.org/officeDocument/2006/relationships/slideLayout" Target="/ppt/slideLayouts/slideLayout5.xml" Id="R83447581618b41c0" /><Relationship Type="http://schemas.openxmlformats.org/officeDocument/2006/relationships/slideLayout" Target="/ppt/slideLayouts/slideLayout6.xml" Id="Rc8ffc0496e144b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17d54062334a00"/>
    <p:sldLayoutId xmlns:r="http://schemas.openxmlformats.org/officeDocument/2006/relationships" id="2147483650" r:id="R22b3f9d2f4f440ef"/>
    <p:sldLayoutId xmlns:r="http://schemas.openxmlformats.org/officeDocument/2006/relationships" id="2147483651" r:id="R902c48fd78cf49ac"/>
    <p:sldLayoutId xmlns:r="http://schemas.openxmlformats.org/officeDocument/2006/relationships" id="2147483652" r:id="R0a7e1164c00b4b08"/>
    <p:sldLayoutId xmlns:r="http://schemas.openxmlformats.org/officeDocument/2006/relationships" id="2147483653" r:id="R83447581618b41c0"/>
    <p:sldLayoutId xmlns:r="http://schemas.openxmlformats.org/officeDocument/2006/relationships" id="2147483654" r:id="Rc8ffc0496e144b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ee870a139a460f" /><Relationship Type="http://schemas.openxmlformats.org/officeDocument/2006/relationships/hyperlink" Target="https://lc-nue.naruto-u.ac.jp/lcu-web/SC_06001B00_22" TargetMode="External" Id="R14f82aae48d84762" /><Relationship Type="http://schemas.openxmlformats.org/officeDocument/2006/relationships/notesSlide" Target="/ppt/notesSlides/notesSlide1.xml" Id="Rf40e242768a34b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50a93db49b74349" /><Relationship Type="http://schemas.openxmlformats.org/officeDocument/2006/relationships/notesSlide" Target="/ppt/notesSlides/notesSlide2.xml" Id="Rcd7ebc2a7bee4b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21995aae1154315" /><Relationship Type="http://schemas.openxmlformats.org/officeDocument/2006/relationships/notesSlide" Target="/ppt/notesSlides/notesSlide3.xml" Id="R936c6862e4e148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c412d444214b58" /><Relationship Type="http://schemas.openxmlformats.org/officeDocument/2006/relationships/image" Target="/ppt/media/image.png" Id="Rf958d2e371cd4e98" /><Relationship Type="http://schemas.openxmlformats.org/officeDocument/2006/relationships/hyperlink" Target="https://research.fs.usda.gov/treesearch/62242" TargetMode="External" Id="R03ad6835498c4462" /><Relationship Type="http://schemas.openxmlformats.org/officeDocument/2006/relationships/notesSlide" Target="/ppt/notesSlides/notesSlide4.xml" Id="R55a1f2c52e4145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64e8d26be14062" /><Relationship Type="http://schemas.openxmlformats.org/officeDocument/2006/relationships/notesSlide" Target="/ppt/notesSlides/notesSlide5.xml" Id="Rbc496bb6ba2d43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6c7ef48a66840df" /><Relationship Type="http://schemas.openxmlformats.org/officeDocument/2006/relationships/notesSlide" Target="/ppt/notesSlides/notesSlide6.xml" Id="R89ed8cd13fc04d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11b4a82bac54d43" /><Relationship Type="http://schemas.openxmlformats.org/officeDocument/2006/relationships/notesSlide" Target="/ppt/notesSlides/notesSlide7.xml" Id="R6cb66be233a042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c45a37bcb004751" /><Relationship Type="http://schemas.openxmlformats.org/officeDocument/2006/relationships/image" Target="/ppt/media/image2.png" Id="Rc5046f372f924a51" /><Relationship Type="http://schemas.openxmlformats.org/officeDocument/2006/relationships/hyperlink" Target="https://research.fs.usda.gov/treesearch/62242" TargetMode="External" Id="R66d7e01dae744028" /><Relationship Type="http://schemas.openxmlformats.org/officeDocument/2006/relationships/notesSlide" Target="/ppt/notesSlides/notesSlide8.xml" Id="Rf92b52c017cb48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bd150cd41514d67" /><Relationship Type="http://schemas.openxmlformats.org/officeDocument/2006/relationships/notesSlide" Target="/ppt/notesSlides/notesSlide9.xml" Id="Rd958cc7854f84e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b3533a51f54fdb" /><Relationship Type="http://schemas.openxmlformats.org/officeDocument/2006/relationships/image" Target="/ppt/media/image3.png" Id="Rbc817a801c4a48dc" /><Relationship Type="http://schemas.openxmlformats.org/officeDocument/2006/relationships/hyperlink" Target="https://research.fs.usda.gov/treesearch/62242" TargetMode="External" Id="Rf06ee9ab5b604683" /><Relationship Type="http://schemas.openxmlformats.org/officeDocument/2006/relationships/notesSlide" Target="/ppt/notesSlides/notesSlide10.xml" Id="R54acdb39d2db4c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ca958c553164f9a" /><Relationship Type="http://schemas.openxmlformats.org/officeDocument/2006/relationships/notesSlide" Target="/ppt/notesSlides/notesSlide11.xml" Id="R702a621f63bc4b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caa88869574f2d" /><Relationship Type="http://schemas.openxmlformats.org/officeDocument/2006/relationships/notesSlide" Target="/ppt/notesSlides/notesSlide12.xml" Id="R686d09bbafe340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f55ed8a62c4490b" /><Relationship Type="http://schemas.openxmlformats.org/officeDocument/2006/relationships/notesSlide" Target="/ppt/notesSlides/notesSlide13.xml" Id="R6f063a320ae24f0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d11278cafb84b3a" /><Relationship Type="http://schemas.openxmlformats.org/officeDocument/2006/relationships/notesSlide" Target="/ppt/notesSlides/notesSlide14.xml" Id="Rc1d81e563bdd46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1c1fd25790842d6" /><Relationship Type="http://schemas.openxmlformats.org/officeDocument/2006/relationships/notesSlide" Target="/ppt/notesSlides/notesSlide15.xml" Id="R43e77f44def045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ca347cec845419e" /><Relationship Type="http://schemas.openxmlformats.org/officeDocument/2006/relationships/notesSlide" Target="/ppt/notesSlides/notesSlide16.xml" Id="R7ad0b783f269414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4f744854bee4e04" /><Relationship Type="http://schemas.openxmlformats.org/officeDocument/2006/relationships/notesSlide" Target="/ppt/notesSlides/notesSlide17.xml" Id="Rcd0f568f79af484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ee4649b48dc4b39" /><Relationship Type="http://schemas.openxmlformats.org/officeDocument/2006/relationships/image" Target="/ppt/media/image4.png" Id="R1c356326d1ff452a" /><Relationship Type="http://schemas.openxmlformats.org/officeDocument/2006/relationships/hyperlink" Target="https://research.fs.usda.gov/treesearch/62242" TargetMode="External" Id="Rf8f66a9249a24af8" /><Relationship Type="http://schemas.openxmlformats.org/officeDocument/2006/relationships/notesSlide" Target="/ppt/notesSlides/notesSlide18.xml" Id="R681d0235196940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1b4ea4ac5544f6c" /><Relationship Type="http://schemas.openxmlformats.org/officeDocument/2006/relationships/hyperlink" Target="https://doi.org/10.4005/jjfs.103.71" TargetMode="External" Id="R9793c2d76d584f8c" /><Relationship Type="http://schemas.openxmlformats.org/officeDocument/2006/relationships/notesSlide" Target="/ppt/notesSlides/notesSlide19.xml" Id="R79d987bffa8d43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6219e379373402b" /><Relationship Type="http://schemas.openxmlformats.org/officeDocument/2006/relationships/notesSlide" Target="/ppt/notesSlides/notesSlide20.xml" Id="R4b5fad4a9136459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12a38863c2f4a73" /><Relationship Type="http://schemas.openxmlformats.org/officeDocument/2006/relationships/notesSlide" Target="/ppt/notesSlides/notesSlide21.xml" Id="R680cd146abda4db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154a873164e4652" /><Relationship Type="http://schemas.openxmlformats.org/officeDocument/2006/relationships/notesSlide" Target="/ppt/notesSlides/notesSlide22.xml" Id="R8a815f7c8b6642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5d283bf84394e46" /><Relationship Type="http://schemas.openxmlformats.org/officeDocument/2006/relationships/notesSlide" Target="/ppt/notesSlides/notesSlide23.xml" Id="R7829d8955e6f4e5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e43eea8f6e64cd1" /><Relationship Type="http://schemas.openxmlformats.org/officeDocument/2006/relationships/notesSlide" Target="/ppt/notesSlides/notesSlide24.xml" Id="R2c30e2e5b5b441c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e9dc1f9fde54ed6" /><Relationship Type="http://schemas.openxmlformats.org/officeDocument/2006/relationships/notesSlide" Target="/ppt/notesSlides/notesSlide25.xml" Id="R30cc8702d8b04aa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dc2b75f6ccc44bd" /><Relationship Type="http://schemas.openxmlformats.org/officeDocument/2006/relationships/notesSlide" Target="/ppt/notesSlides/notesSlide26.xml" Id="Rcdccefc6234a4e9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357bcb28e914a9d" /><Relationship Type="http://schemas.openxmlformats.org/officeDocument/2006/relationships/notesSlide" Target="/ppt/notesSlides/notesSlide27.xml" Id="Rcf226c88b5494ea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c1f983e325547ca" /><Relationship Type="http://schemas.openxmlformats.org/officeDocument/2006/relationships/notesSlide" Target="/ppt/notesSlides/notesSlide28.xml" Id="R2a7afc97e9bf48a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b6894eacdc04c7a" /><Relationship Type="http://schemas.openxmlformats.org/officeDocument/2006/relationships/hyperlink" Target="https://research.fs.usda.gov/treesearch/62242" TargetMode="External" Id="R66f4db01a8414c43" /><Relationship Type="http://schemas.openxmlformats.org/officeDocument/2006/relationships/hyperlink" Target="https://research.fs.usda.gov/treesearch/62242" TargetMode="External" Id="Rab34dfd698d644cc" /><Relationship Type="http://schemas.openxmlformats.org/officeDocument/2006/relationships/hyperlink" Target="https://doi.org/10.4005/jjfs.103.71" TargetMode="External" Id="Rb19f83a988044a40" /><Relationship Type="http://schemas.openxmlformats.org/officeDocument/2006/relationships/notesSlide" Target="/ppt/notesSlides/notesSlide29.xml" Id="R2a1aeecb64b148f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1af85a4c1264faf" /><Relationship Type="http://schemas.openxmlformats.org/officeDocument/2006/relationships/notesSlide" Target="/ppt/notesSlides/notesSlide30.xml" Id="R6a0fbc57bc36406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3588519-8BEA-4EDB-8243-58444546C44D}"/>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defRPr sz="4050" b="1">
                <a:solidFill>
                  <a:srgbClr val="18364F"/>
                </a:solidFill>
                <a:latin typeface="Yu Gothic"/>
                <a:ea typeface="Yu Gothic"/>
                <a:cs typeface="Yu Gothic"/>
              </a:defRPr>
            </a:lvl1pPr>
            <a:lvl2pPr>
              <a:defRPr sz="4050" b="1">
                <a:solidFill>
                  <a:srgbClr val="18364F"/>
                </a:solidFill>
                <a:latin typeface="Yu Gothic"/>
                <a:ea typeface="Yu Gothic"/>
                <a:cs typeface="Yu Gothic"/>
              </a:defRPr>
            </a:lvl2pPr>
            <a:lvl3pPr>
              <a:defRPr sz="4050" b="1">
                <a:solidFill>
                  <a:srgbClr val="18364F"/>
                </a:solidFill>
                <a:latin typeface="Yu Gothic"/>
                <a:ea typeface="Yu Gothic"/>
                <a:cs typeface="Yu Gothic"/>
              </a:defRPr>
            </a:lvl3pPr>
            <a:lvl4pPr>
              <a:defRPr sz="4050" b="1">
                <a:solidFill>
                  <a:srgbClr val="18364F"/>
                </a:solidFill>
                <a:latin typeface="Yu Gothic"/>
                <a:ea typeface="Yu Gothic"/>
                <a:cs typeface="Yu Gothic"/>
              </a:defRPr>
            </a:lvl4pPr>
            <a:lvl5pPr>
              <a:defRPr sz="4050" b="1">
                <a:solidFill>
                  <a:srgbClr val="18364F"/>
                </a:solidFill>
                <a:latin typeface="Yu Gothic"/>
                <a:ea typeface="Yu Gothic"/>
                <a:cs typeface="Yu Gothic"/>
              </a:defRPr>
            </a:lvl5pPr>
            <a:lvl6pPr>
              <a:defRPr sz="4050" b="1">
                <a:solidFill>
                  <a:srgbClr val="18364F"/>
                </a:solidFill>
                <a:latin typeface="Yu Gothic"/>
                <a:ea typeface="Yu Gothic"/>
                <a:cs typeface="Yu Gothic"/>
              </a:defRPr>
            </a:lvl6pPr>
            <a:lvl7pPr>
              <a:defRPr sz="4050" b="1">
                <a:solidFill>
                  <a:srgbClr val="18364F"/>
                </a:solidFill>
                <a:latin typeface="Yu Gothic"/>
                <a:ea typeface="Yu Gothic"/>
                <a:cs typeface="Yu Gothic"/>
              </a:defRPr>
            </a:lvl7pPr>
            <a:lvl8pPr>
              <a:defRPr sz="4050" b="1">
                <a:solidFill>
                  <a:srgbClr val="18364F"/>
                </a:solidFill>
                <a:latin typeface="Yu Gothic"/>
                <a:ea typeface="Yu Gothic"/>
                <a:cs typeface="Yu Gothic"/>
              </a:defRPr>
            </a:lvl8pPr>
            <a:lvl9pPr>
              <a:defRPr sz="4050" b="1">
                <a:solidFill>
                  <a:srgbClr val="18364F"/>
                </a:solidFill>
                <a:latin typeface="Yu Gothic"/>
                <a:ea typeface="Yu Gothic"/>
                <a:cs typeface="Yu Gothic"/>
              </a:defRPr>
            </a:lvl9pPr>
          </a:lstStyle>
          <a:p xmlns:a="http://schemas.openxmlformats.org/drawingml/2006/main">
            <a:pPr>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B800D4A9-74E3-4E94-ADA7-61A89B53132E}"/>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defRPr sz="2925" b="1">
                <a:solidFill>
                  <a:srgbClr val="087E8B"/>
                </a:solidFill>
                <a:latin typeface="Yu Gothic"/>
                <a:ea typeface="Yu Gothic"/>
                <a:cs typeface="Yu Gothic"/>
              </a:defRPr>
            </a:lvl1pPr>
            <a:lvl2pPr>
              <a:defRPr sz="2925" b="1">
                <a:solidFill>
                  <a:srgbClr val="087E8B"/>
                </a:solidFill>
                <a:latin typeface="Yu Gothic"/>
                <a:ea typeface="Yu Gothic"/>
                <a:cs typeface="Yu Gothic"/>
              </a:defRPr>
            </a:lvl2pPr>
            <a:lvl3pPr>
              <a:defRPr sz="2925" b="1">
                <a:solidFill>
                  <a:srgbClr val="087E8B"/>
                </a:solidFill>
                <a:latin typeface="Yu Gothic"/>
                <a:ea typeface="Yu Gothic"/>
                <a:cs typeface="Yu Gothic"/>
              </a:defRPr>
            </a:lvl3pPr>
            <a:lvl4pPr>
              <a:defRPr sz="2925" b="1">
                <a:solidFill>
                  <a:srgbClr val="087E8B"/>
                </a:solidFill>
                <a:latin typeface="Yu Gothic"/>
                <a:ea typeface="Yu Gothic"/>
                <a:cs typeface="Yu Gothic"/>
              </a:defRPr>
            </a:lvl4pPr>
            <a:lvl5pPr>
              <a:defRPr sz="2925" b="1">
                <a:solidFill>
                  <a:srgbClr val="087E8B"/>
                </a:solidFill>
                <a:latin typeface="Yu Gothic"/>
                <a:ea typeface="Yu Gothic"/>
                <a:cs typeface="Yu Gothic"/>
              </a:defRPr>
            </a:lvl5pPr>
            <a:lvl6pPr>
              <a:defRPr sz="2925" b="1">
                <a:solidFill>
                  <a:srgbClr val="087E8B"/>
                </a:solidFill>
                <a:latin typeface="Yu Gothic"/>
                <a:ea typeface="Yu Gothic"/>
                <a:cs typeface="Yu Gothic"/>
              </a:defRPr>
            </a:lvl6pPr>
            <a:lvl7pPr>
              <a:defRPr sz="2925" b="1">
                <a:solidFill>
                  <a:srgbClr val="087E8B"/>
                </a:solidFill>
                <a:latin typeface="Yu Gothic"/>
                <a:ea typeface="Yu Gothic"/>
                <a:cs typeface="Yu Gothic"/>
              </a:defRPr>
            </a:lvl7pPr>
            <a:lvl8pPr>
              <a:defRPr sz="2925" b="1">
                <a:solidFill>
                  <a:srgbClr val="087E8B"/>
                </a:solidFill>
                <a:latin typeface="Yu Gothic"/>
                <a:ea typeface="Yu Gothic"/>
                <a:cs typeface="Yu Gothic"/>
              </a:defRPr>
            </a:lvl8pPr>
            <a:lvl9pPr>
              <a:defRPr sz="2925" b="1">
                <a:solidFill>
                  <a:srgbClr val="087E8B"/>
                </a:solidFill>
                <a:latin typeface="Yu Gothic"/>
                <a:ea typeface="Yu Gothic"/>
                <a:cs typeface="Yu Gothic"/>
              </a:defRPr>
            </a:lvl9pPr>
          </a:lstStyle>
          <a:p xmlns:a="http://schemas.openxmlformats.org/drawingml/2006/main">
            <a:pPr>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第3回　超微細構造</a:t>
            </a:r>
          </a:p>
        </p:txBody>
      </p:sp>
      <p:sp>
        <p:nvSpPr>
          <p:cNvPr id="3" name="">
            <a:extLst xmlns:a="http://schemas.openxmlformats.org/drawingml/2006/main">
              <a:ext uri="{FF2B5EF4-FFF2-40B4-BE49-F238E27FC236}">
                <a16:creationId xmlns:a16="http://schemas.microsoft.com/office/drawing/2014/main" id="{43D5DEE6-9FDE-4F02-8421-7F9F91ED95ED}"/>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4DBDCE-1A4F-48A8-96EA-242E3BB2D1D9}"/>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7660EB96-C2A8-44B6-B519-A7B65259A232}"/>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943E0D49-C36F-41B7-8BF0-E3B755DC7C4B}"/>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C8176079-8EB0-4D19-965F-6F11B05DE6A7}"/>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A3E3C20B-969F-4EBB-BFFC-B0BB7E4D7297}"/>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14f82aae48d84762"/>
              </a:rPr>
              <a:t>https://lc-nue.naruto-u.ac.jp/lcu-web/SC_06001B00_22</a:t>
            </a:r>
          </a:p>
        </p:txBody>
      </p:sp>
      <p:sp>
        <p:nvSpPr>
          <p:cNvPr id="9" name="">
            <a:extLst xmlns:a="http://schemas.openxmlformats.org/drawingml/2006/main">
              <a:ext uri="{FF2B5EF4-FFF2-40B4-BE49-F238E27FC236}">
                <a16:creationId xmlns:a16="http://schemas.microsoft.com/office/drawing/2014/main" id="{DFB0C9F7-60FE-4E5D-BFD5-DBFB8E6E8BD2}"/>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15055544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D95BE6-6D37-4138-8C22-6A9053AED45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今回の見通し</a:t>
            </a:r>
          </a:p>
        </p:txBody>
      </p:sp>
      <p:sp>
        <p:nvSpPr>
          <p:cNvPr id="2" name="">
            <a:extLst xmlns:a="http://schemas.openxmlformats.org/drawingml/2006/main">
              <a:ext uri="{FF2B5EF4-FFF2-40B4-BE49-F238E27FC236}">
                <a16:creationId xmlns:a16="http://schemas.microsoft.com/office/drawing/2014/main" id="{566921E8-5CC8-4A5C-ACFF-6B7492FF507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09D87A-74A9-42C6-BA52-99B5349441D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E4909707-1FDF-4C8E-A7BC-A7D0B20C38F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2BF7326C-4465-4852-8C4A-352B98B20FBF}"/>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53C4D"/>
                </a:solidFill>
                <a:latin typeface="Yu Gothic"/>
                <a:ea typeface="Yu Gothic"/>
                <a:cs typeface="Yu Gothic"/>
              </a:defRPr>
            </a:defPPr>
            <a:lvl1pPr>
              <a:defRPr sz="2475" b="1">
                <a:solidFill>
                  <a:srgbClr val="253C4D"/>
                </a:solidFill>
                <a:latin typeface="Yu Gothic"/>
                <a:ea typeface="Yu Gothic"/>
                <a:cs typeface="Yu Gothic"/>
              </a:defRPr>
            </a:lvl1pPr>
            <a:lvl2pPr>
              <a:defRPr sz="2475" b="1">
                <a:solidFill>
                  <a:srgbClr val="253C4D"/>
                </a:solidFill>
                <a:latin typeface="Yu Gothic"/>
                <a:ea typeface="Yu Gothic"/>
                <a:cs typeface="Yu Gothic"/>
              </a:defRPr>
            </a:lvl2pPr>
            <a:lvl3pPr>
              <a:defRPr sz="2475" b="1">
                <a:solidFill>
                  <a:srgbClr val="253C4D"/>
                </a:solidFill>
                <a:latin typeface="Yu Gothic"/>
                <a:ea typeface="Yu Gothic"/>
                <a:cs typeface="Yu Gothic"/>
              </a:defRPr>
            </a:lvl3pPr>
            <a:lvl4pPr>
              <a:defRPr sz="2475" b="1">
                <a:solidFill>
                  <a:srgbClr val="253C4D"/>
                </a:solidFill>
                <a:latin typeface="Yu Gothic"/>
                <a:ea typeface="Yu Gothic"/>
                <a:cs typeface="Yu Gothic"/>
              </a:defRPr>
            </a:lvl4pPr>
            <a:lvl5pPr>
              <a:defRPr sz="2475" b="1">
                <a:solidFill>
                  <a:srgbClr val="253C4D"/>
                </a:solidFill>
                <a:latin typeface="Yu Gothic"/>
                <a:ea typeface="Yu Gothic"/>
                <a:cs typeface="Yu Gothic"/>
              </a:defRPr>
            </a:lvl5pPr>
            <a:lvl6pPr>
              <a:defRPr sz="2475" b="1">
                <a:solidFill>
                  <a:srgbClr val="253C4D"/>
                </a:solidFill>
                <a:latin typeface="Yu Gothic"/>
                <a:ea typeface="Yu Gothic"/>
                <a:cs typeface="Yu Gothic"/>
              </a:defRPr>
            </a:lvl6pPr>
            <a:lvl7pPr>
              <a:defRPr sz="2475" b="1">
                <a:solidFill>
                  <a:srgbClr val="253C4D"/>
                </a:solidFill>
                <a:latin typeface="Yu Gothic"/>
                <a:ea typeface="Yu Gothic"/>
                <a:cs typeface="Yu Gothic"/>
              </a:defRPr>
            </a:lvl7pPr>
            <a:lvl8pPr>
              <a:defRPr sz="2475" b="1">
                <a:solidFill>
                  <a:srgbClr val="253C4D"/>
                </a:solidFill>
                <a:latin typeface="Yu Gothic"/>
                <a:ea typeface="Yu Gothic"/>
                <a:cs typeface="Yu Gothic"/>
              </a:defRPr>
            </a:lvl8pPr>
            <a:lvl9pPr>
              <a:defRPr sz="2475" b="1">
                <a:solidFill>
                  <a:srgbClr val="253C4D"/>
                </a:solidFill>
                <a:latin typeface="Yu Gothic"/>
                <a:ea typeface="Yu Gothic"/>
                <a:cs typeface="Yu Gothic"/>
              </a:defRPr>
            </a:lvl9pPr>
          </a:lstStyle>
          <a:p xmlns:a="http://schemas.openxmlformats.org/drawingml/2006/main">
            <a:pPr>
              <a:defRPr sz="2475" b="1">
                <a:solidFill>
                  <a:srgbClr val="253C4D"/>
                </a:solidFill>
                <a:latin typeface="Yu Gothic"/>
                <a:ea typeface="Yu Gothic"/>
                <a:cs typeface="Yu Gothic"/>
              </a:defRPr>
            </a:pPr>
            <a:r>
              <a:rPr sz="2475" b="1">
                <a:solidFill>
                  <a:srgbClr val="253C4D"/>
                </a:solidFill>
                <a:latin typeface="Yu Gothic"/>
                <a:ea typeface="Yu Gothic"/>
                <a:cs typeface="Yu Gothic"/>
              </a:rPr>
              <a:t>細胞壁の層を、隣り合う細胞の図でたどる</a:t>
            </a:r>
          </a:p>
        </p:txBody>
      </p:sp>
      <p:sp>
        <p:nvSpPr>
          <p:cNvPr id="6" name="">
            <a:extLst xmlns:a="http://schemas.openxmlformats.org/drawingml/2006/main">
              <a:ext uri="{FF2B5EF4-FFF2-40B4-BE49-F238E27FC236}">
                <a16:creationId xmlns:a16="http://schemas.microsoft.com/office/drawing/2014/main" id="{0B828B33-463A-4EB7-AF61-58CD8AC0051E}"/>
              </a:ext>
            </a:extLst>
          </p:cNvPr>
          <p:cNvSpPr>
            <a:spLocks xmlns:a="http://schemas.openxmlformats.org/drawingml/2006/main" noGrp="1"/>
          </p:cNvSpPr>
          <p:nvPr/>
        </p:nvSpPr>
        <p:spPr>
          <a:xfrm xmlns:a="http://schemas.openxmlformats.org/drawingml/2006/main">
            <a:off x="838200" y="27146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defRPr sz="2475" b="0">
                <a:solidFill>
                  <a:srgbClr val="253C4D"/>
                </a:solidFill>
                <a:latin typeface="Yu Gothic"/>
                <a:ea typeface="Yu Gothic"/>
                <a:cs typeface="Yu Gothic"/>
              </a:defRPr>
            </a:lvl1pPr>
            <a:lvl2pPr>
              <a:defRPr sz="2475" b="0">
                <a:solidFill>
                  <a:srgbClr val="253C4D"/>
                </a:solidFill>
                <a:latin typeface="Yu Gothic"/>
                <a:ea typeface="Yu Gothic"/>
                <a:cs typeface="Yu Gothic"/>
              </a:defRPr>
            </a:lvl2pPr>
            <a:lvl3pPr>
              <a:defRPr sz="2475" b="0">
                <a:solidFill>
                  <a:srgbClr val="253C4D"/>
                </a:solidFill>
                <a:latin typeface="Yu Gothic"/>
                <a:ea typeface="Yu Gothic"/>
                <a:cs typeface="Yu Gothic"/>
              </a:defRPr>
            </a:lvl3pPr>
            <a:lvl4pPr>
              <a:defRPr sz="2475" b="0">
                <a:solidFill>
                  <a:srgbClr val="253C4D"/>
                </a:solidFill>
                <a:latin typeface="Yu Gothic"/>
                <a:ea typeface="Yu Gothic"/>
                <a:cs typeface="Yu Gothic"/>
              </a:defRPr>
            </a:lvl4pPr>
            <a:lvl5pPr>
              <a:defRPr sz="2475" b="0">
                <a:solidFill>
                  <a:srgbClr val="253C4D"/>
                </a:solidFill>
                <a:latin typeface="Yu Gothic"/>
                <a:ea typeface="Yu Gothic"/>
                <a:cs typeface="Yu Gothic"/>
              </a:defRPr>
            </a:lvl5pPr>
            <a:lvl6pPr>
              <a:defRPr sz="2475" b="0">
                <a:solidFill>
                  <a:srgbClr val="253C4D"/>
                </a:solidFill>
                <a:latin typeface="Yu Gothic"/>
                <a:ea typeface="Yu Gothic"/>
                <a:cs typeface="Yu Gothic"/>
              </a:defRPr>
            </a:lvl6pPr>
            <a:lvl7pPr>
              <a:defRPr sz="2475" b="0">
                <a:solidFill>
                  <a:srgbClr val="253C4D"/>
                </a:solidFill>
                <a:latin typeface="Yu Gothic"/>
                <a:ea typeface="Yu Gothic"/>
                <a:cs typeface="Yu Gothic"/>
              </a:defRPr>
            </a:lvl7pPr>
            <a:lvl8pPr>
              <a:defRPr sz="2475" b="0">
                <a:solidFill>
                  <a:srgbClr val="253C4D"/>
                </a:solidFill>
                <a:latin typeface="Yu Gothic"/>
                <a:ea typeface="Yu Gothic"/>
                <a:cs typeface="Yu Gothic"/>
              </a:defRPr>
            </a:lvl8pPr>
            <a:lvl9pPr>
              <a:defRPr sz="2475" b="0">
                <a:solidFill>
                  <a:srgbClr val="253C4D"/>
                </a:solidFill>
                <a:latin typeface="Yu Gothic"/>
                <a:ea typeface="Yu Gothic"/>
                <a:cs typeface="Yu Gothic"/>
              </a:defRPr>
            </a:lvl9pPr>
          </a:lstStyle>
          <a:p xmlns:a="http://schemas.openxmlformats.org/drawingml/2006/main">
            <a:pPr>
              <a:defRPr sz="2475" b="0">
                <a:solidFill>
                  <a:srgbClr val="253C4D"/>
                </a:solidFill>
                <a:latin typeface="Yu Gothic"/>
                <a:ea typeface="Yu Gothic"/>
                <a:cs typeface="Yu Gothic"/>
              </a:defRPr>
            </a:pPr>
            <a:r>
              <a:rPr sz="2475" b="0">
                <a:solidFill>
                  <a:srgbClr val="253C4D"/>
                </a:solidFill>
                <a:latin typeface="Yu Gothic"/>
                <a:ea typeface="Yu Gothic"/>
                <a:cs typeface="Yu Gothic"/>
              </a:rPr>
              <a:t>ミクロフィブリルと傾角を、向きの図で説明する</a:t>
            </a:r>
          </a:p>
        </p:txBody>
      </p:sp>
      <p:sp>
        <p:nvSpPr>
          <p:cNvPr id="7" name="">
            <a:extLst xmlns:a="http://schemas.openxmlformats.org/drawingml/2006/main">
              <a:ext uri="{FF2B5EF4-FFF2-40B4-BE49-F238E27FC236}">
                <a16:creationId xmlns:a16="http://schemas.microsoft.com/office/drawing/2014/main" id="{3D86BA1C-2223-4961-812D-74E36B11F811}"/>
              </a:ext>
            </a:extLst>
          </p:cNvPr>
          <p:cNvSpPr>
            <a:spLocks xmlns:a="http://schemas.openxmlformats.org/drawingml/2006/main" noGrp="1"/>
          </p:cNvSpPr>
          <p:nvPr/>
        </p:nvSpPr>
        <p:spPr>
          <a:xfrm xmlns:a="http://schemas.openxmlformats.org/drawingml/2006/main">
            <a:off x="838200" y="37147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defRPr sz="2475" b="0">
                <a:solidFill>
                  <a:srgbClr val="253C4D"/>
                </a:solidFill>
                <a:latin typeface="Yu Gothic"/>
                <a:ea typeface="Yu Gothic"/>
                <a:cs typeface="Yu Gothic"/>
              </a:defRPr>
            </a:lvl1pPr>
            <a:lvl2pPr>
              <a:defRPr sz="2475" b="0">
                <a:solidFill>
                  <a:srgbClr val="253C4D"/>
                </a:solidFill>
                <a:latin typeface="Yu Gothic"/>
                <a:ea typeface="Yu Gothic"/>
                <a:cs typeface="Yu Gothic"/>
              </a:defRPr>
            </a:lvl2pPr>
            <a:lvl3pPr>
              <a:defRPr sz="2475" b="0">
                <a:solidFill>
                  <a:srgbClr val="253C4D"/>
                </a:solidFill>
                <a:latin typeface="Yu Gothic"/>
                <a:ea typeface="Yu Gothic"/>
                <a:cs typeface="Yu Gothic"/>
              </a:defRPr>
            </a:lvl3pPr>
            <a:lvl4pPr>
              <a:defRPr sz="2475" b="0">
                <a:solidFill>
                  <a:srgbClr val="253C4D"/>
                </a:solidFill>
                <a:latin typeface="Yu Gothic"/>
                <a:ea typeface="Yu Gothic"/>
                <a:cs typeface="Yu Gothic"/>
              </a:defRPr>
            </a:lvl4pPr>
            <a:lvl5pPr>
              <a:defRPr sz="2475" b="0">
                <a:solidFill>
                  <a:srgbClr val="253C4D"/>
                </a:solidFill>
                <a:latin typeface="Yu Gothic"/>
                <a:ea typeface="Yu Gothic"/>
                <a:cs typeface="Yu Gothic"/>
              </a:defRPr>
            </a:lvl5pPr>
            <a:lvl6pPr>
              <a:defRPr sz="2475" b="0">
                <a:solidFill>
                  <a:srgbClr val="253C4D"/>
                </a:solidFill>
                <a:latin typeface="Yu Gothic"/>
                <a:ea typeface="Yu Gothic"/>
                <a:cs typeface="Yu Gothic"/>
              </a:defRPr>
            </a:lvl6pPr>
            <a:lvl7pPr>
              <a:defRPr sz="2475" b="0">
                <a:solidFill>
                  <a:srgbClr val="253C4D"/>
                </a:solidFill>
                <a:latin typeface="Yu Gothic"/>
                <a:ea typeface="Yu Gothic"/>
                <a:cs typeface="Yu Gothic"/>
              </a:defRPr>
            </a:lvl7pPr>
            <a:lvl8pPr>
              <a:defRPr sz="2475" b="0">
                <a:solidFill>
                  <a:srgbClr val="253C4D"/>
                </a:solidFill>
                <a:latin typeface="Yu Gothic"/>
                <a:ea typeface="Yu Gothic"/>
                <a:cs typeface="Yu Gothic"/>
              </a:defRPr>
            </a:lvl8pPr>
            <a:lvl9pPr>
              <a:defRPr sz="2475" b="0">
                <a:solidFill>
                  <a:srgbClr val="253C4D"/>
                </a:solidFill>
                <a:latin typeface="Yu Gothic"/>
                <a:ea typeface="Yu Gothic"/>
                <a:cs typeface="Yu Gothic"/>
              </a:defRPr>
            </a:lvl9pPr>
          </a:lstStyle>
          <a:p xmlns:a="http://schemas.openxmlformats.org/drawingml/2006/main">
            <a:pPr>
              <a:defRPr sz="2475" b="0">
                <a:solidFill>
                  <a:srgbClr val="253C4D"/>
                </a:solidFill>
                <a:latin typeface="Yu Gothic"/>
                <a:ea typeface="Yu Gothic"/>
                <a:cs typeface="Yu Gothic"/>
              </a:defRPr>
            </a:pPr>
            <a:r>
              <a:rPr sz="2475" b="0">
                <a:solidFill>
                  <a:srgbClr val="253C4D"/>
                </a:solidFill>
                <a:latin typeface="Yu Gothic"/>
                <a:ea typeface="Yu Gothic"/>
                <a:cs typeface="Yu Gothic"/>
              </a:rPr>
              <a:t>壁内部の配向と、板の繊維方向を区別する</a:t>
            </a:r>
          </a:p>
        </p:txBody>
      </p:sp>
      <p:sp>
        <p:nvSpPr>
          <p:cNvPr id="8" name="">
            <a:extLst xmlns:a="http://schemas.openxmlformats.org/drawingml/2006/main">
              <a:ext uri="{FF2B5EF4-FFF2-40B4-BE49-F238E27FC236}">
                <a16:creationId xmlns:a16="http://schemas.microsoft.com/office/drawing/2014/main" id="{E41E57FA-EB49-4442-AB9D-A683CC4012F7}"/>
              </a:ext>
            </a:extLst>
          </p:cNvPr>
          <p:cNvSpPr>
            <a:spLocks xmlns:a="http://schemas.openxmlformats.org/drawingml/2006/main" noGrp="1"/>
          </p:cNvSpPr>
          <p:nvPr/>
        </p:nvSpPr>
        <p:spPr>
          <a:xfrm xmlns:a="http://schemas.openxmlformats.org/drawingml/2006/main">
            <a:off x="838200" y="47148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defRPr sz="2475" b="0">
                <a:solidFill>
                  <a:srgbClr val="253C4D"/>
                </a:solidFill>
                <a:latin typeface="Yu Gothic"/>
                <a:ea typeface="Yu Gothic"/>
                <a:cs typeface="Yu Gothic"/>
              </a:defRPr>
            </a:lvl1pPr>
            <a:lvl2pPr>
              <a:defRPr sz="2475" b="0">
                <a:solidFill>
                  <a:srgbClr val="253C4D"/>
                </a:solidFill>
                <a:latin typeface="Yu Gothic"/>
                <a:ea typeface="Yu Gothic"/>
                <a:cs typeface="Yu Gothic"/>
              </a:defRPr>
            </a:lvl2pPr>
            <a:lvl3pPr>
              <a:defRPr sz="2475" b="0">
                <a:solidFill>
                  <a:srgbClr val="253C4D"/>
                </a:solidFill>
                <a:latin typeface="Yu Gothic"/>
                <a:ea typeface="Yu Gothic"/>
                <a:cs typeface="Yu Gothic"/>
              </a:defRPr>
            </a:lvl3pPr>
            <a:lvl4pPr>
              <a:defRPr sz="2475" b="0">
                <a:solidFill>
                  <a:srgbClr val="253C4D"/>
                </a:solidFill>
                <a:latin typeface="Yu Gothic"/>
                <a:ea typeface="Yu Gothic"/>
                <a:cs typeface="Yu Gothic"/>
              </a:defRPr>
            </a:lvl4pPr>
            <a:lvl5pPr>
              <a:defRPr sz="2475" b="0">
                <a:solidFill>
                  <a:srgbClr val="253C4D"/>
                </a:solidFill>
                <a:latin typeface="Yu Gothic"/>
                <a:ea typeface="Yu Gothic"/>
                <a:cs typeface="Yu Gothic"/>
              </a:defRPr>
            </a:lvl5pPr>
            <a:lvl6pPr>
              <a:defRPr sz="2475" b="0">
                <a:solidFill>
                  <a:srgbClr val="253C4D"/>
                </a:solidFill>
                <a:latin typeface="Yu Gothic"/>
                <a:ea typeface="Yu Gothic"/>
                <a:cs typeface="Yu Gothic"/>
              </a:defRPr>
            </a:lvl6pPr>
            <a:lvl7pPr>
              <a:defRPr sz="2475" b="0">
                <a:solidFill>
                  <a:srgbClr val="253C4D"/>
                </a:solidFill>
                <a:latin typeface="Yu Gothic"/>
                <a:ea typeface="Yu Gothic"/>
                <a:cs typeface="Yu Gothic"/>
              </a:defRPr>
            </a:lvl7pPr>
            <a:lvl8pPr>
              <a:defRPr sz="2475" b="0">
                <a:solidFill>
                  <a:srgbClr val="253C4D"/>
                </a:solidFill>
                <a:latin typeface="Yu Gothic"/>
                <a:ea typeface="Yu Gothic"/>
                <a:cs typeface="Yu Gothic"/>
              </a:defRPr>
            </a:lvl8pPr>
            <a:lvl9pPr>
              <a:defRPr sz="2475" b="0">
                <a:solidFill>
                  <a:srgbClr val="253C4D"/>
                </a:solidFill>
                <a:latin typeface="Yu Gothic"/>
                <a:ea typeface="Yu Gothic"/>
                <a:cs typeface="Yu Gothic"/>
              </a:defRPr>
            </a:lvl9pPr>
          </a:lstStyle>
          <a:p xmlns:a="http://schemas.openxmlformats.org/drawingml/2006/main">
            <a:pPr>
              <a:defRPr sz="2475" b="0">
                <a:solidFill>
                  <a:srgbClr val="253C4D"/>
                </a:solidFill>
                <a:latin typeface="Yu Gothic"/>
                <a:ea typeface="Yu Gothic"/>
                <a:cs typeface="Yu Gothic"/>
              </a:defRPr>
            </a:pPr>
            <a:r>
              <a:rPr sz="2475" b="0">
                <a:solidFill>
                  <a:srgbClr val="253C4D"/>
                </a:solidFill>
                <a:latin typeface="Yu Gothic"/>
                <a:ea typeface="Yu Gothic"/>
                <a:cs typeface="Yu Gothic"/>
              </a:rPr>
              <a:t>問いと復習は自己確認用。必要に応じて一時停止。</a:t>
            </a:r>
          </a:p>
        </p:txBody>
      </p:sp>
    </p:spTree>
    <p:extLst>
      <p:ext uri="{BB962C8B-B14F-4D97-AF65-F5344CB8AC3E}">
        <p14:creationId xmlns:p14="http://schemas.microsoft.com/office/powerpoint/2010/main" val="8568938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687C96E-956A-4A2A-A2B5-CA2042456A4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前回の復習：壁と内腔</a:t>
            </a:r>
          </a:p>
        </p:txBody>
      </p:sp>
      <p:sp>
        <p:nvSpPr>
          <p:cNvPr id="2" name="">
            <a:extLst xmlns:a="http://schemas.openxmlformats.org/drawingml/2006/main">
              <a:ext uri="{FF2B5EF4-FFF2-40B4-BE49-F238E27FC236}">
                <a16:creationId xmlns:a16="http://schemas.microsoft.com/office/drawing/2014/main" id="{5E19C579-0AEB-4CCC-8A48-BB529838B64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D9F8BB-CC69-4231-A53B-133A8B9DB56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0F8B7D25-471E-40C1-9693-17CBE15D78D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BC8116E6-95D8-4071-8FDE-23E633E35353}"/>
              </a:ext>
            </a:extLst>
          </p:cNvPr>
          <p:cNvSpPr>
            <a:spLocks xmlns:a="http://schemas.openxmlformats.org/drawingml/2006/main" noGrp="1"/>
          </p:cNvSpPr>
          <p:nvPr/>
        </p:nvSpPr>
        <p:spPr>
          <a:xfrm xmlns:a="http://schemas.openxmlformats.org/drawingml/2006/main">
            <a:off x="876300"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1296A2CD-B2E2-4B3B-8FD4-E67A028E6F0E}"/>
              </a:ext>
            </a:extLst>
          </p:cNvPr>
          <p:cNvSpPr>
            <a:spLocks xmlns:a="http://schemas.openxmlformats.org/drawingml/2006/main" noGrp="1"/>
          </p:cNvSpPr>
          <p:nvPr/>
        </p:nvSpPr>
        <p:spPr>
          <a:xfrm xmlns:a="http://schemas.openxmlformats.org/drawingml/2006/main">
            <a:off x="895350"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9DFE2FA0-D168-4B0F-A67E-B1E6809D810A}"/>
              </a:ext>
            </a:extLst>
          </p:cNvPr>
          <p:cNvSpPr>
            <a:spLocks xmlns:a="http://schemas.openxmlformats.org/drawingml/2006/main" noGrp="1"/>
          </p:cNvSpPr>
          <p:nvPr/>
        </p:nvSpPr>
        <p:spPr>
          <a:xfrm xmlns:a="http://schemas.openxmlformats.org/drawingml/2006/main">
            <a:off x="2543936"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A2D2973D-E4A8-4DAE-B7DE-CEFBC402B8F6}"/>
              </a:ext>
            </a:extLst>
          </p:cNvPr>
          <p:cNvSpPr>
            <a:spLocks xmlns:a="http://schemas.openxmlformats.org/drawingml/2006/main" noGrp="1"/>
          </p:cNvSpPr>
          <p:nvPr/>
        </p:nvSpPr>
        <p:spPr>
          <a:xfrm xmlns:a="http://schemas.openxmlformats.org/drawingml/2006/main">
            <a:off x="2777405"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E8C79443-CA40-4812-8689-FBF817A78ADF}"/>
              </a:ext>
            </a:extLst>
          </p:cNvPr>
          <p:cNvSpPr>
            <a:spLocks xmlns:a="http://schemas.openxmlformats.org/drawingml/2006/main" noGrp="1"/>
          </p:cNvSpPr>
          <p:nvPr/>
        </p:nvSpPr>
        <p:spPr>
          <a:xfrm xmlns:a="http://schemas.openxmlformats.org/drawingml/2006/main">
            <a:off x="2796455"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9AB7646C-912D-45C5-8A72-EBD9960B6EC1}"/>
              </a:ext>
            </a:extLst>
          </p:cNvPr>
          <p:cNvSpPr>
            <a:spLocks xmlns:a="http://schemas.openxmlformats.org/drawingml/2006/main" noGrp="1"/>
          </p:cNvSpPr>
          <p:nvPr/>
        </p:nvSpPr>
        <p:spPr>
          <a:xfrm xmlns:a="http://schemas.openxmlformats.org/drawingml/2006/main">
            <a:off x="5278858"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A49FF093-356A-4AE9-93A3-A0AF7F5136E1}"/>
              </a:ext>
            </a:extLst>
          </p:cNvPr>
          <p:cNvSpPr>
            <a:spLocks xmlns:a="http://schemas.openxmlformats.org/drawingml/2006/main" noGrp="1"/>
          </p:cNvSpPr>
          <p:nvPr/>
        </p:nvSpPr>
        <p:spPr>
          <a:xfrm xmlns:a="http://schemas.openxmlformats.org/drawingml/2006/main">
            <a:off x="5645738"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66083186-C78A-4750-82DA-F2DD6589E417}"/>
              </a:ext>
            </a:extLst>
          </p:cNvPr>
          <p:cNvSpPr>
            <a:spLocks xmlns:a="http://schemas.openxmlformats.org/drawingml/2006/main" noGrp="1"/>
          </p:cNvSpPr>
          <p:nvPr/>
        </p:nvSpPr>
        <p:spPr>
          <a:xfrm xmlns:a="http://schemas.openxmlformats.org/drawingml/2006/main">
            <a:off x="5945913" y="1762125"/>
            <a:ext cx="300174" cy="185737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CD5E8C16-8A86-4D6D-9DE8-162781FC7015}"/>
              </a:ext>
            </a:extLst>
          </p:cNvPr>
          <p:cNvSpPr>
            <a:spLocks xmlns:a="http://schemas.openxmlformats.org/drawingml/2006/main" noGrp="1"/>
          </p:cNvSpPr>
          <p:nvPr/>
        </p:nvSpPr>
        <p:spPr>
          <a:xfrm xmlns:a="http://schemas.openxmlformats.org/drawingml/2006/main">
            <a:off x="6246087"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E5990F25-0BE1-4BD5-B495-D6FFA16AB010}"/>
              </a:ext>
            </a:extLst>
          </p:cNvPr>
          <p:cNvSpPr>
            <a:spLocks xmlns:a="http://schemas.openxmlformats.org/drawingml/2006/main" noGrp="1"/>
          </p:cNvSpPr>
          <p:nvPr/>
        </p:nvSpPr>
        <p:spPr>
          <a:xfrm xmlns:a="http://schemas.openxmlformats.org/drawingml/2006/main">
            <a:off x="6546262"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305F2E15-AB86-4F25-923A-81FF60F812A8}"/>
              </a:ext>
            </a:extLst>
          </p:cNvPr>
          <p:cNvSpPr>
            <a:spLocks xmlns:a="http://schemas.openxmlformats.org/drawingml/2006/main" noGrp="1"/>
          </p:cNvSpPr>
          <p:nvPr/>
        </p:nvSpPr>
        <p:spPr>
          <a:xfrm xmlns:a="http://schemas.openxmlformats.org/drawingml/2006/main">
            <a:off x="6913142"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06428743-D9D7-4FD5-9732-43612EA3B0AC}"/>
              </a:ext>
            </a:extLst>
          </p:cNvPr>
          <p:cNvSpPr>
            <a:spLocks xmlns:a="http://schemas.openxmlformats.org/drawingml/2006/main" noGrp="1"/>
          </p:cNvSpPr>
          <p:nvPr/>
        </p:nvSpPr>
        <p:spPr>
          <a:xfrm xmlns:a="http://schemas.openxmlformats.org/drawingml/2006/main">
            <a:off x="6932192"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AA732AFB-5468-48DE-B3CD-0136A1B2569C}"/>
              </a:ext>
            </a:extLst>
          </p:cNvPr>
          <p:cNvSpPr>
            <a:spLocks xmlns:a="http://schemas.openxmlformats.org/drawingml/2006/main" noGrp="1"/>
          </p:cNvSpPr>
          <p:nvPr/>
        </p:nvSpPr>
        <p:spPr>
          <a:xfrm xmlns:a="http://schemas.openxmlformats.org/drawingml/2006/main">
            <a:off x="9414595"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9AB9F3FE-5D85-4E88-8DE1-54609AB5B3DC}"/>
              </a:ext>
            </a:extLst>
          </p:cNvPr>
          <p:cNvSpPr>
            <a:spLocks xmlns:a="http://schemas.openxmlformats.org/drawingml/2006/main" noGrp="1"/>
          </p:cNvSpPr>
          <p:nvPr/>
        </p:nvSpPr>
        <p:spPr>
          <a:xfrm xmlns:a="http://schemas.openxmlformats.org/drawingml/2006/main">
            <a:off x="9648064"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3A45E020-55C9-485B-B007-3E535293B0BC}"/>
              </a:ext>
            </a:extLst>
          </p:cNvPr>
          <p:cNvSpPr>
            <a:spLocks xmlns:a="http://schemas.openxmlformats.org/drawingml/2006/main" noGrp="1"/>
          </p:cNvSpPr>
          <p:nvPr/>
        </p:nvSpPr>
        <p:spPr>
          <a:xfrm xmlns:a="http://schemas.openxmlformats.org/drawingml/2006/main">
            <a:off x="9667114"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9A57E9FC-3058-477C-8E90-4588D646233C}"/>
              </a:ext>
            </a:extLst>
          </p:cNvPr>
          <p:cNvSpPr>
            <a:spLocks xmlns:a="http://schemas.openxmlformats.org/drawingml/2006/main" noGrp="1"/>
          </p:cNvSpPr>
          <p:nvPr/>
        </p:nvSpPr>
        <p:spPr>
          <a:xfrm xmlns:a="http://schemas.openxmlformats.org/drawingml/2006/main">
            <a:off x="266067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1" name="">
            <a:extLst xmlns:a="http://schemas.openxmlformats.org/drawingml/2006/main">
              <a:ext uri="{FF2B5EF4-FFF2-40B4-BE49-F238E27FC236}">
                <a16:creationId xmlns:a16="http://schemas.microsoft.com/office/drawing/2014/main" id="{CF504791-707D-4EEA-A95F-70AD464CEAAA}"/>
              </a:ext>
            </a:extLst>
          </p:cNvPr>
          <p:cNvSpPr>
            <a:spLocks xmlns:a="http://schemas.openxmlformats.org/drawingml/2006/main" noGrp="1"/>
          </p:cNvSpPr>
          <p:nvPr/>
        </p:nvSpPr>
        <p:spPr>
          <a:xfrm xmlns:a="http://schemas.openxmlformats.org/drawingml/2006/main">
            <a:off x="255589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22" name="">
            <a:extLst xmlns:a="http://schemas.openxmlformats.org/drawingml/2006/main">
              <a:ext uri="{FF2B5EF4-FFF2-40B4-BE49-F238E27FC236}">
                <a16:creationId xmlns:a16="http://schemas.microsoft.com/office/drawing/2014/main" id="{8A2DD0F3-3F63-44AF-A4A6-89810861E60E}"/>
              </a:ext>
            </a:extLst>
          </p:cNvPr>
          <p:cNvSpPr>
            <a:spLocks xmlns:a="http://schemas.openxmlformats.org/drawingml/2006/main" noGrp="1"/>
          </p:cNvSpPr>
          <p:nvPr/>
        </p:nvSpPr>
        <p:spPr>
          <a:xfrm xmlns:a="http://schemas.openxmlformats.org/drawingml/2006/main">
            <a:off x="5462298"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3" name="">
            <a:extLst xmlns:a="http://schemas.openxmlformats.org/drawingml/2006/main">
              <a:ext uri="{FF2B5EF4-FFF2-40B4-BE49-F238E27FC236}">
                <a16:creationId xmlns:a16="http://schemas.microsoft.com/office/drawing/2014/main" id="{813A7061-D4FD-4E5E-BDE8-EF7634DCEA73}"/>
              </a:ext>
            </a:extLst>
          </p:cNvPr>
          <p:cNvSpPr>
            <a:spLocks xmlns:a="http://schemas.openxmlformats.org/drawingml/2006/main" noGrp="1"/>
          </p:cNvSpPr>
          <p:nvPr/>
        </p:nvSpPr>
        <p:spPr>
          <a:xfrm xmlns:a="http://schemas.openxmlformats.org/drawingml/2006/main">
            <a:off x="5357523"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24" name="">
            <a:extLst xmlns:a="http://schemas.openxmlformats.org/drawingml/2006/main">
              <a:ext uri="{FF2B5EF4-FFF2-40B4-BE49-F238E27FC236}">
                <a16:creationId xmlns:a16="http://schemas.microsoft.com/office/drawing/2014/main" id="{DA601F31-ECB6-45AE-BB6B-BE2C29CCCFDF}"/>
              </a:ext>
            </a:extLst>
          </p:cNvPr>
          <p:cNvSpPr>
            <a:spLocks xmlns:a="http://schemas.openxmlformats.org/drawingml/2006/main" noGrp="1"/>
          </p:cNvSpPr>
          <p:nvPr/>
        </p:nvSpPr>
        <p:spPr>
          <a:xfrm xmlns:a="http://schemas.openxmlformats.org/drawingml/2006/main">
            <a:off x="5795826"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5" name="">
            <a:extLst xmlns:a="http://schemas.openxmlformats.org/drawingml/2006/main">
              <a:ext uri="{FF2B5EF4-FFF2-40B4-BE49-F238E27FC236}">
                <a16:creationId xmlns:a16="http://schemas.microsoft.com/office/drawing/2014/main" id="{67E04838-AAC8-4D40-B9A8-6AA73D5BAF58}"/>
              </a:ext>
            </a:extLst>
          </p:cNvPr>
          <p:cNvSpPr>
            <a:spLocks xmlns:a="http://schemas.openxmlformats.org/drawingml/2006/main" noGrp="1"/>
          </p:cNvSpPr>
          <p:nvPr/>
        </p:nvSpPr>
        <p:spPr>
          <a:xfrm xmlns:a="http://schemas.openxmlformats.org/drawingml/2006/main">
            <a:off x="5691051"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26" name="">
            <a:extLst xmlns:a="http://schemas.openxmlformats.org/drawingml/2006/main">
              <a:ext uri="{FF2B5EF4-FFF2-40B4-BE49-F238E27FC236}">
                <a16:creationId xmlns:a16="http://schemas.microsoft.com/office/drawing/2014/main" id="{2DF4C098-8388-4A2B-A276-B6D6FCC2BB99}"/>
              </a:ext>
            </a:extLst>
          </p:cNvPr>
          <p:cNvSpPr>
            <a:spLocks xmlns:a="http://schemas.openxmlformats.org/drawingml/2006/main" noGrp="1"/>
          </p:cNvSpPr>
          <p:nvPr/>
        </p:nvSpPr>
        <p:spPr>
          <a:xfrm xmlns:a="http://schemas.openxmlformats.org/drawingml/2006/main">
            <a:off x="6096000"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7" name="">
            <a:extLst xmlns:a="http://schemas.openxmlformats.org/drawingml/2006/main">
              <a:ext uri="{FF2B5EF4-FFF2-40B4-BE49-F238E27FC236}">
                <a16:creationId xmlns:a16="http://schemas.microsoft.com/office/drawing/2014/main" id="{A9D8047D-5A31-4741-B9EA-82FD16A02D3E}"/>
              </a:ext>
            </a:extLst>
          </p:cNvPr>
          <p:cNvSpPr>
            <a:spLocks xmlns:a="http://schemas.openxmlformats.org/drawingml/2006/main" noGrp="1"/>
          </p:cNvSpPr>
          <p:nvPr/>
        </p:nvSpPr>
        <p:spPr>
          <a:xfrm xmlns:a="http://schemas.openxmlformats.org/drawingml/2006/main">
            <a:off x="5991225"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I</a:t>
            </a:r>
          </a:p>
        </p:txBody>
      </p:sp>
      <p:sp>
        <p:nvSpPr>
          <p:cNvPr id="28" name="">
            <a:extLst xmlns:a="http://schemas.openxmlformats.org/drawingml/2006/main">
              <a:ext uri="{FF2B5EF4-FFF2-40B4-BE49-F238E27FC236}">
                <a16:creationId xmlns:a16="http://schemas.microsoft.com/office/drawing/2014/main" id="{26638501-5C68-4926-82CB-1C7F1D74B040}"/>
              </a:ext>
            </a:extLst>
          </p:cNvPr>
          <p:cNvSpPr>
            <a:spLocks xmlns:a="http://schemas.openxmlformats.org/drawingml/2006/main" noGrp="1"/>
          </p:cNvSpPr>
          <p:nvPr/>
        </p:nvSpPr>
        <p:spPr>
          <a:xfrm xmlns:a="http://schemas.openxmlformats.org/drawingml/2006/main">
            <a:off x="6396174"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9" name="">
            <a:extLst xmlns:a="http://schemas.openxmlformats.org/drawingml/2006/main">
              <a:ext uri="{FF2B5EF4-FFF2-40B4-BE49-F238E27FC236}">
                <a16:creationId xmlns:a16="http://schemas.microsoft.com/office/drawing/2014/main" id="{D916B692-8BEF-4513-BC2C-7AB84E7E752B}"/>
              </a:ext>
            </a:extLst>
          </p:cNvPr>
          <p:cNvSpPr>
            <a:spLocks xmlns:a="http://schemas.openxmlformats.org/drawingml/2006/main" noGrp="1"/>
          </p:cNvSpPr>
          <p:nvPr/>
        </p:nvSpPr>
        <p:spPr>
          <a:xfrm xmlns:a="http://schemas.openxmlformats.org/drawingml/2006/main">
            <a:off x="6291399"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30" name="">
            <a:extLst xmlns:a="http://schemas.openxmlformats.org/drawingml/2006/main">
              <a:ext uri="{FF2B5EF4-FFF2-40B4-BE49-F238E27FC236}">
                <a16:creationId xmlns:a16="http://schemas.microsoft.com/office/drawing/2014/main" id="{D2CD2F9E-5EB8-417F-99D2-C459CE0998B0}"/>
              </a:ext>
            </a:extLst>
          </p:cNvPr>
          <p:cNvSpPr>
            <a:spLocks xmlns:a="http://schemas.openxmlformats.org/drawingml/2006/main" noGrp="1"/>
          </p:cNvSpPr>
          <p:nvPr/>
        </p:nvSpPr>
        <p:spPr>
          <a:xfrm xmlns:a="http://schemas.openxmlformats.org/drawingml/2006/main">
            <a:off x="6729702"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31" name="">
            <a:extLst xmlns:a="http://schemas.openxmlformats.org/drawingml/2006/main">
              <a:ext uri="{FF2B5EF4-FFF2-40B4-BE49-F238E27FC236}">
                <a16:creationId xmlns:a16="http://schemas.microsoft.com/office/drawing/2014/main" id="{148E33DD-9C79-43F5-8C15-B0861A5A819D}"/>
              </a:ext>
            </a:extLst>
          </p:cNvPr>
          <p:cNvSpPr>
            <a:spLocks xmlns:a="http://schemas.openxmlformats.org/drawingml/2006/main" noGrp="1"/>
          </p:cNvSpPr>
          <p:nvPr/>
        </p:nvSpPr>
        <p:spPr>
          <a:xfrm xmlns:a="http://schemas.openxmlformats.org/drawingml/2006/main">
            <a:off x="6624927"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32" name="">
            <a:extLst xmlns:a="http://schemas.openxmlformats.org/drawingml/2006/main">
              <a:ext uri="{FF2B5EF4-FFF2-40B4-BE49-F238E27FC236}">
                <a16:creationId xmlns:a16="http://schemas.microsoft.com/office/drawing/2014/main" id="{55B4268B-EA7B-44F9-BF0E-411F98E4625A}"/>
              </a:ext>
            </a:extLst>
          </p:cNvPr>
          <p:cNvSpPr>
            <a:spLocks xmlns:a="http://schemas.openxmlformats.org/drawingml/2006/main" noGrp="1"/>
          </p:cNvSpPr>
          <p:nvPr/>
        </p:nvSpPr>
        <p:spPr>
          <a:xfrm xmlns:a="http://schemas.openxmlformats.org/drawingml/2006/main">
            <a:off x="953133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33" name="">
            <a:extLst xmlns:a="http://schemas.openxmlformats.org/drawingml/2006/main">
              <a:ext uri="{FF2B5EF4-FFF2-40B4-BE49-F238E27FC236}">
                <a16:creationId xmlns:a16="http://schemas.microsoft.com/office/drawing/2014/main" id="{A6AFFA04-2A72-4E7B-9FBC-BBE3AF891E9F}"/>
              </a:ext>
            </a:extLst>
          </p:cNvPr>
          <p:cNvSpPr>
            <a:spLocks xmlns:a="http://schemas.openxmlformats.org/drawingml/2006/main" noGrp="1"/>
          </p:cNvSpPr>
          <p:nvPr/>
        </p:nvSpPr>
        <p:spPr>
          <a:xfrm xmlns:a="http://schemas.openxmlformats.org/drawingml/2006/main">
            <a:off x="942655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34" name="">
            <a:extLst xmlns:a="http://schemas.openxmlformats.org/drawingml/2006/main">
              <a:ext uri="{FF2B5EF4-FFF2-40B4-BE49-F238E27FC236}">
                <a16:creationId xmlns:a16="http://schemas.microsoft.com/office/drawing/2014/main" id="{90960944-F1BA-4E78-A74B-BA5434CA918B}"/>
              </a:ext>
            </a:extLst>
          </p:cNvPr>
          <p:cNvSpPr>
            <a:spLocks xmlns:a="http://schemas.openxmlformats.org/drawingml/2006/main" noGrp="1"/>
          </p:cNvSpPr>
          <p:nvPr/>
        </p:nvSpPr>
        <p:spPr>
          <a:xfrm xmlns:a="http://schemas.openxmlformats.org/drawingml/2006/main">
            <a:off x="876300" y="1352550"/>
            <a:ext cx="417576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左の細胞</a:t>
            </a:r>
          </a:p>
        </p:txBody>
      </p:sp>
      <p:sp>
        <p:nvSpPr>
          <p:cNvPr id="35" name="">
            <a:extLst xmlns:a="http://schemas.openxmlformats.org/drawingml/2006/main">
              <a:ext uri="{FF2B5EF4-FFF2-40B4-BE49-F238E27FC236}">
                <a16:creationId xmlns:a16="http://schemas.microsoft.com/office/drawing/2014/main" id="{72BE68E8-8D8F-4F3A-8142-2698B9D537E1}"/>
              </a:ext>
            </a:extLst>
          </p:cNvPr>
          <p:cNvSpPr>
            <a:spLocks xmlns:a="http://schemas.openxmlformats.org/drawingml/2006/main" noGrp="1"/>
          </p:cNvSpPr>
          <p:nvPr/>
        </p:nvSpPr>
        <p:spPr>
          <a:xfrm xmlns:a="http://schemas.openxmlformats.org/drawingml/2006/main">
            <a:off x="8183880" y="1352550"/>
            <a:ext cx="31318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右の細胞</a:t>
            </a:r>
          </a:p>
        </p:txBody>
      </p:sp>
      <p:sp>
        <p:nvSpPr>
          <p:cNvPr id="36" name="">
            <a:extLst xmlns:a="http://schemas.openxmlformats.org/drawingml/2006/main">
              <a:ext uri="{FF2B5EF4-FFF2-40B4-BE49-F238E27FC236}">
                <a16:creationId xmlns:a16="http://schemas.microsoft.com/office/drawing/2014/main" id="{058D81C1-4DAD-4558-91BC-F6C421F6D3B1}"/>
              </a:ext>
            </a:extLst>
          </p:cNvPr>
          <p:cNvSpPr>
            <a:spLocks xmlns:a="http://schemas.openxmlformats.org/drawingml/2006/main" noGrp="1"/>
          </p:cNvSpPr>
          <p:nvPr/>
        </p:nvSpPr>
        <p:spPr>
          <a:xfrm xmlns:a="http://schemas.openxmlformats.org/drawingml/2006/main">
            <a:off x="876300" y="462915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defRPr sz="1650" b="0">
                <a:solidFill>
                  <a:srgbClr val="596875"/>
                </a:solidFill>
                <a:latin typeface="Yu Gothic"/>
                <a:ea typeface="Yu Gothic"/>
                <a:cs typeface="Yu Gothic"/>
              </a:defRPr>
            </a:lvl1pPr>
            <a:lvl2pPr>
              <a:defRPr sz="1650" b="0">
                <a:solidFill>
                  <a:srgbClr val="596875"/>
                </a:solidFill>
                <a:latin typeface="Yu Gothic"/>
                <a:ea typeface="Yu Gothic"/>
                <a:cs typeface="Yu Gothic"/>
              </a:defRPr>
            </a:lvl2pPr>
            <a:lvl3pPr>
              <a:defRPr sz="1650" b="0">
                <a:solidFill>
                  <a:srgbClr val="596875"/>
                </a:solidFill>
                <a:latin typeface="Yu Gothic"/>
                <a:ea typeface="Yu Gothic"/>
                <a:cs typeface="Yu Gothic"/>
              </a:defRPr>
            </a:lvl3pPr>
            <a:lvl4pPr>
              <a:defRPr sz="1650" b="0">
                <a:solidFill>
                  <a:srgbClr val="596875"/>
                </a:solidFill>
                <a:latin typeface="Yu Gothic"/>
                <a:ea typeface="Yu Gothic"/>
                <a:cs typeface="Yu Gothic"/>
              </a:defRPr>
            </a:lvl4pPr>
            <a:lvl5pPr>
              <a:defRPr sz="1650" b="0">
                <a:solidFill>
                  <a:srgbClr val="596875"/>
                </a:solidFill>
                <a:latin typeface="Yu Gothic"/>
                <a:ea typeface="Yu Gothic"/>
                <a:cs typeface="Yu Gothic"/>
              </a:defRPr>
            </a:lvl5pPr>
            <a:lvl6pPr>
              <a:defRPr sz="1650" b="0">
                <a:solidFill>
                  <a:srgbClr val="596875"/>
                </a:solidFill>
                <a:latin typeface="Yu Gothic"/>
                <a:ea typeface="Yu Gothic"/>
                <a:cs typeface="Yu Gothic"/>
              </a:defRPr>
            </a:lvl6pPr>
            <a:lvl7pPr>
              <a:defRPr sz="1650" b="0">
                <a:solidFill>
                  <a:srgbClr val="596875"/>
                </a:solidFill>
                <a:latin typeface="Yu Gothic"/>
                <a:ea typeface="Yu Gothic"/>
                <a:cs typeface="Yu Gothic"/>
              </a:defRPr>
            </a:lvl7pPr>
            <a:lvl8pPr>
              <a:defRPr sz="1650" b="0">
                <a:solidFill>
                  <a:srgbClr val="596875"/>
                </a:solidFill>
                <a:latin typeface="Yu Gothic"/>
                <a:ea typeface="Yu Gothic"/>
                <a:cs typeface="Yu Gothic"/>
              </a:defRPr>
            </a:lvl8pPr>
            <a:lvl9pPr>
              <a:defRPr sz="1650" b="0">
                <a:solidFill>
                  <a:srgbClr val="596875"/>
                </a:solidFill>
                <a:latin typeface="Yu Gothic"/>
                <a:ea typeface="Yu Gothic"/>
                <a:cs typeface="Yu Gothic"/>
              </a:defRPr>
            </a:lvl9pPr>
          </a:lstStyle>
          <a:p xmlns:a="http://schemas.openxmlformats.org/drawingml/2006/main">
            <a:pPr>
              <a:defRPr sz="1650" b="0">
                <a:solidFill>
                  <a:srgbClr val="596875"/>
                </a:solidFill>
                <a:latin typeface="Yu Gothic"/>
                <a:ea typeface="Yu Gothic"/>
                <a:cs typeface="Yu Gothic"/>
              </a:defRPr>
            </a:pPr>
            <a:r>
              <a:rPr sz="1650" b="0">
                <a:solidFill>
                  <a:srgbClr val="596875"/>
                </a:solidFill>
                <a:latin typeface="Yu Gothic"/>
                <a:ea typeface="Yu Gothic"/>
                <a:cs typeface="Yu Gothic"/>
              </a:rPr>
              <a:t>S2 を厚くした模式図。色・厚さ比は実測値ではない。</a:t>
            </a:r>
          </a:p>
        </p:txBody>
      </p:sp>
      <p:sp>
        <p:nvSpPr>
          <p:cNvPr id="37" name="">
            <a:extLst xmlns:a="http://schemas.openxmlformats.org/drawingml/2006/main">
              <a:ext uri="{FF2B5EF4-FFF2-40B4-BE49-F238E27FC236}">
                <a16:creationId xmlns:a16="http://schemas.microsoft.com/office/drawing/2014/main" id="{43A2E8AC-10AA-42F6-8FFF-A5576B673301}"/>
              </a:ext>
            </a:extLst>
          </p:cNvPr>
          <p:cNvSpPr>
            <a:spLocks xmlns:a="http://schemas.openxmlformats.org/drawingml/2006/main" noGrp="1"/>
          </p:cNvSpPr>
          <p:nvPr/>
        </p:nvSpPr>
        <p:spPr>
          <a:xfrm xmlns:a="http://schemas.openxmlformats.org/drawingml/2006/main">
            <a:off x="838200" y="510540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53C4D"/>
                </a:solidFill>
                <a:latin typeface="Yu Gothic"/>
                <a:ea typeface="Yu Gothic"/>
                <a:cs typeface="Yu Gothic"/>
              </a:defRPr>
            </a:defPPr>
            <a:lvl1pPr>
              <a:defRPr sz="1875" b="1">
                <a:solidFill>
                  <a:srgbClr val="253C4D"/>
                </a:solidFill>
                <a:latin typeface="Yu Gothic"/>
                <a:ea typeface="Yu Gothic"/>
                <a:cs typeface="Yu Gothic"/>
              </a:defRPr>
            </a:lvl1pPr>
            <a:lvl2pPr>
              <a:defRPr sz="1875" b="1">
                <a:solidFill>
                  <a:srgbClr val="253C4D"/>
                </a:solidFill>
                <a:latin typeface="Yu Gothic"/>
                <a:ea typeface="Yu Gothic"/>
                <a:cs typeface="Yu Gothic"/>
              </a:defRPr>
            </a:lvl2pPr>
            <a:lvl3pPr>
              <a:defRPr sz="1875" b="1">
                <a:solidFill>
                  <a:srgbClr val="253C4D"/>
                </a:solidFill>
                <a:latin typeface="Yu Gothic"/>
                <a:ea typeface="Yu Gothic"/>
                <a:cs typeface="Yu Gothic"/>
              </a:defRPr>
            </a:lvl3pPr>
            <a:lvl4pPr>
              <a:defRPr sz="1875" b="1">
                <a:solidFill>
                  <a:srgbClr val="253C4D"/>
                </a:solidFill>
                <a:latin typeface="Yu Gothic"/>
                <a:ea typeface="Yu Gothic"/>
                <a:cs typeface="Yu Gothic"/>
              </a:defRPr>
            </a:lvl4pPr>
            <a:lvl5pPr>
              <a:defRPr sz="1875" b="1">
                <a:solidFill>
                  <a:srgbClr val="253C4D"/>
                </a:solidFill>
                <a:latin typeface="Yu Gothic"/>
                <a:ea typeface="Yu Gothic"/>
                <a:cs typeface="Yu Gothic"/>
              </a:defRPr>
            </a:lvl5pPr>
            <a:lvl6pPr>
              <a:defRPr sz="1875" b="1">
                <a:solidFill>
                  <a:srgbClr val="253C4D"/>
                </a:solidFill>
                <a:latin typeface="Yu Gothic"/>
                <a:ea typeface="Yu Gothic"/>
                <a:cs typeface="Yu Gothic"/>
              </a:defRPr>
            </a:lvl6pPr>
            <a:lvl7pPr>
              <a:defRPr sz="1875" b="1">
                <a:solidFill>
                  <a:srgbClr val="253C4D"/>
                </a:solidFill>
                <a:latin typeface="Yu Gothic"/>
                <a:ea typeface="Yu Gothic"/>
                <a:cs typeface="Yu Gothic"/>
              </a:defRPr>
            </a:lvl7pPr>
            <a:lvl8pPr>
              <a:defRPr sz="1875" b="1">
                <a:solidFill>
                  <a:srgbClr val="253C4D"/>
                </a:solidFill>
                <a:latin typeface="Yu Gothic"/>
                <a:ea typeface="Yu Gothic"/>
                <a:cs typeface="Yu Gothic"/>
              </a:defRPr>
            </a:lvl8pPr>
            <a:lvl9pPr>
              <a:defRPr sz="1875" b="1">
                <a:solidFill>
                  <a:srgbClr val="253C4D"/>
                </a:solidFill>
                <a:latin typeface="Yu Gothic"/>
                <a:ea typeface="Yu Gothic"/>
                <a:cs typeface="Yu Gothic"/>
              </a:defRPr>
            </a:lvl9pPr>
          </a:lstStyle>
          <a:p xmlns:a="http://schemas.openxmlformats.org/drawingml/2006/main">
            <a:pPr>
              <a:defRPr sz="1875" b="1">
                <a:solidFill>
                  <a:srgbClr val="253C4D"/>
                </a:solidFill>
                <a:latin typeface="Yu Gothic"/>
                <a:ea typeface="Yu Gothic"/>
                <a:cs typeface="Yu Gothic"/>
              </a:defRPr>
            </a:pPr>
            <a:r>
              <a:rPr sz="1875" b="1">
                <a:solidFill>
                  <a:srgbClr val="253C4D"/>
                </a:solidFill>
                <a:latin typeface="Yu Gothic"/>
                <a:ea typeface="Yu Gothic"/>
                <a:cs typeface="Yu Gothic"/>
              </a:rPr>
              <a:t>内腔：細胞内部の空間</a:t>
            </a:r>
          </a:p>
        </p:txBody>
      </p:sp>
      <p:sp>
        <p:nvSpPr>
          <p:cNvPr id="38" name="">
            <a:extLst xmlns:a="http://schemas.openxmlformats.org/drawingml/2006/main">
              <a:ext uri="{FF2B5EF4-FFF2-40B4-BE49-F238E27FC236}">
                <a16:creationId xmlns:a16="http://schemas.microsoft.com/office/drawing/2014/main" id="{436C2C50-16A5-46AB-B56D-DABD6D509AF7}"/>
              </a:ext>
            </a:extLst>
          </p:cNvPr>
          <p:cNvSpPr>
            <a:spLocks xmlns:a="http://schemas.openxmlformats.org/drawingml/2006/main" noGrp="1"/>
          </p:cNvSpPr>
          <p:nvPr/>
        </p:nvSpPr>
        <p:spPr>
          <a:xfrm xmlns:a="http://schemas.openxmlformats.org/drawingml/2006/main">
            <a:off x="838200" y="54387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defRPr sz="1875" b="0">
                <a:solidFill>
                  <a:srgbClr val="253C4D"/>
                </a:solidFill>
                <a:latin typeface="Yu Gothic"/>
                <a:ea typeface="Yu Gothic"/>
                <a:cs typeface="Yu Gothic"/>
              </a:defRPr>
            </a:lvl1pPr>
            <a:lvl2pPr>
              <a:defRPr sz="1875" b="0">
                <a:solidFill>
                  <a:srgbClr val="253C4D"/>
                </a:solidFill>
                <a:latin typeface="Yu Gothic"/>
                <a:ea typeface="Yu Gothic"/>
                <a:cs typeface="Yu Gothic"/>
              </a:defRPr>
            </a:lvl2pPr>
            <a:lvl3pPr>
              <a:defRPr sz="1875" b="0">
                <a:solidFill>
                  <a:srgbClr val="253C4D"/>
                </a:solidFill>
                <a:latin typeface="Yu Gothic"/>
                <a:ea typeface="Yu Gothic"/>
                <a:cs typeface="Yu Gothic"/>
              </a:defRPr>
            </a:lvl3pPr>
            <a:lvl4pPr>
              <a:defRPr sz="1875" b="0">
                <a:solidFill>
                  <a:srgbClr val="253C4D"/>
                </a:solidFill>
                <a:latin typeface="Yu Gothic"/>
                <a:ea typeface="Yu Gothic"/>
                <a:cs typeface="Yu Gothic"/>
              </a:defRPr>
            </a:lvl4pPr>
            <a:lvl5pPr>
              <a:defRPr sz="1875" b="0">
                <a:solidFill>
                  <a:srgbClr val="253C4D"/>
                </a:solidFill>
                <a:latin typeface="Yu Gothic"/>
                <a:ea typeface="Yu Gothic"/>
                <a:cs typeface="Yu Gothic"/>
              </a:defRPr>
            </a:lvl5pPr>
            <a:lvl6pPr>
              <a:defRPr sz="1875" b="0">
                <a:solidFill>
                  <a:srgbClr val="253C4D"/>
                </a:solidFill>
                <a:latin typeface="Yu Gothic"/>
                <a:ea typeface="Yu Gothic"/>
                <a:cs typeface="Yu Gothic"/>
              </a:defRPr>
            </a:lvl6pPr>
            <a:lvl7pPr>
              <a:defRPr sz="1875" b="0">
                <a:solidFill>
                  <a:srgbClr val="253C4D"/>
                </a:solidFill>
                <a:latin typeface="Yu Gothic"/>
                <a:ea typeface="Yu Gothic"/>
                <a:cs typeface="Yu Gothic"/>
              </a:defRPr>
            </a:lvl7pPr>
            <a:lvl8pPr>
              <a:defRPr sz="1875" b="0">
                <a:solidFill>
                  <a:srgbClr val="253C4D"/>
                </a:solidFill>
                <a:latin typeface="Yu Gothic"/>
                <a:ea typeface="Yu Gothic"/>
                <a:cs typeface="Yu Gothic"/>
              </a:defRPr>
            </a:lvl8pPr>
            <a:lvl9pPr>
              <a:defRPr sz="1875" b="0">
                <a:solidFill>
                  <a:srgbClr val="253C4D"/>
                </a:solidFill>
                <a:latin typeface="Yu Gothic"/>
                <a:ea typeface="Yu Gothic"/>
                <a:cs typeface="Yu Gothic"/>
              </a:defRPr>
            </a:lvl9pPr>
          </a:lstStyle>
          <a:p xmlns:a="http://schemas.openxmlformats.org/drawingml/2006/main">
            <a:pPr>
              <a:defRPr sz="1875" b="0">
                <a:solidFill>
                  <a:srgbClr val="253C4D"/>
                </a:solidFill>
                <a:latin typeface="Yu Gothic"/>
                <a:ea typeface="Yu Gothic"/>
                <a:cs typeface="Yu Gothic"/>
              </a:defRPr>
            </a:pPr>
            <a:r>
              <a:rPr sz="1875" b="0">
                <a:solidFill>
                  <a:srgbClr val="253C4D"/>
                </a:solidFill>
                <a:latin typeface="Yu Gothic"/>
                <a:ea typeface="Yu Gothic"/>
                <a:cs typeface="Yu Gothic"/>
              </a:rPr>
              <a:t>細胞壁：内腔を囲む構造</a:t>
            </a:r>
          </a:p>
        </p:txBody>
      </p:sp>
      <p:sp>
        <p:nvSpPr>
          <p:cNvPr id="39" name="">
            <a:extLst xmlns:a="http://schemas.openxmlformats.org/drawingml/2006/main">
              <a:ext uri="{FF2B5EF4-FFF2-40B4-BE49-F238E27FC236}">
                <a16:creationId xmlns:a16="http://schemas.microsoft.com/office/drawing/2014/main" id="{CAA8526C-5576-463C-B8E2-54B492ACF6F2}"/>
              </a:ext>
            </a:extLst>
          </p:cNvPr>
          <p:cNvSpPr>
            <a:spLocks xmlns:a="http://schemas.openxmlformats.org/drawingml/2006/main" noGrp="1"/>
          </p:cNvSpPr>
          <p:nvPr/>
        </p:nvSpPr>
        <p:spPr>
          <a:xfrm xmlns:a="http://schemas.openxmlformats.org/drawingml/2006/main">
            <a:off x="838200" y="5772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defRPr sz="1875" b="0">
                <a:solidFill>
                  <a:srgbClr val="253C4D"/>
                </a:solidFill>
                <a:latin typeface="Yu Gothic"/>
                <a:ea typeface="Yu Gothic"/>
                <a:cs typeface="Yu Gothic"/>
              </a:defRPr>
            </a:lvl1pPr>
            <a:lvl2pPr>
              <a:defRPr sz="1875" b="0">
                <a:solidFill>
                  <a:srgbClr val="253C4D"/>
                </a:solidFill>
                <a:latin typeface="Yu Gothic"/>
                <a:ea typeface="Yu Gothic"/>
                <a:cs typeface="Yu Gothic"/>
              </a:defRPr>
            </a:lvl2pPr>
            <a:lvl3pPr>
              <a:defRPr sz="1875" b="0">
                <a:solidFill>
                  <a:srgbClr val="253C4D"/>
                </a:solidFill>
                <a:latin typeface="Yu Gothic"/>
                <a:ea typeface="Yu Gothic"/>
                <a:cs typeface="Yu Gothic"/>
              </a:defRPr>
            </a:lvl3pPr>
            <a:lvl4pPr>
              <a:defRPr sz="1875" b="0">
                <a:solidFill>
                  <a:srgbClr val="253C4D"/>
                </a:solidFill>
                <a:latin typeface="Yu Gothic"/>
                <a:ea typeface="Yu Gothic"/>
                <a:cs typeface="Yu Gothic"/>
              </a:defRPr>
            </a:lvl4pPr>
            <a:lvl5pPr>
              <a:defRPr sz="1875" b="0">
                <a:solidFill>
                  <a:srgbClr val="253C4D"/>
                </a:solidFill>
                <a:latin typeface="Yu Gothic"/>
                <a:ea typeface="Yu Gothic"/>
                <a:cs typeface="Yu Gothic"/>
              </a:defRPr>
            </a:lvl5pPr>
            <a:lvl6pPr>
              <a:defRPr sz="1875" b="0">
                <a:solidFill>
                  <a:srgbClr val="253C4D"/>
                </a:solidFill>
                <a:latin typeface="Yu Gothic"/>
                <a:ea typeface="Yu Gothic"/>
                <a:cs typeface="Yu Gothic"/>
              </a:defRPr>
            </a:lvl6pPr>
            <a:lvl7pPr>
              <a:defRPr sz="1875" b="0">
                <a:solidFill>
                  <a:srgbClr val="253C4D"/>
                </a:solidFill>
                <a:latin typeface="Yu Gothic"/>
                <a:ea typeface="Yu Gothic"/>
                <a:cs typeface="Yu Gothic"/>
              </a:defRPr>
            </a:lvl7pPr>
            <a:lvl8pPr>
              <a:defRPr sz="1875" b="0">
                <a:solidFill>
                  <a:srgbClr val="253C4D"/>
                </a:solidFill>
                <a:latin typeface="Yu Gothic"/>
                <a:ea typeface="Yu Gothic"/>
                <a:cs typeface="Yu Gothic"/>
              </a:defRPr>
            </a:lvl8pPr>
            <a:lvl9pPr>
              <a:defRPr sz="1875" b="0">
                <a:solidFill>
                  <a:srgbClr val="253C4D"/>
                </a:solidFill>
                <a:latin typeface="Yu Gothic"/>
                <a:ea typeface="Yu Gothic"/>
                <a:cs typeface="Yu Gothic"/>
              </a:defRPr>
            </a:lvl9pPr>
          </a:lstStyle>
          <a:p xmlns:a="http://schemas.openxmlformats.org/drawingml/2006/main">
            <a:pPr>
              <a:defRPr sz="1875" b="0">
                <a:solidFill>
                  <a:srgbClr val="253C4D"/>
                </a:solidFill>
                <a:latin typeface="Yu Gothic"/>
                <a:ea typeface="Yu Gothic"/>
                <a:cs typeface="Yu Gothic"/>
              </a:defRPr>
            </a:pPr>
            <a:r>
              <a:rPr sz="1875" b="0">
                <a:solidFill>
                  <a:srgbClr val="253C4D"/>
                </a:solidFill>
                <a:latin typeface="Yu Gothic"/>
                <a:ea typeface="Yu Gothic"/>
                <a:cs typeface="Yu Gothic"/>
              </a:rPr>
              <a:t>隣り合う細胞も含めて、位置を確かめる</a:t>
            </a:r>
          </a:p>
        </p:txBody>
      </p:sp>
    </p:spTree>
    <p:extLst>
      <p:ext uri="{BB962C8B-B14F-4D97-AF65-F5344CB8AC3E}">
        <p14:creationId xmlns:p14="http://schemas.microsoft.com/office/powerpoint/2010/main" val="12327967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8AD51D-37E5-4900-87CD-EBB47D4D0A3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細胞壁の立体像</a:t>
            </a:r>
          </a:p>
        </p:txBody>
      </p:sp>
      <p:sp>
        <p:nvSpPr>
          <p:cNvPr id="2" name="">
            <a:extLst xmlns:a="http://schemas.openxmlformats.org/drawingml/2006/main">
              <a:ext uri="{FF2B5EF4-FFF2-40B4-BE49-F238E27FC236}">
                <a16:creationId xmlns:a16="http://schemas.microsoft.com/office/drawing/2014/main" id="{05C83EC4-80E2-4E0E-BCD7-B533E2F2B88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C12DA9-EBDD-4229-B393-1E6535A7CBD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BF59341A-2143-4587-9217-C52A0131B7A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pic>
        <p:nvPicPr>
          <p:cNvPr id="5" name="">
            <a:extLst xmlns:a="http://schemas.openxmlformats.org/drawingml/2006/main">
              <a:ext uri="{FF2B5EF4-FFF2-40B4-BE49-F238E27FC236}">
                <a16:creationId xmlns:a16="http://schemas.microsoft.com/office/drawing/2014/main" id="{85591FB3-97CE-4F56-8E87-5E6D4E350709}"/>
              </a:ext>
            </a:extLst>
          </p:cNvPr>
          <p:cNvPicPr>
            <a:picLocks xmlns:a="http://schemas.openxmlformats.org/drawingml/2006/main" noChangeAspect="1"/>
          </p:cNvPicPr>
          <p:nvPr/>
        </p:nvPicPr>
        <p:blipFill>
          <a:blip xmlns:r="http://schemas.openxmlformats.org/officeDocument/2006/relationships" xmlns:a="http://schemas.openxmlformats.org/drawingml/2006/main" r:embed="Rf958d2e371cd4e98"/>
          <a:stretch xmlns:a="http://schemas.openxmlformats.org/drawingml/2006/main"/>
        </p:blipFill>
        <p:spPr>
          <a:xfrm xmlns:a="http://schemas.openxmlformats.org/drawingml/2006/main">
            <a:off x="1143680" y="1581150"/>
            <a:ext cx="398008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69B1A45-2CD4-47B2-A5CD-2C776A6F9496}"/>
              </a:ext>
            </a:extLst>
          </p:cNvPr>
          <p:cNvSpPr>
            <a:spLocks xmlns:a="http://schemas.openxmlformats.org/drawingml/2006/main" noGrp="1"/>
          </p:cNvSpPr>
          <p:nvPr/>
        </p:nvSpPr>
        <p:spPr>
          <a:xfrm xmlns:a="http://schemas.openxmlformats.org/drawingml/2006/main">
            <a:off x="685800" y="5981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hlinkClick xmlns:r="http://schemas.openxmlformats.org/officeDocument/2006/relationships" r:id="R03ad6835498c4462"/>
              </a:rPr>
              <a:t>USDA Wood Handbook 2021, Fig. 3–6（3–7頁）</a:t>
            </a:r>
          </a:p>
        </p:txBody>
      </p:sp>
      <p:sp>
        <p:nvSpPr>
          <p:cNvPr id="7" name="">
            <a:extLst xmlns:a="http://schemas.openxmlformats.org/drawingml/2006/main">
              <a:ext uri="{FF2B5EF4-FFF2-40B4-BE49-F238E27FC236}">
                <a16:creationId xmlns:a16="http://schemas.microsoft.com/office/drawing/2014/main" id="{F8C1C47B-D4A5-4FB6-967B-AAAF75B51E4F}"/>
              </a:ext>
            </a:extLst>
          </p:cNvPr>
          <p:cNvSpPr>
            <a:spLocks xmlns:a="http://schemas.openxmlformats.org/drawingml/2006/main" noGrp="1"/>
          </p:cNvSpPr>
          <p:nvPr/>
        </p:nvSpPr>
        <p:spPr>
          <a:xfrm xmlns:a="http://schemas.openxmlformats.org/drawingml/2006/main">
            <a:off x="5953125" y="18097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defRPr sz="2175" b="1">
                <a:solidFill>
                  <a:srgbClr val="253C4D"/>
                </a:solidFill>
                <a:latin typeface="Yu Gothic"/>
                <a:ea typeface="Yu Gothic"/>
                <a:cs typeface="Yu Gothic"/>
              </a:defRPr>
            </a:lvl1pPr>
            <a:lvl2pPr>
              <a:defRPr sz="2175" b="1">
                <a:solidFill>
                  <a:srgbClr val="253C4D"/>
                </a:solidFill>
                <a:latin typeface="Yu Gothic"/>
                <a:ea typeface="Yu Gothic"/>
                <a:cs typeface="Yu Gothic"/>
              </a:defRPr>
            </a:lvl2pPr>
            <a:lvl3pPr>
              <a:defRPr sz="2175" b="1">
                <a:solidFill>
                  <a:srgbClr val="253C4D"/>
                </a:solidFill>
                <a:latin typeface="Yu Gothic"/>
                <a:ea typeface="Yu Gothic"/>
                <a:cs typeface="Yu Gothic"/>
              </a:defRPr>
            </a:lvl3pPr>
            <a:lvl4pPr>
              <a:defRPr sz="2175" b="1">
                <a:solidFill>
                  <a:srgbClr val="253C4D"/>
                </a:solidFill>
                <a:latin typeface="Yu Gothic"/>
                <a:ea typeface="Yu Gothic"/>
                <a:cs typeface="Yu Gothic"/>
              </a:defRPr>
            </a:lvl4pPr>
            <a:lvl5pPr>
              <a:defRPr sz="2175" b="1">
                <a:solidFill>
                  <a:srgbClr val="253C4D"/>
                </a:solidFill>
                <a:latin typeface="Yu Gothic"/>
                <a:ea typeface="Yu Gothic"/>
                <a:cs typeface="Yu Gothic"/>
              </a:defRPr>
            </a:lvl5pPr>
            <a:lvl6pPr>
              <a:defRPr sz="2175" b="1">
                <a:solidFill>
                  <a:srgbClr val="253C4D"/>
                </a:solidFill>
                <a:latin typeface="Yu Gothic"/>
                <a:ea typeface="Yu Gothic"/>
                <a:cs typeface="Yu Gothic"/>
              </a:defRPr>
            </a:lvl6pPr>
            <a:lvl7pPr>
              <a:defRPr sz="2175" b="1">
                <a:solidFill>
                  <a:srgbClr val="253C4D"/>
                </a:solidFill>
                <a:latin typeface="Yu Gothic"/>
                <a:ea typeface="Yu Gothic"/>
                <a:cs typeface="Yu Gothic"/>
              </a:defRPr>
            </a:lvl7pPr>
            <a:lvl8pPr>
              <a:defRPr sz="2175" b="1">
                <a:solidFill>
                  <a:srgbClr val="253C4D"/>
                </a:solidFill>
                <a:latin typeface="Yu Gothic"/>
                <a:ea typeface="Yu Gothic"/>
                <a:cs typeface="Yu Gothic"/>
              </a:defRPr>
            </a:lvl8pPr>
            <a:lvl9pPr>
              <a:defRPr sz="2175" b="1">
                <a:solidFill>
                  <a:srgbClr val="253C4D"/>
                </a:solidFill>
                <a:latin typeface="Yu Gothic"/>
                <a:ea typeface="Yu Gothic"/>
                <a:cs typeface="Yu Gothic"/>
              </a:defRPr>
            </a:lvl9pPr>
          </a:lstStyle>
          <a:p xmlns:a="http://schemas.openxmlformats.org/drawingml/2006/main">
            <a:pPr>
              <a:defRPr sz="2175" b="1">
                <a:solidFill>
                  <a:srgbClr val="253C4D"/>
                </a:solidFill>
                <a:latin typeface="Yu Gothic"/>
                <a:ea typeface="Yu Gothic"/>
                <a:cs typeface="Yu Gothic"/>
              </a:defRPr>
            </a:pPr>
            <a:r>
              <a:rPr sz="2175" b="1">
                <a:solidFill>
                  <a:srgbClr val="253C4D"/>
                </a:solidFill>
                <a:latin typeface="Yu Gothic"/>
                <a:ea typeface="Yu Gothic"/>
                <a:cs typeface="Yu Gothic"/>
              </a:rPr>
              <a:t>P：一次壁　ML：細胞間層</a:t>
            </a:r>
          </a:p>
        </p:txBody>
      </p:sp>
      <p:sp>
        <p:nvSpPr>
          <p:cNvPr id="8" name="">
            <a:extLst xmlns:a="http://schemas.openxmlformats.org/drawingml/2006/main">
              <a:ext uri="{FF2B5EF4-FFF2-40B4-BE49-F238E27FC236}">
                <a16:creationId xmlns:a16="http://schemas.microsoft.com/office/drawing/2014/main" id="{EA018DCF-09C6-4AD4-86BA-8B3C556D1E49}"/>
              </a:ext>
            </a:extLst>
          </p:cNvPr>
          <p:cNvSpPr>
            <a:spLocks xmlns:a="http://schemas.openxmlformats.org/drawingml/2006/main" noGrp="1"/>
          </p:cNvSpPr>
          <p:nvPr/>
        </p:nvSpPr>
        <p:spPr>
          <a:xfrm xmlns:a="http://schemas.openxmlformats.org/drawingml/2006/main">
            <a:off x="5953125" y="278130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S1・S2・S3：二次壁の層</a:t>
            </a:r>
          </a:p>
        </p:txBody>
      </p:sp>
      <p:sp>
        <p:nvSpPr>
          <p:cNvPr id="9" name="">
            <a:extLst xmlns:a="http://schemas.openxmlformats.org/drawingml/2006/main">
              <a:ext uri="{FF2B5EF4-FFF2-40B4-BE49-F238E27FC236}">
                <a16:creationId xmlns:a16="http://schemas.microsoft.com/office/drawing/2014/main" id="{935CE2E2-A046-4A09-97DB-C33C88040014}"/>
              </a:ext>
            </a:extLst>
          </p:cNvPr>
          <p:cNvSpPr>
            <a:spLocks xmlns:a="http://schemas.openxmlformats.org/drawingml/2006/main" noGrp="1"/>
          </p:cNvSpPr>
          <p:nvPr/>
        </p:nvSpPr>
        <p:spPr>
          <a:xfrm xmlns:a="http://schemas.openxmlformats.org/drawingml/2006/main">
            <a:off x="5953125" y="37528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まず層の重なり、次に細い線の向き</a:t>
            </a:r>
          </a:p>
        </p:txBody>
      </p:sp>
    </p:spTree>
    <p:extLst>
      <p:ext uri="{BB962C8B-B14F-4D97-AF65-F5344CB8AC3E}">
        <p14:creationId xmlns:p14="http://schemas.microsoft.com/office/powerpoint/2010/main" val="19372987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525D83-51F7-4AD2-B416-345429801EF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木材・細胞・壁の尺度</a:t>
            </a:r>
          </a:p>
        </p:txBody>
      </p:sp>
      <p:sp>
        <p:nvSpPr>
          <p:cNvPr id="2" name="">
            <a:extLst xmlns:a="http://schemas.openxmlformats.org/drawingml/2006/main">
              <a:ext uri="{FF2B5EF4-FFF2-40B4-BE49-F238E27FC236}">
                <a16:creationId xmlns:a16="http://schemas.microsoft.com/office/drawing/2014/main" id="{34FF5E3F-0D2A-4FDB-B167-28FD9D668DD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CA6FF2-B765-4FAD-8C3F-99974BD4F7F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AABC4DB2-22AC-4A44-853F-47FF97C2C62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95F32A10-2058-4C45-9010-A274618CB6FB}"/>
              </a:ext>
            </a:extLst>
          </p:cNvPr>
          <p:cNvSpPr>
            <a:spLocks xmlns:a="http://schemas.openxmlformats.org/drawingml/2006/main" noGrp="1"/>
          </p:cNvSpPr>
          <p:nvPr/>
        </p:nvSpPr>
        <p:spPr>
          <a:xfrm xmlns:a="http://schemas.openxmlformats.org/drawingml/2006/main">
            <a:off x="838200" y="17621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253C4D"/>
                </a:solidFill>
                <a:latin typeface="Yu Gothic"/>
                <a:ea typeface="Yu Gothic"/>
                <a:cs typeface="Yu Gothic"/>
              </a:defRPr>
            </a:defPPr>
            <a:lvl1pPr>
              <a:defRPr sz="2625" b="1">
                <a:solidFill>
                  <a:srgbClr val="253C4D"/>
                </a:solidFill>
                <a:latin typeface="Yu Gothic"/>
                <a:ea typeface="Yu Gothic"/>
                <a:cs typeface="Yu Gothic"/>
              </a:defRPr>
            </a:lvl1pPr>
            <a:lvl2pPr>
              <a:defRPr sz="2625" b="1">
                <a:solidFill>
                  <a:srgbClr val="253C4D"/>
                </a:solidFill>
                <a:latin typeface="Yu Gothic"/>
                <a:ea typeface="Yu Gothic"/>
                <a:cs typeface="Yu Gothic"/>
              </a:defRPr>
            </a:lvl2pPr>
            <a:lvl3pPr>
              <a:defRPr sz="2625" b="1">
                <a:solidFill>
                  <a:srgbClr val="253C4D"/>
                </a:solidFill>
                <a:latin typeface="Yu Gothic"/>
                <a:ea typeface="Yu Gothic"/>
                <a:cs typeface="Yu Gothic"/>
              </a:defRPr>
            </a:lvl3pPr>
            <a:lvl4pPr>
              <a:defRPr sz="2625" b="1">
                <a:solidFill>
                  <a:srgbClr val="253C4D"/>
                </a:solidFill>
                <a:latin typeface="Yu Gothic"/>
                <a:ea typeface="Yu Gothic"/>
                <a:cs typeface="Yu Gothic"/>
              </a:defRPr>
            </a:lvl4pPr>
            <a:lvl5pPr>
              <a:defRPr sz="2625" b="1">
                <a:solidFill>
                  <a:srgbClr val="253C4D"/>
                </a:solidFill>
                <a:latin typeface="Yu Gothic"/>
                <a:ea typeface="Yu Gothic"/>
                <a:cs typeface="Yu Gothic"/>
              </a:defRPr>
            </a:lvl5pPr>
            <a:lvl6pPr>
              <a:defRPr sz="2625" b="1">
                <a:solidFill>
                  <a:srgbClr val="253C4D"/>
                </a:solidFill>
                <a:latin typeface="Yu Gothic"/>
                <a:ea typeface="Yu Gothic"/>
                <a:cs typeface="Yu Gothic"/>
              </a:defRPr>
            </a:lvl6pPr>
            <a:lvl7pPr>
              <a:defRPr sz="2625" b="1">
                <a:solidFill>
                  <a:srgbClr val="253C4D"/>
                </a:solidFill>
                <a:latin typeface="Yu Gothic"/>
                <a:ea typeface="Yu Gothic"/>
                <a:cs typeface="Yu Gothic"/>
              </a:defRPr>
            </a:lvl7pPr>
            <a:lvl8pPr>
              <a:defRPr sz="2625" b="1">
                <a:solidFill>
                  <a:srgbClr val="253C4D"/>
                </a:solidFill>
                <a:latin typeface="Yu Gothic"/>
                <a:ea typeface="Yu Gothic"/>
                <a:cs typeface="Yu Gothic"/>
              </a:defRPr>
            </a:lvl8pPr>
            <a:lvl9pPr>
              <a:defRPr sz="2625" b="1">
                <a:solidFill>
                  <a:srgbClr val="253C4D"/>
                </a:solidFill>
                <a:latin typeface="Yu Gothic"/>
                <a:ea typeface="Yu Gothic"/>
                <a:cs typeface="Yu Gothic"/>
              </a:defRPr>
            </a:lvl9pPr>
          </a:lstStyle>
          <a:p xmlns:a="http://schemas.openxmlformats.org/drawingml/2006/main">
            <a:pPr>
              <a:defRPr sz="2625" b="1">
                <a:solidFill>
                  <a:srgbClr val="253C4D"/>
                </a:solidFill>
                <a:latin typeface="Yu Gothic"/>
                <a:ea typeface="Yu Gothic"/>
                <a:cs typeface="Yu Gothic"/>
              </a:defRPr>
            </a:pPr>
            <a:r>
              <a:rPr sz="2625" b="1">
                <a:solidFill>
                  <a:srgbClr val="253C4D"/>
                </a:solidFill>
                <a:latin typeface="Yu Gothic"/>
                <a:ea typeface="Yu Gothic"/>
                <a:cs typeface="Yu Gothic"/>
              </a:rPr>
              <a:t>年輪幅：mm　　細胞の径・壁厚：μm</a:t>
            </a:r>
          </a:p>
        </p:txBody>
      </p:sp>
      <p:sp>
        <p:nvSpPr>
          <p:cNvPr id="6" name="">
            <a:extLst xmlns:a="http://schemas.openxmlformats.org/drawingml/2006/main">
              <a:ext uri="{FF2B5EF4-FFF2-40B4-BE49-F238E27FC236}">
                <a16:creationId xmlns:a16="http://schemas.microsoft.com/office/drawing/2014/main" id="{E684A3D1-E384-4B7A-90F0-DD25DBDEEB4C}"/>
              </a:ext>
            </a:extLst>
          </p:cNvPr>
          <p:cNvSpPr>
            <a:spLocks xmlns:a="http://schemas.openxmlformats.org/drawingml/2006/main" noGrp="1"/>
          </p:cNvSpPr>
          <p:nvPr/>
        </p:nvSpPr>
        <p:spPr>
          <a:xfrm xmlns:a="http://schemas.openxmlformats.org/drawingml/2006/main">
            <a:off x="838200" y="27717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0">
                <a:solidFill>
                  <a:srgbClr val="253C4D"/>
                </a:solidFill>
                <a:latin typeface="Yu Gothic"/>
                <a:ea typeface="Yu Gothic"/>
                <a:cs typeface="Yu Gothic"/>
              </a:defRPr>
            </a:defPPr>
            <a:lvl1pPr>
              <a:defRPr sz="2625" b="0">
                <a:solidFill>
                  <a:srgbClr val="253C4D"/>
                </a:solidFill>
                <a:latin typeface="Yu Gothic"/>
                <a:ea typeface="Yu Gothic"/>
                <a:cs typeface="Yu Gothic"/>
              </a:defRPr>
            </a:lvl1pPr>
            <a:lvl2pPr>
              <a:defRPr sz="2625" b="0">
                <a:solidFill>
                  <a:srgbClr val="253C4D"/>
                </a:solidFill>
                <a:latin typeface="Yu Gothic"/>
                <a:ea typeface="Yu Gothic"/>
                <a:cs typeface="Yu Gothic"/>
              </a:defRPr>
            </a:lvl2pPr>
            <a:lvl3pPr>
              <a:defRPr sz="2625" b="0">
                <a:solidFill>
                  <a:srgbClr val="253C4D"/>
                </a:solidFill>
                <a:latin typeface="Yu Gothic"/>
                <a:ea typeface="Yu Gothic"/>
                <a:cs typeface="Yu Gothic"/>
              </a:defRPr>
            </a:lvl3pPr>
            <a:lvl4pPr>
              <a:defRPr sz="2625" b="0">
                <a:solidFill>
                  <a:srgbClr val="253C4D"/>
                </a:solidFill>
                <a:latin typeface="Yu Gothic"/>
                <a:ea typeface="Yu Gothic"/>
                <a:cs typeface="Yu Gothic"/>
              </a:defRPr>
            </a:lvl4pPr>
            <a:lvl5pPr>
              <a:defRPr sz="2625" b="0">
                <a:solidFill>
                  <a:srgbClr val="253C4D"/>
                </a:solidFill>
                <a:latin typeface="Yu Gothic"/>
                <a:ea typeface="Yu Gothic"/>
                <a:cs typeface="Yu Gothic"/>
              </a:defRPr>
            </a:lvl5pPr>
            <a:lvl6pPr>
              <a:defRPr sz="2625" b="0">
                <a:solidFill>
                  <a:srgbClr val="253C4D"/>
                </a:solidFill>
                <a:latin typeface="Yu Gothic"/>
                <a:ea typeface="Yu Gothic"/>
                <a:cs typeface="Yu Gothic"/>
              </a:defRPr>
            </a:lvl6pPr>
            <a:lvl7pPr>
              <a:defRPr sz="2625" b="0">
                <a:solidFill>
                  <a:srgbClr val="253C4D"/>
                </a:solidFill>
                <a:latin typeface="Yu Gothic"/>
                <a:ea typeface="Yu Gothic"/>
                <a:cs typeface="Yu Gothic"/>
              </a:defRPr>
            </a:lvl7pPr>
            <a:lvl8pPr>
              <a:defRPr sz="2625" b="0">
                <a:solidFill>
                  <a:srgbClr val="253C4D"/>
                </a:solidFill>
                <a:latin typeface="Yu Gothic"/>
                <a:ea typeface="Yu Gothic"/>
                <a:cs typeface="Yu Gothic"/>
              </a:defRPr>
            </a:lvl8pPr>
            <a:lvl9pPr>
              <a:defRPr sz="2625" b="0">
                <a:solidFill>
                  <a:srgbClr val="253C4D"/>
                </a:solidFill>
                <a:latin typeface="Yu Gothic"/>
                <a:ea typeface="Yu Gothic"/>
                <a:cs typeface="Yu Gothic"/>
              </a:defRPr>
            </a:lvl9pPr>
          </a:lstStyle>
          <a:p xmlns:a="http://schemas.openxmlformats.org/drawingml/2006/main">
            <a:pPr>
              <a:defRPr sz="2625" b="0">
                <a:solidFill>
                  <a:srgbClr val="253C4D"/>
                </a:solidFill>
                <a:latin typeface="Yu Gothic"/>
                <a:ea typeface="Yu Gothic"/>
                <a:cs typeface="Yu Gothic"/>
              </a:defRPr>
            </a:pPr>
            <a:r>
              <a:rPr sz="2625" b="0">
                <a:solidFill>
                  <a:srgbClr val="253C4D"/>
                </a:solidFill>
                <a:latin typeface="Yu Gothic"/>
                <a:ea typeface="Yu Gothic"/>
                <a:cs typeface="Yu Gothic"/>
              </a:rPr>
              <a:t>壁内部の微細な集合：nm の尺度</a:t>
            </a:r>
          </a:p>
        </p:txBody>
      </p:sp>
      <p:sp>
        <p:nvSpPr>
          <p:cNvPr id="7" name="">
            <a:extLst xmlns:a="http://schemas.openxmlformats.org/drawingml/2006/main">
              <a:ext uri="{FF2B5EF4-FFF2-40B4-BE49-F238E27FC236}">
                <a16:creationId xmlns:a16="http://schemas.microsoft.com/office/drawing/2014/main" id="{1CD40075-E4E8-4D48-A91B-088219EAE469}"/>
              </a:ext>
            </a:extLst>
          </p:cNvPr>
          <p:cNvSpPr>
            <a:spLocks xmlns:a="http://schemas.openxmlformats.org/drawingml/2006/main" noGrp="1"/>
          </p:cNvSpPr>
          <p:nvPr/>
        </p:nvSpPr>
        <p:spPr>
          <a:xfrm xmlns:a="http://schemas.openxmlformats.org/drawingml/2006/main">
            <a:off x="838200" y="37814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0">
                <a:solidFill>
                  <a:srgbClr val="253C4D"/>
                </a:solidFill>
                <a:latin typeface="Yu Gothic"/>
                <a:ea typeface="Yu Gothic"/>
                <a:cs typeface="Yu Gothic"/>
              </a:defRPr>
            </a:defPPr>
            <a:lvl1pPr>
              <a:defRPr sz="2625" b="0">
                <a:solidFill>
                  <a:srgbClr val="253C4D"/>
                </a:solidFill>
                <a:latin typeface="Yu Gothic"/>
                <a:ea typeface="Yu Gothic"/>
                <a:cs typeface="Yu Gothic"/>
              </a:defRPr>
            </a:lvl1pPr>
            <a:lvl2pPr>
              <a:defRPr sz="2625" b="0">
                <a:solidFill>
                  <a:srgbClr val="253C4D"/>
                </a:solidFill>
                <a:latin typeface="Yu Gothic"/>
                <a:ea typeface="Yu Gothic"/>
                <a:cs typeface="Yu Gothic"/>
              </a:defRPr>
            </a:lvl2pPr>
            <a:lvl3pPr>
              <a:defRPr sz="2625" b="0">
                <a:solidFill>
                  <a:srgbClr val="253C4D"/>
                </a:solidFill>
                <a:latin typeface="Yu Gothic"/>
                <a:ea typeface="Yu Gothic"/>
                <a:cs typeface="Yu Gothic"/>
              </a:defRPr>
            </a:lvl3pPr>
            <a:lvl4pPr>
              <a:defRPr sz="2625" b="0">
                <a:solidFill>
                  <a:srgbClr val="253C4D"/>
                </a:solidFill>
                <a:latin typeface="Yu Gothic"/>
                <a:ea typeface="Yu Gothic"/>
                <a:cs typeface="Yu Gothic"/>
              </a:defRPr>
            </a:lvl4pPr>
            <a:lvl5pPr>
              <a:defRPr sz="2625" b="0">
                <a:solidFill>
                  <a:srgbClr val="253C4D"/>
                </a:solidFill>
                <a:latin typeface="Yu Gothic"/>
                <a:ea typeface="Yu Gothic"/>
                <a:cs typeface="Yu Gothic"/>
              </a:defRPr>
            </a:lvl5pPr>
            <a:lvl6pPr>
              <a:defRPr sz="2625" b="0">
                <a:solidFill>
                  <a:srgbClr val="253C4D"/>
                </a:solidFill>
                <a:latin typeface="Yu Gothic"/>
                <a:ea typeface="Yu Gothic"/>
                <a:cs typeface="Yu Gothic"/>
              </a:defRPr>
            </a:lvl6pPr>
            <a:lvl7pPr>
              <a:defRPr sz="2625" b="0">
                <a:solidFill>
                  <a:srgbClr val="253C4D"/>
                </a:solidFill>
                <a:latin typeface="Yu Gothic"/>
                <a:ea typeface="Yu Gothic"/>
                <a:cs typeface="Yu Gothic"/>
              </a:defRPr>
            </a:lvl7pPr>
            <a:lvl8pPr>
              <a:defRPr sz="2625" b="0">
                <a:solidFill>
                  <a:srgbClr val="253C4D"/>
                </a:solidFill>
                <a:latin typeface="Yu Gothic"/>
                <a:ea typeface="Yu Gothic"/>
                <a:cs typeface="Yu Gothic"/>
              </a:defRPr>
            </a:lvl8pPr>
            <a:lvl9pPr>
              <a:defRPr sz="2625" b="0">
                <a:solidFill>
                  <a:srgbClr val="253C4D"/>
                </a:solidFill>
                <a:latin typeface="Yu Gothic"/>
                <a:ea typeface="Yu Gothic"/>
                <a:cs typeface="Yu Gothic"/>
              </a:defRPr>
            </a:lvl9pPr>
          </a:lstStyle>
          <a:p xmlns:a="http://schemas.openxmlformats.org/drawingml/2006/main">
            <a:pPr>
              <a:defRPr sz="2625" b="0">
                <a:solidFill>
                  <a:srgbClr val="253C4D"/>
                </a:solidFill>
                <a:latin typeface="Yu Gothic"/>
                <a:ea typeface="Yu Gothic"/>
                <a:cs typeface="Yu Gothic"/>
              </a:defRPr>
            </a:pPr>
            <a:r>
              <a:rPr sz="2625" b="0">
                <a:solidFill>
                  <a:srgbClr val="253C4D"/>
                </a:solidFill>
                <a:latin typeface="Yu Gothic"/>
                <a:ea typeface="Yu Gothic"/>
                <a:cs typeface="Yu Gothic"/>
              </a:rPr>
              <a:t>1 mm = 1,000 μm</a:t>
            </a:r>
          </a:p>
        </p:txBody>
      </p:sp>
      <p:sp>
        <p:nvSpPr>
          <p:cNvPr id="8" name="">
            <a:extLst xmlns:a="http://schemas.openxmlformats.org/drawingml/2006/main">
              <a:ext uri="{FF2B5EF4-FFF2-40B4-BE49-F238E27FC236}">
                <a16:creationId xmlns:a16="http://schemas.microsoft.com/office/drawing/2014/main" id="{753F428D-5CB5-4191-86D3-F6F69ECF7B30}"/>
              </a:ext>
            </a:extLst>
          </p:cNvPr>
          <p:cNvSpPr>
            <a:spLocks xmlns:a="http://schemas.openxmlformats.org/drawingml/2006/main" noGrp="1"/>
          </p:cNvSpPr>
          <p:nvPr/>
        </p:nvSpPr>
        <p:spPr>
          <a:xfrm xmlns:a="http://schemas.openxmlformats.org/drawingml/2006/main">
            <a:off x="838200" y="47910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0">
                <a:solidFill>
                  <a:srgbClr val="253C4D"/>
                </a:solidFill>
                <a:latin typeface="Yu Gothic"/>
                <a:ea typeface="Yu Gothic"/>
                <a:cs typeface="Yu Gothic"/>
              </a:defRPr>
            </a:defPPr>
            <a:lvl1pPr>
              <a:defRPr sz="2625" b="0">
                <a:solidFill>
                  <a:srgbClr val="253C4D"/>
                </a:solidFill>
                <a:latin typeface="Yu Gothic"/>
                <a:ea typeface="Yu Gothic"/>
                <a:cs typeface="Yu Gothic"/>
              </a:defRPr>
            </a:lvl1pPr>
            <a:lvl2pPr>
              <a:defRPr sz="2625" b="0">
                <a:solidFill>
                  <a:srgbClr val="253C4D"/>
                </a:solidFill>
                <a:latin typeface="Yu Gothic"/>
                <a:ea typeface="Yu Gothic"/>
                <a:cs typeface="Yu Gothic"/>
              </a:defRPr>
            </a:lvl2pPr>
            <a:lvl3pPr>
              <a:defRPr sz="2625" b="0">
                <a:solidFill>
                  <a:srgbClr val="253C4D"/>
                </a:solidFill>
                <a:latin typeface="Yu Gothic"/>
                <a:ea typeface="Yu Gothic"/>
                <a:cs typeface="Yu Gothic"/>
              </a:defRPr>
            </a:lvl3pPr>
            <a:lvl4pPr>
              <a:defRPr sz="2625" b="0">
                <a:solidFill>
                  <a:srgbClr val="253C4D"/>
                </a:solidFill>
                <a:latin typeface="Yu Gothic"/>
                <a:ea typeface="Yu Gothic"/>
                <a:cs typeface="Yu Gothic"/>
              </a:defRPr>
            </a:lvl4pPr>
            <a:lvl5pPr>
              <a:defRPr sz="2625" b="0">
                <a:solidFill>
                  <a:srgbClr val="253C4D"/>
                </a:solidFill>
                <a:latin typeface="Yu Gothic"/>
                <a:ea typeface="Yu Gothic"/>
                <a:cs typeface="Yu Gothic"/>
              </a:defRPr>
            </a:lvl5pPr>
            <a:lvl6pPr>
              <a:defRPr sz="2625" b="0">
                <a:solidFill>
                  <a:srgbClr val="253C4D"/>
                </a:solidFill>
                <a:latin typeface="Yu Gothic"/>
                <a:ea typeface="Yu Gothic"/>
                <a:cs typeface="Yu Gothic"/>
              </a:defRPr>
            </a:lvl6pPr>
            <a:lvl7pPr>
              <a:defRPr sz="2625" b="0">
                <a:solidFill>
                  <a:srgbClr val="253C4D"/>
                </a:solidFill>
                <a:latin typeface="Yu Gothic"/>
                <a:ea typeface="Yu Gothic"/>
                <a:cs typeface="Yu Gothic"/>
              </a:defRPr>
            </a:lvl7pPr>
            <a:lvl8pPr>
              <a:defRPr sz="2625" b="0">
                <a:solidFill>
                  <a:srgbClr val="253C4D"/>
                </a:solidFill>
                <a:latin typeface="Yu Gothic"/>
                <a:ea typeface="Yu Gothic"/>
                <a:cs typeface="Yu Gothic"/>
              </a:defRPr>
            </a:lvl8pPr>
            <a:lvl9pPr>
              <a:defRPr sz="2625" b="0">
                <a:solidFill>
                  <a:srgbClr val="253C4D"/>
                </a:solidFill>
                <a:latin typeface="Yu Gothic"/>
                <a:ea typeface="Yu Gothic"/>
                <a:cs typeface="Yu Gothic"/>
              </a:defRPr>
            </a:lvl9pPr>
          </a:lstStyle>
          <a:p xmlns:a="http://schemas.openxmlformats.org/drawingml/2006/main">
            <a:pPr>
              <a:defRPr sz="2625" b="0">
                <a:solidFill>
                  <a:srgbClr val="253C4D"/>
                </a:solidFill>
                <a:latin typeface="Yu Gothic"/>
                <a:ea typeface="Yu Gothic"/>
                <a:cs typeface="Yu Gothic"/>
              </a:defRPr>
            </a:pPr>
            <a:r>
              <a:rPr sz="2625" b="0">
                <a:solidFill>
                  <a:srgbClr val="253C4D"/>
                </a:solidFill>
                <a:latin typeface="Yu Gothic"/>
                <a:ea typeface="Yu Gothic"/>
                <a:cs typeface="Yu Gothic"/>
              </a:rPr>
              <a:t>1 μm = 1,000 nm</a:t>
            </a:r>
          </a:p>
        </p:txBody>
      </p:sp>
    </p:spTree>
    <p:extLst>
      <p:ext uri="{BB962C8B-B14F-4D97-AF65-F5344CB8AC3E}">
        <p14:creationId xmlns:p14="http://schemas.microsoft.com/office/powerpoint/2010/main" val="19238956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BD1E13F4-B13E-444A-A60C-629ADF51243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隣り合う細胞と壁の層構造</a:t>
            </a:r>
          </a:p>
        </p:txBody>
      </p:sp>
      <p:sp>
        <p:nvSpPr>
          <p:cNvPr id="2" name="">
            <a:extLst xmlns:a="http://schemas.openxmlformats.org/drawingml/2006/main">
              <a:ext uri="{FF2B5EF4-FFF2-40B4-BE49-F238E27FC236}">
                <a16:creationId xmlns:a16="http://schemas.microsoft.com/office/drawing/2014/main" id="{C66B5B23-FEB1-4B74-97E2-188C6A6B5B3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C1F3B1-7500-4477-B978-E63A7691D4A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39B72825-2A5C-41B5-9EF7-9A7A2E42361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53D5CD90-9752-4FC1-BCDB-21FCCD86D35D}"/>
              </a:ext>
            </a:extLst>
          </p:cNvPr>
          <p:cNvSpPr>
            <a:spLocks xmlns:a="http://schemas.openxmlformats.org/drawingml/2006/main" noGrp="1"/>
          </p:cNvSpPr>
          <p:nvPr/>
        </p:nvSpPr>
        <p:spPr>
          <a:xfrm xmlns:a="http://schemas.openxmlformats.org/drawingml/2006/main">
            <a:off x="876300"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4B7A56E5-B65D-4442-B472-ADDB6EC07D5C}"/>
              </a:ext>
            </a:extLst>
          </p:cNvPr>
          <p:cNvSpPr>
            <a:spLocks xmlns:a="http://schemas.openxmlformats.org/drawingml/2006/main" noGrp="1"/>
          </p:cNvSpPr>
          <p:nvPr/>
        </p:nvSpPr>
        <p:spPr>
          <a:xfrm xmlns:a="http://schemas.openxmlformats.org/drawingml/2006/main">
            <a:off x="895350"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7A735B70-255B-4F0F-B625-E77FE2E243DA}"/>
              </a:ext>
            </a:extLst>
          </p:cNvPr>
          <p:cNvSpPr>
            <a:spLocks xmlns:a="http://schemas.openxmlformats.org/drawingml/2006/main" noGrp="1"/>
          </p:cNvSpPr>
          <p:nvPr/>
        </p:nvSpPr>
        <p:spPr>
          <a:xfrm xmlns:a="http://schemas.openxmlformats.org/drawingml/2006/main">
            <a:off x="2543936"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608ADB17-AFF7-4A8F-ACFB-6D077C945D14}"/>
              </a:ext>
            </a:extLst>
          </p:cNvPr>
          <p:cNvSpPr>
            <a:spLocks xmlns:a="http://schemas.openxmlformats.org/drawingml/2006/main" noGrp="1"/>
          </p:cNvSpPr>
          <p:nvPr/>
        </p:nvSpPr>
        <p:spPr>
          <a:xfrm xmlns:a="http://schemas.openxmlformats.org/drawingml/2006/main">
            <a:off x="2777405"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AC9DCBD3-4394-4158-AFD1-8A272C09EF5B}"/>
              </a:ext>
            </a:extLst>
          </p:cNvPr>
          <p:cNvSpPr>
            <a:spLocks xmlns:a="http://schemas.openxmlformats.org/drawingml/2006/main" noGrp="1"/>
          </p:cNvSpPr>
          <p:nvPr/>
        </p:nvSpPr>
        <p:spPr>
          <a:xfrm xmlns:a="http://schemas.openxmlformats.org/drawingml/2006/main">
            <a:off x="2796455"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1F6610E0-C7CF-4A4E-8AB5-C28595F3EBA4}"/>
              </a:ext>
            </a:extLst>
          </p:cNvPr>
          <p:cNvSpPr>
            <a:spLocks xmlns:a="http://schemas.openxmlformats.org/drawingml/2006/main" noGrp="1"/>
          </p:cNvSpPr>
          <p:nvPr/>
        </p:nvSpPr>
        <p:spPr>
          <a:xfrm xmlns:a="http://schemas.openxmlformats.org/drawingml/2006/main">
            <a:off x="5278858"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A16D41EE-F3E3-4A19-B6C8-A9CD90EFE732}"/>
              </a:ext>
            </a:extLst>
          </p:cNvPr>
          <p:cNvSpPr>
            <a:spLocks xmlns:a="http://schemas.openxmlformats.org/drawingml/2006/main" noGrp="1"/>
          </p:cNvSpPr>
          <p:nvPr/>
        </p:nvSpPr>
        <p:spPr>
          <a:xfrm xmlns:a="http://schemas.openxmlformats.org/drawingml/2006/main">
            <a:off x="5645738"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E718A61E-1BC8-4571-8F4B-682258CF1D37}"/>
              </a:ext>
            </a:extLst>
          </p:cNvPr>
          <p:cNvSpPr>
            <a:spLocks xmlns:a="http://schemas.openxmlformats.org/drawingml/2006/main" noGrp="1"/>
          </p:cNvSpPr>
          <p:nvPr/>
        </p:nvSpPr>
        <p:spPr>
          <a:xfrm xmlns:a="http://schemas.openxmlformats.org/drawingml/2006/main">
            <a:off x="5945913" y="1762125"/>
            <a:ext cx="300174" cy="185737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28A7F45B-9C38-484C-99F5-26EE4DBCF6EF}"/>
              </a:ext>
            </a:extLst>
          </p:cNvPr>
          <p:cNvSpPr>
            <a:spLocks xmlns:a="http://schemas.openxmlformats.org/drawingml/2006/main" noGrp="1"/>
          </p:cNvSpPr>
          <p:nvPr/>
        </p:nvSpPr>
        <p:spPr>
          <a:xfrm xmlns:a="http://schemas.openxmlformats.org/drawingml/2006/main">
            <a:off x="6246087"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17D3EDB8-E583-4D51-84A4-028AF9F45E22}"/>
              </a:ext>
            </a:extLst>
          </p:cNvPr>
          <p:cNvSpPr>
            <a:spLocks xmlns:a="http://schemas.openxmlformats.org/drawingml/2006/main" noGrp="1"/>
          </p:cNvSpPr>
          <p:nvPr/>
        </p:nvSpPr>
        <p:spPr>
          <a:xfrm xmlns:a="http://schemas.openxmlformats.org/drawingml/2006/main">
            <a:off x="6546262"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EB1DA617-3C4B-405B-97E9-0DA907761A8E}"/>
              </a:ext>
            </a:extLst>
          </p:cNvPr>
          <p:cNvSpPr>
            <a:spLocks xmlns:a="http://schemas.openxmlformats.org/drawingml/2006/main" noGrp="1"/>
          </p:cNvSpPr>
          <p:nvPr/>
        </p:nvSpPr>
        <p:spPr>
          <a:xfrm xmlns:a="http://schemas.openxmlformats.org/drawingml/2006/main">
            <a:off x="6913142"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6B9DEA92-A912-4576-91FE-C6DC0CB40C4C}"/>
              </a:ext>
            </a:extLst>
          </p:cNvPr>
          <p:cNvSpPr>
            <a:spLocks xmlns:a="http://schemas.openxmlformats.org/drawingml/2006/main" noGrp="1"/>
          </p:cNvSpPr>
          <p:nvPr/>
        </p:nvSpPr>
        <p:spPr>
          <a:xfrm xmlns:a="http://schemas.openxmlformats.org/drawingml/2006/main">
            <a:off x="6932192"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CC635D00-B20B-4C3C-AABD-F2F6F713DF0B}"/>
              </a:ext>
            </a:extLst>
          </p:cNvPr>
          <p:cNvSpPr>
            <a:spLocks xmlns:a="http://schemas.openxmlformats.org/drawingml/2006/main" noGrp="1"/>
          </p:cNvSpPr>
          <p:nvPr/>
        </p:nvSpPr>
        <p:spPr>
          <a:xfrm xmlns:a="http://schemas.openxmlformats.org/drawingml/2006/main">
            <a:off x="9414595"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45CCD901-BB8F-4AD8-8B44-2633A5070EB8}"/>
              </a:ext>
            </a:extLst>
          </p:cNvPr>
          <p:cNvSpPr>
            <a:spLocks xmlns:a="http://schemas.openxmlformats.org/drawingml/2006/main" noGrp="1"/>
          </p:cNvSpPr>
          <p:nvPr/>
        </p:nvSpPr>
        <p:spPr>
          <a:xfrm xmlns:a="http://schemas.openxmlformats.org/drawingml/2006/main">
            <a:off x="9648064"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7186B516-9B48-458E-93DB-69C600A6E383}"/>
              </a:ext>
            </a:extLst>
          </p:cNvPr>
          <p:cNvSpPr>
            <a:spLocks xmlns:a="http://schemas.openxmlformats.org/drawingml/2006/main" noGrp="1"/>
          </p:cNvSpPr>
          <p:nvPr/>
        </p:nvSpPr>
        <p:spPr>
          <a:xfrm xmlns:a="http://schemas.openxmlformats.org/drawingml/2006/main">
            <a:off x="9667114"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6DE8990B-FB61-4E4D-BA75-B72627E8A7F8}"/>
              </a:ext>
            </a:extLst>
          </p:cNvPr>
          <p:cNvSpPr>
            <a:spLocks xmlns:a="http://schemas.openxmlformats.org/drawingml/2006/main" noGrp="1"/>
          </p:cNvSpPr>
          <p:nvPr/>
        </p:nvSpPr>
        <p:spPr>
          <a:xfrm xmlns:a="http://schemas.openxmlformats.org/drawingml/2006/main">
            <a:off x="266067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1" name="">
            <a:extLst xmlns:a="http://schemas.openxmlformats.org/drawingml/2006/main">
              <a:ext uri="{FF2B5EF4-FFF2-40B4-BE49-F238E27FC236}">
                <a16:creationId xmlns:a16="http://schemas.microsoft.com/office/drawing/2014/main" id="{3AD89BFF-44E5-4C16-BBD4-725F8808768C}"/>
              </a:ext>
            </a:extLst>
          </p:cNvPr>
          <p:cNvSpPr>
            <a:spLocks xmlns:a="http://schemas.openxmlformats.org/drawingml/2006/main" noGrp="1"/>
          </p:cNvSpPr>
          <p:nvPr/>
        </p:nvSpPr>
        <p:spPr>
          <a:xfrm xmlns:a="http://schemas.openxmlformats.org/drawingml/2006/main">
            <a:off x="255589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22" name="">
            <a:extLst xmlns:a="http://schemas.openxmlformats.org/drawingml/2006/main">
              <a:ext uri="{FF2B5EF4-FFF2-40B4-BE49-F238E27FC236}">
                <a16:creationId xmlns:a16="http://schemas.microsoft.com/office/drawing/2014/main" id="{952AEE00-845E-47E3-9D62-66E2AD5F4FC6}"/>
              </a:ext>
            </a:extLst>
          </p:cNvPr>
          <p:cNvSpPr>
            <a:spLocks xmlns:a="http://schemas.openxmlformats.org/drawingml/2006/main" noGrp="1"/>
          </p:cNvSpPr>
          <p:nvPr/>
        </p:nvSpPr>
        <p:spPr>
          <a:xfrm xmlns:a="http://schemas.openxmlformats.org/drawingml/2006/main">
            <a:off x="5462298"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3" name="">
            <a:extLst xmlns:a="http://schemas.openxmlformats.org/drawingml/2006/main">
              <a:ext uri="{FF2B5EF4-FFF2-40B4-BE49-F238E27FC236}">
                <a16:creationId xmlns:a16="http://schemas.microsoft.com/office/drawing/2014/main" id="{41EA4225-5856-4BF3-A4F1-CB419DE3CFB9}"/>
              </a:ext>
            </a:extLst>
          </p:cNvPr>
          <p:cNvSpPr>
            <a:spLocks xmlns:a="http://schemas.openxmlformats.org/drawingml/2006/main" noGrp="1"/>
          </p:cNvSpPr>
          <p:nvPr/>
        </p:nvSpPr>
        <p:spPr>
          <a:xfrm xmlns:a="http://schemas.openxmlformats.org/drawingml/2006/main">
            <a:off x="5357523"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24" name="">
            <a:extLst xmlns:a="http://schemas.openxmlformats.org/drawingml/2006/main">
              <a:ext uri="{FF2B5EF4-FFF2-40B4-BE49-F238E27FC236}">
                <a16:creationId xmlns:a16="http://schemas.microsoft.com/office/drawing/2014/main" id="{252C977A-86FC-4C5F-8D78-136C1724B411}"/>
              </a:ext>
            </a:extLst>
          </p:cNvPr>
          <p:cNvSpPr>
            <a:spLocks xmlns:a="http://schemas.openxmlformats.org/drawingml/2006/main" noGrp="1"/>
          </p:cNvSpPr>
          <p:nvPr/>
        </p:nvSpPr>
        <p:spPr>
          <a:xfrm xmlns:a="http://schemas.openxmlformats.org/drawingml/2006/main">
            <a:off x="5795826"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5" name="">
            <a:extLst xmlns:a="http://schemas.openxmlformats.org/drawingml/2006/main">
              <a:ext uri="{FF2B5EF4-FFF2-40B4-BE49-F238E27FC236}">
                <a16:creationId xmlns:a16="http://schemas.microsoft.com/office/drawing/2014/main" id="{02911D4B-BDDF-419F-BFA9-021B28E3BDCA}"/>
              </a:ext>
            </a:extLst>
          </p:cNvPr>
          <p:cNvSpPr>
            <a:spLocks xmlns:a="http://schemas.openxmlformats.org/drawingml/2006/main" noGrp="1"/>
          </p:cNvSpPr>
          <p:nvPr/>
        </p:nvSpPr>
        <p:spPr>
          <a:xfrm xmlns:a="http://schemas.openxmlformats.org/drawingml/2006/main">
            <a:off x="5691051"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26" name="">
            <a:extLst xmlns:a="http://schemas.openxmlformats.org/drawingml/2006/main">
              <a:ext uri="{FF2B5EF4-FFF2-40B4-BE49-F238E27FC236}">
                <a16:creationId xmlns:a16="http://schemas.microsoft.com/office/drawing/2014/main" id="{670BA176-5DE1-4C3B-A068-390D036528FC}"/>
              </a:ext>
            </a:extLst>
          </p:cNvPr>
          <p:cNvSpPr>
            <a:spLocks xmlns:a="http://schemas.openxmlformats.org/drawingml/2006/main" noGrp="1"/>
          </p:cNvSpPr>
          <p:nvPr/>
        </p:nvSpPr>
        <p:spPr>
          <a:xfrm xmlns:a="http://schemas.openxmlformats.org/drawingml/2006/main">
            <a:off x="6096000"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7" name="">
            <a:extLst xmlns:a="http://schemas.openxmlformats.org/drawingml/2006/main">
              <a:ext uri="{FF2B5EF4-FFF2-40B4-BE49-F238E27FC236}">
                <a16:creationId xmlns:a16="http://schemas.microsoft.com/office/drawing/2014/main" id="{447150D8-8D3C-4F34-A644-489CD4BB74C6}"/>
              </a:ext>
            </a:extLst>
          </p:cNvPr>
          <p:cNvSpPr>
            <a:spLocks xmlns:a="http://schemas.openxmlformats.org/drawingml/2006/main" noGrp="1"/>
          </p:cNvSpPr>
          <p:nvPr/>
        </p:nvSpPr>
        <p:spPr>
          <a:xfrm xmlns:a="http://schemas.openxmlformats.org/drawingml/2006/main">
            <a:off x="5991225"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I</a:t>
            </a:r>
          </a:p>
        </p:txBody>
      </p:sp>
      <p:sp>
        <p:nvSpPr>
          <p:cNvPr id="28" name="">
            <a:extLst xmlns:a="http://schemas.openxmlformats.org/drawingml/2006/main">
              <a:ext uri="{FF2B5EF4-FFF2-40B4-BE49-F238E27FC236}">
                <a16:creationId xmlns:a16="http://schemas.microsoft.com/office/drawing/2014/main" id="{81AF8439-F0F6-4718-ACEF-5EDA0058A363}"/>
              </a:ext>
            </a:extLst>
          </p:cNvPr>
          <p:cNvSpPr>
            <a:spLocks xmlns:a="http://schemas.openxmlformats.org/drawingml/2006/main" noGrp="1"/>
          </p:cNvSpPr>
          <p:nvPr/>
        </p:nvSpPr>
        <p:spPr>
          <a:xfrm xmlns:a="http://schemas.openxmlformats.org/drawingml/2006/main">
            <a:off x="6396174"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9" name="">
            <a:extLst xmlns:a="http://schemas.openxmlformats.org/drawingml/2006/main">
              <a:ext uri="{FF2B5EF4-FFF2-40B4-BE49-F238E27FC236}">
                <a16:creationId xmlns:a16="http://schemas.microsoft.com/office/drawing/2014/main" id="{4E0ACA96-3AAF-410B-8F6A-1EAB476DDE51}"/>
              </a:ext>
            </a:extLst>
          </p:cNvPr>
          <p:cNvSpPr>
            <a:spLocks xmlns:a="http://schemas.openxmlformats.org/drawingml/2006/main" noGrp="1"/>
          </p:cNvSpPr>
          <p:nvPr/>
        </p:nvSpPr>
        <p:spPr>
          <a:xfrm xmlns:a="http://schemas.openxmlformats.org/drawingml/2006/main">
            <a:off x="6291399"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30" name="">
            <a:extLst xmlns:a="http://schemas.openxmlformats.org/drawingml/2006/main">
              <a:ext uri="{FF2B5EF4-FFF2-40B4-BE49-F238E27FC236}">
                <a16:creationId xmlns:a16="http://schemas.microsoft.com/office/drawing/2014/main" id="{59EFD2B1-D949-42D0-BE72-67B7D7C41AED}"/>
              </a:ext>
            </a:extLst>
          </p:cNvPr>
          <p:cNvSpPr>
            <a:spLocks xmlns:a="http://schemas.openxmlformats.org/drawingml/2006/main" noGrp="1"/>
          </p:cNvSpPr>
          <p:nvPr/>
        </p:nvSpPr>
        <p:spPr>
          <a:xfrm xmlns:a="http://schemas.openxmlformats.org/drawingml/2006/main">
            <a:off x="6729702"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31" name="">
            <a:extLst xmlns:a="http://schemas.openxmlformats.org/drawingml/2006/main">
              <a:ext uri="{FF2B5EF4-FFF2-40B4-BE49-F238E27FC236}">
                <a16:creationId xmlns:a16="http://schemas.microsoft.com/office/drawing/2014/main" id="{E940FD1E-3067-4B21-9204-E16C59E1EC05}"/>
              </a:ext>
            </a:extLst>
          </p:cNvPr>
          <p:cNvSpPr>
            <a:spLocks xmlns:a="http://schemas.openxmlformats.org/drawingml/2006/main" noGrp="1"/>
          </p:cNvSpPr>
          <p:nvPr/>
        </p:nvSpPr>
        <p:spPr>
          <a:xfrm xmlns:a="http://schemas.openxmlformats.org/drawingml/2006/main">
            <a:off x="6624927"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32" name="">
            <a:extLst xmlns:a="http://schemas.openxmlformats.org/drawingml/2006/main">
              <a:ext uri="{FF2B5EF4-FFF2-40B4-BE49-F238E27FC236}">
                <a16:creationId xmlns:a16="http://schemas.microsoft.com/office/drawing/2014/main" id="{868DBD1D-1BF5-4B3F-A72D-C01F37DCA4AF}"/>
              </a:ext>
            </a:extLst>
          </p:cNvPr>
          <p:cNvSpPr>
            <a:spLocks xmlns:a="http://schemas.openxmlformats.org/drawingml/2006/main" noGrp="1"/>
          </p:cNvSpPr>
          <p:nvPr/>
        </p:nvSpPr>
        <p:spPr>
          <a:xfrm xmlns:a="http://schemas.openxmlformats.org/drawingml/2006/main">
            <a:off x="953133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33" name="">
            <a:extLst xmlns:a="http://schemas.openxmlformats.org/drawingml/2006/main">
              <a:ext uri="{FF2B5EF4-FFF2-40B4-BE49-F238E27FC236}">
                <a16:creationId xmlns:a16="http://schemas.microsoft.com/office/drawing/2014/main" id="{37522F4E-BE92-47F5-99F1-992F64B76EA1}"/>
              </a:ext>
            </a:extLst>
          </p:cNvPr>
          <p:cNvSpPr>
            <a:spLocks xmlns:a="http://schemas.openxmlformats.org/drawingml/2006/main" noGrp="1"/>
          </p:cNvSpPr>
          <p:nvPr/>
        </p:nvSpPr>
        <p:spPr>
          <a:xfrm xmlns:a="http://schemas.openxmlformats.org/drawingml/2006/main">
            <a:off x="942655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34" name="">
            <a:extLst xmlns:a="http://schemas.openxmlformats.org/drawingml/2006/main">
              <a:ext uri="{FF2B5EF4-FFF2-40B4-BE49-F238E27FC236}">
                <a16:creationId xmlns:a16="http://schemas.microsoft.com/office/drawing/2014/main" id="{A1803DDB-574A-415F-9B54-0052312FD356}"/>
              </a:ext>
            </a:extLst>
          </p:cNvPr>
          <p:cNvSpPr>
            <a:spLocks xmlns:a="http://schemas.openxmlformats.org/drawingml/2006/main" noGrp="1"/>
          </p:cNvSpPr>
          <p:nvPr/>
        </p:nvSpPr>
        <p:spPr>
          <a:xfrm xmlns:a="http://schemas.openxmlformats.org/drawingml/2006/main">
            <a:off x="876300" y="1352550"/>
            <a:ext cx="417576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左の細胞</a:t>
            </a:r>
          </a:p>
        </p:txBody>
      </p:sp>
      <p:sp>
        <p:nvSpPr>
          <p:cNvPr id="35" name="">
            <a:extLst xmlns:a="http://schemas.openxmlformats.org/drawingml/2006/main">
              <a:ext uri="{FF2B5EF4-FFF2-40B4-BE49-F238E27FC236}">
                <a16:creationId xmlns:a16="http://schemas.microsoft.com/office/drawing/2014/main" id="{2D0CAC04-F256-47DE-A7FA-1C5B391AFD6E}"/>
              </a:ext>
            </a:extLst>
          </p:cNvPr>
          <p:cNvSpPr>
            <a:spLocks xmlns:a="http://schemas.openxmlformats.org/drawingml/2006/main" noGrp="1"/>
          </p:cNvSpPr>
          <p:nvPr/>
        </p:nvSpPr>
        <p:spPr>
          <a:xfrm xmlns:a="http://schemas.openxmlformats.org/drawingml/2006/main">
            <a:off x="8183880" y="1352550"/>
            <a:ext cx="31318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右の細胞</a:t>
            </a:r>
          </a:p>
        </p:txBody>
      </p:sp>
      <p:sp>
        <p:nvSpPr>
          <p:cNvPr id="36" name="">
            <a:extLst xmlns:a="http://schemas.openxmlformats.org/drawingml/2006/main">
              <a:ext uri="{FF2B5EF4-FFF2-40B4-BE49-F238E27FC236}">
                <a16:creationId xmlns:a16="http://schemas.microsoft.com/office/drawing/2014/main" id="{954ECB5B-1199-4B67-B086-DA44DE281E73}"/>
              </a:ext>
            </a:extLst>
          </p:cNvPr>
          <p:cNvSpPr>
            <a:spLocks xmlns:a="http://schemas.openxmlformats.org/drawingml/2006/main" noGrp="1"/>
          </p:cNvSpPr>
          <p:nvPr/>
        </p:nvSpPr>
        <p:spPr>
          <a:xfrm xmlns:a="http://schemas.openxmlformats.org/drawingml/2006/main">
            <a:off x="876300" y="462915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defRPr sz="1650" b="0">
                <a:solidFill>
                  <a:srgbClr val="596875"/>
                </a:solidFill>
                <a:latin typeface="Yu Gothic"/>
                <a:ea typeface="Yu Gothic"/>
                <a:cs typeface="Yu Gothic"/>
              </a:defRPr>
            </a:lvl1pPr>
            <a:lvl2pPr>
              <a:defRPr sz="1650" b="0">
                <a:solidFill>
                  <a:srgbClr val="596875"/>
                </a:solidFill>
                <a:latin typeface="Yu Gothic"/>
                <a:ea typeface="Yu Gothic"/>
                <a:cs typeface="Yu Gothic"/>
              </a:defRPr>
            </a:lvl2pPr>
            <a:lvl3pPr>
              <a:defRPr sz="1650" b="0">
                <a:solidFill>
                  <a:srgbClr val="596875"/>
                </a:solidFill>
                <a:latin typeface="Yu Gothic"/>
                <a:ea typeface="Yu Gothic"/>
                <a:cs typeface="Yu Gothic"/>
              </a:defRPr>
            </a:lvl3pPr>
            <a:lvl4pPr>
              <a:defRPr sz="1650" b="0">
                <a:solidFill>
                  <a:srgbClr val="596875"/>
                </a:solidFill>
                <a:latin typeface="Yu Gothic"/>
                <a:ea typeface="Yu Gothic"/>
                <a:cs typeface="Yu Gothic"/>
              </a:defRPr>
            </a:lvl4pPr>
            <a:lvl5pPr>
              <a:defRPr sz="1650" b="0">
                <a:solidFill>
                  <a:srgbClr val="596875"/>
                </a:solidFill>
                <a:latin typeface="Yu Gothic"/>
                <a:ea typeface="Yu Gothic"/>
                <a:cs typeface="Yu Gothic"/>
              </a:defRPr>
            </a:lvl5pPr>
            <a:lvl6pPr>
              <a:defRPr sz="1650" b="0">
                <a:solidFill>
                  <a:srgbClr val="596875"/>
                </a:solidFill>
                <a:latin typeface="Yu Gothic"/>
                <a:ea typeface="Yu Gothic"/>
                <a:cs typeface="Yu Gothic"/>
              </a:defRPr>
            </a:lvl6pPr>
            <a:lvl7pPr>
              <a:defRPr sz="1650" b="0">
                <a:solidFill>
                  <a:srgbClr val="596875"/>
                </a:solidFill>
                <a:latin typeface="Yu Gothic"/>
                <a:ea typeface="Yu Gothic"/>
                <a:cs typeface="Yu Gothic"/>
              </a:defRPr>
            </a:lvl7pPr>
            <a:lvl8pPr>
              <a:defRPr sz="1650" b="0">
                <a:solidFill>
                  <a:srgbClr val="596875"/>
                </a:solidFill>
                <a:latin typeface="Yu Gothic"/>
                <a:ea typeface="Yu Gothic"/>
                <a:cs typeface="Yu Gothic"/>
              </a:defRPr>
            </a:lvl8pPr>
            <a:lvl9pPr>
              <a:defRPr sz="1650" b="0">
                <a:solidFill>
                  <a:srgbClr val="596875"/>
                </a:solidFill>
                <a:latin typeface="Yu Gothic"/>
                <a:ea typeface="Yu Gothic"/>
                <a:cs typeface="Yu Gothic"/>
              </a:defRPr>
            </a:lvl9pPr>
          </a:lstStyle>
          <a:p xmlns:a="http://schemas.openxmlformats.org/drawingml/2006/main">
            <a:pPr>
              <a:defRPr sz="1650" b="0">
                <a:solidFill>
                  <a:srgbClr val="596875"/>
                </a:solidFill>
                <a:latin typeface="Yu Gothic"/>
                <a:ea typeface="Yu Gothic"/>
                <a:cs typeface="Yu Gothic"/>
              </a:defRPr>
            </a:pPr>
            <a:r>
              <a:rPr sz="1650" b="0">
                <a:solidFill>
                  <a:srgbClr val="596875"/>
                </a:solidFill>
                <a:latin typeface="Yu Gothic"/>
                <a:ea typeface="Yu Gothic"/>
                <a:cs typeface="Yu Gothic"/>
              </a:rPr>
              <a:t>S2 を厚くした模式図。色・厚さ比は実測値ではない。</a:t>
            </a:r>
          </a:p>
        </p:txBody>
      </p:sp>
      <p:sp>
        <p:nvSpPr>
          <p:cNvPr id="37" name="">
            <a:extLst xmlns:a="http://schemas.openxmlformats.org/drawingml/2006/main">
              <a:ext uri="{FF2B5EF4-FFF2-40B4-BE49-F238E27FC236}">
                <a16:creationId xmlns:a16="http://schemas.microsoft.com/office/drawing/2014/main" id="{738D1661-9F11-419D-9210-F22D18A0C29F}"/>
              </a:ext>
            </a:extLst>
          </p:cNvPr>
          <p:cNvSpPr>
            <a:spLocks xmlns:a="http://schemas.openxmlformats.org/drawingml/2006/main" noGrp="1"/>
          </p:cNvSpPr>
          <p:nvPr/>
        </p:nvSpPr>
        <p:spPr>
          <a:xfrm xmlns:a="http://schemas.openxmlformats.org/drawingml/2006/main">
            <a:off x="838200" y="510540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53C4D"/>
                </a:solidFill>
                <a:latin typeface="Yu Gothic"/>
                <a:ea typeface="Yu Gothic"/>
                <a:cs typeface="Yu Gothic"/>
              </a:defRPr>
            </a:defPPr>
            <a:lvl1pPr>
              <a:defRPr sz="1875" b="1">
                <a:solidFill>
                  <a:srgbClr val="253C4D"/>
                </a:solidFill>
                <a:latin typeface="Yu Gothic"/>
                <a:ea typeface="Yu Gothic"/>
                <a:cs typeface="Yu Gothic"/>
              </a:defRPr>
            </a:lvl1pPr>
            <a:lvl2pPr>
              <a:defRPr sz="1875" b="1">
                <a:solidFill>
                  <a:srgbClr val="253C4D"/>
                </a:solidFill>
                <a:latin typeface="Yu Gothic"/>
                <a:ea typeface="Yu Gothic"/>
                <a:cs typeface="Yu Gothic"/>
              </a:defRPr>
            </a:lvl2pPr>
            <a:lvl3pPr>
              <a:defRPr sz="1875" b="1">
                <a:solidFill>
                  <a:srgbClr val="253C4D"/>
                </a:solidFill>
                <a:latin typeface="Yu Gothic"/>
                <a:ea typeface="Yu Gothic"/>
                <a:cs typeface="Yu Gothic"/>
              </a:defRPr>
            </a:lvl3pPr>
            <a:lvl4pPr>
              <a:defRPr sz="1875" b="1">
                <a:solidFill>
                  <a:srgbClr val="253C4D"/>
                </a:solidFill>
                <a:latin typeface="Yu Gothic"/>
                <a:ea typeface="Yu Gothic"/>
                <a:cs typeface="Yu Gothic"/>
              </a:defRPr>
            </a:lvl4pPr>
            <a:lvl5pPr>
              <a:defRPr sz="1875" b="1">
                <a:solidFill>
                  <a:srgbClr val="253C4D"/>
                </a:solidFill>
                <a:latin typeface="Yu Gothic"/>
                <a:ea typeface="Yu Gothic"/>
                <a:cs typeface="Yu Gothic"/>
              </a:defRPr>
            </a:lvl5pPr>
            <a:lvl6pPr>
              <a:defRPr sz="1875" b="1">
                <a:solidFill>
                  <a:srgbClr val="253C4D"/>
                </a:solidFill>
                <a:latin typeface="Yu Gothic"/>
                <a:ea typeface="Yu Gothic"/>
                <a:cs typeface="Yu Gothic"/>
              </a:defRPr>
            </a:lvl6pPr>
            <a:lvl7pPr>
              <a:defRPr sz="1875" b="1">
                <a:solidFill>
                  <a:srgbClr val="253C4D"/>
                </a:solidFill>
                <a:latin typeface="Yu Gothic"/>
                <a:ea typeface="Yu Gothic"/>
                <a:cs typeface="Yu Gothic"/>
              </a:defRPr>
            </a:lvl7pPr>
            <a:lvl8pPr>
              <a:defRPr sz="1875" b="1">
                <a:solidFill>
                  <a:srgbClr val="253C4D"/>
                </a:solidFill>
                <a:latin typeface="Yu Gothic"/>
                <a:ea typeface="Yu Gothic"/>
                <a:cs typeface="Yu Gothic"/>
              </a:defRPr>
            </a:lvl8pPr>
            <a:lvl9pPr>
              <a:defRPr sz="1875" b="1">
                <a:solidFill>
                  <a:srgbClr val="253C4D"/>
                </a:solidFill>
                <a:latin typeface="Yu Gothic"/>
                <a:ea typeface="Yu Gothic"/>
                <a:cs typeface="Yu Gothic"/>
              </a:defRPr>
            </a:lvl9pPr>
          </a:lstStyle>
          <a:p xmlns:a="http://schemas.openxmlformats.org/drawingml/2006/main">
            <a:pPr>
              <a:defRPr sz="1875" b="1">
                <a:solidFill>
                  <a:srgbClr val="253C4D"/>
                </a:solidFill>
                <a:latin typeface="Yu Gothic"/>
                <a:ea typeface="Yu Gothic"/>
                <a:cs typeface="Yu Gothic"/>
              </a:defRPr>
            </a:pPr>
            <a:r>
              <a:rPr sz="1875" b="1">
                <a:solidFill>
                  <a:srgbClr val="253C4D"/>
                </a:solidFill>
                <a:latin typeface="Yu Gothic"/>
                <a:ea typeface="Yu Gothic"/>
                <a:cs typeface="Yu Gothic"/>
              </a:rPr>
              <a:t>I（ML）：細胞間層　　P：一次壁</a:t>
            </a:r>
          </a:p>
        </p:txBody>
      </p:sp>
      <p:sp>
        <p:nvSpPr>
          <p:cNvPr id="38" name="">
            <a:extLst xmlns:a="http://schemas.openxmlformats.org/drawingml/2006/main">
              <a:ext uri="{FF2B5EF4-FFF2-40B4-BE49-F238E27FC236}">
                <a16:creationId xmlns:a16="http://schemas.microsoft.com/office/drawing/2014/main" id="{246C77D3-09EC-4A84-AE2C-E6FF7539CBA0}"/>
              </a:ext>
            </a:extLst>
          </p:cNvPr>
          <p:cNvSpPr>
            <a:spLocks xmlns:a="http://schemas.openxmlformats.org/drawingml/2006/main" noGrp="1"/>
          </p:cNvSpPr>
          <p:nvPr/>
        </p:nvSpPr>
        <p:spPr>
          <a:xfrm xmlns:a="http://schemas.openxmlformats.org/drawingml/2006/main">
            <a:off x="838200" y="54387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defRPr sz="1875" b="0">
                <a:solidFill>
                  <a:srgbClr val="253C4D"/>
                </a:solidFill>
                <a:latin typeface="Yu Gothic"/>
                <a:ea typeface="Yu Gothic"/>
                <a:cs typeface="Yu Gothic"/>
              </a:defRPr>
            </a:lvl1pPr>
            <a:lvl2pPr>
              <a:defRPr sz="1875" b="0">
                <a:solidFill>
                  <a:srgbClr val="253C4D"/>
                </a:solidFill>
                <a:latin typeface="Yu Gothic"/>
                <a:ea typeface="Yu Gothic"/>
                <a:cs typeface="Yu Gothic"/>
              </a:defRPr>
            </a:lvl2pPr>
            <a:lvl3pPr>
              <a:defRPr sz="1875" b="0">
                <a:solidFill>
                  <a:srgbClr val="253C4D"/>
                </a:solidFill>
                <a:latin typeface="Yu Gothic"/>
                <a:ea typeface="Yu Gothic"/>
                <a:cs typeface="Yu Gothic"/>
              </a:defRPr>
            </a:lvl3pPr>
            <a:lvl4pPr>
              <a:defRPr sz="1875" b="0">
                <a:solidFill>
                  <a:srgbClr val="253C4D"/>
                </a:solidFill>
                <a:latin typeface="Yu Gothic"/>
                <a:ea typeface="Yu Gothic"/>
                <a:cs typeface="Yu Gothic"/>
              </a:defRPr>
            </a:lvl4pPr>
            <a:lvl5pPr>
              <a:defRPr sz="1875" b="0">
                <a:solidFill>
                  <a:srgbClr val="253C4D"/>
                </a:solidFill>
                <a:latin typeface="Yu Gothic"/>
                <a:ea typeface="Yu Gothic"/>
                <a:cs typeface="Yu Gothic"/>
              </a:defRPr>
            </a:lvl5pPr>
            <a:lvl6pPr>
              <a:defRPr sz="1875" b="0">
                <a:solidFill>
                  <a:srgbClr val="253C4D"/>
                </a:solidFill>
                <a:latin typeface="Yu Gothic"/>
                <a:ea typeface="Yu Gothic"/>
                <a:cs typeface="Yu Gothic"/>
              </a:defRPr>
            </a:lvl6pPr>
            <a:lvl7pPr>
              <a:defRPr sz="1875" b="0">
                <a:solidFill>
                  <a:srgbClr val="253C4D"/>
                </a:solidFill>
                <a:latin typeface="Yu Gothic"/>
                <a:ea typeface="Yu Gothic"/>
                <a:cs typeface="Yu Gothic"/>
              </a:defRPr>
            </a:lvl7pPr>
            <a:lvl8pPr>
              <a:defRPr sz="1875" b="0">
                <a:solidFill>
                  <a:srgbClr val="253C4D"/>
                </a:solidFill>
                <a:latin typeface="Yu Gothic"/>
                <a:ea typeface="Yu Gothic"/>
                <a:cs typeface="Yu Gothic"/>
              </a:defRPr>
            </a:lvl8pPr>
            <a:lvl9pPr>
              <a:defRPr sz="1875" b="0">
                <a:solidFill>
                  <a:srgbClr val="253C4D"/>
                </a:solidFill>
                <a:latin typeface="Yu Gothic"/>
                <a:ea typeface="Yu Gothic"/>
                <a:cs typeface="Yu Gothic"/>
              </a:defRPr>
            </a:lvl9pPr>
          </a:lstStyle>
          <a:p xmlns:a="http://schemas.openxmlformats.org/drawingml/2006/main">
            <a:pPr>
              <a:defRPr sz="1875" b="0">
                <a:solidFill>
                  <a:srgbClr val="253C4D"/>
                </a:solidFill>
                <a:latin typeface="Yu Gothic"/>
                <a:ea typeface="Yu Gothic"/>
                <a:cs typeface="Yu Gothic"/>
              </a:defRPr>
            </a:pPr>
            <a:r>
              <a:rPr sz="1875" b="0">
                <a:solidFill>
                  <a:srgbClr val="253C4D"/>
                </a:solidFill>
                <a:latin typeface="Yu Gothic"/>
                <a:ea typeface="Yu Gothic"/>
                <a:cs typeface="Yu Gothic"/>
              </a:rPr>
              <a:t>二次壁は外から S1・S2・S3</a:t>
            </a:r>
          </a:p>
        </p:txBody>
      </p:sp>
      <p:sp>
        <p:nvSpPr>
          <p:cNvPr id="39" name="">
            <a:extLst xmlns:a="http://schemas.openxmlformats.org/drawingml/2006/main">
              <a:ext uri="{FF2B5EF4-FFF2-40B4-BE49-F238E27FC236}">
                <a16:creationId xmlns:a16="http://schemas.microsoft.com/office/drawing/2014/main" id="{97E68699-8E74-4592-A078-84D0B32FEDE9}"/>
              </a:ext>
            </a:extLst>
          </p:cNvPr>
          <p:cNvSpPr>
            <a:spLocks xmlns:a="http://schemas.openxmlformats.org/drawingml/2006/main" noGrp="1"/>
          </p:cNvSpPr>
          <p:nvPr/>
        </p:nvSpPr>
        <p:spPr>
          <a:xfrm xmlns:a="http://schemas.openxmlformats.org/drawingml/2006/main">
            <a:off x="838200" y="5772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defRPr sz="1875" b="0">
                <a:solidFill>
                  <a:srgbClr val="253C4D"/>
                </a:solidFill>
                <a:latin typeface="Yu Gothic"/>
                <a:ea typeface="Yu Gothic"/>
                <a:cs typeface="Yu Gothic"/>
              </a:defRPr>
            </a:lvl1pPr>
            <a:lvl2pPr>
              <a:defRPr sz="1875" b="0">
                <a:solidFill>
                  <a:srgbClr val="253C4D"/>
                </a:solidFill>
                <a:latin typeface="Yu Gothic"/>
                <a:ea typeface="Yu Gothic"/>
                <a:cs typeface="Yu Gothic"/>
              </a:defRPr>
            </a:lvl2pPr>
            <a:lvl3pPr>
              <a:defRPr sz="1875" b="0">
                <a:solidFill>
                  <a:srgbClr val="253C4D"/>
                </a:solidFill>
                <a:latin typeface="Yu Gothic"/>
                <a:ea typeface="Yu Gothic"/>
                <a:cs typeface="Yu Gothic"/>
              </a:defRPr>
            </a:lvl3pPr>
            <a:lvl4pPr>
              <a:defRPr sz="1875" b="0">
                <a:solidFill>
                  <a:srgbClr val="253C4D"/>
                </a:solidFill>
                <a:latin typeface="Yu Gothic"/>
                <a:ea typeface="Yu Gothic"/>
                <a:cs typeface="Yu Gothic"/>
              </a:defRPr>
            </a:lvl4pPr>
            <a:lvl5pPr>
              <a:defRPr sz="1875" b="0">
                <a:solidFill>
                  <a:srgbClr val="253C4D"/>
                </a:solidFill>
                <a:latin typeface="Yu Gothic"/>
                <a:ea typeface="Yu Gothic"/>
                <a:cs typeface="Yu Gothic"/>
              </a:defRPr>
            </a:lvl5pPr>
            <a:lvl6pPr>
              <a:defRPr sz="1875" b="0">
                <a:solidFill>
                  <a:srgbClr val="253C4D"/>
                </a:solidFill>
                <a:latin typeface="Yu Gothic"/>
                <a:ea typeface="Yu Gothic"/>
                <a:cs typeface="Yu Gothic"/>
              </a:defRPr>
            </a:lvl6pPr>
            <a:lvl7pPr>
              <a:defRPr sz="1875" b="0">
                <a:solidFill>
                  <a:srgbClr val="253C4D"/>
                </a:solidFill>
                <a:latin typeface="Yu Gothic"/>
                <a:ea typeface="Yu Gothic"/>
                <a:cs typeface="Yu Gothic"/>
              </a:defRPr>
            </a:lvl7pPr>
            <a:lvl8pPr>
              <a:defRPr sz="1875" b="0">
                <a:solidFill>
                  <a:srgbClr val="253C4D"/>
                </a:solidFill>
                <a:latin typeface="Yu Gothic"/>
                <a:ea typeface="Yu Gothic"/>
                <a:cs typeface="Yu Gothic"/>
              </a:defRPr>
            </a:lvl8pPr>
            <a:lvl9pPr>
              <a:defRPr sz="1875" b="0">
                <a:solidFill>
                  <a:srgbClr val="253C4D"/>
                </a:solidFill>
                <a:latin typeface="Yu Gothic"/>
                <a:ea typeface="Yu Gothic"/>
                <a:cs typeface="Yu Gothic"/>
              </a:defRPr>
            </a:lvl9pPr>
          </a:lstStyle>
          <a:p xmlns:a="http://schemas.openxmlformats.org/drawingml/2006/main">
            <a:pPr>
              <a:defRPr sz="1875" b="0">
                <a:solidFill>
                  <a:srgbClr val="253C4D"/>
                </a:solidFill>
                <a:latin typeface="Yu Gothic"/>
                <a:ea typeface="Yu Gothic"/>
                <a:cs typeface="Yu Gothic"/>
              </a:defRPr>
            </a:pPr>
            <a:r>
              <a:rPr sz="1875" b="0">
                <a:solidFill>
                  <a:srgbClr val="253C4D"/>
                </a:solidFill>
                <a:latin typeface="Yu Gothic"/>
                <a:ea typeface="Yu Gothic"/>
                <a:cs typeface="Yu Gothic"/>
              </a:rPr>
              <a:t>S2 が二次壁の厚さの大きな部分を占める</a:t>
            </a:r>
          </a:p>
        </p:txBody>
      </p:sp>
      <p:sp>
        <p:nvSpPr>
          <p:cNvPr id="40" name="">
            <a:extLst xmlns:a="http://schemas.openxmlformats.org/drawingml/2006/main">
              <a:ext uri="{FF2B5EF4-FFF2-40B4-BE49-F238E27FC236}">
                <a16:creationId xmlns:a16="http://schemas.microsoft.com/office/drawing/2014/main" id="{3622E273-8E40-439D-97C7-746385670F3F}"/>
              </a:ext>
            </a:extLst>
          </p:cNvPr>
          <p:cNvSpPr>
            <a:spLocks xmlns:a="http://schemas.openxmlformats.org/drawingml/2006/main" noGrp="1"/>
          </p:cNvSpPr>
          <p:nvPr/>
        </p:nvSpPr>
        <p:spPr>
          <a:xfrm xmlns:a="http://schemas.openxmlformats.org/drawingml/2006/main">
            <a:off x="838200" y="610552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defRPr sz="1875" b="0">
                <a:solidFill>
                  <a:srgbClr val="253C4D"/>
                </a:solidFill>
                <a:latin typeface="Yu Gothic"/>
                <a:ea typeface="Yu Gothic"/>
                <a:cs typeface="Yu Gothic"/>
              </a:defRPr>
            </a:lvl1pPr>
            <a:lvl2pPr>
              <a:defRPr sz="1875" b="0">
                <a:solidFill>
                  <a:srgbClr val="253C4D"/>
                </a:solidFill>
                <a:latin typeface="Yu Gothic"/>
                <a:ea typeface="Yu Gothic"/>
                <a:cs typeface="Yu Gothic"/>
              </a:defRPr>
            </a:lvl2pPr>
            <a:lvl3pPr>
              <a:defRPr sz="1875" b="0">
                <a:solidFill>
                  <a:srgbClr val="253C4D"/>
                </a:solidFill>
                <a:latin typeface="Yu Gothic"/>
                <a:ea typeface="Yu Gothic"/>
                <a:cs typeface="Yu Gothic"/>
              </a:defRPr>
            </a:lvl3pPr>
            <a:lvl4pPr>
              <a:defRPr sz="1875" b="0">
                <a:solidFill>
                  <a:srgbClr val="253C4D"/>
                </a:solidFill>
                <a:latin typeface="Yu Gothic"/>
                <a:ea typeface="Yu Gothic"/>
                <a:cs typeface="Yu Gothic"/>
              </a:defRPr>
            </a:lvl4pPr>
            <a:lvl5pPr>
              <a:defRPr sz="1875" b="0">
                <a:solidFill>
                  <a:srgbClr val="253C4D"/>
                </a:solidFill>
                <a:latin typeface="Yu Gothic"/>
                <a:ea typeface="Yu Gothic"/>
                <a:cs typeface="Yu Gothic"/>
              </a:defRPr>
            </a:lvl5pPr>
            <a:lvl6pPr>
              <a:defRPr sz="1875" b="0">
                <a:solidFill>
                  <a:srgbClr val="253C4D"/>
                </a:solidFill>
                <a:latin typeface="Yu Gothic"/>
                <a:ea typeface="Yu Gothic"/>
                <a:cs typeface="Yu Gothic"/>
              </a:defRPr>
            </a:lvl6pPr>
            <a:lvl7pPr>
              <a:defRPr sz="1875" b="0">
                <a:solidFill>
                  <a:srgbClr val="253C4D"/>
                </a:solidFill>
                <a:latin typeface="Yu Gothic"/>
                <a:ea typeface="Yu Gothic"/>
                <a:cs typeface="Yu Gothic"/>
              </a:defRPr>
            </a:lvl7pPr>
            <a:lvl8pPr>
              <a:defRPr sz="1875" b="0">
                <a:solidFill>
                  <a:srgbClr val="253C4D"/>
                </a:solidFill>
                <a:latin typeface="Yu Gothic"/>
                <a:ea typeface="Yu Gothic"/>
                <a:cs typeface="Yu Gothic"/>
              </a:defRPr>
            </a:lvl8pPr>
            <a:lvl9pPr>
              <a:defRPr sz="1875" b="0">
                <a:solidFill>
                  <a:srgbClr val="253C4D"/>
                </a:solidFill>
                <a:latin typeface="Yu Gothic"/>
                <a:ea typeface="Yu Gothic"/>
                <a:cs typeface="Yu Gothic"/>
              </a:defRPr>
            </a:lvl9pPr>
          </a:lstStyle>
          <a:p xmlns:a="http://schemas.openxmlformats.org/drawingml/2006/main">
            <a:pPr>
              <a:defRPr sz="1875" b="0">
                <a:solidFill>
                  <a:srgbClr val="253C4D"/>
                </a:solidFill>
                <a:latin typeface="Yu Gothic"/>
                <a:ea typeface="Yu Gothic"/>
                <a:cs typeface="Yu Gothic"/>
              </a:defRPr>
            </a:pPr>
            <a:r>
              <a:rPr sz="1875" b="0">
                <a:solidFill>
                  <a:srgbClr val="253C4D"/>
                </a:solidFill>
                <a:latin typeface="Yu Gothic"/>
                <a:ea typeface="Yu Gothic"/>
                <a:cs typeface="Yu Gothic"/>
              </a:rPr>
              <a:t>複合細胞間層 = P + I（ML）+ 隣の P</a:t>
            </a:r>
          </a:p>
        </p:txBody>
      </p:sp>
    </p:spTree>
    <p:extLst>
      <p:ext uri="{BB962C8B-B14F-4D97-AF65-F5344CB8AC3E}">
        <p14:creationId xmlns:p14="http://schemas.microsoft.com/office/powerpoint/2010/main" val="603041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1B4DEBB-F45C-49CC-B005-E33E3EA8871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セルロースとミクロフィブリル</a:t>
            </a:r>
          </a:p>
        </p:txBody>
      </p:sp>
      <p:sp>
        <p:nvSpPr>
          <p:cNvPr id="2" name="">
            <a:extLst xmlns:a="http://schemas.openxmlformats.org/drawingml/2006/main">
              <a:ext uri="{FF2B5EF4-FFF2-40B4-BE49-F238E27FC236}">
                <a16:creationId xmlns:a16="http://schemas.microsoft.com/office/drawing/2014/main" id="{358BA543-273C-4B26-9396-7CA2FC5F0B4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087329-5EEB-457A-858D-997746FAE41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84432408-2B67-4A62-865D-E0C05DE1862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D14E1B59-FD6B-4BAB-B98A-5AFD5C4502D7}"/>
              </a:ext>
            </a:extLst>
          </p:cNvPr>
          <p:cNvSpPr>
            <a:spLocks xmlns:a="http://schemas.openxmlformats.org/drawingml/2006/main" noGrp="1"/>
          </p:cNvSpPr>
          <p:nvPr/>
        </p:nvSpPr>
        <p:spPr>
          <a:xfrm xmlns:a="http://schemas.openxmlformats.org/drawingml/2006/main">
            <a:off x="838200" y="1666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xmlns:a="http://schemas.openxmlformats.org/drawingml/2006/main">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セルロース分子の鎖</a:t>
            </a:r>
          </a:p>
        </p:txBody>
      </p:sp>
      <p:sp>
        <p:nvSpPr>
          <p:cNvPr id="6" name="">
            <a:extLst xmlns:a="http://schemas.openxmlformats.org/drawingml/2006/main">
              <a:ext uri="{FF2B5EF4-FFF2-40B4-BE49-F238E27FC236}">
                <a16:creationId xmlns:a16="http://schemas.microsoft.com/office/drawing/2014/main" id="{206F2B7F-610D-4169-B166-9E6B40A21BC1}"/>
              </a:ext>
            </a:extLst>
          </p:cNvPr>
          <p:cNvSpPr>
            <a:spLocks xmlns:a="http://schemas.openxmlformats.org/drawingml/2006/main" noGrp="1"/>
          </p:cNvSpPr>
          <p:nvPr/>
        </p:nvSpPr>
        <p:spPr>
          <a:xfrm xmlns:a="http://schemas.openxmlformats.org/drawingml/2006/main">
            <a:off x="952500" y="2381250"/>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7" name="">
            <a:extLst xmlns:a="http://schemas.openxmlformats.org/drawingml/2006/main">
              <a:ext uri="{FF2B5EF4-FFF2-40B4-BE49-F238E27FC236}">
                <a16:creationId xmlns:a16="http://schemas.microsoft.com/office/drawing/2014/main" id="{5C511D64-D173-42D4-945F-F9BBEC78385A}"/>
              </a:ext>
            </a:extLst>
          </p:cNvPr>
          <p:cNvSpPr>
            <a:spLocks xmlns:a="http://schemas.openxmlformats.org/drawingml/2006/main" noGrp="1"/>
          </p:cNvSpPr>
          <p:nvPr/>
        </p:nvSpPr>
        <p:spPr>
          <a:xfrm xmlns:a="http://schemas.openxmlformats.org/drawingml/2006/main">
            <a:off x="952500" y="2619375"/>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8" name="">
            <a:extLst xmlns:a="http://schemas.openxmlformats.org/drawingml/2006/main">
              <a:ext uri="{FF2B5EF4-FFF2-40B4-BE49-F238E27FC236}">
                <a16:creationId xmlns:a16="http://schemas.microsoft.com/office/drawing/2014/main" id="{F7127417-FFB3-4C23-9D4D-BDF1E4EFEBDB}"/>
              </a:ext>
            </a:extLst>
          </p:cNvPr>
          <p:cNvSpPr>
            <a:spLocks xmlns:a="http://schemas.openxmlformats.org/drawingml/2006/main" noGrp="1"/>
          </p:cNvSpPr>
          <p:nvPr/>
        </p:nvSpPr>
        <p:spPr>
          <a:xfrm xmlns:a="http://schemas.openxmlformats.org/drawingml/2006/main">
            <a:off x="952500" y="2857500"/>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9" name="">
            <a:extLst xmlns:a="http://schemas.openxmlformats.org/drawingml/2006/main">
              <a:ext uri="{FF2B5EF4-FFF2-40B4-BE49-F238E27FC236}">
                <a16:creationId xmlns:a16="http://schemas.microsoft.com/office/drawing/2014/main" id="{96C75DA5-15B9-4B33-A8BD-B8A7A7749A69}"/>
              </a:ext>
            </a:extLst>
          </p:cNvPr>
          <p:cNvSpPr>
            <a:spLocks xmlns:a="http://schemas.openxmlformats.org/drawingml/2006/main" noGrp="1"/>
          </p:cNvSpPr>
          <p:nvPr/>
        </p:nvSpPr>
        <p:spPr>
          <a:xfrm xmlns:a="http://schemas.openxmlformats.org/drawingml/2006/main">
            <a:off x="952500" y="3095625"/>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10" name="">
            <a:extLst xmlns:a="http://schemas.openxmlformats.org/drawingml/2006/main">
              <a:ext uri="{FF2B5EF4-FFF2-40B4-BE49-F238E27FC236}">
                <a16:creationId xmlns:a16="http://schemas.microsoft.com/office/drawing/2014/main" id="{1D1B04C6-818D-4BE9-A846-1620C46670E2}"/>
              </a:ext>
            </a:extLst>
          </p:cNvPr>
          <p:cNvSpPr>
            <a:spLocks xmlns:a="http://schemas.openxmlformats.org/drawingml/2006/main" noGrp="1"/>
          </p:cNvSpPr>
          <p:nvPr/>
        </p:nvSpPr>
        <p:spPr>
          <a:xfrm xmlns:a="http://schemas.openxmlformats.org/drawingml/2006/main">
            <a:off x="952500" y="3333750"/>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11" name="">
            <a:extLst xmlns:a="http://schemas.openxmlformats.org/drawingml/2006/main">
              <a:ext uri="{FF2B5EF4-FFF2-40B4-BE49-F238E27FC236}">
                <a16:creationId xmlns:a16="http://schemas.microsoft.com/office/drawing/2014/main" id="{C9891CDC-40CF-4366-B696-D83D0DF14D19}"/>
              </a:ext>
            </a:extLst>
          </p:cNvPr>
          <p:cNvSpPr>
            <a:spLocks xmlns:a="http://schemas.openxmlformats.org/drawingml/2006/main" noGrp="1"/>
          </p:cNvSpPr>
          <p:nvPr/>
        </p:nvSpPr>
        <p:spPr>
          <a:xfrm xmlns:a="http://schemas.openxmlformats.org/drawingml/2006/main">
            <a:off x="952500" y="3571875"/>
            <a:ext cx="3048000" cy="85725"/>
          </a:xfrm>
          <a:custGeom xmlns:a="http://schemas.openxmlformats.org/drawingml/2006/main">
            <a:pathLst>
              <a:path w="3048000" h="85725">
                <a:moveTo>
                  <a:pt x="0" y="66675"/>
                </a:moveTo>
                <a:lnTo>
                  <a:pt x="762000" y="0"/>
                </a:lnTo>
                <a:lnTo>
                  <a:pt x="1524000" y="85725"/>
                </a:lnTo>
                <a:lnTo>
                  <a:pt x="2286000" y="19050"/>
                </a:lnTo>
                <a:lnTo>
                  <a:pt x="3048000" y="76200"/>
                </a:lnTo>
              </a:path>
            </a:pathLst>
          </a:custGeom>
          <a:noFill xmlns:a="http://schemas.openxmlformats.org/drawingml/2006/main"/>
          <a:ln xmlns:a="http://schemas.openxmlformats.org/drawingml/2006/main" w="38100">
            <a:solidFill>
              <a:srgbClr val="087E8B"/>
            </a:solidFill>
          </a:ln>
        </p:spPr>
      </p:sp>
      <p:sp>
        <p:nvSpPr>
          <p:cNvPr id="12" name="">
            <a:extLst xmlns:a="http://schemas.openxmlformats.org/drawingml/2006/main">
              <a:ext uri="{FF2B5EF4-FFF2-40B4-BE49-F238E27FC236}">
                <a16:creationId xmlns:a16="http://schemas.microsoft.com/office/drawing/2014/main" id="{3A230B97-98FE-49F6-A9D3-0AB97269A747}"/>
              </a:ext>
            </a:extLst>
          </p:cNvPr>
          <p:cNvSpPr>
            <a:spLocks xmlns:a="http://schemas.openxmlformats.org/drawingml/2006/main" noGrp="1"/>
          </p:cNvSpPr>
          <p:nvPr/>
        </p:nvSpPr>
        <p:spPr>
          <a:xfrm xmlns:a="http://schemas.openxmlformats.org/drawingml/2006/main">
            <a:off x="5524500" y="24955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75" b="1">
                <a:solidFill>
                  <a:srgbClr val="18364F"/>
                </a:solidFill>
                <a:latin typeface="Yu Gothic"/>
                <a:ea typeface="Yu Gothic"/>
                <a:cs typeface="Yu Gothic"/>
              </a:defRPr>
            </a:defPPr>
            <a:lvl1pPr>
              <a:defRPr sz="2775" b="1">
                <a:solidFill>
                  <a:srgbClr val="18364F"/>
                </a:solidFill>
                <a:latin typeface="Yu Gothic"/>
                <a:ea typeface="Yu Gothic"/>
                <a:cs typeface="Yu Gothic"/>
              </a:defRPr>
            </a:lvl1pPr>
            <a:lvl2pPr>
              <a:defRPr sz="2775" b="1">
                <a:solidFill>
                  <a:srgbClr val="18364F"/>
                </a:solidFill>
                <a:latin typeface="Yu Gothic"/>
                <a:ea typeface="Yu Gothic"/>
                <a:cs typeface="Yu Gothic"/>
              </a:defRPr>
            </a:lvl2pPr>
            <a:lvl3pPr>
              <a:defRPr sz="2775" b="1">
                <a:solidFill>
                  <a:srgbClr val="18364F"/>
                </a:solidFill>
                <a:latin typeface="Yu Gothic"/>
                <a:ea typeface="Yu Gothic"/>
                <a:cs typeface="Yu Gothic"/>
              </a:defRPr>
            </a:lvl3pPr>
            <a:lvl4pPr>
              <a:defRPr sz="2775" b="1">
                <a:solidFill>
                  <a:srgbClr val="18364F"/>
                </a:solidFill>
                <a:latin typeface="Yu Gothic"/>
                <a:ea typeface="Yu Gothic"/>
                <a:cs typeface="Yu Gothic"/>
              </a:defRPr>
            </a:lvl4pPr>
            <a:lvl5pPr>
              <a:defRPr sz="2775" b="1">
                <a:solidFill>
                  <a:srgbClr val="18364F"/>
                </a:solidFill>
                <a:latin typeface="Yu Gothic"/>
                <a:ea typeface="Yu Gothic"/>
                <a:cs typeface="Yu Gothic"/>
              </a:defRPr>
            </a:lvl5pPr>
            <a:lvl6pPr>
              <a:defRPr sz="2775" b="1">
                <a:solidFill>
                  <a:srgbClr val="18364F"/>
                </a:solidFill>
                <a:latin typeface="Yu Gothic"/>
                <a:ea typeface="Yu Gothic"/>
                <a:cs typeface="Yu Gothic"/>
              </a:defRPr>
            </a:lvl6pPr>
            <a:lvl7pPr>
              <a:defRPr sz="2775" b="1">
                <a:solidFill>
                  <a:srgbClr val="18364F"/>
                </a:solidFill>
                <a:latin typeface="Yu Gothic"/>
                <a:ea typeface="Yu Gothic"/>
                <a:cs typeface="Yu Gothic"/>
              </a:defRPr>
            </a:lvl7pPr>
            <a:lvl8pPr>
              <a:defRPr sz="2775" b="1">
                <a:solidFill>
                  <a:srgbClr val="18364F"/>
                </a:solidFill>
                <a:latin typeface="Yu Gothic"/>
                <a:ea typeface="Yu Gothic"/>
                <a:cs typeface="Yu Gothic"/>
              </a:defRPr>
            </a:lvl8pPr>
            <a:lvl9pPr>
              <a:defRPr sz="2775" b="1">
                <a:solidFill>
                  <a:srgbClr val="18364F"/>
                </a:solidFill>
                <a:latin typeface="Yu Gothic"/>
                <a:ea typeface="Yu Gothic"/>
                <a:cs typeface="Yu Gothic"/>
              </a:defRPr>
            </a:lvl9pPr>
          </a:lstStyle>
          <a:p xmlns:a="http://schemas.openxmlformats.org/drawingml/2006/main">
            <a:pPr>
              <a:defRPr sz="2775" b="1">
                <a:solidFill>
                  <a:srgbClr val="18364F"/>
                </a:solidFill>
                <a:latin typeface="Yu Gothic"/>
                <a:ea typeface="Yu Gothic"/>
                <a:cs typeface="Yu Gothic"/>
              </a:defRPr>
            </a:pPr>
            <a:r>
              <a:rPr sz="2775" b="1">
                <a:solidFill>
                  <a:srgbClr val="18364F"/>
                </a:solidFill>
                <a:latin typeface="Yu Gothic"/>
                <a:ea typeface="Yu Gothic"/>
                <a:cs typeface="Yu Gothic"/>
              </a:rPr>
              <a:t>鎖の集合</a:t>
            </a:r>
          </a:p>
        </p:txBody>
      </p:sp>
      <p:sp>
        <p:nvSpPr>
          <p:cNvPr id="13" name="">
            <a:extLst xmlns:a="http://schemas.openxmlformats.org/drawingml/2006/main">
              <a:ext uri="{FF2B5EF4-FFF2-40B4-BE49-F238E27FC236}">
                <a16:creationId xmlns:a16="http://schemas.microsoft.com/office/drawing/2014/main" id="{F5DF2734-392E-4E40-BFBF-9D8ACD4411CC}"/>
              </a:ext>
            </a:extLst>
          </p:cNvPr>
          <p:cNvSpPr>
            <a:spLocks xmlns:a="http://schemas.openxmlformats.org/drawingml/2006/main" noGrp="1"/>
          </p:cNvSpPr>
          <p:nvPr/>
        </p:nvSpPr>
        <p:spPr>
          <a:xfrm xmlns:a="http://schemas.openxmlformats.org/drawingml/2006/main">
            <a:off x="6191250" y="33718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4" name="">
            <a:extLst xmlns:a="http://schemas.openxmlformats.org/drawingml/2006/main">
              <a:ext uri="{FF2B5EF4-FFF2-40B4-BE49-F238E27FC236}">
                <a16:creationId xmlns:a16="http://schemas.microsoft.com/office/drawing/2014/main" id="{2D763C2C-DDBD-4C79-9F08-641D29AEFB69}"/>
              </a:ext>
            </a:extLst>
          </p:cNvPr>
          <p:cNvSpPr>
            <a:spLocks xmlns:a="http://schemas.openxmlformats.org/drawingml/2006/main" noGrp="1"/>
          </p:cNvSpPr>
          <p:nvPr/>
        </p:nvSpPr>
        <p:spPr>
          <a:xfrm xmlns:a="http://schemas.openxmlformats.org/drawingml/2006/main">
            <a:off x="6191250" y="34480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5" name="">
            <a:extLst xmlns:a="http://schemas.openxmlformats.org/drawingml/2006/main">
              <a:ext uri="{FF2B5EF4-FFF2-40B4-BE49-F238E27FC236}">
                <a16:creationId xmlns:a16="http://schemas.microsoft.com/office/drawing/2014/main" id="{89E4416D-D07A-42EE-A2FB-80D63DFE4B43}"/>
              </a:ext>
            </a:extLst>
          </p:cNvPr>
          <p:cNvSpPr>
            <a:spLocks xmlns:a="http://schemas.openxmlformats.org/drawingml/2006/main" noGrp="1"/>
          </p:cNvSpPr>
          <p:nvPr/>
        </p:nvSpPr>
        <p:spPr>
          <a:xfrm xmlns:a="http://schemas.openxmlformats.org/drawingml/2006/main">
            <a:off x="6191250" y="35242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6" name="">
            <a:extLst xmlns:a="http://schemas.openxmlformats.org/drawingml/2006/main">
              <a:ext uri="{FF2B5EF4-FFF2-40B4-BE49-F238E27FC236}">
                <a16:creationId xmlns:a16="http://schemas.microsoft.com/office/drawing/2014/main" id="{85E3EDB6-0913-4A3B-8151-7D0B5E2EE55C}"/>
              </a:ext>
            </a:extLst>
          </p:cNvPr>
          <p:cNvSpPr>
            <a:spLocks xmlns:a="http://schemas.openxmlformats.org/drawingml/2006/main" noGrp="1"/>
          </p:cNvSpPr>
          <p:nvPr/>
        </p:nvSpPr>
        <p:spPr>
          <a:xfrm xmlns:a="http://schemas.openxmlformats.org/drawingml/2006/main">
            <a:off x="6191250" y="36004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7" name="">
            <a:extLst xmlns:a="http://schemas.openxmlformats.org/drawingml/2006/main">
              <a:ext uri="{FF2B5EF4-FFF2-40B4-BE49-F238E27FC236}">
                <a16:creationId xmlns:a16="http://schemas.microsoft.com/office/drawing/2014/main" id="{CD21AE02-7DDB-4905-87B4-BA66A34B2A0F}"/>
              </a:ext>
            </a:extLst>
          </p:cNvPr>
          <p:cNvSpPr>
            <a:spLocks xmlns:a="http://schemas.openxmlformats.org/drawingml/2006/main" noGrp="1"/>
          </p:cNvSpPr>
          <p:nvPr/>
        </p:nvSpPr>
        <p:spPr>
          <a:xfrm xmlns:a="http://schemas.openxmlformats.org/drawingml/2006/main">
            <a:off x="6191250" y="36766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8" name="">
            <a:extLst xmlns:a="http://schemas.openxmlformats.org/drawingml/2006/main">
              <a:ext uri="{FF2B5EF4-FFF2-40B4-BE49-F238E27FC236}">
                <a16:creationId xmlns:a16="http://schemas.microsoft.com/office/drawing/2014/main" id="{F2B5221D-A160-4875-A177-4568F92AC049}"/>
              </a:ext>
            </a:extLst>
          </p:cNvPr>
          <p:cNvSpPr>
            <a:spLocks xmlns:a="http://schemas.openxmlformats.org/drawingml/2006/main" noGrp="1"/>
          </p:cNvSpPr>
          <p:nvPr/>
        </p:nvSpPr>
        <p:spPr>
          <a:xfrm xmlns:a="http://schemas.openxmlformats.org/drawingml/2006/main">
            <a:off x="6191250" y="37528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19" name="">
            <a:extLst xmlns:a="http://schemas.openxmlformats.org/drawingml/2006/main">
              <a:ext uri="{FF2B5EF4-FFF2-40B4-BE49-F238E27FC236}">
                <a16:creationId xmlns:a16="http://schemas.microsoft.com/office/drawing/2014/main" id="{8F96002E-4B61-4513-9A55-88DBA5383D72}"/>
              </a:ext>
            </a:extLst>
          </p:cNvPr>
          <p:cNvSpPr>
            <a:spLocks xmlns:a="http://schemas.openxmlformats.org/drawingml/2006/main" noGrp="1"/>
          </p:cNvSpPr>
          <p:nvPr/>
        </p:nvSpPr>
        <p:spPr>
          <a:xfrm xmlns:a="http://schemas.openxmlformats.org/drawingml/2006/main">
            <a:off x="6191250" y="38290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20" name="">
            <a:extLst xmlns:a="http://schemas.openxmlformats.org/drawingml/2006/main">
              <a:ext uri="{FF2B5EF4-FFF2-40B4-BE49-F238E27FC236}">
                <a16:creationId xmlns:a16="http://schemas.microsoft.com/office/drawing/2014/main" id="{B239F8B9-155D-405E-95D7-903AAE09018E}"/>
              </a:ext>
            </a:extLst>
          </p:cNvPr>
          <p:cNvSpPr>
            <a:spLocks xmlns:a="http://schemas.openxmlformats.org/drawingml/2006/main" noGrp="1"/>
          </p:cNvSpPr>
          <p:nvPr/>
        </p:nvSpPr>
        <p:spPr>
          <a:xfrm xmlns:a="http://schemas.openxmlformats.org/drawingml/2006/main">
            <a:off x="6191250" y="39052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21" name="">
            <a:extLst xmlns:a="http://schemas.openxmlformats.org/drawingml/2006/main">
              <a:ext uri="{FF2B5EF4-FFF2-40B4-BE49-F238E27FC236}">
                <a16:creationId xmlns:a16="http://schemas.microsoft.com/office/drawing/2014/main" id="{48E3110B-E246-4E5E-BF37-B5A0493F6ADC}"/>
              </a:ext>
            </a:extLst>
          </p:cNvPr>
          <p:cNvSpPr>
            <a:spLocks xmlns:a="http://schemas.openxmlformats.org/drawingml/2006/main" noGrp="1"/>
          </p:cNvSpPr>
          <p:nvPr/>
        </p:nvSpPr>
        <p:spPr>
          <a:xfrm xmlns:a="http://schemas.openxmlformats.org/drawingml/2006/main">
            <a:off x="6191250" y="3981450"/>
            <a:ext cx="4762500" cy="104775"/>
          </a:xfrm>
          <a:custGeom xmlns:a="http://schemas.openxmlformats.org/drawingml/2006/main">
            <a:pathLst>
              <a:path w="4762500" h="104775">
                <a:moveTo>
                  <a:pt x="0" y="104775"/>
                </a:moveTo>
                <a:lnTo>
                  <a:pt x="1428750" y="0"/>
                </a:lnTo>
                <a:lnTo>
                  <a:pt x="3095625" y="104775"/>
                </a:lnTo>
                <a:lnTo>
                  <a:pt x="4762500" y="9525"/>
                </a:lnTo>
              </a:path>
            </a:pathLst>
          </a:custGeom>
          <a:noFill xmlns:a="http://schemas.openxmlformats.org/drawingml/2006/main"/>
          <a:ln xmlns:a="http://schemas.openxmlformats.org/drawingml/2006/main" w="38100">
            <a:solidFill>
              <a:srgbClr val="087E8B"/>
            </a:solidFill>
          </a:ln>
        </p:spPr>
      </p:sp>
      <p:sp>
        <p:nvSpPr>
          <p:cNvPr id="22" name="">
            <a:extLst xmlns:a="http://schemas.openxmlformats.org/drawingml/2006/main">
              <a:ext uri="{FF2B5EF4-FFF2-40B4-BE49-F238E27FC236}">
                <a16:creationId xmlns:a16="http://schemas.microsoft.com/office/drawing/2014/main" id="{C4060939-0CC2-47AD-A6E1-5B973B9F72D6}"/>
              </a:ext>
            </a:extLst>
          </p:cNvPr>
          <p:cNvSpPr>
            <a:spLocks xmlns:a="http://schemas.openxmlformats.org/drawingml/2006/main" noGrp="1"/>
          </p:cNvSpPr>
          <p:nvPr/>
        </p:nvSpPr>
        <p:spPr>
          <a:xfrm xmlns:a="http://schemas.openxmlformats.org/drawingml/2006/main">
            <a:off x="5810250" y="4333875"/>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087E8B"/>
                </a:solidFill>
                <a:latin typeface="Yu Gothic"/>
                <a:ea typeface="Yu Gothic"/>
                <a:cs typeface="Yu Gothic"/>
              </a:defRPr>
            </a:defPPr>
            <a:lvl1pPr>
              <a:defRPr sz="2625" b="1">
                <a:solidFill>
                  <a:srgbClr val="087E8B"/>
                </a:solidFill>
                <a:latin typeface="Yu Gothic"/>
                <a:ea typeface="Yu Gothic"/>
                <a:cs typeface="Yu Gothic"/>
              </a:defRPr>
            </a:lvl1pPr>
            <a:lvl2pPr>
              <a:defRPr sz="2625" b="1">
                <a:solidFill>
                  <a:srgbClr val="087E8B"/>
                </a:solidFill>
                <a:latin typeface="Yu Gothic"/>
                <a:ea typeface="Yu Gothic"/>
                <a:cs typeface="Yu Gothic"/>
              </a:defRPr>
            </a:lvl2pPr>
            <a:lvl3pPr>
              <a:defRPr sz="2625" b="1">
                <a:solidFill>
                  <a:srgbClr val="087E8B"/>
                </a:solidFill>
                <a:latin typeface="Yu Gothic"/>
                <a:ea typeface="Yu Gothic"/>
                <a:cs typeface="Yu Gothic"/>
              </a:defRPr>
            </a:lvl3pPr>
            <a:lvl4pPr>
              <a:defRPr sz="2625" b="1">
                <a:solidFill>
                  <a:srgbClr val="087E8B"/>
                </a:solidFill>
                <a:latin typeface="Yu Gothic"/>
                <a:ea typeface="Yu Gothic"/>
                <a:cs typeface="Yu Gothic"/>
              </a:defRPr>
            </a:lvl4pPr>
            <a:lvl5pPr>
              <a:defRPr sz="2625" b="1">
                <a:solidFill>
                  <a:srgbClr val="087E8B"/>
                </a:solidFill>
                <a:latin typeface="Yu Gothic"/>
                <a:ea typeface="Yu Gothic"/>
                <a:cs typeface="Yu Gothic"/>
              </a:defRPr>
            </a:lvl5pPr>
            <a:lvl6pPr>
              <a:defRPr sz="2625" b="1">
                <a:solidFill>
                  <a:srgbClr val="087E8B"/>
                </a:solidFill>
                <a:latin typeface="Yu Gothic"/>
                <a:ea typeface="Yu Gothic"/>
                <a:cs typeface="Yu Gothic"/>
              </a:defRPr>
            </a:lvl6pPr>
            <a:lvl7pPr>
              <a:defRPr sz="2625" b="1">
                <a:solidFill>
                  <a:srgbClr val="087E8B"/>
                </a:solidFill>
                <a:latin typeface="Yu Gothic"/>
                <a:ea typeface="Yu Gothic"/>
                <a:cs typeface="Yu Gothic"/>
              </a:defRPr>
            </a:lvl7pPr>
            <a:lvl8pPr>
              <a:defRPr sz="2625" b="1">
                <a:solidFill>
                  <a:srgbClr val="087E8B"/>
                </a:solidFill>
                <a:latin typeface="Yu Gothic"/>
                <a:ea typeface="Yu Gothic"/>
                <a:cs typeface="Yu Gothic"/>
              </a:defRPr>
            </a:lvl8pPr>
            <a:lvl9pPr>
              <a:defRPr sz="2625" b="1">
                <a:solidFill>
                  <a:srgbClr val="087E8B"/>
                </a:solidFill>
                <a:latin typeface="Yu Gothic"/>
                <a:ea typeface="Yu Gothic"/>
                <a:cs typeface="Yu Gothic"/>
              </a:defRPr>
            </a:lvl9pPr>
          </a:lstStyle>
          <a:p xmlns:a="http://schemas.openxmlformats.org/drawingml/2006/main">
            <a:pPr>
              <a:defRPr sz="2625" b="1">
                <a:solidFill>
                  <a:srgbClr val="087E8B"/>
                </a:solidFill>
                <a:latin typeface="Yu Gothic"/>
                <a:ea typeface="Yu Gothic"/>
                <a:cs typeface="Yu Gothic"/>
              </a:defRPr>
            </a:pPr>
            <a:r>
              <a:rPr sz="2625" b="1">
                <a:solidFill>
                  <a:srgbClr val="087E8B"/>
                </a:solidFill>
                <a:latin typeface="Yu Gothic"/>
                <a:ea typeface="Yu Gothic"/>
                <a:cs typeface="Yu Gothic"/>
              </a:rPr>
              <a:t>ミクロフィブリル</a:t>
            </a:r>
          </a:p>
        </p:txBody>
      </p:sp>
      <p:sp>
        <p:nvSpPr>
          <p:cNvPr id="23" name="">
            <a:extLst xmlns:a="http://schemas.openxmlformats.org/drawingml/2006/main">
              <a:ext uri="{FF2B5EF4-FFF2-40B4-BE49-F238E27FC236}">
                <a16:creationId xmlns:a16="http://schemas.microsoft.com/office/drawing/2014/main" id="{30791067-8415-4A0C-81C5-8D1F23AAE0DF}"/>
              </a:ext>
            </a:extLst>
          </p:cNvPr>
          <p:cNvSpPr>
            <a:spLocks xmlns:a="http://schemas.openxmlformats.org/drawingml/2006/main" noGrp="1"/>
          </p:cNvSpPr>
          <p:nvPr/>
        </p:nvSpPr>
        <p:spPr>
          <a:xfrm xmlns:a="http://schemas.openxmlformats.org/drawingml/2006/main">
            <a:off x="838200" y="52959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細胞の壁の中の、さらに小さな構造</a:t>
            </a:r>
          </a:p>
        </p:txBody>
      </p:sp>
      <p:sp>
        <p:nvSpPr>
          <p:cNvPr id="24" name="">
            <a:extLst xmlns:a="http://schemas.openxmlformats.org/drawingml/2006/main">
              <a:ext uri="{FF2B5EF4-FFF2-40B4-BE49-F238E27FC236}">
                <a16:creationId xmlns:a16="http://schemas.microsoft.com/office/drawing/2014/main" id="{ED72FEA5-131A-4300-9BD4-348CE4E7CC1B}"/>
              </a:ext>
            </a:extLst>
          </p:cNvPr>
          <p:cNvSpPr>
            <a:spLocks xmlns:a="http://schemas.openxmlformats.org/drawingml/2006/main" noGrp="1"/>
          </p:cNvSpPr>
          <p:nvPr/>
        </p:nvSpPr>
        <p:spPr>
          <a:xfrm xmlns:a="http://schemas.openxmlformats.org/drawingml/2006/main">
            <a:off x="838200" y="5924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概念図。分子数・太さ・寸法比は再現していない。</a:t>
            </a:r>
          </a:p>
        </p:txBody>
      </p:sp>
    </p:spTree>
    <p:extLst>
      <p:ext uri="{BB962C8B-B14F-4D97-AF65-F5344CB8AC3E}">
        <p14:creationId xmlns:p14="http://schemas.microsoft.com/office/powerpoint/2010/main" val="19231329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7181FA-67C2-4C33-8633-C55171F7FA7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各層のミクロフィブリルの向き</a:t>
            </a:r>
          </a:p>
        </p:txBody>
      </p:sp>
      <p:sp>
        <p:nvSpPr>
          <p:cNvPr id="2" name="">
            <a:extLst xmlns:a="http://schemas.openxmlformats.org/drawingml/2006/main">
              <a:ext uri="{FF2B5EF4-FFF2-40B4-BE49-F238E27FC236}">
                <a16:creationId xmlns:a16="http://schemas.microsoft.com/office/drawing/2014/main" id="{6CDFB463-980A-4FC6-9392-A54BCD4468A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DEEC3F-BDB9-45D7-A968-AC6C188953A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6F0B5F3C-95F0-4820-BDAC-B320CA2115D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pic>
        <p:nvPicPr>
          <p:cNvPr id="5" name="">
            <a:extLst xmlns:a="http://schemas.openxmlformats.org/drawingml/2006/main">
              <a:ext uri="{FF2B5EF4-FFF2-40B4-BE49-F238E27FC236}">
                <a16:creationId xmlns:a16="http://schemas.microsoft.com/office/drawing/2014/main" id="{9CAF421D-7C9C-4FBE-B74A-2F470D85174D}"/>
              </a:ext>
            </a:extLst>
          </p:cNvPr>
          <p:cNvPicPr>
            <a:picLocks xmlns:a="http://schemas.openxmlformats.org/drawingml/2006/main" noChangeAspect="1"/>
          </p:cNvPicPr>
          <p:nvPr/>
        </p:nvPicPr>
        <p:blipFill>
          <a:blip xmlns:r="http://schemas.openxmlformats.org/officeDocument/2006/relationships" xmlns:a="http://schemas.openxmlformats.org/drawingml/2006/main" r:embed="Rc5046f372f924a51"/>
          <a:stretch xmlns:a="http://schemas.openxmlformats.org/drawingml/2006/main"/>
        </p:blipFill>
        <p:spPr>
          <a:xfrm xmlns:a="http://schemas.openxmlformats.org/drawingml/2006/main">
            <a:off x="1143680" y="1581150"/>
            <a:ext cx="398008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57415F5-6A72-47C4-A582-8172378E0096}"/>
              </a:ext>
            </a:extLst>
          </p:cNvPr>
          <p:cNvSpPr>
            <a:spLocks xmlns:a="http://schemas.openxmlformats.org/drawingml/2006/main" noGrp="1"/>
          </p:cNvSpPr>
          <p:nvPr/>
        </p:nvSpPr>
        <p:spPr>
          <a:xfrm xmlns:a="http://schemas.openxmlformats.org/drawingml/2006/main">
            <a:off x="685800" y="5981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hlinkClick xmlns:r="http://schemas.openxmlformats.org/officeDocument/2006/relationships" r:id="R66d7e01dae744028"/>
              </a:rPr>
              <a:t>USDA Wood Handbook 2021, Fig. 3–6（3–7頁）</a:t>
            </a:r>
          </a:p>
        </p:txBody>
      </p:sp>
      <p:sp>
        <p:nvSpPr>
          <p:cNvPr id="7" name="">
            <a:extLst xmlns:a="http://schemas.openxmlformats.org/drawingml/2006/main">
              <a:ext uri="{FF2B5EF4-FFF2-40B4-BE49-F238E27FC236}">
                <a16:creationId xmlns:a16="http://schemas.microsoft.com/office/drawing/2014/main" id="{2163DA83-A033-46E9-B5DA-5C64B69EE01C}"/>
              </a:ext>
            </a:extLst>
          </p:cNvPr>
          <p:cNvSpPr>
            <a:spLocks xmlns:a="http://schemas.openxmlformats.org/drawingml/2006/main" noGrp="1"/>
          </p:cNvSpPr>
          <p:nvPr/>
        </p:nvSpPr>
        <p:spPr>
          <a:xfrm xmlns:a="http://schemas.openxmlformats.org/drawingml/2006/main">
            <a:off x="5953125" y="18097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defRPr sz="2175" b="1">
                <a:solidFill>
                  <a:srgbClr val="253C4D"/>
                </a:solidFill>
                <a:latin typeface="Yu Gothic"/>
                <a:ea typeface="Yu Gothic"/>
                <a:cs typeface="Yu Gothic"/>
              </a:defRPr>
            </a:lvl1pPr>
            <a:lvl2pPr>
              <a:defRPr sz="2175" b="1">
                <a:solidFill>
                  <a:srgbClr val="253C4D"/>
                </a:solidFill>
                <a:latin typeface="Yu Gothic"/>
                <a:ea typeface="Yu Gothic"/>
                <a:cs typeface="Yu Gothic"/>
              </a:defRPr>
            </a:lvl2pPr>
            <a:lvl3pPr>
              <a:defRPr sz="2175" b="1">
                <a:solidFill>
                  <a:srgbClr val="253C4D"/>
                </a:solidFill>
                <a:latin typeface="Yu Gothic"/>
                <a:ea typeface="Yu Gothic"/>
                <a:cs typeface="Yu Gothic"/>
              </a:defRPr>
            </a:lvl3pPr>
            <a:lvl4pPr>
              <a:defRPr sz="2175" b="1">
                <a:solidFill>
                  <a:srgbClr val="253C4D"/>
                </a:solidFill>
                <a:latin typeface="Yu Gothic"/>
                <a:ea typeface="Yu Gothic"/>
                <a:cs typeface="Yu Gothic"/>
              </a:defRPr>
            </a:lvl4pPr>
            <a:lvl5pPr>
              <a:defRPr sz="2175" b="1">
                <a:solidFill>
                  <a:srgbClr val="253C4D"/>
                </a:solidFill>
                <a:latin typeface="Yu Gothic"/>
                <a:ea typeface="Yu Gothic"/>
                <a:cs typeface="Yu Gothic"/>
              </a:defRPr>
            </a:lvl5pPr>
            <a:lvl6pPr>
              <a:defRPr sz="2175" b="1">
                <a:solidFill>
                  <a:srgbClr val="253C4D"/>
                </a:solidFill>
                <a:latin typeface="Yu Gothic"/>
                <a:ea typeface="Yu Gothic"/>
                <a:cs typeface="Yu Gothic"/>
              </a:defRPr>
            </a:lvl6pPr>
            <a:lvl7pPr>
              <a:defRPr sz="2175" b="1">
                <a:solidFill>
                  <a:srgbClr val="253C4D"/>
                </a:solidFill>
                <a:latin typeface="Yu Gothic"/>
                <a:ea typeface="Yu Gothic"/>
                <a:cs typeface="Yu Gothic"/>
              </a:defRPr>
            </a:lvl7pPr>
            <a:lvl8pPr>
              <a:defRPr sz="2175" b="1">
                <a:solidFill>
                  <a:srgbClr val="253C4D"/>
                </a:solidFill>
                <a:latin typeface="Yu Gothic"/>
                <a:ea typeface="Yu Gothic"/>
                <a:cs typeface="Yu Gothic"/>
              </a:defRPr>
            </a:lvl8pPr>
            <a:lvl9pPr>
              <a:defRPr sz="2175" b="1">
                <a:solidFill>
                  <a:srgbClr val="253C4D"/>
                </a:solidFill>
                <a:latin typeface="Yu Gothic"/>
                <a:ea typeface="Yu Gothic"/>
                <a:cs typeface="Yu Gothic"/>
              </a:defRPr>
            </a:lvl9pPr>
          </a:lstStyle>
          <a:p xmlns:a="http://schemas.openxmlformats.org/drawingml/2006/main">
            <a:pPr>
              <a:defRPr sz="2175" b="1">
                <a:solidFill>
                  <a:srgbClr val="253C4D"/>
                </a:solidFill>
                <a:latin typeface="Yu Gothic"/>
                <a:ea typeface="Yu Gothic"/>
                <a:cs typeface="Yu Gothic"/>
              </a:defRPr>
            </a:pPr>
            <a:r>
              <a:rPr sz="2175" b="1">
                <a:solidFill>
                  <a:srgbClr val="253C4D"/>
                </a:solidFill>
                <a:latin typeface="Yu Gothic"/>
                <a:ea typeface="Yu Gothic"/>
                <a:cs typeface="Yu Gothic"/>
              </a:rPr>
              <a:t>P：多方向の配向</a:t>
            </a:r>
          </a:p>
        </p:txBody>
      </p:sp>
      <p:sp>
        <p:nvSpPr>
          <p:cNvPr id="8" name="">
            <a:extLst xmlns:a="http://schemas.openxmlformats.org/drawingml/2006/main">
              <a:ext uri="{FF2B5EF4-FFF2-40B4-BE49-F238E27FC236}">
                <a16:creationId xmlns:a16="http://schemas.microsoft.com/office/drawing/2014/main" id="{99DD7B9E-6763-4BC2-B417-57076B5610F7}"/>
              </a:ext>
            </a:extLst>
          </p:cNvPr>
          <p:cNvSpPr>
            <a:spLocks xmlns:a="http://schemas.openxmlformats.org/drawingml/2006/main" noGrp="1"/>
          </p:cNvSpPr>
          <p:nvPr/>
        </p:nvSpPr>
        <p:spPr>
          <a:xfrm xmlns:a="http://schemas.openxmlformats.org/drawingml/2006/main">
            <a:off x="5953125" y="278130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S1・S3：細胞軸との角度が比較的大きい</a:t>
            </a:r>
          </a:p>
        </p:txBody>
      </p:sp>
      <p:sp>
        <p:nvSpPr>
          <p:cNvPr id="9" name="">
            <a:extLst xmlns:a="http://schemas.openxmlformats.org/drawingml/2006/main">
              <a:ext uri="{FF2B5EF4-FFF2-40B4-BE49-F238E27FC236}">
                <a16:creationId xmlns:a16="http://schemas.microsoft.com/office/drawing/2014/main" id="{F6705FFB-E572-480A-9CAF-229FC30F7F62}"/>
              </a:ext>
            </a:extLst>
          </p:cNvPr>
          <p:cNvSpPr>
            <a:spLocks xmlns:a="http://schemas.openxmlformats.org/drawingml/2006/main" noGrp="1"/>
          </p:cNvSpPr>
          <p:nvPr/>
        </p:nvSpPr>
        <p:spPr>
          <a:xfrm xmlns:a="http://schemas.openxmlformats.org/drawingml/2006/main">
            <a:off x="5953125" y="37528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S2：厚く、細胞軸に比較的近い配向</a:t>
            </a:r>
          </a:p>
        </p:txBody>
      </p:sp>
      <p:sp>
        <p:nvSpPr>
          <p:cNvPr id="10" name="">
            <a:extLst xmlns:a="http://schemas.openxmlformats.org/drawingml/2006/main">
              <a:ext uri="{FF2B5EF4-FFF2-40B4-BE49-F238E27FC236}">
                <a16:creationId xmlns:a16="http://schemas.microsoft.com/office/drawing/2014/main" id="{C397795D-7E18-420F-81C0-9D9572A4C326}"/>
              </a:ext>
            </a:extLst>
          </p:cNvPr>
          <p:cNvSpPr>
            <a:spLocks xmlns:a="http://schemas.openxmlformats.org/drawingml/2006/main" noGrp="1"/>
          </p:cNvSpPr>
          <p:nvPr/>
        </p:nvSpPr>
        <p:spPr>
          <a:xfrm xmlns:a="http://schemas.openxmlformats.org/drawingml/2006/main">
            <a:off x="5953125" y="472440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角度の基準は、細胞の長手方向</a:t>
            </a:r>
          </a:p>
        </p:txBody>
      </p:sp>
    </p:spTree>
    <p:extLst>
      <p:ext uri="{BB962C8B-B14F-4D97-AF65-F5344CB8AC3E}">
        <p14:creationId xmlns:p14="http://schemas.microsoft.com/office/powerpoint/2010/main" val="790558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1DD914-F8C7-4CBC-B504-A1B29AECAF4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350B9CB7-43D9-4BFA-81F7-67232414F92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D79D0B-3144-4EF2-84B7-E40214A90BF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第3回・オンデマンド</a:t>
            </a:r>
          </a:p>
        </p:txBody>
      </p:sp>
      <p:sp>
        <p:nvSpPr>
          <p:cNvPr id="4" name="">
            <a:extLst xmlns:a="http://schemas.openxmlformats.org/drawingml/2006/main">
              <a:ext uri="{FF2B5EF4-FFF2-40B4-BE49-F238E27FC236}">
                <a16:creationId xmlns:a16="http://schemas.microsoft.com/office/drawing/2014/main" id="{AB2927AD-CD72-4EB2-B33A-F15544ED376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B54EDD62-0DF8-4E0C-B0B7-222766652EBC}"/>
              </a:ext>
            </a:extLst>
          </p:cNvPr>
          <p:cNvSpPr>
            <a:spLocks xmlns:a="http://schemas.openxmlformats.org/drawingml/2006/main" noGrp="1"/>
          </p:cNvSpPr>
          <p:nvPr/>
        </p:nvSpPr>
        <p:spPr>
          <a:xfrm xmlns:a="http://schemas.openxmlformats.org/drawingml/2006/main">
            <a:off x="838200" y="1885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53C4D"/>
                </a:solidFill>
                <a:latin typeface="Yu Gothic"/>
                <a:ea typeface="Yu Gothic"/>
                <a:cs typeface="Yu Gothic"/>
              </a:defRPr>
            </a:defPPr>
            <a:lvl1pPr>
              <a:defRPr sz="2325" b="1">
                <a:solidFill>
                  <a:srgbClr val="253C4D"/>
                </a:solidFill>
                <a:latin typeface="Yu Gothic"/>
                <a:ea typeface="Yu Gothic"/>
                <a:cs typeface="Yu Gothic"/>
              </a:defRPr>
            </a:lvl1pPr>
            <a:lvl2pPr>
              <a:defRPr sz="2325" b="1">
                <a:solidFill>
                  <a:srgbClr val="253C4D"/>
                </a:solidFill>
                <a:latin typeface="Yu Gothic"/>
                <a:ea typeface="Yu Gothic"/>
                <a:cs typeface="Yu Gothic"/>
              </a:defRPr>
            </a:lvl2pPr>
            <a:lvl3pPr>
              <a:defRPr sz="2325" b="1">
                <a:solidFill>
                  <a:srgbClr val="253C4D"/>
                </a:solidFill>
                <a:latin typeface="Yu Gothic"/>
                <a:ea typeface="Yu Gothic"/>
                <a:cs typeface="Yu Gothic"/>
              </a:defRPr>
            </a:lvl3pPr>
            <a:lvl4pPr>
              <a:defRPr sz="2325" b="1">
                <a:solidFill>
                  <a:srgbClr val="253C4D"/>
                </a:solidFill>
                <a:latin typeface="Yu Gothic"/>
                <a:ea typeface="Yu Gothic"/>
                <a:cs typeface="Yu Gothic"/>
              </a:defRPr>
            </a:lvl4pPr>
            <a:lvl5pPr>
              <a:defRPr sz="2325" b="1">
                <a:solidFill>
                  <a:srgbClr val="253C4D"/>
                </a:solidFill>
                <a:latin typeface="Yu Gothic"/>
                <a:ea typeface="Yu Gothic"/>
                <a:cs typeface="Yu Gothic"/>
              </a:defRPr>
            </a:lvl5pPr>
            <a:lvl6pPr>
              <a:defRPr sz="2325" b="1">
                <a:solidFill>
                  <a:srgbClr val="253C4D"/>
                </a:solidFill>
                <a:latin typeface="Yu Gothic"/>
                <a:ea typeface="Yu Gothic"/>
                <a:cs typeface="Yu Gothic"/>
              </a:defRPr>
            </a:lvl6pPr>
            <a:lvl7pPr>
              <a:defRPr sz="2325" b="1">
                <a:solidFill>
                  <a:srgbClr val="253C4D"/>
                </a:solidFill>
                <a:latin typeface="Yu Gothic"/>
                <a:ea typeface="Yu Gothic"/>
                <a:cs typeface="Yu Gothic"/>
              </a:defRPr>
            </a:lvl7pPr>
            <a:lvl8pPr>
              <a:defRPr sz="2325" b="1">
                <a:solidFill>
                  <a:srgbClr val="253C4D"/>
                </a:solidFill>
                <a:latin typeface="Yu Gothic"/>
                <a:ea typeface="Yu Gothic"/>
                <a:cs typeface="Yu Gothic"/>
              </a:defRPr>
            </a:lvl8pPr>
            <a:lvl9pPr>
              <a:defRPr sz="2325" b="1">
                <a:solidFill>
                  <a:srgbClr val="253C4D"/>
                </a:solidFill>
                <a:latin typeface="Yu Gothic"/>
                <a:ea typeface="Yu Gothic"/>
                <a:cs typeface="Yu Gothic"/>
              </a:defRPr>
            </a:lvl9pPr>
          </a:lstStyle>
          <a:p xmlns:a="http://schemas.openxmlformats.org/drawingml/2006/main">
            <a:pPr>
              <a:defRPr sz="2325" b="1">
                <a:solidFill>
                  <a:srgbClr val="253C4D"/>
                </a:solidFill>
                <a:latin typeface="Yu Gothic"/>
                <a:ea typeface="Yu Gothic"/>
                <a:cs typeface="Yu Gothic"/>
              </a:defRPr>
            </a:pPr>
            <a:r>
              <a:rPr sz="2325" b="1">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0F0CC3A0-3F2F-4332-8D22-725183B56E33}"/>
              </a:ext>
            </a:extLst>
          </p:cNvPr>
          <p:cNvSpPr>
            <a:spLocks xmlns:a="http://schemas.openxmlformats.org/drawingml/2006/main" noGrp="1"/>
          </p:cNvSpPr>
          <p:nvPr/>
        </p:nvSpPr>
        <p:spPr>
          <a:xfrm xmlns:a="http://schemas.openxmlformats.org/drawingml/2006/main">
            <a:off x="838200" y="2838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A371AA44-9943-4C0D-BC69-D6AF53047BE9}"/>
              </a:ext>
            </a:extLst>
          </p:cNvPr>
          <p:cNvSpPr>
            <a:spLocks xmlns:a="http://schemas.openxmlformats.org/drawingml/2006/main" noGrp="1"/>
          </p:cNvSpPr>
          <p:nvPr/>
        </p:nvSpPr>
        <p:spPr>
          <a:xfrm xmlns:a="http://schemas.openxmlformats.org/drawingml/2006/main">
            <a:off x="838200" y="3790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27210D7E-D1FC-47C7-A424-3DBC9ABA4A5A}"/>
              </a:ext>
            </a:extLst>
          </p:cNvPr>
          <p:cNvSpPr>
            <a:spLocks xmlns:a="http://schemas.openxmlformats.org/drawingml/2006/main" noGrp="1"/>
          </p:cNvSpPr>
          <p:nvPr/>
        </p:nvSpPr>
        <p:spPr>
          <a:xfrm xmlns:a="http://schemas.openxmlformats.org/drawingml/2006/main">
            <a:off x="838200" y="4743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再開したら：らせんと、壁を広げた図へ進みます。</a:t>
            </a:r>
          </a:p>
        </p:txBody>
      </p:sp>
    </p:spTree>
    <p:extLst>
      <p:ext uri="{BB962C8B-B14F-4D97-AF65-F5344CB8AC3E}">
        <p14:creationId xmlns:p14="http://schemas.microsoft.com/office/powerpoint/2010/main" val="11659316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2A54D6A-0F94-488A-8057-95AD1979698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らせんと、壁を広げた図</a:t>
            </a:r>
          </a:p>
        </p:txBody>
      </p:sp>
      <p:sp>
        <p:nvSpPr>
          <p:cNvPr id="2" name="">
            <a:extLst xmlns:a="http://schemas.openxmlformats.org/drawingml/2006/main">
              <a:ext uri="{FF2B5EF4-FFF2-40B4-BE49-F238E27FC236}">
                <a16:creationId xmlns:a16="http://schemas.microsoft.com/office/drawing/2014/main" id="{7BFC77D6-9CF7-4F6C-83AA-502D4922ABB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1A6DF0-8EE0-4E9C-B457-24CD7925390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6C2A34BA-720C-4461-8E62-F8C3E586377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pic>
        <p:nvPicPr>
          <p:cNvPr id="5" name="">
            <a:extLst xmlns:a="http://schemas.openxmlformats.org/drawingml/2006/main">
              <a:ext uri="{FF2B5EF4-FFF2-40B4-BE49-F238E27FC236}">
                <a16:creationId xmlns:a16="http://schemas.microsoft.com/office/drawing/2014/main" id="{236EB92A-3B69-41DE-81C3-303B8BC898D1}"/>
              </a:ext>
            </a:extLst>
          </p:cNvPr>
          <p:cNvPicPr>
            <a:picLocks xmlns:a="http://schemas.openxmlformats.org/drawingml/2006/main" noChangeAspect="1"/>
          </p:cNvPicPr>
          <p:nvPr/>
        </p:nvPicPr>
        <p:blipFill>
          <a:blip xmlns:r="http://schemas.openxmlformats.org/officeDocument/2006/relationships" xmlns:a="http://schemas.openxmlformats.org/drawingml/2006/main" r:embed="Rbc817a801c4a48dc"/>
          <a:stretch xmlns:a="http://schemas.openxmlformats.org/drawingml/2006/main"/>
        </p:blipFill>
        <p:spPr>
          <a:xfrm xmlns:a="http://schemas.openxmlformats.org/drawingml/2006/main">
            <a:off x="1140279" y="1638300"/>
            <a:ext cx="3891643"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4AA3516-0D64-4568-B968-3514E53F6672}"/>
              </a:ext>
            </a:extLst>
          </p:cNvPr>
          <p:cNvSpPr>
            <a:spLocks xmlns:a="http://schemas.openxmlformats.org/drawingml/2006/main" noGrp="1"/>
          </p:cNvSpPr>
          <p:nvPr/>
        </p:nvSpPr>
        <p:spPr>
          <a:xfrm xmlns:a="http://schemas.openxmlformats.org/drawingml/2006/main">
            <a:off x="685800" y="5981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hlinkClick xmlns:r="http://schemas.openxmlformats.org/officeDocument/2006/relationships" r:id="Rf06ee9ab5b604683"/>
              </a:rPr>
              <a:t>USDA Wood Handbook 2021, Fig. 3–6（3–7頁）</a:t>
            </a:r>
          </a:p>
        </p:txBody>
      </p:sp>
      <p:sp>
        <p:nvSpPr>
          <p:cNvPr id="7" name="">
            <a:extLst xmlns:a="http://schemas.openxmlformats.org/drawingml/2006/main">
              <a:ext uri="{FF2B5EF4-FFF2-40B4-BE49-F238E27FC236}">
                <a16:creationId xmlns:a16="http://schemas.microsoft.com/office/drawing/2014/main" id="{7D0004EB-8222-40F3-8A2A-FB81AD7888C1}"/>
              </a:ext>
            </a:extLst>
          </p:cNvPr>
          <p:cNvSpPr>
            <a:spLocks xmlns:a="http://schemas.openxmlformats.org/drawingml/2006/main" noGrp="1"/>
          </p:cNvSpPr>
          <p:nvPr/>
        </p:nvSpPr>
        <p:spPr>
          <a:xfrm xmlns:a="http://schemas.openxmlformats.org/drawingml/2006/main">
            <a:off x="6191250" y="1762125"/>
            <a:ext cx="4762500" cy="3143250"/>
          </a:xfrm>
          <a:prstGeom xmlns:a="http://schemas.openxmlformats.org/drawingml/2006/main" prst="rect">
            <a:avLst/>
          </a:prstGeom>
          <a:solidFill xmlns:a="http://schemas.openxmlformats.org/drawingml/2006/main">
            <a:srgbClr val="F3F7F5"/>
          </a:solidFill>
          <a:ln xmlns:a="http://schemas.openxmlformats.org/drawingml/2006/main" w="9525">
            <a:solidFill>
              <a:srgbClr val="596875"/>
            </a:solidFill>
          </a:ln>
        </p:spPr>
      </p:sp>
      <p:sp>
        <p:nvSpPr>
          <p:cNvPr id="8" name="CellAxis">
            <a:extLst xmlns:a="http://schemas.openxmlformats.org/drawingml/2006/main">
              <a:ext uri="{FF2B5EF4-FFF2-40B4-BE49-F238E27FC236}">
                <a16:creationId xmlns:a16="http://schemas.microsoft.com/office/drawing/2014/main" id="{38819B8B-B3B5-4BBE-B9C7-71EA9BE14B46}"/>
              </a:ext>
            </a:extLst>
          </p:cNvPr>
          <p:cNvSpPr>
            <a:spLocks xmlns:a="http://schemas.openxmlformats.org/drawingml/2006/main" noGrp="1"/>
          </p:cNvSpPr>
          <p:nvPr/>
        </p:nvSpPr>
        <p:spPr>
          <a:xfrm xmlns:a="http://schemas.openxmlformats.org/drawingml/2006/main">
            <a:off x="6762750" y="2190750"/>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38100">
            <a:solidFill>
              <a:srgbClr val="C4483C"/>
            </a:solidFill>
          </a:ln>
        </p:spPr>
      </p:sp>
      <p:sp>
        <p:nvSpPr>
          <p:cNvPr id="9" name="MicrofibrilDirection">
            <a:extLst xmlns:a="http://schemas.openxmlformats.org/drawingml/2006/main">
              <a:ext uri="{FF2B5EF4-FFF2-40B4-BE49-F238E27FC236}">
                <a16:creationId xmlns:a16="http://schemas.microsoft.com/office/drawing/2014/main" id="{F658A558-9489-4C22-8932-917BB1D56689}"/>
              </a:ext>
            </a:extLst>
          </p:cNvPr>
          <p:cNvSpPr>
            <a:spLocks xmlns:a="http://schemas.openxmlformats.org/drawingml/2006/main" noGrp="1"/>
          </p:cNvSpPr>
          <p:nvPr/>
        </p:nvSpPr>
        <p:spPr>
          <a:xfrm xmlns:a="http://schemas.openxmlformats.org/drawingml/2006/main">
            <a:off x="6762750" y="2302635"/>
            <a:ext cx="706413" cy="2174115"/>
          </a:xfrm>
          <a:custGeom xmlns:a="http://schemas.openxmlformats.org/drawingml/2006/main">
            <a:pathLst>
              <a:path w="706413" h="2174115">
                <a:moveTo>
                  <a:pt x="0" y="2174115"/>
                </a:moveTo>
                <a:lnTo>
                  <a:pt x="706413" y="0"/>
                </a:lnTo>
              </a:path>
            </a:pathLst>
          </a:custGeom>
          <a:noFill xmlns:a="http://schemas.openxmlformats.org/drawingml/2006/main"/>
          <a:ln xmlns:a="http://schemas.openxmlformats.org/drawingml/2006/main" w="47625">
            <a:solidFill>
              <a:srgbClr val="087E8B"/>
            </a:solidFill>
          </a:ln>
        </p:spPr>
      </p:sp>
      <p:sp>
        <p:nvSpPr>
          <p:cNvPr id="10" name="MFAArc">
            <a:extLst xmlns:a="http://schemas.openxmlformats.org/drawingml/2006/main">
              <a:ext uri="{FF2B5EF4-FFF2-40B4-BE49-F238E27FC236}">
                <a16:creationId xmlns:a16="http://schemas.microsoft.com/office/drawing/2014/main" id="{2E33D402-96D8-4397-8A89-46EC4ED9B6AF}"/>
              </a:ext>
            </a:extLst>
          </p:cNvPr>
          <p:cNvSpPr>
            <a:spLocks xmlns:a="http://schemas.openxmlformats.org/drawingml/2006/main" noGrp="1"/>
          </p:cNvSpPr>
          <p:nvPr/>
        </p:nvSpPr>
        <p:spPr>
          <a:xfrm xmlns:a="http://schemas.openxmlformats.org/drawingml/2006/main">
            <a:off x="6762750" y="3810000"/>
            <a:ext cx="206037" cy="32633"/>
          </a:xfrm>
          <a:custGeom xmlns:a="http://schemas.openxmlformats.org/drawingml/2006/main">
            <a:pathLst>
              <a:path w="206037" h="32633">
                <a:moveTo>
                  <a:pt x="0" y="0"/>
                </a:moveTo>
                <a:lnTo>
                  <a:pt x="13091" y="129"/>
                </a:lnTo>
                <a:lnTo>
                  <a:pt x="26176" y="514"/>
                </a:lnTo>
                <a:lnTo>
                  <a:pt x="39252" y="1156"/>
                </a:lnTo>
                <a:lnTo>
                  <a:pt x="52313" y="2055"/>
                </a:lnTo>
                <a:lnTo>
                  <a:pt x="65353" y="3211"/>
                </a:lnTo>
                <a:lnTo>
                  <a:pt x="78368" y="4622"/>
                </a:lnTo>
                <a:lnTo>
                  <a:pt x="91353" y="6288"/>
                </a:lnTo>
                <a:lnTo>
                  <a:pt x="104303" y="8209"/>
                </a:lnTo>
                <a:lnTo>
                  <a:pt x="117212" y="10384"/>
                </a:lnTo>
                <a:lnTo>
                  <a:pt x="130076" y="12811"/>
                </a:lnTo>
                <a:lnTo>
                  <a:pt x="142891" y="15491"/>
                </a:lnTo>
                <a:lnTo>
                  <a:pt x="155650" y="18422"/>
                </a:lnTo>
                <a:lnTo>
                  <a:pt x="168349" y="21603"/>
                </a:lnTo>
                <a:lnTo>
                  <a:pt x="180983" y="25033"/>
                </a:lnTo>
                <a:lnTo>
                  <a:pt x="193547" y="28710"/>
                </a:lnTo>
                <a:lnTo>
                  <a:pt x="206037" y="32633"/>
                </a:lnTo>
              </a:path>
            </a:pathLst>
          </a:custGeom>
          <a:noFill xmlns:a="http://schemas.openxmlformats.org/drawingml/2006/main"/>
          <a:ln xmlns:a="http://schemas.openxmlformats.org/drawingml/2006/main" w="19050">
            <a:solidFill>
              <a:srgbClr val="253C4D"/>
            </a:solidFill>
          </a:ln>
        </p:spPr>
      </p:sp>
      <p:sp>
        <p:nvSpPr>
          <p:cNvPr id="11" name="">
            <a:extLst xmlns:a="http://schemas.openxmlformats.org/drawingml/2006/main">
              <a:ext uri="{FF2B5EF4-FFF2-40B4-BE49-F238E27FC236}">
                <a16:creationId xmlns:a16="http://schemas.microsoft.com/office/drawing/2014/main" id="{61F8F34C-99A6-445F-874C-BC793E1AB9FC}"/>
              </a:ext>
            </a:extLst>
          </p:cNvPr>
          <p:cNvSpPr>
            <a:spLocks xmlns:a="http://schemas.openxmlformats.org/drawingml/2006/main" noGrp="1"/>
          </p:cNvSpPr>
          <p:nvPr/>
        </p:nvSpPr>
        <p:spPr>
          <a:xfrm xmlns:a="http://schemas.openxmlformats.org/drawingml/2006/main">
            <a:off x="7048500" y="338137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xmlns:a="http://schemas.openxmlformats.org/drawingml/2006/main">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18°</a:t>
            </a:r>
          </a:p>
        </p:txBody>
      </p:sp>
      <p:sp>
        <p:nvSpPr>
          <p:cNvPr id="12" name="CellAxis">
            <a:extLst xmlns:a="http://schemas.openxmlformats.org/drawingml/2006/main">
              <a:ext uri="{FF2B5EF4-FFF2-40B4-BE49-F238E27FC236}">
                <a16:creationId xmlns:a16="http://schemas.microsoft.com/office/drawing/2014/main" id="{9D3A6920-FBEB-4BB1-BEF9-A82D6D0B0316}"/>
              </a:ext>
            </a:extLst>
          </p:cNvPr>
          <p:cNvSpPr>
            <a:spLocks xmlns:a="http://schemas.openxmlformats.org/drawingml/2006/main" noGrp="1"/>
          </p:cNvSpPr>
          <p:nvPr/>
        </p:nvSpPr>
        <p:spPr>
          <a:xfrm xmlns:a="http://schemas.openxmlformats.org/drawingml/2006/main">
            <a:off x="7715250" y="2190750"/>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38100">
            <a:solidFill>
              <a:srgbClr val="C4483C"/>
            </a:solidFill>
          </a:ln>
        </p:spPr>
      </p:sp>
      <p:sp>
        <p:nvSpPr>
          <p:cNvPr id="13" name="MicrofibrilDirection">
            <a:extLst xmlns:a="http://schemas.openxmlformats.org/drawingml/2006/main">
              <a:ext uri="{FF2B5EF4-FFF2-40B4-BE49-F238E27FC236}">
                <a16:creationId xmlns:a16="http://schemas.microsoft.com/office/drawing/2014/main" id="{A5A08129-42C6-462C-AC2C-439C8F9353AE}"/>
              </a:ext>
            </a:extLst>
          </p:cNvPr>
          <p:cNvSpPr>
            <a:spLocks xmlns:a="http://schemas.openxmlformats.org/drawingml/2006/main" noGrp="1"/>
          </p:cNvSpPr>
          <p:nvPr/>
        </p:nvSpPr>
        <p:spPr>
          <a:xfrm xmlns:a="http://schemas.openxmlformats.org/drawingml/2006/main">
            <a:off x="7715250" y="2302635"/>
            <a:ext cx="706413" cy="2174115"/>
          </a:xfrm>
          <a:custGeom xmlns:a="http://schemas.openxmlformats.org/drawingml/2006/main">
            <a:pathLst>
              <a:path w="706413" h="2174115">
                <a:moveTo>
                  <a:pt x="0" y="2174115"/>
                </a:moveTo>
                <a:lnTo>
                  <a:pt x="706413" y="0"/>
                </a:lnTo>
              </a:path>
            </a:pathLst>
          </a:custGeom>
          <a:noFill xmlns:a="http://schemas.openxmlformats.org/drawingml/2006/main"/>
          <a:ln xmlns:a="http://schemas.openxmlformats.org/drawingml/2006/main" w="47625">
            <a:solidFill>
              <a:srgbClr val="087E8B"/>
            </a:solidFill>
          </a:ln>
        </p:spPr>
      </p:sp>
      <p:sp>
        <p:nvSpPr>
          <p:cNvPr id="14" name="MFAArc">
            <a:extLst xmlns:a="http://schemas.openxmlformats.org/drawingml/2006/main">
              <a:ext uri="{FF2B5EF4-FFF2-40B4-BE49-F238E27FC236}">
                <a16:creationId xmlns:a16="http://schemas.microsoft.com/office/drawing/2014/main" id="{8C5E0C97-0193-4A57-BE4F-928C16A6F716}"/>
              </a:ext>
            </a:extLst>
          </p:cNvPr>
          <p:cNvSpPr>
            <a:spLocks xmlns:a="http://schemas.openxmlformats.org/drawingml/2006/main" noGrp="1"/>
          </p:cNvSpPr>
          <p:nvPr/>
        </p:nvSpPr>
        <p:spPr>
          <a:xfrm xmlns:a="http://schemas.openxmlformats.org/drawingml/2006/main">
            <a:off x="7715250" y="3810000"/>
            <a:ext cx="206037" cy="32633"/>
          </a:xfrm>
          <a:custGeom xmlns:a="http://schemas.openxmlformats.org/drawingml/2006/main">
            <a:pathLst>
              <a:path w="206037" h="32633">
                <a:moveTo>
                  <a:pt x="0" y="0"/>
                </a:moveTo>
                <a:lnTo>
                  <a:pt x="13091" y="129"/>
                </a:lnTo>
                <a:lnTo>
                  <a:pt x="26176" y="514"/>
                </a:lnTo>
                <a:lnTo>
                  <a:pt x="39252" y="1156"/>
                </a:lnTo>
                <a:lnTo>
                  <a:pt x="52313" y="2055"/>
                </a:lnTo>
                <a:lnTo>
                  <a:pt x="65353" y="3211"/>
                </a:lnTo>
                <a:lnTo>
                  <a:pt x="78368" y="4622"/>
                </a:lnTo>
                <a:lnTo>
                  <a:pt x="91353" y="6288"/>
                </a:lnTo>
                <a:lnTo>
                  <a:pt x="104303" y="8209"/>
                </a:lnTo>
                <a:lnTo>
                  <a:pt x="117212" y="10384"/>
                </a:lnTo>
                <a:lnTo>
                  <a:pt x="130076" y="12811"/>
                </a:lnTo>
                <a:lnTo>
                  <a:pt x="142891" y="15491"/>
                </a:lnTo>
                <a:lnTo>
                  <a:pt x="155650" y="18422"/>
                </a:lnTo>
                <a:lnTo>
                  <a:pt x="168349" y="21603"/>
                </a:lnTo>
                <a:lnTo>
                  <a:pt x="180983" y="25033"/>
                </a:lnTo>
                <a:lnTo>
                  <a:pt x="193547" y="28710"/>
                </a:lnTo>
                <a:lnTo>
                  <a:pt x="206037" y="32633"/>
                </a:lnTo>
              </a:path>
            </a:pathLst>
          </a:custGeom>
          <a:noFill xmlns:a="http://schemas.openxmlformats.org/drawingml/2006/main"/>
          <a:ln xmlns:a="http://schemas.openxmlformats.org/drawingml/2006/main" w="19050">
            <a:solidFill>
              <a:srgbClr val="253C4D"/>
            </a:solidFill>
          </a:ln>
        </p:spPr>
      </p:sp>
      <p:sp>
        <p:nvSpPr>
          <p:cNvPr id="15" name="CellAxis">
            <a:extLst xmlns:a="http://schemas.openxmlformats.org/drawingml/2006/main">
              <a:ext uri="{FF2B5EF4-FFF2-40B4-BE49-F238E27FC236}">
                <a16:creationId xmlns:a16="http://schemas.microsoft.com/office/drawing/2014/main" id="{1A326E02-F3D6-4B84-A0B2-E8212F7350C9}"/>
              </a:ext>
            </a:extLst>
          </p:cNvPr>
          <p:cNvSpPr>
            <a:spLocks xmlns:a="http://schemas.openxmlformats.org/drawingml/2006/main" noGrp="1"/>
          </p:cNvSpPr>
          <p:nvPr/>
        </p:nvSpPr>
        <p:spPr>
          <a:xfrm xmlns:a="http://schemas.openxmlformats.org/drawingml/2006/main">
            <a:off x="8667750" y="2190750"/>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38100">
            <a:solidFill>
              <a:srgbClr val="C4483C"/>
            </a:solidFill>
          </a:ln>
        </p:spPr>
      </p:sp>
      <p:sp>
        <p:nvSpPr>
          <p:cNvPr id="16" name="MicrofibrilDirection">
            <a:extLst xmlns:a="http://schemas.openxmlformats.org/drawingml/2006/main">
              <a:ext uri="{FF2B5EF4-FFF2-40B4-BE49-F238E27FC236}">
                <a16:creationId xmlns:a16="http://schemas.microsoft.com/office/drawing/2014/main" id="{FDFFDCB2-E471-4B7F-AC78-D472522183ED}"/>
              </a:ext>
            </a:extLst>
          </p:cNvPr>
          <p:cNvSpPr>
            <a:spLocks xmlns:a="http://schemas.openxmlformats.org/drawingml/2006/main" noGrp="1"/>
          </p:cNvSpPr>
          <p:nvPr/>
        </p:nvSpPr>
        <p:spPr>
          <a:xfrm xmlns:a="http://schemas.openxmlformats.org/drawingml/2006/main">
            <a:off x="8667750" y="2302635"/>
            <a:ext cx="706413" cy="2174115"/>
          </a:xfrm>
          <a:custGeom xmlns:a="http://schemas.openxmlformats.org/drawingml/2006/main">
            <a:pathLst>
              <a:path w="706413" h="2174115">
                <a:moveTo>
                  <a:pt x="0" y="2174115"/>
                </a:moveTo>
                <a:lnTo>
                  <a:pt x="706413" y="0"/>
                </a:lnTo>
              </a:path>
            </a:pathLst>
          </a:custGeom>
          <a:noFill xmlns:a="http://schemas.openxmlformats.org/drawingml/2006/main"/>
          <a:ln xmlns:a="http://schemas.openxmlformats.org/drawingml/2006/main" w="47625">
            <a:solidFill>
              <a:srgbClr val="087E8B"/>
            </a:solidFill>
          </a:ln>
        </p:spPr>
      </p:sp>
      <p:sp>
        <p:nvSpPr>
          <p:cNvPr id="17" name="MFAArc">
            <a:extLst xmlns:a="http://schemas.openxmlformats.org/drawingml/2006/main">
              <a:ext uri="{FF2B5EF4-FFF2-40B4-BE49-F238E27FC236}">
                <a16:creationId xmlns:a16="http://schemas.microsoft.com/office/drawing/2014/main" id="{438A99F4-46F8-445A-84CB-B118C122B5C2}"/>
              </a:ext>
            </a:extLst>
          </p:cNvPr>
          <p:cNvSpPr>
            <a:spLocks xmlns:a="http://schemas.openxmlformats.org/drawingml/2006/main" noGrp="1"/>
          </p:cNvSpPr>
          <p:nvPr/>
        </p:nvSpPr>
        <p:spPr>
          <a:xfrm xmlns:a="http://schemas.openxmlformats.org/drawingml/2006/main">
            <a:off x="8667750" y="3810000"/>
            <a:ext cx="206037" cy="32633"/>
          </a:xfrm>
          <a:custGeom xmlns:a="http://schemas.openxmlformats.org/drawingml/2006/main">
            <a:pathLst>
              <a:path w="206037" h="32633">
                <a:moveTo>
                  <a:pt x="0" y="0"/>
                </a:moveTo>
                <a:lnTo>
                  <a:pt x="13091" y="129"/>
                </a:lnTo>
                <a:lnTo>
                  <a:pt x="26176" y="514"/>
                </a:lnTo>
                <a:lnTo>
                  <a:pt x="39252" y="1156"/>
                </a:lnTo>
                <a:lnTo>
                  <a:pt x="52313" y="2055"/>
                </a:lnTo>
                <a:lnTo>
                  <a:pt x="65353" y="3211"/>
                </a:lnTo>
                <a:lnTo>
                  <a:pt x="78368" y="4622"/>
                </a:lnTo>
                <a:lnTo>
                  <a:pt x="91353" y="6288"/>
                </a:lnTo>
                <a:lnTo>
                  <a:pt x="104303" y="8209"/>
                </a:lnTo>
                <a:lnTo>
                  <a:pt x="117212" y="10384"/>
                </a:lnTo>
                <a:lnTo>
                  <a:pt x="130076" y="12811"/>
                </a:lnTo>
                <a:lnTo>
                  <a:pt x="142891" y="15491"/>
                </a:lnTo>
                <a:lnTo>
                  <a:pt x="155650" y="18422"/>
                </a:lnTo>
                <a:lnTo>
                  <a:pt x="168349" y="21603"/>
                </a:lnTo>
                <a:lnTo>
                  <a:pt x="180983" y="25033"/>
                </a:lnTo>
                <a:lnTo>
                  <a:pt x="193547" y="28710"/>
                </a:lnTo>
                <a:lnTo>
                  <a:pt x="206037" y="32633"/>
                </a:lnTo>
              </a:path>
            </a:pathLst>
          </a:custGeom>
          <a:noFill xmlns:a="http://schemas.openxmlformats.org/drawingml/2006/main"/>
          <a:ln xmlns:a="http://schemas.openxmlformats.org/drawingml/2006/main" w="19050">
            <a:solidFill>
              <a:srgbClr val="253C4D"/>
            </a:solidFill>
          </a:ln>
        </p:spPr>
      </p:sp>
      <p:sp>
        <p:nvSpPr>
          <p:cNvPr id="18" name="CellAxis">
            <a:extLst xmlns:a="http://schemas.openxmlformats.org/drawingml/2006/main">
              <a:ext uri="{FF2B5EF4-FFF2-40B4-BE49-F238E27FC236}">
                <a16:creationId xmlns:a16="http://schemas.microsoft.com/office/drawing/2014/main" id="{1992F72D-CD7D-46CB-91C6-BB82D1068710}"/>
              </a:ext>
            </a:extLst>
          </p:cNvPr>
          <p:cNvSpPr>
            <a:spLocks xmlns:a="http://schemas.openxmlformats.org/drawingml/2006/main" noGrp="1"/>
          </p:cNvSpPr>
          <p:nvPr/>
        </p:nvSpPr>
        <p:spPr>
          <a:xfrm xmlns:a="http://schemas.openxmlformats.org/drawingml/2006/main">
            <a:off x="9620250" y="2190750"/>
            <a:ext cx="9525" cy="2286000"/>
          </a:xfrm>
          <a:custGeom xmlns:a="http://schemas.openxmlformats.org/drawingml/2006/main">
            <a:pathLst>
              <a:path w="9525" h="2286000">
                <a:moveTo>
                  <a:pt x="0" y="2286000"/>
                </a:moveTo>
                <a:lnTo>
                  <a:pt x="0" y="0"/>
                </a:lnTo>
              </a:path>
            </a:pathLst>
          </a:custGeom>
          <a:noFill xmlns:a="http://schemas.openxmlformats.org/drawingml/2006/main"/>
          <a:ln xmlns:a="http://schemas.openxmlformats.org/drawingml/2006/main" w="38100">
            <a:solidFill>
              <a:srgbClr val="C4483C"/>
            </a:solidFill>
          </a:ln>
        </p:spPr>
      </p:sp>
      <p:sp>
        <p:nvSpPr>
          <p:cNvPr id="19" name="MicrofibrilDirection">
            <a:extLst xmlns:a="http://schemas.openxmlformats.org/drawingml/2006/main">
              <a:ext uri="{FF2B5EF4-FFF2-40B4-BE49-F238E27FC236}">
                <a16:creationId xmlns:a16="http://schemas.microsoft.com/office/drawing/2014/main" id="{3E6A0D12-9998-49F2-9633-F34638678C6E}"/>
              </a:ext>
            </a:extLst>
          </p:cNvPr>
          <p:cNvSpPr>
            <a:spLocks xmlns:a="http://schemas.openxmlformats.org/drawingml/2006/main" noGrp="1"/>
          </p:cNvSpPr>
          <p:nvPr/>
        </p:nvSpPr>
        <p:spPr>
          <a:xfrm xmlns:a="http://schemas.openxmlformats.org/drawingml/2006/main">
            <a:off x="9620250" y="2302635"/>
            <a:ext cx="706413" cy="2174115"/>
          </a:xfrm>
          <a:custGeom xmlns:a="http://schemas.openxmlformats.org/drawingml/2006/main">
            <a:pathLst>
              <a:path w="706413" h="2174115">
                <a:moveTo>
                  <a:pt x="0" y="2174115"/>
                </a:moveTo>
                <a:lnTo>
                  <a:pt x="706413" y="0"/>
                </a:lnTo>
              </a:path>
            </a:pathLst>
          </a:custGeom>
          <a:noFill xmlns:a="http://schemas.openxmlformats.org/drawingml/2006/main"/>
          <a:ln xmlns:a="http://schemas.openxmlformats.org/drawingml/2006/main" w="47625">
            <a:solidFill>
              <a:srgbClr val="087E8B"/>
            </a:solidFill>
          </a:ln>
        </p:spPr>
      </p:sp>
      <p:sp>
        <p:nvSpPr>
          <p:cNvPr id="20" name="MFAArc">
            <a:extLst xmlns:a="http://schemas.openxmlformats.org/drawingml/2006/main">
              <a:ext uri="{FF2B5EF4-FFF2-40B4-BE49-F238E27FC236}">
                <a16:creationId xmlns:a16="http://schemas.microsoft.com/office/drawing/2014/main" id="{F1B5A53A-D521-433C-8E1E-37F4B00EE40B}"/>
              </a:ext>
            </a:extLst>
          </p:cNvPr>
          <p:cNvSpPr>
            <a:spLocks xmlns:a="http://schemas.openxmlformats.org/drawingml/2006/main" noGrp="1"/>
          </p:cNvSpPr>
          <p:nvPr/>
        </p:nvSpPr>
        <p:spPr>
          <a:xfrm xmlns:a="http://schemas.openxmlformats.org/drawingml/2006/main">
            <a:off x="9620250" y="3810000"/>
            <a:ext cx="206037" cy="32633"/>
          </a:xfrm>
          <a:custGeom xmlns:a="http://schemas.openxmlformats.org/drawingml/2006/main">
            <a:pathLst>
              <a:path w="206037" h="32633">
                <a:moveTo>
                  <a:pt x="0" y="0"/>
                </a:moveTo>
                <a:lnTo>
                  <a:pt x="13091" y="129"/>
                </a:lnTo>
                <a:lnTo>
                  <a:pt x="26176" y="514"/>
                </a:lnTo>
                <a:lnTo>
                  <a:pt x="39252" y="1156"/>
                </a:lnTo>
                <a:lnTo>
                  <a:pt x="52313" y="2055"/>
                </a:lnTo>
                <a:lnTo>
                  <a:pt x="65353" y="3211"/>
                </a:lnTo>
                <a:lnTo>
                  <a:pt x="78368" y="4622"/>
                </a:lnTo>
                <a:lnTo>
                  <a:pt x="91353" y="6288"/>
                </a:lnTo>
                <a:lnTo>
                  <a:pt x="104303" y="8209"/>
                </a:lnTo>
                <a:lnTo>
                  <a:pt x="117212" y="10384"/>
                </a:lnTo>
                <a:lnTo>
                  <a:pt x="130076" y="12811"/>
                </a:lnTo>
                <a:lnTo>
                  <a:pt x="142891" y="15491"/>
                </a:lnTo>
                <a:lnTo>
                  <a:pt x="155650" y="18422"/>
                </a:lnTo>
                <a:lnTo>
                  <a:pt x="168349" y="21603"/>
                </a:lnTo>
                <a:lnTo>
                  <a:pt x="180983" y="25033"/>
                </a:lnTo>
                <a:lnTo>
                  <a:pt x="193547" y="28710"/>
                </a:lnTo>
                <a:lnTo>
                  <a:pt x="206037" y="32633"/>
                </a:lnTo>
              </a:path>
            </a:pathLst>
          </a:custGeom>
          <a:noFill xmlns:a="http://schemas.openxmlformats.org/drawingml/2006/main"/>
          <a:ln xmlns:a="http://schemas.openxmlformats.org/drawingml/2006/main" w="19050">
            <a:solidFill>
              <a:srgbClr val="253C4D"/>
            </a:solidFill>
          </a:ln>
        </p:spPr>
      </p:sp>
      <p:sp>
        <p:nvSpPr>
          <p:cNvPr id="21" name="">
            <a:extLst xmlns:a="http://schemas.openxmlformats.org/drawingml/2006/main">
              <a:ext uri="{FF2B5EF4-FFF2-40B4-BE49-F238E27FC236}">
                <a16:creationId xmlns:a16="http://schemas.microsoft.com/office/drawing/2014/main" id="{49CC4F1C-20F4-4C1F-AA74-3799DFBA57E5}"/>
              </a:ext>
            </a:extLst>
          </p:cNvPr>
          <p:cNvSpPr>
            <a:spLocks xmlns:a="http://schemas.openxmlformats.org/drawingml/2006/main" noGrp="1"/>
          </p:cNvSpPr>
          <p:nvPr/>
        </p:nvSpPr>
        <p:spPr>
          <a:xfrm xmlns:a="http://schemas.openxmlformats.org/drawingml/2006/main">
            <a:off x="6238875" y="50482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defRPr sz="2100" b="1">
                <a:solidFill>
                  <a:srgbClr val="C4483C"/>
                </a:solidFill>
                <a:latin typeface="Yu Gothic"/>
                <a:ea typeface="Yu Gothic"/>
                <a:cs typeface="Yu Gothic"/>
              </a:defRPr>
            </a:lvl1pPr>
            <a:lvl2pPr>
              <a:defRPr sz="2100" b="1">
                <a:solidFill>
                  <a:srgbClr val="C4483C"/>
                </a:solidFill>
                <a:latin typeface="Yu Gothic"/>
                <a:ea typeface="Yu Gothic"/>
                <a:cs typeface="Yu Gothic"/>
              </a:defRPr>
            </a:lvl2pPr>
            <a:lvl3pPr>
              <a:defRPr sz="2100" b="1">
                <a:solidFill>
                  <a:srgbClr val="C4483C"/>
                </a:solidFill>
                <a:latin typeface="Yu Gothic"/>
                <a:ea typeface="Yu Gothic"/>
                <a:cs typeface="Yu Gothic"/>
              </a:defRPr>
            </a:lvl3pPr>
            <a:lvl4pPr>
              <a:defRPr sz="2100" b="1">
                <a:solidFill>
                  <a:srgbClr val="C4483C"/>
                </a:solidFill>
                <a:latin typeface="Yu Gothic"/>
                <a:ea typeface="Yu Gothic"/>
                <a:cs typeface="Yu Gothic"/>
              </a:defRPr>
            </a:lvl4pPr>
            <a:lvl5pPr>
              <a:defRPr sz="2100" b="1">
                <a:solidFill>
                  <a:srgbClr val="C4483C"/>
                </a:solidFill>
                <a:latin typeface="Yu Gothic"/>
                <a:ea typeface="Yu Gothic"/>
                <a:cs typeface="Yu Gothic"/>
              </a:defRPr>
            </a:lvl5pPr>
            <a:lvl6pPr>
              <a:defRPr sz="2100" b="1">
                <a:solidFill>
                  <a:srgbClr val="C4483C"/>
                </a:solidFill>
                <a:latin typeface="Yu Gothic"/>
                <a:ea typeface="Yu Gothic"/>
                <a:cs typeface="Yu Gothic"/>
              </a:defRPr>
            </a:lvl6pPr>
            <a:lvl7pPr>
              <a:defRPr sz="2100" b="1">
                <a:solidFill>
                  <a:srgbClr val="C4483C"/>
                </a:solidFill>
                <a:latin typeface="Yu Gothic"/>
                <a:ea typeface="Yu Gothic"/>
                <a:cs typeface="Yu Gothic"/>
              </a:defRPr>
            </a:lvl7pPr>
            <a:lvl8pPr>
              <a:defRPr sz="2100" b="1">
                <a:solidFill>
                  <a:srgbClr val="C4483C"/>
                </a:solidFill>
                <a:latin typeface="Yu Gothic"/>
                <a:ea typeface="Yu Gothic"/>
                <a:cs typeface="Yu Gothic"/>
              </a:defRPr>
            </a:lvl8pPr>
            <a:lvl9pPr>
              <a:defRPr sz="2100" b="1">
                <a:solidFill>
                  <a:srgbClr val="C4483C"/>
                </a:solidFill>
                <a:latin typeface="Yu Gothic"/>
                <a:ea typeface="Yu Gothic"/>
                <a:cs typeface="Yu Gothic"/>
              </a:defRPr>
            </a:lvl9pPr>
          </a:lstStyle>
          <a:p xmlns:a="http://schemas.openxmlformats.org/drawingml/2006/main">
            <a:pPr>
              <a:defRPr sz="2100" b="1">
                <a:solidFill>
                  <a:srgbClr val="C4483C"/>
                </a:solidFill>
                <a:latin typeface="Yu Gothic"/>
                <a:ea typeface="Yu Gothic"/>
                <a:cs typeface="Yu Gothic"/>
              </a:defRPr>
            </a:pPr>
            <a:r>
              <a:rPr sz="2100" b="1">
                <a:solidFill>
                  <a:srgbClr val="C4483C"/>
                </a:solidFill>
                <a:latin typeface="Yu Gothic"/>
                <a:ea typeface="Yu Gothic"/>
                <a:cs typeface="Yu Gothic"/>
              </a:rPr>
              <a:t>細胞軸</a:t>
            </a:r>
          </a:p>
        </p:txBody>
      </p:sp>
      <p:sp>
        <p:nvSpPr>
          <p:cNvPr id="22" name="">
            <a:extLst xmlns:a="http://schemas.openxmlformats.org/drawingml/2006/main">
              <a:ext uri="{FF2B5EF4-FFF2-40B4-BE49-F238E27FC236}">
                <a16:creationId xmlns:a16="http://schemas.microsoft.com/office/drawing/2014/main" id="{441011B5-516D-400F-96DB-2616EF00A445}"/>
              </a:ext>
            </a:extLst>
          </p:cNvPr>
          <p:cNvSpPr>
            <a:spLocks xmlns:a="http://schemas.openxmlformats.org/drawingml/2006/main" noGrp="1"/>
          </p:cNvSpPr>
          <p:nvPr/>
        </p:nvSpPr>
        <p:spPr>
          <a:xfrm xmlns:a="http://schemas.openxmlformats.org/drawingml/2006/main">
            <a:off x="8096250" y="50482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壁を広げた模式図</a:t>
            </a:r>
          </a:p>
        </p:txBody>
      </p:sp>
      <p:sp>
        <p:nvSpPr>
          <p:cNvPr id="23" name="">
            <a:extLst xmlns:a="http://schemas.openxmlformats.org/drawingml/2006/main">
              <a:ext uri="{FF2B5EF4-FFF2-40B4-BE49-F238E27FC236}">
                <a16:creationId xmlns:a16="http://schemas.microsoft.com/office/drawing/2014/main" id="{A9E71627-EF10-496C-9BD3-FA5DD11EF722}"/>
              </a:ext>
            </a:extLst>
          </p:cNvPr>
          <p:cNvSpPr>
            <a:spLocks xmlns:a="http://schemas.openxmlformats.org/drawingml/2006/main" noGrp="1"/>
          </p:cNvSpPr>
          <p:nvPr/>
        </p:nvSpPr>
        <p:spPr>
          <a:xfrm xmlns:a="http://schemas.openxmlformats.org/drawingml/2006/main">
            <a:off x="5905500" y="5534025"/>
            <a:ext cx="552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defRPr sz="1725" b="0">
                <a:solidFill>
                  <a:srgbClr val="596875"/>
                </a:solidFill>
                <a:latin typeface="Yu Gothic"/>
                <a:ea typeface="Yu Gothic"/>
                <a:cs typeface="Yu Gothic"/>
              </a:defRPr>
            </a:lvl1pPr>
            <a:lvl2pPr>
              <a:defRPr sz="1725" b="0">
                <a:solidFill>
                  <a:srgbClr val="596875"/>
                </a:solidFill>
                <a:latin typeface="Yu Gothic"/>
                <a:ea typeface="Yu Gothic"/>
                <a:cs typeface="Yu Gothic"/>
              </a:defRPr>
            </a:lvl2pPr>
            <a:lvl3pPr>
              <a:defRPr sz="1725" b="0">
                <a:solidFill>
                  <a:srgbClr val="596875"/>
                </a:solidFill>
                <a:latin typeface="Yu Gothic"/>
                <a:ea typeface="Yu Gothic"/>
                <a:cs typeface="Yu Gothic"/>
              </a:defRPr>
            </a:lvl3pPr>
            <a:lvl4pPr>
              <a:defRPr sz="1725" b="0">
                <a:solidFill>
                  <a:srgbClr val="596875"/>
                </a:solidFill>
                <a:latin typeface="Yu Gothic"/>
                <a:ea typeface="Yu Gothic"/>
                <a:cs typeface="Yu Gothic"/>
              </a:defRPr>
            </a:lvl4pPr>
            <a:lvl5pPr>
              <a:defRPr sz="1725" b="0">
                <a:solidFill>
                  <a:srgbClr val="596875"/>
                </a:solidFill>
                <a:latin typeface="Yu Gothic"/>
                <a:ea typeface="Yu Gothic"/>
                <a:cs typeface="Yu Gothic"/>
              </a:defRPr>
            </a:lvl5pPr>
            <a:lvl6pPr>
              <a:defRPr sz="1725" b="0">
                <a:solidFill>
                  <a:srgbClr val="596875"/>
                </a:solidFill>
                <a:latin typeface="Yu Gothic"/>
                <a:ea typeface="Yu Gothic"/>
                <a:cs typeface="Yu Gothic"/>
              </a:defRPr>
            </a:lvl6pPr>
            <a:lvl7pPr>
              <a:defRPr sz="1725" b="0">
                <a:solidFill>
                  <a:srgbClr val="596875"/>
                </a:solidFill>
                <a:latin typeface="Yu Gothic"/>
                <a:ea typeface="Yu Gothic"/>
                <a:cs typeface="Yu Gothic"/>
              </a:defRPr>
            </a:lvl7pPr>
            <a:lvl8pPr>
              <a:defRPr sz="1725" b="0">
                <a:solidFill>
                  <a:srgbClr val="596875"/>
                </a:solidFill>
                <a:latin typeface="Yu Gothic"/>
                <a:ea typeface="Yu Gothic"/>
                <a:cs typeface="Yu Gothic"/>
              </a:defRPr>
            </a:lvl8pPr>
            <a:lvl9pPr>
              <a:defRPr sz="1725" b="0">
                <a:solidFill>
                  <a:srgbClr val="596875"/>
                </a:solidFill>
                <a:latin typeface="Yu Gothic"/>
                <a:ea typeface="Yu Gothic"/>
                <a:cs typeface="Yu Gothic"/>
              </a:defRPr>
            </a:lvl9pPr>
          </a:lstStyle>
          <a:p xmlns:a="http://schemas.openxmlformats.org/drawingml/2006/main">
            <a:pPr>
              <a:defRPr sz="1725" b="0">
                <a:solidFill>
                  <a:srgbClr val="596875"/>
                </a:solidFill>
                <a:latin typeface="Yu Gothic"/>
                <a:ea typeface="Yu Gothic"/>
                <a:cs typeface="Yu Gothic"/>
              </a:defRPr>
            </a:pPr>
            <a:r>
              <a:rPr sz="1725" b="0">
                <a:solidFill>
                  <a:srgbClr val="596875"/>
                </a:solidFill>
                <a:latin typeface="Yu Gothic"/>
                <a:ea typeface="Yu Gothic"/>
                <a:cs typeface="Yu Gothic"/>
              </a:rPr>
              <a:t>角度の基準は細胞軸。透視図を分度器で測らない。</a:t>
            </a:r>
          </a:p>
        </p:txBody>
      </p:sp>
    </p:spTree>
    <p:extLst>
      <p:ext uri="{BB962C8B-B14F-4D97-AF65-F5344CB8AC3E}">
        <p14:creationId xmlns:p14="http://schemas.microsoft.com/office/powerpoint/2010/main" val="13422128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19F51F4-2A43-4057-9739-B30769A7C8F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尺度ごとに、説明する性質を分ける</a:t>
            </a:r>
          </a:p>
        </p:txBody>
      </p:sp>
      <p:sp>
        <p:nvSpPr>
          <p:cNvPr id="2" name="">
            <a:extLst xmlns:a="http://schemas.openxmlformats.org/drawingml/2006/main">
              <a:ext uri="{FF2B5EF4-FFF2-40B4-BE49-F238E27FC236}">
                <a16:creationId xmlns:a16="http://schemas.microsoft.com/office/drawing/2014/main" id="{B8BF14A9-EF4B-49B3-A334-FC154C2C101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A98A03-42B9-4AF2-A4A8-0C9CA9E811F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529214F9-B0C3-42F3-98EE-AAAD31A50D5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C2F9CBD0-340E-458C-A618-3A1918948083}"/>
              </a:ext>
            </a:extLst>
          </p:cNvPr>
          <p:cNvSpPr>
            <a:spLocks xmlns:a="http://schemas.openxmlformats.org/drawingml/2006/main" noGrp="1"/>
          </p:cNvSpPr>
          <p:nvPr/>
        </p:nvSpPr>
        <p:spPr>
          <a:xfrm xmlns:a="http://schemas.openxmlformats.org/drawingml/2006/main">
            <a:off x="857250" y="1714500"/>
            <a:ext cx="1667636"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9754C96B-3E9D-4698-9193-0FAAE0D4D990}"/>
              </a:ext>
            </a:extLst>
          </p:cNvPr>
          <p:cNvSpPr>
            <a:spLocks xmlns:a="http://schemas.openxmlformats.org/drawingml/2006/main" noGrp="1"/>
          </p:cNvSpPr>
          <p:nvPr/>
        </p:nvSpPr>
        <p:spPr>
          <a:xfrm xmlns:a="http://schemas.openxmlformats.org/drawingml/2006/main">
            <a:off x="876300" y="211455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762B901B-65A4-4989-BC72-5899429F526C}"/>
              </a:ext>
            </a:extLst>
          </p:cNvPr>
          <p:cNvSpPr>
            <a:spLocks xmlns:a="http://schemas.openxmlformats.org/drawingml/2006/main" noGrp="1"/>
          </p:cNvSpPr>
          <p:nvPr/>
        </p:nvSpPr>
        <p:spPr>
          <a:xfrm xmlns:a="http://schemas.openxmlformats.org/drawingml/2006/main">
            <a:off x="2524886" y="1714500"/>
            <a:ext cx="233469" cy="1000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21A23FF8-3270-443C-9DC5-659CF1A1AE47}"/>
              </a:ext>
            </a:extLst>
          </p:cNvPr>
          <p:cNvSpPr>
            <a:spLocks xmlns:a="http://schemas.openxmlformats.org/drawingml/2006/main" noGrp="1"/>
          </p:cNvSpPr>
          <p:nvPr/>
        </p:nvSpPr>
        <p:spPr>
          <a:xfrm xmlns:a="http://schemas.openxmlformats.org/drawingml/2006/main">
            <a:off x="2758355" y="1714500"/>
            <a:ext cx="2501454" cy="1000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AED1F3C3-44C3-4737-8CD5-C75BC7906A47}"/>
              </a:ext>
            </a:extLst>
          </p:cNvPr>
          <p:cNvSpPr>
            <a:spLocks xmlns:a="http://schemas.openxmlformats.org/drawingml/2006/main" noGrp="1"/>
          </p:cNvSpPr>
          <p:nvPr/>
        </p:nvSpPr>
        <p:spPr>
          <a:xfrm xmlns:a="http://schemas.openxmlformats.org/drawingml/2006/main">
            <a:off x="2777405" y="211455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EA0834D2-B0EC-4B7C-9577-CFE3FE8DD96A}"/>
              </a:ext>
            </a:extLst>
          </p:cNvPr>
          <p:cNvSpPr>
            <a:spLocks xmlns:a="http://schemas.openxmlformats.org/drawingml/2006/main" noGrp="1"/>
          </p:cNvSpPr>
          <p:nvPr/>
        </p:nvSpPr>
        <p:spPr>
          <a:xfrm xmlns:a="http://schemas.openxmlformats.org/drawingml/2006/main">
            <a:off x="5259808" y="1714500"/>
            <a:ext cx="366880" cy="1000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25AF3DC5-B7F2-4201-8A6A-03E9D7C8D821}"/>
              </a:ext>
            </a:extLst>
          </p:cNvPr>
          <p:cNvSpPr>
            <a:spLocks xmlns:a="http://schemas.openxmlformats.org/drawingml/2006/main" noGrp="1"/>
          </p:cNvSpPr>
          <p:nvPr/>
        </p:nvSpPr>
        <p:spPr>
          <a:xfrm xmlns:a="http://schemas.openxmlformats.org/drawingml/2006/main">
            <a:off x="5626688" y="1714500"/>
            <a:ext cx="300174" cy="1000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6B554C9B-EA68-4B1C-B4B3-7FCE1D83F196}"/>
              </a:ext>
            </a:extLst>
          </p:cNvPr>
          <p:cNvSpPr>
            <a:spLocks xmlns:a="http://schemas.openxmlformats.org/drawingml/2006/main" noGrp="1"/>
          </p:cNvSpPr>
          <p:nvPr/>
        </p:nvSpPr>
        <p:spPr>
          <a:xfrm xmlns:a="http://schemas.openxmlformats.org/drawingml/2006/main">
            <a:off x="5926863" y="1714500"/>
            <a:ext cx="300174" cy="100012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7F297CA6-E39D-480C-BC65-F4AFFDB087F3}"/>
              </a:ext>
            </a:extLst>
          </p:cNvPr>
          <p:cNvSpPr>
            <a:spLocks xmlns:a="http://schemas.openxmlformats.org/drawingml/2006/main" noGrp="1"/>
          </p:cNvSpPr>
          <p:nvPr/>
        </p:nvSpPr>
        <p:spPr>
          <a:xfrm xmlns:a="http://schemas.openxmlformats.org/drawingml/2006/main">
            <a:off x="6227037" y="1714500"/>
            <a:ext cx="300174" cy="1000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63392018-08DA-4A39-87B8-1FB5A21F5CB8}"/>
              </a:ext>
            </a:extLst>
          </p:cNvPr>
          <p:cNvSpPr>
            <a:spLocks xmlns:a="http://schemas.openxmlformats.org/drawingml/2006/main" noGrp="1"/>
          </p:cNvSpPr>
          <p:nvPr/>
        </p:nvSpPr>
        <p:spPr>
          <a:xfrm xmlns:a="http://schemas.openxmlformats.org/drawingml/2006/main">
            <a:off x="6527212" y="1714500"/>
            <a:ext cx="366880" cy="1000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64DD4F00-71D3-42AA-BF5D-DE7B49B577D2}"/>
              </a:ext>
            </a:extLst>
          </p:cNvPr>
          <p:cNvSpPr>
            <a:spLocks xmlns:a="http://schemas.openxmlformats.org/drawingml/2006/main" noGrp="1"/>
          </p:cNvSpPr>
          <p:nvPr/>
        </p:nvSpPr>
        <p:spPr>
          <a:xfrm xmlns:a="http://schemas.openxmlformats.org/drawingml/2006/main">
            <a:off x="6894092" y="1714500"/>
            <a:ext cx="2501454" cy="1000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4B7341A9-503C-4BAC-8AD0-3868F2EFDEF8}"/>
              </a:ext>
            </a:extLst>
          </p:cNvPr>
          <p:cNvSpPr>
            <a:spLocks xmlns:a="http://schemas.openxmlformats.org/drawingml/2006/main" noGrp="1"/>
          </p:cNvSpPr>
          <p:nvPr/>
        </p:nvSpPr>
        <p:spPr>
          <a:xfrm xmlns:a="http://schemas.openxmlformats.org/drawingml/2006/main">
            <a:off x="6913142" y="211455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F823B10A-6C3F-49EA-81E4-3776FB9FE220}"/>
              </a:ext>
            </a:extLst>
          </p:cNvPr>
          <p:cNvSpPr>
            <a:spLocks xmlns:a="http://schemas.openxmlformats.org/drawingml/2006/main" noGrp="1"/>
          </p:cNvSpPr>
          <p:nvPr/>
        </p:nvSpPr>
        <p:spPr>
          <a:xfrm xmlns:a="http://schemas.openxmlformats.org/drawingml/2006/main">
            <a:off x="9395545" y="1714500"/>
            <a:ext cx="233469" cy="1000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433124A9-E394-4A7F-ADF6-617CA9AF23D1}"/>
              </a:ext>
            </a:extLst>
          </p:cNvPr>
          <p:cNvSpPr>
            <a:spLocks xmlns:a="http://schemas.openxmlformats.org/drawingml/2006/main" noGrp="1"/>
          </p:cNvSpPr>
          <p:nvPr/>
        </p:nvSpPr>
        <p:spPr>
          <a:xfrm xmlns:a="http://schemas.openxmlformats.org/drawingml/2006/main">
            <a:off x="9629014" y="1714500"/>
            <a:ext cx="1667636"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390936EB-8006-4F61-87B4-5AB3668BD446}"/>
              </a:ext>
            </a:extLst>
          </p:cNvPr>
          <p:cNvSpPr>
            <a:spLocks xmlns:a="http://schemas.openxmlformats.org/drawingml/2006/main" noGrp="1"/>
          </p:cNvSpPr>
          <p:nvPr/>
        </p:nvSpPr>
        <p:spPr>
          <a:xfrm xmlns:a="http://schemas.openxmlformats.org/drawingml/2006/main">
            <a:off x="9648064" y="211455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39E92E80-0736-491F-9655-3F5CF2CD8D32}"/>
              </a:ext>
            </a:extLst>
          </p:cNvPr>
          <p:cNvSpPr>
            <a:spLocks xmlns:a="http://schemas.openxmlformats.org/drawingml/2006/main" noGrp="1"/>
          </p:cNvSpPr>
          <p:nvPr/>
        </p:nvSpPr>
        <p:spPr>
          <a:xfrm xmlns:a="http://schemas.openxmlformats.org/drawingml/2006/main">
            <a:off x="857250" y="2886075"/>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8364F"/>
                </a:solidFill>
                <a:latin typeface="Yu Gothic"/>
                <a:ea typeface="Yu Gothic"/>
                <a:cs typeface="Yu Gothic"/>
              </a:defRPr>
            </a:defPPr>
            <a:lvl1pPr>
              <a:defRPr sz="1800" b="1">
                <a:solidFill>
                  <a:srgbClr val="18364F"/>
                </a:solidFill>
                <a:latin typeface="Yu Gothic"/>
                <a:ea typeface="Yu Gothic"/>
                <a:cs typeface="Yu Gothic"/>
              </a:defRPr>
            </a:lvl1pPr>
            <a:lvl2pPr>
              <a:defRPr sz="1800" b="1">
                <a:solidFill>
                  <a:srgbClr val="18364F"/>
                </a:solidFill>
                <a:latin typeface="Yu Gothic"/>
                <a:ea typeface="Yu Gothic"/>
                <a:cs typeface="Yu Gothic"/>
              </a:defRPr>
            </a:lvl2pPr>
            <a:lvl3pPr>
              <a:defRPr sz="1800" b="1">
                <a:solidFill>
                  <a:srgbClr val="18364F"/>
                </a:solidFill>
                <a:latin typeface="Yu Gothic"/>
                <a:ea typeface="Yu Gothic"/>
                <a:cs typeface="Yu Gothic"/>
              </a:defRPr>
            </a:lvl3pPr>
            <a:lvl4pPr>
              <a:defRPr sz="1800" b="1">
                <a:solidFill>
                  <a:srgbClr val="18364F"/>
                </a:solidFill>
                <a:latin typeface="Yu Gothic"/>
                <a:ea typeface="Yu Gothic"/>
                <a:cs typeface="Yu Gothic"/>
              </a:defRPr>
            </a:lvl4pPr>
            <a:lvl5pPr>
              <a:defRPr sz="1800" b="1">
                <a:solidFill>
                  <a:srgbClr val="18364F"/>
                </a:solidFill>
                <a:latin typeface="Yu Gothic"/>
                <a:ea typeface="Yu Gothic"/>
                <a:cs typeface="Yu Gothic"/>
              </a:defRPr>
            </a:lvl5pPr>
            <a:lvl6pPr>
              <a:defRPr sz="1800" b="1">
                <a:solidFill>
                  <a:srgbClr val="18364F"/>
                </a:solidFill>
                <a:latin typeface="Yu Gothic"/>
                <a:ea typeface="Yu Gothic"/>
                <a:cs typeface="Yu Gothic"/>
              </a:defRPr>
            </a:lvl6pPr>
            <a:lvl7pPr>
              <a:defRPr sz="1800" b="1">
                <a:solidFill>
                  <a:srgbClr val="18364F"/>
                </a:solidFill>
                <a:latin typeface="Yu Gothic"/>
                <a:ea typeface="Yu Gothic"/>
                <a:cs typeface="Yu Gothic"/>
              </a:defRPr>
            </a:lvl7pPr>
            <a:lvl8pPr>
              <a:defRPr sz="1800" b="1">
                <a:solidFill>
                  <a:srgbClr val="18364F"/>
                </a:solidFill>
                <a:latin typeface="Yu Gothic"/>
                <a:ea typeface="Yu Gothic"/>
                <a:cs typeface="Yu Gothic"/>
              </a:defRPr>
            </a:lvl8pPr>
            <a:lvl9pPr>
              <a:defRPr sz="1800" b="1">
                <a:solidFill>
                  <a:srgbClr val="18364F"/>
                </a:solidFill>
                <a:latin typeface="Yu Gothic"/>
                <a:ea typeface="Yu Gothic"/>
                <a:cs typeface="Yu Gothic"/>
              </a:defRPr>
            </a:lvl9pPr>
          </a:lstStyle>
          <a:p xmlns:a="http://schemas.openxmlformats.org/drawingml/2006/main">
            <a:pPr>
              <a:defRPr sz="1800" b="1">
                <a:solidFill>
                  <a:srgbClr val="18364F"/>
                </a:solidFill>
                <a:latin typeface="Yu Gothic"/>
                <a:ea typeface="Yu Gothic"/>
                <a:cs typeface="Yu Gothic"/>
              </a:defRPr>
            </a:pPr>
            <a:r>
              <a:rPr sz="1800" b="1">
                <a:solidFill>
                  <a:srgbClr val="18364F"/>
                </a:solidFill>
                <a:latin typeface="Yu Gothic"/>
                <a:ea typeface="Yu Gothic"/>
                <a:cs typeface="Yu Gothic"/>
              </a:rPr>
              <a:t>同じ壁の図を、尺度の対応へ戻して読む</a:t>
            </a:r>
          </a:p>
        </p:txBody>
      </p:sp>
      <p:graphicFrame>
        <p:nvGraphicFramePr>
          <p:cNvPr id="21" name="">
            <a:extLst xmlns:a="http://schemas.openxmlformats.org/drawingml/2006/main">
              <a:ext uri="{FF2B5EF4-FFF2-40B4-BE49-F238E27FC236}">
                <a16:creationId xmlns:a16="http://schemas.microsoft.com/office/drawing/2014/main" id="{8E449F8D-8EF8-49C3-8C32-53B74226C09A}"/>
              </a:ext>
            </a:extLst>
          </p:cNvPr>
          <p:cNvGraphicFramePr/>
          <p:nvPr/>
        </p:nvGraphicFramePr>
        <p:xfrm>
          <a:off xmlns:a="http://schemas.openxmlformats.org/drawingml/2006/main" x="838200" y="3448050"/>
          <a:ext xmlns:a="http://schemas.openxmlformats.org/drawingml/2006/main" cx="10477500" cy="2286000"/>
        </p:xfrm>
        <a:graphic xmlns:a="http://schemas.openxmlformats.org/drawingml/2006/main">
          <a:graphicData uri="http://schemas.openxmlformats.org/drawingml/2006/table">
            <a:tbl>
              <a:tblPr/>
              <a:tblGrid>
                <a:gridCol w="2143125"/>
                <a:gridCol w="3762375"/>
                <a:gridCol w="4572000"/>
              </a:tblGrid>
              <a:tr h="571500">
                <a:tc>
                  <a:txBody>
                    <a:bodyPr lIns="95250" tIns="95250" rIns="95250" bIns="95250"/>
                    <a:lstStyle/>
                    <a:p>
                      <a:r>
                        <a:rPr sz="1875" b="1">
                          <a:solidFill>
                            <a:srgbClr val="FFFFFF"/>
                          </a:solidFill>
                          <a:latin typeface="Yu Gothic"/>
                          <a:ea typeface="Yu Gothic"/>
                          <a:cs typeface="Yu Gothic"/>
                        </a:rPr>
                        <a:t>尺度</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観察する構造</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何を説明するか</a:t>
                      </a:r>
                    </a:p>
                  </a:txBody>
                  <a:tcPr marL="91440" marR="91440" marT="45720" marB="45720">
                    <a:solidFill>
                      <a:srgbClr val="18364F"/>
                    </a:solidFill>
                  </a:tcPr>
                </a:tc>
              </a:tr>
              <a:tr h="571500">
                <a:tc>
                  <a:txBody>
                    <a:bodyPr lIns="95250" tIns="95250" rIns="95250" bIns="95250"/>
                    <a:lstStyle/>
                    <a:p>
                      <a:r>
                        <a:rPr sz="1875" b="0">
                          <a:solidFill>
                            <a:srgbClr val="253C4D"/>
                          </a:solidFill>
                          <a:latin typeface="Yu Gothic"/>
                          <a:ea typeface="Yu Gothic"/>
                          <a:cs typeface="Yu Gothic"/>
                        </a:rPr>
                        <a:t>木材</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年輪・節・繊維の流れ</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部材に対する繊維方向</a:t>
                      </a:r>
                    </a:p>
                  </a:txBody>
                  <a:tcPr marL="91440" marR="91440" marT="45720" marB="45720">
                    <a:solidFill>
                      <a:srgbClr val="F1F5F7"/>
                    </a:solidFill>
                  </a:tcPr>
                </a:tc>
              </a:tr>
              <a:tr h="571500">
                <a:tc>
                  <a:txBody>
                    <a:bodyPr lIns="95250" tIns="95250" rIns="95250" bIns="95250"/>
                    <a:lstStyle/>
                    <a:p>
                      <a:r>
                        <a:rPr sz="1875" b="0">
                          <a:solidFill>
                            <a:srgbClr val="253C4D"/>
                          </a:solidFill>
                          <a:latin typeface="Yu Gothic"/>
                          <a:ea typeface="Yu Gothic"/>
                          <a:cs typeface="Yu Gothic"/>
                        </a:rPr>
                        <a:t>細胞</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壁・内腔・配列</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空隙の割合、細胞が続く向き</a:t>
                      </a:r>
                    </a:p>
                  </a:txBody>
                  <a:tcPr marL="91440" marR="91440" marT="45720" marB="45720">
                    <a:solidFill>
                      <a:srgbClr val="FFFFFF"/>
                    </a:solidFill>
                  </a:tcPr>
                </a:tc>
              </a:tr>
              <a:tr h="571500">
                <a:tc>
                  <a:txBody>
                    <a:bodyPr lIns="95250" tIns="95250" rIns="95250" bIns="95250"/>
                    <a:lstStyle/>
                    <a:p>
                      <a:r>
                        <a:rPr sz="1875" b="0">
                          <a:solidFill>
                            <a:srgbClr val="253C4D"/>
                          </a:solidFill>
                          <a:latin typeface="Yu Gothic"/>
                          <a:ea typeface="Yu Gothic"/>
                          <a:cs typeface="Yu Gothic"/>
                        </a:rPr>
                        <a:t>細胞壁内部</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層・ミクロフィブリルの配向</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L方向の変形への関わり</a:t>
                      </a:r>
                    </a:p>
                  </a:txBody>
                  <a:tcPr marL="91440" marR="91440" marT="45720" marB="45720">
                    <a:solidFill>
                      <a:srgbClr val="F1F5F7"/>
                    </a:solidFill>
                  </a:tcPr>
                </a:tc>
              </a:tr>
            </a:tbl>
          </a:graphicData>
        </a:graphic>
      </p:graphicFrame>
    </p:spTree>
    <p:extLst>
      <p:ext uri="{BB962C8B-B14F-4D97-AF65-F5344CB8AC3E}">
        <p14:creationId xmlns:p14="http://schemas.microsoft.com/office/powerpoint/2010/main" val="19940397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7C2CAE-52B9-4CF5-A01E-A06CD2F0685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　観察図の倍率</a:t>
            </a:r>
          </a:p>
        </p:txBody>
      </p:sp>
      <p:sp>
        <p:nvSpPr>
          <p:cNvPr id="2" name="">
            <a:extLst xmlns:a="http://schemas.openxmlformats.org/drawingml/2006/main">
              <a:ext uri="{FF2B5EF4-FFF2-40B4-BE49-F238E27FC236}">
                <a16:creationId xmlns:a16="http://schemas.microsoft.com/office/drawing/2014/main" id="{C337062D-22E4-4B28-B542-5A98C7905A0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1C35F8-0C3D-4EAA-A069-CD9CB8CF2BA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FD783F8A-F674-41FA-9054-A4E4DA76153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CC53AD0C-89C3-46C6-9F3D-A44E1E228235}"/>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defRPr sz="2175" b="1">
                <a:solidFill>
                  <a:srgbClr val="253C4D"/>
                </a:solidFill>
                <a:latin typeface="Yu Gothic"/>
                <a:ea typeface="Yu Gothic"/>
                <a:cs typeface="Yu Gothic"/>
              </a:defRPr>
            </a:lvl1pPr>
            <a:lvl2pPr>
              <a:defRPr sz="2175" b="1">
                <a:solidFill>
                  <a:srgbClr val="253C4D"/>
                </a:solidFill>
                <a:latin typeface="Yu Gothic"/>
                <a:ea typeface="Yu Gothic"/>
                <a:cs typeface="Yu Gothic"/>
              </a:defRPr>
            </a:lvl2pPr>
            <a:lvl3pPr>
              <a:defRPr sz="2175" b="1">
                <a:solidFill>
                  <a:srgbClr val="253C4D"/>
                </a:solidFill>
                <a:latin typeface="Yu Gothic"/>
                <a:ea typeface="Yu Gothic"/>
                <a:cs typeface="Yu Gothic"/>
              </a:defRPr>
            </a:lvl3pPr>
            <a:lvl4pPr>
              <a:defRPr sz="2175" b="1">
                <a:solidFill>
                  <a:srgbClr val="253C4D"/>
                </a:solidFill>
                <a:latin typeface="Yu Gothic"/>
                <a:ea typeface="Yu Gothic"/>
                <a:cs typeface="Yu Gothic"/>
              </a:defRPr>
            </a:lvl4pPr>
            <a:lvl5pPr>
              <a:defRPr sz="2175" b="1">
                <a:solidFill>
                  <a:srgbClr val="253C4D"/>
                </a:solidFill>
                <a:latin typeface="Yu Gothic"/>
                <a:ea typeface="Yu Gothic"/>
                <a:cs typeface="Yu Gothic"/>
              </a:defRPr>
            </a:lvl5pPr>
            <a:lvl6pPr>
              <a:defRPr sz="2175" b="1">
                <a:solidFill>
                  <a:srgbClr val="253C4D"/>
                </a:solidFill>
                <a:latin typeface="Yu Gothic"/>
                <a:ea typeface="Yu Gothic"/>
                <a:cs typeface="Yu Gothic"/>
              </a:defRPr>
            </a:lvl6pPr>
            <a:lvl7pPr>
              <a:defRPr sz="2175" b="1">
                <a:solidFill>
                  <a:srgbClr val="253C4D"/>
                </a:solidFill>
                <a:latin typeface="Yu Gothic"/>
                <a:ea typeface="Yu Gothic"/>
                <a:cs typeface="Yu Gothic"/>
              </a:defRPr>
            </a:lvl7pPr>
            <a:lvl8pPr>
              <a:defRPr sz="2175" b="1">
                <a:solidFill>
                  <a:srgbClr val="253C4D"/>
                </a:solidFill>
                <a:latin typeface="Yu Gothic"/>
                <a:ea typeface="Yu Gothic"/>
                <a:cs typeface="Yu Gothic"/>
              </a:defRPr>
            </a:lvl8pPr>
            <a:lvl9pPr>
              <a:defRPr sz="2175" b="1">
                <a:solidFill>
                  <a:srgbClr val="253C4D"/>
                </a:solidFill>
                <a:latin typeface="Yu Gothic"/>
                <a:ea typeface="Yu Gothic"/>
                <a:cs typeface="Yu Gothic"/>
              </a:defRPr>
            </a:lvl9pPr>
          </a:lstStyle>
          <a:p xmlns:a="http://schemas.openxmlformats.org/drawingml/2006/main">
            <a:pPr>
              <a:defRPr sz="2175" b="1">
                <a:solidFill>
                  <a:srgbClr val="253C4D"/>
                </a:solidFill>
                <a:latin typeface="Yu Gothic"/>
                <a:ea typeface="Yu Gothic"/>
                <a:cs typeface="Yu Gothic"/>
              </a:defRPr>
            </a:pPr>
            <a:r>
              <a:rPr sz="2175" b="1">
                <a:solidFill>
                  <a:srgbClr val="253C4D"/>
                </a:solidFill>
                <a:latin typeface="Yu Gothic"/>
                <a:ea typeface="Yu Gothic"/>
                <a:cs typeface="Yu Gothic"/>
              </a:rPr>
              <a:t>設定：実物の壁厚 2 μm を、紙上で 20 mm に描く</a:t>
            </a:r>
          </a:p>
        </p:txBody>
      </p:sp>
      <p:sp>
        <p:nvSpPr>
          <p:cNvPr id="6" name="">
            <a:extLst xmlns:a="http://schemas.openxmlformats.org/drawingml/2006/main">
              <a:ext uri="{FF2B5EF4-FFF2-40B4-BE49-F238E27FC236}">
                <a16:creationId xmlns:a16="http://schemas.microsoft.com/office/drawing/2014/main" id="{91F3D876-DB84-4DCA-9D13-743531868CFA}"/>
              </a:ext>
            </a:extLst>
          </p:cNvPr>
          <p:cNvSpPr>
            <a:spLocks xmlns:a="http://schemas.openxmlformats.org/drawingml/2006/main" noGrp="1"/>
          </p:cNvSpPr>
          <p:nvPr/>
        </p:nvSpPr>
        <p:spPr>
          <a:xfrm xmlns:a="http://schemas.openxmlformats.org/drawingml/2006/main">
            <a:off x="838200" y="25527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図の倍率を求める（単位をそろえる）</a:t>
            </a:r>
          </a:p>
        </p:txBody>
      </p:sp>
      <p:sp>
        <p:nvSpPr>
          <p:cNvPr id="7" name="">
            <a:extLst xmlns:a="http://schemas.openxmlformats.org/drawingml/2006/main">
              <a:ext uri="{FF2B5EF4-FFF2-40B4-BE49-F238E27FC236}">
                <a16:creationId xmlns:a16="http://schemas.microsoft.com/office/drawing/2014/main" id="{778FC21D-8D1C-4283-8D78-D45885227289}"/>
              </a:ext>
            </a:extLst>
          </p:cNvPr>
          <p:cNvSpPr>
            <a:spLocks xmlns:a="http://schemas.openxmlformats.org/drawingml/2006/main" noGrp="1"/>
          </p:cNvSpPr>
          <p:nvPr/>
        </p:nvSpPr>
        <p:spPr>
          <a:xfrm xmlns:a="http://schemas.openxmlformats.org/drawingml/2006/main">
            <a:off x="838200" y="33909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実物 5 μm は、同じ図で何 mm か</a:t>
            </a:r>
          </a:p>
        </p:txBody>
      </p:sp>
      <p:sp>
        <p:nvSpPr>
          <p:cNvPr id="8" name="">
            <a:extLst xmlns:a="http://schemas.openxmlformats.org/drawingml/2006/main">
              <a:ext uri="{FF2B5EF4-FFF2-40B4-BE49-F238E27FC236}">
                <a16:creationId xmlns:a16="http://schemas.microsoft.com/office/drawing/2014/main" id="{1D110A9F-D7D2-437C-A9A1-46E6140159FC}"/>
              </a:ext>
            </a:extLst>
          </p:cNvPr>
          <p:cNvSpPr>
            <a:spLocks xmlns:a="http://schemas.openxmlformats.org/drawingml/2006/main" noGrp="1"/>
          </p:cNvSpPr>
          <p:nvPr/>
        </p:nvSpPr>
        <p:spPr>
          <a:xfrm xmlns:a="http://schemas.openxmlformats.org/drawingml/2006/main">
            <a:off x="838200" y="42291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図の 8 mm は、実物で何 μm か</a:t>
            </a:r>
          </a:p>
        </p:txBody>
      </p:sp>
      <p:sp>
        <p:nvSpPr>
          <p:cNvPr id="9" name="">
            <a:extLst xmlns:a="http://schemas.openxmlformats.org/drawingml/2006/main">
              <a:ext uri="{FF2B5EF4-FFF2-40B4-BE49-F238E27FC236}">
                <a16:creationId xmlns:a16="http://schemas.microsoft.com/office/drawing/2014/main" id="{2188BCC5-C45B-4279-92E9-F2FF700FB489}"/>
              </a:ext>
            </a:extLst>
          </p:cNvPr>
          <p:cNvSpPr>
            <a:spLocks xmlns:a="http://schemas.openxmlformats.org/drawingml/2006/main" noGrp="1"/>
          </p:cNvSpPr>
          <p:nvPr/>
        </p:nvSpPr>
        <p:spPr>
          <a:xfrm xmlns:a="http://schemas.openxmlformats.org/drawingml/2006/main">
            <a:off x="838200" y="50673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画面上の図を定規で測らず、設定値を使う</a:t>
            </a:r>
          </a:p>
        </p:txBody>
      </p:sp>
    </p:spTree>
    <p:extLst>
      <p:ext uri="{BB962C8B-B14F-4D97-AF65-F5344CB8AC3E}">
        <p14:creationId xmlns:p14="http://schemas.microsoft.com/office/powerpoint/2010/main" val="120507820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258C14-4AF2-4F24-830E-3A85BDBD98F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演習1の解説</a:t>
            </a:r>
          </a:p>
        </p:txBody>
      </p:sp>
      <p:sp>
        <p:nvSpPr>
          <p:cNvPr id="2" name="">
            <a:extLst xmlns:a="http://schemas.openxmlformats.org/drawingml/2006/main">
              <a:ext uri="{FF2B5EF4-FFF2-40B4-BE49-F238E27FC236}">
                <a16:creationId xmlns:a16="http://schemas.microsoft.com/office/drawing/2014/main" id="{14F510A4-3018-4095-B124-4F9F449B8DA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FB10FE-A409-454D-BE69-A7B4028D6B8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9FDC179F-B09C-4FA9-B238-BFB820ED2F1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3FC4A9D6-C623-4857-B7F9-08D3B8332D61}"/>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defRPr sz="2175" b="1">
                <a:solidFill>
                  <a:srgbClr val="253C4D"/>
                </a:solidFill>
                <a:latin typeface="Yu Gothic"/>
                <a:ea typeface="Yu Gothic"/>
                <a:cs typeface="Yu Gothic"/>
              </a:defRPr>
            </a:lvl1pPr>
            <a:lvl2pPr>
              <a:defRPr sz="2175" b="1">
                <a:solidFill>
                  <a:srgbClr val="253C4D"/>
                </a:solidFill>
                <a:latin typeface="Yu Gothic"/>
                <a:ea typeface="Yu Gothic"/>
                <a:cs typeface="Yu Gothic"/>
              </a:defRPr>
            </a:lvl2pPr>
            <a:lvl3pPr>
              <a:defRPr sz="2175" b="1">
                <a:solidFill>
                  <a:srgbClr val="253C4D"/>
                </a:solidFill>
                <a:latin typeface="Yu Gothic"/>
                <a:ea typeface="Yu Gothic"/>
                <a:cs typeface="Yu Gothic"/>
              </a:defRPr>
            </a:lvl3pPr>
            <a:lvl4pPr>
              <a:defRPr sz="2175" b="1">
                <a:solidFill>
                  <a:srgbClr val="253C4D"/>
                </a:solidFill>
                <a:latin typeface="Yu Gothic"/>
                <a:ea typeface="Yu Gothic"/>
                <a:cs typeface="Yu Gothic"/>
              </a:defRPr>
            </a:lvl4pPr>
            <a:lvl5pPr>
              <a:defRPr sz="2175" b="1">
                <a:solidFill>
                  <a:srgbClr val="253C4D"/>
                </a:solidFill>
                <a:latin typeface="Yu Gothic"/>
                <a:ea typeface="Yu Gothic"/>
                <a:cs typeface="Yu Gothic"/>
              </a:defRPr>
            </a:lvl5pPr>
            <a:lvl6pPr>
              <a:defRPr sz="2175" b="1">
                <a:solidFill>
                  <a:srgbClr val="253C4D"/>
                </a:solidFill>
                <a:latin typeface="Yu Gothic"/>
                <a:ea typeface="Yu Gothic"/>
                <a:cs typeface="Yu Gothic"/>
              </a:defRPr>
            </a:lvl6pPr>
            <a:lvl7pPr>
              <a:defRPr sz="2175" b="1">
                <a:solidFill>
                  <a:srgbClr val="253C4D"/>
                </a:solidFill>
                <a:latin typeface="Yu Gothic"/>
                <a:ea typeface="Yu Gothic"/>
                <a:cs typeface="Yu Gothic"/>
              </a:defRPr>
            </a:lvl7pPr>
            <a:lvl8pPr>
              <a:defRPr sz="2175" b="1">
                <a:solidFill>
                  <a:srgbClr val="253C4D"/>
                </a:solidFill>
                <a:latin typeface="Yu Gothic"/>
                <a:ea typeface="Yu Gothic"/>
                <a:cs typeface="Yu Gothic"/>
              </a:defRPr>
            </a:lvl8pPr>
            <a:lvl9pPr>
              <a:defRPr sz="2175" b="1">
                <a:solidFill>
                  <a:srgbClr val="253C4D"/>
                </a:solidFill>
                <a:latin typeface="Yu Gothic"/>
                <a:ea typeface="Yu Gothic"/>
                <a:cs typeface="Yu Gothic"/>
              </a:defRPr>
            </a:lvl9pPr>
          </a:lstStyle>
          <a:p xmlns:a="http://schemas.openxmlformats.org/drawingml/2006/main">
            <a:pPr>
              <a:defRPr sz="2175" b="1">
                <a:solidFill>
                  <a:srgbClr val="253C4D"/>
                </a:solidFill>
                <a:latin typeface="Yu Gothic"/>
                <a:ea typeface="Yu Gothic"/>
                <a:cs typeface="Yu Gothic"/>
              </a:defRPr>
            </a:pPr>
            <a:r>
              <a:rPr sz="2175" b="1">
                <a:solidFill>
                  <a:srgbClr val="253C4D"/>
                </a:solidFill>
                <a:latin typeface="Yu Gothic"/>
                <a:ea typeface="Yu Gothic"/>
                <a:cs typeface="Yu Gothic"/>
              </a:rPr>
              <a:t>① 20 mm = 20,000 μm</a:t>
            </a:r>
          </a:p>
        </p:txBody>
      </p:sp>
      <p:sp>
        <p:nvSpPr>
          <p:cNvPr id="6" name="">
            <a:extLst xmlns:a="http://schemas.openxmlformats.org/drawingml/2006/main">
              <a:ext uri="{FF2B5EF4-FFF2-40B4-BE49-F238E27FC236}">
                <a16:creationId xmlns:a16="http://schemas.microsoft.com/office/drawing/2014/main" id="{ADE85B3A-C9E3-409D-88EB-61DCBB18108F}"/>
              </a:ext>
            </a:extLst>
          </p:cNvPr>
          <p:cNvSpPr>
            <a:spLocks xmlns:a="http://schemas.openxmlformats.org/drawingml/2006/main" noGrp="1"/>
          </p:cNvSpPr>
          <p:nvPr/>
        </p:nvSpPr>
        <p:spPr>
          <a:xfrm xmlns:a="http://schemas.openxmlformats.org/drawingml/2006/main">
            <a:off x="838200" y="25527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倍率 = 20,000 / 2 = 10,000 倍</a:t>
            </a:r>
          </a:p>
        </p:txBody>
      </p:sp>
      <p:sp>
        <p:nvSpPr>
          <p:cNvPr id="7" name="">
            <a:extLst xmlns:a="http://schemas.openxmlformats.org/drawingml/2006/main">
              <a:ext uri="{FF2B5EF4-FFF2-40B4-BE49-F238E27FC236}">
                <a16:creationId xmlns:a16="http://schemas.microsoft.com/office/drawing/2014/main" id="{D2AACAEE-B9DC-40CE-8EB1-DACC81EBF44B}"/>
              </a:ext>
            </a:extLst>
          </p:cNvPr>
          <p:cNvSpPr>
            <a:spLocks xmlns:a="http://schemas.openxmlformats.org/drawingml/2006/main" noGrp="1"/>
          </p:cNvSpPr>
          <p:nvPr/>
        </p:nvSpPr>
        <p:spPr>
          <a:xfrm xmlns:a="http://schemas.openxmlformats.org/drawingml/2006/main">
            <a:off x="838200" y="33909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5 μm × 10,000 = 50,000 μm = 50 mm</a:t>
            </a:r>
          </a:p>
        </p:txBody>
      </p:sp>
      <p:sp>
        <p:nvSpPr>
          <p:cNvPr id="8" name="">
            <a:extLst xmlns:a="http://schemas.openxmlformats.org/drawingml/2006/main">
              <a:ext uri="{FF2B5EF4-FFF2-40B4-BE49-F238E27FC236}">
                <a16:creationId xmlns:a16="http://schemas.microsoft.com/office/drawing/2014/main" id="{EC4E5DAF-2526-4E06-8A67-9E68E88222F6}"/>
              </a:ext>
            </a:extLst>
          </p:cNvPr>
          <p:cNvSpPr>
            <a:spLocks xmlns:a="http://schemas.openxmlformats.org/drawingml/2006/main" noGrp="1"/>
          </p:cNvSpPr>
          <p:nvPr/>
        </p:nvSpPr>
        <p:spPr>
          <a:xfrm xmlns:a="http://schemas.openxmlformats.org/drawingml/2006/main">
            <a:off x="838200" y="42291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8 mm / 10,000 = 0.0008 mm = 0.8 μm</a:t>
            </a:r>
          </a:p>
        </p:txBody>
      </p:sp>
      <p:sp>
        <p:nvSpPr>
          <p:cNvPr id="9" name="">
            <a:extLst xmlns:a="http://schemas.openxmlformats.org/drawingml/2006/main">
              <a:ext uri="{FF2B5EF4-FFF2-40B4-BE49-F238E27FC236}">
                <a16:creationId xmlns:a16="http://schemas.microsoft.com/office/drawing/2014/main" id="{191A3A35-5CA3-4735-8904-B8BBBF3DACCD}"/>
              </a:ext>
            </a:extLst>
          </p:cNvPr>
          <p:cNvSpPr>
            <a:spLocks xmlns:a="http://schemas.openxmlformats.org/drawingml/2006/main" noGrp="1"/>
          </p:cNvSpPr>
          <p:nvPr/>
        </p:nvSpPr>
        <p:spPr>
          <a:xfrm xmlns:a="http://schemas.openxmlformats.org/drawingml/2006/main">
            <a:off x="838200" y="50673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写真の拡大縮小後は、画像内のスケールバーも読む</a:t>
            </a:r>
          </a:p>
        </p:txBody>
      </p:sp>
    </p:spTree>
    <p:extLst>
      <p:ext uri="{BB962C8B-B14F-4D97-AF65-F5344CB8AC3E}">
        <p14:creationId xmlns:p14="http://schemas.microsoft.com/office/powerpoint/2010/main" val="8806115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D5E8FC6-3396-4F4D-9AD5-E8E0A4CB50B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MFA：ミクロフィブリル傾角</a:t>
            </a:r>
          </a:p>
        </p:txBody>
      </p:sp>
      <p:sp>
        <p:nvSpPr>
          <p:cNvPr id="2" name="">
            <a:extLst xmlns:a="http://schemas.openxmlformats.org/drawingml/2006/main">
              <a:ext uri="{FF2B5EF4-FFF2-40B4-BE49-F238E27FC236}">
                <a16:creationId xmlns:a16="http://schemas.microsoft.com/office/drawing/2014/main" id="{A33EC832-AAEB-48E3-8298-8F256AB456A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2940AB-A773-4448-8221-14BFD0BD7A6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F7FB8DBE-EDAD-4AF2-BB35-1002DCC9320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CellAxis">
            <a:extLst xmlns:a="http://schemas.openxmlformats.org/drawingml/2006/main">
              <a:ext uri="{FF2B5EF4-FFF2-40B4-BE49-F238E27FC236}">
                <a16:creationId xmlns:a16="http://schemas.microsoft.com/office/drawing/2014/main" id="{F604C1A4-AA9A-4827-9EFB-3ADCE5FC94F6}"/>
              </a:ext>
            </a:extLst>
          </p:cNvPr>
          <p:cNvSpPr>
            <a:spLocks xmlns:a="http://schemas.openxmlformats.org/drawingml/2006/main" noGrp="1"/>
          </p:cNvSpPr>
          <p:nvPr/>
        </p:nvSpPr>
        <p:spPr>
          <a:xfrm xmlns:a="http://schemas.openxmlformats.org/drawingml/2006/main">
            <a:off x="2857500" y="2286000"/>
            <a:ext cx="9525" cy="2857500"/>
          </a:xfrm>
          <a:custGeom xmlns:a="http://schemas.openxmlformats.org/drawingml/2006/main">
            <a:pathLst>
              <a:path w="9525" h="2857500">
                <a:moveTo>
                  <a:pt x="0" y="2857500"/>
                </a:moveTo>
                <a:lnTo>
                  <a:pt x="0" y="0"/>
                </a:lnTo>
              </a:path>
            </a:pathLst>
          </a:custGeom>
          <a:noFill xmlns:a="http://schemas.openxmlformats.org/drawingml/2006/main"/>
          <a:ln xmlns:a="http://schemas.openxmlformats.org/drawingml/2006/main" w="38100">
            <a:solidFill>
              <a:srgbClr val="C4483C"/>
            </a:solidFill>
          </a:ln>
        </p:spPr>
      </p:sp>
      <p:sp>
        <p:nvSpPr>
          <p:cNvPr id="6" name="MicrofibrilDirection">
            <a:extLst xmlns:a="http://schemas.openxmlformats.org/drawingml/2006/main">
              <a:ext uri="{FF2B5EF4-FFF2-40B4-BE49-F238E27FC236}">
                <a16:creationId xmlns:a16="http://schemas.microsoft.com/office/drawing/2014/main" id="{731F377C-5C6F-43FC-8515-114EE86C3D6F}"/>
              </a:ext>
            </a:extLst>
          </p:cNvPr>
          <p:cNvSpPr>
            <a:spLocks xmlns:a="http://schemas.openxmlformats.org/drawingml/2006/main" noGrp="1"/>
          </p:cNvSpPr>
          <p:nvPr/>
        </p:nvSpPr>
        <p:spPr>
          <a:xfrm xmlns:a="http://schemas.openxmlformats.org/drawingml/2006/main">
            <a:off x="2857500" y="2458328"/>
            <a:ext cx="977323" cy="2685172"/>
          </a:xfrm>
          <a:custGeom xmlns:a="http://schemas.openxmlformats.org/drawingml/2006/main">
            <a:pathLst>
              <a:path w="977323" h="2685172">
                <a:moveTo>
                  <a:pt x="0" y="2685172"/>
                </a:moveTo>
                <a:lnTo>
                  <a:pt x="977323" y="0"/>
                </a:lnTo>
              </a:path>
            </a:pathLst>
          </a:custGeom>
          <a:noFill xmlns:a="http://schemas.openxmlformats.org/drawingml/2006/main"/>
          <a:ln xmlns:a="http://schemas.openxmlformats.org/drawingml/2006/main" w="47625">
            <a:solidFill>
              <a:srgbClr val="087E8B"/>
            </a:solidFill>
          </a:ln>
        </p:spPr>
      </p:sp>
      <p:sp>
        <p:nvSpPr>
          <p:cNvPr id="7" name="MFAArc">
            <a:extLst xmlns:a="http://schemas.openxmlformats.org/drawingml/2006/main">
              <a:ext uri="{FF2B5EF4-FFF2-40B4-BE49-F238E27FC236}">
                <a16:creationId xmlns:a16="http://schemas.microsoft.com/office/drawing/2014/main" id="{14428956-623D-441F-890D-1123B0E5C8D9}"/>
              </a:ext>
            </a:extLst>
          </p:cNvPr>
          <p:cNvSpPr>
            <a:spLocks xmlns:a="http://schemas.openxmlformats.org/drawingml/2006/main" noGrp="1"/>
          </p:cNvSpPr>
          <p:nvPr/>
        </p:nvSpPr>
        <p:spPr>
          <a:xfrm xmlns:a="http://schemas.openxmlformats.org/drawingml/2006/main">
            <a:off x="2857500" y="4476750"/>
            <a:ext cx="228042" cy="40210"/>
          </a:xfrm>
          <a:custGeom xmlns:a="http://schemas.openxmlformats.org/drawingml/2006/main">
            <a:pathLst>
              <a:path w="228042" h="40210">
                <a:moveTo>
                  <a:pt x="0" y="0"/>
                </a:moveTo>
                <a:lnTo>
                  <a:pt x="14545" y="159"/>
                </a:lnTo>
                <a:lnTo>
                  <a:pt x="29083" y="635"/>
                </a:lnTo>
                <a:lnTo>
                  <a:pt x="43608" y="1428"/>
                </a:lnTo>
                <a:lnTo>
                  <a:pt x="58111" y="2537"/>
                </a:lnTo>
                <a:lnTo>
                  <a:pt x="72587" y="3963"/>
                </a:lnTo>
                <a:lnTo>
                  <a:pt x="87028" y="5704"/>
                </a:lnTo>
                <a:lnTo>
                  <a:pt x="101428" y="7760"/>
                </a:lnTo>
                <a:lnTo>
                  <a:pt x="115780" y="10129"/>
                </a:lnTo>
                <a:lnTo>
                  <a:pt x="130076" y="12811"/>
                </a:lnTo>
                <a:lnTo>
                  <a:pt x="144311" y="15805"/>
                </a:lnTo>
                <a:lnTo>
                  <a:pt x="158477" y="19108"/>
                </a:lnTo>
                <a:lnTo>
                  <a:pt x="172568" y="22719"/>
                </a:lnTo>
                <a:lnTo>
                  <a:pt x="186576" y="26637"/>
                </a:lnTo>
                <a:lnTo>
                  <a:pt x="200496" y="30859"/>
                </a:lnTo>
                <a:lnTo>
                  <a:pt x="214320" y="35384"/>
                </a:lnTo>
                <a:lnTo>
                  <a:pt x="228042" y="40210"/>
                </a:lnTo>
              </a:path>
            </a:pathLst>
          </a:custGeom>
          <a:noFill xmlns:a="http://schemas.openxmlformats.org/drawingml/2006/main"/>
          <a:ln xmlns:a="http://schemas.openxmlformats.org/drawingml/2006/main" w="19050">
            <a:solidFill>
              <a:srgbClr val="253C4D"/>
            </a:solidFill>
          </a:ln>
        </p:spPr>
      </p:sp>
      <p:sp>
        <p:nvSpPr>
          <p:cNvPr id="8" name="">
            <a:extLst xmlns:a="http://schemas.openxmlformats.org/drawingml/2006/main">
              <a:ext uri="{FF2B5EF4-FFF2-40B4-BE49-F238E27FC236}">
                <a16:creationId xmlns:a16="http://schemas.microsoft.com/office/drawing/2014/main" id="{F728DB9A-1112-4FFE-8936-3068DB7E1787}"/>
              </a:ext>
            </a:extLst>
          </p:cNvPr>
          <p:cNvSpPr>
            <a:spLocks xmlns:a="http://schemas.openxmlformats.org/drawingml/2006/main" noGrp="1"/>
          </p:cNvSpPr>
          <p:nvPr/>
        </p:nvSpPr>
        <p:spPr>
          <a:xfrm xmlns:a="http://schemas.openxmlformats.org/drawingml/2006/main">
            <a:off x="3143250" y="404812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xmlns:a="http://schemas.openxmlformats.org/drawingml/2006/main">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20°</a:t>
            </a:r>
          </a:p>
        </p:txBody>
      </p:sp>
      <p:sp>
        <p:nvSpPr>
          <p:cNvPr id="9" name="">
            <a:extLst xmlns:a="http://schemas.openxmlformats.org/drawingml/2006/main">
              <a:ext uri="{FF2B5EF4-FFF2-40B4-BE49-F238E27FC236}">
                <a16:creationId xmlns:a16="http://schemas.microsoft.com/office/drawing/2014/main" id="{AB4DF512-CF80-4BE3-A7F4-F553AFFFA841}"/>
              </a:ext>
            </a:extLst>
          </p:cNvPr>
          <p:cNvSpPr>
            <a:spLocks xmlns:a="http://schemas.openxmlformats.org/drawingml/2006/main" noGrp="1"/>
          </p:cNvSpPr>
          <p:nvPr/>
        </p:nvSpPr>
        <p:spPr>
          <a:xfrm xmlns:a="http://schemas.openxmlformats.org/drawingml/2006/main">
            <a:off x="952500" y="1695450"/>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C4483C"/>
                </a:solidFill>
                <a:latin typeface="Yu Gothic"/>
                <a:ea typeface="Yu Gothic"/>
                <a:cs typeface="Yu Gothic"/>
              </a:defRPr>
            </a:defPPr>
            <a:lvl1pPr>
              <a:defRPr sz="2250" b="1">
                <a:solidFill>
                  <a:srgbClr val="C4483C"/>
                </a:solidFill>
                <a:latin typeface="Yu Gothic"/>
                <a:ea typeface="Yu Gothic"/>
                <a:cs typeface="Yu Gothic"/>
              </a:defRPr>
            </a:lvl1pPr>
            <a:lvl2pPr>
              <a:defRPr sz="2250" b="1">
                <a:solidFill>
                  <a:srgbClr val="C4483C"/>
                </a:solidFill>
                <a:latin typeface="Yu Gothic"/>
                <a:ea typeface="Yu Gothic"/>
                <a:cs typeface="Yu Gothic"/>
              </a:defRPr>
            </a:lvl2pPr>
            <a:lvl3pPr>
              <a:defRPr sz="2250" b="1">
                <a:solidFill>
                  <a:srgbClr val="C4483C"/>
                </a:solidFill>
                <a:latin typeface="Yu Gothic"/>
                <a:ea typeface="Yu Gothic"/>
                <a:cs typeface="Yu Gothic"/>
              </a:defRPr>
            </a:lvl3pPr>
            <a:lvl4pPr>
              <a:defRPr sz="2250" b="1">
                <a:solidFill>
                  <a:srgbClr val="C4483C"/>
                </a:solidFill>
                <a:latin typeface="Yu Gothic"/>
                <a:ea typeface="Yu Gothic"/>
                <a:cs typeface="Yu Gothic"/>
              </a:defRPr>
            </a:lvl4pPr>
            <a:lvl5pPr>
              <a:defRPr sz="2250" b="1">
                <a:solidFill>
                  <a:srgbClr val="C4483C"/>
                </a:solidFill>
                <a:latin typeface="Yu Gothic"/>
                <a:ea typeface="Yu Gothic"/>
                <a:cs typeface="Yu Gothic"/>
              </a:defRPr>
            </a:lvl5pPr>
            <a:lvl6pPr>
              <a:defRPr sz="2250" b="1">
                <a:solidFill>
                  <a:srgbClr val="C4483C"/>
                </a:solidFill>
                <a:latin typeface="Yu Gothic"/>
                <a:ea typeface="Yu Gothic"/>
                <a:cs typeface="Yu Gothic"/>
              </a:defRPr>
            </a:lvl6pPr>
            <a:lvl7pPr>
              <a:defRPr sz="2250" b="1">
                <a:solidFill>
                  <a:srgbClr val="C4483C"/>
                </a:solidFill>
                <a:latin typeface="Yu Gothic"/>
                <a:ea typeface="Yu Gothic"/>
                <a:cs typeface="Yu Gothic"/>
              </a:defRPr>
            </a:lvl7pPr>
            <a:lvl8pPr>
              <a:defRPr sz="2250" b="1">
                <a:solidFill>
                  <a:srgbClr val="C4483C"/>
                </a:solidFill>
                <a:latin typeface="Yu Gothic"/>
                <a:ea typeface="Yu Gothic"/>
                <a:cs typeface="Yu Gothic"/>
              </a:defRPr>
            </a:lvl8pPr>
            <a:lvl9pPr>
              <a:defRPr sz="2250" b="1">
                <a:solidFill>
                  <a:srgbClr val="C4483C"/>
                </a:solidFill>
                <a:latin typeface="Yu Gothic"/>
                <a:ea typeface="Yu Gothic"/>
                <a:cs typeface="Yu Gothic"/>
              </a:defRPr>
            </a:lvl9pPr>
          </a:lstStyle>
          <a:p xmlns:a="http://schemas.openxmlformats.org/drawingml/2006/main">
            <a:pPr>
              <a:defRPr sz="2250" b="1">
                <a:solidFill>
                  <a:srgbClr val="C4483C"/>
                </a:solidFill>
                <a:latin typeface="Yu Gothic"/>
                <a:ea typeface="Yu Gothic"/>
                <a:cs typeface="Yu Gothic"/>
              </a:defRPr>
            </a:pPr>
            <a:r>
              <a:rPr sz="2250" b="1">
                <a:solidFill>
                  <a:srgbClr val="C4483C"/>
                </a:solidFill>
                <a:latin typeface="Yu Gothic"/>
                <a:ea typeface="Yu Gothic"/>
                <a:cs typeface="Yu Gothic"/>
              </a:rPr>
              <a:t>細胞軸（長手方向）</a:t>
            </a:r>
          </a:p>
        </p:txBody>
      </p:sp>
      <p:sp>
        <p:nvSpPr>
          <p:cNvPr id="10" name="">
            <a:extLst xmlns:a="http://schemas.openxmlformats.org/drawingml/2006/main">
              <a:ext uri="{FF2B5EF4-FFF2-40B4-BE49-F238E27FC236}">
                <a16:creationId xmlns:a16="http://schemas.microsoft.com/office/drawing/2014/main" id="{A757FA66-E054-49CD-A21A-F58F77232E82}"/>
              </a:ext>
            </a:extLst>
          </p:cNvPr>
          <p:cNvSpPr>
            <a:spLocks xmlns:a="http://schemas.openxmlformats.org/drawingml/2006/main" noGrp="1"/>
          </p:cNvSpPr>
          <p:nvPr/>
        </p:nvSpPr>
        <p:spPr>
          <a:xfrm xmlns:a="http://schemas.openxmlformats.org/drawingml/2006/main">
            <a:off x="857250" y="53816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087E8B"/>
                </a:solidFill>
                <a:latin typeface="Yu Gothic"/>
                <a:ea typeface="Yu Gothic"/>
                <a:cs typeface="Yu Gothic"/>
              </a:defRPr>
            </a:defPPr>
            <a:lvl1pPr>
              <a:defRPr sz="1950" b="1">
                <a:solidFill>
                  <a:srgbClr val="087E8B"/>
                </a:solidFill>
                <a:latin typeface="Yu Gothic"/>
                <a:ea typeface="Yu Gothic"/>
                <a:cs typeface="Yu Gothic"/>
              </a:defRPr>
            </a:lvl1pPr>
            <a:lvl2pPr>
              <a:defRPr sz="1950" b="1">
                <a:solidFill>
                  <a:srgbClr val="087E8B"/>
                </a:solidFill>
                <a:latin typeface="Yu Gothic"/>
                <a:ea typeface="Yu Gothic"/>
                <a:cs typeface="Yu Gothic"/>
              </a:defRPr>
            </a:lvl2pPr>
            <a:lvl3pPr>
              <a:defRPr sz="1950" b="1">
                <a:solidFill>
                  <a:srgbClr val="087E8B"/>
                </a:solidFill>
                <a:latin typeface="Yu Gothic"/>
                <a:ea typeface="Yu Gothic"/>
                <a:cs typeface="Yu Gothic"/>
              </a:defRPr>
            </a:lvl3pPr>
            <a:lvl4pPr>
              <a:defRPr sz="1950" b="1">
                <a:solidFill>
                  <a:srgbClr val="087E8B"/>
                </a:solidFill>
                <a:latin typeface="Yu Gothic"/>
                <a:ea typeface="Yu Gothic"/>
                <a:cs typeface="Yu Gothic"/>
              </a:defRPr>
            </a:lvl4pPr>
            <a:lvl5pPr>
              <a:defRPr sz="1950" b="1">
                <a:solidFill>
                  <a:srgbClr val="087E8B"/>
                </a:solidFill>
                <a:latin typeface="Yu Gothic"/>
                <a:ea typeface="Yu Gothic"/>
                <a:cs typeface="Yu Gothic"/>
              </a:defRPr>
            </a:lvl5pPr>
            <a:lvl6pPr>
              <a:defRPr sz="1950" b="1">
                <a:solidFill>
                  <a:srgbClr val="087E8B"/>
                </a:solidFill>
                <a:latin typeface="Yu Gothic"/>
                <a:ea typeface="Yu Gothic"/>
                <a:cs typeface="Yu Gothic"/>
              </a:defRPr>
            </a:lvl6pPr>
            <a:lvl7pPr>
              <a:defRPr sz="1950" b="1">
                <a:solidFill>
                  <a:srgbClr val="087E8B"/>
                </a:solidFill>
                <a:latin typeface="Yu Gothic"/>
                <a:ea typeface="Yu Gothic"/>
                <a:cs typeface="Yu Gothic"/>
              </a:defRPr>
            </a:lvl7pPr>
            <a:lvl8pPr>
              <a:defRPr sz="1950" b="1">
                <a:solidFill>
                  <a:srgbClr val="087E8B"/>
                </a:solidFill>
                <a:latin typeface="Yu Gothic"/>
                <a:ea typeface="Yu Gothic"/>
                <a:cs typeface="Yu Gothic"/>
              </a:defRPr>
            </a:lvl8pPr>
            <a:lvl9pPr>
              <a:defRPr sz="1950" b="1">
                <a:solidFill>
                  <a:srgbClr val="087E8B"/>
                </a:solidFill>
                <a:latin typeface="Yu Gothic"/>
                <a:ea typeface="Yu Gothic"/>
                <a:cs typeface="Yu Gothic"/>
              </a:defRPr>
            </a:lvl9pPr>
          </a:lstStyle>
          <a:p xmlns:a="http://schemas.openxmlformats.org/drawingml/2006/main">
            <a:pPr>
              <a:defRPr sz="1950" b="1">
                <a:solidFill>
                  <a:srgbClr val="087E8B"/>
                </a:solidFill>
                <a:latin typeface="Yu Gothic"/>
                <a:ea typeface="Yu Gothic"/>
                <a:cs typeface="Yu Gothic"/>
              </a:defRPr>
            </a:pPr>
            <a:r>
              <a:rPr sz="1950" b="1">
                <a:solidFill>
                  <a:srgbClr val="087E8B"/>
                </a:solidFill>
                <a:latin typeface="Yu Gothic"/>
                <a:ea typeface="Yu Gothic"/>
                <a:cs typeface="Yu Gothic"/>
              </a:rPr>
              <a:t>ミクロフィブリルの向き</a:t>
            </a:r>
          </a:p>
        </p:txBody>
      </p:sp>
      <p:sp>
        <p:nvSpPr>
          <p:cNvPr id="11" name="">
            <a:extLst xmlns:a="http://schemas.openxmlformats.org/drawingml/2006/main">
              <a:ext uri="{FF2B5EF4-FFF2-40B4-BE49-F238E27FC236}">
                <a16:creationId xmlns:a16="http://schemas.microsoft.com/office/drawing/2014/main" id="{1B799EBE-45C1-42BB-B414-9792C9244CC4}"/>
              </a:ext>
            </a:extLst>
          </p:cNvPr>
          <p:cNvSpPr>
            <a:spLocks xmlns:a="http://schemas.openxmlformats.org/drawingml/2006/main" noGrp="1"/>
          </p:cNvSpPr>
          <p:nvPr/>
        </p:nvSpPr>
        <p:spPr>
          <a:xfrm xmlns:a="http://schemas.openxmlformats.org/drawingml/2006/main">
            <a:off x="6191250" y="17621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defRPr sz="2175" b="1">
                <a:solidFill>
                  <a:srgbClr val="253C4D"/>
                </a:solidFill>
                <a:latin typeface="Yu Gothic"/>
                <a:ea typeface="Yu Gothic"/>
                <a:cs typeface="Yu Gothic"/>
              </a:defRPr>
            </a:lvl1pPr>
            <a:lvl2pPr>
              <a:defRPr sz="2175" b="1">
                <a:solidFill>
                  <a:srgbClr val="253C4D"/>
                </a:solidFill>
                <a:latin typeface="Yu Gothic"/>
                <a:ea typeface="Yu Gothic"/>
                <a:cs typeface="Yu Gothic"/>
              </a:defRPr>
            </a:lvl2pPr>
            <a:lvl3pPr>
              <a:defRPr sz="2175" b="1">
                <a:solidFill>
                  <a:srgbClr val="253C4D"/>
                </a:solidFill>
                <a:latin typeface="Yu Gothic"/>
                <a:ea typeface="Yu Gothic"/>
                <a:cs typeface="Yu Gothic"/>
              </a:defRPr>
            </a:lvl3pPr>
            <a:lvl4pPr>
              <a:defRPr sz="2175" b="1">
                <a:solidFill>
                  <a:srgbClr val="253C4D"/>
                </a:solidFill>
                <a:latin typeface="Yu Gothic"/>
                <a:ea typeface="Yu Gothic"/>
                <a:cs typeface="Yu Gothic"/>
              </a:defRPr>
            </a:lvl4pPr>
            <a:lvl5pPr>
              <a:defRPr sz="2175" b="1">
                <a:solidFill>
                  <a:srgbClr val="253C4D"/>
                </a:solidFill>
                <a:latin typeface="Yu Gothic"/>
                <a:ea typeface="Yu Gothic"/>
                <a:cs typeface="Yu Gothic"/>
              </a:defRPr>
            </a:lvl5pPr>
            <a:lvl6pPr>
              <a:defRPr sz="2175" b="1">
                <a:solidFill>
                  <a:srgbClr val="253C4D"/>
                </a:solidFill>
                <a:latin typeface="Yu Gothic"/>
                <a:ea typeface="Yu Gothic"/>
                <a:cs typeface="Yu Gothic"/>
              </a:defRPr>
            </a:lvl6pPr>
            <a:lvl7pPr>
              <a:defRPr sz="2175" b="1">
                <a:solidFill>
                  <a:srgbClr val="253C4D"/>
                </a:solidFill>
                <a:latin typeface="Yu Gothic"/>
                <a:ea typeface="Yu Gothic"/>
                <a:cs typeface="Yu Gothic"/>
              </a:defRPr>
            </a:lvl7pPr>
            <a:lvl8pPr>
              <a:defRPr sz="2175" b="1">
                <a:solidFill>
                  <a:srgbClr val="253C4D"/>
                </a:solidFill>
                <a:latin typeface="Yu Gothic"/>
                <a:ea typeface="Yu Gothic"/>
                <a:cs typeface="Yu Gothic"/>
              </a:defRPr>
            </a:lvl8pPr>
            <a:lvl9pPr>
              <a:defRPr sz="2175" b="1">
                <a:solidFill>
                  <a:srgbClr val="253C4D"/>
                </a:solidFill>
                <a:latin typeface="Yu Gothic"/>
                <a:ea typeface="Yu Gothic"/>
                <a:cs typeface="Yu Gothic"/>
              </a:defRPr>
            </a:lvl9pPr>
          </a:lstStyle>
          <a:p xmlns:a="http://schemas.openxmlformats.org/drawingml/2006/main">
            <a:pPr>
              <a:defRPr sz="2175" b="1">
                <a:solidFill>
                  <a:srgbClr val="253C4D"/>
                </a:solidFill>
                <a:latin typeface="Yu Gothic"/>
                <a:ea typeface="Yu Gothic"/>
                <a:cs typeface="Yu Gothic"/>
              </a:defRPr>
            </a:pPr>
            <a:r>
              <a:rPr sz="2175" b="1">
                <a:solidFill>
                  <a:srgbClr val="253C4D"/>
                </a:solidFill>
                <a:latin typeface="Yu Gothic"/>
                <a:ea typeface="Yu Gothic"/>
                <a:cs typeface="Yu Gothic"/>
              </a:rPr>
              <a:t>MFA = Microfibril angle</a:t>
            </a:r>
          </a:p>
        </p:txBody>
      </p:sp>
      <p:sp>
        <p:nvSpPr>
          <p:cNvPr id="12" name="">
            <a:extLst xmlns:a="http://schemas.openxmlformats.org/drawingml/2006/main">
              <a:ext uri="{FF2B5EF4-FFF2-40B4-BE49-F238E27FC236}">
                <a16:creationId xmlns:a16="http://schemas.microsoft.com/office/drawing/2014/main" id="{5BBDAD75-DA5E-4533-8058-BE230662245A}"/>
              </a:ext>
            </a:extLst>
          </p:cNvPr>
          <p:cNvSpPr>
            <a:spLocks xmlns:a="http://schemas.openxmlformats.org/drawingml/2006/main" noGrp="1"/>
          </p:cNvSpPr>
          <p:nvPr/>
        </p:nvSpPr>
        <p:spPr>
          <a:xfrm xmlns:a="http://schemas.openxmlformats.org/drawingml/2006/main">
            <a:off x="6191250" y="26384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ミクロフィブリル傾角</a:t>
            </a:r>
          </a:p>
        </p:txBody>
      </p:sp>
      <p:sp>
        <p:nvSpPr>
          <p:cNvPr id="13" name="">
            <a:extLst xmlns:a="http://schemas.openxmlformats.org/drawingml/2006/main">
              <a:ext uri="{FF2B5EF4-FFF2-40B4-BE49-F238E27FC236}">
                <a16:creationId xmlns:a16="http://schemas.microsoft.com/office/drawing/2014/main" id="{C316E1C7-E231-4B4A-B084-C5A2A1FAC817}"/>
              </a:ext>
            </a:extLst>
          </p:cNvPr>
          <p:cNvSpPr>
            <a:spLocks xmlns:a="http://schemas.openxmlformats.org/drawingml/2006/main" noGrp="1"/>
          </p:cNvSpPr>
          <p:nvPr/>
        </p:nvSpPr>
        <p:spPr>
          <a:xfrm xmlns:a="http://schemas.openxmlformats.org/drawingml/2006/main">
            <a:off x="6191250" y="35147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細胞の長手方向（細胞軸）との角度</a:t>
            </a:r>
          </a:p>
        </p:txBody>
      </p:sp>
      <p:sp>
        <p:nvSpPr>
          <p:cNvPr id="14" name="">
            <a:extLst xmlns:a="http://schemas.openxmlformats.org/drawingml/2006/main">
              <a:ext uri="{FF2B5EF4-FFF2-40B4-BE49-F238E27FC236}">
                <a16:creationId xmlns:a16="http://schemas.microsoft.com/office/drawing/2014/main" id="{8CEF75F9-D5D5-4951-B782-C3FFB549D3D8}"/>
              </a:ext>
            </a:extLst>
          </p:cNvPr>
          <p:cNvSpPr>
            <a:spLocks xmlns:a="http://schemas.openxmlformats.org/drawingml/2006/main" noGrp="1"/>
          </p:cNvSpPr>
          <p:nvPr/>
        </p:nvSpPr>
        <p:spPr>
          <a:xfrm xmlns:a="http://schemas.openxmlformats.org/drawingml/2006/main">
            <a:off x="6191250" y="43910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紙面の水平方向を基準にしない</a:t>
            </a:r>
          </a:p>
        </p:txBody>
      </p:sp>
    </p:spTree>
    <p:extLst>
      <p:ext uri="{BB962C8B-B14F-4D97-AF65-F5344CB8AC3E}">
        <p14:creationId xmlns:p14="http://schemas.microsoft.com/office/powerpoint/2010/main" val="5793852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94B9C1C-A244-4697-9F91-89410CF6594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傾角10°と40°の比較</a:t>
            </a:r>
          </a:p>
        </p:txBody>
      </p:sp>
      <p:sp>
        <p:nvSpPr>
          <p:cNvPr id="2" name="">
            <a:extLst xmlns:a="http://schemas.openxmlformats.org/drawingml/2006/main">
              <a:ext uri="{FF2B5EF4-FFF2-40B4-BE49-F238E27FC236}">
                <a16:creationId xmlns:a16="http://schemas.microsoft.com/office/drawing/2014/main" id="{FD54BE9A-6B81-422E-B1A3-339A049C48C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BA61F9-A6F5-408B-8792-D01A849A9F3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937F26BD-7A90-40C7-9748-6262A857E0E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CellAxis">
            <a:extLst xmlns:a="http://schemas.openxmlformats.org/drawingml/2006/main">
              <a:ext uri="{FF2B5EF4-FFF2-40B4-BE49-F238E27FC236}">
                <a16:creationId xmlns:a16="http://schemas.microsoft.com/office/drawing/2014/main" id="{CA1BB4A3-0982-4CAB-91CA-FE05035B591F}"/>
              </a:ext>
            </a:extLst>
          </p:cNvPr>
          <p:cNvSpPr>
            <a:spLocks xmlns:a="http://schemas.openxmlformats.org/drawingml/2006/main" noGrp="1"/>
          </p:cNvSpPr>
          <p:nvPr/>
        </p:nvSpPr>
        <p:spPr>
          <a:xfrm xmlns:a="http://schemas.openxmlformats.org/drawingml/2006/main">
            <a:off x="2476500" y="2400300"/>
            <a:ext cx="9525" cy="2571750"/>
          </a:xfrm>
          <a:custGeom xmlns:a="http://schemas.openxmlformats.org/drawingml/2006/main">
            <a:pathLst>
              <a:path w="9525" h="2571750">
                <a:moveTo>
                  <a:pt x="0" y="2571750"/>
                </a:moveTo>
                <a:lnTo>
                  <a:pt x="0" y="0"/>
                </a:lnTo>
              </a:path>
            </a:pathLst>
          </a:custGeom>
          <a:noFill xmlns:a="http://schemas.openxmlformats.org/drawingml/2006/main"/>
          <a:ln xmlns:a="http://schemas.openxmlformats.org/drawingml/2006/main" w="38100">
            <a:solidFill>
              <a:srgbClr val="C4483C"/>
            </a:solidFill>
          </a:ln>
        </p:spPr>
      </p:sp>
      <p:sp>
        <p:nvSpPr>
          <p:cNvPr id="6" name="MicrofibrilDirection">
            <a:extLst xmlns:a="http://schemas.openxmlformats.org/drawingml/2006/main">
              <a:ext uri="{FF2B5EF4-FFF2-40B4-BE49-F238E27FC236}">
                <a16:creationId xmlns:a16="http://schemas.microsoft.com/office/drawing/2014/main" id="{E61D8587-87B4-48F7-9FF3-F96995118F3A}"/>
              </a:ext>
            </a:extLst>
          </p:cNvPr>
          <p:cNvSpPr>
            <a:spLocks xmlns:a="http://schemas.openxmlformats.org/drawingml/2006/main" noGrp="1"/>
          </p:cNvSpPr>
          <p:nvPr/>
        </p:nvSpPr>
        <p:spPr>
          <a:xfrm xmlns:a="http://schemas.openxmlformats.org/drawingml/2006/main">
            <a:off x="2476500" y="2439371"/>
            <a:ext cx="446580" cy="2532679"/>
          </a:xfrm>
          <a:custGeom xmlns:a="http://schemas.openxmlformats.org/drawingml/2006/main">
            <a:pathLst>
              <a:path w="446580" h="2532679">
                <a:moveTo>
                  <a:pt x="0" y="2532679"/>
                </a:moveTo>
                <a:lnTo>
                  <a:pt x="446580" y="0"/>
                </a:lnTo>
              </a:path>
            </a:pathLst>
          </a:custGeom>
          <a:noFill xmlns:a="http://schemas.openxmlformats.org/drawingml/2006/main"/>
          <a:ln xmlns:a="http://schemas.openxmlformats.org/drawingml/2006/main" w="47625">
            <a:solidFill>
              <a:srgbClr val="087E8B"/>
            </a:solidFill>
          </a:ln>
        </p:spPr>
      </p:sp>
      <p:sp>
        <p:nvSpPr>
          <p:cNvPr id="7" name="MFAArc">
            <a:extLst xmlns:a="http://schemas.openxmlformats.org/drawingml/2006/main">
              <a:ext uri="{FF2B5EF4-FFF2-40B4-BE49-F238E27FC236}">
                <a16:creationId xmlns:a16="http://schemas.microsoft.com/office/drawing/2014/main" id="{36F02FAC-ABF5-46CA-98DB-97E1DD28B991}"/>
              </a:ext>
            </a:extLst>
          </p:cNvPr>
          <p:cNvSpPr>
            <a:spLocks xmlns:a="http://schemas.openxmlformats.org/drawingml/2006/main" noGrp="1"/>
          </p:cNvSpPr>
          <p:nvPr/>
        </p:nvSpPr>
        <p:spPr>
          <a:xfrm xmlns:a="http://schemas.openxmlformats.org/drawingml/2006/main">
            <a:off x="2476500" y="4305300"/>
            <a:ext cx="115780" cy="10129"/>
          </a:xfrm>
          <a:custGeom xmlns:a="http://schemas.openxmlformats.org/drawingml/2006/main">
            <a:pathLst>
              <a:path w="115780" h="10129">
                <a:moveTo>
                  <a:pt x="0" y="0"/>
                </a:moveTo>
                <a:lnTo>
                  <a:pt x="7273" y="40"/>
                </a:lnTo>
                <a:lnTo>
                  <a:pt x="14545" y="159"/>
                </a:lnTo>
                <a:lnTo>
                  <a:pt x="21815" y="357"/>
                </a:lnTo>
                <a:lnTo>
                  <a:pt x="29083" y="635"/>
                </a:lnTo>
                <a:lnTo>
                  <a:pt x="36348" y="991"/>
                </a:lnTo>
                <a:lnTo>
                  <a:pt x="43608" y="1428"/>
                </a:lnTo>
                <a:lnTo>
                  <a:pt x="50862" y="1943"/>
                </a:lnTo>
                <a:lnTo>
                  <a:pt x="58111" y="2537"/>
                </a:lnTo>
                <a:lnTo>
                  <a:pt x="65353" y="3211"/>
                </a:lnTo>
                <a:lnTo>
                  <a:pt x="72587" y="3963"/>
                </a:lnTo>
                <a:lnTo>
                  <a:pt x="79812" y="4794"/>
                </a:lnTo>
                <a:lnTo>
                  <a:pt x="87028" y="5704"/>
                </a:lnTo>
                <a:lnTo>
                  <a:pt x="94234" y="6693"/>
                </a:lnTo>
                <a:lnTo>
                  <a:pt x="101428" y="7760"/>
                </a:lnTo>
                <a:lnTo>
                  <a:pt x="108611" y="8906"/>
                </a:lnTo>
                <a:lnTo>
                  <a:pt x="115780" y="10129"/>
                </a:lnTo>
              </a:path>
            </a:pathLst>
          </a:custGeom>
          <a:noFill xmlns:a="http://schemas.openxmlformats.org/drawingml/2006/main"/>
          <a:ln xmlns:a="http://schemas.openxmlformats.org/drawingml/2006/main" w="19050">
            <a:solidFill>
              <a:srgbClr val="253C4D"/>
            </a:solidFill>
          </a:ln>
        </p:spPr>
      </p:sp>
      <p:sp>
        <p:nvSpPr>
          <p:cNvPr id="8" name="">
            <a:extLst xmlns:a="http://schemas.openxmlformats.org/drawingml/2006/main">
              <a:ext uri="{FF2B5EF4-FFF2-40B4-BE49-F238E27FC236}">
                <a16:creationId xmlns:a16="http://schemas.microsoft.com/office/drawing/2014/main" id="{F0BE3C4E-9441-4505-9341-B627B341471B}"/>
              </a:ext>
            </a:extLst>
          </p:cNvPr>
          <p:cNvSpPr>
            <a:spLocks xmlns:a="http://schemas.openxmlformats.org/drawingml/2006/main" noGrp="1"/>
          </p:cNvSpPr>
          <p:nvPr/>
        </p:nvSpPr>
        <p:spPr>
          <a:xfrm xmlns:a="http://schemas.openxmlformats.org/drawingml/2006/main">
            <a:off x="2762250" y="387667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xmlns:a="http://schemas.openxmlformats.org/drawingml/2006/main">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10°</a:t>
            </a:r>
          </a:p>
        </p:txBody>
      </p:sp>
      <p:sp>
        <p:nvSpPr>
          <p:cNvPr id="9" name="CellAxis">
            <a:extLst xmlns:a="http://schemas.openxmlformats.org/drawingml/2006/main">
              <a:ext uri="{FF2B5EF4-FFF2-40B4-BE49-F238E27FC236}">
                <a16:creationId xmlns:a16="http://schemas.microsoft.com/office/drawing/2014/main" id="{F454413B-418F-46EB-B8B8-ED85B304472E}"/>
              </a:ext>
            </a:extLst>
          </p:cNvPr>
          <p:cNvSpPr>
            <a:spLocks xmlns:a="http://schemas.openxmlformats.org/drawingml/2006/main" noGrp="1"/>
          </p:cNvSpPr>
          <p:nvPr/>
        </p:nvSpPr>
        <p:spPr>
          <a:xfrm xmlns:a="http://schemas.openxmlformats.org/drawingml/2006/main">
            <a:off x="7143750" y="2400300"/>
            <a:ext cx="9525" cy="2571750"/>
          </a:xfrm>
          <a:custGeom xmlns:a="http://schemas.openxmlformats.org/drawingml/2006/main">
            <a:pathLst>
              <a:path w="9525" h="2571750">
                <a:moveTo>
                  <a:pt x="0" y="2571750"/>
                </a:moveTo>
                <a:lnTo>
                  <a:pt x="0" y="0"/>
                </a:lnTo>
              </a:path>
            </a:pathLst>
          </a:custGeom>
          <a:noFill xmlns:a="http://schemas.openxmlformats.org/drawingml/2006/main"/>
          <a:ln xmlns:a="http://schemas.openxmlformats.org/drawingml/2006/main" w="38100">
            <a:solidFill>
              <a:srgbClr val="C4483C"/>
            </a:solidFill>
          </a:ln>
        </p:spPr>
      </p:sp>
      <p:sp>
        <p:nvSpPr>
          <p:cNvPr id="10" name="MicrofibrilDirection">
            <a:extLst xmlns:a="http://schemas.openxmlformats.org/drawingml/2006/main">
              <a:ext uri="{FF2B5EF4-FFF2-40B4-BE49-F238E27FC236}">
                <a16:creationId xmlns:a16="http://schemas.microsoft.com/office/drawing/2014/main" id="{CB7C93FA-E1EC-4909-BA58-0A980FA0CACC}"/>
              </a:ext>
            </a:extLst>
          </p:cNvPr>
          <p:cNvSpPr>
            <a:spLocks xmlns:a="http://schemas.openxmlformats.org/drawingml/2006/main" noGrp="1"/>
          </p:cNvSpPr>
          <p:nvPr/>
        </p:nvSpPr>
        <p:spPr>
          <a:xfrm xmlns:a="http://schemas.openxmlformats.org/drawingml/2006/main">
            <a:off x="7143750" y="3001975"/>
            <a:ext cx="1653089" cy="1970075"/>
          </a:xfrm>
          <a:custGeom xmlns:a="http://schemas.openxmlformats.org/drawingml/2006/main">
            <a:pathLst>
              <a:path w="1653089" h="1970075">
                <a:moveTo>
                  <a:pt x="0" y="1970075"/>
                </a:moveTo>
                <a:lnTo>
                  <a:pt x="1653089" y="0"/>
                </a:lnTo>
              </a:path>
            </a:pathLst>
          </a:custGeom>
          <a:noFill xmlns:a="http://schemas.openxmlformats.org/drawingml/2006/main"/>
          <a:ln xmlns:a="http://schemas.openxmlformats.org/drawingml/2006/main" w="47625">
            <a:solidFill>
              <a:srgbClr val="087E8B"/>
            </a:solidFill>
          </a:ln>
        </p:spPr>
      </p:sp>
      <p:sp>
        <p:nvSpPr>
          <p:cNvPr id="11" name="MFAArc">
            <a:extLst xmlns:a="http://schemas.openxmlformats.org/drawingml/2006/main">
              <a:ext uri="{FF2B5EF4-FFF2-40B4-BE49-F238E27FC236}">
                <a16:creationId xmlns:a16="http://schemas.microsoft.com/office/drawing/2014/main" id="{C154A1BF-FCF2-4666-9643-4267FE7E70FB}"/>
              </a:ext>
            </a:extLst>
          </p:cNvPr>
          <p:cNvSpPr>
            <a:spLocks xmlns:a="http://schemas.openxmlformats.org/drawingml/2006/main" noGrp="1"/>
          </p:cNvSpPr>
          <p:nvPr/>
        </p:nvSpPr>
        <p:spPr>
          <a:xfrm xmlns:a="http://schemas.openxmlformats.org/drawingml/2006/main">
            <a:off x="7143750" y="4305300"/>
            <a:ext cx="428579" cy="155990"/>
          </a:xfrm>
          <a:custGeom xmlns:a="http://schemas.openxmlformats.org/drawingml/2006/main">
            <a:pathLst>
              <a:path w="428579" h="155990">
                <a:moveTo>
                  <a:pt x="0" y="0"/>
                </a:moveTo>
                <a:lnTo>
                  <a:pt x="29083" y="635"/>
                </a:lnTo>
                <a:lnTo>
                  <a:pt x="58111" y="2537"/>
                </a:lnTo>
                <a:lnTo>
                  <a:pt x="87028" y="5704"/>
                </a:lnTo>
                <a:lnTo>
                  <a:pt x="115780" y="10129"/>
                </a:lnTo>
                <a:lnTo>
                  <a:pt x="144311" y="15805"/>
                </a:lnTo>
                <a:lnTo>
                  <a:pt x="172568" y="22719"/>
                </a:lnTo>
                <a:lnTo>
                  <a:pt x="200496" y="30859"/>
                </a:lnTo>
                <a:lnTo>
                  <a:pt x="228042" y="40210"/>
                </a:lnTo>
                <a:lnTo>
                  <a:pt x="255154" y="50753"/>
                </a:lnTo>
                <a:lnTo>
                  <a:pt x="281781" y="62469"/>
                </a:lnTo>
                <a:lnTo>
                  <a:pt x="307871" y="75336"/>
                </a:lnTo>
                <a:lnTo>
                  <a:pt x="333375" y="89328"/>
                </a:lnTo>
                <a:lnTo>
                  <a:pt x="358245" y="104419"/>
                </a:lnTo>
                <a:lnTo>
                  <a:pt x="382432" y="120580"/>
                </a:lnTo>
                <a:lnTo>
                  <a:pt x="405892" y="137782"/>
                </a:lnTo>
                <a:lnTo>
                  <a:pt x="428579" y="155990"/>
                </a:lnTo>
              </a:path>
            </a:pathLst>
          </a:custGeom>
          <a:noFill xmlns:a="http://schemas.openxmlformats.org/drawingml/2006/main"/>
          <a:ln xmlns:a="http://schemas.openxmlformats.org/drawingml/2006/main" w="19050">
            <a:solidFill>
              <a:srgbClr val="253C4D"/>
            </a:solidFill>
          </a:ln>
        </p:spPr>
      </p:sp>
      <p:sp>
        <p:nvSpPr>
          <p:cNvPr id="12" name="">
            <a:extLst xmlns:a="http://schemas.openxmlformats.org/drawingml/2006/main">
              <a:ext uri="{FF2B5EF4-FFF2-40B4-BE49-F238E27FC236}">
                <a16:creationId xmlns:a16="http://schemas.microsoft.com/office/drawing/2014/main" id="{3EB091D5-DE83-4854-9A22-4F29E75A4697}"/>
              </a:ext>
            </a:extLst>
          </p:cNvPr>
          <p:cNvSpPr>
            <a:spLocks xmlns:a="http://schemas.openxmlformats.org/drawingml/2006/main" noGrp="1"/>
          </p:cNvSpPr>
          <p:nvPr/>
        </p:nvSpPr>
        <p:spPr>
          <a:xfrm xmlns:a="http://schemas.openxmlformats.org/drawingml/2006/main">
            <a:off x="7429500" y="387667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xmlns:a="http://schemas.openxmlformats.org/drawingml/2006/main">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40°</a:t>
            </a:r>
          </a:p>
        </p:txBody>
      </p:sp>
      <p:sp>
        <p:nvSpPr>
          <p:cNvPr id="13" name="">
            <a:extLst xmlns:a="http://schemas.openxmlformats.org/drawingml/2006/main">
              <a:ext uri="{FF2B5EF4-FFF2-40B4-BE49-F238E27FC236}">
                <a16:creationId xmlns:a16="http://schemas.microsoft.com/office/drawing/2014/main" id="{EB95B2A1-2E7F-4DDC-80C5-754E92E8250E}"/>
              </a:ext>
            </a:extLst>
          </p:cNvPr>
          <p:cNvSpPr>
            <a:spLocks xmlns:a="http://schemas.openxmlformats.org/drawingml/2006/main" noGrp="1"/>
          </p:cNvSpPr>
          <p:nvPr/>
        </p:nvSpPr>
        <p:spPr>
          <a:xfrm xmlns:a="http://schemas.openxmlformats.org/drawingml/2006/main">
            <a:off x="1190625" y="1809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C4483C"/>
                </a:solidFill>
                <a:latin typeface="Yu Gothic"/>
                <a:ea typeface="Yu Gothic"/>
                <a:cs typeface="Yu Gothic"/>
              </a:defRPr>
            </a:defPPr>
            <a:lvl1pPr>
              <a:defRPr sz="2025" b="1">
                <a:solidFill>
                  <a:srgbClr val="C4483C"/>
                </a:solidFill>
                <a:latin typeface="Yu Gothic"/>
                <a:ea typeface="Yu Gothic"/>
                <a:cs typeface="Yu Gothic"/>
              </a:defRPr>
            </a:lvl1pPr>
            <a:lvl2pPr>
              <a:defRPr sz="2025" b="1">
                <a:solidFill>
                  <a:srgbClr val="C4483C"/>
                </a:solidFill>
                <a:latin typeface="Yu Gothic"/>
                <a:ea typeface="Yu Gothic"/>
                <a:cs typeface="Yu Gothic"/>
              </a:defRPr>
            </a:lvl2pPr>
            <a:lvl3pPr>
              <a:defRPr sz="2025" b="1">
                <a:solidFill>
                  <a:srgbClr val="C4483C"/>
                </a:solidFill>
                <a:latin typeface="Yu Gothic"/>
                <a:ea typeface="Yu Gothic"/>
                <a:cs typeface="Yu Gothic"/>
              </a:defRPr>
            </a:lvl3pPr>
            <a:lvl4pPr>
              <a:defRPr sz="2025" b="1">
                <a:solidFill>
                  <a:srgbClr val="C4483C"/>
                </a:solidFill>
                <a:latin typeface="Yu Gothic"/>
                <a:ea typeface="Yu Gothic"/>
                <a:cs typeface="Yu Gothic"/>
              </a:defRPr>
            </a:lvl4pPr>
            <a:lvl5pPr>
              <a:defRPr sz="2025" b="1">
                <a:solidFill>
                  <a:srgbClr val="C4483C"/>
                </a:solidFill>
                <a:latin typeface="Yu Gothic"/>
                <a:ea typeface="Yu Gothic"/>
                <a:cs typeface="Yu Gothic"/>
              </a:defRPr>
            </a:lvl5pPr>
            <a:lvl6pPr>
              <a:defRPr sz="2025" b="1">
                <a:solidFill>
                  <a:srgbClr val="C4483C"/>
                </a:solidFill>
                <a:latin typeface="Yu Gothic"/>
                <a:ea typeface="Yu Gothic"/>
                <a:cs typeface="Yu Gothic"/>
              </a:defRPr>
            </a:lvl6pPr>
            <a:lvl7pPr>
              <a:defRPr sz="2025" b="1">
                <a:solidFill>
                  <a:srgbClr val="C4483C"/>
                </a:solidFill>
                <a:latin typeface="Yu Gothic"/>
                <a:ea typeface="Yu Gothic"/>
                <a:cs typeface="Yu Gothic"/>
              </a:defRPr>
            </a:lvl7pPr>
            <a:lvl8pPr>
              <a:defRPr sz="2025" b="1">
                <a:solidFill>
                  <a:srgbClr val="C4483C"/>
                </a:solidFill>
                <a:latin typeface="Yu Gothic"/>
                <a:ea typeface="Yu Gothic"/>
                <a:cs typeface="Yu Gothic"/>
              </a:defRPr>
            </a:lvl8pPr>
            <a:lvl9pPr>
              <a:defRPr sz="2025" b="1">
                <a:solidFill>
                  <a:srgbClr val="C4483C"/>
                </a:solidFill>
                <a:latin typeface="Yu Gothic"/>
                <a:ea typeface="Yu Gothic"/>
                <a:cs typeface="Yu Gothic"/>
              </a:defRPr>
            </a:lvl9pPr>
          </a:lstStyle>
          <a:p xmlns:a="http://schemas.openxmlformats.org/drawingml/2006/main">
            <a:pPr>
              <a:defRPr sz="2025" b="1">
                <a:solidFill>
                  <a:srgbClr val="C4483C"/>
                </a:solidFill>
                <a:latin typeface="Yu Gothic"/>
                <a:ea typeface="Yu Gothic"/>
                <a:cs typeface="Yu Gothic"/>
              </a:defRPr>
            </a:pPr>
            <a:r>
              <a:rPr sz="2025" b="1">
                <a:solidFill>
                  <a:srgbClr val="C4483C"/>
                </a:solidFill>
                <a:latin typeface="Yu Gothic"/>
                <a:ea typeface="Yu Gothic"/>
                <a:cs typeface="Yu Gothic"/>
              </a:rPr>
              <a:t>細胞軸</a:t>
            </a:r>
          </a:p>
        </p:txBody>
      </p:sp>
      <p:sp>
        <p:nvSpPr>
          <p:cNvPr id="14" name="">
            <a:extLst xmlns:a="http://schemas.openxmlformats.org/drawingml/2006/main">
              <a:ext uri="{FF2B5EF4-FFF2-40B4-BE49-F238E27FC236}">
                <a16:creationId xmlns:a16="http://schemas.microsoft.com/office/drawing/2014/main" id="{0C651B82-7315-4293-A0B2-087651D8ABD3}"/>
              </a:ext>
            </a:extLst>
          </p:cNvPr>
          <p:cNvSpPr>
            <a:spLocks xmlns:a="http://schemas.openxmlformats.org/drawingml/2006/main" noGrp="1"/>
          </p:cNvSpPr>
          <p:nvPr/>
        </p:nvSpPr>
        <p:spPr>
          <a:xfrm xmlns:a="http://schemas.openxmlformats.org/drawingml/2006/main">
            <a:off x="6191250" y="1809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C4483C"/>
                </a:solidFill>
                <a:latin typeface="Yu Gothic"/>
                <a:ea typeface="Yu Gothic"/>
                <a:cs typeface="Yu Gothic"/>
              </a:defRPr>
            </a:defPPr>
            <a:lvl1pPr>
              <a:defRPr sz="2025" b="1">
                <a:solidFill>
                  <a:srgbClr val="C4483C"/>
                </a:solidFill>
                <a:latin typeface="Yu Gothic"/>
                <a:ea typeface="Yu Gothic"/>
                <a:cs typeface="Yu Gothic"/>
              </a:defRPr>
            </a:lvl1pPr>
            <a:lvl2pPr>
              <a:defRPr sz="2025" b="1">
                <a:solidFill>
                  <a:srgbClr val="C4483C"/>
                </a:solidFill>
                <a:latin typeface="Yu Gothic"/>
                <a:ea typeface="Yu Gothic"/>
                <a:cs typeface="Yu Gothic"/>
              </a:defRPr>
            </a:lvl2pPr>
            <a:lvl3pPr>
              <a:defRPr sz="2025" b="1">
                <a:solidFill>
                  <a:srgbClr val="C4483C"/>
                </a:solidFill>
                <a:latin typeface="Yu Gothic"/>
                <a:ea typeface="Yu Gothic"/>
                <a:cs typeface="Yu Gothic"/>
              </a:defRPr>
            </a:lvl3pPr>
            <a:lvl4pPr>
              <a:defRPr sz="2025" b="1">
                <a:solidFill>
                  <a:srgbClr val="C4483C"/>
                </a:solidFill>
                <a:latin typeface="Yu Gothic"/>
                <a:ea typeface="Yu Gothic"/>
                <a:cs typeface="Yu Gothic"/>
              </a:defRPr>
            </a:lvl4pPr>
            <a:lvl5pPr>
              <a:defRPr sz="2025" b="1">
                <a:solidFill>
                  <a:srgbClr val="C4483C"/>
                </a:solidFill>
                <a:latin typeface="Yu Gothic"/>
                <a:ea typeface="Yu Gothic"/>
                <a:cs typeface="Yu Gothic"/>
              </a:defRPr>
            </a:lvl5pPr>
            <a:lvl6pPr>
              <a:defRPr sz="2025" b="1">
                <a:solidFill>
                  <a:srgbClr val="C4483C"/>
                </a:solidFill>
                <a:latin typeface="Yu Gothic"/>
                <a:ea typeface="Yu Gothic"/>
                <a:cs typeface="Yu Gothic"/>
              </a:defRPr>
            </a:lvl6pPr>
            <a:lvl7pPr>
              <a:defRPr sz="2025" b="1">
                <a:solidFill>
                  <a:srgbClr val="C4483C"/>
                </a:solidFill>
                <a:latin typeface="Yu Gothic"/>
                <a:ea typeface="Yu Gothic"/>
                <a:cs typeface="Yu Gothic"/>
              </a:defRPr>
            </a:lvl7pPr>
            <a:lvl8pPr>
              <a:defRPr sz="2025" b="1">
                <a:solidFill>
                  <a:srgbClr val="C4483C"/>
                </a:solidFill>
                <a:latin typeface="Yu Gothic"/>
                <a:ea typeface="Yu Gothic"/>
                <a:cs typeface="Yu Gothic"/>
              </a:defRPr>
            </a:lvl8pPr>
            <a:lvl9pPr>
              <a:defRPr sz="2025" b="1">
                <a:solidFill>
                  <a:srgbClr val="C4483C"/>
                </a:solidFill>
                <a:latin typeface="Yu Gothic"/>
                <a:ea typeface="Yu Gothic"/>
                <a:cs typeface="Yu Gothic"/>
              </a:defRPr>
            </a:lvl9pPr>
          </a:lstStyle>
          <a:p xmlns:a="http://schemas.openxmlformats.org/drawingml/2006/main">
            <a:pPr>
              <a:defRPr sz="2025" b="1">
                <a:solidFill>
                  <a:srgbClr val="C4483C"/>
                </a:solidFill>
                <a:latin typeface="Yu Gothic"/>
                <a:ea typeface="Yu Gothic"/>
                <a:cs typeface="Yu Gothic"/>
              </a:defRPr>
            </a:pPr>
            <a:r>
              <a:rPr sz="2025" b="1">
                <a:solidFill>
                  <a:srgbClr val="C4483C"/>
                </a:solidFill>
                <a:latin typeface="Yu Gothic"/>
                <a:ea typeface="Yu Gothic"/>
                <a:cs typeface="Yu Gothic"/>
              </a:rPr>
              <a:t>細胞軸</a:t>
            </a:r>
          </a:p>
        </p:txBody>
      </p:sp>
      <p:sp>
        <p:nvSpPr>
          <p:cNvPr id="15" name="">
            <a:extLst xmlns:a="http://schemas.openxmlformats.org/drawingml/2006/main">
              <a:ext uri="{FF2B5EF4-FFF2-40B4-BE49-F238E27FC236}">
                <a16:creationId xmlns:a16="http://schemas.microsoft.com/office/drawing/2014/main" id="{77ACD478-F767-48A6-9593-A24163BD84EF}"/>
              </a:ext>
            </a:extLst>
          </p:cNvPr>
          <p:cNvSpPr>
            <a:spLocks xmlns:a="http://schemas.openxmlformats.org/drawingml/2006/main" noGrp="1"/>
          </p:cNvSpPr>
          <p:nvPr/>
        </p:nvSpPr>
        <p:spPr>
          <a:xfrm xmlns:a="http://schemas.openxmlformats.org/drawingml/2006/main">
            <a:off x="1381125" y="5276850"/>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18364F"/>
                </a:solidFill>
                <a:latin typeface="Yu Gothic"/>
                <a:ea typeface="Yu Gothic"/>
                <a:cs typeface="Yu Gothic"/>
              </a:defRPr>
            </a:defPPr>
            <a:lvl1pPr>
              <a:defRPr sz="2400" b="1">
                <a:solidFill>
                  <a:srgbClr val="18364F"/>
                </a:solidFill>
                <a:latin typeface="Yu Gothic"/>
                <a:ea typeface="Yu Gothic"/>
                <a:cs typeface="Yu Gothic"/>
              </a:defRPr>
            </a:lvl1pPr>
            <a:lvl2pPr>
              <a:defRPr sz="2400" b="1">
                <a:solidFill>
                  <a:srgbClr val="18364F"/>
                </a:solidFill>
                <a:latin typeface="Yu Gothic"/>
                <a:ea typeface="Yu Gothic"/>
                <a:cs typeface="Yu Gothic"/>
              </a:defRPr>
            </a:lvl2pPr>
            <a:lvl3pPr>
              <a:defRPr sz="2400" b="1">
                <a:solidFill>
                  <a:srgbClr val="18364F"/>
                </a:solidFill>
                <a:latin typeface="Yu Gothic"/>
                <a:ea typeface="Yu Gothic"/>
                <a:cs typeface="Yu Gothic"/>
              </a:defRPr>
            </a:lvl3pPr>
            <a:lvl4pPr>
              <a:defRPr sz="2400" b="1">
                <a:solidFill>
                  <a:srgbClr val="18364F"/>
                </a:solidFill>
                <a:latin typeface="Yu Gothic"/>
                <a:ea typeface="Yu Gothic"/>
                <a:cs typeface="Yu Gothic"/>
              </a:defRPr>
            </a:lvl4pPr>
            <a:lvl5pPr>
              <a:defRPr sz="2400" b="1">
                <a:solidFill>
                  <a:srgbClr val="18364F"/>
                </a:solidFill>
                <a:latin typeface="Yu Gothic"/>
                <a:ea typeface="Yu Gothic"/>
                <a:cs typeface="Yu Gothic"/>
              </a:defRPr>
            </a:lvl5pPr>
            <a:lvl6pPr>
              <a:defRPr sz="2400" b="1">
                <a:solidFill>
                  <a:srgbClr val="18364F"/>
                </a:solidFill>
                <a:latin typeface="Yu Gothic"/>
                <a:ea typeface="Yu Gothic"/>
                <a:cs typeface="Yu Gothic"/>
              </a:defRPr>
            </a:lvl6pPr>
            <a:lvl7pPr>
              <a:defRPr sz="2400" b="1">
                <a:solidFill>
                  <a:srgbClr val="18364F"/>
                </a:solidFill>
                <a:latin typeface="Yu Gothic"/>
                <a:ea typeface="Yu Gothic"/>
                <a:cs typeface="Yu Gothic"/>
              </a:defRPr>
            </a:lvl7pPr>
            <a:lvl8pPr>
              <a:defRPr sz="2400" b="1">
                <a:solidFill>
                  <a:srgbClr val="18364F"/>
                </a:solidFill>
                <a:latin typeface="Yu Gothic"/>
                <a:ea typeface="Yu Gothic"/>
                <a:cs typeface="Yu Gothic"/>
              </a:defRPr>
            </a:lvl8pPr>
            <a:lvl9pPr>
              <a:defRPr sz="2400" b="1">
                <a:solidFill>
                  <a:srgbClr val="18364F"/>
                </a:solidFill>
                <a:latin typeface="Yu Gothic"/>
                <a:ea typeface="Yu Gothic"/>
                <a:cs typeface="Yu Gothic"/>
              </a:defRPr>
            </a:lvl9pPr>
          </a:lstStyle>
          <a:p xmlns:a="http://schemas.openxmlformats.org/drawingml/2006/main">
            <a:pPr>
              <a:defRPr sz="2400" b="1">
                <a:solidFill>
                  <a:srgbClr val="18364F"/>
                </a:solidFill>
                <a:latin typeface="Yu Gothic"/>
                <a:ea typeface="Yu Gothic"/>
                <a:cs typeface="Yu Gothic"/>
              </a:defRPr>
            </a:pPr>
            <a:r>
              <a:rPr sz="2400" b="1">
                <a:solidFill>
                  <a:srgbClr val="18364F"/>
                </a:solidFill>
                <a:latin typeface="Yu Gothic"/>
                <a:ea typeface="Yu Gothic"/>
                <a:cs typeface="Yu Gothic"/>
              </a:rPr>
              <a:t>MFA 10°</a:t>
            </a:r>
          </a:p>
        </p:txBody>
      </p:sp>
      <p:sp>
        <p:nvSpPr>
          <p:cNvPr id="16" name="">
            <a:extLst xmlns:a="http://schemas.openxmlformats.org/drawingml/2006/main">
              <a:ext uri="{FF2B5EF4-FFF2-40B4-BE49-F238E27FC236}">
                <a16:creationId xmlns:a16="http://schemas.microsoft.com/office/drawing/2014/main" id="{66E62AC8-81BE-4FE8-9B72-6DEB9A1E8DCA}"/>
              </a:ext>
            </a:extLst>
          </p:cNvPr>
          <p:cNvSpPr>
            <a:spLocks xmlns:a="http://schemas.openxmlformats.org/drawingml/2006/main" noGrp="1"/>
          </p:cNvSpPr>
          <p:nvPr/>
        </p:nvSpPr>
        <p:spPr>
          <a:xfrm xmlns:a="http://schemas.openxmlformats.org/drawingml/2006/main">
            <a:off x="6238875" y="52768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18364F"/>
                </a:solidFill>
                <a:latin typeface="Yu Gothic"/>
                <a:ea typeface="Yu Gothic"/>
                <a:cs typeface="Yu Gothic"/>
              </a:defRPr>
            </a:defPPr>
            <a:lvl1pPr>
              <a:defRPr sz="2400" b="1">
                <a:solidFill>
                  <a:srgbClr val="18364F"/>
                </a:solidFill>
                <a:latin typeface="Yu Gothic"/>
                <a:ea typeface="Yu Gothic"/>
                <a:cs typeface="Yu Gothic"/>
              </a:defRPr>
            </a:lvl1pPr>
            <a:lvl2pPr>
              <a:defRPr sz="2400" b="1">
                <a:solidFill>
                  <a:srgbClr val="18364F"/>
                </a:solidFill>
                <a:latin typeface="Yu Gothic"/>
                <a:ea typeface="Yu Gothic"/>
                <a:cs typeface="Yu Gothic"/>
              </a:defRPr>
            </a:lvl2pPr>
            <a:lvl3pPr>
              <a:defRPr sz="2400" b="1">
                <a:solidFill>
                  <a:srgbClr val="18364F"/>
                </a:solidFill>
                <a:latin typeface="Yu Gothic"/>
                <a:ea typeface="Yu Gothic"/>
                <a:cs typeface="Yu Gothic"/>
              </a:defRPr>
            </a:lvl3pPr>
            <a:lvl4pPr>
              <a:defRPr sz="2400" b="1">
                <a:solidFill>
                  <a:srgbClr val="18364F"/>
                </a:solidFill>
                <a:latin typeface="Yu Gothic"/>
                <a:ea typeface="Yu Gothic"/>
                <a:cs typeface="Yu Gothic"/>
              </a:defRPr>
            </a:lvl4pPr>
            <a:lvl5pPr>
              <a:defRPr sz="2400" b="1">
                <a:solidFill>
                  <a:srgbClr val="18364F"/>
                </a:solidFill>
                <a:latin typeface="Yu Gothic"/>
                <a:ea typeface="Yu Gothic"/>
                <a:cs typeface="Yu Gothic"/>
              </a:defRPr>
            </a:lvl5pPr>
            <a:lvl6pPr>
              <a:defRPr sz="2400" b="1">
                <a:solidFill>
                  <a:srgbClr val="18364F"/>
                </a:solidFill>
                <a:latin typeface="Yu Gothic"/>
                <a:ea typeface="Yu Gothic"/>
                <a:cs typeface="Yu Gothic"/>
              </a:defRPr>
            </a:lvl6pPr>
            <a:lvl7pPr>
              <a:defRPr sz="2400" b="1">
                <a:solidFill>
                  <a:srgbClr val="18364F"/>
                </a:solidFill>
                <a:latin typeface="Yu Gothic"/>
                <a:ea typeface="Yu Gothic"/>
                <a:cs typeface="Yu Gothic"/>
              </a:defRPr>
            </a:lvl7pPr>
            <a:lvl8pPr>
              <a:defRPr sz="2400" b="1">
                <a:solidFill>
                  <a:srgbClr val="18364F"/>
                </a:solidFill>
                <a:latin typeface="Yu Gothic"/>
                <a:ea typeface="Yu Gothic"/>
                <a:cs typeface="Yu Gothic"/>
              </a:defRPr>
            </a:lvl8pPr>
            <a:lvl9pPr>
              <a:defRPr sz="2400" b="1">
                <a:solidFill>
                  <a:srgbClr val="18364F"/>
                </a:solidFill>
                <a:latin typeface="Yu Gothic"/>
                <a:ea typeface="Yu Gothic"/>
                <a:cs typeface="Yu Gothic"/>
              </a:defRPr>
            </a:lvl9pPr>
          </a:lstStyle>
          <a:p xmlns:a="http://schemas.openxmlformats.org/drawingml/2006/main">
            <a:pPr>
              <a:defRPr sz="2400" b="1">
                <a:solidFill>
                  <a:srgbClr val="18364F"/>
                </a:solidFill>
                <a:latin typeface="Yu Gothic"/>
                <a:ea typeface="Yu Gothic"/>
                <a:cs typeface="Yu Gothic"/>
              </a:defRPr>
            </a:pPr>
            <a:r>
              <a:rPr sz="2400" b="1">
                <a:solidFill>
                  <a:srgbClr val="18364F"/>
                </a:solidFill>
                <a:latin typeface="Yu Gothic"/>
                <a:ea typeface="Yu Gothic"/>
                <a:cs typeface="Yu Gothic"/>
              </a:rPr>
              <a:t>MFA 40°</a:t>
            </a:r>
          </a:p>
        </p:txBody>
      </p:sp>
      <p:sp>
        <p:nvSpPr>
          <p:cNvPr id="17" name="">
            <a:extLst xmlns:a="http://schemas.openxmlformats.org/drawingml/2006/main">
              <a:ext uri="{FF2B5EF4-FFF2-40B4-BE49-F238E27FC236}">
                <a16:creationId xmlns:a16="http://schemas.microsoft.com/office/drawing/2014/main" id="{00F9BC13-9AD7-4582-9261-5387D30EB73A}"/>
              </a:ext>
            </a:extLst>
          </p:cNvPr>
          <p:cNvSpPr>
            <a:spLocks xmlns:a="http://schemas.openxmlformats.org/drawingml/2006/main" noGrp="1"/>
          </p:cNvSpPr>
          <p:nvPr/>
        </p:nvSpPr>
        <p:spPr>
          <a:xfrm xmlns:a="http://schemas.openxmlformats.org/drawingml/2006/main">
            <a:off x="838200" y="58769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他の条件が同じなら、小さい MFA で L方向の E が高い傾向</a:t>
            </a:r>
          </a:p>
        </p:txBody>
      </p:sp>
    </p:spTree>
    <p:extLst>
      <p:ext uri="{BB962C8B-B14F-4D97-AF65-F5344CB8AC3E}">
        <p14:creationId xmlns:p14="http://schemas.microsoft.com/office/powerpoint/2010/main" val="132070468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33CE6E-0B01-4332-9EAA-15307F65251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復習：フックの法則とヤング率</a:t>
            </a:r>
          </a:p>
        </p:txBody>
      </p:sp>
      <p:sp>
        <p:nvSpPr>
          <p:cNvPr id="2" name="">
            <a:extLst xmlns:a="http://schemas.openxmlformats.org/drawingml/2006/main">
              <a:ext uri="{FF2B5EF4-FFF2-40B4-BE49-F238E27FC236}">
                <a16:creationId xmlns:a16="http://schemas.microsoft.com/office/drawing/2014/main" id="{C479ED04-42CE-4B44-B126-C6335BFC646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66CB3E1-0C5F-468D-A731-3486C98792D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A098C6D1-550F-46C6-9A8A-075A8C0B73C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59E3B720-764C-4C98-8646-CA873D14F5D2}"/>
              </a:ext>
            </a:extLst>
          </p:cNvPr>
          <p:cNvSpPr>
            <a:spLocks xmlns:a="http://schemas.openxmlformats.org/drawingml/2006/main" noGrp="1"/>
          </p:cNvSpPr>
          <p:nvPr/>
        </p:nvSpPr>
        <p:spPr>
          <a:xfrm xmlns:a="http://schemas.openxmlformats.org/drawingml/2006/main">
            <a:off x="838200" y="16573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53C4D"/>
                </a:solidFill>
                <a:latin typeface="Yu Gothic"/>
                <a:ea typeface="Yu Gothic"/>
                <a:cs typeface="Yu Gothic"/>
              </a:defRPr>
            </a:defPPr>
            <a:lvl1pPr>
              <a:defRPr sz="2325" b="1">
                <a:solidFill>
                  <a:srgbClr val="253C4D"/>
                </a:solidFill>
                <a:latin typeface="Yu Gothic"/>
                <a:ea typeface="Yu Gothic"/>
                <a:cs typeface="Yu Gothic"/>
              </a:defRPr>
            </a:lvl1pPr>
            <a:lvl2pPr>
              <a:defRPr sz="2325" b="1">
                <a:solidFill>
                  <a:srgbClr val="253C4D"/>
                </a:solidFill>
                <a:latin typeface="Yu Gothic"/>
                <a:ea typeface="Yu Gothic"/>
                <a:cs typeface="Yu Gothic"/>
              </a:defRPr>
            </a:lvl2pPr>
            <a:lvl3pPr>
              <a:defRPr sz="2325" b="1">
                <a:solidFill>
                  <a:srgbClr val="253C4D"/>
                </a:solidFill>
                <a:latin typeface="Yu Gothic"/>
                <a:ea typeface="Yu Gothic"/>
                <a:cs typeface="Yu Gothic"/>
              </a:defRPr>
            </a:lvl3pPr>
            <a:lvl4pPr>
              <a:defRPr sz="2325" b="1">
                <a:solidFill>
                  <a:srgbClr val="253C4D"/>
                </a:solidFill>
                <a:latin typeface="Yu Gothic"/>
                <a:ea typeface="Yu Gothic"/>
                <a:cs typeface="Yu Gothic"/>
              </a:defRPr>
            </a:lvl4pPr>
            <a:lvl5pPr>
              <a:defRPr sz="2325" b="1">
                <a:solidFill>
                  <a:srgbClr val="253C4D"/>
                </a:solidFill>
                <a:latin typeface="Yu Gothic"/>
                <a:ea typeface="Yu Gothic"/>
                <a:cs typeface="Yu Gothic"/>
              </a:defRPr>
            </a:lvl5pPr>
            <a:lvl6pPr>
              <a:defRPr sz="2325" b="1">
                <a:solidFill>
                  <a:srgbClr val="253C4D"/>
                </a:solidFill>
                <a:latin typeface="Yu Gothic"/>
                <a:ea typeface="Yu Gothic"/>
                <a:cs typeface="Yu Gothic"/>
              </a:defRPr>
            </a:lvl6pPr>
            <a:lvl7pPr>
              <a:defRPr sz="2325" b="1">
                <a:solidFill>
                  <a:srgbClr val="253C4D"/>
                </a:solidFill>
                <a:latin typeface="Yu Gothic"/>
                <a:ea typeface="Yu Gothic"/>
                <a:cs typeface="Yu Gothic"/>
              </a:defRPr>
            </a:lvl7pPr>
            <a:lvl8pPr>
              <a:defRPr sz="2325" b="1">
                <a:solidFill>
                  <a:srgbClr val="253C4D"/>
                </a:solidFill>
                <a:latin typeface="Yu Gothic"/>
                <a:ea typeface="Yu Gothic"/>
                <a:cs typeface="Yu Gothic"/>
              </a:defRPr>
            </a:lvl8pPr>
            <a:lvl9pPr>
              <a:defRPr sz="2325" b="1">
                <a:solidFill>
                  <a:srgbClr val="253C4D"/>
                </a:solidFill>
                <a:latin typeface="Yu Gothic"/>
                <a:ea typeface="Yu Gothic"/>
                <a:cs typeface="Yu Gothic"/>
              </a:defRPr>
            </a:lvl9pPr>
          </a:lstStyle>
          <a:p xmlns:a="http://schemas.openxmlformats.org/drawingml/2006/main">
            <a:pPr>
              <a:defRPr sz="2325" b="1">
                <a:solidFill>
                  <a:srgbClr val="253C4D"/>
                </a:solidFill>
                <a:latin typeface="Yu Gothic"/>
                <a:ea typeface="Yu Gothic"/>
                <a:cs typeface="Yu Gothic"/>
              </a:defRPr>
            </a:pPr>
            <a:r>
              <a:rPr sz="2325" b="1">
                <a:solidFill>
                  <a:srgbClr val="253C4D"/>
                </a:solidFill>
                <a:latin typeface="Yu Gothic"/>
                <a:ea typeface="Yu Gothic"/>
                <a:cs typeface="Yu Gothic"/>
              </a:rPr>
              <a:t>ばね：F = kx　　同じ F なら k が大きいほど伸びが小さい</a:t>
            </a:r>
          </a:p>
        </p:txBody>
      </p:sp>
      <p:sp>
        <p:nvSpPr>
          <p:cNvPr id="6" name="">
            <a:extLst xmlns:a="http://schemas.openxmlformats.org/drawingml/2006/main">
              <a:ext uri="{FF2B5EF4-FFF2-40B4-BE49-F238E27FC236}">
                <a16:creationId xmlns:a16="http://schemas.microsoft.com/office/drawing/2014/main" id="{8F309306-53E2-4FAC-BFBF-DE3EDAAF6C84}"/>
              </a:ext>
            </a:extLst>
          </p:cNvPr>
          <p:cNvSpPr>
            <a:spLocks xmlns:a="http://schemas.openxmlformats.org/drawingml/2006/main" noGrp="1"/>
          </p:cNvSpPr>
          <p:nvPr/>
        </p:nvSpPr>
        <p:spPr>
          <a:xfrm xmlns:a="http://schemas.openxmlformats.org/drawingml/2006/main">
            <a:off x="838200" y="25336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棒：σ = F/A　　ε = Δl/l</a:t>
            </a:r>
          </a:p>
        </p:txBody>
      </p:sp>
      <p:sp>
        <p:nvSpPr>
          <p:cNvPr id="7" name="">
            <a:extLst xmlns:a="http://schemas.openxmlformats.org/drawingml/2006/main">
              <a:ext uri="{FF2B5EF4-FFF2-40B4-BE49-F238E27FC236}">
                <a16:creationId xmlns:a16="http://schemas.microsoft.com/office/drawing/2014/main" id="{F55EDC32-5757-4C5E-832F-1F75F7115BFD}"/>
              </a:ext>
            </a:extLst>
          </p:cNvPr>
          <p:cNvSpPr>
            <a:spLocks xmlns:a="http://schemas.openxmlformats.org/drawingml/2006/main" noGrp="1"/>
          </p:cNvSpPr>
          <p:nvPr/>
        </p:nvSpPr>
        <p:spPr>
          <a:xfrm xmlns:a="http://schemas.openxmlformats.org/drawingml/2006/main">
            <a:off x="838200" y="3409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比例する弾性範囲：σ = Eε</a:t>
            </a:r>
          </a:p>
        </p:txBody>
      </p:sp>
      <p:sp>
        <p:nvSpPr>
          <p:cNvPr id="8" name="">
            <a:extLst xmlns:a="http://schemas.openxmlformats.org/drawingml/2006/main">
              <a:ext uri="{FF2B5EF4-FFF2-40B4-BE49-F238E27FC236}">
                <a16:creationId xmlns:a16="http://schemas.microsoft.com/office/drawing/2014/main" id="{819C3E54-51D9-4AFA-BC6C-12B2DC1CFF7F}"/>
              </a:ext>
            </a:extLst>
          </p:cNvPr>
          <p:cNvSpPr>
            <a:spLocks xmlns:a="http://schemas.openxmlformats.org/drawingml/2006/main" noGrp="1"/>
          </p:cNvSpPr>
          <p:nvPr/>
        </p:nvSpPr>
        <p:spPr>
          <a:xfrm xmlns:a="http://schemas.openxmlformats.org/drawingml/2006/main">
            <a:off x="838200" y="42862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 σ なら、E が大きいほど ε が小さい</a:t>
            </a:r>
          </a:p>
        </p:txBody>
      </p:sp>
      <p:sp>
        <p:nvSpPr>
          <p:cNvPr id="9" name="">
            <a:extLst xmlns:a="http://schemas.openxmlformats.org/drawingml/2006/main">
              <a:ext uri="{FF2B5EF4-FFF2-40B4-BE49-F238E27FC236}">
                <a16:creationId xmlns:a16="http://schemas.microsoft.com/office/drawing/2014/main" id="{AC2205C4-A0C6-4AB2-97C7-93D505203B04}"/>
              </a:ext>
            </a:extLst>
          </p:cNvPr>
          <p:cNvSpPr>
            <a:spLocks xmlns:a="http://schemas.openxmlformats.org/drawingml/2006/main" noGrp="1"/>
          </p:cNvSpPr>
          <p:nvPr/>
        </p:nvSpPr>
        <p:spPr>
          <a:xfrm xmlns:a="http://schemas.openxmlformats.org/drawingml/2006/main">
            <a:off x="838200" y="51625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変形しにくさと、破壊するときの強さを分ける</a:t>
            </a:r>
          </a:p>
        </p:txBody>
      </p:sp>
    </p:spTree>
    <p:extLst>
      <p:ext uri="{BB962C8B-B14F-4D97-AF65-F5344CB8AC3E}">
        <p14:creationId xmlns:p14="http://schemas.microsoft.com/office/powerpoint/2010/main" val="94903446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AE955E-280E-4C52-A4DF-FEBB915B94C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E908C3DC-7401-4043-83F0-BD2F3E159FF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F0B910-B5B7-4287-B387-77480685539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第3回・オンデマンド</a:t>
            </a:r>
          </a:p>
        </p:txBody>
      </p:sp>
      <p:sp>
        <p:nvSpPr>
          <p:cNvPr id="4" name="">
            <a:extLst xmlns:a="http://schemas.openxmlformats.org/drawingml/2006/main">
              <a:ext uri="{FF2B5EF4-FFF2-40B4-BE49-F238E27FC236}">
                <a16:creationId xmlns:a16="http://schemas.microsoft.com/office/drawing/2014/main" id="{41C94FA6-405E-48B4-843B-0BEE41C655B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5B9CBFB2-F56C-4120-96D4-FF157A76B69F}"/>
              </a:ext>
            </a:extLst>
          </p:cNvPr>
          <p:cNvSpPr>
            <a:spLocks xmlns:a="http://schemas.openxmlformats.org/drawingml/2006/main" noGrp="1"/>
          </p:cNvSpPr>
          <p:nvPr/>
        </p:nvSpPr>
        <p:spPr>
          <a:xfrm xmlns:a="http://schemas.openxmlformats.org/drawingml/2006/main">
            <a:off x="838200" y="1885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53C4D"/>
                </a:solidFill>
                <a:latin typeface="Yu Gothic"/>
                <a:ea typeface="Yu Gothic"/>
                <a:cs typeface="Yu Gothic"/>
              </a:defRPr>
            </a:defPPr>
            <a:lvl1pPr>
              <a:defRPr sz="2325" b="1">
                <a:solidFill>
                  <a:srgbClr val="253C4D"/>
                </a:solidFill>
                <a:latin typeface="Yu Gothic"/>
                <a:ea typeface="Yu Gothic"/>
                <a:cs typeface="Yu Gothic"/>
              </a:defRPr>
            </a:lvl1pPr>
            <a:lvl2pPr>
              <a:defRPr sz="2325" b="1">
                <a:solidFill>
                  <a:srgbClr val="253C4D"/>
                </a:solidFill>
                <a:latin typeface="Yu Gothic"/>
                <a:ea typeface="Yu Gothic"/>
                <a:cs typeface="Yu Gothic"/>
              </a:defRPr>
            </a:lvl2pPr>
            <a:lvl3pPr>
              <a:defRPr sz="2325" b="1">
                <a:solidFill>
                  <a:srgbClr val="253C4D"/>
                </a:solidFill>
                <a:latin typeface="Yu Gothic"/>
                <a:ea typeface="Yu Gothic"/>
                <a:cs typeface="Yu Gothic"/>
              </a:defRPr>
            </a:lvl3pPr>
            <a:lvl4pPr>
              <a:defRPr sz="2325" b="1">
                <a:solidFill>
                  <a:srgbClr val="253C4D"/>
                </a:solidFill>
                <a:latin typeface="Yu Gothic"/>
                <a:ea typeface="Yu Gothic"/>
                <a:cs typeface="Yu Gothic"/>
              </a:defRPr>
            </a:lvl4pPr>
            <a:lvl5pPr>
              <a:defRPr sz="2325" b="1">
                <a:solidFill>
                  <a:srgbClr val="253C4D"/>
                </a:solidFill>
                <a:latin typeface="Yu Gothic"/>
                <a:ea typeface="Yu Gothic"/>
                <a:cs typeface="Yu Gothic"/>
              </a:defRPr>
            </a:lvl5pPr>
            <a:lvl6pPr>
              <a:defRPr sz="2325" b="1">
                <a:solidFill>
                  <a:srgbClr val="253C4D"/>
                </a:solidFill>
                <a:latin typeface="Yu Gothic"/>
                <a:ea typeface="Yu Gothic"/>
                <a:cs typeface="Yu Gothic"/>
              </a:defRPr>
            </a:lvl6pPr>
            <a:lvl7pPr>
              <a:defRPr sz="2325" b="1">
                <a:solidFill>
                  <a:srgbClr val="253C4D"/>
                </a:solidFill>
                <a:latin typeface="Yu Gothic"/>
                <a:ea typeface="Yu Gothic"/>
                <a:cs typeface="Yu Gothic"/>
              </a:defRPr>
            </a:lvl7pPr>
            <a:lvl8pPr>
              <a:defRPr sz="2325" b="1">
                <a:solidFill>
                  <a:srgbClr val="253C4D"/>
                </a:solidFill>
                <a:latin typeface="Yu Gothic"/>
                <a:ea typeface="Yu Gothic"/>
                <a:cs typeface="Yu Gothic"/>
              </a:defRPr>
            </a:lvl8pPr>
            <a:lvl9pPr>
              <a:defRPr sz="2325" b="1">
                <a:solidFill>
                  <a:srgbClr val="253C4D"/>
                </a:solidFill>
                <a:latin typeface="Yu Gothic"/>
                <a:ea typeface="Yu Gothic"/>
                <a:cs typeface="Yu Gothic"/>
              </a:defRPr>
            </a:lvl9pPr>
          </a:lstStyle>
          <a:p xmlns:a="http://schemas.openxmlformats.org/drawingml/2006/main">
            <a:pPr>
              <a:defRPr sz="2325" b="1">
                <a:solidFill>
                  <a:srgbClr val="253C4D"/>
                </a:solidFill>
                <a:latin typeface="Yu Gothic"/>
                <a:ea typeface="Yu Gothic"/>
                <a:cs typeface="Yu Gothic"/>
              </a:defRPr>
            </a:pPr>
            <a:r>
              <a:rPr sz="2325" b="1">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DC168BEA-AF53-4EA3-B59F-769E973C03D4}"/>
              </a:ext>
            </a:extLst>
          </p:cNvPr>
          <p:cNvSpPr>
            <a:spLocks xmlns:a="http://schemas.openxmlformats.org/drawingml/2006/main" noGrp="1"/>
          </p:cNvSpPr>
          <p:nvPr/>
        </p:nvSpPr>
        <p:spPr>
          <a:xfrm xmlns:a="http://schemas.openxmlformats.org/drawingml/2006/main">
            <a:off x="838200" y="2838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9E803330-CCC1-4E74-98D8-3C735797D602}"/>
              </a:ext>
            </a:extLst>
          </p:cNvPr>
          <p:cNvSpPr>
            <a:spLocks xmlns:a="http://schemas.openxmlformats.org/drawingml/2006/main" noGrp="1"/>
          </p:cNvSpPr>
          <p:nvPr/>
        </p:nvSpPr>
        <p:spPr>
          <a:xfrm xmlns:a="http://schemas.openxmlformats.org/drawingml/2006/main">
            <a:off x="838200" y="3790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9D31E284-AF68-465A-9F90-F045DD94578D}"/>
              </a:ext>
            </a:extLst>
          </p:cNvPr>
          <p:cNvSpPr>
            <a:spLocks xmlns:a="http://schemas.openxmlformats.org/drawingml/2006/main" noGrp="1"/>
          </p:cNvSpPr>
          <p:nvPr/>
        </p:nvSpPr>
        <p:spPr>
          <a:xfrm xmlns:a="http://schemas.openxmlformats.org/drawingml/2006/main">
            <a:off x="838200" y="4743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再開したら：配向・剛性・形成された部位へ進みます。</a:t>
            </a:r>
          </a:p>
        </p:txBody>
      </p:sp>
    </p:spTree>
    <p:extLst>
      <p:ext uri="{BB962C8B-B14F-4D97-AF65-F5344CB8AC3E}">
        <p14:creationId xmlns:p14="http://schemas.microsoft.com/office/powerpoint/2010/main" val="5622197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BB001F-B7E0-42DE-BB52-CC236CBACAF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配向・剛性・形成された部位</a:t>
            </a:r>
          </a:p>
        </p:txBody>
      </p:sp>
      <p:sp>
        <p:nvSpPr>
          <p:cNvPr id="2" name="">
            <a:extLst xmlns:a="http://schemas.openxmlformats.org/drawingml/2006/main">
              <a:ext uri="{FF2B5EF4-FFF2-40B4-BE49-F238E27FC236}">
                <a16:creationId xmlns:a16="http://schemas.microsoft.com/office/drawing/2014/main" id="{E54E95F7-4507-4DD5-A7DA-67592A2B064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AF8CF0-3E75-4E70-8207-DDBE4488E0E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4CF24D8C-B9B1-4479-84B2-0EBCE1D0DF0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pic>
        <p:nvPicPr>
          <p:cNvPr id="5" name="">
            <a:extLst xmlns:a="http://schemas.openxmlformats.org/drawingml/2006/main">
              <a:ext uri="{FF2B5EF4-FFF2-40B4-BE49-F238E27FC236}">
                <a16:creationId xmlns:a16="http://schemas.microsoft.com/office/drawing/2014/main" id="{12533372-2241-4F96-9BD0-614CDB2CA672}"/>
              </a:ext>
            </a:extLst>
          </p:cNvPr>
          <p:cNvPicPr>
            <a:picLocks xmlns:a="http://schemas.openxmlformats.org/drawingml/2006/main" noChangeAspect="1"/>
          </p:cNvPicPr>
          <p:nvPr/>
        </p:nvPicPr>
        <p:blipFill>
          <a:blip xmlns:r="http://schemas.openxmlformats.org/officeDocument/2006/relationships" xmlns:a="http://schemas.openxmlformats.org/drawingml/2006/main" r:embed="R1c356326d1ff452a"/>
          <a:stretch xmlns:a="http://schemas.openxmlformats.org/drawingml/2006/main"/>
        </p:blipFill>
        <p:spPr>
          <a:xfrm xmlns:a="http://schemas.openxmlformats.org/drawingml/2006/main">
            <a:off x="1143680" y="1581150"/>
            <a:ext cx="398008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C2A26C8-8C86-488D-8C88-C286036404DD}"/>
              </a:ext>
            </a:extLst>
          </p:cNvPr>
          <p:cNvSpPr>
            <a:spLocks xmlns:a="http://schemas.openxmlformats.org/drawingml/2006/main" noGrp="1"/>
          </p:cNvSpPr>
          <p:nvPr/>
        </p:nvSpPr>
        <p:spPr>
          <a:xfrm xmlns:a="http://schemas.openxmlformats.org/drawingml/2006/main">
            <a:off x="685800" y="5981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hlinkClick xmlns:r="http://schemas.openxmlformats.org/officeDocument/2006/relationships" r:id="Rf8f66a9249a24af8"/>
              </a:rPr>
              <a:t>USDA Wood Handbook 2021, Fig. 3–6（3–7頁）</a:t>
            </a:r>
          </a:p>
        </p:txBody>
      </p:sp>
      <p:sp>
        <p:nvSpPr>
          <p:cNvPr id="7" name="">
            <a:extLst xmlns:a="http://schemas.openxmlformats.org/drawingml/2006/main">
              <a:ext uri="{FF2B5EF4-FFF2-40B4-BE49-F238E27FC236}">
                <a16:creationId xmlns:a16="http://schemas.microsoft.com/office/drawing/2014/main" id="{317B0476-781E-4D93-9027-CCD81CDFF72C}"/>
              </a:ext>
            </a:extLst>
          </p:cNvPr>
          <p:cNvSpPr>
            <a:spLocks xmlns:a="http://schemas.openxmlformats.org/drawingml/2006/main" noGrp="1"/>
          </p:cNvSpPr>
          <p:nvPr/>
        </p:nvSpPr>
        <p:spPr>
          <a:xfrm xmlns:a="http://schemas.openxmlformats.org/drawingml/2006/main">
            <a:off x="5953125" y="18097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defRPr sz="2175" b="1">
                <a:solidFill>
                  <a:srgbClr val="253C4D"/>
                </a:solidFill>
                <a:latin typeface="Yu Gothic"/>
                <a:ea typeface="Yu Gothic"/>
                <a:cs typeface="Yu Gothic"/>
              </a:defRPr>
            </a:lvl1pPr>
            <a:lvl2pPr>
              <a:defRPr sz="2175" b="1">
                <a:solidFill>
                  <a:srgbClr val="253C4D"/>
                </a:solidFill>
                <a:latin typeface="Yu Gothic"/>
                <a:ea typeface="Yu Gothic"/>
                <a:cs typeface="Yu Gothic"/>
              </a:defRPr>
            </a:lvl2pPr>
            <a:lvl3pPr>
              <a:defRPr sz="2175" b="1">
                <a:solidFill>
                  <a:srgbClr val="253C4D"/>
                </a:solidFill>
                <a:latin typeface="Yu Gothic"/>
                <a:ea typeface="Yu Gothic"/>
                <a:cs typeface="Yu Gothic"/>
              </a:defRPr>
            </a:lvl3pPr>
            <a:lvl4pPr>
              <a:defRPr sz="2175" b="1">
                <a:solidFill>
                  <a:srgbClr val="253C4D"/>
                </a:solidFill>
                <a:latin typeface="Yu Gothic"/>
                <a:ea typeface="Yu Gothic"/>
                <a:cs typeface="Yu Gothic"/>
              </a:defRPr>
            </a:lvl4pPr>
            <a:lvl5pPr>
              <a:defRPr sz="2175" b="1">
                <a:solidFill>
                  <a:srgbClr val="253C4D"/>
                </a:solidFill>
                <a:latin typeface="Yu Gothic"/>
                <a:ea typeface="Yu Gothic"/>
                <a:cs typeface="Yu Gothic"/>
              </a:defRPr>
            </a:lvl5pPr>
            <a:lvl6pPr>
              <a:defRPr sz="2175" b="1">
                <a:solidFill>
                  <a:srgbClr val="253C4D"/>
                </a:solidFill>
                <a:latin typeface="Yu Gothic"/>
                <a:ea typeface="Yu Gothic"/>
                <a:cs typeface="Yu Gothic"/>
              </a:defRPr>
            </a:lvl6pPr>
            <a:lvl7pPr>
              <a:defRPr sz="2175" b="1">
                <a:solidFill>
                  <a:srgbClr val="253C4D"/>
                </a:solidFill>
                <a:latin typeface="Yu Gothic"/>
                <a:ea typeface="Yu Gothic"/>
                <a:cs typeface="Yu Gothic"/>
              </a:defRPr>
            </a:lvl7pPr>
            <a:lvl8pPr>
              <a:defRPr sz="2175" b="1">
                <a:solidFill>
                  <a:srgbClr val="253C4D"/>
                </a:solidFill>
                <a:latin typeface="Yu Gothic"/>
                <a:ea typeface="Yu Gothic"/>
                <a:cs typeface="Yu Gothic"/>
              </a:defRPr>
            </a:lvl8pPr>
            <a:lvl9pPr>
              <a:defRPr sz="2175" b="1">
                <a:solidFill>
                  <a:srgbClr val="253C4D"/>
                </a:solidFill>
                <a:latin typeface="Yu Gothic"/>
                <a:ea typeface="Yu Gothic"/>
                <a:cs typeface="Yu Gothic"/>
              </a:defRPr>
            </a:lvl9pPr>
          </a:lstStyle>
          <a:p xmlns:a="http://schemas.openxmlformats.org/drawingml/2006/main">
            <a:pPr>
              <a:defRPr sz="2175" b="1">
                <a:solidFill>
                  <a:srgbClr val="253C4D"/>
                </a:solidFill>
                <a:latin typeface="Yu Gothic"/>
                <a:ea typeface="Yu Gothic"/>
                <a:cs typeface="Yu Gothic"/>
              </a:defRPr>
            </a:pPr>
            <a:r>
              <a:rPr sz="2175" b="1">
                <a:solidFill>
                  <a:srgbClr val="253C4D"/>
                </a:solidFill>
                <a:latin typeface="Yu Gothic"/>
                <a:ea typeface="Yu Gothic"/>
                <a:cs typeface="Yu Gothic"/>
              </a:rPr>
              <a:t>S2 の MFA と、L方向の弾性変形を結ぶ</a:t>
            </a:r>
          </a:p>
        </p:txBody>
      </p:sp>
      <p:sp>
        <p:nvSpPr>
          <p:cNvPr id="8" name="">
            <a:extLst xmlns:a="http://schemas.openxmlformats.org/drawingml/2006/main">
              <a:ext uri="{FF2B5EF4-FFF2-40B4-BE49-F238E27FC236}">
                <a16:creationId xmlns:a16="http://schemas.microsoft.com/office/drawing/2014/main" id="{E7CFBBFE-4375-46EE-B85D-BAE4A4573069}"/>
              </a:ext>
            </a:extLst>
          </p:cNvPr>
          <p:cNvSpPr>
            <a:spLocks xmlns:a="http://schemas.openxmlformats.org/drawingml/2006/main" noGrp="1"/>
          </p:cNvSpPr>
          <p:nvPr/>
        </p:nvSpPr>
        <p:spPr>
          <a:xfrm xmlns:a="http://schemas.openxmlformats.org/drawingml/2006/main">
            <a:off x="5953125" y="278130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未成熟材では MFA が大きいことが多い</a:t>
            </a:r>
          </a:p>
        </p:txBody>
      </p:sp>
      <p:sp>
        <p:nvSpPr>
          <p:cNvPr id="9" name="">
            <a:extLst xmlns:a="http://schemas.openxmlformats.org/drawingml/2006/main">
              <a:ext uri="{FF2B5EF4-FFF2-40B4-BE49-F238E27FC236}">
                <a16:creationId xmlns:a16="http://schemas.microsoft.com/office/drawing/2014/main" id="{16043200-812F-4946-8E16-795988FBB744}"/>
              </a:ext>
            </a:extLst>
          </p:cNvPr>
          <p:cNvSpPr>
            <a:spLocks xmlns:a="http://schemas.openxmlformats.org/drawingml/2006/main" noGrp="1"/>
          </p:cNvSpPr>
          <p:nvPr/>
        </p:nvSpPr>
        <p:spPr>
          <a:xfrm xmlns:a="http://schemas.openxmlformats.org/drawingml/2006/main">
            <a:off x="5953125" y="375285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あて材の特徴は、針葉樹と広葉樹で異なる</a:t>
            </a:r>
          </a:p>
        </p:txBody>
      </p:sp>
      <p:sp>
        <p:nvSpPr>
          <p:cNvPr id="10" name="">
            <a:extLst xmlns:a="http://schemas.openxmlformats.org/drawingml/2006/main">
              <a:ext uri="{FF2B5EF4-FFF2-40B4-BE49-F238E27FC236}">
                <a16:creationId xmlns:a16="http://schemas.microsoft.com/office/drawing/2014/main" id="{72537FFF-DDC8-4790-A1B4-1DA40469B48D}"/>
              </a:ext>
            </a:extLst>
          </p:cNvPr>
          <p:cNvSpPr>
            <a:spLocks xmlns:a="http://schemas.openxmlformats.org/drawingml/2006/main" noGrp="1"/>
          </p:cNvSpPr>
          <p:nvPr/>
        </p:nvSpPr>
        <p:spPr>
          <a:xfrm xmlns:a="http://schemas.openxmlformats.org/drawingml/2006/main">
            <a:off x="5953125" y="4724400"/>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樹種・部位・密度・水分・方向を確認</a:t>
            </a:r>
          </a:p>
        </p:txBody>
      </p:sp>
    </p:spTree>
    <p:extLst>
      <p:ext uri="{BB962C8B-B14F-4D97-AF65-F5344CB8AC3E}">
        <p14:creationId xmlns:p14="http://schemas.microsoft.com/office/powerpoint/2010/main" val="5519010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429C6F-99EE-4C3B-AC9D-760224D2E95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研究例：スギのMFAと根元曲がり</a:t>
            </a:r>
          </a:p>
        </p:txBody>
      </p:sp>
      <p:sp>
        <p:nvSpPr>
          <p:cNvPr id="2" name="">
            <a:extLst xmlns:a="http://schemas.openxmlformats.org/drawingml/2006/main">
              <a:ext uri="{FF2B5EF4-FFF2-40B4-BE49-F238E27FC236}">
                <a16:creationId xmlns:a16="http://schemas.microsoft.com/office/drawing/2014/main" id="{FA6EEDAF-ECE2-4E27-AB2C-7ADB49BE947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8562A0-9A3C-42CE-8541-DDAEAC6DA38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D3E7FFE9-995C-4DC3-8F18-E4B2A6B2C63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45B84ECF-0F17-4E10-AFE4-24A455546E3B}"/>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defRPr sz="2175" b="1">
                <a:solidFill>
                  <a:srgbClr val="253C4D"/>
                </a:solidFill>
                <a:latin typeface="Yu Gothic"/>
                <a:ea typeface="Yu Gothic"/>
                <a:cs typeface="Yu Gothic"/>
              </a:defRPr>
            </a:lvl1pPr>
            <a:lvl2pPr>
              <a:defRPr sz="2175" b="1">
                <a:solidFill>
                  <a:srgbClr val="253C4D"/>
                </a:solidFill>
                <a:latin typeface="Yu Gothic"/>
                <a:ea typeface="Yu Gothic"/>
                <a:cs typeface="Yu Gothic"/>
              </a:defRPr>
            </a:lvl2pPr>
            <a:lvl3pPr>
              <a:defRPr sz="2175" b="1">
                <a:solidFill>
                  <a:srgbClr val="253C4D"/>
                </a:solidFill>
                <a:latin typeface="Yu Gothic"/>
                <a:ea typeface="Yu Gothic"/>
                <a:cs typeface="Yu Gothic"/>
              </a:defRPr>
            </a:lvl3pPr>
            <a:lvl4pPr>
              <a:defRPr sz="2175" b="1">
                <a:solidFill>
                  <a:srgbClr val="253C4D"/>
                </a:solidFill>
                <a:latin typeface="Yu Gothic"/>
                <a:ea typeface="Yu Gothic"/>
                <a:cs typeface="Yu Gothic"/>
              </a:defRPr>
            </a:lvl4pPr>
            <a:lvl5pPr>
              <a:defRPr sz="2175" b="1">
                <a:solidFill>
                  <a:srgbClr val="253C4D"/>
                </a:solidFill>
                <a:latin typeface="Yu Gothic"/>
                <a:ea typeface="Yu Gothic"/>
                <a:cs typeface="Yu Gothic"/>
              </a:defRPr>
            </a:lvl5pPr>
            <a:lvl6pPr>
              <a:defRPr sz="2175" b="1">
                <a:solidFill>
                  <a:srgbClr val="253C4D"/>
                </a:solidFill>
                <a:latin typeface="Yu Gothic"/>
                <a:ea typeface="Yu Gothic"/>
                <a:cs typeface="Yu Gothic"/>
              </a:defRPr>
            </a:lvl6pPr>
            <a:lvl7pPr>
              <a:defRPr sz="2175" b="1">
                <a:solidFill>
                  <a:srgbClr val="253C4D"/>
                </a:solidFill>
                <a:latin typeface="Yu Gothic"/>
                <a:ea typeface="Yu Gothic"/>
                <a:cs typeface="Yu Gothic"/>
              </a:defRPr>
            </a:lvl7pPr>
            <a:lvl8pPr>
              <a:defRPr sz="2175" b="1">
                <a:solidFill>
                  <a:srgbClr val="253C4D"/>
                </a:solidFill>
                <a:latin typeface="Yu Gothic"/>
                <a:ea typeface="Yu Gothic"/>
                <a:cs typeface="Yu Gothic"/>
              </a:defRPr>
            </a:lvl8pPr>
            <a:lvl9pPr>
              <a:defRPr sz="2175" b="1">
                <a:solidFill>
                  <a:srgbClr val="253C4D"/>
                </a:solidFill>
                <a:latin typeface="Yu Gothic"/>
                <a:ea typeface="Yu Gothic"/>
                <a:cs typeface="Yu Gothic"/>
              </a:defRPr>
            </a:lvl9pPr>
          </a:lstStyle>
          <a:p xmlns:a="http://schemas.openxmlformats.org/drawingml/2006/main">
            <a:pPr>
              <a:defRPr sz="2175" b="1">
                <a:solidFill>
                  <a:srgbClr val="253C4D"/>
                </a:solidFill>
                <a:latin typeface="Yu Gothic"/>
                <a:ea typeface="Yu Gothic"/>
                <a:cs typeface="Yu Gothic"/>
              </a:defRPr>
            </a:pPr>
            <a:r>
              <a:rPr sz="2175" b="1">
                <a:solidFill>
                  <a:srgbClr val="253C4D"/>
                </a:solidFill>
                <a:latin typeface="Yu Gothic"/>
                <a:ea typeface="Yu Gothic"/>
                <a:cs typeface="Yu Gothic"/>
              </a:rPr>
              <a:t>宮下ほか（2021）日本森林学会誌 103(2), 71–77</a:t>
            </a:r>
          </a:p>
        </p:txBody>
      </p:sp>
      <p:sp>
        <p:nvSpPr>
          <p:cNvPr id="6" name="">
            <a:extLst xmlns:a="http://schemas.openxmlformats.org/drawingml/2006/main">
              <a:ext uri="{FF2B5EF4-FFF2-40B4-BE49-F238E27FC236}">
                <a16:creationId xmlns:a16="http://schemas.microsoft.com/office/drawing/2014/main" id="{E3AEF59F-83F2-4A71-97EC-1DC9A3AA6F02}"/>
              </a:ext>
            </a:extLst>
          </p:cNvPr>
          <p:cNvSpPr>
            <a:spLocks xmlns:a="http://schemas.openxmlformats.org/drawingml/2006/main" noGrp="1"/>
          </p:cNvSpPr>
          <p:nvPr/>
        </p:nvSpPr>
        <p:spPr>
          <a:xfrm xmlns:a="http://schemas.openxmlformats.org/drawingml/2006/main">
            <a:off x="838200" y="25527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対象：抵抗性6系統と対照6系統のスギ</a:t>
            </a:r>
          </a:p>
        </p:txBody>
      </p:sp>
      <p:sp>
        <p:nvSpPr>
          <p:cNvPr id="7" name="">
            <a:extLst xmlns:a="http://schemas.openxmlformats.org/drawingml/2006/main">
              <a:ext uri="{FF2B5EF4-FFF2-40B4-BE49-F238E27FC236}">
                <a16:creationId xmlns:a16="http://schemas.microsoft.com/office/drawing/2014/main" id="{0E8310B1-3243-4EAD-8FFF-2B0B97DC2AD0}"/>
              </a:ext>
            </a:extLst>
          </p:cNvPr>
          <p:cNvSpPr>
            <a:spLocks xmlns:a="http://schemas.openxmlformats.org/drawingml/2006/main" noGrp="1"/>
          </p:cNvSpPr>
          <p:nvPr/>
        </p:nvSpPr>
        <p:spPr>
          <a:xfrm xmlns:a="http://schemas.openxmlformats.org/drawingml/2006/main">
            <a:off x="838200" y="33909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測定：各年輪の晩材仮道管 S2 の MFA</a:t>
            </a:r>
          </a:p>
        </p:txBody>
      </p:sp>
      <p:sp>
        <p:nvSpPr>
          <p:cNvPr id="8" name="">
            <a:extLst xmlns:a="http://schemas.openxmlformats.org/drawingml/2006/main">
              <a:ext uri="{FF2B5EF4-FFF2-40B4-BE49-F238E27FC236}">
                <a16:creationId xmlns:a16="http://schemas.microsoft.com/office/drawing/2014/main" id="{58F4DF63-3508-42B6-AB33-6CF383AA6084}"/>
              </a:ext>
            </a:extLst>
          </p:cNvPr>
          <p:cNvSpPr>
            <a:spLocks xmlns:a="http://schemas.openxmlformats.org/drawingml/2006/main" noGrp="1"/>
          </p:cNvSpPr>
          <p:nvPr/>
        </p:nvSpPr>
        <p:spPr>
          <a:xfrm xmlns:a="http://schemas.openxmlformats.org/drawingml/2006/main">
            <a:off x="838200" y="42291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結果と、ヤング率・根元曲がりへの考察を区別</a:t>
            </a:r>
          </a:p>
        </p:txBody>
      </p:sp>
      <p:sp>
        <p:nvSpPr>
          <p:cNvPr id="9" name="">
            <a:extLst xmlns:a="http://schemas.openxmlformats.org/drawingml/2006/main">
              <a:ext uri="{FF2B5EF4-FFF2-40B4-BE49-F238E27FC236}">
                <a16:creationId xmlns:a16="http://schemas.microsoft.com/office/drawing/2014/main" id="{184DE762-CA4D-4846-B580-B2DF7FDB938F}"/>
              </a:ext>
            </a:extLst>
          </p:cNvPr>
          <p:cNvSpPr>
            <a:spLocks xmlns:a="http://schemas.openxmlformats.org/drawingml/2006/main" noGrp="1"/>
          </p:cNvSpPr>
          <p:nvPr/>
        </p:nvSpPr>
        <p:spPr>
          <a:xfrm xmlns:a="http://schemas.openxmlformats.org/drawingml/2006/main">
            <a:off x="838200" y="50673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hlinkClick xmlns:r="http://schemas.openxmlformats.org/officeDocument/2006/relationships" r:id="R9793c2d76d584f8c"/>
              </a:rPr>
              <a:t>https://doi.org/10.4005/jjfs.103.71</a:t>
            </a:r>
          </a:p>
        </p:txBody>
      </p:sp>
    </p:spTree>
    <p:extLst>
      <p:ext uri="{BB962C8B-B14F-4D97-AF65-F5344CB8AC3E}">
        <p14:creationId xmlns:p14="http://schemas.microsoft.com/office/powerpoint/2010/main" val="29939740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F1907E3-1A51-4B38-920A-AD2F517D401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目切れ：部材の軸と繊維方向</a:t>
            </a:r>
          </a:p>
        </p:txBody>
      </p:sp>
      <p:sp>
        <p:nvSpPr>
          <p:cNvPr id="2" name="">
            <a:extLst xmlns:a="http://schemas.openxmlformats.org/drawingml/2006/main">
              <a:ext uri="{FF2B5EF4-FFF2-40B4-BE49-F238E27FC236}">
                <a16:creationId xmlns:a16="http://schemas.microsoft.com/office/drawing/2014/main" id="{5D3B89BC-4F30-4C70-A5EE-9ACA0B90179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FBA5E7-CA63-45F0-B1D1-DA394849515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AC0DE457-B710-4425-8B82-5C0D06B899A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7A2155EF-75AF-4F8B-AB79-45E43925808A}"/>
              </a:ext>
            </a:extLst>
          </p:cNvPr>
          <p:cNvSpPr>
            <a:spLocks xmlns:a="http://schemas.openxmlformats.org/drawingml/2006/main" noGrp="1"/>
          </p:cNvSpPr>
          <p:nvPr/>
        </p:nvSpPr>
        <p:spPr>
          <a:xfrm xmlns:a="http://schemas.openxmlformats.org/drawingml/2006/main">
            <a:off x="952500" y="1924050"/>
            <a:ext cx="4667250" cy="1428750"/>
          </a:xfrm>
          <a:prstGeom xmlns:a="http://schemas.openxmlformats.org/drawingml/2006/main" prst="rect">
            <a:avLst/>
          </a:prstGeom>
          <a:solidFill xmlns:a="http://schemas.openxmlformats.org/drawingml/2006/main">
            <a:srgbClr val="F6F1E9"/>
          </a:solidFill>
          <a:ln xmlns:a="http://schemas.openxmlformats.org/drawingml/2006/main" w="19050">
            <a:solidFill>
              <a:srgbClr val="D7B78C"/>
            </a:solidFill>
          </a:ln>
        </p:spPr>
      </p:sp>
      <p:sp>
        <p:nvSpPr>
          <p:cNvPr id="6" name="">
            <a:extLst xmlns:a="http://schemas.openxmlformats.org/drawingml/2006/main">
              <a:ext uri="{FF2B5EF4-FFF2-40B4-BE49-F238E27FC236}">
                <a16:creationId xmlns:a16="http://schemas.microsoft.com/office/drawing/2014/main" id="{6AFA1E17-5324-49EA-AF7A-8651F863BCD9}"/>
              </a:ext>
            </a:extLst>
          </p:cNvPr>
          <p:cNvSpPr>
            <a:spLocks xmlns:a="http://schemas.openxmlformats.org/drawingml/2006/main" noGrp="1"/>
          </p:cNvSpPr>
          <p:nvPr/>
        </p:nvSpPr>
        <p:spPr>
          <a:xfrm xmlns:a="http://schemas.openxmlformats.org/drawingml/2006/main">
            <a:off x="1095375" y="2638425"/>
            <a:ext cx="4381500" cy="9525"/>
          </a:xfrm>
          <a:custGeom xmlns:a="http://schemas.openxmlformats.org/drawingml/2006/main">
            <a:pathLst>
              <a:path w="4381500" h="9525">
                <a:moveTo>
                  <a:pt x="0" y="0"/>
                </a:moveTo>
                <a:lnTo>
                  <a:pt x="4381500" y="0"/>
                </a:lnTo>
              </a:path>
            </a:pathLst>
          </a:custGeom>
          <a:noFill xmlns:a="http://schemas.openxmlformats.org/drawingml/2006/main"/>
          <a:ln xmlns:a="http://schemas.openxmlformats.org/drawingml/2006/main" w="28575">
            <a:solidFill>
              <a:srgbClr val="C4483C"/>
            </a:solidFill>
          </a:ln>
        </p:spPr>
      </p:sp>
      <p:sp>
        <p:nvSpPr>
          <p:cNvPr id="7" name="">
            <a:extLst xmlns:a="http://schemas.openxmlformats.org/drawingml/2006/main">
              <a:ext uri="{FF2B5EF4-FFF2-40B4-BE49-F238E27FC236}">
                <a16:creationId xmlns:a16="http://schemas.microsoft.com/office/drawing/2014/main" id="{CCE7DF34-9FE6-4F9E-A294-6956198D811B}"/>
              </a:ext>
            </a:extLst>
          </p:cNvPr>
          <p:cNvSpPr>
            <a:spLocks xmlns:a="http://schemas.openxmlformats.org/drawingml/2006/main" noGrp="1"/>
          </p:cNvSpPr>
          <p:nvPr/>
        </p:nvSpPr>
        <p:spPr>
          <a:xfrm xmlns:a="http://schemas.openxmlformats.org/drawingml/2006/main">
            <a:off x="1000125" y="2095500"/>
            <a:ext cx="4572000" cy="9525"/>
          </a:xfrm>
          <a:custGeom xmlns:a="http://schemas.openxmlformats.org/drawingml/2006/main">
            <a:pathLst>
              <a:path w="4572000" h="9525">
                <a:moveTo>
                  <a:pt x="0" y="0"/>
                </a:moveTo>
                <a:lnTo>
                  <a:pt x="4572000" y="0"/>
                </a:lnTo>
              </a:path>
            </a:pathLst>
          </a:custGeom>
          <a:noFill xmlns:a="http://schemas.openxmlformats.org/drawingml/2006/main"/>
          <a:ln xmlns:a="http://schemas.openxmlformats.org/drawingml/2006/main" w="28575">
            <a:solidFill>
              <a:srgbClr val="087E8B"/>
            </a:solidFill>
          </a:ln>
        </p:spPr>
      </p:sp>
      <p:sp>
        <p:nvSpPr>
          <p:cNvPr id="8" name="">
            <a:extLst xmlns:a="http://schemas.openxmlformats.org/drawingml/2006/main">
              <a:ext uri="{FF2B5EF4-FFF2-40B4-BE49-F238E27FC236}">
                <a16:creationId xmlns:a16="http://schemas.microsoft.com/office/drawing/2014/main" id="{475A9F0A-37EA-474A-9FF3-4F2B434BE98C}"/>
              </a:ext>
            </a:extLst>
          </p:cNvPr>
          <p:cNvSpPr>
            <a:spLocks xmlns:a="http://schemas.openxmlformats.org/drawingml/2006/main" noGrp="1"/>
          </p:cNvSpPr>
          <p:nvPr/>
        </p:nvSpPr>
        <p:spPr>
          <a:xfrm xmlns:a="http://schemas.openxmlformats.org/drawingml/2006/main">
            <a:off x="1000125" y="2400300"/>
            <a:ext cx="4572000" cy="9525"/>
          </a:xfrm>
          <a:custGeom xmlns:a="http://schemas.openxmlformats.org/drawingml/2006/main">
            <a:pathLst>
              <a:path w="4572000" h="9525">
                <a:moveTo>
                  <a:pt x="0" y="0"/>
                </a:moveTo>
                <a:lnTo>
                  <a:pt x="4572000" y="0"/>
                </a:lnTo>
              </a:path>
            </a:pathLst>
          </a:custGeom>
          <a:noFill xmlns:a="http://schemas.openxmlformats.org/drawingml/2006/main"/>
          <a:ln xmlns:a="http://schemas.openxmlformats.org/drawingml/2006/main" w="28575">
            <a:solidFill>
              <a:srgbClr val="087E8B"/>
            </a:solidFill>
          </a:ln>
        </p:spPr>
      </p:sp>
      <p:sp>
        <p:nvSpPr>
          <p:cNvPr id="9" name="">
            <a:extLst xmlns:a="http://schemas.openxmlformats.org/drawingml/2006/main">
              <a:ext uri="{FF2B5EF4-FFF2-40B4-BE49-F238E27FC236}">
                <a16:creationId xmlns:a16="http://schemas.microsoft.com/office/drawing/2014/main" id="{CC00F4F6-7F86-4EC2-8C69-085F993A0E50}"/>
              </a:ext>
            </a:extLst>
          </p:cNvPr>
          <p:cNvSpPr>
            <a:spLocks xmlns:a="http://schemas.openxmlformats.org/drawingml/2006/main" noGrp="1"/>
          </p:cNvSpPr>
          <p:nvPr/>
        </p:nvSpPr>
        <p:spPr>
          <a:xfrm xmlns:a="http://schemas.openxmlformats.org/drawingml/2006/main">
            <a:off x="1000125" y="2705100"/>
            <a:ext cx="4572000" cy="9525"/>
          </a:xfrm>
          <a:custGeom xmlns:a="http://schemas.openxmlformats.org/drawingml/2006/main">
            <a:pathLst>
              <a:path w="4572000" h="9525">
                <a:moveTo>
                  <a:pt x="0" y="0"/>
                </a:moveTo>
                <a:lnTo>
                  <a:pt x="4572000" y="0"/>
                </a:lnTo>
              </a:path>
            </a:pathLst>
          </a:custGeom>
          <a:noFill xmlns:a="http://schemas.openxmlformats.org/drawingml/2006/main"/>
          <a:ln xmlns:a="http://schemas.openxmlformats.org/drawingml/2006/main" w="28575">
            <a:solidFill>
              <a:srgbClr val="087E8B"/>
            </a:solidFill>
          </a:ln>
        </p:spPr>
      </p:sp>
      <p:sp>
        <p:nvSpPr>
          <p:cNvPr id="10" name="">
            <a:extLst xmlns:a="http://schemas.openxmlformats.org/drawingml/2006/main">
              <a:ext uri="{FF2B5EF4-FFF2-40B4-BE49-F238E27FC236}">
                <a16:creationId xmlns:a16="http://schemas.microsoft.com/office/drawing/2014/main" id="{F4CAC369-2681-4403-B264-2EDBFC1BBB30}"/>
              </a:ext>
            </a:extLst>
          </p:cNvPr>
          <p:cNvSpPr>
            <a:spLocks xmlns:a="http://schemas.openxmlformats.org/drawingml/2006/main" noGrp="1"/>
          </p:cNvSpPr>
          <p:nvPr/>
        </p:nvSpPr>
        <p:spPr>
          <a:xfrm xmlns:a="http://schemas.openxmlformats.org/drawingml/2006/main">
            <a:off x="1000125" y="3009900"/>
            <a:ext cx="4572000" cy="9525"/>
          </a:xfrm>
          <a:custGeom xmlns:a="http://schemas.openxmlformats.org/drawingml/2006/main">
            <a:pathLst>
              <a:path w="4572000" h="9525">
                <a:moveTo>
                  <a:pt x="0" y="0"/>
                </a:moveTo>
                <a:lnTo>
                  <a:pt x="4572000" y="0"/>
                </a:lnTo>
              </a:path>
            </a:pathLst>
          </a:custGeom>
          <a:noFill xmlns:a="http://schemas.openxmlformats.org/drawingml/2006/main"/>
          <a:ln xmlns:a="http://schemas.openxmlformats.org/drawingml/2006/main" w="28575">
            <a:solidFill>
              <a:srgbClr val="087E8B"/>
            </a:solidFill>
          </a:ln>
        </p:spPr>
      </p:sp>
      <p:sp>
        <p:nvSpPr>
          <p:cNvPr id="11" name="">
            <a:extLst xmlns:a="http://schemas.openxmlformats.org/drawingml/2006/main">
              <a:ext uri="{FF2B5EF4-FFF2-40B4-BE49-F238E27FC236}">
                <a16:creationId xmlns:a16="http://schemas.microsoft.com/office/drawing/2014/main" id="{55B40A24-366F-450E-862B-6AC45FD837A1}"/>
              </a:ext>
            </a:extLst>
          </p:cNvPr>
          <p:cNvSpPr>
            <a:spLocks xmlns:a="http://schemas.openxmlformats.org/drawingml/2006/main" noGrp="1"/>
          </p:cNvSpPr>
          <p:nvPr/>
        </p:nvSpPr>
        <p:spPr>
          <a:xfrm xmlns:a="http://schemas.openxmlformats.org/drawingml/2006/main">
            <a:off x="952500" y="3476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defRPr sz="1950" b="1">
                <a:solidFill>
                  <a:srgbClr val="18364F"/>
                </a:solidFill>
                <a:latin typeface="Yu Gothic"/>
                <a:ea typeface="Yu Gothic"/>
                <a:cs typeface="Yu Gothic"/>
              </a:defRPr>
            </a:lvl1pPr>
            <a:lvl2pPr>
              <a:defRPr sz="1950" b="1">
                <a:solidFill>
                  <a:srgbClr val="18364F"/>
                </a:solidFill>
                <a:latin typeface="Yu Gothic"/>
                <a:ea typeface="Yu Gothic"/>
                <a:cs typeface="Yu Gothic"/>
              </a:defRPr>
            </a:lvl2pPr>
            <a:lvl3pPr>
              <a:defRPr sz="1950" b="1">
                <a:solidFill>
                  <a:srgbClr val="18364F"/>
                </a:solidFill>
                <a:latin typeface="Yu Gothic"/>
                <a:ea typeface="Yu Gothic"/>
                <a:cs typeface="Yu Gothic"/>
              </a:defRPr>
            </a:lvl3pPr>
            <a:lvl4pPr>
              <a:defRPr sz="1950" b="1">
                <a:solidFill>
                  <a:srgbClr val="18364F"/>
                </a:solidFill>
                <a:latin typeface="Yu Gothic"/>
                <a:ea typeface="Yu Gothic"/>
                <a:cs typeface="Yu Gothic"/>
              </a:defRPr>
            </a:lvl4pPr>
            <a:lvl5pPr>
              <a:defRPr sz="1950" b="1">
                <a:solidFill>
                  <a:srgbClr val="18364F"/>
                </a:solidFill>
                <a:latin typeface="Yu Gothic"/>
                <a:ea typeface="Yu Gothic"/>
                <a:cs typeface="Yu Gothic"/>
              </a:defRPr>
            </a:lvl5pPr>
            <a:lvl6pPr>
              <a:defRPr sz="1950" b="1">
                <a:solidFill>
                  <a:srgbClr val="18364F"/>
                </a:solidFill>
                <a:latin typeface="Yu Gothic"/>
                <a:ea typeface="Yu Gothic"/>
                <a:cs typeface="Yu Gothic"/>
              </a:defRPr>
            </a:lvl6pPr>
            <a:lvl7pPr>
              <a:defRPr sz="1950" b="1">
                <a:solidFill>
                  <a:srgbClr val="18364F"/>
                </a:solidFill>
                <a:latin typeface="Yu Gothic"/>
                <a:ea typeface="Yu Gothic"/>
                <a:cs typeface="Yu Gothic"/>
              </a:defRPr>
            </a:lvl7pPr>
            <a:lvl8pPr>
              <a:defRPr sz="1950" b="1">
                <a:solidFill>
                  <a:srgbClr val="18364F"/>
                </a:solidFill>
                <a:latin typeface="Yu Gothic"/>
                <a:ea typeface="Yu Gothic"/>
                <a:cs typeface="Yu Gothic"/>
              </a:defRPr>
            </a:lvl8pPr>
            <a:lvl9pPr>
              <a:defRPr sz="1950" b="1">
                <a:solidFill>
                  <a:srgbClr val="18364F"/>
                </a:solidFill>
                <a:latin typeface="Yu Gothic"/>
                <a:ea typeface="Yu Gothic"/>
                <a:cs typeface="Yu Gothic"/>
              </a:defRPr>
            </a:lvl9pPr>
          </a:lstStyle>
          <a:p xmlns:a="http://schemas.openxmlformats.org/drawingml/2006/main">
            <a:pPr>
              <a:defRPr sz="1950" b="1">
                <a:solidFill>
                  <a:srgbClr val="18364F"/>
                </a:solidFill>
                <a:latin typeface="Yu Gothic"/>
                <a:ea typeface="Yu Gothic"/>
                <a:cs typeface="Yu Gothic"/>
              </a:defRPr>
            </a:pPr>
            <a:r>
              <a:rPr sz="1950" b="1">
                <a:solidFill>
                  <a:srgbClr val="18364F"/>
                </a:solidFill>
                <a:latin typeface="Yu Gothic"/>
                <a:ea typeface="Yu Gothic"/>
                <a:cs typeface="Yu Gothic"/>
              </a:rPr>
              <a:t>繊維が部材の長手に沿う</a:t>
            </a:r>
          </a:p>
        </p:txBody>
      </p:sp>
      <p:sp>
        <p:nvSpPr>
          <p:cNvPr id="12" name="">
            <a:extLst xmlns:a="http://schemas.openxmlformats.org/drawingml/2006/main">
              <a:ext uri="{FF2B5EF4-FFF2-40B4-BE49-F238E27FC236}">
                <a16:creationId xmlns:a16="http://schemas.microsoft.com/office/drawing/2014/main" id="{246144A2-3FCC-43A4-8C9E-DA28C426DCFC}"/>
              </a:ext>
            </a:extLst>
          </p:cNvPr>
          <p:cNvSpPr>
            <a:spLocks xmlns:a="http://schemas.openxmlformats.org/drawingml/2006/main" noGrp="1"/>
          </p:cNvSpPr>
          <p:nvPr/>
        </p:nvSpPr>
        <p:spPr>
          <a:xfrm xmlns:a="http://schemas.openxmlformats.org/drawingml/2006/main">
            <a:off x="6381750" y="1924050"/>
            <a:ext cx="4667250" cy="1428750"/>
          </a:xfrm>
          <a:prstGeom xmlns:a="http://schemas.openxmlformats.org/drawingml/2006/main" prst="rect">
            <a:avLst/>
          </a:prstGeom>
          <a:solidFill xmlns:a="http://schemas.openxmlformats.org/drawingml/2006/main">
            <a:srgbClr val="F6F1E9"/>
          </a:solidFill>
          <a:ln xmlns:a="http://schemas.openxmlformats.org/drawingml/2006/main" w="19050">
            <a:solidFill>
              <a:srgbClr val="D7B78C"/>
            </a:solidFill>
          </a:ln>
        </p:spPr>
      </p:sp>
      <p:sp>
        <p:nvSpPr>
          <p:cNvPr id="13" name="">
            <a:extLst xmlns:a="http://schemas.openxmlformats.org/drawingml/2006/main">
              <a:ext uri="{FF2B5EF4-FFF2-40B4-BE49-F238E27FC236}">
                <a16:creationId xmlns:a16="http://schemas.microsoft.com/office/drawing/2014/main" id="{FC42FC16-3FEC-46F9-B4D4-3CE294046437}"/>
              </a:ext>
            </a:extLst>
          </p:cNvPr>
          <p:cNvSpPr>
            <a:spLocks xmlns:a="http://schemas.openxmlformats.org/drawingml/2006/main" noGrp="1"/>
          </p:cNvSpPr>
          <p:nvPr/>
        </p:nvSpPr>
        <p:spPr>
          <a:xfrm xmlns:a="http://schemas.openxmlformats.org/drawingml/2006/main">
            <a:off x="6524625" y="2638425"/>
            <a:ext cx="4381500" cy="9525"/>
          </a:xfrm>
          <a:custGeom xmlns:a="http://schemas.openxmlformats.org/drawingml/2006/main">
            <a:pathLst>
              <a:path w="4381500" h="9525">
                <a:moveTo>
                  <a:pt x="0" y="0"/>
                </a:moveTo>
                <a:lnTo>
                  <a:pt x="4381500" y="0"/>
                </a:lnTo>
              </a:path>
            </a:pathLst>
          </a:custGeom>
          <a:noFill xmlns:a="http://schemas.openxmlformats.org/drawingml/2006/main"/>
          <a:ln xmlns:a="http://schemas.openxmlformats.org/drawingml/2006/main" w="28575">
            <a:solidFill>
              <a:srgbClr val="C4483C"/>
            </a:solidFill>
          </a:ln>
        </p:spPr>
      </p:sp>
      <p:sp>
        <p:nvSpPr>
          <p:cNvPr id="14" name="">
            <a:extLst xmlns:a="http://schemas.openxmlformats.org/drawingml/2006/main">
              <a:ext uri="{FF2B5EF4-FFF2-40B4-BE49-F238E27FC236}">
                <a16:creationId xmlns:a16="http://schemas.microsoft.com/office/drawing/2014/main" id="{E3220606-54B3-493E-80C3-14BAE6EEA6FB}"/>
              </a:ext>
            </a:extLst>
          </p:cNvPr>
          <p:cNvSpPr>
            <a:spLocks xmlns:a="http://schemas.openxmlformats.org/drawingml/2006/main" noGrp="1"/>
          </p:cNvSpPr>
          <p:nvPr/>
        </p:nvSpPr>
        <p:spPr>
          <a:xfrm xmlns:a="http://schemas.openxmlformats.org/drawingml/2006/main">
            <a:off x="6810375" y="1971675"/>
            <a:ext cx="1000125" cy="1333500"/>
          </a:xfrm>
          <a:custGeom xmlns:a="http://schemas.openxmlformats.org/drawingml/2006/main">
            <a:pathLst>
              <a:path w="1000125" h="1333500">
                <a:moveTo>
                  <a:pt x="0" y="1333500"/>
                </a:moveTo>
                <a:lnTo>
                  <a:pt x="1000125" y="0"/>
                </a:lnTo>
              </a:path>
            </a:pathLst>
          </a:custGeom>
          <a:noFill xmlns:a="http://schemas.openxmlformats.org/drawingml/2006/main"/>
          <a:ln xmlns:a="http://schemas.openxmlformats.org/drawingml/2006/main" w="28575">
            <a:solidFill>
              <a:srgbClr val="087E8B"/>
            </a:solidFill>
          </a:ln>
        </p:spPr>
      </p:sp>
      <p:sp>
        <p:nvSpPr>
          <p:cNvPr id="15" name="">
            <a:extLst xmlns:a="http://schemas.openxmlformats.org/drawingml/2006/main">
              <a:ext uri="{FF2B5EF4-FFF2-40B4-BE49-F238E27FC236}">
                <a16:creationId xmlns:a16="http://schemas.microsoft.com/office/drawing/2014/main" id="{E119E0F9-0619-45C4-8FBB-0907764BDCDE}"/>
              </a:ext>
            </a:extLst>
          </p:cNvPr>
          <p:cNvSpPr>
            <a:spLocks xmlns:a="http://schemas.openxmlformats.org/drawingml/2006/main" noGrp="1"/>
          </p:cNvSpPr>
          <p:nvPr/>
        </p:nvSpPr>
        <p:spPr>
          <a:xfrm xmlns:a="http://schemas.openxmlformats.org/drawingml/2006/main">
            <a:off x="7810500" y="1971675"/>
            <a:ext cx="1000125" cy="1333500"/>
          </a:xfrm>
          <a:custGeom xmlns:a="http://schemas.openxmlformats.org/drawingml/2006/main">
            <a:pathLst>
              <a:path w="1000125" h="1333500">
                <a:moveTo>
                  <a:pt x="0" y="1333500"/>
                </a:moveTo>
                <a:lnTo>
                  <a:pt x="1000125" y="0"/>
                </a:lnTo>
              </a:path>
            </a:pathLst>
          </a:custGeom>
          <a:noFill xmlns:a="http://schemas.openxmlformats.org/drawingml/2006/main"/>
          <a:ln xmlns:a="http://schemas.openxmlformats.org/drawingml/2006/main" w="28575">
            <a:solidFill>
              <a:srgbClr val="087E8B"/>
            </a:solidFill>
          </a:ln>
        </p:spPr>
      </p:sp>
      <p:sp>
        <p:nvSpPr>
          <p:cNvPr id="16" name="">
            <a:extLst xmlns:a="http://schemas.openxmlformats.org/drawingml/2006/main">
              <a:ext uri="{FF2B5EF4-FFF2-40B4-BE49-F238E27FC236}">
                <a16:creationId xmlns:a16="http://schemas.microsoft.com/office/drawing/2014/main" id="{77F7EAFA-6026-433C-87CD-4CDD0C5F0C49}"/>
              </a:ext>
            </a:extLst>
          </p:cNvPr>
          <p:cNvSpPr>
            <a:spLocks xmlns:a="http://schemas.openxmlformats.org/drawingml/2006/main" noGrp="1"/>
          </p:cNvSpPr>
          <p:nvPr/>
        </p:nvSpPr>
        <p:spPr>
          <a:xfrm xmlns:a="http://schemas.openxmlformats.org/drawingml/2006/main">
            <a:off x="8810625" y="1971675"/>
            <a:ext cx="1000125" cy="1333500"/>
          </a:xfrm>
          <a:custGeom xmlns:a="http://schemas.openxmlformats.org/drawingml/2006/main">
            <a:pathLst>
              <a:path w="1000125" h="1333500">
                <a:moveTo>
                  <a:pt x="0" y="1333500"/>
                </a:moveTo>
                <a:lnTo>
                  <a:pt x="1000125" y="0"/>
                </a:lnTo>
              </a:path>
            </a:pathLst>
          </a:custGeom>
          <a:noFill xmlns:a="http://schemas.openxmlformats.org/drawingml/2006/main"/>
          <a:ln xmlns:a="http://schemas.openxmlformats.org/drawingml/2006/main" w="28575">
            <a:solidFill>
              <a:srgbClr val="087E8B"/>
            </a:solidFill>
          </a:ln>
        </p:spPr>
      </p:sp>
      <p:sp>
        <p:nvSpPr>
          <p:cNvPr id="17" name="">
            <a:extLst xmlns:a="http://schemas.openxmlformats.org/drawingml/2006/main">
              <a:ext uri="{FF2B5EF4-FFF2-40B4-BE49-F238E27FC236}">
                <a16:creationId xmlns:a16="http://schemas.microsoft.com/office/drawing/2014/main" id="{E1B65251-7775-4B38-93E7-B9A60B0C8EA9}"/>
              </a:ext>
            </a:extLst>
          </p:cNvPr>
          <p:cNvSpPr>
            <a:spLocks xmlns:a="http://schemas.openxmlformats.org/drawingml/2006/main" noGrp="1"/>
          </p:cNvSpPr>
          <p:nvPr/>
        </p:nvSpPr>
        <p:spPr>
          <a:xfrm xmlns:a="http://schemas.openxmlformats.org/drawingml/2006/main">
            <a:off x="9810750" y="1971675"/>
            <a:ext cx="1000125" cy="1333500"/>
          </a:xfrm>
          <a:custGeom xmlns:a="http://schemas.openxmlformats.org/drawingml/2006/main">
            <a:pathLst>
              <a:path w="1000125" h="1333500">
                <a:moveTo>
                  <a:pt x="0" y="1333500"/>
                </a:moveTo>
                <a:lnTo>
                  <a:pt x="1000125" y="0"/>
                </a:lnTo>
              </a:path>
            </a:pathLst>
          </a:custGeom>
          <a:noFill xmlns:a="http://schemas.openxmlformats.org/drawingml/2006/main"/>
          <a:ln xmlns:a="http://schemas.openxmlformats.org/drawingml/2006/main" w="28575">
            <a:solidFill>
              <a:srgbClr val="087E8B"/>
            </a:solidFill>
          </a:ln>
        </p:spPr>
      </p:sp>
      <p:sp>
        <p:nvSpPr>
          <p:cNvPr id="18" name="">
            <a:extLst xmlns:a="http://schemas.openxmlformats.org/drawingml/2006/main">
              <a:ext uri="{FF2B5EF4-FFF2-40B4-BE49-F238E27FC236}">
                <a16:creationId xmlns:a16="http://schemas.microsoft.com/office/drawing/2014/main" id="{1A0CA80B-408A-4166-BF95-BEE0D85EB798}"/>
              </a:ext>
            </a:extLst>
          </p:cNvPr>
          <p:cNvSpPr>
            <a:spLocks xmlns:a="http://schemas.openxmlformats.org/drawingml/2006/main" noGrp="1"/>
          </p:cNvSpPr>
          <p:nvPr/>
        </p:nvSpPr>
        <p:spPr>
          <a:xfrm xmlns:a="http://schemas.openxmlformats.org/drawingml/2006/main">
            <a:off x="6381750" y="3476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defRPr sz="1950" b="1">
                <a:solidFill>
                  <a:srgbClr val="18364F"/>
                </a:solidFill>
                <a:latin typeface="Yu Gothic"/>
                <a:ea typeface="Yu Gothic"/>
                <a:cs typeface="Yu Gothic"/>
              </a:defRPr>
            </a:lvl1pPr>
            <a:lvl2pPr>
              <a:defRPr sz="1950" b="1">
                <a:solidFill>
                  <a:srgbClr val="18364F"/>
                </a:solidFill>
                <a:latin typeface="Yu Gothic"/>
                <a:ea typeface="Yu Gothic"/>
                <a:cs typeface="Yu Gothic"/>
              </a:defRPr>
            </a:lvl2pPr>
            <a:lvl3pPr>
              <a:defRPr sz="1950" b="1">
                <a:solidFill>
                  <a:srgbClr val="18364F"/>
                </a:solidFill>
                <a:latin typeface="Yu Gothic"/>
                <a:ea typeface="Yu Gothic"/>
                <a:cs typeface="Yu Gothic"/>
              </a:defRPr>
            </a:lvl3pPr>
            <a:lvl4pPr>
              <a:defRPr sz="1950" b="1">
                <a:solidFill>
                  <a:srgbClr val="18364F"/>
                </a:solidFill>
                <a:latin typeface="Yu Gothic"/>
                <a:ea typeface="Yu Gothic"/>
                <a:cs typeface="Yu Gothic"/>
              </a:defRPr>
            </a:lvl4pPr>
            <a:lvl5pPr>
              <a:defRPr sz="1950" b="1">
                <a:solidFill>
                  <a:srgbClr val="18364F"/>
                </a:solidFill>
                <a:latin typeface="Yu Gothic"/>
                <a:ea typeface="Yu Gothic"/>
                <a:cs typeface="Yu Gothic"/>
              </a:defRPr>
            </a:lvl5pPr>
            <a:lvl6pPr>
              <a:defRPr sz="1950" b="1">
                <a:solidFill>
                  <a:srgbClr val="18364F"/>
                </a:solidFill>
                <a:latin typeface="Yu Gothic"/>
                <a:ea typeface="Yu Gothic"/>
                <a:cs typeface="Yu Gothic"/>
              </a:defRPr>
            </a:lvl6pPr>
            <a:lvl7pPr>
              <a:defRPr sz="1950" b="1">
                <a:solidFill>
                  <a:srgbClr val="18364F"/>
                </a:solidFill>
                <a:latin typeface="Yu Gothic"/>
                <a:ea typeface="Yu Gothic"/>
                <a:cs typeface="Yu Gothic"/>
              </a:defRPr>
            </a:lvl7pPr>
            <a:lvl8pPr>
              <a:defRPr sz="1950" b="1">
                <a:solidFill>
                  <a:srgbClr val="18364F"/>
                </a:solidFill>
                <a:latin typeface="Yu Gothic"/>
                <a:ea typeface="Yu Gothic"/>
                <a:cs typeface="Yu Gothic"/>
              </a:defRPr>
            </a:lvl8pPr>
            <a:lvl9pPr>
              <a:defRPr sz="1950" b="1">
                <a:solidFill>
                  <a:srgbClr val="18364F"/>
                </a:solidFill>
                <a:latin typeface="Yu Gothic"/>
                <a:ea typeface="Yu Gothic"/>
                <a:cs typeface="Yu Gothic"/>
              </a:defRPr>
            </a:lvl9pPr>
          </a:lstStyle>
          <a:p xmlns:a="http://schemas.openxmlformats.org/drawingml/2006/main">
            <a:pPr>
              <a:defRPr sz="1950" b="1">
                <a:solidFill>
                  <a:srgbClr val="18364F"/>
                </a:solidFill>
                <a:latin typeface="Yu Gothic"/>
                <a:ea typeface="Yu Gothic"/>
                <a:cs typeface="Yu Gothic"/>
              </a:defRPr>
            </a:pPr>
            <a:r>
              <a:rPr sz="1950" b="1">
                <a:solidFill>
                  <a:srgbClr val="18364F"/>
                </a:solidFill>
                <a:latin typeface="Yu Gothic"/>
                <a:ea typeface="Yu Gothic"/>
                <a:cs typeface="Yu Gothic"/>
              </a:rPr>
              <a:t>目切れ：繊維が側面へ抜ける</a:t>
            </a:r>
          </a:p>
        </p:txBody>
      </p:sp>
      <p:sp>
        <p:nvSpPr>
          <p:cNvPr id="19" name="">
            <a:extLst xmlns:a="http://schemas.openxmlformats.org/drawingml/2006/main">
              <a:ext uri="{FF2B5EF4-FFF2-40B4-BE49-F238E27FC236}">
                <a16:creationId xmlns:a16="http://schemas.microsoft.com/office/drawing/2014/main" id="{1693EE25-4F64-4F51-8089-9ED43F5E92A4}"/>
              </a:ext>
            </a:extLst>
          </p:cNvPr>
          <p:cNvSpPr>
            <a:spLocks xmlns:a="http://schemas.openxmlformats.org/drawingml/2006/main" noGrp="1"/>
          </p:cNvSpPr>
          <p:nvPr/>
        </p:nvSpPr>
        <p:spPr>
          <a:xfrm xmlns:a="http://schemas.openxmlformats.org/drawingml/2006/main">
            <a:off x="838200" y="45529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53C4D"/>
                </a:solidFill>
                <a:latin typeface="Yu Gothic"/>
                <a:ea typeface="Yu Gothic"/>
                <a:cs typeface="Yu Gothic"/>
              </a:defRPr>
            </a:defPPr>
            <a:lvl1pPr>
              <a:defRPr sz="2100" b="1">
                <a:solidFill>
                  <a:srgbClr val="253C4D"/>
                </a:solidFill>
                <a:latin typeface="Yu Gothic"/>
                <a:ea typeface="Yu Gothic"/>
                <a:cs typeface="Yu Gothic"/>
              </a:defRPr>
            </a:lvl1pPr>
            <a:lvl2pPr>
              <a:defRPr sz="2100" b="1">
                <a:solidFill>
                  <a:srgbClr val="253C4D"/>
                </a:solidFill>
                <a:latin typeface="Yu Gothic"/>
                <a:ea typeface="Yu Gothic"/>
                <a:cs typeface="Yu Gothic"/>
              </a:defRPr>
            </a:lvl2pPr>
            <a:lvl3pPr>
              <a:defRPr sz="2100" b="1">
                <a:solidFill>
                  <a:srgbClr val="253C4D"/>
                </a:solidFill>
                <a:latin typeface="Yu Gothic"/>
                <a:ea typeface="Yu Gothic"/>
                <a:cs typeface="Yu Gothic"/>
              </a:defRPr>
            </a:lvl3pPr>
            <a:lvl4pPr>
              <a:defRPr sz="2100" b="1">
                <a:solidFill>
                  <a:srgbClr val="253C4D"/>
                </a:solidFill>
                <a:latin typeface="Yu Gothic"/>
                <a:ea typeface="Yu Gothic"/>
                <a:cs typeface="Yu Gothic"/>
              </a:defRPr>
            </a:lvl4pPr>
            <a:lvl5pPr>
              <a:defRPr sz="2100" b="1">
                <a:solidFill>
                  <a:srgbClr val="253C4D"/>
                </a:solidFill>
                <a:latin typeface="Yu Gothic"/>
                <a:ea typeface="Yu Gothic"/>
                <a:cs typeface="Yu Gothic"/>
              </a:defRPr>
            </a:lvl5pPr>
            <a:lvl6pPr>
              <a:defRPr sz="2100" b="1">
                <a:solidFill>
                  <a:srgbClr val="253C4D"/>
                </a:solidFill>
                <a:latin typeface="Yu Gothic"/>
                <a:ea typeface="Yu Gothic"/>
                <a:cs typeface="Yu Gothic"/>
              </a:defRPr>
            </a:lvl6pPr>
            <a:lvl7pPr>
              <a:defRPr sz="2100" b="1">
                <a:solidFill>
                  <a:srgbClr val="253C4D"/>
                </a:solidFill>
                <a:latin typeface="Yu Gothic"/>
                <a:ea typeface="Yu Gothic"/>
                <a:cs typeface="Yu Gothic"/>
              </a:defRPr>
            </a:lvl7pPr>
            <a:lvl8pPr>
              <a:defRPr sz="2100" b="1">
                <a:solidFill>
                  <a:srgbClr val="253C4D"/>
                </a:solidFill>
                <a:latin typeface="Yu Gothic"/>
                <a:ea typeface="Yu Gothic"/>
                <a:cs typeface="Yu Gothic"/>
              </a:defRPr>
            </a:lvl8pPr>
            <a:lvl9pPr>
              <a:defRPr sz="2100" b="1">
                <a:solidFill>
                  <a:srgbClr val="253C4D"/>
                </a:solidFill>
                <a:latin typeface="Yu Gothic"/>
                <a:ea typeface="Yu Gothic"/>
                <a:cs typeface="Yu Gothic"/>
              </a:defRPr>
            </a:lvl9pPr>
          </a:lstStyle>
          <a:p xmlns:a="http://schemas.openxmlformats.org/drawingml/2006/main">
            <a:pPr>
              <a:defRPr sz="2100" b="1">
                <a:solidFill>
                  <a:srgbClr val="253C4D"/>
                </a:solidFill>
                <a:latin typeface="Yu Gothic"/>
                <a:ea typeface="Yu Gothic"/>
                <a:cs typeface="Yu Gothic"/>
              </a:defRPr>
            </a:pPr>
            <a:r>
              <a:rPr sz="2100" b="1">
                <a:solidFill>
                  <a:srgbClr val="253C4D"/>
                </a:solidFill>
                <a:latin typeface="Yu Gothic"/>
                <a:ea typeface="Yu Gothic"/>
                <a:cs typeface="Yu Gothic"/>
              </a:rPr>
              <a:t>比較する向き：部材の長手方向と繊維方向</a:t>
            </a:r>
          </a:p>
        </p:txBody>
      </p:sp>
      <p:sp>
        <p:nvSpPr>
          <p:cNvPr id="20" name="">
            <a:extLst xmlns:a="http://schemas.openxmlformats.org/drawingml/2006/main">
              <a:ext uri="{FF2B5EF4-FFF2-40B4-BE49-F238E27FC236}">
                <a16:creationId xmlns:a16="http://schemas.microsoft.com/office/drawing/2014/main" id="{FECD6980-8E1E-4AA4-AC59-5F084606A43A}"/>
              </a:ext>
            </a:extLst>
          </p:cNvPr>
          <p:cNvSpPr>
            <a:spLocks xmlns:a="http://schemas.openxmlformats.org/drawingml/2006/main" noGrp="1"/>
          </p:cNvSpPr>
          <p:nvPr/>
        </p:nvSpPr>
        <p:spPr>
          <a:xfrm xmlns:a="http://schemas.openxmlformats.org/drawingml/2006/main">
            <a:off x="838200" y="5076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MFA：細胞軸と、壁内部のミクロフィブリルの向き</a:t>
            </a:r>
          </a:p>
        </p:txBody>
      </p:sp>
      <p:sp>
        <p:nvSpPr>
          <p:cNvPr id="21" name="">
            <a:extLst xmlns:a="http://schemas.openxmlformats.org/drawingml/2006/main">
              <a:ext uri="{FF2B5EF4-FFF2-40B4-BE49-F238E27FC236}">
                <a16:creationId xmlns:a16="http://schemas.microsoft.com/office/drawing/2014/main" id="{EF9D3366-0683-49A0-8614-FBE0735EE7F7}"/>
              </a:ext>
            </a:extLst>
          </p:cNvPr>
          <p:cNvSpPr>
            <a:spLocks xmlns:a="http://schemas.openxmlformats.org/drawingml/2006/main" noGrp="1"/>
          </p:cNvSpPr>
          <p:nvPr/>
        </p:nvSpPr>
        <p:spPr>
          <a:xfrm xmlns:a="http://schemas.openxmlformats.org/drawingml/2006/main">
            <a:off x="838200" y="56007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同じ「傾き」でも、基準と尺度が異なる</a:t>
            </a:r>
          </a:p>
        </p:txBody>
      </p:sp>
    </p:spTree>
    <p:extLst>
      <p:ext uri="{BB962C8B-B14F-4D97-AF65-F5344CB8AC3E}">
        <p14:creationId xmlns:p14="http://schemas.microsoft.com/office/powerpoint/2010/main" val="70918200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504B60-8E08-4831-B566-1135EAA5594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基準線を使った説明</a:t>
            </a:r>
          </a:p>
        </p:txBody>
      </p:sp>
      <p:sp>
        <p:nvSpPr>
          <p:cNvPr id="2" name="">
            <a:extLst xmlns:a="http://schemas.openxmlformats.org/drawingml/2006/main">
              <a:ext uri="{FF2B5EF4-FFF2-40B4-BE49-F238E27FC236}">
                <a16:creationId xmlns:a16="http://schemas.microsoft.com/office/drawing/2014/main" id="{6ACDD8EC-9CCB-4949-8D1F-820EB936ED5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3CCD12-5104-4A03-AF1D-4F50F021786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034571C5-240F-43E2-B2B5-A68526ACF11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D51CDFBD-301C-4E41-BBB3-384A33552E73}"/>
              </a:ext>
            </a:extLst>
          </p:cNvPr>
          <p:cNvSpPr>
            <a:spLocks xmlns:a="http://schemas.openxmlformats.org/drawingml/2006/main" noGrp="1"/>
          </p:cNvSpPr>
          <p:nvPr/>
        </p:nvSpPr>
        <p:spPr>
          <a:xfrm xmlns:a="http://schemas.openxmlformats.org/drawingml/2006/main">
            <a:off x="838200" y="16383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53C4D"/>
                </a:solidFill>
                <a:latin typeface="Yu Gothic"/>
                <a:ea typeface="Yu Gothic"/>
                <a:cs typeface="Yu Gothic"/>
              </a:defRPr>
            </a:defPPr>
            <a:lvl1pPr>
              <a:defRPr sz="2100" b="1">
                <a:solidFill>
                  <a:srgbClr val="253C4D"/>
                </a:solidFill>
                <a:latin typeface="Yu Gothic"/>
                <a:ea typeface="Yu Gothic"/>
                <a:cs typeface="Yu Gothic"/>
              </a:defRPr>
            </a:lvl1pPr>
            <a:lvl2pPr>
              <a:defRPr sz="2100" b="1">
                <a:solidFill>
                  <a:srgbClr val="253C4D"/>
                </a:solidFill>
                <a:latin typeface="Yu Gothic"/>
                <a:ea typeface="Yu Gothic"/>
                <a:cs typeface="Yu Gothic"/>
              </a:defRPr>
            </a:lvl2pPr>
            <a:lvl3pPr>
              <a:defRPr sz="2100" b="1">
                <a:solidFill>
                  <a:srgbClr val="253C4D"/>
                </a:solidFill>
                <a:latin typeface="Yu Gothic"/>
                <a:ea typeface="Yu Gothic"/>
                <a:cs typeface="Yu Gothic"/>
              </a:defRPr>
            </a:lvl3pPr>
            <a:lvl4pPr>
              <a:defRPr sz="2100" b="1">
                <a:solidFill>
                  <a:srgbClr val="253C4D"/>
                </a:solidFill>
                <a:latin typeface="Yu Gothic"/>
                <a:ea typeface="Yu Gothic"/>
                <a:cs typeface="Yu Gothic"/>
              </a:defRPr>
            </a:lvl4pPr>
            <a:lvl5pPr>
              <a:defRPr sz="2100" b="1">
                <a:solidFill>
                  <a:srgbClr val="253C4D"/>
                </a:solidFill>
                <a:latin typeface="Yu Gothic"/>
                <a:ea typeface="Yu Gothic"/>
                <a:cs typeface="Yu Gothic"/>
              </a:defRPr>
            </a:lvl5pPr>
            <a:lvl6pPr>
              <a:defRPr sz="2100" b="1">
                <a:solidFill>
                  <a:srgbClr val="253C4D"/>
                </a:solidFill>
                <a:latin typeface="Yu Gothic"/>
                <a:ea typeface="Yu Gothic"/>
                <a:cs typeface="Yu Gothic"/>
              </a:defRPr>
            </a:lvl6pPr>
            <a:lvl7pPr>
              <a:defRPr sz="2100" b="1">
                <a:solidFill>
                  <a:srgbClr val="253C4D"/>
                </a:solidFill>
                <a:latin typeface="Yu Gothic"/>
                <a:ea typeface="Yu Gothic"/>
                <a:cs typeface="Yu Gothic"/>
              </a:defRPr>
            </a:lvl7pPr>
            <a:lvl8pPr>
              <a:defRPr sz="2100" b="1">
                <a:solidFill>
                  <a:srgbClr val="253C4D"/>
                </a:solidFill>
                <a:latin typeface="Yu Gothic"/>
                <a:ea typeface="Yu Gothic"/>
                <a:cs typeface="Yu Gothic"/>
              </a:defRPr>
            </a:lvl8pPr>
            <a:lvl9pPr>
              <a:defRPr sz="2100" b="1">
                <a:solidFill>
                  <a:srgbClr val="253C4D"/>
                </a:solidFill>
                <a:latin typeface="Yu Gothic"/>
                <a:ea typeface="Yu Gothic"/>
                <a:cs typeface="Yu Gothic"/>
              </a:defRPr>
            </a:lvl9pPr>
          </a:lstStyle>
          <a:p xmlns:a="http://schemas.openxmlformats.org/drawingml/2006/main">
            <a:pPr>
              <a:defRPr sz="2100" b="1">
                <a:solidFill>
                  <a:srgbClr val="253C4D"/>
                </a:solidFill>
                <a:latin typeface="Yu Gothic"/>
                <a:ea typeface="Yu Gothic"/>
                <a:cs typeface="Yu Gothic"/>
              </a:defRPr>
            </a:pPr>
            <a:r>
              <a:rPr sz="2100" b="1">
                <a:solidFill>
                  <a:srgbClr val="253C4D"/>
                </a:solidFill>
                <a:latin typeface="Yu Gothic"/>
                <a:ea typeface="Yu Gothic"/>
                <a:cs typeface="Yu Gothic"/>
              </a:rPr>
              <a:t>① 細胞軸を縦にし、MFA 10°と40°を作図</a:t>
            </a:r>
          </a:p>
        </p:txBody>
      </p:sp>
      <p:sp>
        <p:nvSpPr>
          <p:cNvPr id="6" name="">
            <a:extLst xmlns:a="http://schemas.openxmlformats.org/drawingml/2006/main">
              <a:ext uri="{FF2B5EF4-FFF2-40B4-BE49-F238E27FC236}">
                <a16:creationId xmlns:a16="http://schemas.microsoft.com/office/drawing/2014/main" id="{71A384E3-BB8C-4E63-A81D-F006318C070D}"/>
              </a:ext>
            </a:extLst>
          </p:cNvPr>
          <p:cNvSpPr>
            <a:spLocks xmlns:a="http://schemas.openxmlformats.org/drawingml/2006/main" noGrp="1"/>
          </p:cNvSpPr>
          <p:nvPr/>
        </p:nvSpPr>
        <p:spPr>
          <a:xfrm xmlns:a="http://schemas.openxmlformats.org/drawingml/2006/main">
            <a:off x="838200" y="2324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② 他条件が同じなら、L方向に変形しにくいのは？</a:t>
            </a:r>
          </a:p>
        </p:txBody>
      </p:sp>
      <p:sp>
        <p:nvSpPr>
          <p:cNvPr id="7" name="">
            <a:extLst xmlns:a="http://schemas.openxmlformats.org/drawingml/2006/main">
              <a:ext uri="{FF2B5EF4-FFF2-40B4-BE49-F238E27FC236}">
                <a16:creationId xmlns:a16="http://schemas.microsoft.com/office/drawing/2014/main" id="{14E4746D-CF1C-4BC7-9452-A00328AD97E9}"/>
              </a:ext>
            </a:extLst>
          </p:cNvPr>
          <p:cNvSpPr>
            <a:spLocks xmlns:a="http://schemas.openxmlformats.org/drawingml/2006/main" noGrp="1"/>
          </p:cNvSpPr>
          <p:nvPr/>
        </p:nvSpPr>
        <p:spPr>
          <a:xfrm xmlns:a="http://schemas.openxmlformats.org/drawingml/2006/main">
            <a:off x="838200" y="30099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③ 10°の図を90°回転し、同じMFAを示す</a:t>
            </a:r>
          </a:p>
        </p:txBody>
      </p:sp>
      <p:sp>
        <p:nvSpPr>
          <p:cNvPr id="8" name="">
            <a:extLst xmlns:a="http://schemas.openxmlformats.org/drawingml/2006/main">
              <a:ext uri="{FF2B5EF4-FFF2-40B4-BE49-F238E27FC236}">
                <a16:creationId xmlns:a16="http://schemas.microsoft.com/office/drawing/2014/main" id="{BF6DF620-508E-4646-89DF-445096DA3C55}"/>
              </a:ext>
            </a:extLst>
          </p:cNvPr>
          <p:cNvSpPr>
            <a:spLocks xmlns:a="http://schemas.openxmlformats.org/drawingml/2006/main" noGrp="1"/>
          </p:cNvSpPr>
          <p:nvPr/>
        </p:nvSpPr>
        <p:spPr>
          <a:xfrm xmlns:a="http://schemas.openxmlformats.org/drawingml/2006/main">
            <a:off x="838200" y="36957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④ 目切れとMFAについて、基準となる二つの向きを書く</a:t>
            </a:r>
          </a:p>
        </p:txBody>
      </p:sp>
      <p:sp>
        <p:nvSpPr>
          <p:cNvPr id="9" name="">
            <a:extLst xmlns:a="http://schemas.openxmlformats.org/drawingml/2006/main">
              <a:ext uri="{FF2B5EF4-FFF2-40B4-BE49-F238E27FC236}">
                <a16:creationId xmlns:a16="http://schemas.microsoft.com/office/drawing/2014/main" id="{006D19CE-EB15-4124-80FF-CA49FCF3EAC7}"/>
              </a:ext>
            </a:extLst>
          </p:cNvPr>
          <p:cNvSpPr>
            <a:spLocks xmlns:a="http://schemas.openxmlformats.org/drawingml/2006/main" noGrp="1"/>
          </p:cNvSpPr>
          <p:nvPr/>
        </p:nvSpPr>
        <p:spPr>
          <a:xfrm xmlns:a="http://schemas.openxmlformats.org/drawingml/2006/main">
            <a:off x="2667000" y="4457700"/>
            <a:ext cx="9525" cy="1143000"/>
          </a:xfrm>
          <a:custGeom xmlns:a="http://schemas.openxmlformats.org/drawingml/2006/main">
            <a:pathLst>
              <a:path w="9525" h="1143000">
                <a:moveTo>
                  <a:pt x="0" y="1143000"/>
                </a:moveTo>
                <a:lnTo>
                  <a:pt x="0" y="0"/>
                </a:lnTo>
              </a:path>
            </a:pathLst>
          </a:custGeom>
          <a:noFill xmlns:a="http://schemas.openxmlformats.org/drawingml/2006/main"/>
          <a:ln xmlns:a="http://schemas.openxmlformats.org/drawingml/2006/main" w="38100">
            <a:solidFill>
              <a:srgbClr val="C4483C"/>
            </a:solidFill>
          </a:ln>
        </p:spPr>
      </p:sp>
      <p:sp>
        <p:nvSpPr>
          <p:cNvPr id="10" name="">
            <a:extLst xmlns:a="http://schemas.openxmlformats.org/drawingml/2006/main">
              <a:ext uri="{FF2B5EF4-FFF2-40B4-BE49-F238E27FC236}">
                <a16:creationId xmlns:a16="http://schemas.microsoft.com/office/drawing/2014/main" id="{D72EE12F-37B4-4DDE-8716-66B449CC3079}"/>
              </a:ext>
            </a:extLst>
          </p:cNvPr>
          <p:cNvSpPr>
            <a:spLocks xmlns:a="http://schemas.openxmlformats.org/drawingml/2006/main" noGrp="1"/>
          </p:cNvSpPr>
          <p:nvPr/>
        </p:nvSpPr>
        <p:spPr>
          <a:xfrm xmlns:a="http://schemas.openxmlformats.org/drawingml/2006/main">
            <a:off x="6572250" y="5238750"/>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38100">
            <a:solidFill>
              <a:srgbClr val="C4483C"/>
            </a:solidFill>
          </a:ln>
        </p:spPr>
      </p:sp>
      <p:sp>
        <p:nvSpPr>
          <p:cNvPr id="11" name="">
            <a:extLst xmlns:a="http://schemas.openxmlformats.org/drawingml/2006/main">
              <a:ext uri="{FF2B5EF4-FFF2-40B4-BE49-F238E27FC236}">
                <a16:creationId xmlns:a16="http://schemas.microsoft.com/office/drawing/2014/main" id="{EDEF94AA-9435-4011-9710-9D11200F9731}"/>
              </a:ext>
            </a:extLst>
          </p:cNvPr>
          <p:cNvSpPr>
            <a:spLocks xmlns:a="http://schemas.openxmlformats.org/drawingml/2006/main" noGrp="1"/>
          </p:cNvSpPr>
          <p:nvPr/>
        </p:nvSpPr>
        <p:spPr>
          <a:xfrm xmlns:a="http://schemas.openxmlformats.org/drawingml/2006/main">
            <a:off x="857250" y="57054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C4483C"/>
                </a:solidFill>
                <a:latin typeface="Yu Gothic"/>
                <a:ea typeface="Yu Gothic"/>
                <a:cs typeface="Yu Gothic"/>
              </a:defRPr>
            </a:defPPr>
            <a:lvl1pPr>
              <a:defRPr sz="1875" b="1">
                <a:solidFill>
                  <a:srgbClr val="C4483C"/>
                </a:solidFill>
                <a:latin typeface="Yu Gothic"/>
                <a:ea typeface="Yu Gothic"/>
                <a:cs typeface="Yu Gothic"/>
              </a:defRPr>
            </a:lvl1pPr>
            <a:lvl2pPr>
              <a:defRPr sz="1875" b="1">
                <a:solidFill>
                  <a:srgbClr val="C4483C"/>
                </a:solidFill>
                <a:latin typeface="Yu Gothic"/>
                <a:ea typeface="Yu Gothic"/>
                <a:cs typeface="Yu Gothic"/>
              </a:defRPr>
            </a:lvl2pPr>
            <a:lvl3pPr>
              <a:defRPr sz="1875" b="1">
                <a:solidFill>
                  <a:srgbClr val="C4483C"/>
                </a:solidFill>
                <a:latin typeface="Yu Gothic"/>
                <a:ea typeface="Yu Gothic"/>
                <a:cs typeface="Yu Gothic"/>
              </a:defRPr>
            </a:lvl3pPr>
            <a:lvl4pPr>
              <a:defRPr sz="1875" b="1">
                <a:solidFill>
                  <a:srgbClr val="C4483C"/>
                </a:solidFill>
                <a:latin typeface="Yu Gothic"/>
                <a:ea typeface="Yu Gothic"/>
                <a:cs typeface="Yu Gothic"/>
              </a:defRPr>
            </a:lvl4pPr>
            <a:lvl5pPr>
              <a:defRPr sz="1875" b="1">
                <a:solidFill>
                  <a:srgbClr val="C4483C"/>
                </a:solidFill>
                <a:latin typeface="Yu Gothic"/>
                <a:ea typeface="Yu Gothic"/>
                <a:cs typeface="Yu Gothic"/>
              </a:defRPr>
            </a:lvl5pPr>
            <a:lvl6pPr>
              <a:defRPr sz="1875" b="1">
                <a:solidFill>
                  <a:srgbClr val="C4483C"/>
                </a:solidFill>
                <a:latin typeface="Yu Gothic"/>
                <a:ea typeface="Yu Gothic"/>
                <a:cs typeface="Yu Gothic"/>
              </a:defRPr>
            </a:lvl6pPr>
            <a:lvl7pPr>
              <a:defRPr sz="1875" b="1">
                <a:solidFill>
                  <a:srgbClr val="C4483C"/>
                </a:solidFill>
                <a:latin typeface="Yu Gothic"/>
                <a:ea typeface="Yu Gothic"/>
                <a:cs typeface="Yu Gothic"/>
              </a:defRPr>
            </a:lvl7pPr>
            <a:lvl8pPr>
              <a:defRPr sz="1875" b="1">
                <a:solidFill>
                  <a:srgbClr val="C4483C"/>
                </a:solidFill>
                <a:latin typeface="Yu Gothic"/>
                <a:ea typeface="Yu Gothic"/>
                <a:cs typeface="Yu Gothic"/>
              </a:defRPr>
            </a:lvl8pPr>
            <a:lvl9pPr>
              <a:defRPr sz="1875" b="1">
                <a:solidFill>
                  <a:srgbClr val="C4483C"/>
                </a:solidFill>
                <a:latin typeface="Yu Gothic"/>
                <a:ea typeface="Yu Gothic"/>
                <a:cs typeface="Yu Gothic"/>
              </a:defRPr>
            </a:lvl9pPr>
          </a:lstStyle>
          <a:p xmlns:a="http://schemas.openxmlformats.org/drawingml/2006/main">
            <a:pPr>
              <a:defRPr sz="1875" b="1">
                <a:solidFill>
                  <a:srgbClr val="C4483C"/>
                </a:solidFill>
                <a:latin typeface="Yu Gothic"/>
                <a:ea typeface="Yu Gothic"/>
                <a:cs typeface="Yu Gothic"/>
              </a:defRPr>
            </a:pPr>
            <a:r>
              <a:rPr sz="1875" b="1">
                <a:solidFill>
                  <a:srgbClr val="C4483C"/>
                </a:solidFill>
                <a:latin typeface="Yu Gothic"/>
                <a:ea typeface="Yu Gothic"/>
                <a:cs typeface="Yu Gothic"/>
              </a:rPr>
              <a:t>縦向きの細胞軸</a:t>
            </a:r>
          </a:p>
        </p:txBody>
      </p:sp>
      <p:sp>
        <p:nvSpPr>
          <p:cNvPr id="12" name="">
            <a:extLst xmlns:a="http://schemas.openxmlformats.org/drawingml/2006/main">
              <a:ext uri="{FF2B5EF4-FFF2-40B4-BE49-F238E27FC236}">
                <a16:creationId xmlns:a16="http://schemas.microsoft.com/office/drawing/2014/main" id="{13B403F6-5BA9-4CE9-9B96-CE77440B50C8}"/>
              </a:ext>
            </a:extLst>
          </p:cNvPr>
          <p:cNvSpPr>
            <a:spLocks xmlns:a="http://schemas.openxmlformats.org/drawingml/2006/main" noGrp="1"/>
          </p:cNvSpPr>
          <p:nvPr/>
        </p:nvSpPr>
        <p:spPr>
          <a:xfrm xmlns:a="http://schemas.openxmlformats.org/drawingml/2006/main">
            <a:off x="6858000" y="54768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C4483C"/>
                </a:solidFill>
                <a:latin typeface="Yu Gothic"/>
                <a:ea typeface="Yu Gothic"/>
                <a:cs typeface="Yu Gothic"/>
              </a:defRPr>
            </a:defPPr>
            <a:lvl1pPr>
              <a:defRPr sz="1875" b="1">
                <a:solidFill>
                  <a:srgbClr val="C4483C"/>
                </a:solidFill>
                <a:latin typeface="Yu Gothic"/>
                <a:ea typeface="Yu Gothic"/>
                <a:cs typeface="Yu Gothic"/>
              </a:defRPr>
            </a:lvl1pPr>
            <a:lvl2pPr>
              <a:defRPr sz="1875" b="1">
                <a:solidFill>
                  <a:srgbClr val="C4483C"/>
                </a:solidFill>
                <a:latin typeface="Yu Gothic"/>
                <a:ea typeface="Yu Gothic"/>
                <a:cs typeface="Yu Gothic"/>
              </a:defRPr>
            </a:lvl2pPr>
            <a:lvl3pPr>
              <a:defRPr sz="1875" b="1">
                <a:solidFill>
                  <a:srgbClr val="C4483C"/>
                </a:solidFill>
                <a:latin typeface="Yu Gothic"/>
                <a:ea typeface="Yu Gothic"/>
                <a:cs typeface="Yu Gothic"/>
              </a:defRPr>
            </a:lvl3pPr>
            <a:lvl4pPr>
              <a:defRPr sz="1875" b="1">
                <a:solidFill>
                  <a:srgbClr val="C4483C"/>
                </a:solidFill>
                <a:latin typeface="Yu Gothic"/>
                <a:ea typeface="Yu Gothic"/>
                <a:cs typeface="Yu Gothic"/>
              </a:defRPr>
            </a:lvl4pPr>
            <a:lvl5pPr>
              <a:defRPr sz="1875" b="1">
                <a:solidFill>
                  <a:srgbClr val="C4483C"/>
                </a:solidFill>
                <a:latin typeface="Yu Gothic"/>
                <a:ea typeface="Yu Gothic"/>
                <a:cs typeface="Yu Gothic"/>
              </a:defRPr>
            </a:lvl5pPr>
            <a:lvl6pPr>
              <a:defRPr sz="1875" b="1">
                <a:solidFill>
                  <a:srgbClr val="C4483C"/>
                </a:solidFill>
                <a:latin typeface="Yu Gothic"/>
                <a:ea typeface="Yu Gothic"/>
                <a:cs typeface="Yu Gothic"/>
              </a:defRPr>
            </a:lvl6pPr>
            <a:lvl7pPr>
              <a:defRPr sz="1875" b="1">
                <a:solidFill>
                  <a:srgbClr val="C4483C"/>
                </a:solidFill>
                <a:latin typeface="Yu Gothic"/>
                <a:ea typeface="Yu Gothic"/>
                <a:cs typeface="Yu Gothic"/>
              </a:defRPr>
            </a:lvl7pPr>
            <a:lvl8pPr>
              <a:defRPr sz="1875" b="1">
                <a:solidFill>
                  <a:srgbClr val="C4483C"/>
                </a:solidFill>
                <a:latin typeface="Yu Gothic"/>
                <a:ea typeface="Yu Gothic"/>
                <a:cs typeface="Yu Gothic"/>
              </a:defRPr>
            </a:lvl8pPr>
            <a:lvl9pPr>
              <a:defRPr sz="1875" b="1">
                <a:solidFill>
                  <a:srgbClr val="C4483C"/>
                </a:solidFill>
                <a:latin typeface="Yu Gothic"/>
                <a:ea typeface="Yu Gothic"/>
                <a:cs typeface="Yu Gothic"/>
              </a:defRPr>
            </a:lvl9pPr>
          </a:lstStyle>
          <a:p xmlns:a="http://schemas.openxmlformats.org/drawingml/2006/main">
            <a:pPr>
              <a:defRPr sz="1875" b="1">
                <a:solidFill>
                  <a:srgbClr val="C4483C"/>
                </a:solidFill>
                <a:latin typeface="Yu Gothic"/>
                <a:ea typeface="Yu Gothic"/>
                <a:cs typeface="Yu Gothic"/>
              </a:defRPr>
            </a:pPr>
            <a:r>
              <a:rPr sz="1875" b="1">
                <a:solidFill>
                  <a:srgbClr val="C4483C"/>
                </a:solidFill>
                <a:latin typeface="Yu Gothic"/>
                <a:ea typeface="Yu Gothic"/>
                <a:cs typeface="Yu Gothic"/>
              </a:rPr>
              <a:t>横向きの細胞軸</a:t>
            </a:r>
          </a:p>
        </p:txBody>
      </p:sp>
      <p:sp>
        <p:nvSpPr>
          <p:cNvPr id="13" name="">
            <a:extLst xmlns:a="http://schemas.openxmlformats.org/drawingml/2006/main">
              <a:ext uri="{FF2B5EF4-FFF2-40B4-BE49-F238E27FC236}">
                <a16:creationId xmlns:a16="http://schemas.microsoft.com/office/drawing/2014/main" id="{4BB56CE7-FDD0-4F0E-90E9-3468769055AB}"/>
              </a:ext>
            </a:extLst>
          </p:cNvPr>
          <p:cNvSpPr>
            <a:spLocks xmlns:a="http://schemas.openxmlformats.org/drawingml/2006/main" noGrp="1"/>
          </p:cNvSpPr>
          <p:nvPr/>
        </p:nvSpPr>
        <p:spPr>
          <a:xfrm xmlns:a="http://schemas.openxmlformats.org/drawingml/2006/main">
            <a:off x="838200" y="6115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必要なら一時停止して作図</a:t>
            </a:r>
          </a:p>
        </p:txBody>
      </p:sp>
    </p:spTree>
    <p:extLst>
      <p:ext uri="{BB962C8B-B14F-4D97-AF65-F5344CB8AC3E}">
        <p14:creationId xmlns:p14="http://schemas.microsoft.com/office/powerpoint/2010/main" val="199240975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5E2BE8D-D0DD-4FD5-9D04-71E7C081184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a:t>
            </a:r>
          </a:p>
        </p:txBody>
      </p:sp>
      <p:sp>
        <p:nvSpPr>
          <p:cNvPr id="2" name="">
            <a:extLst xmlns:a="http://schemas.openxmlformats.org/drawingml/2006/main">
              <a:ext uri="{FF2B5EF4-FFF2-40B4-BE49-F238E27FC236}">
                <a16:creationId xmlns:a16="http://schemas.microsoft.com/office/drawing/2014/main" id="{E1429B29-EEF8-4962-BA16-26D46E816F1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57AFAD-B7BA-4F7D-BAC8-EB0CC574F84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815DC319-B535-42E2-A016-C435E816EEF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CellAxis">
            <a:extLst xmlns:a="http://schemas.openxmlformats.org/drawingml/2006/main">
              <a:ext uri="{FF2B5EF4-FFF2-40B4-BE49-F238E27FC236}">
                <a16:creationId xmlns:a16="http://schemas.microsoft.com/office/drawing/2014/main" id="{B51B0827-6AC6-4A2D-B27F-19022B23EB28}"/>
              </a:ext>
            </a:extLst>
          </p:cNvPr>
          <p:cNvSpPr>
            <a:spLocks xmlns:a="http://schemas.openxmlformats.org/drawingml/2006/main" noGrp="1"/>
          </p:cNvSpPr>
          <p:nvPr/>
        </p:nvSpPr>
        <p:spPr>
          <a:xfrm xmlns:a="http://schemas.openxmlformats.org/drawingml/2006/main">
            <a:off x="2381250" y="2076450"/>
            <a:ext cx="9525" cy="2095500"/>
          </a:xfrm>
          <a:custGeom xmlns:a="http://schemas.openxmlformats.org/drawingml/2006/main">
            <a:pathLst>
              <a:path w="9525" h="2095500">
                <a:moveTo>
                  <a:pt x="0" y="2095500"/>
                </a:moveTo>
                <a:lnTo>
                  <a:pt x="0" y="0"/>
                </a:lnTo>
              </a:path>
            </a:pathLst>
          </a:custGeom>
          <a:noFill xmlns:a="http://schemas.openxmlformats.org/drawingml/2006/main"/>
          <a:ln xmlns:a="http://schemas.openxmlformats.org/drawingml/2006/main" w="38100">
            <a:solidFill>
              <a:srgbClr val="C4483C"/>
            </a:solidFill>
          </a:ln>
        </p:spPr>
      </p:sp>
      <p:sp>
        <p:nvSpPr>
          <p:cNvPr id="6" name="MicrofibrilDirection">
            <a:extLst xmlns:a="http://schemas.openxmlformats.org/drawingml/2006/main">
              <a:ext uri="{FF2B5EF4-FFF2-40B4-BE49-F238E27FC236}">
                <a16:creationId xmlns:a16="http://schemas.microsoft.com/office/drawing/2014/main" id="{C323AC84-8DBD-4143-9B93-C7D083F7C649}"/>
              </a:ext>
            </a:extLst>
          </p:cNvPr>
          <p:cNvSpPr>
            <a:spLocks xmlns:a="http://schemas.openxmlformats.org/drawingml/2006/main" noGrp="1"/>
          </p:cNvSpPr>
          <p:nvPr/>
        </p:nvSpPr>
        <p:spPr>
          <a:xfrm xmlns:a="http://schemas.openxmlformats.org/drawingml/2006/main">
            <a:off x="2381250" y="2108285"/>
            <a:ext cx="363880" cy="2063665"/>
          </a:xfrm>
          <a:custGeom xmlns:a="http://schemas.openxmlformats.org/drawingml/2006/main">
            <a:pathLst>
              <a:path w="363880" h="2063665">
                <a:moveTo>
                  <a:pt x="0" y="2063665"/>
                </a:moveTo>
                <a:lnTo>
                  <a:pt x="363880" y="0"/>
                </a:lnTo>
              </a:path>
            </a:pathLst>
          </a:custGeom>
          <a:noFill xmlns:a="http://schemas.openxmlformats.org/drawingml/2006/main"/>
          <a:ln xmlns:a="http://schemas.openxmlformats.org/drawingml/2006/main" w="47625">
            <a:solidFill>
              <a:srgbClr val="087E8B"/>
            </a:solidFill>
          </a:ln>
        </p:spPr>
      </p:sp>
      <p:sp>
        <p:nvSpPr>
          <p:cNvPr id="7" name="MFAArc">
            <a:extLst xmlns:a="http://schemas.openxmlformats.org/drawingml/2006/main">
              <a:ext uri="{FF2B5EF4-FFF2-40B4-BE49-F238E27FC236}">
                <a16:creationId xmlns:a16="http://schemas.microsoft.com/office/drawing/2014/main" id="{501A3575-B0DA-42C7-8702-96B318B0498C}"/>
              </a:ext>
            </a:extLst>
          </p:cNvPr>
          <p:cNvSpPr>
            <a:spLocks xmlns:a="http://schemas.openxmlformats.org/drawingml/2006/main" noGrp="1"/>
          </p:cNvSpPr>
          <p:nvPr/>
        </p:nvSpPr>
        <p:spPr>
          <a:xfrm xmlns:a="http://schemas.openxmlformats.org/drawingml/2006/main">
            <a:off x="2381250" y="3505200"/>
            <a:ext cx="115780" cy="10129"/>
          </a:xfrm>
          <a:custGeom xmlns:a="http://schemas.openxmlformats.org/drawingml/2006/main">
            <a:pathLst>
              <a:path w="115780" h="10129">
                <a:moveTo>
                  <a:pt x="0" y="0"/>
                </a:moveTo>
                <a:lnTo>
                  <a:pt x="7273" y="40"/>
                </a:lnTo>
                <a:lnTo>
                  <a:pt x="14545" y="159"/>
                </a:lnTo>
                <a:lnTo>
                  <a:pt x="21815" y="357"/>
                </a:lnTo>
                <a:lnTo>
                  <a:pt x="29083" y="635"/>
                </a:lnTo>
                <a:lnTo>
                  <a:pt x="36348" y="991"/>
                </a:lnTo>
                <a:lnTo>
                  <a:pt x="43608" y="1428"/>
                </a:lnTo>
                <a:lnTo>
                  <a:pt x="50862" y="1943"/>
                </a:lnTo>
                <a:lnTo>
                  <a:pt x="58111" y="2537"/>
                </a:lnTo>
                <a:lnTo>
                  <a:pt x="65353" y="3211"/>
                </a:lnTo>
                <a:lnTo>
                  <a:pt x="72587" y="3963"/>
                </a:lnTo>
                <a:lnTo>
                  <a:pt x="79812" y="4794"/>
                </a:lnTo>
                <a:lnTo>
                  <a:pt x="87028" y="5704"/>
                </a:lnTo>
                <a:lnTo>
                  <a:pt x="94234" y="6693"/>
                </a:lnTo>
                <a:lnTo>
                  <a:pt x="101428" y="7760"/>
                </a:lnTo>
                <a:lnTo>
                  <a:pt x="108611" y="8906"/>
                </a:lnTo>
                <a:lnTo>
                  <a:pt x="115780" y="10129"/>
                </a:lnTo>
              </a:path>
            </a:pathLst>
          </a:custGeom>
          <a:noFill xmlns:a="http://schemas.openxmlformats.org/drawingml/2006/main"/>
          <a:ln xmlns:a="http://schemas.openxmlformats.org/drawingml/2006/main" w="19050">
            <a:solidFill>
              <a:srgbClr val="253C4D"/>
            </a:solidFill>
          </a:ln>
        </p:spPr>
      </p:sp>
      <p:sp>
        <p:nvSpPr>
          <p:cNvPr id="8" name="">
            <a:extLst xmlns:a="http://schemas.openxmlformats.org/drawingml/2006/main">
              <a:ext uri="{FF2B5EF4-FFF2-40B4-BE49-F238E27FC236}">
                <a16:creationId xmlns:a16="http://schemas.microsoft.com/office/drawing/2014/main" id="{06ED69CD-5987-4DB2-839B-280D882AB56A}"/>
              </a:ext>
            </a:extLst>
          </p:cNvPr>
          <p:cNvSpPr>
            <a:spLocks xmlns:a="http://schemas.openxmlformats.org/drawingml/2006/main" noGrp="1"/>
          </p:cNvSpPr>
          <p:nvPr/>
        </p:nvSpPr>
        <p:spPr>
          <a:xfrm xmlns:a="http://schemas.openxmlformats.org/drawingml/2006/main">
            <a:off x="2667000" y="307657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xmlns:a="http://schemas.openxmlformats.org/drawingml/2006/main">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10°</a:t>
            </a:r>
          </a:p>
        </p:txBody>
      </p:sp>
      <p:sp>
        <p:nvSpPr>
          <p:cNvPr id="9" name="CellAxis">
            <a:extLst xmlns:a="http://schemas.openxmlformats.org/drawingml/2006/main">
              <a:ext uri="{FF2B5EF4-FFF2-40B4-BE49-F238E27FC236}">
                <a16:creationId xmlns:a16="http://schemas.microsoft.com/office/drawing/2014/main" id="{47E496E4-90D5-4BD2-B692-184DE03B4BF3}"/>
              </a:ext>
            </a:extLst>
          </p:cNvPr>
          <p:cNvSpPr>
            <a:spLocks xmlns:a="http://schemas.openxmlformats.org/drawingml/2006/main" noGrp="1"/>
          </p:cNvSpPr>
          <p:nvPr/>
        </p:nvSpPr>
        <p:spPr>
          <a:xfrm xmlns:a="http://schemas.openxmlformats.org/drawingml/2006/main">
            <a:off x="7143750" y="2952750"/>
            <a:ext cx="2095500" cy="9525"/>
          </a:xfrm>
          <a:custGeom xmlns:a="http://schemas.openxmlformats.org/drawingml/2006/main">
            <a:pathLst>
              <a:path w="2095500" h="9525">
                <a:moveTo>
                  <a:pt x="0" y="0"/>
                </a:moveTo>
                <a:lnTo>
                  <a:pt x="2095500" y="0"/>
                </a:lnTo>
              </a:path>
            </a:pathLst>
          </a:custGeom>
          <a:noFill xmlns:a="http://schemas.openxmlformats.org/drawingml/2006/main"/>
          <a:ln xmlns:a="http://schemas.openxmlformats.org/drawingml/2006/main" w="38100">
            <a:solidFill>
              <a:srgbClr val="C4483C"/>
            </a:solidFill>
          </a:ln>
        </p:spPr>
      </p:sp>
      <p:sp>
        <p:nvSpPr>
          <p:cNvPr id="10" name="MicrofibrilDirection">
            <a:extLst xmlns:a="http://schemas.openxmlformats.org/drawingml/2006/main">
              <a:ext uri="{FF2B5EF4-FFF2-40B4-BE49-F238E27FC236}">
                <a16:creationId xmlns:a16="http://schemas.microsoft.com/office/drawing/2014/main" id="{65119F89-8227-4541-95C9-801FE8622A6C}"/>
              </a:ext>
            </a:extLst>
          </p:cNvPr>
          <p:cNvSpPr>
            <a:spLocks xmlns:a="http://schemas.openxmlformats.org/drawingml/2006/main" noGrp="1"/>
          </p:cNvSpPr>
          <p:nvPr/>
        </p:nvSpPr>
        <p:spPr>
          <a:xfrm xmlns:a="http://schemas.openxmlformats.org/drawingml/2006/main">
            <a:off x="7143750" y="2952750"/>
            <a:ext cx="2063665" cy="363880"/>
          </a:xfrm>
          <a:custGeom xmlns:a="http://schemas.openxmlformats.org/drawingml/2006/main">
            <a:pathLst>
              <a:path w="2063665" h="363880">
                <a:moveTo>
                  <a:pt x="0" y="0"/>
                </a:moveTo>
                <a:lnTo>
                  <a:pt x="2063665" y="363880"/>
                </a:lnTo>
              </a:path>
            </a:pathLst>
          </a:custGeom>
          <a:noFill xmlns:a="http://schemas.openxmlformats.org/drawingml/2006/main"/>
          <a:ln xmlns:a="http://schemas.openxmlformats.org/drawingml/2006/main" w="47625">
            <a:solidFill>
              <a:srgbClr val="087E8B"/>
            </a:solidFill>
          </a:ln>
        </p:spPr>
      </p:sp>
      <p:sp>
        <p:nvSpPr>
          <p:cNvPr id="11" name="MFAArc">
            <a:extLst xmlns:a="http://schemas.openxmlformats.org/drawingml/2006/main">
              <a:ext uri="{FF2B5EF4-FFF2-40B4-BE49-F238E27FC236}">
                <a16:creationId xmlns:a16="http://schemas.microsoft.com/office/drawing/2014/main" id="{92ED4BF3-79D0-404B-921E-A67B531E06D0}"/>
              </a:ext>
            </a:extLst>
          </p:cNvPr>
          <p:cNvSpPr>
            <a:spLocks xmlns:a="http://schemas.openxmlformats.org/drawingml/2006/main" noGrp="1"/>
          </p:cNvSpPr>
          <p:nvPr/>
        </p:nvSpPr>
        <p:spPr>
          <a:xfrm xmlns:a="http://schemas.openxmlformats.org/drawingml/2006/main">
            <a:off x="7800371" y="2952750"/>
            <a:ext cx="10129" cy="115780"/>
          </a:xfrm>
          <a:custGeom xmlns:a="http://schemas.openxmlformats.org/drawingml/2006/main">
            <a:pathLst>
              <a:path w="10129" h="115780">
                <a:moveTo>
                  <a:pt x="10129" y="0"/>
                </a:moveTo>
                <a:lnTo>
                  <a:pt x="10090" y="7273"/>
                </a:lnTo>
                <a:lnTo>
                  <a:pt x="9971" y="14545"/>
                </a:lnTo>
                <a:lnTo>
                  <a:pt x="9772" y="21815"/>
                </a:lnTo>
                <a:lnTo>
                  <a:pt x="9495" y="29083"/>
                </a:lnTo>
                <a:lnTo>
                  <a:pt x="9138" y="36348"/>
                </a:lnTo>
                <a:lnTo>
                  <a:pt x="8702" y="43608"/>
                </a:lnTo>
                <a:lnTo>
                  <a:pt x="8187" y="50862"/>
                </a:lnTo>
                <a:lnTo>
                  <a:pt x="7592" y="58111"/>
                </a:lnTo>
                <a:lnTo>
                  <a:pt x="6919" y="65353"/>
                </a:lnTo>
                <a:lnTo>
                  <a:pt x="6166" y="72587"/>
                </a:lnTo>
                <a:lnTo>
                  <a:pt x="5335" y="79812"/>
                </a:lnTo>
                <a:lnTo>
                  <a:pt x="4425" y="87028"/>
                </a:lnTo>
                <a:lnTo>
                  <a:pt x="3437" y="94234"/>
                </a:lnTo>
                <a:lnTo>
                  <a:pt x="2369" y="101428"/>
                </a:lnTo>
                <a:lnTo>
                  <a:pt x="1224" y="108611"/>
                </a:lnTo>
                <a:lnTo>
                  <a:pt x="0" y="115780"/>
                </a:lnTo>
              </a:path>
            </a:pathLst>
          </a:custGeom>
          <a:noFill xmlns:a="http://schemas.openxmlformats.org/drawingml/2006/main"/>
          <a:ln xmlns:a="http://schemas.openxmlformats.org/drawingml/2006/main" w="19050">
            <a:solidFill>
              <a:srgbClr val="253C4D"/>
            </a:solidFill>
          </a:ln>
        </p:spPr>
      </p:sp>
      <p:sp>
        <p:nvSpPr>
          <p:cNvPr id="12" name="">
            <a:extLst xmlns:a="http://schemas.openxmlformats.org/drawingml/2006/main">
              <a:ext uri="{FF2B5EF4-FFF2-40B4-BE49-F238E27FC236}">
                <a16:creationId xmlns:a16="http://schemas.microsoft.com/office/drawing/2014/main" id="{CB61D83B-A628-4474-9231-6A2F58771CD7}"/>
              </a:ext>
            </a:extLst>
          </p:cNvPr>
          <p:cNvSpPr>
            <a:spLocks xmlns:a="http://schemas.openxmlformats.org/drawingml/2006/main" noGrp="1"/>
          </p:cNvSpPr>
          <p:nvPr/>
        </p:nvSpPr>
        <p:spPr>
          <a:xfrm xmlns:a="http://schemas.openxmlformats.org/drawingml/2006/main">
            <a:off x="7886700" y="3314700"/>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defRPr sz="2325" b="1">
                <a:solidFill>
                  <a:srgbClr val="18364F"/>
                </a:solidFill>
                <a:latin typeface="Yu Gothic"/>
                <a:ea typeface="Yu Gothic"/>
                <a:cs typeface="Yu Gothic"/>
              </a:defRPr>
            </a:lvl1pPr>
            <a:lvl2pPr>
              <a:defRPr sz="2325" b="1">
                <a:solidFill>
                  <a:srgbClr val="18364F"/>
                </a:solidFill>
                <a:latin typeface="Yu Gothic"/>
                <a:ea typeface="Yu Gothic"/>
                <a:cs typeface="Yu Gothic"/>
              </a:defRPr>
            </a:lvl2pPr>
            <a:lvl3pPr>
              <a:defRPr sz="2325" b="1">
                <a:solidFill>
                  <a:srgbClr val="18364F"/>
                </a:solidFill>
                <a:latin typeface="Yu Gothic"/>
                <a:ea typeface="Yu Gothic"/>
                <a:cs typeface="Yu Gothic"/>
              </a:defRPr>
            </a:lvl3pPr>
            <a:lvl4pPr>
              <a:defRPr sz="2325" b="1">
                <a:solidFill>
                  <a:srgbClr val="18364F"/>
                </a:solidFill>
                <a:latin typeface="Yu Gothic"/>
                <a:ea typeface="Yu Gothic"/>
                <a:cs typeface="Yu Gothic"/>
              </a:defRPr>
            </a:lvl4pPr>
            <a:lvl5pPr>
              <a:defRPr sz="2325" b="1">
                <a:solidFill>
                  <a:srgbClr val="18364F"/>
                </a:solidFill>
                <a:latin typeface="Yu Gothic"/>
                <a:ea typeface="Yu Gothic"/>
                <a:cs typeface="Yu Gothic"/>
              </a:defRPr>
            </a:lvl5pPr>
            <a:lvl6pPr>
              <a:defRPr sz="2325" b="1">
                <a:solidFill>
                  <a:srgbClr val="18364F"/>
                </a:solidFill>
                <a:latin typeface="Yu Gothic"/>
                <a:ea typeface="Yu Gothic"/>
                <a:cs typeface="Yu Gothic"/>
              </a:defRPr>
            </a:lvl6pPr>
            <a:lvl7pPr>
              <a:defRPr sz="2325" b="1">
                <a:solidFill>
                  <a:srgbClr val="18364F"/>
                </a:solidFill>
                <a:latin typeface="Yu Gothic"/>
                <a:ea typeface="Yu Gothic"/>
                <a:cs typeface="Yu Gothic"/>
              </a:defRPr>
            </a:lvl7pPr>
            <a:lvl8pPr>
              <a:defRPr sz="2325" b="1">
                <a:solidFill>
                  <a:srgbClr val="18364F"/>
                </a:solidFill>
                <a:latin typeface="Yu Gothic"/>
                <a:ea typeface="Yu Gothic"/>
                <a:cs typeface="Yu Gothic"/>
              </a:defRPr>
            </a:lvl8pPr>
            <a:lvl9pPr>
              <a:defRPr sz="2325" b="1">
                <a:solidFill>
                  <a:srgbClr val="18364F"/>
                </a:solidFill>
                <a:latin typeface="Yu Gothic"/>
                <a:ea typeface="Yu Gothic"/>
                <a:cs typeface="Yu Gothic"/>
              </a:defRPr>
            </a:lvl9pPr>
          </a:lstStyle>
          <a:p xmlns:a="http://schemas.openxmlformats.org/drawingml/2006/main">
            <a:pPr>
              <a:defRPr sz="2325" b="1">
                <a:solidFill>
                  <a:srgbClr val="18364F"/>
                </a:solidFill>
                <a:latin typeface="Yu Gothic"/>
                <a:ea typeface="Yu Gothic"/>
                <a:cs typeface="Yu Gothic"/>
              </a:defRPr>
            </a:pPr>
            <a:r>
              <a:rPr sz="2325" b="1">
                <a:solidFill>
                  <a:srgbClr val="18364F"/>
                </a:solidFill>
                <a:latin typeface="Yu Gothic"/>
                <a:ea typeface="Yu Gothic"/>
                <a:cs typeface="Yu Gothic"/>
              </a:rPr>
              <a:t>10°</a:t>
            </a:r>
          </a:p>
        </p:txBody>
      </p:sp>
      <p:sp>
        <p:nvSpPr>
          <p:cNvPr id="13" name="">
            <a:extLst xmlns:a="http://schemas.openxmlformats.org/drawingml/2006/main">
              <a:ext uri="{FF2B5EF4-FFF2-40B4-BE49-F238E27FC236}">
                <a16:creationId xmlns:a16="http://schemas.microsoft.com/office/drawing/2014/main" id="{60C12350-FA86-4D80-8153-B8A0BBE7EEB7}"/>
              </a:ext>
            </a:extLst>
          </p:cNvPr>
          <p:cNvSpPr>
            <a:spLocks xmlns:a="http://schemas.openxmlformats.org/drawingml/2006/main" noGrp="1"/>
          </p:cNvSpPr>
          <p:nvPr/>
        </p:nvSpPr>
        <p:spPr>
          <a:xfrm xmlns:a="http://schemas.openxmlformats.org/drawingml/2006/main">
            <a:off x="952500" y="15621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defRPr sz="2100" b="1">
                <a:solidFill>
                  <a:srgbClr val="C4483C"/>
                </a:solidFill>
                <a:latin typeface="Yu Gothic"/>
                <a:ea typeface="Yu Gothic"/>
                <a:cs typeface="Yu Gothic"/>
              </a:defRPr>
            </a:lvl1pPr>
            <a:lvl2pPr>
              <a:defRPr sz="2100" b="1">
                <a:solidFill>
                  <a:srgbClr val="C4483C"/>
                </a:solidFill>
                <a:latin typeface="Yu Gothic"/>
                <a:ea typeface="Yu Gothic"/>
                <a:cs typeface="Yu Gothic"/>
              </a:defRPr>
            </a:lvl2pPr>
            <a:lvl3pPr>
              <a:defRPr sz="2100" b="1">
                <a:solidFill>
                  <a:srgbClr val="C4483C"/>
                </a:solidFill>
                <a:latin typeface="Yu Gothic"/>
                <a:ea typeface="Yu Gothic"/>
                <a:cs typeface="Yu Gothic"/>
              </a:defRPr>
            </a:lvl3pPr>
            <a:lvl4pPr>
              <a:defRPr sz="2100" b="1">
                <a:solidFill>
                  <a:srgbClr val="C4483C"/>
                </a:solidFill>
                <a:latin typeface="Yu Gothic"/>
                <a:ea typeface="Yu Gothic"/>
                <a:cs typeface="Yu Gothic"/>
              </a:defRPr>
            </a:lvl4pPr>
            <a:lvl5pPr>
              <a:defRPr sz="2100" b="1">
                <a:solidFill>
                  <a:srgbClr val="C4483C"/>
                </a:solidFill>
                <a:latin typeface="Yu Gothic"/>
                <a:ea typeface="Yu Gothic"/>
                <a:cs typeface="Yu Gothic"/>
              </a:defRPr>
            </a:lvl5pPr>
            <a:lvl6pPr>
              <a:defRPr sz="2100" b="1">
                <a:solidFill>
                  <a:srgbClr val="C4483C"/>
                </a:solidFill>
                <a:latin typeface="Yu Gothic"/>
                <a:ea typeface="Yu Gothic"/>
                <a:cs typeface="Yu Gothic"/>
              </a:defRPr>
            </a:lvl6pPr>
            <a:lvl7pPr>
              <a:defRPr sz="2100" b="1">
                <a:solidFill>
                  <a:srgbClr val="C4483C"/>
                </a:solidFill>
                <a:latin typeface="Yu Gothic"/>
                <a:ea typeface="Yu Gothic"/>
                <a:cs typeface="Yu Gothic"/>
              </a:defRPr>
            </a:lvl7pPr>
            <a:lvl8pPr>
              <a:defRPr sz="2100" b="1">
                <a:solidFill>
                  <a:srgbClr val="C4483C"/>
                </a:solidFill>
                <a:latin typeface="Yu Gothic"/>
                <a:ea typeface="Yu Gothic"/>
                <a:cs typeface="Yu Gothic"/>
              </a:defRPr>
            </a:lvl8pPr>
            <a:lvl9pPr>
              <a:defRPr sz="2100" b="1">
                <a:solidFill>
                  <a:srgbClr val="C4483C"/>
                </a:solidFill>
                <a:latin typeface="Yu Gothic"/>
                <a:ea typeface="Yu Gothic"/>
                <a:cs typeface="Yu Gothic"/>
              </a:defRPr>
            </a:lvl9pPr>
          </a:lstStyle>
          <a:p xmlns:a="http://schemas.openxmlformats.org/drawingml/2006/main">
            <a:pPr>
              <a:defRPr sz="2100" b="1">
                <a:solidFill>
                  <a:srgbClr val="C4483C"/>
                </a:solidFill>
                <a:latin typeface="Yu Gothic"/>
                <a:ea typeface="Yu Gothic"/>
                <a:cs typeface="Yu Gothic"/>
              </a:defRPr>
            </a:pPr>
            <a:r>
              <a:rPr sz="2100" b="1">
                <a:solidFill>
                  <a:srgbClr val="C4483C"/>
                </a:solidFill>
                <a:latin typeface="Yu Gothic"/>
                <a:ea typeface="Yu Gothic"/>
                <a:cs typeface="Yu Gothic"/>
              </a:rPr>
              <a:t>細胞軸</a:t>
            </a:r>
          </a:p>
        </p:txBody>
      </p:sp>
      <p:sp>
        <p:nvSpPr>
          <p:cNvPr id="14" name="">
            <a:extLst xmlns:a="http://schemas.openxmlformats.org/drawingml/2006/main">
              <a:ext uri="{FF2B5EF4-FFF2-40B4-BE49-F238E27FC236}">
                <a16:creationId xmlns:a16="http://schemas.microsoft.com/office/drawing/2014/main" id="{E6281752-EA27-4975-8F90-DC5CEAE92979}"/>
              </a:ext>
            </a:extLst>
          </p:cNvPr>
          <p:cNvSpPr>
            <a:spLocks xmlns:a="http://schemas.openxmlformats.org/drawingml/2006/main" noGrp="1"/>
          </p:cNvSpPr>
          <p:nvPr/>
        </p:nvSpPr>
        <p:spPr>
          <a:xfrm xmlns:a="http://schemas.openxmlformats.org/drawingml/2006/main">
            <a:off x="7429500" y="22669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defRPr sz="2100" b="1">
                <a:solidFill>
                  <a:srgbClr val="C4483C"/>
                </a:solidFill>
                <a:latin typeface="Yu Gothic"/>
                <a:ea typeface="Yu Gothic"/>
                <a:cs typeface="Yu Gothic"/>
              </a:defRPr>
            </a:lvl1pPr>
            <a:lvl2pPr>
              <a:defRPr sz="2100" b="1">
                <a:solidFill>
                  <a:srgbClr val="C4483C"/>
                </a:solidFill>
                <a:latin typeface="Yu Gothic"/>
                <a:ea typeface="Yu Gothic"/>
                <a:cs typeface="Yu Gothic"/>
              </a:defRPr>
            </a:lvl2pPr>
            <a:lvl3pPr>
              <a:defRPr sz="2100" b="1">
                <a:solidFill>
                  <a:srgbClr val="C4483C"/>
                </a:solidFill>
                <a:latin typeface="Yu Gothic"/>
                <a:ea typeface="Yu Gothic"/>
                <a:cs typeface="Yu Gothic"/>
              </a:defRPr>
            </a:lvl3pPr>
            <a:lvl4pPr>
              <a:defRPr sz="2100" b="1">
                <a:solidFill>
                  <a:srgbClr val="C4483C"/>
                </a:solidFill>
                <a:latin typeface="Yu Gothic"/>
                <a:ea typeface="Yu Gothic"/>
                <a:cs typeface="Yu Gothic"/>
              </a:defRPr>
            </a:lvl4pPr>
            <a:lvl5pPr>
              <a:defRPr sz="2100" b="1">
                <a:solidFill>
                  <a:srgbClr val="C4483C"/>
                </a:solidFill>
                <a:latin typeface="Yu Gothic"/>
                <a:ea typeface="Yu Gothic"/>
                <a:cs typeface="Yu Gothic"/>
              </a:defRPr>
            </a:lvl5pPr>
            <a:lvl6pPr>
              <a:defRPr sz="2100" b="1">
                <a:solidFill>
                  <a:srgbClr val="C4483C"/>
                </a:solidFill>
                <a:latin typeface="Yu Gothic"/>
                <a:ea typeface="Yu Gothic"/>
                <a:cs typeface="Yu Gothic"/>
              </a:defRPr>
            </a:lvl6pPr>
            <a:lvl7pPr>
              <a:defRPr sz="2100" b="1">
                <a:solidFill>
                  <a:srgbClr val="C4483C"/>
                </a:solidFill>
                <a:latin typeface="Yu Gothic"/>
                <a:ea typeface="Yu Gothic"/>
                <a:cs typeface="Yu Gothic"/>
              </a:defRPr>
            </a:lvl7pPr>
            <a:lvl8pPr>
              <a:defRPr sz="2100" b="1">
                <a:solidFill>
                  <a:srgbClr val="C4483C"/>
                </a:solidFill>
                <a:latin typeface="Yu Gothic"/>
                <a:ea typeface="Yu Gothic"/>
                <a:cs typeface="Yu Gothic"/>
              </a:defRPr>
            </a:lvl8pPr>
            <a:lvl9pPr>
              <a:defRPr sz="2100" b="1">
                <a:solidFill>
                  <a:srgbClr val="C4483C"/>
                </a:solidFill>
                <a:latin typeface="Yu Gothic"/>
                <a:ea typeface="Yu Gothic"/>
                <a:cs typeface="Yu Gothic"/>
              </a:defRPr>
            </a:lvl9pPr>
          </a:lstStyle>
          <a:p xmlns:a="http://schemas.openxmlformats.org/drawingml/2006/main">
            <a:pPr>
              <a:defRPr sz="2100" b="1">
                <a:solidFill>
                  <a:srgbClr val="C4483C"/>
                </a:solidFill>
                <a:latin typeface="Yu Gothic"/>
                <a:ea typeface="Yu Gothic"/>
                <a:cs typeface="Yu Gothic"/>
              </a:defRPr>
            </a:pPr>
            <a:r>
              <a:rPr sz="2100" b="1">
                <a:solidFill>
                  <a:srgbClr val="C4483C"/>
                </a:solidFill>
                <a:latin typeface="Yu Gothic"/>
                <a:ea typeface="Yu Gothic"/>
                <a:cs typeface="Yu Gothic"/>
              </a:rPr>
              <a:t>細胞軸</a:t>
            </a:r>
          </a:p>
        </p:txBody>
      </p:sp>
      <p:sp>
        <p:nvSpPr>
          <p:cNvPr id="15" name="">
            <a:extLst xmlns:a="http://schemas.openxmlformats.org/drawingml/2006/main">
              <a:ext uri="{FF2B5EF4-FFF2-40B4-BE49-F238E27FC236}">
                <a16:creationId xmlns:a16="http://schemas.microsoft.com/office/drawing/2014/main" id="{51E09D00-1BD6-436A-AA28-1A80E80C03C1}"/>
              </a:ext>
            </a:extLst>
          </p:cNvPr>
          <p:cNvSpPr>
            <a:spLocks xmlns:a="http://schemas.openxmlformats.org/drawingml/2006/main" noGrp="1"/>
          </p:cNvSpPr>
          <p:nvPr/>
        </p:nvSpPr>
        <p:spPr>
          <a:xfrm xmlns:a="http://schemas.openxmlformats.org/drawingml/2006/main">
            <a:off x="838200" y="46291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defRPr sz="2025" b="1">
                <a:solidFill>
                  <a:srgbClr val="253C4D"/>
                </a:solidFill>
                <a:latin typeface="Yu Gothic"/>
                <a:ea typeface="Yu Gothic"/>
                <a:cs typeface="Yu Gothic"/>
              </a:defRPr>
            </a:lvl1pPr>
            <a:lvl2pPr>
              <a:defRPr sz="2025" b="1">
                <a:solidFill>
                  <a:srgbClr val="253C4D"/>
                </a:solidFill>
                <a:latin typeface="Yu Gothic"/>
                <a:ea typeface="Yu Gothic"/>
                <a:cs typeface="Yu Gothic"/>
              </a:defRPr>
            </a:lvl2pPr>
            <a:lvl3pPr>
              <a:defRPr sz="2025" b="1">
                <a:solidFill>
                  <a:srgbClr val="253C4D"/>
                </a:solidFill>
                <a:latin typeface="Yu Gothic"/>
                <a:ea typeface="Yu Gothic"/>
                <a:cs typeface="Yu Gothic"/>
              </a:defRPr>
            </a:lvl3pPr>
            <a:lvl4pPr>
              <a:defRPr sz="2025" b="1">
                <a:solidFill>
                  <a:srgbClr val="253C4D"/>
                </a:solidFill>
                <a:latin typeface="Yu Gothic"/>
                <a:ea typeface="Yu Gothic"/>
                <a:cs typeface="Yu Gothic"/>
              </a:defRPr>
            </a:lvl4pPr>
            <a:lvl5pPr>
              <a:defRPr sz="2025" b="1">
                <a:solidFill>
                  <a:srgbClr val="253C4D"/>
                </a:solidFill>
                <a:latin typeface="Yu Gothic"/>
                <a:ea typeface="Yu Gothic"/>
                <a:cs typeface="Yu Gothic"/>
              </a:defRPr>
            </a:lvl5pPr>
            <a:lvl6pPr>
              <a:defRPr sz="2025" b="1">
                <a:solidFill>
                  <a:srgbClr val="253C4D"/>
                </a:solidFill>
                <a:latin typeface="Yu Gothic"/>
                <a:ea typeface="Yu Gothic"/>
                <a:cs typeface="Yu Gothic"/>
              </a:defRPr>
            </a:lvl6pPr>
            <a:lvl7pPr>
              <a:defRPr sz="2025" b="1">
                <a:solidFill>
                  <a:srgbClr val="253C4D"/>
                </a:solidFill>
                <a:latin typeface="Yu Gothic"/>
                <a:ea typeface="Yu Gothic"/>
                <a:cs typeface="Yu Gothic"/>
              </a:defRPr>
            </a:lvl7pPr>
            <a:lvl8pPr>
              <a:defRPr sz="2025" b="1">
                <a:solidFill>
                  <a:srgbClr val="253C4D"/>
                </a:solidFill>
                <a:latin typeface="Yu Gothic"/>
                <a:ea typeface="Yu Gothic"/>
                <a:cs typeface="Yu Gothic"/>
              </a:defRPr>
            </a:lvl8pPr>
            <a:lvl9pPr>
              <a:defRPr sz="2025" b="1">
                <a:solidFill>
                  <a:srgbClr val="253C4D"/>
                </a:solidFill>
                <a:latin typeface="Yu Gothic"/>
                <a:ea typeface="Yu Gothic"/>
                <a:cs typeface="Yu Gothic"/>
              </a:defRPr>
            </a:lvl9pPr>
          </a:lstStyle>
          <a:p xmlns:a="http://schemas.openxmlformats.org/drawingml/2006/main">
            <a:pPr>
              <a:defRPr sz="2025" b="1">
                <a:solidFill>
                  <a:srgbClr val="253C4D"/>
                </a:solidFill>
                <a:latin typeface="Yu Gothic"/>
                <a:ea typeface="Yu Gothic"/>
                <a:cs typeface="Yu Gothic"/>
              </a:defRPr>
            </a:pPr>
            <a:r>
              <a:rPr sz="2025" b="1">
                <a:solidFill>
                  <a:srgbClr val="253C4D"/>
                </a:solidFill>
                <a:latin typeface="Yu Gothic"/>
                <a:ea typeface="Yu Gothic"/>
                <a:cs typeface="Yu Gothic"/>
              </a:rPr>
              <a:t>② 小さい MFA で、L方向の E が高い傾向</a:t>
            </a:r>
          </a:p>
        </p:txBody>
      </p:sp>
      <p:sp>
        <p:nvSpPr>
          <p:cNvPr id="16" name="">
            <a:extLst xmlns:a="http://schemas.openxmlformats.org/drawingml/2006/main">
              <a:ext uri="{FF2B5EF4-FFF2-40B4-BE49-F238E27FC236}">
                <a16:creationId xmlns:a16="http://schemas.microsoft.com/office/drawing/2014/main" id="{64ABEDF5-9BE7-4070-85EB-68A04379460C}"/>
              </a:ext>
            </a:extLst>
          </p:cNvPr>
          <p:cNvSpPr>
            <a:spLocks xmlns:a="http://schemas.openxmlformats.org/drawingml/2006/main" noGrp="1"/>
          </p:cNvSpPr>
          <p:nvPr/>
        </p:nvSpPr>
        <p:spPr>
          <a:xfrm xmlns:a="http://schemas.openxmlformats.org/drawingml/2006/main">
            <a:off x="838200" y="50387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③ 図を回しても、二つの向きの間は10°</a:t>
            </a:r>
          </a:p>
        </p:txBody>
      </p:sp>
      <p:sp>
        <p:nvSpPr>
          <p:cNvPr id="17" name="">
            <a:extLst xmlns:a="http://schemas.openxmlformats.org/drawingml/2006/main">
              <a:ext uri="{FF2B5EF4-FFF2-40B4-BE49-F238E27FC236}">
                <a16:creationId xmlns:a16="http://schemas.microsoft.com/office/drawing/2014/main" id="{B0FE1DC4-1B49-4FBB-A9E2-5BC1981CE53A}"/>
              </a:ext>
            </a:extLst>
          </p:cNvPr>
          <p:cNvSpPr>
            <a:spLocks xmlns:a="http://schemas.openxmlformats.org/drawingml/2006/main" noGrp="1"/>
          </p:cNvSpPr>
          <p:nvPr/>
        </p:nvSpPr>
        <p:spPr>
          <a:xfrm xmlns:a="http://schemas.openxmlformats.org/drawingml/2006/main">
            <a:off x="838200" y="544830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④ 目切れ：部材軸と繊維方向</a:t>
            </a:r>
          </a:p>
        </p:txBody>
      </p:sp>
      <p:sp>
        <p:nvSpPr>
          <p:cNvPr id="18" name="">
            <a:extLst xmlns:a="http://schemas.openxmlformats.org/drawingml/2006/main">
              <a:ext uri="{FF2B5EF4-FFF2-40B4-BE49-F238E27FC236}">
                <a16:creationId xmlns:a16="http://schemas.microsoft.com/office/drawing/2014/main" id="{7CA1605D-B524-4511-B190-AB4FF8B71CCC}"/>
              </a:ext>
            </a:extLst>
          </p:cNvPr>
          <p:cNvSpPr>
            <a:spLocks xmlns:a="http://schemas.openxmlformats.org/drawingml/2006/main" noGrp="1"/>
          </p:cNvSpPr>
          <p:nvPr/>
        </p:nvSpPr>
        <p:spPr>
          <a:xfrm xmlns:a="http://schemas.openxmlformats.org/drawingml/2006/main">
            <a:off x="838200" y="585787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　 MFA：細胞軸と壁内部の配向</a:t>
            </a:r>
          </a:p>
        </p:txBody>
      </p:sp>
    </p:spTree>
    <p:extLst>
      <p:ext uri="{BB962C8B-B14F-4D97-AF65-F5344CB8AC3E}">
        <p14:creationId xmlns:p14="http://schemas.microsoft.com/office/powerpoint/2010/main" val="5851696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EF14B8-6097-458A-81F2-5322CEB8193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計算例：同じ応力での伸び</a:t>
            </a:r>
          </a:p>
        </p:txBody>
      </p:sp>
      <p:sp>
        <p:nvSpPr>
          <p:cNvPr id="2" name="">
            <a:extLst xmlns:a="http://schemas.openxmlformats.org/drawingml/2006/main">
              <a:ext uri="{FF2B5EF4-FFF2-40B4-BE49-F238E27FC236}">
                <a16:creationId xmlns:a16="http://schemas.microsoft.com/office/drawing/2014/main" id="{72D81FA6-E5C5-4BE5-8F14-CBB327AE140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4D62A02-77AF-4D55-9144-E523662F09F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81E7EC81-779D-4543-ABED-9FBF06210F7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22FA378F-C19A-43AE-A199-B4DE3B90853C}"/>
              </a:ext>
            </a:extLst>
          </p:cNvPr>
          <p:cNvSpPr>
            <a:spLocks xmlns:a="http://schemas.openxmlformats.org/drawingml/2006/main" noGrp="1"/>
          </p:cNvSpPr>
          <p:nvPr/>
        </p:nvSpPr>
        <p:spPr>
          <a:xfrm xmlns:a="http://schemas.openxmlformats.org/drawingml/2006/main">
            <a:off x="838200" y="16668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53C4D"/>
                </a:solidFill>
                <a:latin typeface="Yu Gothic"/>
                <a:ea typeface="Yu Gothic"/>
                <a:cs typeface="Yu Gothic"/>
              </a:defRPr>
            </a:defPPr>
            <a:lvl1pPr>
              <a:defRPr sz="2325" b="1">
                <a:solidFill>
                  <a:srgbClr val="253C4D"/>
                </a:solidFill>
                <a:latin typeface="Yu Gothic"/>
                <a:ea typeface="Yu Gothic"/>
                <a:cs typeface="Yu Gothic"/>
              </a:defRPr>
            </a:lvl1pPr>
            <a:lvl2pPr>
              <a:defRPr sz="2325" b="1">
                <a:solidFill>
                  <a:srgbClr val="253C4D"/>
                </a:solidFill>
                <a:latin typeface="Yu Gothic"/>
                <a:ea typeface="Yu Gothic"/>
                <a:cs typeface="Yu Gothic"/>
              </a:defRPr>
            </a:lvl2pPr>
            <a:lvl3pPr>
              <a:defRPr sz="2325" b="1">
                <a:solidFill>
                  <a:srgbClr val="253C4D"/>
                </a:solidFill>
                <a:latin typeface="Yu Gothic"/>
                <a:ea typeface="Yu Gothic"/>
                <a:cs typeface="Yu Gothic"/>
              </a:defRPr>
            </a:lvl3pPr>
            <a:lvl4pPr>
              <a:defRPr sz="2325" b="1">
                <a:solidFill>
                  <a:srgbClr val="253C4D"/>
                </a:solidFill>
                <a:latin typeface="Yu Gothic"/>
                <a:ea typeface="Yu Gothic"/>
                <a:cs typeface="Yu Gothic"/>
              </a:defRPr>
            </a:lvl4pPr>
            <a:lvl5pPr>
              <a:defRPr sz="2325" b="1">
                <a:solidFill>
                  <a:srgbClr val="253C4D"/>
                </a:solidFill>
                <a:latin typeface="Yu Gothic"/>
                <a:ea typeface="Yu Gothic"/>
                <a:cs typeface="Yu Gothic"/>
              </a:defRPr>
            </a:lvl5pPr>
            <a:lvl6pPr>
              <a:defRPr sz="2325" b="1">
                <a:solidFill>
                  <a:srgbClr val="253C4D"/>
                </a:solidFill>
                <a:latin typeface="Yu Gothic"/>
                <a:ea typeface="Yu Gothic"/>
                <a:cs typeface="Yu Gothic"/>
              </a:defRPr>
            </a:lvl6pPr>
            <a:lvl7pPr>
              <a:defRPr sz="2325" b="1">
                <a:solidFill>
                  <a:srgbClr val="253C4D"/>
                </a:solidFill>
                <a:latin typeface="Yu Gothic"/>
                <a:ea typeface="Yu Gothic"/>
                <a:cs typeface="Yu Gothic"/>
              </a:defRPr>
            </a:lvl7pPr>
            <a:lvl8pPr>
              <a:defRPr sz="2325" b="1">
                <a:solidFill>
                  <a:srgbClr val="253C4D"/>
                </a:solidFill>
                <a:latin typeface="Yu Gothic"/>
                <a:ea typeface="Yu Gothic"/>
                <a:cs typeface="Yu Gothic"/>
              </a:defRPr>
            </a:lvl8pPr>
            <a:lvl9pPr>
              <a:defRPr sz="2325" b="1">
                <a:solidFill>
                  <a:srgbClr val="253C4D"/>
                </a:solidFill>
                <a:latin typeface="Yu Gothic"/>
                <a:ea typeface="Yu Gothic"/>
                <a:cs typeface="Yu Gothic"/>
              </a:defRPr>
            </a:lvl9pPr>
          </a:lstStyle>
          <a:p xmlns:a="http://schemas.openxmlformats.org/drawingml/2006/main">
            <a:pPr>
              <a:defRPr sz="2325" b="1">
                <a:solidFill>
                  <a:srgbClr val="253C4D"/>
                </a:solidFill>
                <a:latin typeface="Yu Gothic"/>
                <a:ea typeface="Yu Gothic"/>
                <a:cs typeface="Yu Gothic"/>
              </a:defRPr>
            </a:pPr>
            <a:r>
              <a:rPr sz="2325" b="1">
                <a:solidFill>
                  <a:srgbClr val="253C4D"/>
                </a:solidFill>
                <a:latin typeface="Yu Gothic"/>
                <a:ea typeface="Yu Gothic"/>
                <a:cs typeface="Yu Gothic"/>
              </a:rPr>
              <a:t>条件：σ = 6 MPa、l = 100 mm、比例する弾性範囲</a:t>
            </a:r>
          </a:p>
        </p:txBody>
      </p:sp>
      <p:sp>
        <p:nvSpPr>
          <p:cNvPr id="6" name="">
            <a:extLst xmlns:a="http://schemas.openxmlformats.org/drawingml/2006/main">
              <a:ext uri="{FF2B5EF4-FFF2-40B4-BE49-F238E27FC236}">
                <a16:creationId xmlns:a16="http://schemas.microsoft.com/office/drawing/2014/main" id="{5654099D-C86C-4D01-9A78-90B380CDB7D7}"/>
              </a:ext>
            </a:extLst>
          </p:cNvPr>
          <p:cNvSpPr>
            <a:spLocks xmlns:a="http://schemas.openxmlformats.org/drawingml/2006/main" noGrp="1"/>
          </p:cNvSpPr>
          <p:nvPr/>
        </p:nvSpPr>
        <p:spPr>
          <a:xfrm xmlns:a="http://schemas.openxmlformats.org/drawingml/2006/main">
            <a:off x="838200" y="25336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E = 6,000 MPa：ε = 6/6,000 = 0.001</a:t>
            </a:r>
          </a:p>
        </p:txBody>
      </p:sp>
      <p:sp>
        <p:nvSpPr>
          <p:cNvPr id="7" name="">
            <a:extLst xmlns:a="http://schemas.openxmlformats.org/drawingml/2006/main">
              <a:ext uri="{FF2B5EF4-FFF2-40B4-BE49-F238E27FC236}">
                <a16:creationId xmlns:a16="http://schemas.microsoft.com/office/drawing/2014/main" id="{50C84DBE-47F7-4FF3-8AD8-4D7F7361458B}"/>
              </a:ext>
            </a:extLst>
          </p:cNvPr>
          <p:cNvSpPr>
            <a:spLocks xmlns:a="http://schemas.openxmlformats.org/drawingml/2006/main" noGrp="1"/>
          </p:cNvSpPr>
          <p:nvPr/>
        </p:nvSpPr>
        <p:spPr>
          <a:xfrm xmlns:a="http://schemas.openxmlformats.org/drawingml/2006/main">
            <a:off x="838200" y="34004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Δl = 0.001 × 100 = 0.100 mm</a:t>
            </a:r>
          </a:p>
        </p:txBody>
      </p:sp>
      <p:sp>
        <p:nvSpPr>
          <p:cNvPr id="8" name="">
            <a:extLst xmlns:a="http://schemas.openxmlformats.org/drawingml/2006/main">
              <a:ext uri="{FF2B5EF4-FFF2-40B4-BE49-F238E27FC236}">
                <a16:creationId xmlns:a16="http://schemas.microsoft.com/office/drawing/2014/main" id="{24D3F6F6-F455-4CE0-B8A9-78407667B2F5}"/>
              </a:ext>
            </a:extLst>
          </p:cNvPr>
          <p:cNvSpPr>
            <a:spLocks xmlns:a="http://schemas.openxmlformats.org/drawingml/2006/main" noGrp="1"/>
          </p:cNvSpPr>
          <p:nvPr/>
        </p:nvSpPr>
        <p:spPr>
          <a:xfrm xmlns:a="http://schemas.openxmlformats.org/drawingml/2006/main">
            <a:off x="838200" y="42672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E = 12,000 MPa：Δl = (6/12,000) × 100 = 0.050 mm</a:t>
            </a:r>
          </a:p>
        </p:txBody>
      </p:sp>
      <p:sp>
        <p:nvSpPr>
          <p:cNvPr id="9" name="">
            <a:extLst xmlns:a="http://schemas.openxmlformats.org/drawingml/2006/main">
              <a:ext uri="{FF2B5EF4-FFF2-40B4-BE49-F238E27FC236}">
                <a16:creationId xmlns:a16="http://schemas.microsoft.com/office/drawing/2014/main" id="{0AC7E1E4-CD43-43A8-BE6D-9A37CE225F41}"/>
              </a:ext>
            </a:extLst>
          </p:cNvPr>
          <p:cNvSpPr>
            <a:spLocks xmlns:a="http://schemas.openxmlformats.org/drawingml/2006/main" noGrp="1"/>
          </p:cNvSpPr>
          <p:nvPr/>
        </p:nvSpPr>
        <p:spPr>
          <a:xfrm xmlns:a="http://schemas.openxmlformats.org/drawingml/2006/main">
            <a:off x="838200" y="51339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E は説明用の設定値。MFAから算出した値ではない。</a:t>
            </a:r>
          </a:p>
        </p:txBody>
      </p:sp>
    </p:spTree>
    <p:extLst>
      <p:ext uri="{BB962C8B-B14F-4D97-AF65-F5344CB8AC3E}">
        <p14:creationId xmlns:p14="http://schemas.microsoft.com/office/powerpoint/2010/main" val="80377727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37E3C35-CB45-4201-9FFD-1010E8215B8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中学校で使う模型と説明</a:t>
            </a:r>
          </a:p>
        </p:txBody>
      </p:sp>
      <p:sp>
        <p:nvSpPr>
          <p:cNvPr id="2" name="">
            <a:extLst xmlns:a="http://schemas.openxmlformats.org/drawingml/2006/main">
              <a:ext uri="{FF2B5EF4-FFF2-40B4-BE49-F238E27FC236}">
                <a16:creationId xmlns:a16="http://schemas.microsoft.com/office/drawing/2014/main" id="{34512175-875D-4404-A831-212E90941EF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164E44-FFBF-4F27-B5D3-3677A15EE05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37E59A62-538F-4B0F-8A19-DBCB3CDCBDA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E920E60B-A7D3-4AC5-8058-4EA640FB36BA}"/>
              </a:ext>
            </a:extLst>
          </p:cNvPr>
          <p:cNvSpPr>
            <a:spLocks xmlns:a="http://schemas.openxmlformats.org/drawingml/2006/main" noGrp="1"/>
          </p:cNvSpPr>
          <p:nvPr/>
        </p:nvSpPr>
        <p:spPr>
          <a:xfrm xmlns:a="http://schemas.openxmlformats.org/drawingml/2006/main">
            <a:off x="857250" y="1714500"/>
            <a:ext cx="1667636"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60B17B0A-C90B-4FD3-9682-1D51DFD1F882}"/>
              </a:ext>
            </a:extLst>
          </p:cNvPr>
          <p:cNvSpPr>
            <a:spLocks xmlns:a="http://schemas.openxmlformats.org/drawingml/2006/main" noGrp="1"/>
          </p:cNvSpPr>
          <p:nvPr/>
        </p:nvSpPr>
        <p:spPr>
          <a:xfrm xmlns:a="http://schemas.openxmlformats.org/drawingml/2006/main">
            <a:off x="876300" y="211455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DD97B470-C67E-4D0C-BF70-DB21A5913038}"/>
              </a:ext>
            </a:extLst>
          </p:cNvPr>
          <p:cNvSpPr>
            <a:spLocks xmlns:a="http://schemas.openxmlformats.org/drawingml/2006/main" noGrp="1"/>
          </p:cNvSpPr>
          <p:nvPr/>
        </p:nvSpPr>
        <p:spPr>
          <a:xfrm xmlns:a="http://schemas.openxmlformats.org/drawingml/2006/main">
            <a:off x="2524886" y="1714500"/>
            <a:ext cx="233469" cy="1000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4E146B46-4697-4436-AE3C-2452AED35A85}"/>
              </a:ext>
            </a:extLst>
          </p:cNvPr>
          <p:cNvSpPr>
            <a:spLocks xmlns:a="http://schemas.openxmlformats.org/drawingml/2006/main" noGrp="1"/>
          </p:cNvSpPr>
          <p:nvPr/>
        </p:nvSpPr>
        <p:spPr>
          <a:xfrm xmlns:a="http://schemas.openxmlformats.org/drawingml/2006/main">
            <a:off x="2758355" y="1714500"/>
            <a:ext cx="2501454" cy="1000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2B188F1A-B792-472E-ADF7-6E7B097917EA}"/>
              </a:ext>
            </a:extLst>
          </p:cNvPr>
          <p:cNvSpPr>
            <a:spLocks xmlns:a="http://schemas.openxmlformats.org/drawingml/2006/main" noGrp="1"/>
          </p:cNvSpPr>
          <p:nvPr/>
        </p:nvSpPr>
        <p:spPr>
          <a:xfrm xmlns:a="http://schemas.openxmlformats.org/drawingml/2006/main">
            <a:off x="2777405" y="211455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DE82F39F-3AD8-46EC-99F4-84D3D0C1F4C7}"/>
              </a:ext>
            </a:extLst>
          </p:cNvPr>
          <p:cNvSpPr>
            <a:spLocks xmlns:a="http://schemas.openxmlformats.org/drawingml/2006/main" noGrp="1"/>
          </p:cNvSpPr>
          <p:nvPr/>
        </p:nvSpPr>
        <p:spPr>
          <a:xfrm xmlns:a="http://schemas.openxmlformats.org/drawingml/2006/main">
            <a:off x="5259808" y="1714500"/>
            <a:ext cx="366880" cy="1000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F7036584-BD0F-48CD-B3D0-110590E22F88}"/>
              </a:ext>
            </a:extLst>
          </p:cNvPr>
          <p:cNvSpPr>
            <a:spLocks xmlns:a="http://schemas.openxmlformats.org/drawingml/2006/main" noGrp="1"/>
          </p:cNvSpPr>
          <p:nvPr/>
        </p:nvSpPr>
        <p:spPr>
          <a:xfrm xmlns:a="http://schemas.openxmlformats.org/drawingml/2006/main">
            <a:off x="5626688" y="1714500"/>
            <a:ext cx="300174" cy="1000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63E6239E-4240-40BA-A30A-1D1F6741A1BD}"/>
              </a:ext>
            </a:extLst>
          </p:cNvPr>
          <p:cNvSpPr>
            <a:spLocks xmlns:a="http://schemas.openxmlformats.org/drawingml/2006/main" noGrp="1"/>
          </p:cNvSpPr>
          <p:nvPr/>
        </p:nvSpPr>
        <p:spPr>
          <a:xfrm xmlns:a="http://schemas.openxmlformats.org/drawingml/2006/main">
            <a:off x="5926863" y="1714500"/>
            <a:ext cx="300174" cy="100012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5014D512-E632-4117-A24E-8B05715E5F22}"/>
              </a:ext>
            </a:extLst>
          </p:cNvPr>
          <p:cNvSpPr>
            <a:spLocks xmlns:a="http://schemas.openxmlformats.org/drawingml/2006/main" noGrp="1"/>
          </p:cNvSpPr>
          <p:nvPr/>
        </p:nvSpPr>
        <p:spPr>
          <a:xfrm xmlns:a="http://schemas.openxmlformats.org/drawingml/2006/main">
            <a:off x="6227037" y="1714500"/>
            <a:ext cx="300174" cy="1000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015525A1-1C6C-4346-8793-E94D6AB64193}"/>
              </a:ext>
            </a:extLst>
          </p:cNvPr>
          <p:cNvSpPr>
            <a:spLocks xmlns:a="http://schemas.openxmlformats.org/drawingml/2006/main" noGrp="1"/>
          </p:cNvSpPr>
          <p:nvPr/>
        </p:nvSpPr>
        <p:spPr>
          <a:xfrm xmlns:a="http://schemas.openxmlformats.org/drawingml/2006/main">
            <a:off x="6527212" y="1714500"/>
            <a:ext cx="366880" cy="1000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B992ED97-6E9C-412D-891D-68F3F5061301}"/>
              </a:ext>
            </a:extLst>
          </p:cNvPr>
          <p:cNvSpPr>
            <a:spLocks xmlns:a="http://schemas.openxmlformats.org/drawingml/2006/main" noGrp="1"/>
          </p:cNvSpPr>
          <p:nvPr/>
        </p:nvSpPr>
        <p:spPr>
          <a:xfrm xmlns:a="http://schemas.openxmlformats.org/drawingml/2006/main">
            <a:off x="6894092" y="1714500"/>
            <a:ext cx="2501454" cy="1000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EADAFB38-434B-4238-9D7E-5C986B3B4463}"/>
              </a:ext>
            </a:extLst>
          </p:cNvPr>
          <p:cNvSpPr>
            <a:spLocks xmlns:a="http://schemas.openxmlformats.org/drawingml/2006/main" noGrp="1"/>
          </p:cNvSpPr>
          <p:nvPr/>
        </p:nvSpPr>
        <p:spPr>
          <a:xfrm xmlns:a="http://schemas.openxmlformats.org/drawingml/2006/main">
            <a:off x="6913142" y="211455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F8664435-FD8B-40ED-B228-48F7088F89F3}"/>
              </a:ext>
            </a:extLst>
          </p:cNvPr>
          <p:cNvSpPr>
            <a:spLocks xmlns:a="http://schemas.openxmlformats.org/drawingml/2006/main" noGrp="1"/>
          </p:cNvSpPr>
          <p:nvPr/>
        </p:nvSpPr>
        <p:spPr>
          <a:xfrm xmlns:a="http://schemas.openxmlformats.org/drawingml/2006/main">
            <a:off x="9395545" y="1714500"/>
            <a:ext cx="233469" cy="1000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3D25344C-AF34-4F8A-A30D-86131D18660A}"/>
              </a:ext>
            </a:extLst>
          </p:cNvPr>
          <p:cNvSpPr>
            <a:spLocks xmlns:a="http://schemas.openxmlformats.org/drawingml/2006/main" noGrp="1"/>
          </p:cNvSpPr>
          <p:nvPr/>
        </p:nvSpPr>
        <p:spPr>
          <a:xfrm xmlns:a="http://schemas.openxmlformats.org/drawingml/2006/main">
            <a:off x="9629014" y="1714500"/>
            <a:ext cx="1667636"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7FDF3BEE-C863-42CD-8016-4F11BF0002BC}"/>
              </a:ext>
            </a:extLst>
          </p:cNvPr>
          <p:cNvSpPr>
            <a:spLocks xmlns:a="http://schemas.openxmlformats.org/drawingml/2006/main" noGrp="1"/>
          </p:cNvSpPr>
          <p:nvPr/>
        </p:nvSpPr>
        <p:spPr>
          <a:xfrm xmlns:a="http://schemas.openxmlformats.org/drawingml/2006/main">
            <a:off x="9648064" y="211455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5E0F0FB3-A743-43E8-BC67-2E90F50A0F4E}"/>
              </a:ext>
            </a:extLst>
          </p:cNvPr>
          <p:cNvSpPr>
            <a:spLocks xmlns:a="http://schemas.openxmlformats.org/drawingml/2006/main" noGrp="1"/>
          </p:cNvSpPr>
          <p:nvPr/>
        </p:nvSpPr>
        <p:spPr>
          <a:xfrm xmlns:a="http://schemas.openxmlformats.org/drawingml/2006/main">
            <a:off x="857250" y="2886075"/>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8364F"/>
                </a:solidFill>
                <a:latin typeface="Yu Gothic"/>
                <a:ea typeface="Yu Gothic"/>
                <a:cs typeface="Yu Gothic"/>
              </a:defRPr>
            </a:defPPr>
            <a:lvl1pPr>
              <a:defRPr sz="1800" b="1">
                <a:solidFill>
                  <a:srgbClr val="18364F"/>
                </a:solidFill>
                <a:latin typeface="Yu Gothic"/>
                <a:ea typeface="Yu Gothic"/>
                <a:cs typeface="Yu Gothic"/>
              </a:defRPr>
            </a:lvl1pPr>
            <a:lvl2pPr>
              <a:defRPr sz="1800" b="1">
                <a:solidFill>
                  <a:srgbClr val="18364F"/>
                </a:solidFill>
                <a:latin typeface="Yu Gothic"/>
                <a:ea typeface="Yu Gothic"/>
                <a:cs typeface="Yu Gothic"/>
              </a:defRPr>
            </a:lvl2pPr>
            <a:lvl3pPr>
              <a:defRPr sz="1800" b="1">
                <a:solidFill>
                  <a:srgbClr val="18364F"/>
                </a:solidFill>
                <a:latin typeface="Yu Gothic"/>
                <a:ea typeface="Yu Gothic"/>
                <a:cs typeface="Yu Gothic"/>
              </a:defRPr>
            </a:lvl3pPr>
            <a:lvl4pPr>
              <a:defRPr sz="1800" b="1">
                <a:solidFill>
                  <a:srgbClr val="18364F"/>
                </a:solidFill>
                <a:latin typeface="Yu Gothic"/>
                <a:ea typeface="Yu Gothic"/>
                <a:cs typeface="Yu Gothic"/>
              </a:defRPr>
            </a:lvl4pPr>
            <a:lvl5pPr>
              <a:defRPr sz="1800" b="1">
                <a:solidFill>
                  <a:srgbClr val="18364F"/>
                </a:solidFill>
                <a:latin typeface="Yu Gothic"/>
                <a:ea typeface="Yu Gothic"/>
                <a:cs typeface="Yu Gothic"/>
              </a:defRPr>
            </a:lvl5pPr>
            <a:lvl6pPr>
              <a:defRPr sz="1800" b="1">
                <a:solidFill>
                  <a:srgbClr val="18364F"/>
                </a:solidFill>
                <a:latin typeface="Yu Gothic"/>
                <a:ea typeface="Yu Gothic"/>
                <a:cs typeface="Yu Gothic"/>
              </a:defRPr>
            </a:lvl6pPr>
            <a:lvl7pPr>
              <a:defRPr sz="1800" b="1">
                <a:solidFill>
                  <a:srgbClr val="18364F"/>
                </a:solidFill>
                <a:latin typeface="Yu Gothic"/>
                <a:ea typeface="Yu Gothic"/>
                <a:cs typeface="Yu Gothic"/>
              </a:defRPr>
            </a:lvl7pPr>
            <a:lvl8pPr>
              <a:defRPr sz="1800" b="1">
                <a:solidFill>
                  <a:srgbClr val="18364F"/>
                </a:solidFill>
                <a:latin typeface="Yu Gothic"/>
                <a:ea typeface="Yu Gothic"/>
                <a:cs typeface="Yu Gothic"/>
              </a:defRPr>
            </a:lvl8pPr>
            <a:lvl9pPr>
              <a:defRPr sz="1800" b="1">
                <a:solidFill>
                  <a:srgbClr val="18364F"/>
                </a:solidFill>
                <a:latin typeface="Yu Gothic"/>
                <a:ea typeface="Yu Gothic"/>
                <a:cs typeface="Yu Gothic"/>
              </a:defRPr>
            </a:lvl9pPr>
          </a:lstStyle>
          <a:p xmlns:a="http://schemas.openxmlformats.org/drawingml/2006/main">
            <a:pPr>
              <a:defRPr sz="1800" b="1">
                <a:solidFill>
                  <a:srgbClr val="18364F"/>
                </a:solidFill>
                <a:latin typeface="Yu Gothic"/>
                <a:ea typeface="Yu Gothic"/>
                <a:cs typeface="Yu Gothic"/>
              </a:defRPr>
            </a:pPr>
            <a:r>
              <a:rPr sz="1800" b="1">
                <a:solidFill>
                  <a:srgbClr val="18364F"/>
                </a:solidFill>
                <a:latin typeface="Yu Gothic"/>
                <a:ea typeface="Yu Gothic"/>
                <a:cs typeface="Yu Gothic"/>
              </a:rPr>
              <a:t>ストロー模型と、実物の構造の対応</a:t>
            </a:r>
          </a:p>
        </p:txBody>
      </p:sp>
      <p:graphicFrame>
        <p:nvGraphicFramePr>
          <p:cNvPr id="21" name="">
            <a:extLst xmlns:a="http://schemas.openxmlformats.org/drawingml/2006/main">
              <a:ext uri="{FF2B5EF4-FFF2-40B4-BE49-F238E27FC236}">
                <a16:creationId xmlns:a16="http://schemas.microsoft.com/office/drawing/2014/main" id="{30677ACA-D2E6-411A-B394-D33973488E07}"/>
              </a:ext>
            </a:extLst>
          </p:cNvPr>
          <p:cNvGraphicFramePr/>
          <p:nvPr/>
        </p:nvGraphicFramePr>
        <p:xfrm>
          <a:off xmlns:a="http://schemas.openxmlformats.org/drawingml/2006/main" x="838200" y="3448050"/>
          <a:ext xmlns:a="http://schemas.openxmlformats.org/drawingml/2006/main" cx="10477500" cy="2286000"/>
        </p:xfrm>
        <a:graphic xmlns:a="http://schemas.openxmlformats.org/drawingml/2006/main">
          <a:graphicData uri="http://schemas.openxmlformats.org/drawingml/2006/table">
            <a:tbl>
              <a:tblPr/>
              <a:tblGrid>
                <a:gridCol w="2143125"/>
                <a:gridCol w="3762375"/>
                <a:gridCol w="4572000"/>
              </a:tblGrid>
              <a:tr h="571500">
                <a:tc>
                  <a:txBody>
                    <a:bodyPr lIns="95250" tIns="95250" rIns="95250" bIns="95250"/>
                    <a:lstStyle/>
                    <a:p>
                      <a:r>
                        <a:rPr sz="1875" b="1">
                          <a:solidFill>
                            <a:srgbClr val="FFFFFF"/>
                          </a:solidFill>
                          <a:latin typeface="Yu Gothic"/>
                          <a:ea typeface="Yu Gothic"/>
                          <a:cs typeface="Yu Gothic"/>
                        </a:rPr>
                        <a:t>模型の部分</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実物の対応</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説明すること</a:t>
                      </a:r>
                    </a:p>
                  </a:txBody>
                  <a:tcPr marL="91440" marR="91440" marT="45720" marB="45720">
                    <a:solidFill>
                      <a:srgbClr val="18364F"/>
                    </a:solidFill>
                  </a:tcPr>
                </a:tc>
              </a:tr>
              <a:tr h="571500">
                <a:tc>
                  <a:txBody>
                    <a:bodyPr lIns="95250" tIns="95250" rIns="95250" bIns="95250"/>
                    <a:lstStyle/>
                    <a:p>
                      <a:r>
                        <a:rPr sz="1875" b="0">
                          <a:solidFill>
                            <a:srgbClr val="253C4D"/>
                          </a:solidFill>
                          <a:latin typeface="Yu Gothic"/>
                          <a:ea typeface="Yu Gothic"/>
                          <a:cs typeface="Yu Gothic"/>
                        </a:rPr>
                        <a:t>ストロー1本</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細長い細胞</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細胞の長手方向と配列</a:t>
                      </a:r>
                    </a:p>
                  </a:txBody>
                  <a:tcPr marL="91440" marR="91440" marT="45720" marB="45720">
                    <a:solidFill>
                      <a:srgbClr val="F1F5F7"/>
                    </a:solidFill>
                  </a:tcPr>
                </a:tc>
              </a:tr>
              <a:tr h="571500">
                <a:tc>
                  <a:txBody>
                    <a:bodyPr lIns="95250" tIns="95250" rIns="95250" bIns="95250"/>
                    <a:lstStyle/>
                    <a:p>
                      <a:r>
                        <a:rPr sz="1875" b="0">
                          <a:solidFill>
                            <a:srgbClr val="253C4D"/>
                          </a:solidFill>
                          <a:latin typeface="Yu Gothic"/>
                          <a:ea typeface="Yu Gothic"/>
                          <a:cs typeface="Yu Gothic"/>
                        </a:rPr>
                        <a:t>内部の空間</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内腔</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壁と空間の位置関係</a:t>
                      </a:r>
                    </a:p>
                  </a:txBody>
                  <a:tcPr marL="91440" marR="91440" marT="45720" marB="45720">
                    <a:solidFill>
                      <a:srgbClr val="FFFFFF"/>
                    </a:solidFill>
                  </a:tcPr>
                </a:tc>
              </a:tr>
              <a:tr h="571500">
                <a:tc>
                  <a:txBody>
                    <a:bodyPr lIns="95250" tIns="95250" rIns="95250" bIns="95250"/>
                    <a:lstStyle/>
                    <a:p>
                      <a:r>
                        <a:rPr sz="1875" b="0">
                          <a:solidFill>
                            <a:srgbClr val="253C4D"/>
                          </a:solidFill>
                          <a:latin typeface="Yu Gothic"/>
                          <a:ea typeface="Yu Gothic"/>
                          <a:cs typeface="Yu Gothic"/>
                        </a:rPr>
                        <a:t>壁を拡大した図</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細胞壁の層と微細な配向</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細胞全体と壁内部の尺度の違い</a:t>
                      </a:r>
                    </a:p>
                  </a:txBody>
                  <a:tcPr marL="91440" marR="91440" marT="45720" marB="45720">
                    <a:solidFill>
                      <a:srgbClr val="F1F5F7"/>
                    </a:solidFill>
                  </a:tcPr>
                </a:tc>
              </a:tr>
            </a:tbl>
          </a:graphicData>
        </a:graphic>
      </p:graphicFrame>
      <p:sp>
        <p:nvSpPr>
          <p:cNvPr id="22" name="">
            <a:extLst xmlns:a="http://schemas.openxmlformats.org/drawingml/2006/main">
              <a:ext uri="{FF2B5EF4-FFF2-40B4-BE49-F238E27FC236}">
                <a16:creationId xmlns:a16="http://schemas.microsoft.com/office/drawing/2014/main" id="{D926793B-1EA6-44F0-A22A-B672E5E336A1}"/>
              </a:ext>
            </a:extLst>
          </p:cNvPr>
          <p:cNvSpPr>
            <a:spLocks xmlns:a="http://schemas.openxmlformats.org/drawingml/2006/main" noGrp="1"/>
          </p:cNvSpPr>
          <p:nvPr/>
        </p:nvSpPr>
        <p:spPr>
          <a:xfrm xmlns:a="http://schemas.openxmlformats.org/drawingml/2006/main">
            <a:off x="838200" y="59055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defRPr sz="1650" b="0">
                <a:solidFill>
                  <a:srgbClr val="596875"/>
                </a:solidFill>
                <a:latin typeface="Yu Gothic"/>
                <a:ea typeface="Yu Gothic"/>
                <a:cs typeface="Yu Gothic"/>
              </a:defRPr>
            </a:lvl1pPr>
            <a:lvl2pPr>
              <a:defRPr sz="1650" b="0">
                <a:solidFill>
                  <a:srgbClr val="596875"/>
                </a:solidFill>
                <a:latin typeface="Yu Gothic"/>
                <a:ea typeface="Yu Gothic"/>
                <a:cs typeface="Yu Gothic"/>
              </a:defRPr>
            </a:lvl2pPr>
            <a:lvl3pPr>
              <a:defRPr sz="1650" b="0">
                <a:solidFill>
                  <a:srgbClr val="596875"/>
                </a:solidFill>
                <a:latin typeface="Yu Gothic"/>
                <a:ea typeface="Yu Gothic"/>
                <a:cs typeface="Yu Gothic"/>
              </a:defRPr>
            </a:lvl3pPr>
            <a:lvl4pPr>
              <a:defRPr sz="1650" b="0">
                <a:solidFill>
                  <a:srgbClr val="596875"/>
                </a:solidFill>
                <a:latin typeface="Yu Gothic"/>
                <a:ea typeface="Yu Gothic"/>
                <a:cs typeface="Yu Gothic"/>
              </a:defRPr>
            </a:lvl4pPr>
            <a:lvl5pPr>
              <a:defRPr sz="1650" b="0">
                <a:solidFill>
                  <a:srgbClr val="596875"/>
                </a:solidFill>
                <a:latin typeface="Yu Gothic"/>
                <a:ea typeface="Yu Gothic"/>
                <a:cs typeface="Yu Gothic"/>
              </a:defRPr>
            </a:lvl5pPr>
            <a:lvl6pPr>
              <a:defRPr sz="1650" b="0">
                <a:solidFill>
                  <a:srgbClr val="596875"/>
                </a:solidFill>
                <a:latin typeface="Yu Gothic"/>
                <a:ea typeface="Yu Gothic"/>
                <a:cs typeface="Yu Gothic"/>
              </a:defRPr>
            </a:lvl6pPr>
            <a:lvl7pPr>
              <a:defRPr sz="1650" b="0">
                <a:solidFill>
                  <a:srgbClr val="596875"/>
                </a:solidFill>
                <a:latin typeface="Yu Gothic"/>
                <a:ea typeface="Yu Gothic"/>
                <a:cs typeface="Yu Gothic"/>
              </a:defRPr>
            </a:lvl7pPr>
            <a:lvl8pPr>
              <a:defRPr sz="1650" b="0">
                <a:solidFill>
                  <a:srgbClr val="596875"/>
                </a:solidFill>
                <a:latin typeface="Yu Gothic"/>
                <a:ea typeface="Yu Gothic"/>
                <a:cs typeface="Yu Gothic"/>
              </a:defRPr>
            </a:lvl8pPr>
            <a:lvl9pPr>
              <a:defRPr sz="1650" b="0">
                <a:solidFill>
                  <a:srgbClr val="596875"/>
                </a:solidFill>
                <a:latin typeface="Yu Gothic"/>
                <a:ea typeface="Yu Gothic"/>
                <a:cs typeface="Yu Gothic"/>
              </a:defRPr>
            </a:lvl9pPr>
          </a:lstStyle>
          <a:p xmlns:a="http://schemas.openxmlformats.org/drawingml/2006/main">
            <a:pPr>
              <a:defRPr sz="1650" b="0">
                <a:solidFill>
                  <a:srgbClr val="596875"/>
                </a:solidFill>
                <a:latin typeface="Yu Gothic"/>
                <a:ea typeface="Yu Gothic"/>
                <a:cs typeface="Yu Gothic"/>
              </a:defRPr>
            </a:pPr>
            <a:r>
              <a:rPr sz="1650" b="0">
                <a:solidFill>
                  <a:srgbClr val="596875"/>
                </a:solidFill>
                <a:latin typeface="Yu Gothic"/>
                <a:ea typeface="Yu Gothic"/>
                <a:cs typeface="Yu Gothic"/>
              </a:rPr>
              <a:t>模型の対応を示す。大学の専門語を中学生の暗記項目にしない。</a:t>
            </a:r>
          </a:p>
        </p:txBody>
      </p:sp>
    </p:spTree>
    <p:extLst>
      <p:ext uri="{BB962C8B-B14F-4D97-AF65-F5344CB8AC3E}">
        <p14:creationId xmlns:p14="http://schemas.microsoft.com/office/powerpoint/2010/main" val="84258367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51F7B2-2E59-4792-B6EF-A7E935F9838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9AF4F0C1-69DA-4251-B577-D104C97F74D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52C8C56-9ACE-44E3-B727-4FDEABC60EA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第3回・オンデマンド</a:t>
            </a:r>
          </a:p>
        </p:txBody>
      </p:sp>
      <p:sp>
        <p:nvSpPr>
          <p:cNvPr id="4" name="">
            <a:extLst xmlns:a="http://schemas.openxmlformats.org/drawingml/2006/main">
              <a:ext uri="{FF2B5EF4-FFF2-40B4-BE49-F238E27FC236}">
                <a16:creationId xmlns:a16="http://schemas.microsoft.com/office/drawing/2014/main" id="{FADBA6C5-F40E-4A5F-BBAC-1E3554B2409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3108D351-8E7D-4BE8-8AF0-8087DA8FB3FB}"/>
              </a:ext>
            </a:extLst>
          </p:cNvPr>
          <p:cNvSpPr>
            <a:spLocks xmlns:a="http://schemas.openxmlformats.org/drawingml/2006/main" noGrp="1"/>
          </p:cNvSpPr>
          <p:nvPr/>
        </p:nvSpPr>
        <p:spPr>
          <a:xfrm xmlns:a="http://schemas.openxmlformats.org/drawingml/2006/main">
            <a:off x="838200" y="1885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53C4D"/>
                </a:solidFill>
                <a:latin typeface="Yu Gothic"/>
                <a:ea typeface="Yu Gothic"/>
                <a:cs typeface="Yu Gothic"/>
              </a:defRPr>
            </a:defPPr>
            <a:lvl1pPr>
              <a:defRPr sz="2325" b="1">
                <a:solidFill>
                  <a:srgbClr val="253C4D"/>
                </a:solidFill>
                <a:latin typeface="Yu Gothic"/>
                <a:ea typeface="Yu Gothic"/>
                <a:cs typeface="Yu Gothic"/>
              </a:defRPr>
            </a:lvl1pPr>
            <a:lvl2pPr>
              <a:defRPr sz="2325" b="1">
                <a:solidFill>
                  <a:srgbClr val="253C4D"/>
                </a:solidFill>
                <a:latin typeface="Yu Gothic"/>
                <a:ea typeface="Yu Gothic"/>
                <a:cs typeface="Yu Gothic"/>
              </a:defRPr>
            </a:lvl2pPr>
            <a:lvl3pPr>
              <a:defRPr sz="2325" b="1">
                <a:solidFill>
                  <a:srgbClr val="253C4D"/>
                </a:solidFill>
                <a:latin typeface="Yu Gothic"/>
                <a:ea typeface="Yu Gothic"/>
                <a:cs typeface="Yu Gothic"/>
              </a:defRPr>
            </a:lvl3pPr>
            <a:lvl4pPr>
              <a:defRPr sz="2325" b="1">
                <a:solidFill>
                  <a:srgbClr val="253C4D"/>
                </a:solidFill>
                <a:latin typeface="Yu Gothic"/>
                <a:ea typeface="Yu Gothic"/>
                <a:cs typeface="Yu Gothic"/>
              </a:defRPr>
            </a:lvl4pPr>
            <a:lvl5pPr>
              <a:defRPr sz="2325" b="1">
                <a:solidFill>
                  <a:srgbClr val="253C4D"/>
                </a:solidFill>
                <a:latin typeface="Yu Gothic"/>
                <a:ea typeface="Yu Gothic"/>
                <a:cs typeface="Yu Gothic"/>
              </a:defRPr>
            </a:lvl5pPr>
            <a:lvl6pPr>
              <a:defRPr sz="2325" b="1">
                <a:solidFill>
                  <a:srgbClr val="253C4D"/>
                </a:solidFill>
                <a:latin typeface="Yu Gothic"/>
                <a:ea typeface="Yu Gothic"/>
                <a:cs typeface="Yu Gothic"/>
              </a:defRPr>
            </a:lvl6pPr>
            <a:lvl7pPr>
              <a:defRPr sz="2325" b="1">
                <a:solidFill>
                  <a:srgbClr val="253C4D"/>
                </a:solidFill>
                <a:latin typeface="Yu Gothic"/>
                <a:ea typeface="Yu Gothic"/>
                <a:cs typeface="Yu Gothic"/>
              </a:defRPr>
            </a:lvl7pPr>
            <a:lvl8pPr>
              <a:defRPr sz="2325" b="1">
                <a:solidFill>
                  <a:srgbClr val="253C4D"/>
                </a:solidFill>
                <a:latin typeface="Yu Gothic"/>
                <a:ea typeface="Yu Gothic"/>
                <a:cs typeface="Yu Gothic"/>
              </a:defRPr>
            </a:lvl8pPr>
            <a:lvl9pPr>
              <a:defRPr sz="2325" b="1">
                <a:solidFill>
                  <a:srgbClr val="253C4D"/>
                </a:solidFill>
                <a:latin typeface="Yu Gothic"/>
                <a:ea typeface="Yu Gothic"/>
                <a:cs typeface="Yu Gothic"/>
              </a:defRPr>
            </a:lvl9pPr>
          </a:lstStyle>
          <a:p xmlns:a="http://schemas.openxmlformats.org/drawingml/2006/main">
            <a:pPr>
              <a:defRPr sz="2325" b="1">
                <a:solidFill>
                  <a:srgbClr val="253C4D"/>
                </a:solidFill>
                <a:latin typeface="Yu Gothic"/>
                <a:ea typeface="Yu Gothic"/>
                <a:cs typeface="Yu Gothic"/>
              </a:defRPr>
            </a:pPr>
            <a:r>
              <a:rPr sz="2325" b="1">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4FB18464-CDFC-46A2-AF84-96CBC6DE5817}"/>
              </a:ext>
            </a:extLst>
          </p:cNvPr>
          <p:cNvSpPr>
            <a:spLocks xmlns:a="http://schemas.openxmlformats.org/drawingml/2006/main" noGrp="1"/>
          </p:cNvSpPr>
          <p:nvPr/>
        </p:nvSpPr>
        <p:spPr>
          <a:xfrm xmlns:a="http://schemas.openxmlformats.org/drawingml/2006/main">
            <a:off x="838200" y="2838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A81E2FA5-784C-490A-9CF7-6E9D8CA2FCBC}"/>
              </a:ext>
            </a:extLst>
          </p:cNvPr>
          <p:cNvSpPr>
            <a:spLocks xmlns:a="http://schemas.openxmlformats.org/drawingml/2006/main" noGrp="1"/>
          </p:cNvSpPr>
          <p:nvPr/>
        </p:nvSpPr>
        <p:spPr>
          <a:xfrm xmlns:a="http://schemas.openxmlformats.org/drawingml/2006/main">
            <a:off x="838200" y="3790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42FB7496-5C10-42D3-BD24-F21CA4192A98}"/>
              </a:ext>
            </a:extLst>
          </p:cNvPr>
          <p:cNvSpPr>
            <a:spLocks xmlns:a="http://schemas.openxmlformats.org/drawingml/2006/main" noGrp="1"/>
          </p:cNvSpPr>
          <p:nvPr/>
        </p:nvSpPr>
        <p:spPr>
          <a:xfrm xmlns:a="http://schemas.openxmlformats.org/drawingml/2006/main">
            <a:off x="838200" y="47434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再開したら：確認問題　図を見ずに説明へ進みます。</a:t>
            </a:r>
          </a:p>
        </p:txBody>
      </p:sp>
    </p:spTree>
    <p:extLst>
      <p:ext uri="{BB962C8B-B14F-4D97-AF65-F5344CB8AC3E}">
        <p14:creationId xmlns:p14="http://schemas.microsoft.com/office/powerpoint/2010/main" val="154600461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9B57ACB-FC0F-4937-B1D6-5D758F29E7E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確認問題　図を見ずに説明</a:t>
            </a:r>
          </a:p>
        </p:txBody>
      </p:sp>
      <p:sp>
        <p:nvSpPr>
          <p:cNvPr id="2" name="">
            <a:extLst xmlns:a="http://schemas.openxmlformats.org/drawingml/2006/main">
              <a:ext uri="{FF2B5EF4-FFF2-40B4-BE49-F238E27FC236}">
                <a16:creationId xmlns:a16="http://schemas.microsoft.com/office/drawing/2014/main" id="{720F74B5-678F-4BF9-9B75-D95151848B7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A2A6E8-DCE9-4F13-975D-1CCB9A6EF1C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BBDE0413-8597-473D-8616-EEA380B4547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28FB86B3-3311-4EC2-B8B4-FD88F8FC43D7}"/>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defRPr sz="2175" b="1">
                <a:solidFill>
                  <a:srgbClr val="253C4D"/>
                </a:solidFill>
                <a:latin typeface="Yu Gothic"/>
                <a:ea typeface="Yu Gothic"/>
                <a:cs typeface="Yu Gothic"/>
              </a:defRPr>
            </a:lvl1pPr>
            <a:lvl2pPr>
              <a:defRPr sz="2175" b="1">
                <a:solidFill>
                  <a:srgbClr val="253C4D"/>
                </a:solidFill>
                <a:latin typeface="Yu Gothic"/>
                <a:ea typeface="Yu Gothic"/>
                <a:cs typeface="Yu Gothic"/>
              </a:defRPr>
            </a:lvl2pPr>
            <a:lvl3pPr>
              <a:defRPr sz="2175" b="1">
                <a:solidFill>
                  <a:srgbClr val="253C4D"/>
                </a:solidFill>
                <a:latin typeface="Yu Gothic"/>
                <a:ea typeface="Yu Gothic"/>
                <a:cs typeface="Yu Gothic"/>
              </a:defRPr>
            </a:lvl3pPr>
            <a:lvl4pPr>
              <a:defRPr sz="2175" b="1">
                <a:solidFill>
                  <a:srgbClr val="253C4D"/>
                </a:solidFill>
                <a:latin typeface="Yu Gothic"/>
                <a:ea typeface="Yu Gothic"/>
                <a:cs typeface="Yu Gothic"/>
              </a:defRPr>
            </a:lvl4pPr>
            <a:lvl5pPr>
              <a:defRPr sz="2175" b="1">
                <a:solidFill>
                  <a:srgbClr val="253C4D"/>
                </a:solidFill>
                <a:latin typeface="Yu Gothic"/>
                <a:ea typeface="Yu Gothic"/>
                <a:cs typeface="Yu Gothic"/>
              </a:defRPr>
            </a:lvl5pPr>
            <a:lvl6pPr>
              <a:defRPr sz="2175" b="1">
                <a:solidFill>
                  <a:srgbClr val="253C4D"/>
                </a:solidFill>
                <a:latin typeface="Yu Gothic"/>
                <a:ea typeface="Yu Gothic"/>
                <a:cs typeface="Yu Gothic"/>
              </a:defRPr>
            </a:lvl6pPr>
            <a:lvl7pPr>
              <a:defRPr sz="2175" b="1">
                <a:solidFill>
                  <a:srgbClr val="253C4D"/>
                </a:solidFill>
                <a:latin typeface="Yu Gothic"/>
                <a:ea typeface="Yu Gothic"/>
                <a:cs typeface="Yu Gothic"/>
              </a:defRPr>
            </a:lvl7pPr>
            <a:lvl8pPr>
              <a:defRPr sz="2175" b="1">
                <a:solidFill>
                  <a:srgbClr val="253C4D"/>
                </a:solidFill>
                <a:latin typeface="Yu Gothic"/>
                <a:ea typeface="Yu Gothic"/>
                <a:cs typeface="Yu Gothic"/>
              </a:defRPr>
            </a:lvl8pPr>
            <a:lvl9pPr>
              <a:defRPr sz="2175" b="1">
                <a:solidFill>
                  <a:srgbClr val="253C4D"/>
                </a:solidFill>
                <a:latin typeface="Yu Gothic"/>
                <a:ea typeface="Yu Gothic"/>
                <a:cs typeface="Yu Gothic"/>
              </a:defRPr>
            </a:lvl9pPr>
          </a:lstStyle>
          <a:p xmlns:a="http://schemas.openxmlformats.org/drawingml/2006/main">
            <a:pPr>
              <a:defRPr sz="2175" b="1">
                <a:solidFill>
                  <a:srgbClr val="253C4D"/>
                </a:solidFill>
                <a:latin typeface="Yu Gothic"/>
                <a:ea typeface="Yu Gothic"/>
                <a:cs typeface="Yu Gothic"/>
              </a:defRPr>
            </a:pPr>
            <a:r>
              <a:rPr sz="2175" b="1">
                <a:solidFill>
                  <a:srgbClr val="253C4D"/>
                </a:solidFill>
                <a:latin typeface="Yu Gothic"/>
                <a:ea typeface="Yu Gothic"/>
                <a:cs typeface="Yu Gothic"/>
              </a:rPr>
              <a:t>① S2 は、何のどの層か</a:t>
            </a:r>
          </a:p>
        </p:txBody>
      </p:sp>
      <p:sp>
        <p:nvSpPr>
          <p:cNvPr id="6" name="">
            <a:extLst xmlns:a="http://schemas.openxmlformats.org/drawingml/2006/main">
              <a:ext uri="{FF2B5EF4-FFF2-40B4-BE49-F238E27FC236}">
                <a16:creationId xmlns:a16="http://schemas.microsoft.com/office/drawing/2014/main" id="{76AAA50C-585B-4FDA-B91E-A52FC2E08E57}"/>
              </a:ext>
            </a:extLst>
          </p:cNvPr>
          <p:cNvSpPr>
            <a:spLocks xmlns:a="http://schemas.openxmlformats.org/drawingml/2006/main" noGrp="1"/>
          </p:cNvSpPr>
          <p:nvPr/>
        </p:nvSpPr>
        <p:spPr>
          <a:xfrm xmlns:a="http://schemas.openxmlformats.org/drawingml/2006/main">
            <a:off x="838200" y="25527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MFA は、何と何の向きの間の角か</a:t>
            </a:r>
          </a:p>
        </p:txBody>
      </p:sp>
      <p:sp>
        <p:nvSpPr>
          <p:cNvPr id="7" name="">
            <a:extLst xmlns:a="http://schemas.openxmlformats.org/drawingml/2006/main">
              <a:ext uri="{FF2B5EF4-FFF2-40B4-BE49-F238E27FC236}">
                <a16:creationId xmlns:a16="http://schemas.microsoft.com/office/drawing/2014/main" id="{81D5FA60-8E20-4274-AA35-E779D50516FE}"/>
              </a:ext>
            </a:extLst>
          </p:cNvPr>
          <p:cNvSpPr>
            <a:spLocks xmlns:a="http://schemas.openxmlformats.org/drawingml/2006/main" noGrp="1"/>
          </p:cNvSpPr>
          <p:nvPr/>
        </p:nvSpPr>
        <p:spPr>
          <a:xfrm xmlns:a="http://schemas.openxmlformats.org/drawingml/2006/main">
            <a:off x="838200" y="33909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1 μm は何 nm か。小さい単位はどちらか</a:t>
            </a:r>
          </a:p>
        </p:txBody>
      </p:sp>
      <p:sp>
        <p:nvSpPr>
          <p:cNvPr id="8" name="">
            <a:extLst xmlns:a="http://schemas.openxmlformats.org/drawingml/2006/main">
              <a:ext uri="{FF2B5EF4-FFF2-40B4-BE49-F238E27FC236}">
                <a16:creationId xmlns:a16="http://schemas.microsoft.com/office/drawing/2014/main" id="{DDB17BC7-2DA9-4D06-816D-E46946639FDD}"/>
              </a:ext>
            </a:extLst>
          </p:cNvPr>
          <p:cNvSpPr>
            <a:spLocks xmlns:a="http://schemas.openxmlformats.org/drawingml/2006/main" noGrp="1"/>
          </p:cNvSpPr>
          <p:nvPr/>
        </p:nvSpPr>
        <p:spPr>
          <a:xfrm xmlns:a="http://schemas.openxmlformats.org/drawingml/2006/main">
            <a:off x="838200" y="42291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④ 目切れとMFAを、二組の基準線で説明する</a:t>
            </a:r>
          </a:p>
        </p:txBody>
      </p:sp>
      <p:sp>
        <p:nvSpPr>
          <p:cNvPr id="9" name="">
            <a:extLst xmlns:a="http://schemas.openxmlformats.org/drawingml/2006/main">
              <a:ext uri="{FF2B5EF4-FFF2-40B4-BE49-F238E27FC236}">
                <a16:creationId xmlns:a16="http://schemas.microsoft.com/office/drawing/2014/main" id="{AEC5B0E6-2754-422C-BA6B-8F4F6D81FB66}"/>
              </a:ext>
            </a:extLst>
          </p:cNvPr>
          <p:cNvSpPr>
            <a:spLocks xmlns:a="http://schemas.openxmlformats.org/drawingml/2006/main" noGrp="1"/>
          </p:cNvSpPr>
          <p:nvPr/>
        </p:nvSpPr>
        <p:spPr>
          <a:xfrm xmlns:a="http://schemas.openxmlformats.org/drawingml/2006/main">
            <a:off x="838200" y="50673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自己確認用。必要なら一時停止。</a:t>
            </a:r>
          </a:p>
        </p:txBody>
      </p:sp>
    </p:spTree>
    <p:extLst>
      <p:ext uri="{BB962C8B-B14F-4D97-AF65-F5344CB8AC3E}">
        <p14:creationId xmlns:p14="http://schemas.microsoft.com/office/powerpoint/2010/main" val="59407349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A81C78AE-CB54-4C1E-A71F-2EC062E0834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要点の整理</a:t>
            </a:r>
          </a:p>
        </p:txBody>
      </p:sp>
      <p:sp>
        <p:nvSpPr>
          <p:cNvPr id="2" name="">
            <a:extLst xmlns:a="http://schemas.openxmlformats.org/drawingml/2006/main">
              <a:ext uri="{FF2B5EF4-FFF2-40B4-BE49-F238E27FC236}">
                <a16:creationId xmlns:a16="http://schemas.microsoft.com/office/drawing/2014/main" id="{65C72BC7-2655-49DA-8E07-3EB13B9B352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E62CCC-C23D-4C87-BFC5-BCB537D47EC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0AA68BCE-E020-42C7-BC62-0B4B5C01C85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F1F55B91-5BF2-4F47-8C10-33F7FEC232BB}"/>
              </a:ext>
            </a:extLst>
          </p:cNvPr>
          <p:cNvSpPr>
            <a:spLocks xmlns:a="http://schemas.openxmlformats.org/drawingml/2006/main" noGrp="1"/>
          </p:cNvSpPr>
          <p:nvPr/>
        </p:nvSpPr>
        <p:spPr>
          <a:xfrm xmlns:a="http://schemas.openxmlformats.org/drawingml/2006/main">
            <a:off x="876300"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F188B3F0-BE3A-4E70-B6E9-CE7D2BE32A91}"/>
              </a:ext>
            </a:extLst>
          </p:cNvPr>
          <p:cNvSpPr>
            <a:spLocks xmlns:a="http://schemas.openxmlformats.org/drawingml/2006/main" noGrp="1"/>
          </p:cNvSpPr>
          <p:nvPr/>
        </p:nvSpPr>
        <p:spPr>
          <a:xfrm xmlns:a="http://schemas.openxmlformats.org/drawingml/2006/main">
            <a:off x="895350"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88F6E13B-E566-4480-A5BF-5677105DF9A6}"/>
              </a:ext>
            </a:extLst>
          </p:cNvPr>
          <p:cNvSpPr>
            <a:spLocks xmlns:a="http://schemas.openxmlformats.org/drawingml/2006/main" noGrp="1"/>
          </p:cNvSpPr>
          <p:nvPr/>
        </p:nvSpPr>
        <p:spPr>
          <a:xfrm xmlns:a="http://schemas.openxmlformats.org/drawingml/2006/main">
            <a:off x="2543936"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C5C8E74E-A544-44C9-A771-F156005D592D}"/>
              </a:ext>
            </a:extLst>
          </p:cNvPr>
          <p:cNvSpPr>
            <a:spLocks xmlns:a="http://schemas.openxmlformats.org/drawingml/2006/main" noGrp="1"/>
          </p:cNvSpPr>
          <p:nvPr/>
        </p:nvSpPr>
        <p:spPr>
          <a:xfrm xmlns:a="http://schemas.openxmlformats.org/drawingml/2006/main">
            <a:off x="2777405"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81168804-DC1B-4AC6-B347-1E1AAF18DC19}"/>
              </a:ext>
            </a:extLst>
          </p:cNvPr>
          <p:cNvSpPr>
            <a:spLocks xmlns:a="http://schemas.openxmlformats.org/drawingml/2006/main" noGrp="1"/>
          </p:cNvSpPr>
          <p:nvPr/>
        </p:nvSpPr>
        <p:spPr>
          <a:xfrm xmlns:a="http://schemas.openxmlformats.org/drawingml/2006/main">
            <a:off x="2796455"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B35FEC01-96EF-4A2F-91DB-CDD98018E22D}"/>
              </a:ext>
            </a:extLst>
          </p:cNvPr>
          <p:cNvSpPr>
            <a:spLocks xmlns:a="http://schemas.openxmlformats.org/drawingml/2006/main" noGrp="1"/>
          </p:cNvSpPr>
          <p:nvPr/>
        </p:nvSpPr>
        <p:spPr>
          <a:xfrm xmlns:a="http://schemas.openxmlformats.org/drawingml/2006/main">
            <a:off x="5278858"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E8E1E067-2780-4B67-A822-7341B233B839}"/>
              </a:ext>
            </a:extLst>
          </p:cNvPr>
          <p:cNvSpPr>
            <a:spLocks xmlns:a="http://schemas.openxmlformats.org/drawingml/2006/main" noGrp="1"/>
          </p:cNvSpPr>
          <p:nvPr/>
        </p:nvSpPr>
        <p:spPr>
          <a:xfrm xmlns:a="http://schemas.openxmlformats.org/drawingml/2006/main">
            <a:off x="5645738"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399E63BB-C741-4815-8F6F-CA4064A4FB9C}"/>
              </a:ext>
            </a:extLst>
          </p:cNvPr>
          <p:cNvSpPr>
            <a:spLocks xmlns:a="http://schemas.openxmlformats.org/drawingml/2006/main" noGrp="1"/>
          </p:cNvSpPr>
          <p:nvPr/>
        </p:nvSpPr>
        <p:spPr>
          <a:xfrm xmlns:a="http://schemas.openxmlformats.org/drawingml/2006/main">
            <a:off x="5945913" y="1762125"/>
            <a:ext cx="300174" cy="185737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EEA1E40A-53BF-4B7D-A673-57D9D57E7C00}"/>
              </a:ext>
            </a:extLst>
          </p:cNvPr>
          <p:cNvSpPr>
            <a:spLocks xmlns:a="http://schemas.openxmlformats.org/drawingml/2006/main" noGrp="1"/>
          </p:cNvSpPr>
          <p:nvPr/>
        </p:nvSpPr>
        <p:spPr>
          <a:xfrm xmlns:a="http://schemas.openxmlformats.org/drawingml/2006/main">
            <a:off x="6246087" y="1762125"/>
            <a:ext cx="300174" cy="185737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A3C7948F-32A3-4F39-91F2-2525A7F3A037}"/>
              </a:ext>
            </a:extLst>
          </p:cNvPr>
          <p:cNvSpPr>
            <a:spLocks xmlns:a="http://schemas.openxmlformats.org/drawingml/2006/main" noGrp="1"/>
          </p:cNvSpPr>
          <p:nvPr/>
        </p:nvSpPr>
        <p:spPr>
          <a:xfrm xmlns:a="http://schemas.openxmlformats.org/drawingml/2006/main">
            <a:off x="6546262" y="1762125"/>
            <a:ext cx="366880" cy="185737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361C1E6A-A303-402C-ADEB-2932D3CFA760}"/>
              </a:ext>
            </a:extLst>
          </p:cNvPr>
          <p:cNvSpPr>
            <a:spLocks xmlns:a="http://schemas.openxmlformats.org/drawingml/2006/main" noGrp="1"/>
          </p:cNvSpPr>
          <p:nvPr/>
        </p:nvSpPr>
        <p:spPr>
          <a:xfrm xmlns:a="http://schemas.openxmlformats.org/drawingml/2006/main">
            <a:off x="6913142" y="1762125"/>
            <a:ext cx="2501454" cy="185737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63596043-C143-46A9-8F7B-CB8F11B92B26}"/>
              </a:ext>
            </a:extLst>
          </p:cNvPr>
          <p:cNvSpPr>
            <a:spLocks xmlns:a="http://schemas.openxmlformats.org/drawingml/2006/main" noGrp="1"/>
          </p:cNvSpPr>
          <p:nvPr/>
        </p:nvSpPr>
        <p:spPr>
          <a:xfrm xmlns:a="http://schemas.openxmlformats.org/drawingml/2006/main">
            <a:off x="6932192" y="2505075"/>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5B6A2D4B-2F9F-43C5-B3DE-EEC19B89386F}"/>
              </a:ext>
            </a:extLst>
          </p:cNvPr>
          <p:cNvSpPr>
            <a:spLocks xmlns:a="http://schemas.openxmlformats.org/drawingml/2006/main" noGrp="1"/>
          </p:cNvSpPr>
          <p:nvPr/>
        </p:nvSpPr>
        <p:spPr>
          <a:xfrm xmlns:a="http://schemas.openxmlformats.org/drawingml/2006/main">
            <a:off x="9414595" y="1762125"/>
            <a:ext cx="233469" cy="185737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9A723553-C5A6-44ED-A8C0-670161AD0DD2}"/>
              </a:ext>
            </a:extLst>
          </p:cNvPr>
          <p:cNvSpPr>
            <a:spLocks xmlns:a="http://schemas.openxmlformats.org/drawingml/2006/main" noGrp="1"/>
          </p:cNvSpPr>
          <p:nvPr/>
        </p:nvSpPr>
        <p:spPr>
          <a:xfrm xmlns:a="http://schemas.openxmlformats.org/drawingml/2006/main">
            <a:off x="9648064" y="1762125"/>
            <a:ext cx="1667636" cy="18573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41F30127-E4EB-4F1F-B5E7-D8E37973BFDA}"/>
              </a:ext>
            </a:extLst>
          </p:cNvPr>
          <p:cNvSpPr>
            <a:spLocks xmlns:a="http://schemas.openxmlformats.org/drawingml/2006/main" noGrp="1"/>
          </p:cNvSpPr>
          <p:nvPr/>
        </p:nvSpPr>
        <p:spPr>
          <a:xfrm xmlns:a="http://schemas.openxmlformats.org/drawingml/2006/main">
            <a:off x="9667114" y="2505075"/>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defRPr sz="2100" b="1">
                <a:solidFill>
                  <a:srgbClr val="18364F"/>
                </a:solidFill>
                <a:latin typeface="Yu Gothic"/>
                <a:ea typeface="Yu Gothic"/>
                <a:cs typeface="Yu Gothic"/>
              </a:defRPr>
            </a:lvl1pPr>
            <a:lvl2pPr>
              <a:defRPr sz="2100" b="1">
                <a:solidFill>
                  <a:srgbClr val="18364F"/>
                </a:solidFill>
                <a:latin typeface="Yu Gothic"/>
                <a:ea typeface="Yu Gothic"/>
                <a:cs typeface="Yu Gothic"/>
              </a:defRPr>
            </a:lvl2pPr>
            <a:lvl3pPr>
              <a:defRPr sz="2100" b="1">
                <a:solidFill>
                  <a:srgbClr val="18364F"/>
                </a:solidFill>
                <a:latin typeface="Yu Gothic"/>
                <a:ea typeface="Yu Gothic"/>
                <a:cs typeface="Yu Gothic"/>
              </a:defRPr>
            </a:lvl3pPr>
            <a:lvl4pPr>
              <a:defRPr sz="2100" b="1">
                <a:solidFill>
                  <a:srgbClr val="18364F"/>
                </a:solidFill>
                <a:latin typeface="Yu Gothic"/>
                <a:ea typeface="Yu Gothic"/>
                <a:cs typeface="Yu Gothic"/>
              </a:defRPr>
            </a:lvl4pPr>
            <a:lvl5pPr>
              <a:defRPr sz="2100" b="1">
                <a:solidFill>
                  <a:srgbClr val="18364F"/>
                </a:solidFill>
                <a:latin typeface="Yu Gothic"/>
                <a:ea typeface="Yu Gothic"/>
                <a:cs typeface="Yu Gothic"/>
              </a:defRPr>
            </a:lvl5pPr>
            <a:lvl6pPr>
              <a:defRPr sz="2100" b="1">
                <a:solidFill>
                  <a:srgbClr val="18364F"/>
                </a:solidFill>
                <a:latin typeface="Yu Gothic"/>
                <a:ea typeface="Yu Gothic"/>
                <a:cs typeface="Yu Gothic"/>
              </a:defRPr>
            </a:lvl6pPr>
            <a:lvl7pPr>
              <a:defRPr sz="2100" b="1">
                <a:solidFill>
                  <a:srgbClr val="18364F"/>
                </a:solidFill>
                <a:latin typeface="Yu Gothic"/>
                <a:ea typeface="Yu Gothic"/>
                <a:cs typeface="Yu Gothic"/>
              </a:defRPr>
            </a:lvl7pPr>
            <a:lvl8pPr>
              <a:defRPr sz="2100" b="1">
                <a:solidFill>
                  <a:srgbClr val="18364F"/>
                </a:solidFill>
                <a:latin typeface="Yu Gothic"/>
                <a:ea typeface="Yu Gothic"/>
                <a:cs typeface="Yu Gothic"/>
              </a:defRPr>
            </a:lvl8pPr>
            <a:lvl9pPr>
              <a:defRPr sz="2100" b="1">
                <a:solidFill>
                  <a:srgbClr val="18364F"/>
                </a:solidFill>
                <a:latin typeface="Yu Gothic"/>
                <a:ea typeface="Yu Gothic"/>
                <a:cs typeface="Yu Gothic"/>
              </a:defRPr>
            </a:lvl9pPr>
          </a:lstStyle>
          <a:p xmlns:a="http://schemas.openxmlformats.org/drawingml/2006/main">
            <a:pPr>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5973AB6E-778B-4E4A-A3DA-E649F1477A1D}"/>
              </a:ext>
            </a:extLst>
          </p:cNvPr>
          <p:cNvSpPr>
            <a:spLocks xmlns:a="http://schemas.openxmlformats.org/drawingml/2006/main" noGrp="1"/>
          </p:cNvSpPr>
          <p:nvPr/>
        </p:nvSpPr>
        <p:spPr>
          <a:xfrm xmlns:a="http://schemas.openxmlformats.org/drawingml/2006/main">
            <a:off x="266067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1" name="">
            <a:extLst xmlns:a="http://schemas.openxmlformats.org/drawingml/2006/main">
              <a:ext uri="{FF2B5EF4-FFF2-40B4-BE49-F238E27FC236}">
                <a16:creationId xmlns:a16="http://schemas.microsoft.com/office/drawing/2014/main" id="{57F52B7A-A06F-49D0-9757-8AF11E109D45}"/>
              </a:ext>
            </a:extLst>
          </p:cNvPr>
          <p:cNvSpPr>
            <a:spLocks xmlns:a="http://schemas.openxmlformats.org/drawingml/2006/main" noGrp="1"/>
          </p:cNvSpPr>
          <p:nvPr/>
        </p:nvSpPr>
        <p:spPr>
          <a:xfrm xmlns:a="http://schemas.openxmlformats.org/drawingml/2006/main">
            <a:off x="255589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22" name="">
            <a:extLst xmlns:a="http://schemas.openxmlformats.org/drawingml/2006/main">
              <a:ext uri="{FF2B5EF4-FFF2-40B4-BE49-F238E27FC236}">
                <a16:creationId xmlns:a16="http://schemas.microsoft.com/office/drawing/2014/main" id="{70C37898-5AFD-4392-98B1-98BCB12ED6DA}"/>
              </a:ext>
            </a:extLst>
          </p:cNvPr>
          <p:cNvSpPr>
            <a:spLocks xmlns:a="http://schemas.openxmlformats.org/drawingml/2006/main" noGrp="1"/>
          </p:cNvSpPr>
          <p:nvPr/>
        </p:nvSpPr>
        <p:spPr>
          <a:xfrm xmlns:a="http://schemas.openxmlformats.org/drawingml/2006/main">
            <a:off x="5462298"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3" name="">
            <a:extLst xmlns:a="http://schemas.openxmlformats.org/drawingml/2006/main">
              <a:ext uri="{FF2B5EF4-FFF2-40B4-BE49-F238E27FC236}">
                <a16:creationId xmlns:a16="http://schemas.microsoft.com/office/drawing/2014/main" id="{DBA0FC79-DD69-42C9-A79E-78899E7EEBDE}"/>
              </a:ext>
            </a:extLst>
          </p:cNvPr>
          <p:cNvSpPr>
            <a:spLocks xmlns:a="http://schemas.openxmlformats.org/drawingml/2006/main" noGrp="1"/>
          </p:cNvSpPr>
          <p:nvPr/>
        </p:nvSpPr>
        <p:spPr>
          <a:xfrm xmlns:a="http://schemas.openxmlformats.org/drawingml/2006/main">
            <a:off x="5357523"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24" name="">
            <a:extLst xmlns:a="http://schemas.openxmlformats.org/drawingml/2006/main">
              <a:ext uri="{FF2B5EF4-FFF2-40B4-BE49-F238E27FC236}">
                <a16:creationId xmlns:a16="http://schemas.microsoft.com/office/drawing/2014/main" id="{1C4FA7A3-F645-47E9-B838-8D84274084AC}"/>
              </a:ext>
            </a:extLst>
          </p:cNvPr>
          <p:cNvSpPr>
            <a:spLocks xmlns:a="http://schemas.openxmlformats.org/drawingml/2006/main" noGrp="1"/>
          </p:cNvSpPr>
          <p:nvPr/>
        </p:nvSpPr>
        <p:spPr>
          <a:xfrm xmlns:a="http://schemas.openxmlformats.org/drawingml/2006/main">
            <a:off x="5795826"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5" name="">
            <a:extLst xmlns:a="http://schemas.openxmlformats.org/drawingml/2006/main">
              <a:ext uri="{FF2B5EF4-FFF2-40B4-BE49-F238E27FC236}">
                <a16:creationId xmlns:a16="http://schemas.microsoft.com/office/drawing/2014/main" id="{53210C51-5311-4542-AA0D-D7E378033AF5}"/>
              </a:ext>
            </a:extLst>
          </p:cNvPr>
          <p:cNvSpPr>
            <a:spLocks xmlns:a="http://schemas.openxmlformats.org/drawingml/2006/main" noGrp="1"/>
          </p:cNvSpPr>
          <p:nvPr/>
        </p:nvSpPr>
        <p:spPr>
          <a:xfrm xmlns:a="http://schemas.openxmlformats.org/drawingml/2006/main">
            <a:off x="5691051"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26" name="">
            <a:extLst xmlns:a="http://schemas.openxmlformats.org/drawingml/2006/main">
              <a:ext uri="{FF2B5EF4-FFF2-40B4-BE49-F238E27FC236}">
                <a16:creationId xmlns:a16="http://schemas.microsoft.com/office/drawing/2014/main" id="{2E787AB7-F465-467F-8AF5-C843D723B7A0}"/>
              </a:ext>
            </a:extLst>
          </p:cNvPr>
          <p:cNvSpPr>
            <a:spLocks xmlns:a="http://schemas.openxmlformats.org/drawingml/2006/main" noGrp="1"/>
          </p:cNvSpPr>
          <p:nvPr/>
        </p:nvSpPr>
        <p:spPr>
          <a:xfrm xmlns:a="http://schemas.openxmlformats.org/drawingml/2006/main">
            <a:off x="6096000"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7" name="">
            <a:extLst xmlns:a="http://schemas.openxmlformats.org/drawingml/2006/main">
              <a:ext uri="{FF2B5EF4-FFF2-40B4-BE49-F238E27FC236}">
                <a16:creationId xmlns:a16="http://schemas.microsoft.com/office/drawing/2014/main" id="{3F6B813A-295E-49BF-BBEF-067D0C8FF7AF}"/>
              </a:ext>
            </a:extLst>
          </p:cNvPr>
          <p:cNvSpPr>
            <a:spLocks xmlns:a="http://schemas.openxmlformats.org/drawingml/2006/main" noGrp="1"/>
          </p:cNvSpPr>
          <p:nvPr/>
        </p:nvSpPr>
        <p:spPr>
          <a:xfrm xmlns:a="http://schemas.openxmlformats.org/drawingml/2006/main">
            <a:off x="5991225"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I</a:t>
            </a:r>
          </a:p>
        </p:txBody>
      </p:sp>
      <p:sp>
        <p:nvSpPr>
          <p:cNvPr id="28" name="">
            <a:extLst xmlns:a="http://schemas.openxmlformats.org/drawingml/2006/main">
              <a:ext uri="{FF2B5EF4-FFF2-40B4-BE49-F238E27FC236}">
                <a16:creationId xmlns:a16="http://schemas.microsoft.com/office/drawing/2014/main" id="{45D028FC-FDF9-44CE-8B49-DFA9F5FB16E8}"/>
              </a:ext>
            </a:extLst>
          </p:cNvPr>
          <p:cNvSpPr>
            <a:spLocks xmlns:a="http://schemas.openxmlformats.org/drawingml/2006/main" noGrp="1"/>
          </p:cNvSpPr>
          <p:nvPr/>
        </p:nvSpPr>
        <p:spPr>
          <a:xfrm xmlns:a="http://schemas.openxmlformats.org/drawingml/2006/main">
            <a:off x="6396174"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9" name="">
            <a:extLst xmlns:a="http://schemas.openxmlformats.org/drawingml/2006/main">
              <a:ext uri="{FF2B5EF4-FFF2-40B4-BE49-F238E27FC236}">
                <a16:creationId xmlns:a16="http://schemas.microsoft.com/office/drawing/2014/main" id="{E9B07143-DB58-4179-A6CC-25F12A59E40F}"/>
              </a:ext>
            </a:extLst>
          </p:cNvPr>
          <p:cNvSpPr>
            <a:spLocks xmlns:a="http://schemas.openxmlformats.org/drawingml/2006/main" noGrp="1"/>
          </p:cNvSpPr>
          <p:nvPr/>
        </p:nvSpPr>
        <p:spPr>
          <a:xfrm xmlns:a="http://schemas.openxmlformats.org/drawingml/2006/main">
            <a:off x="6291399"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30" name="">
            <a:extLst xmlns:a="http://schemas.openxmlformats.org/drawingml/2006/main">
              <a:ext uri="{FF2B5EF4-FFF2-40B4-BE49-F238E27FC236}">
                <a16:creationId xmlns:a16="http://schemas.microsoft.com/office/drawing/2014/main" id="{EBA342DB-B6CB-4A6C-9F82-6437162A49BB}"/>
              </a:ext>
            </a:extLst>
          </p:cNvPr>
          <p:cNvSpPr>
            <a:spLocks xmlns:a="http://schemas.openxmlformats.org/drawingml/2006/main" noGrp="1"/>
          </p:cNvSpPr>
          <p:nvPr/>
        </p:nvSpPr>
        <p:spPr>
          <a:xfrm xmlns:a="http://schemas.openxmlformats.org/drawingml/2006/main">
            <a:off x="6729702" y="361950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31" name="">
            <a:extLst xmlns:a="http://schemas.openxmlformats.org/drawingml/2006/main">
              <a:ext uri="{FF2B5EF4-FFF2-40B4-BE49-F238E27FC236}">
                <a16:creationId xmlns:a16="http://schemas.microsoft.com/office/drawing/2014/main" id="{04A6C14C-8780-431F-95F8-AC3E5323E677}"/>
              </a:ext>
            </a:extLst>
          </p:cNvPr>
          <p:cNvSpPr>
            <a:spLocks xmlns:a="http://schemas.openxmlformats.org/drawingml/2006/main" noGrp="1"/>
          </p:cNvSpPr>
          <p:nvPr/>
        </p:nvSpPr>
        <p:spPr>
          <a:xfrm xmlns:a="http://schemas.openxmlformats.org/drawingml/2006/main">
            <a:off x="6624927"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32" name="">
            <a:extLst xmlns:a="http://schemas.openxmlformats.org/drawingml/2006/main">
              <a:ext uri="{FF2B5EF4-FFF2-40B4-BE49-F238E27FC236}">
                <a16:creationId xmlns:a16="http://schemas.microsoft.com/office/drawing/2014/main" id="{61694DF0-7156-47A5-BA84-D75773217E67}"/>
              </a:ext>
            </a:extLst>
          </p:cNvPr>
          <p:cNvSpPr>
            <a:spLocks xmlns:a="http://schemas.openxmlformats.org/drawingml/2006/main" noGrp="1"/>
          </p:cNvSpPr>
          <p:nvPr/>
        </p:nvSpPr>
        <p:spPr>
          <a:xfrm xmlns:a="http://schemas.openxmlformats.org/drawingml/2006/main">
            <a:off x="9531330" y="361950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33" name="">
            <a:extLst xmlns:a="http://schemas.openxmlformats.org/drawingml/2006/main">
              <a:ext uri="{FF2B5EF4-FFF2-40B4-BE49-F238E27FC236}">
                <a16:creationId xmlns:a16="http://schemas.microsoft.com/office/drawing/2014/main" id="{5EC89A87-2B7E-4602-87B4-7F128352BB6F}"/>
              </a:ext>
            </a:extLst>
          </p:cNvPr>
          <p:cNvSpPr>
            <a:spLocks xmlns:a="http://schemas.openxmlformats.org/drawingml/2006/main" noGrp="1"/>
          </p:cNvSpPr>
          <p:nvPr/>
        </p:nvSpPr>
        <p:spPr>
          <a:xfrm xmlns:a="http://schemas.openxmlformats.org/drawingml/2006/main">
            <a:off x="9426555" y="41719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defRPr sz="1650" b="1">
                <a:solidFill>
                  <a:srgbClr val="18364F"/>
                </a:solidFill>
                <a:latin typeface="Yu Gothic"/>
                <a:ea typeface="Yu Gothic"/>
                <a:cs typeface="Yu Gothic"/>
              </a:defRPr>
            </a:lvl1pPr>
            <a:lvl2pPr>
              <a:defRPr sz="1650" b="1">
                <a:solidFill>
                  <a:srgbClr val="18364F"/>
                </a:solidFill>
                <a:latin typeface="Yu Gothic"/>
                <a:ea typeface="Yu Gothic"/>
                <a:cs typeface="Yu Gothic"/>
              </a:defRPr>
            </a:lvl2pPr>
            <a:lvl3pPr>
              <a:defRPr sz="1650" b="1">
                <a:solidFill>
                  <a:srgbClr val="18364F"/>
                </a:solidFill>
                <a:latin typeface="Yu Gothic"/>
                <a:ea typeface="Yu Gothic"/>
                <a:cs typeface="Yu Gothic"/>
              </a:defRPr>
            </a:lvl3pPr>
            <a:lvl4pPr>
              <a:defRPr sz="1650" b="1">
                <a:solidFill>
                  <a:srgbClr val="18364F"/>
                </a:solidFill>
                <a:latin typeface="Yu Gothic"/>
                <a:ea typeface="Yu Gothic"/>
                <a:cs typeface="Yu Gothic"/>
              </a:defRPr>
            </a:lvl4pPr>
            <a:lvl5pPr>
              <a:defRPr sz="1650" b="1">
                <a:solidFill>
                  <a:srgbClr val="18364F"/>
                </a:solidFill>
                <a:latin typeface="Yu Gothic"/>
                <a:ea typeface="Yu Gothic"/>
                <a:cs typeface="Yu Gothic"/>
              </a:defRPr>
            </a:lvl5pPr>
            <a:lvl6pPr>
              <a:defRPr sz="1650" b="1">
                <a:solidFill>
                  <a:srgbClr val="18364F"/>
                </a:solidFill>
                <a:latin typeface="Yu Gothic"/>
                <a:ea typeface="Yu Gothic"/>
                <a:cs typeface="Yu Gothic"/>
              </a:defRPr>
            </a:lvl6pPr>
            <a:lvl7pPr>
              <a:defRPr sz="1650" b="1">
                <a:solidFill>
                  <a:srgbClr val="18364F"/>
                </a:solidFill>
                <a:latin typeface="Yu Gothic"/>
                <a:ea typeface="Yu Gothic"/>
                <a:cs typeface="Yu Gothic"/>
              </a:defRPr>
            </a:lvl7pPr>
            <a:lvl8pPr>
              <a:defRPr sz="1650" b="1">
                <a:solidFill>
                  <a:srgbClr val="18364F"/>
                </a:solidFill>
                <a:latin typeface="Yu Gothic"/>
                <a:ea typeface="Yu Gothic"/>
                <a:cs typeface="Yu Gothic"/>
              </a:defRPr>
            </a:lvl8pPr>
            <a:lvl9pPr>
              <a:defRPr sz="1650" b="1">
                <a:solidFill>
                  <a:srgbClr val="18364F"/>
                </a:solidFill>
                <a:latin typeface="Yu Gothic"/>
                <a:ea typeface="Yu Gothic"/>
                <a:cs typeface="Yu Gothic"/>
              </a:defRPr>
            </a:lvl9pPr>
          </a:lstStyle>
          <a:p xmlns:a="http://schemas.openxmlformats.org/drawingml/2006/main">
            <a:pPr>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34" name="">
            <a:extLst xmlns:a="http://schemas.openxmlformats.org/drawingml/2006/main">
              <a:ext uri="{FF2B5EF4-FFF2-40B4-BE49-F238E27FC236}">
                <a16:creationId xmlns:a16="http://schemas.microsoft.com/office/drawing/2014/main" id="{AD90DFE1-70F1-4B3B-8196-42EB606CFB6A}"/>
              </a:ext>
            </a:extLst>
          </p:cNvPr>
          <p:cNvSpPr>
            <a:spLocks xmlns:a="http://schemas.openxmlformats.org/drawingml/2006/main" noGrp="1"/>
          </p:cNvSpPr>
          <p:nvPr/>
        </p:nvSpPr>
        <p:spPr>
          <a:xfrm xmlns:a="http://schemas.openxmlformats.org/drawingml/2006/main">
            <a:off x="876300" y="1352550"/>
            <a:ext cx="417576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左の細胞</a:t>
            </a:r>
          </a:p>
        </p:txBody>
      </p:sp>
      <p:sp>
        <p:nvSpPr>
          <p:cNvPr id="35" name="">
            <a:extLst xmlns:a="http://schemas.openxmlformats.org/drawingml/2006/main">
              <a:ext uri="{FF2B5EF4-FFF2-40B4-BE49-F238E27FC236}">
                <a16:creationId xmlns:a16="http://schemas.microsoft.com/office/drawing/2014/main" id="{3A742004-A6E6-4BC0-80B2-EE7985CE45E8}"/>
              </a:ext>
            </a:extLst>
          </p:cNvPr>
          <p:cNvSpPr>
            <a:spLocks xmlns:a="http://schemas.openxmlformats.org/drawingml/2006/main" noGrp="1"/>
          </p:cNvSpPr>
          <p:nvPr/>
        </p:nvSpPr>
        <p:spPr>
          <a:xfrm xmlns:a="http://schemas.openxmlformats.org/drawingml/2006/main">
            <a:off x="8183880" y="1352550"/>
            <a:ext cx="31318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defRPr sz="1875" b="1">
                <a:solidFill>
                  <a:srgbClr val="18364F"/>
                </a:solidFill>
                <a:latin typeface="Yu Gothic"/>
                <a:ea typeface="Yu Gothic"/>
                <a:cs typeface="Yu Gothic"/>
              </a:defRPr>
            </a:lvl1pPr>
            <a:lvl2pPr>
              <a:defRPr sz="1875" b="1">
                <a:solidFill>
                  <a:srgbClr val="18364F"/>
                </a:solidFill>
                <a:latin typeface="Yu Gothic"/>
                <a:ea typeface="Yu Gothic"/>
                <a:cs typeface="Yu Gothic"/>
              </a:defRPr>
            </a:lvl2pPr>
            <a:lvl3pPr>
              <a:defRPr sz="1875" b="1">
                <a:solidFill>
                  <a:srgbClr val="18364F"/>
                </a:solidFill>
                <a:latin typeface="Yu Gothic"/>
                <a:ea typeface="Yu Gothic"/>
                <a:cs typeface="Yu Gothic"/>
              </a:defRPr>
            </a:lvl3pPr>
            <a:lvl4pPr>
              <a:defRPr sz="1875" b="1">
                <a:solidFill>
                  <a:srgbClr val="18364F"/>
                </a:solidFill>
                <a:latin typeface="Yu Gothic"/>
                <a:ea typeface="Yu Gothic"/>
                <a:cs typeface="Yu Gothic"/>
              </a:defRPr>
            </a:lvl4pPr>
            <a:lvl5pPr>
              <a:defRPr sz="1875" b="1">
                <a:solidFill>
                  <a:srgbClr val="18364F"/>
                </a:solidFill>
                <a:latin typeface="Yu Gothic"/>
                <a:ea typeface="Yu Gothic"/>
                <a:cs typeface="Yu Gothic"/>
              </a:defRPr>
            </a:lvl5pPr>
            <a:lvl6pPr>
              <a:defRPr sz="1875" b="1">
                <a:solidFill>
                  <a:srgbClr val="18364F"/>
                </a:solidFill>
                <a:latin typeface="Yu Gothic"/>
                <a:ea typeface="Yu Gothic"/>
                <a:cs typeface="Yu Gothic"/>
              </a:defRPr>
            </a:lvl6pPr>
            <a:lvl7pPr>
              <a:defRPr sz="1875" b="1">
                <a:solidFill>
                  <a:srgbClr val="18364F"/>
                </a:solidFill>
                <a:latin typeface="Yu Gothic"/>
                <a:ea typeface="Yu Gothic"/>
                <a:cs typeface="Yu Gothic"/>
              </a:defRPr>
            </a:lvl7pPr>
            <a:lvl8pPr>
              <a:defRPr sz="1875" b="1">
                <a:solidFill>
                  <a:srgbClr val="18364F"/>
                </a:solidFill>
                <a:latin typeface="Yu Gothic"/>
                <a:ea typeface="Yu Gothic"/>
                <a:cs typeface="Yu Gothic"/>
              </a:defRPr>
            </a:lvl8pPr>
            <a:lvl9pPr>
              <a:defRPr sz="1875" b="1">
                <a:solidFill>
                  <a:srgbClr val="18364F"/>
                </a:solidFill>
                <a:latin typeface="Yu Gothic"/>
                <a:ea typeface="Yu Gothic"/>
                <a:cs typeface="Yu Gothic"/>
              </a:defRPr>
            </a:lvl9pPr>
          </a:lstStyle>
          <a:p xmlns:a="http://schemas.openxmlformats.org/drawingml/2006/main">
            <a:pPr>
              <a:defRPr sz="1875" b="1">
                <a:solidFill>
                  <a:srgbClr val="18364F"/>
                </a:solidFill>
                <a:latin typeface="Yu Gothic"/>
                <a:ea typeface="Yu Gothic"/>
                <a:cs typeface="Yu Gothic"/>
              </a:defRPr>
            </a:pPr>
            <a:r>
              <a:rPr sz="1875" b="1">
                <a:solidFill>
                  <a:srgbClr val="18364F"/>
                </a:solidFill>
                <a:latin typeface="Yu Gothic"/>
                <a:ea typeface="Yu Gothic"/>
                <a:cs typeface="Yu Gothic"/>
              </a:rPr>
              <a:t>右の細胞</a:t>
            </a:r>
          </a:p>
        </p:txBody>
      </p:sp>
      <p:sp>
        <p:nvSpPr>
          <p:cNvPr id="36" name="">
            <a:extLst xmlns:a="http://schemas.openxmlformats.org/drawingml/2006/main">
              <a:ext uri="{FF2B5EF4-FFF2-40B4-BE49-F238E27FC236}">
                <a16:creationId xmlns:a16="http://schemas.microsoft.com/office/drawing/2014/main" id="{09BC30C9-8350-40C2-AA2F-3F579B9C7FE3}"/>
              </a:ext>
            </a:extLst>
          </p:cNvPr>
          <p:cNvSpPr>
            <a:spLocks xmlns:a="http://schemas.openxmlformats.org/drawingml/2006/main" noGrp="1"/>
          </p:cNvSpPr>
          <p:nvPr/>
        </p:nvSpPr>
        <p:spPr>
          <a:xfrm xmlns:a="http://schemas.openxmlformats.org/drawingml/2006/main">
            <a:off x="876300" y="462915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defRPr sz="1650" b="0">
                <a:solidFill>
                  <a:srgbClr val="596875"/>
                </a:solidFill>
                <a:latin typeface="Yu Gothic"/>
                <a:ea typeface="Yu Gothic"/>
                <a:cs typeface="Yu Gothic"/>
              </a:defRPr>
            </a:lvl1pPr>
            <a:lvl2pPr>
              <a:defRPr sz="1650" b="0">
                <a:solidFill>
                  <a:srgbClr val="596875"/>
                </a:solidFill>
                <a:latin typeface="Yu Gothic"/>
                <a:ea typeface="Yu Gothic"/>
                <a:cs typeface="Yu Gothic"/>
              </a:defRPr>
            </a:lvl2pPr>
            <a:lvl3pPr>
              <a:defRPr sz="1650" b="0">
                <a:solidFill>
                  <a:srgbClr val="596875"/>
                </a:solidFill>
                <a:latin typeface="Yu Gothic"/>
                <a:ea typeface="Yu Gothic"/>
                <a:cs typeface="Yu Gothic"/>
              </a:defRPr>
            </a:lvl3pPr>
            <a:lvl4pPr>
              <a:defRPr sz="1650" b="0">
                <a:solidFill>
                  <a:srgbClr val="596875"/>
                </a:solidFill>
                <a:latin typeface="Yu Gothic"/>
                <a:ea typeface="Yu Gothic"/>
                <a:cs typeface="Yu Gothic"/>
              </a:defRPr>
            </a:lvl4pPr>
            <a:lvl5pPr>
              <a:defRPr sz="1650" b="0">
                <a:solidFill>
                  <a:srgbClr val="596875"/>
                </a:solidFill>
                <a:latin typeface="Yu Gothic"/>
                <a:ea typeface="Yu Gothic"/>
                <a:cs typeface="Yu Gothic"/>
              </a:defRPr>
            </a:lvl5pPr>
            <a:lvl6pPr>
              <a:defRPr sz="1650" b="0">
                <a:solidFill>
                  <a:srgbClr val="596875"/>
                </a:solidFill>
                <a:latin typeface="Yu Gothic"/>
                <a:ea typeface="Yu Gothic"/>
                <a:cs typeface="Yu Gothic"/>
              </a:defRPr>
            </a:lvl6pPr>
            <a:lvl7pPr>
              <a:defRPr sz="1650" b="0">
                <a:solidFill>
                  <a:srgbClr val="596875"/>
                </a:solidFill>
                <a:latin typeface="Yu Gothic"/>
                <a:ea typeface="Yu Gothic"/>
                <a:cs typeface="Yu Gothic"/>
              </a:defRPr>
            </a:lvl7pPr>
            <a:lvl8pPr>
              <a:defRPr sz="1650" b="0">
                <a:solidFill>
                  <a:srgbClr val="596875"/>
                </a:solidFill>
                <a:latin typeface="Yu Gothic"/>
                <a:ea typeface="Yu Gothic"/>
                <a:cs typeface="Yu Gothic"/>
              </a:defRPr>
            </a:lvl8pPr>
            <a:lvl9pPr>
              <a:defRPr sz="1650" b="0">
                <a:solidFill>
                  <a:srgbClr val="596875"/>
                </a:solidFill>
                <a:latin typeface="Yu Gothic"/>
                <a:ea typeface="Yu Gothic"/>
                <a:cs typeface="Yu Gothic"/>
              </a:defRPr>
            </a:lvl9pPr>
          </a:lstStyle>
          <a:p xmlns:a="http://schemas.openxmlformats.org/drawingml/2006/main">
            <a:pPr>
              <a:defRPr sz="1650" b="0">
                <a:solidFill>
                  <a:srgbClr val="596875"/>
                </a:solidFill>
                <a:latin typeface="Yu Gothic"/>
                <a:ea typeface="Yu Gothic"/>
                <a:cs typeface="Yu Gothic"/>
              </a:defRPr>
            </a:pPr>
            <a:r>
              <a:rPr sz="1650" b="0">
                <a:solidFill>
                  <a:srgbClr val="596875"/>
                </a:solidFill>
                <a:latin typeface="Yu Gothic"/>
                <a:ea typeface="Yu Gothic"/>
                <a:cs typeface="Yu Gothic"/>
              </a:rPr>
              <a:t>S2 を厚くした模式図。色・厚さ比は実測値ではない。</a:t>
            </a:r>
          </a:p>
        </p:txBody>
      </p:sp>
      <p:sp>
        <p:nvSpPr>
          <p:cNvPr id="37" name="">
            <a:extLst xmlns:a="http://schemas.openxmlformats.org/drawingml/2006/main">
              <a:ext uri="{FF2B5EF4-FFF2-40B4-BE49-F238E27FC236}">
                <a16:creationId xmlns:a16="http://schemas.microsoft.com/office/drawing/2014/main" id="{5386B8E1-EE70-40C9-868A-1DBFDF63AAEB}"/>
              </a:ext>
            </a:extLst>
          </p:cNvPr>
          <p:cNvSpPr>
            <a:spLocks xmlns:a="http://schemas.openxmlformats.org/drawingml/2006/main" noGrp="1"/>
          </p:cNvSpPr>
          <p:nvPr/>
        </p:nvSpPr>
        <p:spPr>
          <a:xfrm xmlns:a="http://schemas.openxmlformats.org/drawingml/2006/main">
            <a:off x="838200" y="510540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53C4D"/>
                </a:solidFill>
                <a:latin typeface="Yu Gothic"/>
                <a:ea typeface="Yu Gothic"/>
                <a:cs typeface="Yu Gothic"/>
              </a:defRPr>
            </a:defPPr>
            <a:lvl1pPr>
              <a:defRPr sz="1875" b="1">
                <a:solidFill>
                  <a:srgbClr val="253C4D"/>
                </a:solidFill>
                <a:latin typeface="Yu Gothic"/>
                <a:ea typeface="Yu Gothic"/>
                <a:cs typeface="Yu Gothic"/>
              </a:defRPr>
            </a:lvl1pPr>
            <a:lvl2pPr>
              <a:defRPr sz="1875" b="1">
                <a:solidFill>
                  <a:srgbClr val="253C4D"/>
                </a:solidFill>
                <a:latin typeface="Yu Gothic"/>
                <a:ea typeface="Yu Gothic"/>
                <a:cs typeface="Yu Gothic"/>
              </a:defRPr>
            </a:lvl2pPr>
            <a:lvl3pPr>
              <a:defRPr sz="1875" b="1">
                <a:solidFill>
                  <a:srgbClr val="253C4D"/>
                </a:solidFill>
                <a:latin typeface="Yu Gothic"/>
                <a:ea typeface="Yu Gothic"/>
                <a:cs typeface="Yu Gothic"/>
              </a:defRPr>
            </a:lvl3pPr>
            <a:lvl4pPr>
              <a:defRPr sz="1875" b="1">
                <a:solidFill>
                  <a:srgbClr val="253C4D"/>
                </a:solidFill>
                <a:latin typeface="Yu Gothic"/>
                <a:ea typeface="Yu Gothic"/>
                <a:cs typeface="Yu Gothic"/>
              </a:defRPr>
            </a:lvl4pPr>
            <a:lvl5pPr>
              <a:defRPr sz="1875" b="1">
                <a:solidFill>
                  <a:srgbClr val="253C4D"/>
                </a:solidFill>
                <a:latin typeface="Yu Gothic"/>
                <a:ea typeface="Yu Gothic"/>
                <a:cs typeface="Yu Gothic"/>
              </a:defRPr>
            </a:lvl5pPr>
            <a:lvl6pPr>
              <a:defRPr sz="1875" b="1">
                <a:solidFill>
                  <a:srgbClr val="253C4D"/>
                </a:solidFill>
                <a:latin typeface="Yu Gothic"/>
                <a:ea typeface="Yu Gothic"/>
                <a:cs typeface="Yu Gothic"/>
              </a:defRPr>
            </a:lvl6pPr>
            <a:lvl7pPr>
              <a:defRPr sz="1875" b="1">
                <a:solidFill>
                  <a:srgbClr val="253C4D"/>
                </a:solidFill>
                <a:latin typeface="Yu Gothic"/>
                <a:ea typeface="Yu Gothic"/>
                <a:cs typeface="Yu Gothic"/>
              </a:defRPr>
            </a:lvl7pPr>
            <a:lvl8pPr>
              <a:defRPr sz="1875" b="1">
                <a:solidFill>
                  <a:srgbClr val="253C4D"/>
                </a:solidFill>
                <a:latin typeface="Yu Gothic"/>
                <a:ea typeface="Yu Gothic"/>
                <a:cs typeface="Yu Gothic"/>
              </a:defRPr>
            </a:lvl8pPr>
            <a:lvl9pPr>
              <a:defRPr sz="1875" b="1">
                <a:solidFill>
                  <a:srgbClr val="253C4D"/>
                </a:solidFill>
                <a:latin typeface="Yu Gothic"/>
                <a:ea typeface="Yu Gothic"/>
                <a:cs typeface="Yu Gothic"/>
              </a:defRPr>
            </a:lvl9pPr>
          </a:lstStyle>
          <a:p xmlns:a="http://schemas.openxmlformats.org/drawingml/2006/main">
            <a:pPr>
              <a:defRPr sz="1875" b="1">
                <a:solidFill>
                  <a:srgbClr val="253C4D"/>
                </a:solidFill>
                <a:latin typeface="Yu Gothic"/>
                <a:ea typeface="Yu Gothic"/>
                <a:cs typeface="Yu Gothic"/>
              </a:defRPr>
            </a:pPr>
            <a:r>
              <a:rPr sz="1875" b="1">
                <a:solidFill>
                  <a:srgbClr val="253C4D"/>
                </a:solidFill>
                <a:latin typeface="Yu Gothic"/>
                <a:ea typeface="Yu Gothic"/>
                <a:cs typeface="Yu Gothic"/>
              </a:rPr>
              <a:t>壁の量：前回の、壁割合と密度</a:t>
            </a:r>
          </a:p>
        </p:txBody>
      </p:sp>
      <p:sp>
        <p:nvSpPr>
          <p:cNvPr id="38" name="">
            <a:extLst xmlns:a="http://schemas.openxmlformats.org/drawingml/2006/main">
              <a:ext uri="{FF2B5EF4-FFF2-40B4-BE49-F238E27FC236}">
                <a16:creationId xmlns:a16="http://schemas.microsoft.com/office/drawing/2014/main" id="{0118872D-65F1-4CE9-9688-79254E0B7C55}"/>
              </a:ext>
            </a:extLst>
          </p:cNvPr>
          <p:cNvSpPr>
            <a:spLocks xmlns:a="http://schemas.openxmlformats.org/drawingml/2006/main" noGrp="1"/>
          </p:cNvSpPr>
          <p:nvPr/>
        </p:nvSpPr>
        <p:spPr>
          <a:xfrm xmlns:a="http://schemas.openxmlformats.org/drawingml/2006/main">
            <a:off x="838200" y="54387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defRPr sz="1875" b="0">
                <a:solidFill>
                  <a:srgbClr val="253C4D"/>
                </a:solidFill>
                <a:latin typeface="Yu Gothic"/>
                <a:ea typeface="Yu Gothic"/>
                <a:cs typeface="Yu Gothic"/>
              </a:defRPr>
            </a:lvl1pPr>
            <a:lvl2pPr>
              <a:defRPr sz="1875" b="0">
                <a:solidFill>
                  <a:srgbClr val="253C4D"/>
                </a:solidFill>
                <a:latin typeface="Yu Gothic"/>
                <a:ea typeface="Yu Gothic"/>
                <a:cs typeface="Yu Gothic"/>
              </a:defRPr>
            </a:lvl2pPr>
            <a:lvl3pPr>
              <a:defRPr sz="1875" b="0">
                <a:solidFill>
                  <a:srgbClr val="253C4D"/>
                </a:solidFill>
                <a:latin typeface="Yu Gothic"/>
                <a:ea typeface="Yu Gothic"/>
                <a:cs typeface="Yu Gothic"/>
              </a:defRPr>
            </a:lvl3pPr>
            <a:lvl4pPr>
              <a:defRPr sz="1875" b="0">
                <a:solidFill>
                  <a:srgbClr val="253C4D"/>
                </a:solidFill>
                <a:latin typeface="Yu Gothic"/>
                <a:ea typeface="Yu Gothic"/>
                <a:cs typeface="Yu Gothic"/>
              </a:defRPr>
            </a:lvl4pPr>
            <a:lvl5pPr>
              <a:defRPr sz="1875" b="0">
                <a:solidFill>
                  <a:srgbClr val="253C4D"/>
                </a:solidFill>
                <a:latin typeface="Yu Gothic"/>
                <a:ea typeface="Yu Gothic"/>
                <a:cs typeface="Yu Gothic"/>
              </a:defRPr>
            </a:lvl5pPr>
            <a:lvl6pPr>
              <a:defRPr sz="1875" b="0">
                <a:solidFill>
                  <a:srgbClr val="253C4D"/>
                </a:solidFill>
                <a:latin typeface="Yu Gothic"/>
                <a:ea typeface="Yu Gothic"/>
                <a:cs typeface="Yu Gothic"/>
              </a:defRPr>
            </a:lvl6pPr>
            <a:lvl7pPr>
              <a:defRPr sz="1875" b="0">
                <a:solidFill>
                  <a:srgbClr val="253C4D"/>
                </a:solidFill>
                <a:latin typeface="Yu Gothic"/>
                <a:ea typeface="Yu Gothic"/>
                <a:cs typeface="Yu Gothic"/>
              </a:defRPr>
            </a:lvl7pPr>
            <a:lvl8pPr>
              <a:defRPr sz="1875" b="0">
                <a:solidFill>
                  <a:srgbClr val="253C4D"/>
                </a:solidFill>
                <a:latin typeface="Yu Gothic"/>
                <a:ea typeface="Yu Gothic"/>
                <a:cs typeface="Yu Gothic"/>
              </a:defRPr>
            </a:lvl8pPr>
            <a:lvl9pPr>
              <a:defRPr sz="1875" b="0">
                <a:solidFill>
                  <a:srgbClr val="253C4D"/>
                </a:solidFill>
                <a:latin typeface="Yu Gothic"/>
                <a:ea typeface="Yu Gothic"/>
                <a:cs typeface="Yu Gothic"/>
              </a:defRPr>
            </a:lvl9pPr>
          </a:lstStyle>
          <a:p xmlns:a="http://schemas.openxmlformats.org/drawingml/2006/main">
            <a:pPr>
              <a:defRPr sz="1875" b="0">
                <a:solidFill>
                  <a:srgbClr val="253C4D"/>
                </a:solidFill>
                <a:latin typeface="Yu Gothic"/>
                <a:ea typeface="Yu Gothic"/>
                <a:cs typeface="Yu Gothic"/>
              </a:defRPr>
            </a:pPr>
            <a:r>
              <a:rPr sz="1875" b="0">
                <a:solidFill>
                  <a:srgbClr val="253C4D"/>
                </a:solidFill>
                <a:latin typeface="Yu Gothic"/>
                <a:ea typeface="Yu Gothic"/>
                <a:cs typeface="Yu Gothic"/>
              </a:rPr>
              <a:t>壁内部の向き：今回の、層構造とMFA</a:t>
            </a:r>
          </a:p>
        </p:txBody>
      </p:sp>
      <p:sp>
        <p:nvSpPr>
          <p:cNvPr id="39" name="">
            <a:extLst xmlns:a="http://schemas.openxmlformats.org/drawingml/2006/main">
              <a:ext uri="{FF2B5EF4-FFF2-40B4-BE49-F238E27FC236}">
                <a16:creationId xmlns:a16="http://schemas.microsoft.com/office/drawing/2014/main" id="{D666A7E5-F125-46C9-BF60-129D829FC61B}"/>
              </a:ext>
            </a:extLst>
          </p:cNvPr>
          <p:cNvSpPr>
            <a:spLocks xmlns:a="http://schemas.openxmlformats.org/drawingml/2006/main" noGrp="1"/>
          </p:cNvSpPr>
          <p:nvPr/>
        </p:nvSpPr>
        <p:spPr>
          <a:xfrm xmlns:a="http://schemas.openxmlformats.org/drawingml/2006/main">
            <a:off x="838200" y="5772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defRPr sz="1875" b="0">
                <a:solidFill>
                  <a:srgbClr val="253C4D"/>
                </a:solidFill>
                <a:latin typeface="Yu Gothic"/>
                <a:ea typeface="Yu Gothic"/>
                <a:cs typeface="Yu Gothic"/>
              </a:defRPr>
            </a:lvl1pPr>
            <a:lvl2pPr>
              <a:defRPr sz="1875" b="0">
                <a:solidFill>
                  <a:srgbClr val="253C4D"/>
                </a:solidFill>
                <a:latin typeface="Yu Gothic"/>
                <a:ea typeface="Yu Gothic"/>
                <a:cs typeface="Yu Gothic"/>
              </a:defRPr>
            </a:lvl2pPr>
            <a:lvl3pPr>
              <a:defRPr sz="1875" b="0">
                <a:solidFill>
                  <a:srgbClr val="253C4D"/>
                </a:solidFill>
                <a:latin typeface="Yu Gothic"/>
                <a:ea typeface="Yu Gothic"/>
                <a:cs typeface="Yu Gothic"/>
              </a:defRPr>
            </a:lvl3pPr>
            <a:lvl4pPr>
              <a:defRPr sz="1875" b="0">
                <a:solidFill>
                  <a:srgbClr val="253C4D"/>
                </a:solidFill>
                <a:latin typeface="Yu Gothic"/>
                <a:ea typeface="Yu Gothic"/>
                <a:cs typeface="Yu Gothic"/>
              </a:defRPr>
            </a:lvl4pPr>
            <a:lvl5pPr>
              <a:defRPr sz="1875" b="0">
                <a:solidFill>
                  <a:srgbClr val="253C4D"/>
                </a:solidFill>
                <a:latin typeface="Yu Gothic"/>
                <a:ea typeface="Yu Gothic"/>
                <a:cs typeface="Yu Gothic"/>
              </a:defRPr>
            </a:lvl5pPr>
            <a:lvl6pPr>
              <a:defRPr sz="1875" b="0">
                <a:solidFill>
                  <a:srgbClr val="253C4D"/>
                </a:solidFill>
                <a:latin typeface="Yu Gothic"/>
                <a:ea typeface="Yu Gothic"/>
                <a:cs typeface="Yu Gothic"/>
              </a:defRPr>
            </a:lvl6pPr>
            <a:lvl7pPr>
              <a:defRPr sz="1875" b="0">
                <a:solidFill>
                  <a:srgbClr val="253C4D"/>
                </a:solidFill>
                <a:latin typeface="Yu Gothic"/>
                <a:ea typeface="Yu Gothic"/>
                <a:cs typeface="Yu Gothic"/>
              </a:defRPr>
            </a:lvl7pPr>
            <a:lvl8pPr>
              <a:defRPr sz="1875" b="0">
                <a:solidFill>
                  <a:srgbClr val="253C4D"/>
                </a:solidFill>
                <a:latin typeface="Yu Gothic"/>
                <a:ea typeface="Yu Gothic"/>
                <a:cs typeface="Yu Gothic"/>
              </a:defRPr>
            </a:lvl8pPr>
            <a:lvl9pPr>
              <a:defRPr sz="1875" b="0">
                <a:solidFill>
                  <a:srgbClr val="253C4D"/>
                </a:solidFill>
                <a:latin typeface="Yu Gothic"/>
                <a:ea typeface="Yu Gothic"/>
                <a:cs typeface="Yu Gothic"/>
              </a:defRPr>
            </a:lvl9pPr>
          </a:lstStyle>
          <a:p xmlns:a="http://schemas.openxmlformats.org/drawingml/2006/main">
            <a:pPr>
              <a:defRPr sz="1875" b="0">
                <a:solidFill>
                  <a:srgbClr val="253C4D"/>
                </a:solidFill>
                <a:latin typeface="Yu Gothic"/>
                <a:ea typeface="Yu Gothic"/>
                <a:cs typeface="Yu Gothic"/>
              </a:defRPr>
            </a:pPr>
            <a:r>
              <a:rPr sz="1875" b="0">
                <a:solidFill>
                  <a:srgbClr val="253C4D"/>
                </a:solidFill>
                <a:latin typeface="Yu Gothic"/>
                <a:ea typeface="Yu Gothic"/>
                <a:cs typeface="Yu Gothic"/>
              </a:rPr>
              <a:t>部材の繊維方向と、壁内部の配向を区別する</a:t>
            </a:r>
          </a:p>
        </p:txBody>
      </p:sp>
      <p:sp>
        <p:nvSpPr>
          <p:cNvPr id="40" name="">
            <a:extLst xmlns:a="http://schemas.openxmlformats.org/drawingml/2006/main">
              <a:ext uri="{FF2B5EF4-FFF2-40B4-BE49-F238E27FC236}">
                <a16:creationId xmlns:a16="http://schemas.microsoft.com/office/drawing/2014/main" id="{779A06B8-8318-40B2-9F12-A387BBF36F9E}"/>
              </a:ext>
            </a:extLst>
          </p:cNvPr>
          <p:cNvSpPr>
            <a:spLocks xmlns:a="http://schemas.openxmlformats.org/drawingml/2006/main" noGrp="1"/>
          </p:cNvSpPr>
          <p:nvPr/>
        </p:nvSpPr>
        <p:spPr>
          <a:xfrm xmlns:a="http://schemas.openxmlformats.org/drawingml/2006/main">
            <a:off x="838200" y="610552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defRPr sz="1875" b="0">
                <a:solidFill>
                  <a:srgbClr val="253C4D"/>
                </a:solidFill>
                <a:latin typeface="Yu Gothic"/>
                <a:ea typeface="Yu Gothic"/>
                <a:cs typeface="Yu Gothic"/>
              </a:defRPr>
            </a:lvl1pPr>
            <a:lvl2pPr>
              <a:defRPr sz="1875" b="0">
                <a:solidFill>
                  <a:srgbClr val="253C4D"/>
                </a:solidFill>
                <a:latin typeface="Yu Gothic"/>
                <a:ea typeface="Yu Gothic"/>
                <a:cs typeface="Yu Gothic"/>
              </a:defRPr>
            </a:lvl2pPr>
            <a:lvl3pPr>
              <a:defRPr sz="1875" b="0">
                <a:solidFill>
                  <a:srgbClr val="253C4D"/>
                </a:solidFill>
                <a:latin typeface="Yu Gothic"/>
                <a:ea typeface="Yu Gothic"/>
                <a:cs typeface="Yu Gothic"/>
              </a:defRPr>
            </a:lvl3pPr>
            <a:lvl4pPr>
              <a:defRPr sz="1875" b="0">
                <a:solidFill>
                  <a:srgbClr val="253C4D"/>
                </a:solidFill>
                <a:latin typeface="Yu Gothic"/>
                <a:ea typeface="Yu Gothic"/>
                <a:cs typeface="Yu Gothic"/>
              </a:defRPr>
            </a:lvl4pPr>
            <a:lvl5pPr>
              <a:defRPr sz="1875" b="0">
                <a:solidFill>
                  <a:srgbClr val="253C4D"/>
                </a:solidFill>
                <a:latin typeface="Yu Gothic"/>
                <a:ea typeface="Yu Gothic"/>
                <a:cs typeface="Yu Gothic"/>
              </a:defRPr>
            </a:lvl5pPr>
            <a:lvl6pPr>
              <a:defRPr sz="1875" b="0">
                <a:solidFill>
                  <a:srgbClr val="253C4D"/>
                </a:solidFill>
                <a:latin typeface="Yu Gothic"/>
                <a:ea typeface="Yu Gothic"/>
                <a:cs typeface="Yu Gothic"/>
              </a:defRPr>
            </a:lvl6pPr>
            <a:lvl7pPr>
              <a:defRPr sz="1875" b="0">
                <a:solidFill>
                  <a:srgbClr val="253C4D"/>
                </a:solidFill>
                <a:latin typeface="Yu Gothic"/>
                <a:ea typeface="Yu Gothic"/>
                <a:cs typeface="Yu Gothic"/>
              </a:defRPr>
            </a:lvl7pPr>
            <a:lvl8pPr>
              <a:defRPr sz="1875" b="0">
                <a:solidFill>
                  <a:srgbClr val="253C4D"/>
                </a:solidFill>
                <a:latin typeface="Yu Gothic"/>
                <a:ea typeface="Yu Gothic"/>
                <a:cs typeface="Yu Gothic"/>
              </a:defRPr>
            </a:lvl8pPr>
            <a:lvl9pPr>
              <a:defRPr sz="1875" b="0">
                <a:solidFill>
                  <a:srgbClr val="253C4D"/>
                </a:solidFill>
                <a:latin typeface="Yu Gothic"/>
                <a:ea typeface="Yu Gothic"/>
                <a:cs typeface="Yu Gothic"/>
              </a:defRPr>
            </a:lvl9pPr>
          </a:lstStyle>
          <a:p xmlns:a="http://schemas.openxmlformats.org/drawingml/2006/main">
            <a:pPr>
              <a:defRPr sz="1875" b="0">
                <a:solidFill>
                  <a:srgbClr val="253C4D"/>
                </a:solidFill>
                <a:latin typeface="Yu Gothic"/>
                <a:ea typeface="Yu Gothic"/>
                <a:cs typeface="Yu Gothic"/>
              </a:defRPr>
            </a:pPr>
            <a:r>
              <a:rPr sz="1875" b="0">
                <a:solidFill>
                  <a:srgbClr val="253C4D"/>
                </a:solidFill>
                <a:latin typeface="Yu Gothic"/>
                <a:ea typeface="Yu Gothic"/>
                <a:cs typeface="Yu Gothic"/>
              </a:rPr>
              <a:t>次回：セルロース・ヘミセルロース・リグニン</a:t>
            </a:r>
          </a:p>
        </p:txBody>
      </p:sp>
    </p:spTree>
    <p:extLst>
      <p:ext uri="{BB962C8B-B14F-4D97-AF65-F5344CB8AC3E}">
        <p14:creationId xmlns:p14="http://schemas.microsoft.com/office/powerpoint/2010/main" val="111064357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A5F10C-BBF1-4621-BE59-FF76655678E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復習と次回の準備</a:t>
            </a:r>
          </a:p>
        </p:txBody>
      </p:sp>
      <p:sp>
        <p:nvSpPr>
          <p:cNvPr id="2" name="">
            <a:extLst xmlns:a="http://schemas.openxmlformats.org/drawingml/2006/main">
              <a:ext uri="{FF2B5EF4-FFF2-40B4-BE49-F238E27FC236}">
                <a16:creationId xmlns:a16="http://schemas.microsoft.com/office/drawing/2014/main" id="{92922D5F-FEE3-4862-8CBD-928BB71F89B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AB3C4A-50FD-44C6-910C-93C53F5D52A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10C280C4-88CE-4D68-9257-F1BFFA0F3D5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CC9AE2A0-A886-476D-9D3F-1A332E53AB42}"/>
              </a:ext>
            </a:extLst>
          </p:cNvPr>
          <p:cNvSpPr>
            <a:spLocks xmlns:a="http://schemas.openxmlformats.org/drawingml/2006/main" noGrp="1"/>
          </p:cNvSpPr>
          <p:nvPr/>
        </p:nvSpPr>
        <p:spPr>
          <a:xfrm xmlns:a="http://schemas.openxmlformats.org/drawingml/2006/main">
            <a:off x="838200" y="17145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53C4D"/>
                </a:solidFill>
                <a:latin typeface="Yu Gothic"/>
                <a:ea typeface="Yu Gothic"/>
                <a:cs typeface="Yu Gothic"/>
              </a:defRPr>
            </a:defPPr>
            <a:lvl1pPr>
              <a:defRPr sz="2475" b="1">
                <a:solidFill>
                  <a:srgbClr val="253C4D"/>
                </a:solidFill>
                <a:latin typeface="Yu Gothic"/>
                <a:ea typeface="Yu Gothic"/>
                <a:cs typeface="Yu Gothic"/>
              </a:defRPr>
            </a:lvl1pPr>
            <a:lvl2pPr>
              <a:defRPr sz="2475" b="1">
                <a:solidFill>
                  <a:srgbClr val="253C4D"/>
                </a:solidFill>
                <a:latin typeface="Yu Gothic"/>
                <a:ea typeface="Yu Gothic"/>
                <a:cs typeface="Yu Gothic"/>
              </a:defRPr>
            </a:lvl2pPr>
            <a:lvl3pPr>
              <a:defRPr sz="2475" b="1">
                <a:solidFill>
                  <a:srgbClr val="253C4D"/>
                </a:solidFill>
                <a:latin typeface="Yu Gothic"/>
                <a:ea typeface="Yu Gothic"/>
                <a:cs typeface="Yu Gothic"/>
              </a:defRPr>
            </a:lvl3pPr>
            <a:lvl4pPr>
              <a:defRPr sz="2475" b="1">
                <a:solidFill>
                  <a:srgbClr val="253C4D"/>
                </a:solidFill>
                <a:latin typeface="Yu Gothic"/>
                <a:ea typeface="Yu Gothic"/>
                <a:cs typeface="Yu Gothic"/>
              </a:defRPr>
            </a:lvl4pPr>
            <a:lvl5pPr>
              <a:defRPr sz="2475" b="1">
                <a:solidFill>
                  <a:srgbClr val="253C4D"/>
                </a:solidFill>
                <a:latin typeface="Yu Gothic"/>
                <a:ea typeface="Yu Gothic"/>
                <a:cs typeface="Yu Gothic"/>
              </a:defRPr>
            </a:lvl5pPr>
            <a:lvl6pPr>
              <a:defRPr sz="2475" b="1">
                <a:solidFill>
                  <a:srgbClr val="253C4D"/>
                </a:solidFill>
                <a:latin typeface="Yu Gothic"/>
                <a:ea typeface="Yu Gothic"/>
                <a:cs typeface="Yu Gothic"/>
              </a:defRPr>
            </a:lvl6pPr>
            <a:lvl7pPr>
              <a:defRPr sz="2475" b="1">
                <a:solidFill>
                  <a:srgbClr val="253C4D"/>
                </a:solidFill>
                <a:latin typeface="Yu Gothic"/>
                <a:ea typeface="Yu Gothic"/>
                <a:cs typeface="Yu Gothic"/>
              </a:defRPr>
            </a:lvl7pPr>
            <a:lvl8pPr>
              <a:defRPr sz="2475" b="1">
                <a:solidFill>
                  <a:srgbClr val="253C4D"/>
                </a:solidFill>
                <a:latin typeface="Yu Gothic"/>
                <a:ea typeface="Yu Gothic"/>
                <a:cs typeface="Yu Gothic"/>
              </a:defRPr>
            </a:lvl8pPr>
            <a:lvl9pPr>
              <a:defRPr sz="2475" b="1">
                <a:solidFill>
                  <a:srgbClr val="253C4D"/>
                </a:solidFill>
                <a:latin typeface="Yu Gothic"/>
                <a:ea typeface="Yu Gothic"/>
                <a:cs typeface="Yu Gothic"/>
              </a:defRPr>
            </a:lvl9pPr>
          </a:lstStyle>
          <a:p xmlns:a="http://schemas.openxmlformats.org/drawingml/2006/main">
            <a:pPr>
              <a:defRPr sz="2475" b="1">
                <a:solidFill>
                  <a:srgbClr val="253C4D"/>
                </a:solidFill>
                <a:latin typeface="Yu Gothic"/>
                <a:ea typeface="Yu Gothic"/>
                <a:cs typeface="Yu Gothic"/>
              </a:defRPr>
            </a:pPr>
            <a:r>
              <a:rPr sz="2475" b="1">
                <a:solidFill>
                  <a:srgbClr val="253C4D"/>
                </a:solidFill>
                <a:latin typeface="Yu Gothic"/>
                <a:ea typeface="Yu Gothic"/>
                <a:cs typeface="Yu Gothic"/>
              </a:rPr>
              <a:t>尺度付きの図を、ノート1枚にまとめる</a:t>
            </a:r>
          </a:p>
        </p:txBody>
      </p:sp>
      <p:sp>
        <p:nvSpPr>
          <p:cNvPr id="6" name="">
            <a:extLst xmlns:a="http://schemas.openxmlformats.org/drawingml/2006/main">
              <a:ext uri="{FF2B5EF4-FFF2-40B4-BE49-F238E27FC236}">
                <a16:creationId xmlns:a16="http://schemas.microsoft.com/office/drawing/2014/main" id="{FCCBC9D6-3586-4832-BED2-7C0183796CFB}"/>
              </a:ext>
            </a:extLst>
          </p:cNvPr>
          <p:cNvSpPr>
            <a:spLocks xmlns:a="http://schemas.openxmlformats.org/drawingml/2006/main" noGrp="1"/>
          </p:cNvSpPr>
          <p:nvPr/>
        </p:nvSpPr>
        <p:spPr>
          <a:xfrm xmlns:a="http://schemas.openxmlformats.org/drawingml/2006/main">
            <a:off x="838200" y="27146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defRPr sz="2475" b="0">
                <a:solidFill>
                  <a:srgbClr val="253C4D"/>
                </a:solidFill>
                <a:latin typeface="Yu Gothic"/>
                <a:ea typeface="Yu Gothic"/>
                <a:cs typeface="Yu Gothic"/>
              </a:defRPr>
            </a:lvl1pPr>
            <a:lvl2pPr>
              <a:defRPr sz="2475" b="0">
                <a:solidFill>
                  <a:srgbClr val="253C4D"/>
                </a:solidFill>
                <a:latin typeface="Yu Gothic"/>
                <a:ea typeface="Yu Gothic"/>
                <a:cs typeface="Yu Gothic"/>
              </a:defRPr>
            </a:lvl2pPr>
            <a:lvl3pPr>
              <a:defRPr sz="2475" b="0">
                <a:solidFill>
                  <a:srgbClr val="253C4D"/>
                </a:solidFill>
                <a:latin typeface="Yu Gothic"/>
                <a:ea typeface="Yu Gothic"/>
                <a:cs typeface="Yu Gothic"/>
              </a:defRPr>
            </a:lvl3pPr>
            <a:lvl4pPr>
              <a:defRPr sz="2475" b="0">
                <a:solidFill>
                  <a:srgbClr val="253C4D"/>
                </a:solidFill>
                <a:latin typeface="Yu Gothic"/>
                <a:ea typeface="Yu Gothic"/>
                <a:cs typeface="Yu Gothic"/>
              </a:defRPr>
            </a:lvl4pPr>
            <a:lvl5pPr>
              <a:defRPr sz="2475" b="0">
                <a:solidFill>
                  <a:srgbClr val="253C4D"/>
                </a:solidFill>
                <a:latin typeface="Yu Gothic"/>
                <a:ea typeface="Yu Gothic"/>
                <a:cs typeface="Yu Gothic"/>
              </a:defRPr>
            </a:lvl5pPr>
            <a:lvl6pPr>
              <a:defRPr sz="2475" b="0">
                <a:solidFill>
                  <a:srgbClr val="253C4D"/>
                </a:solidFill>
                <a:latin typeface="Yu Gothic"/>
                <a:ea typeface="Yu Gothic"/>
                <a:cs typeface="Yu Gothic"/>
              </a:defRPr>
            </a:lvl6pPr>
            <a:lvl7pPr>
              <a:defRPr sz="2475" b="0">
                <a:solidFill>
                  <a:srgbClr val="253C4D"/>
                </a:solidFill>
                <a:latin typeface="Yu Gothic"/>
                <a:ea typeface="Yu Gothic"/>
                <a:cs typeface="Yu Gothic"/>
              </a:defRPr>
            </a:lvl7pPr>
            <a:lvl8pPr>
              <a:defRPr sz="2475" b="0">
                <a:solidFill>
                  <a:srgbClr val="253C4D"/>
                </a:solidFill>
                <a:latin typeface="Yu Gothic"/>
                <a:ea typeface="Yu Gothic"/>
                <a:cs typeface="Yu Gothic"/>
              </a:defRPr>
            </a:lvl8pPr>
            <a:lvl9pPr>
              <a:defRPr sz="2475" b="0">
                <a:solidFill>
                  <a:srgbClr val="253C4D"/>
                </a:solidFill>
                <a:latin typeface="Yu Gothic"/>
                <a:ea typeface="Yu Gothic"/>
                <a:cs typeface="Yu Gothic"/>
              </a:defRPr>
            </a:lvl9pPr>
          </a:lstStyle>
          <a:p xmlns:a="http://schemas.openxmlformats.org/drawingml/2006/main">
            <a:pPr>
              <a:defRPr sz="2475" b="0">
                <a:solidFill>
                  <a:srgbClr val="253C4D"/>
                </a:solidFill>
                <a:latin typeface="Yu Gothic"/>
                <a:ea typeface="Yu Gothic"/>
                <a:cs typeface="Yu Gothic"/>
              </a:defRPr>
            </a:pPr>
            <a:r>
              <a:rPr sz="2475" b="0">
                <a:solidFill>
                  <a:srgbClr val="253C4D"/>
                </a:solidFill>
                <a:latin typeface="Yu Gothic"/>
                <a:ea typeface="Yu Gothic"/>
                <a:cs typeface="Yu Gothic"/>
              </a:rPr>
              <a:t>S2 の位置と、MFAの基準線を示す</a:t>
            </a:r>
          </a:p>
        </p:txBody>
      </p:sp>
      <p:sp>
        <p:nvSpPr>
          <p:cNvPr id="7" name="">
            <a:extLst xmlns:a="http://schemas.openxmlformats.org/drawingml/2006/main">
              <a:ext uri="{FF2B5EF4-FFF2-40B4-BE49-F238E27FC236}">
                <a16:creationId xmlns:a16="http://schemas.microsoft.com/office/drawing/2014/main" id="{37FFD94A-08FD-4B48-A977-6DDA663752ED}"/>
              </a:ext>
            </a:extLst>
          </p:cNvPr>
          <p:cNvSpPr>
            <a:spLocks xmlns:a="http://schemas.openxmlformats.org/drawingml/2006/main" noGrp="1"/>
          </p:cNvSpPr>
          <p:nvPr/>
        </p:nvSpPr>
        <p:spPr>
          <a:xfrm xmlns:a="http://schemas.openxmlformats.org/drawingml/2006/main">
            <a:off x="838200" y="37147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defRPr sz="2475" b="0">
                <a:solidFill>
                  <a:srgbClr val="253C4D"/>
                </a:solidFill>
                <a:latin typeface="Yu Gothic"/>
                <a:ea typeface="Yu Gothic"/>
                <a:cs typeface="Yu Gothic"/>
              </a:defRPr>
            </a:lvl1pPr>
            <a:lvl2pPr>
              <a:defRPr sz="2475" b="0">
                <a:solidFill>
                  <a:srgbClr val="253C4D"/>
                </a:solidFill>
                <a:latin typeface="Yu Gothic"/>
                <a:ea typeface="Yu Gothic"/>
                <a:cs typeface="Yu Gothic"/>
              </a:defRPr>
            </a:lvl2pPr>
            <a:lvl3pPr>
              <a:defRPr sz="2475" b="0">
                <a:solidFill>
                  <a:srgbClr val="253C4D"/>
                </a:solidFill>
                <a:latin typeface="Yu Gothic"/>
                <a:ea typeface="Yu Gothic"/>
                <a:cs typeface="Yu Gothic"/>
              </a:defRPr>
            </a:lvl3pPr>
            <a:lvl4pPr>
              <a:defRPr sz="2475" b="0">
                <a:solidFill>
                  <a:srgbClr val="253C4D"/>
                </a:solidFill>
                <a:latin typeface="Yu Gothic"/>
                <a:ea typeface="Yu Gothic"/>
                <a:cs typeface="Yu Gothic"/>
              </a:defRPr>
            </a:lvl4pPr>
            <a:lvl5pPr>
              <a:defRPr sz="2475" b="0">
                <a:solidFill>
                  <a:srgbClr val="253C4D"/>
                </a:solidFill>
                <a:latin typeface="Yu Gothic"/>
                <a:ea typeface="Yu Gothic"/>
                <a:cs typeface="Yu Gothic"/>
              </a:defRPr>
            </a:lvl5pPr>
            <a:lvl6pPr>
              <a:defRPr sz="2475" b="0">
                <a:solidFill>
                  <a:srgbClr val="253C4D"/>
                </a:solidFill>
                <a:latin typeface="Yu Gothic"/>
                <a:ea typeface="Yu Gothic"/>
                <a:cs typeface="Yu Gothic"/>
              </a:defRPr>
            </a:lvl6pPr>
            <a:lvl7pPr>
              <a:defRPr sz="2475" b="0">
                <a:solidFill>
                  <a:srgbClr val="253C4D"/>
                </a:solidFill>
                <a:latin typeface="Yu Gothic"/>
                <a:ea typeface="Yu Gothic"/>
                <a:cs typeface="Yu Gothic"/>
              </a:defRPr>
            </a:lvl7pPr>
            <a:lvl8pPr>
              <a:defRPr sz="2475" b="0">
                <a:solidFill>
                  <a:srgbClr val="253C4D"/>
                </a:solidFill>
                <a:latin typeface="Yu Gothic"/>
                <a:ea typeface="Yu Gothic"/>
                <a:cs typeface="Yu Gothic"/>
              </a:defRPr>
            </a:lvl8pPr>
            <a:lvl9pPr>
              <a:defRPr sz="2475" b="0">
                <a:solidFill>
                  <a:srgbClr val="253C4D"/>
                </a:solidFill>
                <a:latin typeface="Yu Gothic"/>
                <a:ea typeface="Yu Gothic"/>
                <a:cs typeface="Yu Gothic"/>
              </a:defRPr>
            </a:lvl9pPr>
          </a:lstStyle>
          <a:p xmlns:a="http://schemas.openxmlformats.org/drawingml/2006/main">
            <a:pPr>
              <a:defRPr sz="2475" b="0">
                <a:solidFill>
                  <a:srgbClr val="253C4D"/>
                </a:solidFill>
                <a:latin typeface="Yu Gothic"/>
                <a:ea typeface="Yu Gothic"/>
                <a:cs typeface="Yu Gothic"/>
              </a:defRPr>
            </a:pPr>
            <a:r>
              <a:rPr sz="2475" b="0">
                <a:solidFill>
                  <a:srgbClr val="253C4D"/>
                </a:solidFill>
                <a:latin typeface="Yu Gothic"/>
                <a:ea typeface="Yu Gothic"/>
                <a:cs typeface="Yu Gothic"/>
              </a:rPr>
              <a:t>目切れとの違いを、図と短い文章で説明する</a:t>
            </a:r>
          </a:p>
        </p:txBody>
      </p:sp>
      <p:sp>
        <p:nvSpPr>
          <p:cNvPr id="8" name="">
            <a:extLst xmlns:a="http://schemas.openxmlformats.org/drawingml/2006/main">
              <a:ext uri="{FF2B5EF4-FFF2-40B4-BE49-F238E27FC236}">
                <a16:creationId xmlns:a16="http://schemas.microsoft.com/office/drawing/2014/main" id="{42A9C04B-2964-427B-89D8-AC782B9BE77C}"/>
              </a:ext>
            </a:extLst>
          </p:cNvPr>
          <p:cNvSpPr>
            <a:spLocks xmlns:a="http://schemas.openxmlformats.org/drawingml/2006/main" noGrp="1"/>
          </p:cNvSpPr>
          <p:nvPr/>
        </p:nvSpPr>
        <p:spPr>
          <a:xfrm xmlns:a="http://schemas.openxmlformats.org/drawingml/2006/main">
            <a:off x="838200" y="47148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defRPr sz="2475" b="0">
                <a:solidFill>
                  <a:srgbClr val="253C4D"/>
                </a:solidFill>
                <a:latin typeface="Yu Gothic"/>
                <a:ea typeface="Yu Gothic"/>
                <a:cs typeface="Yu Gothic"/>
              </a:defRPr>
            </a:lvl1pPr>
            <a:lvl2pPr>
              <a:defRPr sz="2475" b="0">
                <a:solidFill>
                  <a:srgbClr val="253C4D"/>
                </a:solidFill>
                <a:latin typeface="Yu Gothic"/>
                <a:ea typeface="Yu Gothic"/>
                <a:cs typeface="Yu Gothic"/>
              </a:defRPr>
            </a:lvl2pPr>
            <a:lvl3pPr>
              <a:defRPr sz="2475" b="0">
                <a:solidFill>
                  <a:srgbClr val="253C4D"/>
                </a:solidFill>
                <a:latin typeface="Yu Gothic"/>
                <a:ea typeface="Yu Gothic"/>
                <a:cs typeface="Yu Gothic"/>
              </a:defRPr>
            </a:lvl3pPr>
            <a:lvl4pPr>
              <a:defRPr sz="2475" b="0">
                <a:solidFill>
                  <a:srgbClr val="253C4D"/>
                </a:solidFill>
                <a:latin typeface="Yu Gothic"/>
                <a:ea typeface="Yu Gothic"/>
                <a:cs typeface="Yu Gothic"/>
              </a:defRPr>
            </a:lvl4pPr>
            <a:lvl5pPr>
              <a:defRPr sz="2475" b="0">
                <a:solidFill>
                  <a:srgbClr val="253C4D"/>
                </a:solidFill>
                <a:latin typeface="Yu Gothic"/>
                <a:ea typeface="Yu Gothic"/>
                <a:cs typeface="Yu Gothic"/>
              </a:defRPr>
            </a:lvl5pPr>
            <a:lvl6pPr>
              <a:defRPr sz="2475" b="0">
                <a:solidFill>
                  <a:srgbClr val="253C4D"/>
                </a:solidFill>
                <a:latin typeface="Yu Gothic"/>
                <a:ea typeface="Yu Gothic"/>
                <a:cs typeface="Yu Gothic"/>
              </a:defRPr>
            </a:lvl6pPr>
            <a:lvl7pPr>
              <a:defRPr sz="2475" b="0">
                <a:solidFill>
                  <a:srgbClr val="253C4D"/>
                </a:solidFill>
                <a:latin typeface="Yu Gothic"/>
                <a:ea typeface="Yu Gothic"/>
                <a:cs typeface="Yu Gothic"/>
              </a:defRPr>
            </a:lvl7pPr>
            <a:lvl8pPr>
              <a:defRPr sz="2475" b="0">
                <a:solidFill>
                  <a:srgbClr val="253C4D"/>
                </a:solidFill>
                <a:latin typeface="Yu Gothic"/>
                <a:ea typeface="Yu Gothic"/>
                <a:cs typeface="Yu Gothic"/>
              </a:defRPr>
            </a:lvl8pPr>
            <a:lvl9pPr>
              <a:defRPr sz="2475" b="0">
                <a:solidFill>
                  <a:srgbClr val="253C4D"/>
                </a:solidFill>
                <a:latin typeface="Yu Gothic"/>
                <a:ea typeface="Yu Gothic"/>
                <a:cs typeface="Yu Gothic"/>
              </a:defRPr>
            </a:lvl9pPr>
          </a:lstStyle>
          <a:p xmlns:a="http://schemas.openxmlformats.org/drawingml/2006/main">
            <a:pPr>
              <a:defRPr sz="2475" b="0">
                <a:solidFill>
                  <a:srgbClr val="253C4D"/>
                </a:solidFill>
                <a:latin typeface="Yu Gothic"/>
                <a:ea typeface="Yu Gothic"/>
                <a:cs typeface="Yu Gothic"/>
              </a:defRPr>
            </a:pPr>
            <a:r>
              <a:rPr sz="2475" b="0">
                <a:solidFill>
                  <a:srgbClr val="253C4D"/>
                </a:solidFill>
                <a:latin typeface="Yu Gothic"/>
                <a:ea typeface="Yu Gothic"/>
                <a:cs typeface="Yu Gothic"/>
              </a:rPr>
              <a:t>自己確認用。提出課題は授業の案内に従う。</a:t>
            </a:r>
          </a:p>
        </p:txBody>
      </p:sp>
    </p:spTree>
    <p:extLst>
      <p:ext uri="{BB962C8B-B14F-4D97-AF65-F5344CB8AC3E}">
        <p14:creationId xmlns:p14="http://schemas.microsoft.com/office/powerpoint/2010/main" val="23147848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0CFE13-292B-4116-8BAB-55E5156DCE6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参考資料：図と定義の確認</a:t>
            </a:r>
          </a:p>
        </p:txBody>
      </p:sp>
      <p:sp>
        <p:nvSpPr>
          <p:cNvPr id="2" name="">
            <a:extLst xmlns:a="http://schemas.openxmlformats.org/drawingml/2006/main">
              <a:ext uri="{FF2B5EF4-FFF2-40B4-BE49-F238E27FC236}">
                <a16:creationId xmlns:a16="http://schemas.microsoft.com/office/drawing/2014/main" id="{AA6A075D-4795-4E19-9AED-D2A2B04EAAB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A2540D-EE08-4C2C-9058-9B2F3BAC9F3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BE03E223-AB62-446E-BDAC-DDAA044A04D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D0A94598-3D95-48F2-9B9D-935E644D2AC4}"/>
              </a:ext>
            </a:extLst>
          </p:cNvPr>
          <p:cNvSpPr>
            <a:spLocks xmlns:a="http://schemas.openxmlformats.org/drawingml/2006/main" noGrp="1"/>
          </p:cNvSpPr>
          <p:nvPr/>
        </p:nvSpPr>
        <p:spPr>
          <a:xfrm xmlns:a="http://schemas.openxmlformats.org/drawingml/2006/main">
            <a:off x="838200" y="16859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defRPr sz="2025" b="1">
                <a:solidFill>
                  <a:srgbClr val="253C4D"/>
                </a:solidFill>
                <a:latin typeface="Yu Gothic"/>
                <a:ea typeface="Yu Gothic"/>
                <a:cs typeface="Yu Gothic"/>
              </a:defRPr>
            </a:lvl1pPr>
            <a:lvl2pPr>
              <a:defRPr sz="2025" b="1">
                <a:solidFill>
                  <a:srgbClr val="253C4D"/>
                </a:solidFill>
                <a:latin typeface="Yu Gothic"/>
                <a:ea typeface="Yu Gothic"/>
                <a:cs typeface="Yu Gothic"/>
              </a:defRPr>
            </a:lvl2pPr>
            <a:lvl3pPr>
              <a:defRPr sz="2025" b="1">
                <a:solidFill>
                  <a:srgbClr val="253C4D"/>
                </a:solidFill>
                <a:latin typeface="Yu Gothic"/>
                <a:ea typeface="Yu Gothic"/>
                <a:cs typeface="Yu Gothic"/>
              </a:defRPr>
            </a:lvl3pPr>
            <a:lvl4pPr>
              <a:defRPr sz="2025" b="1">
                <a:solidFill>
                  <a:srgbClr val="253C4D"/>
                </a:solidFill>
                <a:latin typeface="Yu Gothic"/>
                <a:ea typeface="Yu Gothic"/>
                <a:cs typeface="Yu Gothic"/>
              </a:defRPr>
            </a:lvl4pPr>
            <a:lvl5pPr>
              <a:defRPr sz="2025" b="1">
                <a:solidFill>
                  <a:srgbClr val="253C4D"/>
                </a:solidFill>
                <a:latin typeface="Yu Gothic"/>
                <a:ea typeface="Yu Gothic"/>
                <a:cs typeface="Yu Gothic"/>
              </a:defRPr>
            </a:lvl5pPr>
            <a:lvl6pPr>
              <a:defRPr sz="2025" b="1">
                <a:solidFill>
                  <a:srgbClr val="253C4D"/>
                </a:solidFill>
                <a:latin typeface="Yu Gothic"/>
                <a:ea typeface="Yu Gothic"/>
                <a:cs typeface="Yu Gothic"/>
              </a:defRPr>
            </a:lvl6pPr>
            <a:lvl7pPr>
              <a:defRPr sz="2025" b="1">
                <a:solidFill>
                  <a:srgbClr val="253C4D"/>
                </a:solidFill>
                <a:latin typeface="Yu Gothic"/>
                <a:ea typeface="Yu Gothic"/>
                <a:cs typeface="Yu Gothic"/>
              </a:defRPr>
            </a:lvl7pPr>
            <a:lvl8pPr>
              <a:defRPr sz="2025" b="1">
                <a:solidFill>
                  <a:srgbClr val="253C4D"/>
                </a:solidFill>
                <a:latin typeface="Yu Gothic"/>
                <a:ea typeface="Yu Gothic"/>
                <a:cs typeface="Yu Gothic"/>
              </a:defRPr>
            </a:lvl8pPr>
            <a:lvl9pPr>
              <a:defRPr sz="2025" b="1">
                <a:solidFill>
                  <a:srgbClr val="253C4D"/>
                </a:solidFill>
                <a:latin typeface="Yu Gothic"/>
                <a:ea typeface="Yu Gothic"/>
                <a:cs typeface="Yu Gothic"/>
              </a:defRPr>
            </a:lvl9pPr>
          </a:lstStyle>
          <a:p xmlns:a="http://schemas.openxmlformats.org/drawingml/2006/main">
            <a:pPr>
              <a:defRPr sz="2025" b="1">
                <a:solidFill>
                  <a:srgbClr val="253C4D"/>
                </a:solidFill>
                <a:latin typeface="Yu Gothic"/>
                <a:ea typeface="Yu Gothic"/>
                <a:cs typeface="Yu Gothic"/>
              </a:defRPr>
            </a:pPr>
            <a:r>
              <a:rPr sz="2025" b="1">
                <a:solidFill>
                  <a:srgbClr val="253C4D"/>
                </a:solidFill>
                <a:latin typeface="Yu Gothic"/>
                <a:ea typeface="Yu Gothic"/>
                <a:cs typeface="Yu Gothic"/>
                <a:hlinkClick xmlns:r="http://schemas.openxmlformats.org/officeDocument/2006/relationships" r:id="R66f4db01a8414c43"/>
              </a:rPr>
              <a:t>USDA Wood Handbook 2021 第3章</a:t>
            </a:r>
          </a:p>
        </p:txBody>
      </p:sp>
      <p:sp>
        <p:nvSpPr>
          <p:cNvPr id="6" name="">
            <a:extLst xmlns:a="http://schemas.openxmlformats.org/drawingml/2006/main">
              <a:ext uri="{FF2B5EF4-FFF2-40B4-BE49-F238E27FC236}">
                <a16:creationId xmlns:a16="http://schemas.microsoft.com/office/drawing/2014/main" id="{C3E76C55-BD83-4D61-9D71-FDF7418F43DF}"/>
              </a:ext>
            </a:extLst>
          </p:cNvPr>
          <p:cNvSpPr>
            <a:spLocks xmlns:a="http://schemas.openxmlformats.org/drawingml/2006/main" noGrp="1"/>
          </p:cNvSpPr>
          <p:nvPr/>
        </p:nvSpPr>
        <p:spPr>
          <a:xfrm xmlns:a="http://schemas.openxmlformats.org/drawingml/2006/main">
            <a:off x="838200" y="25050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Fig. 3–6（冊子3–7頁）、層の説明（3–8頁）</a:t>
            </a:r>
          </a:p>
        </p:txBody>
      </p:sp>
      <p:sp>
        <p:nvSpPr>
          <p:cNvPr id="7" name="">
            <a:extLst xmlns:a="http://schemas.openxmlformats.org/drawingml/2006/main">
              <a:ext uri="{FF2B5EF4-FFF2-40B4-BE49-F238E27FC236}">
                <a16:creationId xmlns:a16="http://schemas.microsoft.com/office/drawing/2014/main" id="{174495AA-812D-43B0-BAA8-57B870301F74}"/>
              </a:ext>
            </a:extLst>
          </p:cNvPr>
          <p:cNvSpPr>
            <a:spLocks xmlns:a="http://schemas.openxmlformats.org/drawingml/2006/main" noGrp="1"/>
          </p:cNvSpPr>
          <p:nvPr/>
        </p:nvSpPr>
        <p:spPr>
          <a:xfrm xmlns:a="http://schemas.openxmlformats.org/drawingml/2006/main">
            <a:off x="838200" y="33242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ab34dfd698d644cc"/>
              </a:rPr>
              <a:t>https://research.fs.usda.gov/treesearch/62242</a:t>
            </a:r>
          </a:p>
        </p:txBody>
      </p:sp>
      <p:sp>
        <p:nvSpPr>
          <p:cNvPr id="8" name="">
            <a:extLst xmlns:a="http://schemas.openxmlformats.org/drawingml/2006/main">
              <a:ext uri="{FF2B5EF4-FFF2-40B4-BE49-F238E27FC236}">
                <a16:creationId xmlns:a16="http://schemas.microsoft.com/office/drawing/2014/main" id="{D336A920-CCD4-4EBF-BC35-FF1D9BFD5B27}"/>
              </a:ext>
            </a:extLst>
          </p:cNvPr>
          <p:cNvSpPr>
            <a:spLocks xmlns:a="http://schemas.openxmlformats.org/drawingml/2006/main" noGrp="1"/>
          </p:cNvSpPr>
          <p:nvPr/>
        </p:nvSpPr>
        <p:spPr>
          <a:xfrm xmlns:a="http://schemas.openxmlformats.org/drawingml/2006/main">
            <a:off x="838200" y="41433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宮下ほか（2021）MFAとスギの根元曲がり</a:t>
            </a:r>
          </a:p>
        </p:txBody>
      </p:sp>
      <p:sp>
        <p:nvSpPr>
          <p:cNvPr id="9" name="">
            <a:extLst xmlns:a="http://schemas.openxmlformats.org/drawingml/2006/main">
              <a:ext uri="{FF2B5EF4-FFF2-40B4-BE49-F238E27FC236}">
                <a16:creationId xmlns:a16="http://schemas.microsoft.com/office/drawing/2014/main" id="{E0BE00FF-1BC6-428C-8FE7-6A6DE8FA3FCF}"/>
              </a:ext>
            </a:extLst>
          </p:cNvPr>
          <p:cNvSpPr>
            <a:spLocks xmlns:a="http://schemas.openxmlformats.org/drawingml/2006/main" noGrp="1"/>
          </p:cNvSpPr>
          <p:nvPr/>
        </p:nvSpPr>
        <p:spPr>
          <a:xfrm xmlns:a="http://schemas.openxmlformats.org/drawingml/2006/main">
            <a:off x="838200" y="49625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b19f83a988044a40"/>
              </a:rPr>
              <a:t>https://doi.org/10.4005/jjfs.103.71</a:t>
            </a:r>
          </a:p>
        </p:txBody>
      </p:sp>
    </p:spTree>
    <p:extLst>
      <p:ext uri="{BB962C8B-B14F-4D97-AF65-F5344CB8AC3E}">
        <p14:creationId xmlns:p14="http://schemas.microsoft.com/office/powerpoint/2010/main" val="186384544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50D337-23DC-41E1-8499-EC5A80E428B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技術科との接続と次の学習</a:t>
            </a:r>
          </a:p>
        </p:txBody>
      </p:sp>
      <p:sp>
        <p:nvSpPr>
          <p:cNvPr id="2" name="">
            <a:extLst xmlns:a="http://schemas.openxmlformats.org/drawingml/2006/main">
              <a:ext uri="{FF2B5EF4-FFF2-40B4-BE49-F238E27FC236}">
                <a16:creationId xmlns:a16="http://schemas.microsoft.com/office/drawing/2014/main" id="{19E37856-2E61-4CA9-8E6D-4F504BF7C28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419185-2ED1-4717-B9C8-C6EA1CB28C9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第3回</a:t>
            </a:r>
          </a:p>
        </p:txBody>
      </p:sp>
      <p:sp>
        <p:nvSpPr>
          <p:cNvPr id="4" name="">
            <a:extLst xmlns:a="http://schemas.openxmlformats.org/drawingml/2006/main">
              <a:ext uri="{FF2B5EF4-FFF2-40B4-BE49-F238E27FC236}">
                <a16:creationId xmlns:a16="http://schemas.microsoft.com/office/drawing/2014/main" id="{2928B687-AB62-4FE3-8380-39432AAE540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A6ACBFB9-F673-46E6-B606-EC4C72F61FB3}"/>
              </a:ext>
            </a:extLst>
          </p:cNvPr>
          <p:cNvSpPr>
            <a:spLocks xmlns:a="http://schemas.openxmlformats.org/drawingml/2006/main" noGrp="1"/>
          </p:cNvSpPr>
          <p:nvPr/>
        </p:nvSpPr>
        <p:spPr>
          <a:xfrm xmlns:a="http://schemas.openxmlformats.org/drawingml/2006/main">
            <a:off x="838200" y="16859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defRPr sz="2025" b="1">
                <a:solidFill>
                  <a:srgbClr val="253C4D"/>
                </a:solidFill>
                <a:latin typeface="Yu Gothic"/>
                <a:ea typeface="Yu Gothic"/>
                <a:cs typeface="Yu Gothic"/>
              </a:defRPr>
            </a:lvl1pPr>
            <a:lvl2pPr>
              <a:defRPr sz="2025" b="1">
                <a:solidFill>
                  <a:srgbClr val="253C4D"/>
                </a:solidFill>
                <a:latin typeface="Yu Gothic"/>
                <a:ea typeface="Yu Gothic"/>
                <a:cs typeface="Yu Gothic"/>
              </a:defRPr>
            </a:lvl2pPr>
            <a:lvl3pPr>
              <a:defRPr sz="2025" b="1">
                <a:solidFill>
                  <a:srgbClr val="253C4D"/>
                </a:solidFill>
                <a:latin typeface="Yu Gothic"/>
                <a:ea typeface="Yu Gothic"/>
                <a:cs typeface="Yu Gothic"/>
              </a:defRPr>
            </a:lvl3pPr>
            <a:lvl4pPr>
              <a:defRPr sz="2025" b="1">
                <a:solidFill>
                  <a:srgbClr val="253C4D"/>
                </a:solidFill>
                <a:latin typeface="Yu Gothic"/>
                <a:ea typeface="Yu Gothic"/>
                <a:cs typeface="Yu Gothic"/>
              </a:defRPr>
            </a:lvl4pPr>
            <a:lvl5pPr>
              <a:defRPr sz="2025" b="1">
                <a:solidFill>
                  <a:srgbClr val="253C4D"/>
                </a:solidFill>
                <a:latin typeface="Yu Gothic"/>
                <a:ea typeface="Yu Gothic"/>
                <a:cs typeface="Yu Gothic"/>
              </a:defRPr>
            </a:lvl5pPr>
            <a:lvl6pPr>
              <a:defRPr sz="2025" b="1">
                <a:solidFill>
                  <a:srgbClr val="253C4D"/>
                </a:solidFill>
                <a:latin typeface="Yu Gothic"/>
                <a:ea typeface="Yu Gothic"/>
                <a:cs typeface="Yu Gothic"/>
              </a:defRPr>
            </a:lvl6pPr>
            <a:lvl7pPr>
              <a:defRPr sz="2025" b="1">
                <a:solidFill>
                  <a:srgbClr val="253C4D"/>
                </a:solidFill>
                <a:latin typeface="Yu Gothic"/>
                <a:ea typeface="Yu Gothic"/>
                <a:cs typeface="Yu Gothic"/>
              </a:defRPr>
            </a:lvl7pPr>
            <a:lvl8pPr>
              <a:defRPr sz="2025" b="1">
                <a:solidFill>
                  <a:srgbClr val="253C4D"/>
                </a:solidFill>
                <a:latin typeface="Yu Gothic"/>
                <a:ea typeface="Yu Gothic"/>
                <a:cs typeface="Yu Gothic"/>
              </a:defRPr>
            </a:lvl8pPr>
            <a:lvl9pPr>
              <a:defRPr sz="2025" b="1">
                <a:solidFill>
                  <a:srgbClr val="253C4D"/>
                </a:solidFill>
                <a:latin typeface="Yu Gothic"/>
                <a:ea typeface="Yu Gothic"/>
                <a:cs typeface="Yu Gothic"/>
              </a:defRPr>
            </a:lvl9pPr>
          </a:lstStyle>
          <a:p xmlns:a="http://schemas.openxmlformats.org/drawingml/2006/main">
            <a:pPr>
              <a:defRPr sz="2025" b="1">
                <a:solidFill>
                  <a:srgbClr val="253C4D"/>
                </a:solidFill>
                <a:latin typeface="Yu Gothic"/>
                <a:ea typeface="Yu Gothic"/>
                <a:cs typeface="Yu Gothic"/>
              </a:defRPr>
            </a:pPr>
            <a:r>
              <a:rPr sz="2025" b="1">
                <a:solidFill>
                  <a:srgbClr val="253C4D"/>
                </a:solidFill>
                <a:latin typeface="Yu Gothic"/>
                <a:ea typeface="Yu Gothic"/>
                <a:cs typeface="Yu Gothic"/>
              </a:rPr>
              <a:t>中学校学習指導要領解説 技術・家庭編 A(1)ア</a:t>
            </a:r>
          </a:p>
        </p:txBody>
      </p:sp>
      <p:sp>
        <p:nvSpPr>
          <p:cNvPr id="6" name="">
            <a:extLst xmlns:a="http://schemas.openxmlformats.org/drawingml/2006/main">
              <a:ext uri="{FF2B5EF4-FFF2-40B4-BE49-F238E27FC236}">
                <a16:creationId xmlns:a16="http://schemas.microsoft.com/office/drawing/2014/main" id="{3BD9FFDA-0F38-49BB-A390-0D4DD306309B}"/>
              </a:ext>
            </a:extLst>
          </p:cNvPr>
          <p:cNvSpPr>
            <a:spLocks xmlns:a="http://schemas.openxmlformats.org/drawingml/2006/main" noGrp="1"/>
          </p:cNvSpPr>
          <p:nvPr/>
        </p:nvSpPr>
        <p:spPr>
          <a:xfrm xmlns:a="http://schemas.openxmlformats.org/drawingml/2006/main">
            <a:off x="838200" y="25050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公開年間計画と、採択教科書の本文は区別して照合</a:t>
            </a:r>
          </a:p>
        </p:txBody>
      </p:sp>
      <p:sp>
        <p:nvSpPr>
          <p:cNvPr id="7" name="">
            <a:extLst xmlns:a="http://schemas.openxmlformats.org/drawingml/2006/main">
              <a:ext uri="{FF2B5EF4-FFF2-40B4-BE49-F238E27FC236}">
                <a16:creationId xmlns:a16="http://schemas.microsoft.com/office/drawing/2014/main" id="{A7D6CE68-8973-45A6-B8C6-C984972226C5}"/>
              </a:ext>
            </a:extLst>
          </p:cNvPr>
          <p:cNvSpPr>
            <a:spLocks xmlns:a="http://schemas.openxmlformats.org/drawingml/2006/main" noGrp="1"/>
          </p:cNvSpPr>
          <p:nvPr/>
        </p:nvSpPr>
        <p:spPr>
          <a:xfrm xmlns:a="http://schemas.openxmlformats.org/drawingml/2006/main">
            <a:off x="838200" y="33242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東京書籍 R7 年間指導計画：配布資料のリンク参照</a:t>
            </a:r>
          </a:p>
        </p:txBody>
      </p:sp>
      <p:sp>
        <p:nvSpPr>
          <p:cNvPr id="8" name="">
            <a:extLst xmlns:a="http://schemas.openxmlformats.org/drawingml/2006/main">
              <a:ext uri="{FF2B5EF4-FFF2-40B4-BE49-F238E27FC236}">
                <a16:creationId xmlns:a16="http://schemas.microsoft.com/office/drawing/2014/main" id="{F96902E9-474C-4670-B29D-BBC92C0B33CD}"/>
              </a:ext>
            </a:extLst>
          </p:cNvPr>
          <p:cNvSpPr>
            <a:spLocks xmlns:a="http://schemas.openxmlformats.org/drawingml/2006/main" noGrp="1"/>
          </p:cNvSpPr>
          <p:nvPr/>
        </p:nvSpPr>
        <p:spPr>
          <a:xfrm xmlns:a="http://schemas.openxmlformats.org/drawingml/2006/main">
            <a:off x="838200" y="41433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次回：主要構成成分と、壁の中での役割</a:t>
            </a:r>
          </a:p>
        </p:txBody>
      </p:sp>
    </p:spTree>
    <p:extLst>
      <p:ext uri="{BB962C8B-B14F-4D97-AF65-F5344CB8AC3E}">
        <p14:creationId xmlns:p14="http://schemas.microsoft.com/office/powerpoint/2010/main" val="4324884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2026-10-24T03:18:11.2030000Z</dcterms:created>
  <dcterms:modified xsi:type="dcterms:W3CDTF">2026-10-24T03:18:11.2030000Z</dcterms:modified>
</coreProperties>
</file>