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2e8332ef134c2a" /><Relationship Type="http://schemas.openxmlformats.org/officeDocument/2006/relationships/extended-properties" Target="/docProps/app.xml" Id="R8b515fe90a61474b" /><Relationship Type="http://schemas.openxmlformats.org/officeDocument/2006/relationships/officeDocument" Target="/ppt/presentation.xml" Id="R46d6bfa1d6ff4259" /></Relationships>
</file>

<file path=ppt/presentation.xml><?xml version="1.0" encoding="utf-8"?>
<p:presentation xmlns:p="http://schemas.openxmlformats.org/presentationml/2006/main">
  <p:sldMasterIdLst>
    <p:sldMasterId xmlns:r="http://schemas.openxmlformats.org/officeDocument/2006/relationships" id="2147483648" r:id="R1c297c7a0ae740e3"/>
    <p:sldMasterId xmlns:r="http://schemas.openxmlformats.org/officeDocument/2006/relationships" id="2147483655" r:id="R64ad34b245e24e85"/>
  </p:sldMasterIdLst>
  <p:notesMasterIdLst>
    <p:notesMasterId xmlns:r="http://schemas.openxmlformats.org/officeDocument/2006/relationships" r:id="R1c3e7c3d1d164a0e"/>
  </p:notesMasterIdLst>
  <p:sldIdLst>
    <p:sldId xmlns:r="http://schemas.openxmlformats.org/officeDocument/2006/relationships" id="256" r:id="Rbe27dd3d2cd342b8"/>
    <p:sldId xmlns:r="http://schemas.openxmlformats.org/officeDocument/2006/relationships" id="257" r:id="R7eacca570c8c4bd9"/>
    <p:sldId xmlns:r="http://schemas.openxmlformats.org/officeDocument/2006/relationships" id="258" r:id="R4820e052f1cf4d3b"/>
    <p:sldId xmlns:r="http://schemas.openxmlformats.org/officeDocument/2006/relationships" id="259" r:id="R8bfb38b992df428e"/>
    <p:sldId xmlns:r="http://schemas.openxmlformats.org/officeDocument/2006/relationships" id="260" r:id="Raf1ffcd3202e4ebf"/>
    <p:sldId xmlns:r="http://schemas.openxmlformats.org/officeDocument/2006/relationships" id="261" r:id="R5eb785eb086e47f6"/>
    <p:sldId xmlns:r="http://schemas.openxmlformats.org/officeDocument/2006/relationships" id="262" r:id="R7b450de2731444ab"/>
    <p:sldId xmlns:r="http://schemas.openxmlformats.org/officeDocument/2006/relationships" id="263" r:id="Rb8969016b6f64c47"/>
    <p:sldId xmlns:r="http://schemas.openxmlformats.org/officeDocument/2006/relationships" id="264" r:id="R1c1eb27be4424a02"/>
    <p:sldId xmlns:r="http://schemas.openxmlformats.org/officeDocument/2006/relationships" id="265" r:id="R12b9ea2fb66e4d98"/>
    <p:sldId xmlns:r="http://schemas.openxmlformats.org/officeDocument/2006/relationships" id="266" r:id="R8592bd4ad09f456c"/>
    <p:sldId xmlns:r="http://schemas.openxmlformats.org/officeDocument/2006/relationships" id="267" r:id="R4cc409339e954eac"/>
    <p:sldId xmlns:r="http://schemas.openxmlformats.org/officeDocument/2006/relationships" id="268" r:id="R4efd28faab6d4e59"/>
    <p:sldId xmlns:r="http://schemas.openxmlformats.org/officeDocument/2006/relationships" id="269" r:id="R704ea328cc82429f"/>
    <p:sldId xmlns:r="http://schemas.openxmlformats.org/officeDocument/2006/relationships" id="270" r:id="R2e1539e80df04148"/>
    <p:sldId xmlns:r="http://schemas.openxmlformats.org/officeDocument/2006/relationships" id="271" r:id="Rfbfd312642e9482a"/>
    <p:sldId xmlns:r="http://schemas.openxmlformats.org/officeDocument/2006/relationships" id="272" r:id="R260d0e14d2734b84"/>
    <p:sldId xmlns:r="http://schemas.openxmlformats.org/officeDocument/2006/relationships" id="273" r:id="R5b3f7012b5d74258"/>
    <p:sldId xmlns:r="http://schemas.openxmlformats.org/officeDocument/2006/relationships" id="274" r:id="Rea1cdb7d89e446d2"/>
    <p:sldId xmlns:r="http://schemas.openxmlformats.org/officeDocument/2006/relationships" id="275" r:id="R3fe8d047bbcb4fe0"/>
    <p:sldId xmlns:r="http://schemas.openxmlformats.org/officeDocument/2006/relationships" id="276" r:id="R6c6b04d387d44b15"/>
    <p:sldId xmlns:r="http://schemas.openxmlformats.org/officeDocument/2006/relationships" id="277" r:id="R18f6cc47ce1c422e"/>
    <p:sldId xmlns:r="http://schemas.openxmlformats.org/officeDocument/2006/relationships" id="278" r:id="Re870eb51bac34f90"/>
    <p:sldId xmlns:r="http://schemas.openxmlformats.org/officeDocument/2006/relationships" id="279" r:id="Re637f522d19f460c"/>
    <p:sldId xmlns:r="http://schemas.openxmlformats.org/officeDocument/2006/relationships" id="280" r:id="R212c7881fe3245cf"/>
    <p:sldId xmlns:r="http://schemas.openxmlformats.org/officeDocument/2006/relationships" id="281" r:id="R3cedb510be784537"/>
    <p:sldId xmlns:r="http://schemas.openxmlformats.org/officeDocument/2006/relationships" id="282" r:id="R7c654844322d4950"/>
    <p:sldId xmlns:r="http://schemas.openxmlformats.org/officeDocument/2006/relationships" id="283" r:id="R50dfd1c305cf40fe"/>
    <p:sldId xmlns:r="http://schemas.openxmlformats.org/officeDocument/2006/relationships" id="284" r:id="Rcc8f60fcc2c44a16"/>
    <p:sldId xmlns:r="http://schemas.openxmlformats.org/officeDocument/2006/relationships" id="285" r:id="R6b791732d5f04f10"/>
    <p:sldId xmlns:r="http://schemas.openxmlformats.org/officeDocument/2006/relationships" id="286" r:id="R8be7403177bc476b"/>
    <p:sldId xmlns:r="http://schemas.openxmlformats.org/officeDocument/2006/relationships" id="287" r:id="Reb7369b3f5e9494a"/>
    <p:sldId xmlns:r="http://schemas.openxmlformats.org/officeDocument/2006/relationships" id="288" r:id="Re73b39f0b0e94075"/>
    <p:sldId xmlns:r="http://schemas.openxmlformats.org/officeDocument/2006/relationships" id="289" r:id="Re9c6d3e377844d4e"/>
    <p:sldId xmlns:r="http://schemas.openxmlformats.org/officeDocument/2006/relationships" id="290" r:id="R5ede74a999e84d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9d1ad9d2345a6" /><Relationship Type="http://schemas.openxmlformats.org/officeDocument/2006/relationships/slideMaster" Target="/ppt/slideMasters/slideMaster1.xml" Id="R1c297c7a0ae740e3" /><Relationship Type="http://schemas.openxmlformats.org/officeDocument/2006/relationships/slideMaster" Target="/ppt/slideMasters/slideMaster2.xml" Id="R64ad34b245e24e85" /><Relationship Type="http://schemas.openxmlformats.org/officeDocument/2006/relationships/notesMaster" Target="/ppt/notesMasters/notesMaster1.xml" Id="R1c3e7c3d1d164a0e" /><Relationship Type="http://schemas.openxmlformats.org/officeDocument/2006/relationships/presProps" Target="/ppt/presProps.xml" Id="R7a5c815f521e4956" /><Relationship Type="http://schemas.openxmlformats.org/officeDocument/2006/relationships/tableStyles" Target="/ppt/tableStyles.xml" Id="R1eea90400d204cc8" /><Relationship Type="http://schemas.openxmlformats.org/officeDocument/2006/relationships/slide" Target="/ppt/slides/slide1.xml" Id="Rbe27dd3d2cd342b8" /><Relationship Type="http://schemas.openxmlformats.org/officeDocument/2006/relationships/slide" Target="/ppt/slides/slide2.xml" Id="R7eacca570c8c4bd9" /><Relationship Type="http://schemas.openxmlformats.org/officeDocument/2006/relationships/slide" Target="/ppt/slides/slide3.xml" Id="R4820e052f1cf4d3b" /><Relationship Type="http://schemas.openxmlformats.org/officeDocument/2006/relationships/slide" Target="/ppt/slides/slide4.xml" Id="R8bfb38b992df428e" /><Relationship Type="http://schemas.openxmlformats.org/officeDocument/2006/relationships/slide" Target="/ppt/slides/slide5.xml" Id="Raf1ffcd3202e4ebf" /><Relationship Type="http://schemas.openxmlformats.org/officeDocument/2006/relationships/slide" Target="/ppt/slides/slide6.xml" Id="R5eb785eb086e47f6" /><Relationship Type="http://schemas.openxmlformats.org/officeDocument/2006/relationships/slide" Target="/ppt/slides/slide7.xml" Id="R7b450de2731444ab" /><Relationship Type="http://schemas.openxmlformats.org/officeDocument/2006/relationships/slide" Target="/ppt/slides/slide8.xml" Id="Rb8969016b6f64c47" /><Relationship Type="http://schemas.openxmlformats.org/officeDocument/2006/relationships/slide" Target="/ppt/slides/slide9.xml" Id="R1c1eb27be4424a02" /><Relationship Type="http://schemas.openxmlformats.org/officeDocument/2006/relationships/slide" Target="/ppt/slides/slide10.xml" Id="R12b9ea2fb66e4d98" /><Relationship Type="http://schemas.openxmlformats.org/officeDocument/2006/relationships/slide" Target="/ppt/slides/slide11.xml" Id="R8592bd4ad09f456c" /><Relationship Type="http://schemas.openxmlformats.org/officeDocument/2006/relationships/slide" Target="/ppt/slides/slide12.xml" Id="R4cc409339e954eac" /><Relationship Type="http://schemas.openxmlformats.org/officeDocument/2006/relationships/slide" Target="/ppt/slides/slide13.xml" Id="R4efd28faab6d4e59" /><Relationship Type="http://schemas.openxmlformats.org/officeDocument/2006/relationships/slide" Target="/ppt/slides/slide14.xml" Id="R704ea328cc82429f" /><Relationship Type="http://schemas.openxmlformats.org/officeDocument/2006/relationships/slide" Target="/ppt/slides/slide15.xml" Id="R2e1539e80df04148" /><Relationship Type="http://schemas.openxmlformats.org/officeDocument/2006/relationships/slide" Target="/ppt/slides/slide16.xml" Id="Rfbfd312642e9482a" /><Relationship Type="http://schemas.openxmlformats.org/officeDocument/2006/relationships/slide" Target="/ppt/slides/slide17.xml" Id="R260d0e14d2734b84" /><Relationship Type="http://schemas.openxmlformats.org/officeDocument/2006/relationships/slide" Target="/ppt/slides/slide18.xml" Id="R5b3f7012b5d74258" /><Relationship Type="http://schemas.openxmlformats.org/officeDocument/2006/relationships/slide" Target="/ppt/slides/slide19.xml" Id="Rea1cdb7d89e446d2" /><Relationship Type="http://schemas.openxmlformats.org/officeDocument/2006/relationships/slide" Target="/ppt/slides/slide20.xml" Id="R3fe8d047bbcb4fe0" /><Relationship Type="http://schemas.openxmlformats.org/officeDocument/2006/relationships/slide" Target="/ppt/slides/slide21.xml" Id="R6c6b04d387d44b15" /><Relationship Type="http://schemas.openxmlformats.org/officeDocument/2006/relationships/slide" Target="/ppt/slides/slide22.xml" Id="R18f6cc47ce1c422e" /><Relationship Type="http://schemas.openxmlformats.org/officeDocument/2006/relationships/slide" Target="/ppt/slides/slide23.xml" Id="Re870eb51bac34f90" /><Relationship Type="http://schemas.openxmlformats.org/officeDocument/2006/relationships/slide" Target="/ppt/slides/slide24.xml" Id="Re637f522d19f460c" /><Relationship Type="http://schemas.openxmlformats.org/officeDocument/2006/relationships/slide" Target="/ppt/slides/slide25.xml" Id="R212c7881fe3245cf" /><Relationship Type="http://schemas.openxmlformats.org/officeDocument/2006/relationships/slide" Target="/ppt/slides/slide26.xml" Id="R3cedb510be784537" /><Relationship Type="http://schemas.openxmlformats.org/officeDocument/2006/relationships/slide" Target="/ppt/slides/slide27.xml" Id="R7c654844322d4950" /><Relationship Type="http://schemas.openxmlformats.org/officeDocument/2006/relationships/slide" Target="/ppt/slides/slide28.xml" Id="R50dfd1c305cf40fe" /><Relationship Type="http://schemas.openxmlformats.org/officeDocument/2006/relationships/slide" Target="/ppt/slides/slide29.xml" Id="Rcc8f60fcc2c44a16" /><Relationship Type="http://schemas.openxmlformats.org/officeDocument/2006/relationships/slide" Target="/ppt/slides/slide30.xml" Id="R6b791732d5f04f10" /><Relationship Type="http://schemas.openxmlformats.org/officeDocument/2006/relationships/slide" Target="/ppt/slides/slide31.xml" Id="R8be7403177bc476b" /><Relationship Type="http://schemas.openxmlformats.org/officeDocument/2006/relationships/slide" Target="/ppt/slides/slide32.xml" Id="Reb7369b3f5e9494a" /><Relationship Type="http://schemas.openxmlformats.org/officeDocument/2006/relationships/slide" Target="/ppt/slides/slide33.xml" Id="Re73b39f0b0e94075" /><Relationship Type="http://schemas.openxmlformats.org/officeDocument/2006/relationships/slide" Target="/ppt/slides/slide34.xml" Id="Re9c6d3e377844d4e" /><Relationship Type="http://schemas.openxmlformats.org/officeDocument/2006/relationships/slide" Target="/ppt/slides/slide35.xml" Id="R5ede74a999e84d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57171f8cea54f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9a7894ed284cae" /><Relationship Type="http://schemas.openxmlformats.org/officeDocument/2006/relationships/notesMaster" Target="/ppt/notesMasters/notesMaster1.xml" Id="R5992368582e84a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f7edabaf574b2a" /><Relationship Type="http://schemas.openxmlformats.org/officeDocument/2006/relationships/notesMaster" Target="/ppt/notesMasters/notesMaster1.xml" Id="R70e75ea00cbb4f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9b27ee6607438e" /><Relationship Type="http://schemas.openxmlformats.org/officeDocument/2006/relationships/notesMaster" Target="/ppt/notesMasters/notesMaster1.xml" Id="R998401badd0940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4f184c093d4581" /><Relationship Type="http://schemas.openxmlformats.org/officeDocument/2006/relationships/notesMaster" Target="/ppt/notesMasters/notesMaster1.xml" Id="Rfe1d35116bd342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79aaaa15e34ad4" /><Relationship Type="http://schemas.openxmlformats.org/officeDocument/2006/relationships/notesMaster" Target="/ppt/notesMasters/notesMaster1.xml" Id="Rd564d4e49c4848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57304297d445db" /><Relationship Type="http://schemas.openxmlformats.org/officeDocument/2006/relationships/notesMaster" Target="/ppt/notesMasters/notesMaster1.xml" Id="R519c1faca7b24a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e34992088b40cc" /><Relationship Type="http://schemas.openxmlformats.org/officeDocument/2006/relationships/notesMaster" Target="/ppt/notesMasters/notesMaster1.xml" Id="R64067c64be464e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f97188b1d048ed" /><Relationship Type="http://schemas.openxmlformats.org/officeDocument/2006/relationships/notesMaster" Target="/ppt/notesMasters/notesMaster1.xml" Id="Rd3ead2e26c384c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6d0f95beec45de" /><Relationship Type="http://schemas.openxmlformats.org/officeDocument/2006/relationships/notesMaster" Target="/ppt/notesMasters/notesMaster1.xml" Id="R5a1a8b22c0d943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f0e2916005499c" /><Relationship Type="http://schemas.openxmlformats.org/officeDocument/2006/relationships/notesMaster" Target="/ppt/notesMasters/notesMaster1.xml" Id="Rfb1544e814d843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1f6de7355343c6" /><Relationship Type="http://schemas.openxmlformats.org/officeDocument/2006/relationships/notesMaster" Target="/ppt/notesMasters/notesMaster1.xml" Id="R26e3bb7f730f44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25c1c59c3842dc" /><Relationship Type="http://schemas.openxmlformats.org/officeDocument/2006/relationships/notesMaster" Target="/ppt/notesMasters/notesMaster1.xml" Id="Rbb528ebd397a4f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e1305ba8be463f" /><Relationship Type="http://schemas.openxmlformats.org/officeDocument/2006/relationships/notesMaster" Target="/ppt/notesMasters/notesMaster1.xml" Id="R6a865a40469749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a6963d401a47bc" /><Relationship Type="http://schemas.openxmlformats.org/officeDocument/2006/relationships/notesMaster" Target="/ppt/notesMasters/notesMaster1.xml" Id="Raf27cf7a357742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5cd55e00fc4d36" /><Relationship Type="http://schemas.openxmlformats.org/officeDocument/2006/relationships/notesMaster" Target="/ppt/notesMasters/notesMaster1.xml" Id="R8bc47885915d40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fb6d329f844baa" /><Relationship Type="http://schemas.openxmlformats.org/officeDocument/2006/relationships/notesMaster" Target="/ppt/notesMasters/notesMaster1.xml" Id="Red1b8e69e1a246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9828669fac465a" /><Relationship Type="http://schemas.openxmlformats.org/officeDocument/2006/relationships/notesMaster" Target="/ppt/notesMasters/notesMaster1.xml" Id="R01800fc90d704b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45dc0deab54b63" /><Relationship Type="http://schemas.openxmlformats.org/officeDocument/2006/relationships/notesMaster" Target="/ppt/notesMasters/notesMaster1.xml" Id="R1b66b9b46e0a45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88ab73852a4b48" /><Relationship Type="http://schemas.openxmlformats.org/officeDocument/2006/relationships/notesMaster" Target="/ppt/notesMasters/notesMaster1.xml" Id="R621ed091218f43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79576a951cc4d13" /><Relationship Type="http://schemas.openxmlformats.org/officeDocument/2006/relationships/notesMaster" Target="/ppt/notesMasters/notesMaster1.xml" Id="Rcbf7266399d54d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4d7ba04a87d4476" /><Relationship Type="http://schemas.openxmlformats.org/officeDocument/2006/relationships/notesMaster" Target="/ppt/notesMasters/notesMaster1.xml" Id="R3b06ce032b3d450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7165392bff412f" /><Relationship Type="http://schemas.openxmlformats.org/officeDocument/2006/relationships/notesMaster" Target="/ppt/notesMasters/notesMaster1.xml" Id="Ref5fa5e2582142d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897c54c7adb43a8" /><Relationship Type="http://schemas.openxmlformats.org/officeDocument/2006/relationships/notesMaster" Target="/ppt/notesMasters/notesMaster1.xml" Id="R55a56728207143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0b8fafc4c5f4956" /><Relationship Type="http://schemas.openxmlformats.org/officeDocument/2006/relationships/notesMaster" Target="/ppt/notesMasters/notesMaster1.xml" Id="Rd0ed1135ea0d484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91395e13be8401c" /><Relationship Type="http://schemas.openxmlformats.org/officeDocument/2006/relationships/notesMaster" Target="/ppt/notesMasters/notesMaster1.xml" Id="R274f2c3797e3483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a9b3902d3884df1" /><Relationship Type="http://schemas.openxmlformats.org/officeDocument/2006/relationships/notesMaster" Target="/ppt/notesMasters/notesMaster1.xml" Id="R0fd84feb96914dd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bbe0d0917b64f05" /><Relationship Type="http://schemas.openxmlformats.org/officeDocument/2006/relationships/notesMaster" Target="/ppt/notesMasters/notesMaster1.xml" Id="R4e6b1d293d0841c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0d86c48f75c4478" /><Relationship Type="http://schemas.openxmlformats.org/officeDocument/2006/relationships/notesMaster" Target="/ppt/notesMasters/notesMaster1.xml" Id="R3fa8cb055c5b456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419a4471bb54b1c" /><Relationship Type="http://schemas.openxmlformats.org/officeDocument/2006/relationships/notesMaster" Target="/ppt/notesMasters/notesMaster1.xml" Id="R606af35471a949b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0fa702d572a435a" /><Relationship Type="http://schemas.openxmlformats.org/officeDocument/2006/relationships/notesMaster" Target="/ppt/notesMasters/notesMaster1.xml" Id="R355004c50c4f489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9b1f0f5aa04035" /><Relationship Type="http://schemas.openxmlformats.org/officeDocument/2006/relationships/notesMaster" Target="/ppt/notesMasters/notesMaster1.xml" Id="Rbd0487c3499744c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b12d22de6434084" /><Relationship Type="http://schemas.openxmlformats.org/officeDocument/2006/relationships/notesMaster" Target="/ppt/notesMasters/notesMaster1.xml" Id="R16829aa4b9454ff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89aa448487e431f" /><Relationship Type="http://schemas.openxmlformats.org/officeDocument/2006/relationships/notesMaster" Target="/ppt/notesMasters/notesMaster1.xml" Id="R02a17bba7ee348a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1c4c62ab41e462c" /><Relationship Type="http://schemas.openxmlformats.org/officeDocument/2006/relationships/notesMaster" Target="/ppt/notesMasters/notesMaster1.xml" Id="R3b6e10b183964b4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eb44d48be304c6b" /><Relationship Type="http://schemas.openxmlformats.org/officeDocument/2006/relationships/notesMaster" Target="/ppt/notesMasters/notesMaster1.xml" Id="R862c0c8edaf04c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の第5回を始めます。今回は、強度と物性値です。前回は、セルロースなどが組み合わさる細胞壁と、水との関係を学びました。今日は、その材料へ力を加えたときの変形を、実際の物性表と結び付けます。計算を速く終えることよりも、どんな条件の値を、何の式に入れたのかを説明することを目指しましょう。動画は、演習と三回の短い休憩を含む九十分です。電卓と、途中式を書けるものを用意してください。字幕を表示し、必要なときには一時停止して進めて構いません。</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板が大きくたわむことと、小さい力で壊れることは、同じ意味でしょうか。最初に、二つの問いを分けます。いま載せている重りで、中央が何ミリメートル下がるか。もう一つは、どれくらいの荷重で破壊するかです。前者を考えるときには、ヤング率や部材の形、長さ、支え方が必要です。後者には、破壊の指標となる強度、材料の状態、欠点や試験条件が関わります。たわみが小さかった、という一つの観察だけから、壊れにくさまで決めないようにします。</a:t>
            </a:r>
          </a:p>
          <a:p xmlns:a="http://schemas.openxmlformats.org/drawingml/2006/main">
            <a:r>
              <a:t>今回の計算では、同じ形と支え方の棒へ同じ力を加え、曲げヤング率だけが違う場合を比較します。計算した応力が同じでも、変形は異なることを確かめます。そのうえで、物性表の代表値と、手元にある板の性能の間には、どのような情報の違いがあるかを考えます。技術科の教師としては、丈夫という言葉を、観察できる量や比較する条件へ言い換えることが大切です。今日の最後に、この最初の二つの問いへ、自分の言葉で答えられる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例えば、薄くてしなる板と、厚くて動きにくい板を手で比べても、その違いが材質だけによるとは限りません。断面や長さが違えば、同じ木から取った板でも、たわみ方は変わります。逆に、外形をそろえた二つの材料でも、初めの変形の差だけでは破壊までの過程を言い切れません。比較では、何を変え、何をそろえ、何を測ったのかを一組で示します。観察した結果と、その結果から述べられる範囲を区別する習慣を、計算にも持ち込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力学の道具を復習します。力を断面積で割った量が応力です。ここでは棒の軸に沿う引張りを考え、断面で一様に力を受けると近似して、シグマ、イコール、エフ割るエーと書きます。棒の伸びを、伸びる前の長さで割った量がひずみです。イプシロン、イコール、デルタエル割るエルです。ひずみは、長さ同士の比なので、単位をそろえれば無次元です。ミリメートルという単位が残る伸び量とは区別します。</a:t>
            </a:r>
          </a:p>
          <a:p xmlns:a="http://schemas.openxmlformats.org/drawingml/2006/main">
            <a:r>
              <a:t>小さな変形の線形域では、応力とひずみの関係を、シグマ、イコール、イーかけるイプシロンと表します。イーがヤング率です。これは先に強度を知ってから決まる数値ではなく、線形域の応力とひずみの傾きです。木材では方向や水分状態によって値が違います。力はニュートン、長さはミリメートルでそろえると、応力はニュートン毎平方ミリメートルです。これがメガパスカルと等しいことを、後で面積の換算から確認します。式の各文字が表す量を言葉で確かめてから、計算へ進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長さが千ミリメートルの棒が一ミリメートル伸びたら、ひずみは一割る千で、〇・〇〇一です。百分率なら〇・一パーセントですが、ヤング率を使う式には、通常〇・〇〇一という比を入れます。〇・一をそのまま代入すると百倍違います。また、二メートルの棒が二ミリメートル伸びた場合も、ひずみは同じです。変形の大きさを材質と対応させるために、もとの寸法で割る意味が、ここにあ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のばねの式、エフ、イコール、ケーかけるエックスから、棒の式をつなぎます。最初に、細長い一様な棒の試験で、小さい荷重の範囲では、力と伸びが比例すると観察したとします。この棒一本について、力を伸びで割った傾きが、ばね定数ケーです。次に、棒の太さや長さが違うときにも材質を比べられるよう、力を断面積で、伸びをもとの長さで割ります。そこで応力とひずみの傾き、ヤング率イーを定義します。</a:t>
            </a:r>
          </a:p>
          <a:p xmlns:a="http://schemas.openxmlformats.org/drawingml/2006/main">
            <a:r>
              <a:t>シグマにエフ割るエー、イプシロンにデルタエル割るエルを代入すると、エフ割るエー、イコール、イーかけるデルタエル割るエルです。両辺にエーを掛ければ、エフ、イコール、イーかけるエー割るエル、かけるデルタエルとなります。つまり、この棒のばね定数は、イーかけるエー割るエルです。材質の傾きと、棒一本の傾きを区別してください。長い棒ほど伸びやすく、太い棒ほど伸びにくい、という方向も確かめられます。曲げのばね定数に、この軸方向の式をそのまま使うことはでき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観察された力と伸びの比例関係から出発し、寸法で規格化した応力とひずみを定義しました。フックの法則を結論として先に仮定し、同じ式を使ってまた証明した、という説明にはしていません。ここで扱う比例は、限られた荷重範囲と一定の条件での近似です。木材をどこまでも引っ張って、ずっと同じ傾きになるわけではありません。温度、水分、時間、方向の条件も添えて、この範囲での材料の応答を表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軸方向の棒の、説明用の仮想測定データです。元の長さは千ミリメートル、断面積は百平方ミリメートルです。小さい範囲で引張力を増やすと、五百ニュートンで〇・五ミリメートル、千ニュートンで一・〇ミリメートル伸びました。荷重を除くと元へ戻り、この範囲を線形と近似できるとします。実際の樹種を測った値ではありません。</a:t>
            </a:r>
          </a:p>
          <a:p xmlns:a="http://schemas.openxmlformats.org/drawingml/2006/main">
            <a:r>
              <a:t>一つ目は、この棒のばね定数ケーです。力を伸び量で割って求めます。二つ目は、それぞれの測定点の応力とひずみです。三つ目は、応力をひずみで割ったヤング率です。二つの点から同じ傾きが得られるかを確認してください。最後に、長さだけを二千ミリメートルにした同じ材料の棒なら、同じ千ニュートンでどれだけ伸びるかを予想します。</a:t>
            </a:r>
          </a:p>
          <a:p xmlns:a="http://schemas.openxmlformats.org/drawingml/2006/main">
            <a:r>
              <a:t>四分、表と式を作る時間を取ります。ひずみを求めるときは、伸びともとの長さを同じ単位にそろえてください。</a:t>
            </a:r>
          </a:p>
          <a:p xmlns:a="http://schemas.openxmlformats.org/drawingml/2006/main">
            <a:r>
              <a:t/>
            </a:r>
          </a:p>
          <a:p xmlns:a="http://schemas.openxmlformats.org/drawingml/2006/main">
            <a:r>
              <a:t>ばね定数は、五百割る〇・五でも、千割る一でも、千ニュートン毎ミリメートルです。応力は、それぞれ五メガパスカルと十メガパスカルです。ひずみは〇・〇〇〇五と〇・〇〇一です。応力をひずみで割ると、どちらも一万メガパスカルになります。これが、この仮想データの線形域でのヤング率です。</a:t>
            </a:r>
          </a:p>
          <a:p xmlns:a="http://schemas.openxmlformats.org/drawingml/2006/main">
            <a:r>
              <a:t>長さを二倍にして断面積と材質を保つと、ばね定数は半分になります。同じ千ニュートンなら伸びは二倍の二ミリメートルです。一方、伸びを長さで割ったひずみは、元と同じ〇・〇〇一です。棒一本の傾きと、寸法を規格化した材料の傾きの違いが、数値でも確認できます。</a:t>
            </a:r>
          </a:p>
          <a:p xmlns:a="http://schemas.openxmlformats.org/drawingml/2006/main">
            <a:r>
              <a:t/>
            </a:r>
          </a:p>
          <a:p xmlns:a="http://schemas.openxmlformats.org/drawingml/2006/main">
            <a:r>
              <a:t>測定点が二つ直線に並んだだけで、全ての荷重域で線形だと証明したことにはなりません。今回の仮定は、荷重を除いたときに戻ることも確かめ、この小さい範囲で近似するというものです。実際に測る際には、試験機やつかみ部の変形、最初の遊び、測定の基準位置なども影響します。元の長さをどこからどこまで取ったかという情報も、結果の一部として記録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数値は説明用の仮想データ。実測・特定樹種の物性値ではない。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を、身近な重りからつなぎます。キログラムは質量の単位です。一キログラムの物体に働く重力は、質量に重力加速度を掛けて求めます。昔使われたキログラム重、キログラムフォースは力の単位で、標準重力加速度を用いて、一キログラム重が九・八〇六六五ニュートンと定義されています。キログラムとキログラム重は、数字が同じように見えても表す量が違います。</a:t>
            </a:r>
          </a:p>
          <a:p xmlns:a="http://schemas.openxmlformats.org/drawingml/2006/main">
            <a:r>
              <a:t>ニュートンは、一キログラムの物体に毎秒毎秒一メートルの加速度を与える力です。その力を面積で割ったものが、パスカルです。一パスカルは、一平方メートル当たり一ニュートンです。一平方メートル当たり一キログラム重は、九・八〇六六五パスカルです。基準となる力の大きさを思い浮かべた後、面積で割っていることをたどると、圧力や応力へ自然につながります。</a:t>
            </a:r>
          </a:p>
          <a:p xmlns:a="http://schemas.openxmlformats.org/drawingml/2006/main">
            <a:r>
              <a:t>木材の小さな断面を扱うときには、平方ミリメートルが便利です。一平方メートルには百万平方ミリメートルあります。一ニュートンを一平方ミリメートルに載せると、一平方メートル当たり百万ニュートンに相当します。したがって、一ニュートン毎平方ミリメートルは百万パスカル、つまり一メガパスカルです。千ではなく百万になるのは、長さを二乗した面積だからです。</a:t>
            </a:r>
          </a:p>
          <a:p xmlns:a="http://schemas.openxmlformats.org/drawingml/2006/main">
            <a:r>
              <a:t/>
            </a:r>
          </a:p>
          <a:p xmlns:a="http://schemas.openxmlformats.org/drawingml/2006/main">
            <a:r>
              <a:t/>
            </a:r>
          </a:p>
          <a:p xmlns:a="http://schemas.openxmlformats.org/drawingml/2006/main">
            <a:r>
              <a:t/>
            </a:r>
          </a:p>
          <a:p xmlns:a="http://schemas.openxmlformats.org/drawingml/2006/main">
            <a:r>
              <a:t>授業で重りを用いる場合は、質量と、計算へ使う力を別の欄に書くと整理できます。例えば質量一・〇〇キログラム、重力加速度を九・八〇として計算した重力九・八〇ニュートン、という記録です。一キログラム重の定義値九・八〇六六五ニュートンと、演習で重力加速度を丸めた値を混同しません。どちらを用いたかを明記すれば、丸め方による違いを、力と質量の取り違えと区別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の短い練習です。質量二・〇〇キログラムの重りを、接触面積二百平方ミリメートルの上へ静かに載せるとします。重力加速度は、計算用に九・八〇メートル毎秒毎秒とします。まず重力をニュートンで求めてください。次に、その力を接触面積で割り、平均の圧力を、ニュートン毎平方ミリメートルとメガパスカルで表してください。最後に、パスカルへ換算します。</a:t>
            </a:r>
          </a:p>
          <a:p xmlns:a="http://schemas.openxmlformats.org/drawingml/2006/main">
            <a:r>
              <a:t>接触面で一様に力を受けるという単純なモデルです。手で勢いを付けて載せたときの衝撃や、表面の凹凸による局所的な圧力までは表しません。式を書いてから、どの単位を入れるかを確かめてください。ここで六十秒、考える時間を取ります。計算が途中なら、一時停止してください。</a:t>
            </a:r>
          </a:p>
          <a:p xmlns:a="http://schemas.openxmlformats.org/drawingml/2006/main">
            <a:r>
              <a:t/>
            </a:r>
          </a:p>
          <a:p xmlns:a="http://schemas.openxmlformats.org/drawingml/2006/main">
            <a:r>
              <a:t>重力は、二かける九・八〇で十九・六〇ニュートンです。これを二百で割ると、〇・〇九八〇ニュートン毎平方ミリメートル、つまり〇・〇九八〇メガパスカルです。百万倍すれば、九万八千パスカルになります。質量二キログラムを、そのまま面積で割って応力の単位とした場合は、力への換算が抜けています。一方、キログラム重毎面積から計算することもできますが、ニュートンへ換算する段階を示しましょう。答えの大きさより、力を求めてから面積で割る順序を点検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比較は、三つの関係に沿って進めます。第一は、ヤング率と変形です。同じ応力で比べれば、ヤング率が大きいほど、線形域のひずみは小さくなります。ただし、部材のたわみには、ヤング率だけでなく、寸法や支え方も関わります。第二は、物性値と試験条件です。樹種名が分かるだけでは十分ではありません。繊維に対してどちらへ力を加え、どの水分状態で測ったのかを確認します。第三は、条件をそろえた材料の比較です。同じ荷重、同じ長さ、同じ断面、同じ支え方を保って、ヤング率の違いだけを取り出します。</a:t>
            </a:r>
          </a:p>
          <a:p xmlns:a="http://schemas.openxmlformats.org/drawingml/2006/main">
            <a:r>
              <a:t>計算式は、これらの条件を省くための道具ではありません。条件を明確にしたうえで、数量の関係を追う道具です。表から拾った値には、単位と出典、対応する条件を付けます。式に入れたら、結果の単位と、何を予測した数値かを書きます。たわみを計算したなら、破壊荷重を計算したことにはならないと確認します。この区別ができると、同じ丈夫という言葉でも、どの情報を追加すべきかが見えてきます。</a:t>
            </a:r>
          </a:p>
          <a:p xmlns:a="http://schemas.openxmlformats.org/drawingml/2006/main">
            <a:r>
              <a:t/>
            </a:r>
          </a:p>
          <a:p xmlns:a="http://schemas.openxmlformats.org/drawingml/2006/main">
            <a:r>
              <a:t/>
            </a:r>
          </a:p>
          <a:p xmlns:a="http://schemas.openxmlformats.org/drawingml/2006/main">
            <a:r>
              <a:t/>
            </a:r>
          </a:p>
          <a:p xmlns:a="http://schemas.openxmlformats.org/drawingml/2006/main">
            <a:r>
              <a:t>比較表を作るときは、結果だけを並べるのではなく、共通の条件を最初に一行で置きます。その下に、材料ごとに違うヤング率と、計算したたわみを並べます。共通なのに材料ごとの欄へ別々に写すと、荷重や長さの写し間違いにも気付きにくくなります。何が共通で何が違うかを、表の構造そのもので示す方法です。これは、実験の計画や中学生のワークシートを作るときにも役立ち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剛性、強度、硬さを整理します。剛性は、荷重に対する変形のしにくさを表す言葉です。材料のヤング率は、その理由となる量の一つですが、棒一本や製品の剛性と同じものではありません。材料と形を組み合わせて、部材の応答を考えます。強度は、引張りや圧縮、曲げなど、どの試験で、どの破壊や限界を測るかを指定して表します。曲げ強さは、曲げ試験の最大荷重から、所定の式で算出する指標です。</a:t>
            </a:r>
          </a:p>
          <a:p xmlns:a="http://schemas.openxmlformats.org/drawingml/2006/main">
            <a:r>
              <a:t>硬さは、押し込んだときの抵抗などを所定の方法で測る量です。木材では試験方向によっても違います。机に傷が付きにくいかを考える場面と、棚板の中央が何ミリメートルたわむかを考える場面では、調べる量が違います。さらに、曲げ強さの数値が大きいから、全ての方法で硬いと結論することもできません。</a:t>
            </a:r>
          </a:p>
          <a:p xmlns:a="http://schemas.openxmlformats.org/drawingml/2006/main">
            <a:r>
              <a:t>日常語の、丈夫な木を選びたい、という相談に対しては、どの場所で、どんな使い方をするかを聞きます。たわみを小さくしたいのか、表面のへこみを減らしたいのか、接合部が壊れないようにしたいのか。それにより、必要な物性値と、形や接合の検討が変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同じ木材の試験でも、圧縮の繊維直交方向では、はっきりした破断より、めり込みの進行が問題になる場合があります。指標名だけを覚えて、全てを一つの破壊応力として同列に置かないことが大切です。どの現象を、どんな試験で評価した値なのかを確認します。曲げ強さも、非線形になる破壊直前の実際の局所応力そのものを、直接測った値と考えるのではなく、試験条件と式に基づく指標として読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応力とひずみのグラフを見ます。横軸がひずみ、縦軸が応力です。原点から伸びる二本の線のうち、傾きが大きい方は、同じひずみにするために大きい応力が必要です。逆に、同じ応力で横にたどると、傾きが大きい線のひずみは小さくなります。この線形域の傾きがヤング率です。軸のどちらが何を表すかを言わずに、線が急だから強いとだけ覚えないでください。</a:t>
            </a:r>
          </a:p>
          <a:p xmlns:a="http://schemas.openxmlformats.org/drawingml/2006/main">
            <a:r>
              <a:t>この図の二本の線は、線形域の比較を示す模式図です。線の端を破壊点として描いた図ではありません。どちらの強度が高いかは、この図からは決まりません。実際の応力とひずみの関係は、荷重が増えれば、線形の範囲から外れたり、損傷や残留変形を生じたりします。どこまでを直線として近似するのかを区別します。</a:t>
            </a:r>
          </a:p>
          <a:p xmlns:a="http://schemas.openxmlformats.org/drawingml/2006/main">
            <a:r>
              <a:t>前回までの構造の説明とつなぐと、細胞壁の成分やミクロフィブリルの配向は、力への応答に関わる背景です。ただし、成分の割合を一つ見ただけで、ヤング率と強度の両方の順位を自動的に決めることはできません。どの方向へ、どう測ったのかという材料試験の情報へ戻る必要があ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で二本の線を描き、同じ応力の高さから横線を引いてみてください。交わった点の横軸を読み、ひずみの大小を比べます。次に、同じひずみの位置から縦線を引くと、応力の大小を比べられます。比較する量を固定してから、もう一方の量を読むという操作です。この操作をできることが、傾きの数値を暗記することよりも、授業での説明に役立ち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それでは、再開します。梁の曲げと物性値へ進みます。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棒を曲げる場合へ進みます。左右の支点で単純支持し、支点間の中央へ集中荷重を加えるモデルです。エルは支点間の距離です。板全体の長さと一致するとは限らないため、支点の外へ突き出た部分がある場合は区別します。荷重のエフは下向きで、支点からは上向きの反力を受けます。</a:t>
            </a:r>
          </a:p>
          <a:p xmlns:a="http://schemas.openxmlformats.org/drawingml/2006/main">
            <a:r>
              <a:t>画面には中央たわみと最大曲げ応力の式を示しています。たわみは、エフかけるエルの三乗を、四十八かけるイーかけるアイで割ります。最大曲げ応力は、エフかけるエルを、四かけるゼットで割ります。アイは断面二次モーメント、ゼットは断面係数です。どちらも断面の量ですが、同じ量ではありません。これから順序を分けて確認します。</a:t>
            </a:r>
          </a:p>
          <a:p xmlns:a="http://schemas.openxmlformats.org/drawingml/2006/main">
            <a:r>
              <a:t>この授業では、たわみ式の微分積分による導出は行わず、一定断面、曲げが支配的な細長い棒、小さな変形、線形弾性という条件で利用します。支え方が片持ちに変わったり、荷重が広く分布したりすれば、同じ係数四十八は使えません。図と式を一組で読む習慣を付け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木材は異方性を持つため、本来は方向ごとの性質を考えます。今日の梁では、棒の長さ方向に主な繊維が沿う場合を扱い、その曲げ試験のヤング率を用います。また、原表の曲げヤング率はせん断たわみの影響を含み得ます。曲げだけの簡単な式への代入は教育用の近似であり、全ての部材の精密なたわみ予測を保証するものではありません。この限界を知ったうえで、比較の道具として使い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力は、力のつりあいから考えます。最初に、棒全体だけを取り出した図を描きます。重さを別に考えないモデルでは、中央の下向き荷重エフと、左右の上向き反力アールエー、アールビーです。上向きを正とすれば、アールエー足すアールビー引くエフがゼロです。この一つの式だけでは、二つの反力はまだ決まりません。</a:t>
            </a:r>
          </a:p>
          <a:p xmlns:a="http://schemas.openxmlformats.org/drawingml/2006/main">
            <a:r>
              <a:t>次に、左支点の回りのモーメントを考えます。反時計回りを正に取ると、右支点の反力かける支点間距離から、中央荷重かける半分の距離を引いて、ゼロです。アールビーかけるエル、引く、エフかけるエル割る二、イコール、ゼロ。これを解けば、アールビーはエフの半分です。力のつりあいへ戻ると、アールエーもエフの半分になります。</a:t>
            </a:r>
          </a:p>
          <a:p xmlns:a="http://schemas.openxmlformats.org/drawingml/2006/main">
            <a:r>
              <a:t>中央だから半分ずつ、という対称性の見通しと、つりあいの式による確認を対応させます。荷重が中央からずれた場合は、半分ずつと決め付けず、距離を変えたモーメント式から求めます。まず全体の反力、その後で断面の内力という順序を守ると、公式を取り違えにく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支点そのものを回転の中心に選んだのは、その支点の反力の腕の長さがゼロになるからです。三つの力が全て残る式よりも、未知の反力を一つずつ求めやすくなります。モーメントの単位はニュートンかけるミリメートルで、ニュートン毎ミリメートルではありません。回転の向きを表す符号と、距離の符号を混ぜず、最初に矢印で向きを確かめてください。</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力を求めたら、中央までの半分を切り出します。中央の断面に働く曲げモーメントは、左の反力エフ割る二に、中央までの距離エル割る二を掛けた値です。したがって、最大曲げモーメントはエフかけるエル割る四になります。ここでは左右対称の中央集中荷重なので、中央が最大です。</a:t>
            </a:r>
          </a:p>
          <a:p xmlns:a="http://schemas.openxmlformats.org/drawingml/2006/main">
            <a:r>
              <a:t>次に、断面の量を求めます。長方形の幅がビー、荷重方向の高さがエイチなら、アイはビーかけるエイチの三乗割る十二、ゼットはビーかけるエイチの二乗割る六です。最大曲げ応力は最大モーメントをゼットで割ります。曲げでは断面の上側と下側で応力が異なるため、中央荷重を断面積で割った値を、最大曲げ応力とすることはできません。</a:t>
            </a:r>
          </a:p>
          <a:p xmlns:a="http://schemas.openxmlformats.org/drawingml/2006/main">
            <a:r>
              <a:t>最後に、曲げヤング率とアイを使って、中央のたわみを計算します。順序を言葉にすると、全体の力、全体のモーメント、断面のモーメント、断面の形、応力、変形です。計算の途中で、ニュートン、ミリメートル、ニュートン毎平方ミリメートルをそろえます。答えだけを見て式を選ぶのではなく、今どの量を求めているかを順に確かめます。</a:t>
            </a:r>
          </a:p>
          <a:p xmlns:a="http://schemas.openxmlformats.org/drawingml/2006/main">
            <a:r>
              <a:t/>
            </a:r>
          </a:p>
          <a:p xmlns:a="http://schemas.openxmlformats.org/drawingml/2006/main">
            <a:r>
              <a:t/>
            </a:r>
          </a:p>
          <a:p xmlns:a="http://schemas.openxmlformats.org/drawingml/2006/main">
            <a:r>
              <a:t/>
            </a:r>
          </a:p>
          <a:p xmlns:a="http://schemas.openxmlformats.org/drawingml/2006/main">
            <a:r>
              <a:t>せん断力図や曲げモーメント図を学んだ人は、左半分でせん断力が一定で、その区間のモーメントが距離に比例して増えることを思い出せます。図をまだ自在に描けなくても、左半分を切り出したつりあいから中央の値は求まります。今回は、積分を先に使えることを前提にせず、力と腕の長さの積としてたどります。最大の場所も、荷重と支持の図から確かめ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方形の断面で、面積、断面二次モーメント、断面係数を並べます。面積エーは、ビーかけるエイチで、単位は平方ミリメートルです。軸方向の平均応力に使います。断面二次モーメントのアイは、曲げる軸から離れたところに、どれだけ断面が分布しているかに関わる量です。単位は四乗ミリメートルです。高さが三乗で入るため、面積が同じでも配置が変わると大きく変わります。</a:t>
            </a:r>
          </a:p>
          <a:p xmlns:a="http://schemas.openxmlformats.org/drawingml/2006/main">
            <a:r>
              <a:t>断面係数ゼットは、アイを、中立軸から断面の端までの距離で割った量です。上下対称な長方形では、その距離が高さの半分なので、アイ割るエイチの半分を整理して、ビーかけるエイチの二乗割る六となります。単位は三乗ミリメートルです。最大曲げ応力を求めるために使います。</a:t>
            </a:r>
          </a:p>
          <a:p xmlns:a="http://schemas.openxmlformats.org/drawingml/2006/main">
            <a:r>
              <a:t>断面を描いたら、今回の荷重に対する高さにエイチと付けます。紙面でたまたま縦に描いた辺を、いつでも高さとするわけではありません。棒の長さ方向と、断面内の幅と高さの三つを区別します。アイやゼットが変わっても、同じ木材そのもののヤング率が変わったと説明し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木材を節のない同じ部分から切り出し、方向や水分をそろえても、断面の形を変えれば部材のたわみは変わります。材料の性質を変えずに、製品の性能を改善する方法の一つです。ただし、細く高くし過ぎた部材では、横へ倒れる挙動など別の問題も出ます。今日の単純な曲げモデルの結論を、全ての形や使い方の保証に広げないようにし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性表を開いたら、数字より先に表題と注を読みます。今回必要なのは、曲げヤング率と曲げ強さです。樹種名と産地の区分を確かめ、含水率と試験の種類を確認します。曲げヤング率は、曲げ試験の変形から評価した値です。軸方向の引張りや圧縮、振動法で得た値と、条件を確認せずに混ぜません。</a:t>
            </a:r>
          </a:p>
          <a:p xmlns:a="http://schemas.openxmlformats.org/drawingml/2006/main">
            <a:r>
              <a:t>無欠点小試験片という言葉にも注目します。節などの成長上の特徴を含まない、小さく整えた試験片で、材質の性質を調べる場合の値です。節があり、繊維が曲がった実際の製材品の値を、そのまま表しているわけではありません。さらに、表の代表値や平均値は、一枚一枚の板について保証された最低値ではありません。</a:t>
            </a:r>
          </a:p>
          <a:p xmlns:a="http://schemas.openxmlformats.org/drawingml/2006/main">
            <a:r>
              <a:t>木材の性質は、含水状態、温度、荷重を加える速度や時間でも変わります。表から一つの数値を写すときにも、この条件のまとまりを写します。調べ学習で出典を付けるのは、権威のある資料だと示すためだけではありません。別の人が同じ表の同じ行へ戻り、何を読み取ったかを確かめられるようにするためです。</a:t>
            </a:r>
          </a:p>
          <a:p xmlns:a="http://schemas.openxmlformats.org/drawingml/2006/main">
            <a:r>
              <a:t/>
            </a:r>
          </a:p>
          <a:p xmlns:a="http://schemas.openxmlformats.org/drawingml/2006/main">
            <a:r>
              <a:t/>
            </a:r>
          </a:p>
          <a:p xmlns:a="http://schemas.openxmlformats.org/drawingml/2006/main">
            <a:r>
              <a:t/>
            </a:r>
          </a:p>
          <a:p xmlns:a="http://schemas.openxmlformats.org/drawingml/2006/main">
            <a:r>
              <a:t>ヤング率は同じ記号イーでも、測定方法を表す説明が必要です。原典では、曲げから得た値にせん断変形が含まれることや、軸方向の値に近付ける際の近似も述べられています。第6回で方向別の弾性率比を使うときには、今回の曲げヤング率へ、説明なしに掛けて絶対値を求めないようにします。数字をたくさん集めるよりも、比較できる一組を選ぶ方が、根拠の明確な計算に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使う実データは、アメリカのウッドハンドブック二〇二一年版、第5章の表五の三エーです。静的曲げの値で、含水率十二パーセントの無欠点小試験片に関する代表値です。ダグラスファーのコースト区分と、シトカスプルースを比較します。日本で流通する同名の製品を全て代表する値とは考えません。</a:t>
            </a:r>
          </a:p>
          <a:p xmlns:a="http://schemas.openxmlformats.org/drawingml/2006/main">
            <a:r>
              <a:t>ダグラスファーの曲げヤング率は一万三千四百メガパスカル、曲げ強さは八十五・〇メガパスカルです。シトカスプルースは、それぞれ一万八百メガパスカルと七十・〇メガパスカルです。二つの列は同じメガパスカルでも、表す量が違います。ヤング率は線形域の応力とひずみの傾き、曲げ強さは最大荷重から計算した破壊に関わる指標です。</a:t>
            </a:r>
          </a:p>
          <a:p xmlns:a="http://schemas.openxmlformats.org/drawingml/2006/main">
            <a:r>
              <a:t>原表の曲げ強さは、キロパスカルで八万五千、七万と示されています。千で割るとメガパスカルです。ヤング率の列は、すでにメガパスカルなので、もう一度千で割りません。列ごとに単位を確認することが必要です。講義で整理した表を写すだけでなく、表題、列の見出し、樹種、含水率の行を追う練習を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二つの曲げヤング率だけを比べると、ダグラスファーの方が大きいので、同じ形と荷重なら、たわみが小さくなると予想できます。一方で、実際にどのくらい違うかを知るには、逆数の関係を用います。比を取ると、一万八百分の一万三千四百、ではなく、たわみの比に応じて分子と分母が入れ替わります。これから計算した二つのたわみと、その予想を対応させて確認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表から値を取り出す練習です。表五の三エーのダグラスファー、コースト区分、十二パーセントの行に、曲げ強さ八万五千キロパスカル、曲げヤング率一万三千四百メガパスカルがあります。同じ表のシトカスプルース、十二パーセントの行は、七万キロパスカルと一万八百メガパスカルです。</a:t>
            </a:r>
          </a:p>
          <a:p xmlns:a="http://schemas.openxmlformats.org/drawingml/2006/main">
            <a:r>
              <a:t>ノートに、樹種、曲げヤング率、曲げ強さ、含水率、試料の条件、出典箇所の六つの欄を作り、両方を転記してください。曲げ強さはメガパスカルへ換算します。資料に別の含水状態の行が並んでいたら、どの見出しを手掛かりに、今回の行を選んだかも書きます。原表が開けない場合は、この画面と配布資料に示した抜粋値から取り組んで構いません。</a:t>
            </a:r>
          </a:p>
          <a:p xmlns:a="http://schemas.openxmlformats.org/drawingml/2006/main">
            <a:r>
              <a:t>次に、どちらの樹種も含水率が十二パーセントだから、各板の水分量も同じグラム数だと言えるか、理由を付けて答えてください。三分、条件付きの比較表を作る時間を取ります。</a:t>
            </a:r>
          </a:p>
          <a:p xmlns:a="http://schemas.openxmlformats.org/drawingml/2006/main">
            <a:r>
              <a:t/>
            </a:r>
          </a:p>
          <a:p xmlns:a="http://schemas.openxmlformats.org/drawingml/2006/main">
            <a:r>
              <a:t>曲げ強さは、八万五千割る千で八十五メガパスカル、七万割る千で七十メガパスカルです。ヤング率は元の列がメガパスカルなので、そのままです。条件は、含水率十二パーセント、無欠点小試験片、静的曲げの値として記録します。出典は、資料名、二〇二一年版、第5章、表五の三エー、樹種と行まで記すと追跡できます。</a:t>
            </a:r>
          </a:p>
          <a:p xmlns:a="http://schemas.openxmlformats.org/drawingml/2006/main">
            <a:r>
              <a:t>同じ十二パーセントでも、乾いた木材の質量が違えば、水のグラム数は違います。木材の含水率は全乾質量に対する水の質量の比でした。今回は、比較する水分の指標がそろっているという条件であり、二つの試験片の質量まで同じとする情報ではありません。詳しい含水率の比較は、第8回で扱います。</a:t>
            </a:r>
          </a:p>
          <a:p xmlns:a="http://schemas.openxmlformats.org/drawingml/2006/main">
            <a:r>
              <a:t/>
            </a:r>
          </a:p>
          <a:p xmlns:a="http://schemas.openxmlformats.org/drawingml/2006/main">
            <a:r>
              <a:t>物性表にあるグリーンという表示は、十二パーセントの気乾状態と同じ行ではありません。ここでは原表の条件名として区別し、勝手に特定の一つの含水率へ置き換えません。表を切り抜いた画像だけでは、注や単位の一部が隠れてしまう場合があります。課題で資料を示すときにも、比較に必要な見出しと注を失わないことが大切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す。左右単純支持、中央集中荷重の同じ図を使います。荷重は百ニュートン、支点間距離は六百ミリメートル、幅八十ミリメートル、高さ十五ミリメートルです。先ほどの二樹種の曲げヤング率を使い、最大曲げ応力と中央たわみを求めます。</a:t>
            </a:r>
          </a:p>
          <a:p xmlns:a="http://schemas.openxmlformats.org/drawingml/2006/main">
            <a:r>
              <a:t>まず、断面積ではなく、アイとゼットをそれぞれ求めてください。次に反力と最大曲げモーメントを確かめ、ゼットで割って応力を求めます。ここまでの計算には、ヤング率は入っていません。最後に、ヤング率を入れ替えて、二つのたわみを計算します。どの部分までが共通で、どこから材料ごとの差が出るかを、途中式の並べ方でも示してみましょう。</a:t>
            </a:r>
          </a:p>
          <a:p xmlns:a="http://schemas.openxmlformats.org/drawingml/2006/main">
            <a:r>
              <a:t>二つの材料について計算が終わったら、どちらがたわみにくいかを一文で説明します。曲げ強さとの比較から、実際の製品を安全と断定できるかも、別の欄に書いてください。いまは三分、計算する時間を取ります。電卓の操作で迷う場合は、分子と分母を別々に計算し、必要に応じて動画を一時停止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それでは、再開します。演習1の解説　実際の物性値と曲げ計算へ進みます。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順に確かめます。アイは、八十かける十五の三乗割る十二で、二万二千五百、四乗ミリメートルです。十五の三乗は三千三百七十五です。ゼットは、八十かける十五の二乗割る六で、三千、三乗ミリメートルです。二つの支点反力は、それぞれ五十ニュートンです。最大曲げモーメントは、百かける六百割る四で、一万五千ニュートンミリメートルになります。</a:t>
            </a:r>
          </a:p>
          <a:p xmlns:a="http://schemas.openxmlformats.org/drawingml/2006/main">
            <a:r>
              <a:t>最大曲げ応力は、一万五千を三千で割り、五ニュートン毎平方ミリメートル、つまり五メガパスカルです。材料が違っても、同じ荷重と形なら、このモデルでの応力は同じです。次に、たわみの分子、百かける六百の三乗を求めます。六百の三乗は二億千六百万で、荷重を掛けると二百十六億です。</a:t>
            </a:r>
          </a:p>
          <a:p xmlns:a="http://schemas.openxmlformats.org/drawingml/2006/main">
            <a:r>
              <a:t>ダグラスファーでは、これを、四十八かける一万三千四百かける二万二千五百で割って、約一・四九ミリメートルです。シトカスプルースでは、ヤング率を一万八百へ替えて、約一・八五ミリメートルです。ヤング率の大きい方で、たわみは小さくなりました。計算した五メガパスカルを表の曲げ強さと比較するだけでは、製品の安全を保証できないことも、文章で残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次元も確認します。モーメントの単位は、ニュートンかけるミリメートルです。ゼットの三乗ミリメートルで割ると、ニュートン毎平方ミリメートルになります。たわみの分子は、ニュートンかける三乗ミリメートル。分母のヤング率かけるアイは、ニュートン毎平方ミリメートルかける四乗ミリメートルで、ニュートンかける平方ミリメートルです。割れば長さのミリメートルが残ります。単位が残らず消えた場合は、たわみではなく比を求めたか、式や換算を点検し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果を、応力とたわみに分けて見ます。二つの棒の最大曲げ応力は、どちらも五メガパスカルです。応力の式には、荷重、支点間距離、断面係数が入り、今回の比較では全て共通でした。一方、中央たわみは約一・四九と一・八五ミリメートルで違います。材料の曲げヤング率が異なるためです。応力が同じなら変形も同じ、とはなりません。</a:t>
            </a:r>
          </a:p>
          <a:p xmlns:a="http://schemas.openxmlformats.org/drawingml/2006/main">
            <a:r>
              <a:t>ダグラスファーのたわみを、シトカスプルースのたわみで割ると、一万八百割る一万三千四百と同じで、約〇・八〇六です。丸め前の計算では、ダグラスファーのたわみは約十九・四パーセント小さくなります。ただし、これは指定したモデルと二つの代表値での比較です。一枚の実物に対して、その差が必ず現れると保証したものではありません。</a:t>
            </a:r>
          </a:p>
          <a:p xmlns:a="http://schemas.openxmlformats.org/drawingml/2006/main">
            <a:r>
              <a:t>この説明を、中学生向けに短く言うなら、形と支え方と重りをそろえても、材料によって曲がり方は違うことがある。ただし、曲がりにくさと折れにくさは別に確かめる、とまとめられます。式は、その説明の裏付けとして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グラフの棒の高さは、計算された中央たわみです。材料の強度を表した棒ではありません。縦軸の単位をミリメートルと書き、表のヤング率の列と混ぜないようにします。図を作るときも、軸や凡例を省くと、何を比較しているかが分からなくなります。生徒のグラフを評価するときには、棒の長さが正しいだけでなく、比較した量と共通条件が伝わるかを確認し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USDA Wood Handbook 2021 Chapter 5, Table 5–3a, 5–7頁／5–8頁。表示たわみは講義条件からの計算値。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形、同じ支え方で、ヤング率だけが二倍の材料を考えます。これまでと同じ、荷重をそろえた比較では、たわみは半分です。では、二本の中央を、同じ一ミリメートルだけ押し下げるようにして比較したら、必要な力と最大曲げ応力はどうなるでしょうか。ここでは、どちらも線形域にあると仮定します。</a:t>
            </a:r>
          </a:p>
          <a:p xmlns:a="http://schemas.openxmlformats.org/drawingml/2006/main">
            <a:r>
              <a:t>たわみ式を、力について解いてください。デルタは同じに保つ量です。エフ、イコール、四十八かけるイーかけるアイかけるデルタを、エルの三乗で割る形になります。この式から、ヤング率が二倍なら、力が何倍かを読みます。次に、その力を最大応力の式へ入れます。</a:t>
            </a:r>
          </a:p>
          <a:p xmlns:a="http://schemas.openxmlformats.org/drawingml/2006/main">
            <a:r>
              <a:t>同じ力と同じ変形を、同時に条件として固定した問題と考えないことがポイントです。二分、式の比と一文の説明を書く時間を取ります。</a:t>
            </a:r>
          </a:p>
          <a:p xmlns:a="http://schemas.openxmlformats.org/drawingml/2006/main">
            <a:r>
              <a:t/>
            </a:r>
          </a:p>
          <a:p xmlns:a="http://schemas.openxmlformats.org/drawingml/2006/main">
            <a:r>
              <a:t>同じたわみへ押し下げる比較では、ヤング率が二倍の材料には、二倍の力が必要です。形と長さが同じなら、その力に対応する最大曲げ応力も二倍です。一方、同じ力を加えた比較では、応力は同じで、たわみが半分でした。どちらも同じ式から導けます。何を固定したかが違うため、結論も違います。</a:t>
            </a:r>
          </a:p>
          <a:p xmlns:a="http://schemas.openxmlformats.org/drawingml/2006/main">
            <a:r>
              <a:t>材料が硬いから必ず大きい応力になる、とか、応力にはヤング率が入らないから何をしても同じ、と一文で一般化しないようにしましょう。前者では制御した変形、後者では制御した荷重を確認する必要があります。今回は壊れるまでの比較ではなく、線形域の応答を考え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短時間の曲げ試験と、実際に長く使う棚板の違いを考えます。長い時間、荷重を載せておくと、初めの変形に加えて、時間とともに変形が増えるクリープが起こります。木材では水分の状態やその変動も関わります。今日の短期の線形計算だけで、何年後のたわみまで同じように求められるわけではありません。</a:t>
            </a:r>
          </a:p>
          <a:p xmlns:a="http://schemas.openxmlformats.org/drawingml/2006/main">
            <a:r>
              <a:t>さらに、実際の製品には、節、目切れ、割れ、接合部などがあります。小さな無欠点試験片の代表値から、一枚の板の全ての部分を一様とみなすことには限界があります。曲げヤング率や曲げ強さの出典を付けたとしても、その値が製品に適用できるかという確認は残ります。</a:t>
            </a:r>
          </a:p>
          <a:p xmlns:a="http://schemas.openxmlformats.org/drawingml/2006/main">
            <a:r>
              <a:t>ここで必要なのは、計算に意味がないと考えることではありません。条件をそろえた比較から言えることと、採用の判断に追加で必要なことを分けることです。荷重の大きさと時間、使用環境、部材の状態、品質区分、支持や接合の仕様などを確認します。専門家の設計判断が必要な構造物と、授業で関係を確かめる計算も、目的を区別して扱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同じたわみ量でも、棚の使いにくさ、見た目、部品との干渉など、問題になる理由は違います。許される変形の大きさを決めずに、計算値が一ミリメートルだから良いとだけ判断することはできません。また、破壊しないことだけで、使いやすい製品になるとも限りません。目的に応じて評価する量を選ぶ、という最初の話へ戻ることが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演習は、文字式の比を使います。荷重、断面、材料のヤング率、支え方はそろえたまま、支点間距離だけを、一・二倍にします。中央たわみは何倍になるでしょうか。まず直感で予想し、その後、元のたわみと変更後のたわみの式を書いて割ってください。共通の項を消せば、エルの三乗だけが残ります。</a:t>
            </a:r>
          </a:p>
          <a:p xmlns:a="http://schemas.openxmlformats.org/drawingml/2006/main">
            <a:r>
              <a:t>最大曲げ応力も同じ倍率になるか、別に確認します。応力の式にはエルの一乗が入っています。たわみと応力のどちらを求めるかによって、同じ長さの変更でも倍率は違います。最後に、六百ミリメートルだった支点間が何ミリメートルになるかを書き、元の応力と二つのたわみに、それぞれ求めた倍率を掛けてください。</a:t>
            </a:r>
          </a:p>
          <a:p xmlns:a="http://schemas.openxmlformats.org/drawingml/2006/main">
            <a:r>
              <a:t>いまは二分、式の比を書く時間を取ります。数値を最初から入れ直すだけでなく、変えていない量が消える過程を残しましょう。式の形から予想できることが増えると、電卓の誤入力にも気付きやす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更後の長さは、一・二かける六百で七百二十ミリメートルです。たわみの式で比を取ると、一・二エルの三乗を、エルの三乗で割るので、一・二の三乗、つまり一・七二八倍です。最大曲げ応力は、同じゼットに対して長さの一乗に比例するので、一・二倍です。二つの倍率は一致しません。</a:t>
            </a:r>
          </a:p>
          <a:p xmlns:a="http://schemas.openxmlformats.org/drawingml/2006/main">
            <a:r>
              <a:t>元の五メガパスカルは六メガパスカルになります。たわみは、丸め前の値から計算して、ダグラスファーで約二・五八ミリメートル、シトカスプルースで約三・二〇ミリメートルです。長さが二割増えるだけでも、たわみは約七割三分増えました。長さの三乗が効くことを、数値と対応させます。</a:t>
            </a:r>
          </a:p>
          <a:p xmlns:a="http://schemas.openxmlformats.org/drawingml/2006/main">
            <a:r>
              <a:t>ただし、ここでのエルは支点間距離です。板の端だけを長くして、支点間を変えていない場合は、同じ変更とは言えません。また、荷重を板全体へ分散させた比較へ条件を変えると、式や荷重の定義から考え直す必要があります。文字式の比を使う場合も、何を一定にしたかを最初に書く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計算結果の有効数字についても考えます。材料の値や寸法には、測定のばらつきや丸めがあります。電卓に出た全桁をそのまま並べても、予測が精密になったわけではありません。途中では十分な桁を保ち、最後に、もとの条件に見合う桁で示します。一・四九を先に丸めてから倍率を掛ける方法と、丸め前から計算する方法では、最後の桁が少し違う場合があります。式と条件が分かれば、その差を説明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性値を比べるときに、寸法の確認がなぜ大切かを数値で考えます。元の例題の高さは十五ミリメートルです。ところが、幅、長さ、材料は同じで、実際の高さが十四ミリメートルだったとします。十五として計算したたわみと比べ、実際のたわみは何倍になるでしょうか。</a:t>
            </a:r>
          </a:p>
          <a:p xmlns:a="http://schemas.openxmlformats.org/drawingml/2006/main">
            <a:r>
              <a:t>比は、十五の三乗割る十四の三乗です。高さが一ミリメートル違うだけなので、たわみも一ミリメートルだけ変わる、と考えないでください。次に、高さ十六ミリメートルの場合は、十五の三乗割る十六の三乗で求めます。二つの倍率を出して、寸法の違いが、材料の違いによる比較を見えにくくする可能性を説明してください。</a:t>
            </a:r>
          </a:p>
          <a:p xmlns:a="http://schemas.openxmlformats.org/drawingml/2006/main">
            <a:r>
              <a:t>ここでの寸法差は、式の感度を考えるための仮定です。全ての板に一ミリメートルの誤差があると主張するものではありません。二分、式と説明を作る時間を取ります。</a:t>
            </a:r>
          </a:p>
          <a:p xmlns:a="http://schemas.openxmlformats.org/drawingml/2006/main">
            <a:r>
              <a:t/>
            </a:r>
          </a:p>
          <a:p xmlns:a="http://schemas.openxmlformats.org/drawingml/2006/main">
            <a:r>
              <a:t>高さ十四ミリメートルでは、十五の三乗割る十四の三乗で、約一・二三倍です。高さ十六ミリメートルなら、約〇・八二四倍です。高さが小さい方で、たわみは約二十三パーセント増え、大きい方で約十八パーセント減ります。元の二樹種による計算差と同程度になり得る大きさです。</a:t>
            </a:r>
          </a:p>
          <a:p xmlns:a="http://schemas.openxmlformats.org/drawingml/2006/main">
            <a:r>
              <a:t>寸法をそろえていない観察から、たわみの差を全て材質の違いと判断することはできません。試験片の高さを、どの場所でどのように測ったかも記録する理由になります。板の厚さが一様でない場合などは、単純な一定断面の式から外れる点も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板の高さとたわみを比べる活動を考えます。変える条件は断面の高さです。そろえる条件は、樹種、主な繊維の方向、幅、支点間距離、荷重とその位置、支え方などです。水分状態や節の位置もできるだけそろえ、そろわない場合は記録します。測る量は、荷重を載せたときの中央の変位と、荷重を除いた後の戻りです。</a:t>
            </a:r>
          </a:p>
          <a:p xmlns:a="http://schemas.openxmlformats.org/drawingml/2006/main">
            <a:r>
              <a:t>大きくたわんだ板は、必ず小さい荷重で折れるでしょうか、という問いを置きます。期待する説明は、たわみの大小と、破壊までの荷重は別の現象を測っているため、たわみだけで破壊の順位を確定できない、というものです。大学で学んだ式を、生徒へ全部暗記させる必要はありません。何をそろえて、何を測れば、どこまで言えるのかを判断する背景知識として使います。</a:t>
            </a:r>
          </a:p>
          <a:p xmlns:a="http://schemas.openxmlformats.org/drawingml/2006/main">
            <a:r>
              <a:t>実施する場合は、担当者が事前に十分小さな荷重から挙動と支持の安定を確認し、破壊試験を当然の活動にしない計画を立てます。今回の課題では、実験の実施ではなく、紙上の計画を扱います。測定位置や基準線を図で示すと、別の人にも同じ手順が伝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一枚ずつの試料しか比べなければ、高さの効果と個体差が重なる可能性があります。複数の試料を用意したり、同じ条件で繰り返して読んだりすると、ばらつきを確かめやすくなります。ただし、同じ板を繰り返す測定と、別の板を測ることでは、確認している違いも異なります。生徒の結果が予想と違うときに、すぐ計算ミスと決めず、条件や測り方へ戻れるようにし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材料比較の記録と結論へ進みます。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比較の実験計画を、紙上で整理します。同じ外形のダグラスファーとシトカスプルースの棒へ、中央に同じ荷重を載せ、中央たわみを比べる計画です。まず、試験前に記録する条件を六つ以上挙げてください。次に、たわみを測る基準位置と、繰り返して確かめる方法を説明します。</a:t>
            </a:r>
          </a:p>
          <a:p xmlns:a="http://schemas.openxmlformats.org/drawingml/2006/main">
            <a:r>
              <a:t>最後に、生徒が、たわみの小さい方が全ての用途で強い、と答えた場合、どの部分を修正するかを書いてください。材料の順位だけで終わらず、測った量、そろえた条件、結論の範囲が伝わる短い説明を作ります。ここで三分、記録用の表と説明を作る時間を取ります。実験を実際に行う課題ではありません。</a:t>
            </a:r>
          </a:p>
          <a:p xmlns:a="http://schemas.openxmlformats.org/drawingml/2006/main">
            <a:r>
              <a:t/>
            </a:r>
          </a:p>
          <a:p xmlns:a="http://schemas.openxmlformats.org/drawingml/2006/main">
            <a:r>
              <a:t>条件には、樹種と試料の由来、繊維方向、水分状態、幅と高さ、支点間距離、荷重と載荷位置、支え方、節や割れの位置などがあります。中央の変位は、荷重を載せる前の基準から、同じ位置を読む方法で記録します。複数の試料と繰り返しの測定を区別し、結果と条件を一組で残します。</a:t>
            </a:r>
          </a:p>
          <a:p xmlns:a="http://schemas.openxmlformats.org/drawingml/2006/main">
            <a:r>
              <a:t>結論は、この形、支持、荷重と状態で比べた中央たわみが小さかった、という範囲に整理します。破壊の強さ、表面の硬さ、長期の性能まで、同じ順位と決めたことにはなりません。予想と違った場合には、材質だけでなく条件や測り方を点検する、という次の問いへつなげられ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自己確認です。一つ目、一メガパスカルは、何ニュートン毎平方ミリメートルでしょうか。二つ目、同じヤング率の材料なら、断面を変えてもたわみは同じでしょうか。三つ目、物性表の曲げ強さを、そのまま許容応力度として使えるでしょうか。短い答えだけでなく、それぞれ一つ理由を添えてください。</a:t>
            </a:r>
          </a:p>
          <a:p xmlns:a="http://schemas.openxmlformats.org/drawingml/2006/main">
            <a:r>
              <a:t>一つ目は、面積の換算、二つ目は、材質と形状の区別、三つ目は、試験値と使用の判断の区別を確認する問いです。ここで一分、手元に書いてみましょう。分からない項目は、単位、梁の図、物性表の条件の画面へ戻って確かめてください。</a:t>
            </a:r>
          </a:p>
          <a:p xmlns:a="http://schemas.openxmlformats.org/drawingml/2006/main">
            <a:r>
              <a:t/>
            </a:r>
          </a:p>
          <a:p xmlns:a="http://schemas.openxmlformats.org/drawingml/2006/main">
            <a:r>
              <a:t>一つ目は、一ニュートン毎平方ミリメートルです。平方メートルと平方ミリメートルの間に、百万倍の関係があります。二つ目は、同じとは限りません。たわみは、ヤング率だけでなく断面二次モーメントや長さ、支え方にも依存します。三つ目も、そのまま使えません。無欠点小試験片の代表的な破壊試験値と、製品の設計に使う値は、目的と条件が違います。ここまでの三つを、自分の言葉で説明できれば、計算の結果を意味と結び付けられ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復習として、例題の高さを十五ミリメートルから十八ミリメートルへ変えます。荷重は百ニュートン、支点間六百ミリメートル、幅八十ミリメートルで同じです。ヤング率も、それぞれの樹種について元の値を保つと仮定します。高さが一・二倍になった場合の、アイ、ゼット、最大曲げ応力、たわみの倍率を求めてください。</a:t>
            </a:r>
          </a:p>
          <a:p xmlns:a="http://schemas.openxmlformats.org/drawingml/2006/main">
            <a:r>
              <a:t>長さを一・二倍にした先ほどの問題と混ぜないようにします。高さはアイの三乗、ゼットの二乗の位置に入り、応力とたわみでは分母にあります。断面積一定という条件ではないため、幅を勝手に小さくしないでください。最初に、変える量と変えない量を一行で書いてから比を取ります。</a:t>
            </a:r>
          </a:p>
          <a:p xmlns:a="http://schemas.openxmlformats.org/drawingml/2006/main">
            <a:r>
              <a:t>ここでは九十秒、練習する時間を取ります。次の画面で解説します。動画内の練習は自己確認用で、正式な提出課題A2とは分けています。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高さの比は、十八割る十五で一・二です。幅は同じなので、アイは一・二の三乗で一・七二八倍、ゼットは一・二の二乗で一・四四倍です。最大曲げモーメントは荷重と支点間距離が同じなので変わりません。したがって、最大曲げ応力は一割る一・四四、約〇・六九四倍になります。五メガパスカルは、約三・四七メガパスカルです。</a:t>
            </a:r>
          </a:p>
          <a:p xmlns:a="http://schemas.openxmlformats.org/drawingml/2006/main">
            <a:r>
              <a:t>たわみは、アイが分母にあるため、一割る一・七二八、約〇・五七九倍です。ダグラスファーでは約〇・八六四ミリメートル、シトカスプルースでは約一・〇七ミリメートルになります。高さが二割増えた結果、応力とたわみは、どちらも小さくなりますが、同じ倍率ではありません。</a:t>
            </a:r>
          </a:p>
          <a:p xmlns:a="http://schemas.openxmlformats.org/drawingml/2006/main">
            <a:r>
              <a:t>次回は、断面積を一定にするため幅も変える比較を扱います。同じ高さの倍率でも、幅を固定した今回の問題とは、アイの倍率が変わります。何を一定にしたのかを言わずに、高さを増やすと何倍とだけ覚え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自分の数値が異なった場合は、まず元の値との大小を確認します。高さを増やして、今回のたわみや応力が大きくなったなら、分子と分母を逆にした可能性があります。次に、最大曲げモーメントを変えていないかを確かめます。荷重と支点間距離が同じなら、断面が変わっても外力のつりあいから求まるモーメントは同じです。最後に、単位を確認します。比での予想と数値計算を二通りで照合すると、誤りの場所を見付けやすく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要点を整理します。ヤング率は、小さな変形の線形域の傾きであり、破壊の強度や押込みへの硬さとは区別します。棒一本の剛性には、材料のヤング率と、寸法や支え方が組み合わさります。応力が同じでも、材料のヤング率が違えばひずみやたわみは異なります。</a:t>
            </a:r>
          </a:p>
          <a:p xmlns:a="http://schemas.openxmlformats.org/drawingml/2006/main">
            <a:r>
              <a:t>物性表から数値を使うときは、単位と、樹種、方向、含水状態、試験方法、試料の条件を確認します。力のつりあいから反力を求め、モーメント、断面の量、応力、たわみの順に計算しました。長さを変えた場合と高さを変えた場合は、式に現れる位置から倍率を導けます。</a:t>
            </a:r>
          </a:p>
          <a:p xmlns:a="http://schemas.openxmlformats.org/drawingml/2006/main">
            <a:r>
              <a:t>次回は、木材そのものの方向の違いと、部材の断面の形を変える効果を、さらに分けます。節の周りで繊維が曲がることや、同じ樹種の中でも性能がばらつくことも扱います。最初の問いへ戻り、大きくたわむことと、小さい荷重で壊れることは同じ意味ではない、と理由を添えて説明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の読み方です。ウッドハンドブック二〇二一年版第5章では、まず弾性率と強度に関する定義を読み、表五の三エーの該当する樹種と含水率の行を確認します。今回は、五の七ページのダグラスファーと、五の八ページのシトカスプルースの行を用います。版やページを含めて、同じ箇所へ戻れる記録を残してください。</a:t>
            </a:r>
          </a:p>
          <a:p xmlns:a="http://schemas.openxmlformats.org/drawingml/2006/main">
            <a:r>
              <a:t>中学校との接点は、学習指導要領解説の材料と加工の技術、および出版社の公開資料にある材料の特性や製品を強くする工夫です。大学で式を学ぶことは、中学生へ全ての式を教えることと同じではありません。観察や比較の問いを設計する理由として使います。</a:t>
            </a:r>
          </a:p>
          <a:p xmlns:a="http://schemas.openxmlformats.org/drawingml/2006/main">
            <a:r>
              <a:t>提出課題A2は、第6回までの学習をまとめて扱います。今日は動画内の練習を見直し、途中式、単位、物性値の条件を残す形に整理しておきましょう。出典を調べたときは、その資料に書かれている事実と、自分の判断を区別します。第5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4af5875ed348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6d6678feb440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bdb42125a04f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03f51dfb7d41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858621346c4c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63c058b7f0440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6b3e695a495340a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c44af6e7ee08499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3c06076e311d4da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120c7c9061ff40e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86e9d82be76c4fa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9d8d35801fbf44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829459-EF03-4C12-81C9-CC43FAF817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EA0F44-ABCF-41A8-9855-5A9541882D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8E24B7-8A7D-4654-9FD2-8704EFA6AB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E8EB98-43C9-4532-AF24-251A4B46C2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F3608D-3DC6-4682-A554-AE6E0F0B32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86EB4D3-3063-4F36-B7A2-E73FB415EE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F83A55-89D2-47A1-AC0F-15C7603A94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092CB9-6428-400C-8716-766CF17EE6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A7A2A9-345B-4E48-9A11-8641C31746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EDA436-DDE0-4EF5-9979-158435D200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731d2e7fae4846" /><Relationship Type="http://schemas.openxmlformats.org/officeDocument/2006/relationships/slideLayout" Target="/ppt/slideLayouts/slideLayout1.xml" Id="Rdc57eab8148646dd" /><Relationship Type="http://schemas.openxmlformats.org/officeDocument/2006/relationships/slideLayout" Target="/ppt/slideLayouts/slideLayout2.xml" Id="R59ea98f9bfbc4951" /><Relationship Type="http://schemas.openxmlformats.org/officeDocument/2006/relationships/slideLayout" Target="/ppt/slideLayouts/slideLayout3.xml" Id="Ra64f92a50d9f45dd" /><Relationship Type="http://schemas.openxmlformats.org/officeDocument/2006/relationships/slideLayout" Target="/ppt/slideLayouts/slideLayout4.xml" Id="R73fae046f8914d7b" /><Relationship Type="http://schemas.openxmlformats.org/officeDocument/2006/relationships/slideLayout" Target="/ppt/slideLayouts/slideLayout5.xml" Id="R6a279526017b42da" /><Relationship Type="http://schemas.openxmlformats.org/officeDocument/2006/relationships/slideLayout" Target="/ppt/slideLayouts/slideLayout6.xml" Id="R40f0a749a92149b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d63cc0e8c1e4a07" /><Relationship Type="http://schemas.openxmlformats.org/officeDocument/2006/relationships/slideLayout" Target="/ppt/slideLayouts/slideLayout7.xml" Id="R42dbf5dfbfd844b1" /><Relationship Type="http://schemas.openxmlformats.org/officeDocument/2006/relationships/slideLayout" Target="/ppt/slideLayouts/slideLayout8.xml" Id="R02e0d416e1ca4f40" /><Relationship Type="http://schemas.openxmlformats.org/officeDocument/2006/relationships/slideLayout" Target="/ppt/slideLayouts/slideLayout9.xml" Id="R8e27e24987994deb" /><Relationship Type="http://schemas.openxmlformats.org/officeDocument/2006/relationships/slideLayout" Target="/ppt/slideLayouts/slideLayout10.xml" Id="R7f1c726905194b84" /><Relationship Type="http://schemas.openxmlformats.org/officeDocument/2006/relationships/slideLayout" Target="/ppt/slideLayouts/slideLayout11.xml" Id="Rd7f2f524675f4c95" /><Relationship Type="http://schemas.openxmlformats.org/officeDocument/2006/relationships/slideLayout" Target="/ppt/slideLayouts/slideLayout12.xml" Id="R4e15ee4fa5f44d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57eab8148646dd"/>
    <p:sldLayoutId xmlns:r="http://schemas.openxmlformats.org/officeDocument/2006/relationships" id="2147483650" r:id="R59ea98f9bfbc4951"/>
    <p:sldLayoutId xmlns:r="http://schemas.openxmlformats.org/officeDocument/2006/relationships" id="2147483651" r:id="Ra64f92a50d9f45dd"/>
    <p:sldLayoutId xmlns:r="http://schemas.openxmlformats.org/officeDocument/2006/relationships" id="2147483652" r:id="R73fae046f8914d7b"/>
    <p:sldLayoutId xmlns:r="http://schemas.openxmlformats.org/officeDocument/2006/relationships" id="2147483653" r:id="R6a279526017b42da"/>
    <p:sldLayoutId xmlns:r="http://schemas.openxmlformats.org/officeDocument/2006/relationships" id="2147483654" r:id="R40f0a749a92149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42dbf5dfbfd844b1"/>
    <p:sldLayoutId xmlns:r="http://schemas.openxmlformats.org/officeDocument/2006/relationships" id="2147483657" r:id="R02e0d416e1ca4f40"/>
    <p:sldLayoutId xmlns:r="http://schemas.openxmlformats.org/officeDocument/2006/relationships" id="2147483658" r:id="R8e27e24987994deb"/>
    <p:sldLayoutId xmlns:r="http://schemas.openxmlformats.org/officeDocument/2006/relationships" id="2147483659" r:id="R7f1c726905194b84"/>
    <p:sldLayoutId xmlns:r="http://schemas.openxmlformats.org/officeDocument/2006/relationships" id="2147483660" r:id="Rd7f2f524675f4c95"/>
    <p:sldLayoutId xmlns:r="http://schemas.openxmlformats.org/officeDocument/2006/relationships" id="2147483661" r:id="R4e15ee4fa5f44d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a513bf802943ca" /><Relationship Type="http://schemas.openxmlformats.org/officeDocument/2006/relationships/hyperlink" Target="https://lc-nue.naruto-u.ac.jp/lcu-web/SC_06001B00_22" TargetMode="External" Id="Rf96698f5a2544301" /><Relationship Type="http://schemas.openxmlformats.org/officeDocument/2006/relationships/notesSlide" Target="/ppt/notesSlides/notesSlide1.xml" Id="R405987179d0b4c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5157ae2a25435e" /><Relationship Type="http://schemas.openxmlformats.org/officeDocument/2006/relationships/notesSlide" Target="/ppt/notesSlides/notesSlide2.xml" Id="R32b5bcc3b8bb4a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f55e092cfc45f3" /><Relationship Type="http://schemas.openxmlformats.org/officeDocument/2006/relationships/notesSlide" Target="/ppt/notesSlides/notesSlide3.xml" Id="Ra35fa2ae845641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d24a6fc68f46cd" /><Relationship Type="http://schemas.openxmlformats.org/officeDocument/2006/relationships/notesSlide" Target="/ppt/notesSlides/notesSlide4.xml" Id="R3a7c34d0a8bd4e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8be8aee9374f2b" /><Relationship Type="http://schemas.openxmlformats.org/officeDocument/2006/relationships/notesSlide" Target="/ppt/notesSlides/notesSlide5.xml" Id="R17e11e5f1c674e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e04c804be7254718" /><Relationship Type="http://schemas.openxmlformats.org/officeDocument/2006/relationships/notesSlide" Target="/ppt/notesSlides/notesSlide6.xml" Id="R7962d072dbaf46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4280069f914d3f" /><Relationship Type="http://schemas.openxmlformats.org/officeDocument/2006/relationships/notesSlide" Target="/ppt/notesSlides/notesSlide7.xml" Id="R6f8e083c30fe40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8f55312af58c4d19" /><Relationship Type="http://schemas.openxmlformats.org/officeDocument/2006/relationships/notesSlide" Target="/ppt/notesSlides/notesSlide8.xml" Id="Rebffc873f7bf44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14377105eaac424c" /><Relationship Type="http://schemas.openxmlformats.org/officeDocument/2006/relationships/notesSlide" Target="/ppt/notesSlides/notesSlide9.xml" Id="R0e6427b6f83145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6f9f2963914528" /><Relationship Type="http://schemas.openxmlformats.org/officeDocument/2006/relationships/notesSlide" Target="/ppt/notesSlides/notesSlide10.xml" Id="R77f50f3701124b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5de88802708499b" /><Relationship Type="http://schemas.openxmlformats.org/officeDocument/2006/relationships/notesSlide" Target="/ppt/notesSlides/notesSlide11.xml" Id="R69b6bbb7a8ba44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cee3351935e45dc" /><Relationship Type="http://schemas.openxmlformats.org/officeDocument/2006/relationships/notesSlide" Target="/ppt/notesSlides/notesSlide12.xml" Id="Rbb03f8b10b9846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f24ff1c830e4b77" /><Relationship Type="http://schemas.openxmlformats.org/officeDocument/2006/relationships/notesSlide" Target="/ppt/notesSlides/notesSlide13.xml" Id="R5fcdc304f09b42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50ff5b13ab5248a3" /><Relationship Type="http://schemas.openxmlformats.org/officeDocument/2006/relationships/notesSlide" Target="/ppt/notesSlides/notesSlide14.xml" Id="R743b4b1c3e804d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f95a658ad4b4472" /><Relationship Type="http://schemas.openxmlformats.org/officeDocument/2006/relationships/notesSlide" Target="/ppt/notesSlides/notesSlide15.xml" Id="Rc2d29371dbaa4d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xml" Id="R68141dddfe524ba3" /><Relationship Type="http://schemas.openxmlformats.org/officeDocument/2006/relationships/notesSlide" Target="/ppt/notesSlides/notesSlide16.xml" Id="Rd74c3fbf48ef41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dcc14cc10cf4c89" /><Relationship Type="http://schemas.openxmlformats.org/officeDocument/2006/relationships/notesSlide" Target="/ppt/notesSlides/notesSlide17.xml" Id="Rbbb762e98974436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ec68bd36f704a3a" /><Relationship Type="http://schemas.openxmlformats.org/officeDocument/2006/relationships/notesSlide" Target="/ppt/notesSlides/notesSlide18.xml" Id="R3a7b1245597d4af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977d86cbd8646b8" /><Relationship Type="http://schemas.openxmlformats.org/officeDocument/2006/relationships/notesSlide" Target="/ppt/notesSlides/notesSlide19.xml" Id="R526b2ac6648344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4bb2815c8d649c5" /><Relationship Type="http://schemas.openxmlformats.org/officeDocument/2006/relationships/notesSlide" Target="/ppt/notesSlides/notesSlide20.xml" Id="Rf40c8c13abe440a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973562a6e8244ac" /><Relationship Type="http://schemas.openxmlformats.org/officeDocument/2006/relationships/notesSlide" Target="/ppt/notesSlides/notesSlide21.xml" Id="Rab107de438db44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f1533f27fed45f5" /><Relationship Type="http://schemas.openxmlformats.org/officeDocument/2006/relationships/notesSlide" Target="/ppt/notesSlides/notesSlide22.xml" Id="Rfaa315ad11ff4d6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46407a4207d4bad" /><Relationship Type="http://schemas.openxmlformats.org/officeDocument/2006/relationships/notesSlide" Target="/ppt/notesSlides/notesSlide23.xml" Id="Ra0a4b2e13b5049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8a2713fa31b24902" /><Relationship Type="http://schemas.openxmlformats.org/officeDocument/2006/relationships/notesSlide" Target="/ppt/notesSlides/notesSlide24.xml" Id="Rbd08fdfa46aa41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d7aa87574e94b80" /><Relationship Type="http://schemas.openxmlformats.org/officeDocument/2006/relationships/notesSlide" Target="/ppt/notesSlides/notesSlide25.xml" Id="R9b69bfe463d9453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9c95589853b4183" /><Relationship Type="http://schemas.openxmlformats.org/officeDocument/2006/relationships/notesSlide" Target="/ppt/notesSlides/notesSlide26.xml" Id="Re1f0dda146e94a8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bb4098215af4df0" /><Relationship Type="http://schemas.openxmlformats.org/officeDocument/2006/relationships/notesSlide" Target="/ppt/notesSlides/notesSlide27.xml" Id="Rf91c3b74fe6c42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bdbe9688270c4cdf" /><Relationship Type="http://schemas.openxmlformats.org/officeDocument/2006/relationships/notesSlide" Target="/ppt/notesSlides/notesSlide28.xml" Id="R11b9f4d0598649f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ef96f70445b44ff" /><Relationship Type="http://schemas.openxmlformats.org/officeDocument/2006/relationships/notesSlide" Target="/ppt/notesSlides/notesSlide29.xml" Id="R1f89942c896a446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09f76cae70d45cb" /><Relationship Type="http://schemas.openxmlformats.org/officeDocument/2006/relationships/notesSlide" Target="/ppt/notesSlides/notesSlide30.xml" Id="R2577c888791d450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7167b8dd55b4985" /><Relationship Type="http://schemas.openxmlformats.org/officeDocument/2006/relationships/notesSlide" Target="/ppt/notesSlides/notesSlide31.xml" Id="Rfec7d66b22fd4bd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045ea79ecda4b01" /><Relationship Type="http://schemas.openxmlformats.org/officeDocument/2006/relationships/notesSlide" Target="/ppt/notesSlides/notesSlide32.xml" Id="Re9a313ea120a47d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447e4494f794b97" /><Relationship Type="http://schemas.openxmlformats.org/officeDocument/2006/relationships/notesSlide" Target="/ppt/notesSlides/notesSlide33.xml" Id="R3befd92ab443488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8bbf38f58474ee0" /><Relationship Type="http://schemas.openxmlformats.org/officeDocument/2006/relationships/notesSlide" Target="/ppt/notesSlides/notesSlide34.xml" Id="R3817fb5610ab49f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a7ea688305e341f7" /><Relationship Type="http://schemas.openxmlformats.org/officeDocument/2006/relationships/notesSlide" Target="/ppt/notesSlides/notesSlide35.xml" Id="R464fcbd9a2094c9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3B9C44-D10D-42EA-AE5D-5200B5F1C8DA}"/>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9A693C6A-6C75-47D6-B410-B7E3EDBF0660}"/>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第5回　強度と物性値</a:t>
            </a:r>
          </a:p>
        </p:txBody>
      </p:sp>
      <p:sp>
        <p:nvSpPr>
          <p:cNvPr id="3" name="">
            <a:extLst xmlns:a="http://schemas.openxmlformats.org/drawingml/2006/main">
              <a:ext uri="{FF2B5EF4-FFF2-40B4-BE49-F238E27FC236}">
                <a16:creationId xmlns:a16="http://schemas.microsoft.com/office/drawing/2014/main" id="{FFD26D92-607F-4324-B368-F2CC339EAE28}"/>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D23746-FAB3-4AE9-83BA-231C541FFE77}"/>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74B392E4-08FD-4ED1-98B7-1C139C250277}"/>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18800F81-B6A1-4C1B-B1CC-4D0455594F1F}"/>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B025929E-B866-4994-81AC-00777FC1C185}"/>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1D8216C1-CBE7-4FEC-9B5B-53177D8FF0B3}"/>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f96698f5a2544301"/>
              </a:rPr>
              <a:t>https://lc-nue.naruto-u.ac.jp/lcu-web/SC_06001B00_22</a:t>
            </a:r>
          </a:p>
        </p:txBody>
      </p:sp>
      <p:sp>
        <p:nvSpPr>
          <p:cNvPr id="9" name="">
            <a:extLst xmlns:a="http://schemas.openxmlformats.org/drawingml/2006/main">
              <a:ext uri="{FF2B5EF4-FFF2-40B4-BE49-F238E27FC236}">
                <a16:creationId xmlns:a16="http://schemas.microsoft.com/office/drawing/2014/main" id="{3EF306DF-C5E8-4164-876B-3A5F11A5BA31}"/>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9255046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20A0C4-8806-435D-B95B-5F6136DE7E8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第5回　強度と物性値</a:t>
            </a:r>
          </a:p>
        </p:txBody>
      </p:sp>
      <p:cxnSp>
        <p:nvCxnSpPr>
          <p:cNvPr id="2" name="">
            <a:extLst xmlns:a="http://schemas.openxmlformats.org/drawingml/2006/main">
              <a:ext uri="{FF2B5EF4-FFF2-40B4-BE49-F238E27FC236}">
                <a16:creationId xmlns:a16="http://schemas.microsoft.com/office/drawing/2014/main" id="{8E0D2526-0870-471C-9460-F5415E4ACF4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C9C8A4B-43F0-41CA-BBC3-0640C1997A0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2253AD52-88AE-4AC1-BC58-B4758C879AD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7A3C01E4-E4FB-48AF-BB30-7EE1577E5852}"/>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強度と変形：物性値の読み方</a:t>
            </a:r>
          </a:p>
        </p:txBody>
      </p:sp>
      <p:sp>
        <p:nvSpPr>
          <p:cNvPr id="6" name="">
            <a:extLst xmlns:a="http://schemas.openxmlformats.org/drawingml/2006/main">
              <a:ext uri="{FF2B5EF4-FFF2-40B4-BE49-F238E27FC236}">
                <a16:creationId xmlns:a16="http://schemas.microsoft.com/office/drawing/2014/main" id="{7271EB7C-6332-44E6-A248-489CE046AC87}"/>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Eと強度を区別し、出典・方向・含水状態・試験条件をそろえて力と変形を計算する。</a:t>
            </a:r>
          </a:p>
        </p:txBody>
      </p:sp>
    </p:spTree>
    <p:extLst>
      <p:ext uri="{BB962C8B-B14F-4D97-AF65-F5344CB8AC3E}">
        <p14:creationId xmlns:p14="http://schemas.microsoft.com/office/powerpoint/2010/main" val="18825724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D9F3D2-EFC0-4CFC-8638-AD6A33123C3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A5B0807C-0D32-4AE2-BF2A-4DFA8CC370E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B734886-658E-4284-BCF7-D4501BF49A5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16170E2F-F371-4C12-99BD-2AB1F62E743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C531224B-99FA-4B69-8F03-EF07652E117B}"/>
              </a:ext>
            </a:extLst>
          </p:cNvPr>
          <p:cNvSpPr>
            <a:spLocks xmlns:a="http://schemas.openxmlformats.org/drawingml/2006/main" noGrp="1"/>
          </p:cNvSpPr>
          <p:nvPr/>
        </p:nvSpPr>
        <p:spPr>
          <a:xfrm xmlns:a="http://schemas.openxmlformats.org/drawingml/2006/main">
            <a:off x="685800" y="16573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応力σ = F/A、ひずみε = Δl/l</a:t>
            </a:r>
          </a:p>
        </p:txBody>
      </p:sp>
      <p:sp>
        <p:nvSpPr>
          <p:cNvPr id="6" name="">
            <a:extLst xmlns:a="http://schemas.openxmlformats.org/drawingml/2006/main">
              <a:ext uri="{FF2B5EF4-FFF2-40B4-BE49-F238E27FC236}">
                <a16:creationId xmlns:a16="http://schemas.microsoft.com/office/drawing/2014/main" id="{CC97B7AC-4A60-4FD6-AF77-355EEE65F584}"/>
              </a:ext>
            </a:extLst>
          </p:cNvPr>
          <p:cNvSpPr>
            <a:spLocks xmlns:a="http://schemas.openxmlformats.org/drawingml/2006/main" noGrp="1"/>
          </p:cNvSpPr>
          <p:nvPr/>
        </p:nvSpPr>
        <p:spPr>
          <a:xfrm xmlns:a="http://schemas.openxmlformats.org/drawingml/2006/main">
            <a:off x="685800" y="25336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線形域ではσ = Eε。Eは変形しにくさの係数</a:t>
            </a:r>
          </a:p>
        </p:txBody>
      </p:sp>
      <p:sp>
        <p:nvSpPr>
          <p:cNvPr id="7" name="">
            <a:extLst xmlns:a="http://schemas.openxmlformats.org/drawingml/2006/main">
              <a:ext uri="{FF2B5EF4-FFF2-40B4-BE49-F238E27FC236}">
                <a16:creationId xmlns:a16="http://schemas.microsoft.com/office/drawing/2014/main" id="{34593B69-8088-4AF8-93DE-9A134428FFA8}"/>
              </a:ext>
            </a:extLst>
          </p:cNvPr>
          <p:cNvSpPr>
            <a:spLocks xmlns:a="http://schemas.openxmlformats.org/drawingml/2006/main" noGrp="1"/>
          </p:cNvSpPr>
          <p:nvPr/>
        </p:nvSpPr>
        <p:spPr>
          <a:xfrm xmlns:a="http://schemas.openxmlformats.org/drawingml/2006/main">
            <a:off x="685800" y="34099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今日は、E・強度・試験条件を区別する</a:t>
            </a:r>
          </a:p>
        </p:txBody>
      </p:sp>
      <p:sp>
        <p:nvSpPr>
          <p:cNvPr id="8" name="">
            <a:extLst xmlns:a="http://schemas.openxmlformats.org/drawingml/2006/main">
              <a:ext uri="{FF2B5EF4-FFF2-40B4-BE49-F238E27FC236}">
                <a16:creationId xmlns:a16="http://schemas.microsoft.com/office/drawing/2014/main" id="{ECEEDB93-6F82-4329-BA3C-ACB531EB50C5}"/>
              </a:ext>
            </a:extLst>
          </p:cNvPr>
          <p:cNvSpPr>
            <a:spLocks xmlns:a="http://schemas.openxmlformats.org/drawingml/2006/main" noGrp="1"/>
          </p:cNvSpPr>
          <p:nvPr/>
        </p:nvSpPr>
        <p:spPr>
          <a:xfrm xmlns:a="http://schemas.openxmlformats.org/drawingml/2006/main">
            <a:off x="685800" y="4286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FはN、σはPa。1 MPa = 1 N/mm²</a:t>
            </a:r>
          </a:p>
        </p:txBody>
      </p:sp>
    </p:spTree>
    <p:extLst>
      <p:ext uri="{BB962C8B-B14F-4D97-AF65-F5344CB8AC3E}">
        <p14:creationId xmlns:p14="http://schemas.microsoft.com/office/powerpoint/2010/main" val="394860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06754E-E008-4201-A2B9-AFDC78A7B3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ばねの式と棒の式</a:t>
            </a:r>
          </a:p>
        </p:txBody>
      </p:sp>
      <p:sp>
        <p:nvSpPr>
          <p:cNvPr id="2" name="">
            <a:extLst xmlns:a="http://schemas.openxmlformats.org/drawingml/2006/main">
              <a:ext uri="{FF2B5EF4-FFF2-40B4-BE49-F238E27FC236}">
                <a16:creationId xmlns:a16="http://schemas.microsoft.com/office/drawing/2014/main" id="{D58B7F26-C816-422D-8728-30319EA00CE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729D90-8DF5-4DB7-B982-B7614B1C782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92684D1C-8A4E-42CB-AE12-D888CAFB27E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04DE6730-D701-43D2-B1A1-2DE58E9CF16C}"/>
              </a:ext>
            </a:extLst>
          </p:cNvPr>
          <p:cNvSpPr>
            <a:spLocks xmlns:a="http://schemas.openxmlformats.org/drawingml/2006/main" noGrp="1"/>
          </p:cNvSpPr>
          <p:nvPr/>
        </p:nvSpPr>
        <p:spPr>
          <a:xfrm xmlns:a="http://schemas.openxmlformats.org/drawingml/2006/main">
            <a:off x="838200" y="16383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F = kΔl</a:t>
            </a:r>
          </a:p>
        </p:txBody>
      </p:sp>
      <p:sp>
        <p:nvSpPr>
          <p:cNvPr id="6" name="">
            <a:extLst xmlns:a="http://schemas.openxmlformats.org/drawingml/2006/main">
              <a:ext uri="{FF2B5EF4-FFF2-40B4-BE49-F238E27FC236}">
                <a16:creationId xmlns:a16="http://schemas.microsoft.com/office/drawing/2014/main" id="{143D8C99-84B6-4F10-ADEA-9FA2F63FD5C0}"/>
              </a:ext>
            </a:extLst>
          </p:cNvPr>
          <p:cNvSpPr>
            <a:spLocks xmlns:a="http://schemas.openxmlformats.org/drawingml/2006/main" noGrp="1"/>
          </p:cNvSpPr>
          <p:nvPr/>
        </p:nvSpPr>
        <p:spPr>
          <a:xfrm xmlns:a="http://schemas.openxmlformats.org/drawingml/2006/main">
            <a:off x="838200" y="25908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σ = F/A、ε = Δl/l、E = σ/ε</a:t>
            </a:r>
          </a:p>
        </p:txBody>
      </p:sp>
      <p:sp>
        <p:nvSpPr>
          <p:cNvPr id="7" name="">
            <a:extLst xmlns:a="http://schemas.openxmlformats.org/drawingml/2006/main">
              <a:ext uri="{FF2B5EF4-FFF2-40B4-BE49-F238E27FC236}">
                <a16:creationId xmlns:a16="http://schemas.microsoft.com/office/drawing/2014/main" id="{2F99B56D-41F9-42C5-8A9A-BADF0D35F4E9}"/>
              </a:ext>
            </a:extLst>
          </p:cNvPr>
          <p:cNvSpPr>
            <a:spLocks xmlns:a="http://schemas.openxmlformats.org/drawingml/2006/main" noGrp="1"/>
          </p:cNvSpPr>
          <p:nvPr/>
        </p:nvSpPr>
        <p:spPr>
          <a:xfrm xmlns:a="http://schemas.openxmlformats.org/drawingml/2006/main">
            <a:off x="838200" y="35433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F = (EA/l)Δl</a:t>
            </a:r>
          </a:p>
        </p:txBody>
      </p:sp>
      <p:sp>
        <p:nvSpPr>
          <p:cNvPr id="8" name="">
            <a:extLst xmlns:a="http://schemas.openxmlformats.org/drawingml/2006/main">
              <a:ext uri="{FF2B5EF4-FFF2-40B4-BE49-F238E27FC236}">
                <a16:creationId xmlns:a16="http://schemas.microsoft.com/office/drawing/2014/main" id="{0CFAA608-F9B1-430B-8E14-601C6AC791FB}"/>
              </a:ext>
            </a:extLst>
          </p:cNvPr>
          <p:cNvSpPr>
            <a:spLocks xmlns:a="http://schemas.openxmlformats.org/drawingml/2006/main" noGrp="1"/>
          </p:cNvSpPr>
          <p:nvPr/>
        </p:nvSpPr>
        <p:spPr>
          <a:xfrm xmlns:a="http://schemas.openxmlformats.org/drawingml/2006/main">
            <a:off x="838200" y="44958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53C4D"/>
                </a:solidFill>
                <a:latin typeface="Yu Gothic"/>
                <a:ea typeface="Yu Gothic"/>
                <a:cs typeface="Yu Gothic"/>
              </a:defRPr>
            </a:defPPr>
            <a:lvl1pPr>
              <a:defRPr sz="2475" b="0">
                <a:solidFill>
                  <a:srgbClr val="253C4D"/>
                </a:solidFill>
                <a:latin typeface="Yu Gothic"/>
                <a:ea typeface="Yu Gothic"/>
                <a:cs typeface="Yu Gothic"/>
              </a:defRPr>
            </a:lvl1pPr>
            <a:lvl2pPr>
              <a:defRPr sz="2475" b="0">
                <a:solidFill>
                  <a:srgbClr val="253C4D"/>
                </a:solidFill>
                <a:latin typeface="Yu Gothic"/>
                <a:ea typeface="Yu Gothic"/>
                <a:cs typeface="Yu Gothic"/>
              </a:defRPr>
            </a:lvl2pPr>
            <a:lvl3pPr>
              <a:defRPr sz="2475" b="0">
                <a:solidFill>
                  <a:srgbClr val="253C4D"/>
                </a:solidFill>
                <a:latin typeface="Yu Gothic"/>
                <a:ea typeface="Yu Gothic"/>
                <a:cs typeface="Yu Gothic"/>
              </a:defRPr>
            </a:lvl3pPr>
            <a:lvl4pPr>
              <a:defRPr sz="2475" b="0">
                <a:solidFill>
                  <a:srgbClr val="253C4D"/>
                </a:solidFill>
                <a:latin typeface="Yu Gothic"/>
                <a:ea typeface="Yu Gothic"/>
                <a:cs typeface="Yu Gothic"/>
              </a:defRPr>
            </a:lvl4pPr>
            <a:lvl5pPr>
              <a:defRPr sz="2475" b="0">
                <a:solidFill>
                  <a:srgbClr val="253C4D"/>
                </a:solidFill>
                <a:latin typeface="Yu Gothic"/>
                <a:ea typeface="Yu Gothic"/>
                <a:cs typeface="Yu Gothic"/>
              </a:defRPr>
            </a:lvl5pPr>
            <a:lvl6pPr>
              <a:defRPr sz="2475" b="0">
                <a:solidFill>
                  <a:srgbClr val="253C4D"/>
                </a:solidFill>
                <a:latin typeface="Yu Gothic"/>
                <a:ea typeface="Yu Gothic"/>
                <a:cs typeface="Yu Gothic"/>
              </a:defRPr>
            </a:lvl6pPr>
            <a:lvl7pPr>
              <a:defRPr sz="2475" b="0">
                <a:solidFill>
                  <a:srgbClr val="253C4D"/>
                </a:solidFill>
                <a:latin typeface="Yu Gothic"/>
                <a:ea typeface="Yu Gothic"/>
                <a:cs typeface="Yu Gothic"/>
              </a:defRPr>
            </a:lvl7pPr>
            <a:lvl8pPr>
              <a:defRPr sz="2475" b="0">
                <a:solidFill>
                  <a:srgbClr val="253C4D"/>
                </a:solidFill>
                <a:latin typeface="Yu Gothic"/>
                <a:ea typeface="Yu Gothic"/>
                <a:cs typeface="Yu Gothic"/>
              </a:defRPr>
            </a:lvl8pPr>
            <a:lvl9pPr>
              <a:defRPr sz="2475" b="0">
                <a:solidFill>
                  <a:srgbClr val="253C4D"/>
                </a:solidFill>
                <a:latin typeface="Yu Gothic"/>
                <a:ea typeface="Yu Gothic"/>
                <a:cs typeface="Yu Gothic"/>
              </a:defRPr>
            </a:lvl9pPr>
          </a:lstStyle>
          <a:p xmlns:a="http://schemas.openxmlformats.org/drawingml/2006/main">
            <a:pPr>
              <a:defRPr sz="2475" b="0">
                <a:solidFill>
                  <a:srgbClr val="253C4D"/>
                </a:solidFill>
                <a:latin typeface="Yu Gothic"/>
                <a:ea typeface="Yu Gothic"/>
                <a:cs typeface="Yu Gothic"/>
              </a:defRPr>
            </a:pPr>
            <a:r>
              <a:rPr sz="2475" b="0">
                <a:solidFill>
                  <a:srgbClr val="253C4D"/>
                </a:solidFill>
                <a:latin typeface="Yu Gothic"/>
                <a:ea typeface="Yu Gothic"/>
                <a:cs typeface="Yu Gothic"/>
              </a:rPr>
              <a:t>棒一本のばね定数：k = EA/l</a:t>
            </a:r>
          </a:p>
        </p:txBody>
      </p:sp>
      <p:sp>
        <p:nvSpPr>
          <p:cNvPr id="9" name="">
            <a:extLst xmlns:a="http://schemas.openxmlformats.org/drawingml/2006/main">
              <a:ext uri="{FF2B5EF4-FFF2-40B4-BE49-F238E27FC236}">
                <a16:creationId xmlns:a16="http://schemas.microsoft.com/office/drawing/2014/main" id="{5BDC97B0-704E-47EE-9B95-1FCED1619CD6}"/>
              </a:ext>
            </a:extLst>
          </p:cNvPr>
          <p:cNvSpPr>
            <a:spLocks xmlns:a="http://schemas.openxmlformats.org/drawingml/2006/main" noGrp="1"/>
          </p:cNvSpPr>
          <p:nvPr/>
        </p:nvSpPr>
        <p:spPr>
          <a:xfrm xmlns:a="http://schemas.openxmlformats.org/drawingml/2006/main">
            <a:off x="838200" y="56959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087E8B"/>
                </a:solidFill>
                <a:latin typeface="Yu Gothic"/>
                <a:ea typeface="Yu Gothic"/>
                <a:cs typeface="Yu Gothic"/>
              </a:defRPr>
            </a:defPPr>
            <a:lvl1pPr>
              <a:defRPr sz="1875" b="1">
                <a:solidFill>
                  <a:srgbClr val="087E8B"/>
                </a:solidFill>
                <a:latin typeface="Yu Gothic"/>
                <a:ea typeface="Yu Gothic"/>
                <a:cs typeface="Yu Gothic"/>
              </a:defRPr>
            </a:lvl1pPr>
            <a:lvl2pPr>
              <a:defRPr sz="1875" b="1">
                <a:solidFill>
                  <a:srgbClr val="087E8B"/>
                </a:solidFill>
                <a:latin typeface="Yu Gothic"/>
                <a:ea typeface="Yu Gothic"/>
                <a:cs typeface="Yu Gothic"/>
              </a:defRPr>
            </a:lvl2pPr>
            <a:lvl3pPr>
              <a:defRPr sz="1875" b="1">
                <a:solidFill>
                  <a:srgbClr val="087E8B"/>
                </a:solidFill>
                <a:latin typeface="Yu Gothic"/>
                <a:ea typeface="Yu Gothic"/>
                <a:cs typeface="Yu Gothic"/>
              </a:defRPr>
            </a:lvl3pPr>
            <a:lvl4pPr>
              <a:defRPr sz="1875" b="1">
                <a:solidFill>
                  <a:srgbClr val="087E8B"/>
                </a:solidFill>
                <a:latin typeface="Yu Gothic"/>
                <a:ea typeface="Yu Gothic"/>
                <a:cs typeface="Yu Gothic"/>
              </a:defRPr>
            </a:lvl4pPr>
            <a:lvl5pPr>
              <a:defRPr sz="1875" b="1">
                <a:solidFill>
                  <a:srgbClr val="087E8B"/>
                </a:solidFill>
                <a:latin typeface="Yu Gothic"/>
                <a:ea typeface="Yu Gothic"/>
                <a:cs typeface="Yu Gothic"/>
              </a:defRPr>
            </a:lvl5pPr>
            <a:lvl6pPr>
              <a:defRPr sz="1875" b="1">
                <a:solidFill>
                  <a:srgbClr val="087E8B"/>
                </a:solidFill>
                <a:latin typeface="Yu Gothic"/>
                <a:ea typeface="Yu Gothic"/>
                <a:cs typeface="Yu Gothic"/>
              </a:defRPr>
            </a:lvl6pPr>
            <a:lvl7pPr>
              <a:defRPr sz="1875" b="1">
                <a:solidFill>
                  <a:srgbClr val="087E8B"/>
                </a:solidFill>
                <a:latin typeface="Yu Gothic"/>
                <a:ea typeface="Yu Gothic"/>
                <a:cs typeface="Yu Gothic"/>
              </a:defRPr>
            </a:lvl7pPr>
            <a:lvl8pPr>
              <a:defRPr sz="1875" b="1">
                <a:solidFill>
                  <a:srgbClr val="087E8B"/>
                </a:solidFill>
                <a:latin typeface="Yu Gothic"/>
                <a:ea typeface="Yu Gothic"/>
                <a:cs typeface="Yu Gothic"/>
              </a:defRPr>
            </a:lvl8pPr>
            <a:lvl9pPr>
              <a:defRPr sz="1875" b="1">
                <a:solidFill>
                  <a:srgbClr val="087E8B"/>
                </a:solidFill>
                <a:latin typeface="Yu Gothic"/>
                <a:ea typeface="Yu Gothic"/>
                <a:cs typeface="Yu Gothic"/>
              </a:defRPr>
            </a:lvl9pPr>
          </a:lstStyle>
          <a:p xmlns:a="http://schemas.openxmlformats.org/drawingml/2006/main">
            <a:pPr>
              <a:defRPr sz="1875" b="1">
                <a:solidFill>
                  <a:srgbClr val="087E8B"/>
                </a:solidFill>
                <a:latin typeface="Yu Gothic"/>
                <a:ea typeface="Yu Gothic"/>
                <a:cs typeface="Yu Gothic"/>
              </a:defRPr>
            </a:pPr>
            <a:r>
              <a:rPr sz="1875" b="1">
                <a:solidFill>
                  <a:srgbClr val="087E8B"/>
                </a:solidFill>
                <a:latin typeface="Yu Gothic"/>
                <a:ea typeface="Yu Gothic"/>
                <a:cs typeface="Yu Gothic"/>
              </a:rPr>
              <a:t>Fと伸びの傾きk → 寸法で規格化したE</a:t>
            </a:r>
          </a:p>
        </p:txBody>
      </p:sp>
    </p:spTree>
    <p:extLst>
      <p:ext uri="{BB962C8B-B14F-4D97-AF65-F5344CB8AC3E}">
        <p14:creationId xmlns:p14="http://schemas.microsoft.com/office/powerpoint/2010/main" val="223187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BF334E-58F5-458E-B62D-2F47A834156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力と伸びからEを求める</a:t>
            </a:r>
          </a:p>
        </p:txBody>
      </p:sp>
      <p:sp>
        <p:nvSpPr>
          <p:cNvPr id="2" name="">
            <a:extLst xmlns:a="http://schemas.openxmlformats.org/drawingml/2006/main">
              <a:ext uri="{FF2B5EF4-FFF2-40B4-BE49-F238E27FC236}">
                <a16:creationId xmlns:a16="http://schemas.microsoft.com/office/drawing/2014/main" id="{D0ADCF76-D3AE-489B-9D63-88D105DC1B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ABF3D6-90EC-4419-99FD-C74CE595FA7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4C131746-6514-495C-8705-96F75E5F344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EE23562B-45A9-4198-A11F-B544672905A3}"/>
              </a:ext>
            </a:extLst>
          </p:cNvPr>
          <p:cNvSpPr>
            <a:spLocks xmlns:a="http://schemas.openxmlformats.org/drawingml/2006/main" noGrp="1"/>
          </p:cNvSpPr>
          <p:nvPr/>
        </p:nvSpPr>
        <p:spPr>
          <a:xfrm xmlns:a="http://schemas.openxmlformats.org/drawingml/2006/main">
            <a:off x="838200" y="15240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8364F"/>
                </a:solidFill>
                <a:latin typeface="Yu Gothic"/>
                <a:ea typeface="Yu Gothic"/>
                <a:cs typeface="Yu Gothic"/>
              </a:defRPr>
            </a:defPPr>
            <a:lvl1pPr>
              <a:defRPr sz="2175" b="1">
                <a:solidFill>
                  <a:srgbClr val="18364F"/>
                </a:solidFill>
                <a:latin typeface="Yu Gothic"/>
                <a:ea typeface="Yu Gothic"/>
                <a:cs typeface="Yu Gothic"/>
              </a:defRPr>
            </a:lvl1pPr>
            <a:lvl2pPr>
              <a:defRPr sz="2175" b="1">
                <a:solidFill>
                  <a:srgbClr val="18364F"/>
                </a:solidFill>
                <a:latin typeface="Yu Gothic"/>
                <a:ea typeface="Yu Gothic"/>
                <a:cs typeface="Yu Gothic"/>
              </a:defRPr>
            </a:lvl2pPr>
            <a:lvl3pPr>
              <a:defRPr sz="2175" b="1">
                <a:solidFill>
                  <a:srgbClr val="18364F"/>
                </a:solidFill>
                <a:latin typeface="Yu Gothic"/>
                <a:ea typeface="Yu Gothic"/>
                <a:cs typeface="Yu Gothic"/>
              </a:defRPr>
            </a:lvl3pPr>
            <a:lvl4pPr>
              <a:defRPr sz="2175" b="1">
                <a:solidFill>
                  <a:srgbClr val="18364F"/>
                </a:solidFill>
                <a:latin typeface="Yu Gothic"/>
                <a:ea typeface="Yu Gothic"/>
                <a:cs typeface="Yu Gothic"/>
              </a:defRPr>
            </a:lvl4pPr>
            <a:lvl5pPr>
              <a:defRPr sz="2175" b="1">
                <a:solidFill>
                  <a:srgbClr val="18364F"/>
                </a:solidFill>
                <a:latin typeface="Yu Gothic"/>
                <a:ea typeface="Yu Gothic"/>
                <a:cs typeface="Yu Gothic"/>
              </a:defRPr>
            </a:lvl5pPr>
            <a:lvl6pPr>
              <a:defRPr sz="2175" b="1">
                <a:solidFill>
                  <a:srgbClr val="18364F"/>
                </a:solidFill>
                <a:latin typeface="Yu Gothic"/>
                <a:ea typeface="Yu Gothic"/>
                <a:cs typeface="Yu Gothic"/>
              </a:defRPr>
            </a:lvl6pPr>
            <a:lvl7pPr>
              <a:defRPr sz="2175" b="1">
                <a:solidFill>
                  <a:srgbClr val="18364F"/>
                </a:solidFill>
                <a:latin typeface="Yu Gothic"/>
                <a:ea typeface="Yu Gothic"/>
                <a:cs typeface="Yu Gothic"/>
              </a:defRPr>
            </a:lvl7pPr>
            <a:lvl8pPr>
              <a:defRPr sz="2175" b="1">
                <a:solidFill>
                  <a:srgbClr val="18364F"/>
                </a:solidFill>
                <a:latin typeface="Yu Gothic"/>
                <a:ea typeface="Yu Gothic"/>
                <a:cs typeface="Yu Gothic"/>
              </a:defRPr>
            </a:lvl8pPr>
            <a:lvl9pPr>
              <a:defRPr sz="2175" b="1">
                <a:solidFill>
                  <a:srgbClr val="18364F"/>
                </a:solidFill>
                <a:latin typeface="Yu Gothic"/>
                <a:ea typeface="Yu Gothic"/>
                <a:cs typeface="Yu Gothic"/>
              </a:defRPr>
            </a:lvl9pPr>
          </a:lstStyle>
          <a:p xmlns:a="http://schemas.openxmlformats.org/drawingml/2006/main">
            <a:pPr>
              <a:defRPr sz="2175" b="1">
                <a:solidFill>
                  <a:srgbClr val="18364F"/>
                </a:solidFill>
                <a:latin typeface="Yu Gothic"/>
                <a:ea typeface="Yu Gothic"/>
                <a:cs typeface="Yu Gothic"/>
              </a:defRPr>
            </a:pPr>
            <a:r>
              <a:rPr sz="2175" b="1">
                <a:solidFill>
                  <a:srgbClr val="18364F"/>
                </a:solidFill>
                <a:latin typeface="Yu Gothic"/>
                <a:ea typeface="Yu Gothic"/>
                <a:cs typeface="Yu Gothic"/>
              </a:rPr>
              <a:t>説明用の仮想データ：l = 1,000 mm、A = 100 mm²</a:t>
            </a:r>
          </a:p>
        </p:txBody>
      </p:sp>
      <p:graphicFrame>
        <p:nvGraphicFramePr>
          <p:cNvPr id="6" name="">
            <a:extLst xmlns:a="http://schemas.openxmlformats.org/drawingml/2006/main">
              <a:ext uri="{FF2B5EF4-FFF2-40B4-BE49-F238E27FC236}">
                <a16:creationId xmlns:a16="http://schemas.microsoft.com/office/drawing/2014/main" id="{43B280C1-F81C-4AE9-B8F3-0DC8E5F47DED}"/>
              </a:ext>
            </a:extLst>
          </p:cNvPr>
          <p:cNvGraphicFramePr/>
          <p:nvPr/>
        </p:nvGraphicFramePr>
        <p:xfrm>
          <a:off xmlns:a="http://schemas.openxmlformats.org/drawingml/2006/main" x="838200" y="2209800"/>
          <a:ext xmlns:a="http://schemas.openxmlformats.org/drawingml/2006/main" cx="10477500" cy="2762250"/>
        </p:xfrm>
        <a:graphic xmlns:a="http://schemas.openxmlformats.org/drawingml/2006/main">
          <a:graphicData uri="http://schemas.openxmlformats.org/drawingml/2006/table">
            <a:tbl>
              <a:tblPr/>
              <a:tblGrid>
                <a:gridCol w="2571750"/>
                <a:gridCol w="2952750"/>
                <a:gridCol w="4953000"/>
              </a:tblGrid>
              <a:tr h="920750">
                <a:tc>
                  <a:txBody>
                    <a:bodyPr lIns="114300" tIns="114300" rIns="114300" bIns="114300"/>
                    <a:lstStyle/>
                    <a:p>
                      <a:r>
                        <a:rPr sz="2100" b="1">
                          <a:solidFill>
                            <a:srgbClr val="FFFFFF"/>
                          </a:solidFill>
                          <a:latin typeface="Yu Gothic"/>
                          <a:ea typeface="Yu Gothic"/>
                          <a:cs typeface="Yu Gothic"/>
                        </a:rPr>
                        <a:t>力 F / N</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伸び Δl / mm</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求める量</a:t>
                      </a:r>
                    </a:p>
                  </a:txBody>
                  <a:tcPr marL="91440" marR="91440" marT="45720" marB="45720">
                    <a:solidFill>
                      <a:srgbClr val="18364F"/>
                    </a:solidFill>
                  </a:tcPr>
                </a:tc>
              </a:tr>
              <a:tr h="920750">
                <a:tc>
                  <a:txBody>
                    <a:bodyPr lIns="114300" tIns="114300" rIns="114300" bIns="114300"/>
                    <a:lstStyle/>
                    <a:p>
                      <a:r>
                        <a:rPr sz="2100" b="0">
                          <a:solidFill>
                            <a:srgbClr val="253C4D"/>
                          </a:solidFill>
                          <a:latin typeface="Yu Gothic"/>
                          <a:ea typeface="Yu Gothic"/>
                          <a:cs typeface="Yu Gothic"/>
                        </a:rPr>
                        <a:t>500</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0.5</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棒のk、応力σ、ひずみε</a:t>
                      </a:r>
                    </a:p>
                  </a:txBody>
                  <a:tcPr marL="91440" marR="91440" marT="45720" marB="45720">
                    <a:solidFill>
                      <a:srgbClr val="F1F5F7"/>
                    </a:solidFill>
                  </a:tcPr>
                </a:tc>
              </a:tr>
              <a:tr h="920750">
                <a:tc>
                  <a:txBody>
                    <a:bodyPr lIns="114300" tIns="114300" rIns="114300" bIns="114300"/>
                    <a:lstStyle/>
                    <a:p>
                      <a:r>
                        <a:rPr sz="2100" b="0">
                          <a:solidFill>
                            <a:srgbClr val="253C4D"/>
                          </a:solidFill>
                          <a:latin typeface="Yu Gothic"/>
                          <a:ea typeface="Yu Gothic"/>
                          <a:cs typeface="Yu Gothic"/>
                        </a:rPr>
                        <a:t>1,000</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1.0</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材料のE、長さ2倍での伸び</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5BEAEF3-19FC-4F09-AD33-B960BF75AD7E}"/>
              </a:ext>
            </a:extLst>
          </p:cNvPr>
          <p:cNvSpPr>
            <a:spLocks xmlns:a="http://schemas.openxmlformats.org/drawingml/2006/main" noGrp="1"/>
          </p:cNvSpPr>
          <p:nvPr/>
        </p:nvSpPr>
        <p:spPr>
          <a:xfrm xmlns:a="http://schemas.openxmlformats.org/drawingml/2006/main">
            <a:off x="838200" y="54483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defRPr sz="2250" b="1">
                <a:solidFill>
                  <a:srgbClr val="087E8B"/>
                </a:solidFill>
                <a:latin typeface="Yu Gothic"/>
                <a:ea typeface="Yu Gothic"/>
                <a:cs typeface="Yu Gothic"/>
              </a:defRPr>
            </a:lvl1pPr>
            <a:lvl2pPr>
              <a:defRPr sz="2250" b="1">
                <a:solidFill>
                  <a:srgbClr val="087E8B"/>
                </a:solidFill>
                <a:latin typeface="Yu Gothic"/>
                <a:ea typeface="Yu Gothic"/>
                <a:cs typeface="Yu Gothic"/>
              </a:defRPr>
            </a:lvl2pPr>
            <a:lvl3pPr>
              <a:defRPr sz="2250" b="1">
                <a:solidFill>
                  <a:srgbClr val="087E8B"/>
                </a:solidFill>
                <a:latin typeface="Yu Gothic"/>
                <a:ea typeface="Yu Gothic"/>
                <a:cs typeface="Yu Gothic"/>
              </a:defRPr>
            </a:lvl3pPr>
            <a:lvl4pPr>
              <a:defRPr sz="2250" b="1">
                <a:solidFill>
                  <a:srgbClr val="087E8B"/>
                </a:solidFill>
                <a:latin typeface="Yu Gothic"/>
                <a:ea typeface="Yu Gothic"/>
                <a:cs typeface="Yu Gothic"/>
              </a:defRPr>
            </a:lvl4pPr>
            <a:lvl5pPr>
              <a:defRPr sz="2250" b="1">
                <a:solidFill>
                  <a:srgbClr val="087E8B"/>
                </a:solidFill>
                <a:latin typeface="Yu Gothic"/>
                <a:ea typeface="Yu Gothic"/>
                <a:cs typeface="Yu Gothic"/>
              </a:defRPr>
            </a:lvl5pPr>
            <a:lvl6pPr>
              <a:defRPr sz="2250" b="1">
                <a:solidFill>
                  <a:srgbClr val="087E8B"/>
                </a:solidFill>
                <a:latin typeface="Yu Gothic"/>
                <a:ea typeface="Yu Gothic"/>
                <a:cs typeface="Yu Gothic"/>
              </a:defRPr>
            </a:lvl6pPr>
            <a:lvl7pPr>
              <a:defRPr sz="2250" b="1">
                <a:solidFill>
                  <a:srgbClr val="087E8B"/>
                </a:solidFill>
                <a:latin typeface="Yu Gothic"/>
                <a:ea typeface="Yu Gothic"/>
                <a:cs typeface="Yu Gothic"/>
              </a:defRPr>
            </a:lvl7pPr>
            <a:lvl8pPr>
              <a:defRPr sz="2250" b="1">
                <a:solidFill>
                  <a:srgbClr val="087E8B"/>
                </a:solidFill>
                <a:latin typeface="Yu Gothic"/>
                <a:ea typeface="Yu Gothic"/>
                <a:cs typeface="Yu Gothic"/>
              </a:defRPr>
            </a:lvl8pPr>
            <a:lvl9pPr>
              <a:defRPr sz="2250" b="1">
                <a:solidFill>
                  <a:srgbClr val="087E8B"/>
                </a:solidFill>
                <a:latin typeface="Yu Gothic"/>
                <a:ea typeface="Yu Gothic"/>
                <a:cs typeface="Yu Gothic"/>
              </a:defRPr>
            </a:lvl9pPr>
          </a:lstStyle>
          <a:p xmlns:a="http://schemas.openxmlformats.org/drawingml/2006/main">
            <a:pPr>
              <a:defRPr sz="2250" b="1">
                <a:solidFill>
                  <a:srgbClr val="087E8B"/>
                </a:solidFill>
                <a:latin typeface="Yu Gothic"/>
                <a:ea typeface="Yu Gothic"/>
                <a:cs typeface="Yu Gothic"/>
              </a:defRPr>
            </a:pPr>
            <a:r>
              <a:rPr sz="2250" b="1">
                <a:solidFill>
                  <a:srgbClr val="087E8B"/>
                </a:solidFill>
                <a:latin typeface="Yu Gothic"/>
                <a:ea typeface="Yu Gothic"/>
                <a:cs typeface="Yu Gothic"/>
              </a:rPr>
              <a:t>各点から計算し、式と単位を残す。</a:t>
            </a:r>
          </a:p>
        </p:txBody>
      </p:sp>
    </p:spTree>
    <p:extLst>
      <p:ext uri="{BB962C8B-B14F-4D97-AF65-F5344CB8AC3E}">
        <p14:creationId xmlns:p14="http://schemas.microsoft.com/office/powerpoint/2010/main" val="3027203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BF932D-1157-4A1E-B92C-02F6BFDA4FF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kgとkgfとNとPa</a:t>
            </a:r>
          </a:p>
        </p:txBody>
      </p:sp>
      <p:cxnSp>
        <p:nvCxnSpPr>
          <p:cNvPr id="2" name="">
            <a:extLst xmlns:a="http://schemas.openxmlformats.org/drawingml/2006/main">
              <a:ext uri="{FF2B5EF4-FFF2-40B4-BE49-F238E27FC236}">
                <a16:creationId xmlns:a16="http://schemas.microsoft.com/office/drawing/2014/main" id="{C91372E3-D6C2-47A1-A9E9-AC7E1697361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1C24973-60CE-4A33-81E1-36587E5D617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F8C2533-0C8D-4880-AAA8-6FD5E8CA59B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998AB489-5334-4824-BBE5-D1DF0B1078E1}"/>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kgは質量、kgfとNは力。標準重力では1 kgの重さは1 kgf＝9.80665 N</a:t>
            </a:r>
          </a:p>
        </p:txBody>
      </p:sp>
      <p:sp>
        <p:nvSpPr>
          <p:cNvPr id="6" name="">
            <a:extLst xmlns:a="http://schemas.openxmlformats.org/drawingml/2006/main">
              <a:ext uri="{FF2B5EF4-FFF2-40B4-BE49-F238E27FC236}">
                <a16:creationId xmlns:a16="http://schemas.microsoft.com/office/drawing/2014/main" id="{26F97D2F-0793-4D5A-99EF-474D5B4E0E85}"/>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 Nは、1 kgに1 m/s²の加速度を生じさせる力</a:t>
            </a:r>
          </a:p>
        </p:txBody>
      </p:sp>
      <p:sp>
        <p:nvSpPr>
          <p:cNvPr id="7" name="">
            <a:extLst xmlns:a="http://schemas.openxmlformats.org/drawingml/2006/main">
              <a:ext uri="{FF2B5EF4-FFF2-40B4-BE49-F238E27FC236}">
                <a16:creationId xmlns:a16="http://schemas.microsoft.com/office/drawing/2014/main" id="{B6ADDDB2-DEB3-446B-89B6-C327D9E24FD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面積で割ると圧力や応力になり、1 Pa＝1 N/m²</a:t>
            </a:r>
          </a:p>
        </p:txBody>
      </p:sp>
      <p:sp>
        <p:nvSpPr>
          <p:cNvPr id="8" name="">
            <a:extLst xmlns:a="http://schemas.openxmlformats.org/drawingml/2006/main">
              <a:ext uri="{FF2B5EF4-FFF2-40B4-BE49-F238E27FC236}">
                <a16:creationId xmlns:a16="http://schemas.microsoft.com/office/drawing/2014/main" id="{10F6A3A1-6BC0-446B-8E77-F7D3EE8D2057}"/>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 kgf/m²＝9.80665 Pa、1 N/mm²＝1 MPa</a:t>
            </a:r>
          </a:p>
        </p:txBody>
      </p:sp>
      <p:sp>
        <p:nvSpPr>
          <p:cNvPr id="9" name="">
            <a:extLst xmlns:a="http://schemas.openxmlformats.org/drawingml/2006/main">
              <a:ext uri="{FF2B5EF4-FFF2-40B4-BE49-F238E27FC236}">
                <a16:creationId xmlns:a16="http://schemas.microsoft.com/office/drawing/2014/main" id="{7055B970-2F0A-4694-828A-50727ACAC39B}"/>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力はN、長さはmm、断面積はmm²にそろえると材料の計算が扱いやすい</a:t>
            </a:r>
          </a:p>
        </p:txBody>
      </p:sp>
    </p:spTree>
    <p:extLst>
      <p:ext uri="{BB962C8B-B14F-4D97-AF65-F5344CB8AC3E}">
        <p14:creationId xmlns:p14="http://schemas.microsoft.com/office/powerpoint/2010/main" val="1793844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57F2B8-AD42-4B3F-84FF-2457A49CE6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重りから圧力へ</a:t>
            </a:r>
          </a:p>
        </p:txBody>
      </p:sp>
      <p:sp>
        <p:nvSpPr>
          <p:cNvPr id="2" name="">
            <a:extLst xmlns:a="http://schemas.openxmlformats.org/drawingml/2006/main">
              <a:ext uri="{FF2B5EF4-FFF2-40B4-BE49-F238E27FC236}">
                <a16:creationId xmlns:a16="http://schemas.microsoft.com/office/drawing/2014/main" id="{2027DB64-5163-49F3-8E0A-4402C715F02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EB5F7E-E539-4BDF-8418-7383A3D58D5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2D69825-1D77-4620-9CB0-289D082E846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95C1355E-AF22-4128-9C2D-883C8847A9BD}"/>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質量 m = 2.00 kg、g = 9.80 m/s²</a:t>
            </a:r>
          </a:p>
        </p:txBody>
      </p:sp>
      <p:sp>
        <p:nvSpPr>
          <p:cNvPr id="6" name="">
            <a:extLst xmlns:a="http://schemas.openxmlformats.org/drawingml/2006/main">
              <a:ext uri="{FF2B5EF4-FFF2-40B4-BE49-F238E27FC236}">
                <a16:creationId xmlns:a16="http://schemas.microsoft.com/office/drawing/2014/main" id="{947CE714-5156-4AC9-A4D0-BBADEBCFD281}"/>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接触面積 A = 200 mm²</a:t>
            </a:r>
          </a:p>
        </p:txBody>
      </p:sp>
      <p:sp>
        <p:nvSpPr>
          <p:cNvPr id="7" name="">
            <a:extLst xmlns:a="http://schemas.openxmlformats.org/drawingml/2006/main">
              <a:ext uri="{FF2B5EF4-FFF2-40B4-BE49-F238E27FC236}">
                <a16:creationId xmlns:a16="http://schemas.microsoft.com/office/drawing/2014/main" id="{3271F95B-0E85-4052-AFB7-A9AC4554219D}"/>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重力 F をNで求める</a:t>
            </a:r>
          </a:p>
        </p:txBody>
      </p:sp>
      <p:sp>
        <p:nvSpPr>
          <p:cNvPr id="8" name="">
            <a:extLst xmlns:a="http://schemas.openxmlformats.org/drawingml/2006/main">
              <a:ext uri="{FF2B5EF4-FFF2-40B4-BE49-F238E27FC236}">
                <a16:creationId xmlns:a16="http://schemas.microsoft.com/office/drawing/2014/main" id="{2DB6ECF7-A5E6-406B-B5B9-C0C62F50CC2D}"/>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F/A をMPaとPaで表す</a:t>
            </a:r>
          </a:p>
        </p:txBody>
      </p:sp>
    </p:spTree>
    <p:extLst>
      <p:ext uri="{BB962C8B-B14F-4D97-AF65-F5344CB8AC3E}">
        <p14:creationId xmlns:p14="http://schemas.microsoft.com/office/powerpoint/2010/main" val="14125812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AE6AA0-BFA3-485D-B843-30DA5FC6D61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B70825B7-C9D5-43C8-8354-297BE48B497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CEA6C95-21FA-4298-8F2F-59B5FB26EF4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167A8298-9E28-447F-961D-E0A18228A63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C9087F04-F344-4885-B4D6-E762F4E176E6}"/>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ヤング率E：弾性範囲での応力とひずみの比。変形しにくさに関わる</a:t>
            </a:r>
          </a:p>
        </p:txBody>
      </p:sp>
      <p:sp>
        <p:nvSpPr>
          <p:cNvPr id="6" name="">
            <a:extLst xmlns:a="http://schemas.openxmlformats.org/drawingml/2006/main">
              <a:ext uri="{FF2B5EF4-FFF2-40B4-BE49-F238E27FC236}">
                <a16:creationId xmlns:a16="http://schemas.microsoft.com/office/drawing/2014/main" id="{351EF6DF-1BAC-4888-8F78-0924682397D8}"/>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樹種・産地と、繊維に対する荷重方向を確認する</a:t>
            </a:r>
          </a:p>
        </p:txBody>
      </p:sp>
      <p:sp>
        <p:nvSpPr>
          <p:cNvPr id="7" name="">
            <a:extLst xmlns:a="http://schemas.openxmlformats.org/drawingml/2006/main">
              <a:ext uri="{FF2B5EF4-FFF2-40B4-BE49-F238E27FC236}">
                <a16:creationId xmlns:a16="http://schemas.microsoft.com/office/drawing/2014/main" id="{3BE18FFA-540F-422B-8F19-C735131A685B}"/>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同じ荷重・長さ・断面・支持条件で、Eの違いによるたわみを比べる</a:t>
            </a:r>
          </a:p>
        </p:txBody>
      </p:sp>
      <p:sp>
        <p:nvSpPr>
          <p:cNvPr id="8" name="">
            <a:extLst xmlns:a="http://schemas.openxmlformats.org/drawingml/2006/main">
              <a:ext uri="{FF2B5EF4-FFF2-40B4-BE49-F238E27FC236}">
                <a16:creationId xmlns:a16="http://schemas.microsoft.com/office/drawing/2014/main" id="{BB7EDD33-A781-4C7E-AC6A-9FAF979C00D8}"/>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7026140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70BE9E-066B-4C57-902C-262D5E9EBB7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剛性と強度と硬さ</a:t>
            </a:r>
          </a:p>
        </p:txBody>
      </p:sp>
      <p:cxnSp>
        <p:nvCxnSpPr>
          <p:cNvPr id="2" name="">
            <a:extLst xmlns:a="http://schemas.openxmlformats.org/drawingml/2006/main">
              <a:ext uri="{FF2B5EF4-FFF2-40B4-BE49-F238E27FC236}">
                <a16:creationId xmlns:a16="http://schemas.microsoft.com/office/drawing/2014/main" id="{581C3790-EC48-461D-A0F6-89EB36CFAE7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2B5C2D0-2444-4938-9D52-E52075AC871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6D73B336-D413-4482-9A87-52722311E00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D332D7CF-D0D0-475E-AF7C-4D92F439BA80}"/>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ヤング率E：弾性範囲での応力とひずみの比。変形しにくさに関わる</a:t>
            </a:r>
          </a:p>
        </p:txBody>
      </p:sp>
      <p:sp>
        <p:nvSpPr>
          <p:cNvPr id="6" name="">
            <a:extLst xmlns:a="http://schemas.openxmlformats.org/drawingml/2006/main">
              <a:ext uri="{FF2B5EF4-FFF2-40B4-BE49-F238E27FC236}">
                <a16:creationId xmlns:a16="http://schemas.microsoft.com/office/drawing/2014/main" id="{F9EB400E-C243-4A0A-934A-EEC4F9A7DCDE}"/>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引張強さ・圧縮強さ・曲げ強さ：荷重の種類に応じた破壊の指標</a:t>
            </a:r>
          </a:p>
        </p:txBody>
      </p:sp>
      <p:sp>
        <p:nvSpPr>
          <p:cNvPr id="7" name="">
            <a:extLst xmlns:a="http://schemas.openxmlformats.org/drawingml/2006/main">
              <a:ext uri="{FF2B5EF4-FFF2-40B4-BE49-F238E27FC236}">
                <a16:creationId xmlns:a16="http://schemas.microsoft.com/office/drawing/2014/main" id="{BF54E135-1BCA-43C1-AD17-538FA2FBE234}"/>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硬さ：押込みなどに対する抵抗。試験方向と方法で表す</a:t>
            </a:r>
          </a:p>
        </p:txBody>
      </p:sp>
      <p:sp>
        <p:nvSpPr>
          <p:cNvPr id="8" name="">
            <a:extLst xmlns:a="http://schemas.openxmlformats.org/drawingml/2006/main">
              <a:ext uri="{FF2B5EF4-FFF2-40B4-BE49-F238E27FC236}">
                <a16:creationId xmlns:a16="http://schemas.microsoft.com/office/drawing/2014/main" id="{D2E5E698-5C53-46EB-B904-EFEF84AE723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たわみには材料のEだけでなく、部材の長さ・I・支え方も効く</a:t>
            </a:r>
          </a:p>
        </p:txBody>
      </p:sp>
      <p:sp>
        <p:nvSpPr>
          <p:cNvPr id="9" name="">
            <a:extLst xmlns:a="http://schemas.openxmlformats.org/drawingml/2006/main">
              <a:ext uri="{FF2B5EF4-FFF2-40B4-BE49-F238E27FC236}">
                <a16:creationId xmlns:a16="http://schemas.microsoft.com/office/drawing/2014/main" id="{1B99F1BE-DA90-46FF-B0AA-8F39AB0FC42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同じ「丈夫」という日常語でも、何を比較するかで必要な量が変わる</a:t>
            </a:r>
          </a:p>
        </p:txBody>
      </p:sp>
    </p:spTree>
    <p:extLst>
      <p:ext uri="{BB962C8B-B14F-4D97-AF65-F5344CB8AC3E}">
        <p14:creationId xmlns:p14="http://schemas.microsoft.com/office/powerpoint/2010/main" val="13236859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B36218-7D00-404A-AB46-CEF9C45E1DB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Eと強度を分ける</a:t>
            </a:r>
          </a:p>
        </p:txBody>
      </p:sp>
      <p:cxnSp>
        <p:nvCxnSpPr>
          <p:cNvPr id="2" name="">
            <a:extLst xmlns:a="http://schemas.openxmlformats.org/drawingml/2006/main">
              <a:ext uri="{FF2B5EF4-FFF2-40B4-BE49-F238E27FC236}">
                <a16:creationId xmlns:a16="http://schemas.microsoft.com/office/drawing/2014/main" id="{BA89700E-4E3D-4C61-A5ED-075E4F58E26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D018BD8-C0AE-432F-9DE8-38F992D88B0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AF82916C-C506-4E62-BE3B-30A5AF5B55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cxnSp>
        <p:nvCxnSpPr>
          <p:cNvPr id="5" name="">
            <a:extLst xmlns:a="http://schemas.openxmlformats.org/drawingml/2006/main">
              <a:ext uri="{FF2B5EF4-FFF2-40B4-BE49-F238E27FC236}">
                <a16:creationId xmlns:a16="http://schemas.microsoft.com/office/drawing/2014/main" id="{A0943261-305C-4966-8E44-F39A0CDBE5EF}"/>
              </a:ext>
            </a:extLst>
          </p:cNvPr>
          <p:cNvCxnSpPr/>
          <p:nvPr/>
        </p:nvCxnSpPr>
        <p:spPr>
          <a:xfrm xmlns:a="http://schemas.openxmlformats.org/drawingml/2006/main" flipH="0" flipV="0">
            <a:off x="1381125" y="5095875"/>
            <a:ext cx="5143500" cy="0"/>
          </a:xfrm>
          <a:prstGeom xmlns:a="http://schemas.openxmlformats.org/drawingml/2006/main" prst="straightConnector1">
            <a:avLst/>
          </a:prstGeom>
          <a:ln xmlns:a="http://schemas.openxmlformats.org/drawingml/2006/main" w="19050">
            <a:solidFill>
              <a:srgbClr val="5D6C78"/>
            </a:solidFill>
            <a:tailEnd type="triangle" w="med" len="med"/>
          </a:ln>
        </p:spPr>
      </p:cxnSp>
      <p:cxnSp>
        <p:nvCxnSpPr>
          <p:cNvPr id="6" name="">
            <a:extLst xmlns:a="http://schemas.openxmlformats.org/drawingml/2006/main">
              <a:ext uri="{FF2B5EF4-FFF2-40B4-BE49-F238E27FC236}">
                <a16:creationId xmlns:a16="http://schemas.microsoft.com/office/drawing/2014/main" id="{8E5DFFE5-4ADF-4827-B22E-CBEE3B95B41D}"/>
              </a:ext>
            </a:extLst>
          </p:cNvPr>
          <p:cNvCxnSpPr/>
          <p:nvPr/>
        </p:nvCxnSpPr>
        <p:spPr>
          <a:xfrm xmlns:a="http://schemas.openxmlformats.org/drawingml/2006/main" flipH="0" flipV="1">
            <a:off x="1381125" y="1905000"/>
            <a:ext cx="0" cy="3190875"/>
          </a:xfrm>
          <a:prstGeom xmlns:a="http://schemas.openxmlformats.org/drawingml/2006/main" prst="straightConnector1">
            <a:avLst/>
          </a:prstGeom>
          <a:ln xmlns:a="http://schemas.openxmlformats.org/drawingml/2006/main" w="19050">
            <a:solidFill>
              <a:srgbClr val="5D6C78"/>
            </a:solidFill>
            <a:tailEnd type="triangle" w="med" len="med"/>
          </a:ln>
        </p:spPr>
      </p:cxnSp>
      <p:cxnSp>
        <p:nvCxnSpPr>
          <p:cNvPr id="7" name="">
            <a:extLst xmlns:a="http://schemas.openxmlformats.org/drawingml/2006/main">
              <a:ext uri="{FF2B5EF4-FFF2-40B4-BE49-F238E27FC236}">
                <a16:creationId xmlns:a16="http://schemas.microsoft.com/office/drawing/2014/main" id="{E2AFF3C3-855B-4DC8-9BDA-090907675843}"/>
              </a:ext>
            </a:extLst>
          </p:cNvPr>
          <p:cNvCxnSpPr/>
          <p:nvPr/>
        </p:nvCxnSpPr>
        <p:spPr>
          <a:xfrm xmlns:a="http://schemas.openxmlformats.org/drawingml/2006/main" flipH="0" flipV="1">
            <a:off x="1381125" y="2333625"/>
            <a:ext cx="2714625" cy="2762250"/>
          </a:xfrm>
          <a:prstGeom xmlns:a="http://schemas.openxmlformats.org/drawingml/2006/main" prst="straightConnector1">
            <a:avLst/>
          </a:prstGeom>
          <a:ln xmlns:a="http://schemas.openxmlformats.org/drawingml/2006/main" w="47625">
            <a:solidFill>
              <a:srgbClr val="087E8B"/>
            </a:solidFill>
          </a:ln>
        </p:spPr>
      </p:cxnSp>
      <p:cxnSp>
        <p:nvCxnSpPr>
          <p:cNvPr id="8" name="">
            <a:extLst xmlns:a="http://schemas.openxmlformats.org/drawingml/2006/main">
              <a:ext uri="{FF2B5EF4-FFF2-40B4-BE49-F238E27FC236}">
                <a16:creationId xmlns:a16="http://schemas.microsoft.com/office/drawing/2014/main" id="{DAAAE8A4-8B03-4F60-B42D-7FF3972342A2}"/>
              </a:ext>
            </a:extLst>
          </p:cNvPr>
          <p:cNvCxnSpPr/>
          <p:nvPr/>
        </p:nvCxnSpPr>
        <p:spPr>
          <a:xfrm xmlns:a="http://schemas.openxmlformats.org/drawingml/2006/main" flipH="0" flipV="1">
            <a:off x="1381125" y="3048000"/>
            <a:ext cx="4524375" cy="2047875"/>
          </a:xfrm>
          <a:prstGeom xmlns:a="http://schemas.openxmlformats.org/drawingml/2006/main" prst="straightConnector1">
            <a:avLst/>
          </a:prstGeom>
          <a:ln xmlns:a="http://schemas.openxmlformats.org/drawingml/2006/main" w="47625">
            <a:solidFill>
              <a:srgbClr val="B55D09"/>
            </a:solidFill>
          </a:ln>
        </p:spPr>
      </p:cxnSp>
      <p:sp>
        <p:nvSpPr>
          <p:cNvPr id="9" name="">
            <a:extLst xmlns:a="http://schemas.openxmlformats.org/drawingml/2006/main">
              <a:ext uri="{FF2B5EF4-FFF2-40B4-BE49-F238E27FC236}">
                <a16:creationId xmlns:a16="http://schemas.microsoft.com/office/drawing/2014/main" id="{E1DDBF84-8E3D-4760-B3DA-B13FCB5AF1D5}"/>
              </a:ext>
            </a:extLst>
          </p:cNvPr>
          <p:cNvSpPr>
            <a:spLocks xmlns:a="http://schemas.openxmlformats.org/drawingml/2006/main" noGrp="1"/>
          </p:cNvSpPr>
          <p:nvPr/>
        </p:nvSpPr>
        <p:spPr>
          <a:xfrm xmlns:a="http://schemas.openxmlformats.org/drawingml/2006/main">
            <a:off x="4619625" y="528637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ひずみ ε</a:t>
            </a:r>
          </a:p>
        </p:txBody>
      </p:sp>
      <p:sp>
        <p:nvSpPr>
          <p:cNvPr id="10" name="">
            <a:extLst xmlns:a="http://schemas.openxmlformats.org/drawingml/2006/main">
              <a:ext uri="{FF2B5EF4-FFF2-40B4-BE49-F238E27FC236}">
                <a16:creationId xmlns:a16="http://schemas.microsoft.com/office/drawing/2014/main" id="{076F4FFD-C4F3-4484-A7C4-144D61BFA096}"/>
              </a:ext>
            </a:extLst>
          </p:cNvPr>
          <p:cNvSpPr>
            <a:spLocks xmlns:a="http://schemas.openxmlformats.org/drawingml/2006/main" noGrp="1"/>
          </p:cNvSpPr>
          <p:nvPr/>
        </p:nvSpPr>
        <p:spPr>
          <a:xfrm xmlns:a="http://schemas.openxmlformats.org/drawingml/2006/main">
            <a:off x="762000" y="140017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応力 σ</a:t>
            </a:r>
          </a:p>
        </p:txBody>
      </p:sp>
      <p:sp>
        <p:nvSpPr>
          <p:cNvPr id="11" name="">
            <a:extLst xmlns:a="http://schemas.openxmlformats.org/drawingml/2006/main">
              <a:ext uri="{FF2B5EF4-FFF2-40B4-BE49-F238E27FC236}">
                <a16:creationId xmlns:a16="http://schemas.microsoft.com/office/drawing/2014/main" id="{FF7D5200-DE83-41EB-A1EB-63EB47A769F5}"/>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傾き：E</a:t>
            </a:r>
          </a:p>
        </p:txBody>
      </p:sp>
      <p:sp>
        <p:nvSpPr>
          <p:cNvPr id="12" name="">
            <a:extLst xmlns:a="http://schemas.openxmlformats.org/drawingml/2006/main">
              <a:ext uri="{FF2B5EF4-FFF2-40B4-BE49-F238E27FC236}">
                <a16:creationId xmlns:a16="http://schemas.microsoft.com/office/drawing/2014/main" id="{F923AF8B-E0DE-4C6D-85CC-25765A491D98}"/>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破壊の応力：強度</a:t>
            </a:r>
          </a:p>
        </p:txBody>
      </p:sp>
      <p:sp>
        <p:nvSpPr>
          <p:cNvPr id="13" name="">
            <a:extLst xmlns:a="http://schemas.openxmlformats.org/drawingml/2006/main">
              <a:ext uri="{FF2B5EF4-FFF2-40B4-BE49-F238E27FC236}">
                <a16:creationId xmlns:a16="http://schemas.microsoft.com/office/drawing/2014/main" id="{EFA02043-2555-4F72-AAF1-279940D04ECE}"/>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この図は線形域の模式図</a:t>
            </a:r>
          </a:p>
        </p:txBody>
      </p:sp>
      <p:sp>
        <p:nvSpPr>
          <p:cNvPr id="14" name="">
            <a:extLst xmlns:a="http://schemas.openxmlformats.org/drawingml/2006/main">
              <a:ext uri="{FF2B5EF4-FFF2-40B4-BE49-F238E27FC236}">
                <a16:creationId xmlns:a16="http://schemas.microsoft.com/office/drawing/2014/main" id="{F16FFAFC-C8C9-45B9-8750-49BAC27938A1}"/>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破壊点の順位は示していない</a:t>
            </a:r>
          </a:p>
        </p:txBody>
      </p:sp>
    </p:spTree>
    <p:extLst>
      <p:ext uri="{BB962C8B-B14F-4D97-AF65-F5344CB8AC3E}">
        <p14:creationId xmlns:p14="http://schemas.microsoft.com/office/powerpoint/2010/main" val="702087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AE4FA8-CA83-43D3-85A0-EE955C304B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3E85B068-AA69-4EEB-8600-84249949ACC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48257B-D31E-46A1-8BA0-12369F7EC0B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E358935C-F052-48B4-ABCE-84C23F3344B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A9005F58-3804-4936-A6E9-0176C0E67FF5}"/>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D05771A-90BC-4114-A8EF-004E28CBA22E}"/>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CEFF86A3-A209-40F0-9402-40EAB002515F}"/>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9F72ADCB-F9CC-4B87-A972-66E0EF6FE459}"/>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再開したら：梁の曲げと物性値へ進みます。</a:t>
            </a:r>
          </a:p>
        </p:txBody>
      </p:sp>
    </p:spTree>
    <p:extLst>
      <p:ext uri="{BB962C8B-B14F-4D97-AF65-F5344CB8AC3E}">
        <p14:creationId xmlns:p14="http://schemas.microsoft.com/office/powerpoint/2010/main" val="19620565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7965ABB-F88D-45F5-8541-80AE619BCC6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梁の曲げと物性値</a:t>
            </a:r>
          </a:p>
        </p:txBody>
      </p:sp>
      <p:cxnSp>
        <p:nvCxnSpPr>
          <p:cNvPr id="2" name="">
            <a:extLst xmlns:a="http://schemas.openxmlformats.org/drawingml/2006/main">
              <a:ext uri="{FF2B5EF4-FFF2-40B4-BE49-F238E27FC236}">
                <a16:creationId xmlns:a16="http://schemas.microsoft.com/office/drawing/2014/main" id="{B702924E-C19C-4A9C-AFEE-643459EE903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67040CD-9A95-42D3-972E-69547687343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D380F3C-E0CC-4F26-A68A-EF7EFB22DBB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5B482D19-265D-4FA1-8CC3-22D61DE4F635}"/>
              </a:ext>
            </a:extLst>
          </p:cNvPr>
          <p:cNvSpPr>
            <a:spLocks xmlns:a="http://schemas.openxmlformats.org/drawingml/2006/main" noGrp="1"/>
          </p:cNvSpPr>
          <p:nvPr/>
        </p:nvSpPr>
        <p:spPr>
          <a:xfrm xmlns:a="http://schemas.openxmlformats.org/drawingml/2006/main">
            <a:off x="1238250" y="2762250"/>
            <a:ext cx="8572500" cy="219075"/>
          </a:xfrm>
          <a:prstGeom xmlns:a="http://schemas.openxmlformats.org/drawingml/2006/main" prst="rect">
            <a:avLst/>
          </a:prstGeom>
          <a:solidFill xmlns:a="http://schemas.openxmlformats.org/drawingml/2006/main">
            <a:srgbClr val="E3EBF1"/>
          </a:solidFill>
          <a:ln xmlns:a="http://schemas.openxmlformats.org/drawingml/2006/main" w="14288">
            <a:solidFill>
              <a:srgbClr val="18364F"/>
            </a:solidFill>
          </a:ln>
        </p:spPr>
      </p:sp>
      <p:cxnSp>
        <p:nvCxnSpPr>
          <p:cNvPr id="6" name="">
            <a:extLst xmlns:a="http://schemas.openxmlformats.org/drawingml/2006/main">
              <a:ext uri="{FF2B5EF4-FFF2-40B4-BE49-F238E27FC236}">
                <a16:creationId xmlns:a16="http://schemas.microsoft.com/office/drawing/2014/main" id="{727D3317-C9E2-4311-A5BD-BE39818AA59F}"/>
              </a:ext>
            </a:extLst>
          </p:cNvPr>
          <p:cNvCxnSpPr/>
          <p:nvPr/>
        </p:nvCxnSpPr>
        <p:spPr>
          <a:xfrm xmlns:a="http://schemas.openxmlformats.org/drawingml/2006/main" flipH="0" flipV="1">
            <a:off x="10477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7" name="">
            <a:extLst xmlns:a="http://schemas.openxmlformats.org/drawingml/2006/main">
              <a:ext uri="{FF2B5EF4-FFF2-40B4-BE49-F238E27FC236}">
                <a16:creationId xmlns:a16="http://schemas.microsoft.com/office/drawing/2014/main" id="{F958A1CE-FB25-4C58-9BDB-E37F92825DD3}"/>
              </a:ext>
            </a:extLst>
          </p:cNvPr>
          <p:cNvCxnSpPr/>
          <p:nvPr/>
        </p:nvCxnSpPr>
        <p:spPr>
          <a:xfrm xmlns:a="http://schemas.openxmlformats.org/drawingml/2006/main" flipH="0" flipV="0">
            <a:off x="12382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8" name="">
            <a:extLst xmlns:a="http://schemas.openxmlformats.org/drawingml/2006/main">
              <a:ext uri="{FF2B5EF4-FFF2-40B4-BE49-F238E27FC236}">
                <a16:creationId xmlns:a16="http://schemas.microsoft.com/office/drawing/2014/main" id="{D4191280-6ED7-43FD-B7C5-DC4BC2B8D605}"/>
              </a:ext>
            </a:extLst>
          </p:cNvPr>
          <p:cNvCxnSpPr/>
          <p:nvPr/>
        </p:nvCxnSpPr>
        <p:spPr>
          <a:xfrm xmlns:a="http://schemas.openxmlformats.org/drawingml/2006/main" flipH="0" flipV="0">
            <a:off x="971550" y="3333750"/>
            <a:ext cx="533400" cy="0"/>
          </a:xfrm>
          <a:prstGeom xmlns:a="http://schemas.openxmlformats.org/drawingml/2006/main" prst="straightConnector1">
            <a:avLst/>
          </a:prstGeom>
          <a:ln xmlns:a="http://schemas.openxmlformats.org/drawingml/2006/main" w="19050">
            <a:solidFill>
              <a:srgbClr val="245C98"/>
            </a:solidFill>
          </a:ln>
        </p:spPr>
      </p:cxnSp>
      <p:cxnSp>
        <p:nvCxnSpPr>
          <p:cNvPr id="9" name="">
            <a:extLst xmlns:a="http://schemas.openxmlformats.org/drawingml/2006/main">
              <a:ext uri="{FF2B5EF4-FFF2-40B4-BE49-F238E27FC236}">
                <a16:creationId xmlns:a16="http://schemas.microsoft.com/office/drawing/2014/main" id="{811EDFF4-75F9-4223-8254-9550BEEE9934}"/>
              </a:ext>
            </a:extLst>
          </p:cNvPr>
          <p:cNvCxnSpPr/>
          <p:nvPr/>
        </p:nvCxnSpPr>
        <p:spPr>
          <a:xfrm xmlns:a="http://schemas.openxmlformats.org/drawingml/2006/main" flipH="0" flipV="1">
            <a:off x="96202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10" name="">
            <a:extLst xmlns:a="http://schemas.openxmlformats.org/drawingml/2006/main">
              <a:ext uri="{FF2B5EF4-FFF2-40B4-BE49-F238E27FC236}">
                <a16:creationId xmlns:a16="http://schemas.microsoft.com/office/drawing/2014/main" id="{E644CBC5-3554-4ADA-9104-81B06438BA10}"/>
              </a:ext>
            </a:extLst>
          </p:cNvPr>
          <p:cNvCxnSpPr/>
          <p:nvPr/>
        </p:nvCxnSpPr>
        <p:spPr>
          <a:xfrm xmlns:a="http://schemas.openxmlformats.org/drawingml/2006/main" flipH="0" flipV="0">
            <a:off x="9810750" y="2990850"/>
            <a:ext cx="190500" cy="314325"/>
          </a:xfrm>
          <a:prstGeom xmlns:a="http://schemas.openxmlformats.org/drawingml/2006/main" prst="straightConnector1">
            <a:avLst/>
          </a:prstGeom>
          <a:ln xmlns:a="http://schemas.openxmlformats.org/drawingml/2006/main" w="28575">
            <a:solidFill>
              <a:srgbClr val="245C98"/>
            </a:solidFill>
          </a:ln>
        </p:spPr>
      </p:cxnSp>
      <p:cxnSp>
        <p:nvCxnSpPr>
          <p:cNvPr id="11" name="">
            <a:extLst xmlns:a="http://schemas.openxmlformats.org/drawingml/2006/main">
              <a:ext uri="{FF2B5EF4-FFF2-40B4-BE49-F238E27FC236}">
                <a16:creationId xmlns:a16="http://schemas.microsoft.com/office/drawing/2014/main" id="{6C120056-6E50-418B-A262-D99E0178765B}"/>
              </a:ext>
            </a:extLst>
          </p:cNvPr>
          <p:cNvCxnSpPr/>
          <p:nvPr/>
        </p:nvCxnSpPr>
        <p:spPr>
          <a:xfrm xmlns:a="http://schemas.openxmlformats.org/drawingml/2006/main" flipH="0" flipV="0">
            <a:off x="9544050" y="3333750"/>
            <a:ext cx="533400" cy="0"/>
          </a:xfrm>
          <a:prstGeom xmlns:a="http://schemas.openxmlformats.org/drawingml/2006/main" prst="straightConnector1">
            <a:avLst/>
          </a:prstGeom>
          <a:ln xmlns:a="http://schemas.openxmlformats.org/drawingml/2006/main" w="19050">
            <a:solidFill>
              <a:srgbClr val="245C98"/>
            </a:solidFill>
          </a:ln>
        </p:spPr>
      </p:cxnSp>
      <p:sp>
        <p:nvSpPr>
          <p:cNvPr id="12" name="">
            <a:extLst xmlns:a="http://schemas.openxmlformats.org/drawingml/2006/main">
              <a:ext uri="{FF2B5EF4-FFF2-40B4-BE49-F238E27FC236}">
                <a16:creationId xmlns:a16="http://schemas.microsoft.com/office/drawing/2014/main" id="{C29FB6BE-150B-499D-A8C1-904B3D876D64}"/>
              </a:ext>
            </a:extLst>
          </p:cNvPr>
          <p:cNvSpPr>
            <a:spLocks xmlns:a="http://schemas.openxmlformats.org/drawingml/2006/main" noGrp="1"/>
          </p:cNvSpPr>
          <p:nvPr/>
        </p:nvSpPr>
        <p:spPr>
          <a:xfrm xmlns:a="http://schemas.openxmlformats.org/drawingml/2006/main">
            <a:off x="9658350" y="3362325"/>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5C98"/>
            </a:solidFill>
          </a:ln>
        </p:spPr>
      </p:sp>
      <p:sp>
        <p:nvSpPr>
          <p:cNvPr id="13" name="">
            <a:extLst xmlns:a="http://schemas.openxmlformats.org/drawingml/2006/main">
              <a:ext uri="{FF2B5EF4-FFF2-40B4-BE49-F238E27FC236}">
                <a16:creationId xmlns:a16="http://schemas.microsoft.com/office/drawing/2014/main" id="{960EC087-8A13-411D-A7C5-C67832584401}"/>
              </a:ext>
            </a:extLst>
          </p:cNvPr>
          <p:cNvSpPr>
            <a:spLocks xmlns:a="http://schemas.openxmlformats.org/drawingml/2006/main" noGrp="1"/>
          </p:cNvSpPr>
          <p:nvPr/>
        </p:nvSpPr>
        <p:spPr>
          <a:xfrm xmlns:a="http://schemas.openxmlformats.org/drawingml/2006/main">
            <a:off x="9848850" y="3362325"/>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45C98"/>
            </a:solidFill>
          </a:ln>
        </p:spPr>
      </p:sp>
      <p:cxnSp>
        <p:nvCxnSpPr>
          <p:cNvPr id="14" name="">
            <a:extLst xmlns:a="http://schemas.openxmlformats.org/drawingml/2006/main">
              <a:ext uri="{FF2B5EF4-FFF2-40B4-BE49-F238E27FC236}">
                <a16:creationId xmlns:a16="http://schemas.microsoft.com/office/drawing/2014/main" id="{DF9CBFEC-D222-4212-8729-F74D88DF332D}"/>
              </a:ext>
            </a:extLst>
          </p:cNvPr>
          <p:cNvCxnSpPr/>
          <p:nvPr/>
        </p:nvCxnSpPr>
        <p:spPr>
          <a:xfrm xmlns:a="http://schemas.openxmlformats.org/drawingml/2006/main" flipH="0" flipV="0">
            <a:off x="9505950" y="3514725"/>
            <a:ext cx="609600" cy="0"/>
          </a:xfrm>
          <a:prstGeom xmlns:a="http://schemas.openxmlformats.org/drawingml/2006/main" prst="straightConnector1">
            <a:avLst/>
          </a:prstGeom>
          <a:ln xmlns:a="http://schemas.openxmlformats.org/drawingml/2006/main" w="19050">
            <a:solidFill>
              <a:srgbClr val="245C98"/>
            </a:solidFill>
          </a:ln>
        </p:spPr>
      </p:cxnSp>
      <p:cxnSp>
        <p:nvCxnSpPr>
          <p:cNvPr id="15" name="">
            <a:extLst xmlns:a="http://schemas.openxmlformats.org/drawingml/2006/main">
              <a:ext uri="{FF2B5EF4-FFF2-40B4-BE49-F238E27FC236}">
                <a16:creationId xmlns:a16="http://schemas.microsoft.com/office/drawing/2014/main" id="{32685586-37D0-4C84-82DA-0EA33B45FDF9}"/>
              </a:ext>
            </a:extLst>
          </p:cNvPr>
          <p:cNvCxnSpPr/>
          <p:nvPr/>
        </p:nvCxnSpPr>
        <p:spPr>
          <a:xfrm xmlns:a="http://schemas.openxmlformats.org/drawingml/2006/main" flipH="0" flipV="0">
            <a:off x="5524500" y="1857375"/>
            <a:ext cx="0" cy="838200"/>
          </a:xfrm>
          <a:prstGeom xmlns:a="http://schemas.openxmlformats.org/drawingml/2006/main" prst="straightConnector1">
            <a:avLst/>
          </a:prstGeom>
          <a:ln xmlns:a="http://schemas.openxmlformats.org/drawingml/2006/main" w="47625">
            <a:solidFill>
              <a:srgbClr val="C53D3D"/>
            </a:solidFill>
            <a:tailEnd type="triangle" w="med" len="med"/>
          </a:ln>
        </p:spPr>
      </p:cxnSp>
      <p:sp>
        <p:nvSpPr>
          <p:cNvPr id="16" name="">
            <a:extLst xmlns:a="http://schemas.openxmlformats.org/drawingml/2006/main">
              <a:ext uri="{FF2B5EF4-FFF2-40B4-BE49-F238E27FC236}">
                <a16:creationId xmlns:a16="http://schemas.microsoft.com/office/drawing/2014/main" id="{5701AE95-7215-4F5A-BA91-5873BADC3305}"/>
              </a:ext>
            </a:extLst>
          </p:cNvPr>
          <p:cNvSpPr>
            <a:spLocks xmlns:a="http://schemas.openxmlformats.org/drawingml/2006/main" noGrp="1"/>
          </p:cNvSpPr>
          <p:nvPr/>
        </p:nvSpPr>
        <p:spPr>
          <a:xfrm xmlns:a="http://schemas.openxmlformats.org/drawingml/2006/main">
            <a:off x="5734050" y="1905000"/>
            <a:ext cx="104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1">
                <a:solidFill>
                  <a:srgbClr val="C53D3D"/>
                </a:solidFill>
                <a:latin typeface="Yu Gothic"/>
                <a:ea typeface="Yu Gothic"/>
                <a:cs typeface="Yu Gothic"/>
              </a:defRPr>
            </a:defPPr>
            <a:lvl1pPr algn="l">
              <a:buNone/>
              <a:defRPr sz="2700" b="1">
                <a:solidFill>
                  <a:srgbClr val="C53D3D"/>
                </a:solidFill>
                <a:latin typeface="Yu Gothic"/>
                <a:ea typeface="Yu Gothic"/>
                <a:cs typeface="Yu Gothic"/>
              </a:defRPr>
            </a:lvl1pPr>
            <a:lvl2pPr algn="l">
              <a:buNone/>
              <a:defRPr sz="2700" b="1">
                <a:solidFill>
                  <a:srgbClr val="C53D3D"/>
                </a:solidFill>
                <a:latin typeface="Yu Gothic"/>
                <a:ea typeface="Yu Gothic"/>
                <a:cs typeface="Yu Gothic"/>
              </a:defRPr>
            </a:lvl2pPr>
            <a:lvl3pPr algn="l">
              <a:buNone/>
              <a:defRPr sz="2700" b="1">
                <a:solidFill>
                  <a:srgbClr val="C53D3D"/>
                </a:solidFill>
                <a:latin typeface="Yu Gothic"/>
                <a:ea typeface="Yu Gothic"/>
                <a:cs typeface="Yu Gothic"/>
              </a:defRPr>
            </a:lvl3pPr>
            <a:lvl4pPr algn="l">
              <a:buNone/>
              <a:defRPr sz="2700" b="1">
                <a:solidFill>
                  <a:srgbClr val="C53D3D"/>
                </a:solidFill>
                <a:latin typeface="Yu Gothic"/>
                <a:ea typeface="Yu Gothic"/>
                <a:cs typeface="Yu Gothic"/>
              </a:defRPr>
            </a:lvl4pPr>
            <a:lvl5pPr algn="l">
              <a:buNone/>
              <a:defRPr sz="2700" b="1">
                <a:solidFill>
                  <a:srgbClr val="C53D3D"/>
                </a:solidFill>
                <a:latin typeface="Yu Gothic"/>
                <a:ea typeface="Yu Gothic"/>
                <a:cs typeface="Yu Gothic"/>
              </a:defRPr>
            </a:lvl5pPr>
            <a:lvl6pPr algn="l">
              <a:buNone/>
              <a:defRPr sz="2700" b="1">
                <a:solidFill>
                  <a:srgbClr val="C53D3D"/>
                </a:solidFill>
                <a:latin typeface="Yu Gothic"/>
                <a:ea typeface="Yu Gothic"/>
                <a:cs typeface="Yu Gothic"/>
              </a:defRPr>
            </a:lvl6pPr>
            <a:lvl7pPr algn="l">
              <a:buNone/>
              <a:defRPr sz="2700" b="1">
                <a:solidFill>
                  <a:srgbClr val="C53D3D"/>
                </a:solidFill>
                <a:latin typeface="Yu Gothic"/>
                <a:ea typeface="Yu Gothic"/>
                <a:cs typeface="Yu Gothic"/>
              </a:defRPr>
            </a:lvl7pPr>
            <a:lvl8pPr algn="l">
              <a:buNone/>
              <a:defRPr sz="2700" b="1">
                <a:solidFill>
                  <a:srgbClr val="C53D3D"/>
                </a:solidFill>
                <a:latin typeface="Yu Gothic"/>
                <a:ea typeface="Yu Gothic"/>
                <a:cs typeface="Yu Gothic"/>
              </a:defRPr>
            </a:lvl8pPr>
            <a:lvl9pPr algn="l">
              <a:buNone/>
              <a:defRPr sz="2700" b="1">
                <a:solidFill>
                  <a:srgbClr val="C53D3D"/>
                </a:solidFill>
                <a:latin typeface="Yu Gothic"/>
                <a:ea typeface="Yu Gothic"/>
                <a:cs typeface="Yu Gothic"/>
              </a:defRPr>
            </a:lvl9pPr>
          </a:lstStyle>
          <a:p xmlns:a="http://schemas.openxmlformats.org/drawingml/2006/main">
            <a:pPr algn="l">
              <a:buNone/>
              <a:defRPr sz="2700" b="1">
                <a:solidFill>
                  <a:srgbClr val="C53D3D"/>
                </a:solidFill>
                <a:latin typeface="Yu Gothic"/>
                <a:ea typeface="Yu Gothic"/>
                <a:cs typeface="Yu Gothic"/>
              </a:defRPr>
            </a:pPr>
            <a:r>
              <a:rPr sz="2700" b="1">
                <a:solidFill>
                  <a:srgbClr val="C53D3D"/>
                </a:solidFill>
                <a:latin typeface="Yu Gothic"/>
                <a:ea typeface="Yu Gothic"/>
                <a:cs typeface="Yu Gothic"/>
              </a:rPr>
              <a:t>F</a:t>
            </a:r>
          </a:p>
        </p:txBody>
      </p:sp>
      <p:sp>
        <p:nvSpPr>
          <p:cNvPr id="17" name="">
            <a:extLst xmlns:a="http://schemas.openxmlformats.org/drawingml/2006/main">
              <a:ext uri="{FF2B5EF4-FFF2-40B4-BE49-F238E27FC236}">
                <a16:creationId xmlns:a16="http://schemas.microsoft.com/office/drawing/2014/main" id="{93E5FC39-CDA6-4E56-8E68-F9199A228562}"/>
              </a:ext>
            </a:extLst>
          </p:cNvPr>
          <p:cNvSpPr>
            <a:spLocks xmlns:a="http://schemas.openxmlformats.org/drawingml/2006/main" noGrp="1"/>
          </p:cNvSpPr>
          <p:nvPr/>
        </p:nvSpPr>
        <p:spPr>
          <a:xfrm xmlns:a="http://schemas.openxmlformats.org/drawingml/2006/main">
            <a:off x="5191125" y="3781425"/>
            <a:ext cx="95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8364F"/>
                </a:solidFill>
                <a:latin typeface="Yu Gothic"/>
                <a:ea typeface="Yu Gothic"/>
                <a:cs typeface="Yu Gothic"/>
              </a:defRPr>
            </a:defPPr>
            <a:lvl1pPr algn="l">
              <a:buNone/>
              <a:defRPr sz="2400" b="1">
                <a:solidFill>
                  <a:srgbClr val="18364F"/>
                </a:solidFill>
                <a:latin typeface="Yu Gothic"/>
                <a:ea typeface="Yu Gothic"/>
                <a:cs typeface="Yu Gothic"/>
              </a:defRPr>
            </a:lvl1pPr>
            <a:lvl2pPr algn="l">
              <a:buNone/>
              <a:defRPr sz="2400" b="1">
                <a:solidFill>
                  <a:srgbClr val="18364F"/>
                </a:solidFill>
                <a:latin typeface="Yu Gothic"/>
                <a:ea typeface="Yu Gothic"/>
                <a:cs typeface="Yu Gothic"/>
              </a:defRPr>
            </a:lvl2pPr>
            <a:lvl3pPr algn="l">
              <a:buNone/>
              <a:defRPr sz="2400" b="1">
                <a:solidFill>
                  <a:srgbClr val="18364F"/>
                </a:solidFill>
                <a:latin typeface="Yu Gothic"/>
                <a:ea typeface="Yu Gothic"/>
                <a:cs typeface="Yu Gothic"/>
              </a:defRPr>
            </a:lvl3pPr>
            <a:lvl4pPr algn="l">
              <a:buNone/>
              <a:defRPr sz="2400" b="1">
                <a:solidFill>
                  <a:srgbClr val="18364F"/>
                </a:solidFill>
                <a:latin typeface="Yu Gothic"/>
                <a:ea typeface="Yu Gothic"/>
                <a:cs typeface="Yu Gothic"/>
              </a:defRPr>
            </a:lvl4pPr>
            <a:lvl5pPr algn="l">
              <a:buNone/>
              <a:defRPr sz="2400" b="1">
                <a:solidFill>
                  <a:srgbClr val="18364F"/>
                </a:solidFill>
                <a:latin typeface="Yu Gothic"/>
                <a:ea typeface="Yu Gothic"/>
                <a:cs typeface="Yu Gothic"/>
              </a:defRPr>
            </a:lvl5pPr>
            <a:lvl6pPr algn="l">
              <a:buNone/>
              <a:defRPr sz="2400" b="1">
                <a:solidFill>
                  <a:srgbClr val="18364F"/>
                </a:solidFill>
                <a:latin typeface="Yu Gothic"/>
                <a:ea typeface="Yu Gothic"/>
                <a:cs typeface="Yu Gothic"/>
              </a:defRPr>
            </a:lvl6pPr>
            <a:lvl7pPr algn="l">
              <a:buNone/>
              <a:defRPr sz="2400" b="1">
                <a:solidFill>
                  <a:srgbClr val="18364F"/>
                </a:solidFill>
                <a:latin typeface="Yu Gothic"/>
                <a:ea typeface="Yu Gothic"/>
                <a:cs typeface="Yu Gothic"/>
              </a:defRPr>
            </a:lvl7pPr>
            <a:lvl8pPr algn="l">
              <a:buNone/>
              <a:defRPr sz="2400" b="1">
                <a:solidFill>
                  <a:srgbClr val="18364F"/>
                </a:solidFill>
                <a:latin typeface="Yu Gothic"/>
                <a:ea typeface="Yu Gothic"/>
                <a:cs typeface="Yu Gothic"/>
              </a:defRPr>
            </a:lvl8pPr>
            <a:lvl9pPr algn="l">
              <a:buNone/>
              <a:defRPr sz="2400" b="1">
                <a:solidFill>
                  <a:srgbClr val="18364F"/>
                </a:solidFill>
                <a:latin typeface="Yu Gothic"/>
                <a:ea typeface="Yu Gothic"/>
                <a:cs typeface="Yu Gothic"/>
              </a:defRPr>
            </a:lvl9pPr>
          </a:lstStyle>
          <a:p xmlns:a="http://schemas.openxmlformats.org/drawingml/2006/main">
            <a:pPr algn="l">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L</a:t>
            </a:r>
          </a:p>
        </p:txBody>
      </p:sp>
      <p:cxnSp>
        <p:nvCxnSpPr>
          <p:cNvPr id="18" name="">
            <a:extLst xmlns:a="http://schemas.openxmlformats.org/drawingml/2006/main">
              <a:ext uri="{FF2B5EF4-FFF2-40B4-BE49-F238E27FC236}">
                <a16:creationId xmlns:a16="http://schemas.microsoft.com/office/drawing/2014/main" id="{4DD47DA9-6982-46F8-8403-417A82C45896}"/>
              </a:ext>
            </a:extLst>
          </p:cNvPr>
          <p:cNvCxnSpPr/>
          <p:nvPr/>
        </p:nvCxnSpPr>
        <p:spPr>
          <a:xfrm xmlns:a="http://schemas.openxmlformats.org/drawingml/2006/main" flipH="0" flipV="0">
            <a:off x="1238250" y="3705225"/>
            <a:ext cx="8572500" cy="0"/>
          </a:xfrm>
          <a:prstGeom xmlns:a="http://schemas.openxmlformats.org/drawingml/2006/main" prst="straightConnector1">
            <a:avLst/>
          </a:prstGeom>
          <a:ln xmlns:a="http://schemas.openxmlformats.org/drawingml/2006/main" w="19050">
            <a:solidFill>
              <a:srgbClr val="5D6C78"/>
            </a:solidFill>
          </a:ln>
        </p:spPr>
      </p:cxnSp>
      <p:sp>
        <p:nvSpPr>
          <p:cNvPr id="19" name="">
            <a:extLst xmlns:a="http://schemas.openxmlformats.org/drawingml/2006/main">
              <a:ext uri="{FF2B5EF4-FFF2-40B4-BE49-F238E27FC236}">
                <a16:creationId xmlns:a16="http://schemas.microsoft.com/office/drawing/2014/main" id="{A30CBD73-BF1B-490B-B0EB-CC54F929BDE9}"/>
              </a:ext>
            </a:extLst>
          </p:cNvPr>
          <p:cNvSpPr>
            <a:spLocks xmlns:a="http://schemas.openxmlformats.org/drawingml/2006/main" noGrp="1"/>
          </p:cNvSpPr>
          <p:nvPr/>
        </p:nvSpPr>
        <p:spPr>
          <a:xfrm xmlns:a="http://schemas.openxmlformats.org/drawingml/2006/main">
            <a:off x="1238250" y="432435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8364F"/>
                </a:solidFill>
                <a:latin typeface="Yu Gothic"/>
                <a:ea typeface="Yu Gothic"/>
                <a:cs typeface="Yu Gothic"/>
              </a:defRPr>
            </a:defPPr>
            <a:lvl1pPr algn="l">
              <a:buNone/>
              <a:defRPr sz="2400" b="1">
                <a:solidFill>
                  <a:srgbClr val="18364F"/>
                </a:solidFill>
                <a:latin typeface="Yu Gothic"/>
                <a:ea typeface="Yu Gothic"/>
                <a:cs typeface="Yu Gothic"/>
              </a:defRPr>
            </a:lvl1pPr>
            <a:lvl2pPr algn="l">
              <a:buNone/>
              <a:defRPr sz="2400" b="1">
                <a:solidFill>
                  <a:srgbClr val="18364F"/>
                </a:solidFill>
                <a:latin typeface="Yu Gothic"/>
                <a:ea typeface="Yu Gothic"/>
                <a:cs typeface="Yu Gothic"/>
              </a:defRPr>
            </a:lvl2pPr>
            <a:lvl3pPr algn="l">
              <a:buNone/>
              <a:defRPr sz="2400" b="1">
                <a:solidFill>
                  <a:srgbClr val="18364F"/>
                </a:solidFill>
                <a:latin typeface="Yu Gothic"/>
                <a:ea typeface="Yu Gothic"/>
                <a:cs typeface="Yu Gothic"/>
              </a:defRPr>
            </a:lvl3pPr>
            <a:lvl4pPr algn="l">
              <a:buNone/>
              <a:defRPr sz="2400" b="1">
                <a:solidFill>
                  <a:srgbClr val="18364F"/>
                </a:solidFill>
                <a:latin typeface="Yu Gothic"/>
                <a:ea typeface="Yu Gothic"/>
                <a:cs typeface="Yu Gothic"/>
              </a:defRPr>
            </a:lvl4pPr>
            <a:lvl5pPr algn="l">
              <a:buNone/>
              <a:defRPr sz="2400" b="1">
                <a:solidFill>
                  <a:srgbClr val="18364F"/>
                </a:solidFill>
                <a:latin typeface="Yu Gothic"/>
                <a:ea typeface="Yu Gothic"/>
                <a:cs typeface="Yu Gothic"/>
              </a:defRPr>
            </a:lvl5pPr>
            <a:lvl6pPr algn="l">
              <a:buNone/>
              <a:defRPr sz="2400" b="1">
                <a:solidFill>
                  <a:srgbClr val="18364F"/>
                </a:solidFill>
                <a:latin typeface="Yu Gothic"/>
                <a:ea typeface="Yu Gothic"/>
                <a:cs typeface="Yu Gothic"/>
              </a:defRPr>
            </a:lvl6pPr>
            <a:lvl7pPr algn="l">
              <a:buNone/>
              <a:defRPr sz="2400" b="1">
                <a:solidFill>
                  <a:srgbClr val="18364F"/>
                </a:solidFill>
                <a:latin typeface="Yu Gothic"/>
                <a:ea typeface="Yu Gothic"/>
                <a:cs typeface="Yu Gothic"/>
              </a:defRPr>
            </a:lvl7pPr>
            <a:lvl8pPr algn="l">
              <a:buNone/>
              <a:defRPr sz="2400" b="1">
                <a:solidFill>
                  <a:srgbClr val="18364F"/>
                </a:solidFill>
                <a:latin typeface="Yu Gothic"/>
                <a:ea typeface="Yu Gothic"/>
                <a:cs typeface="Yu Gothic"/>
              </a:defRPr>
            </a:lvl8pPr>
            <a:lvl9pPr algn="l">
              <a:buNone/>
              <a:defRPr sz="2400" b="1">
                <a:solidFill>
                  <a:srgbClr val="18364F"/>
                </a:solidFill>
                <a:latin typeface="Yu Gothic"/>
                <a:ea typeface="Yu Gothic"/>
                <a:cs typeface="Yu Gothic"/>
              </a:defRPr>
            </a:lvl9pPr>
          </a:lstStyle>
          <a:p xmlns:a="http://schemas.openxmlformats.org/drawingml/2006/main">
            <a:pPr algn="l">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中央集中荷重・単純支持</a:t>
            </a:r>
          </a:p>
        </p:txBody>
      </p:sp>
      <p:sp>
        <p:nvSpPr>
          <p:cNvPr id="20" name="">
            <a:extLst xmlns:a="http://schemas.openxmlformats.org/drawingml/2006/main">
              <a:ext uri="{FF2B5EF4-FFF2-40B4-BE49-F238E27FC236}">
                <a16:creationId xmlns:a16="http://schemas.microsoft.com/office/drawing/2014/main" id="{8194DB7E-4DA9-468C-869E-A2DAAD42B3A0}"/>
              </a:ext>
            </a:extLst>
          </p:cNvPr>
          <p:cNvSpPr>
            <a:spLocks xmlns:a="http://schemas.openxmlformats.org/drawingml/2006/main" noGrp="1"/>
          </p:cNvSpPr>
          <p:nvPr/>
        </p:nvSpPr>
        <p:spPr>
          <a:xfrm xmlns:a="http://schemas.openxmlformats.org/drawingml/2006/main">
            <a:off x="685800" y="51244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δ = FL³/(48EI)　　σ最大 = FL/(4Z)</a:t>
            </a:r>
          </a:p>
        </p:txBody>
      </p:sp>
    </p:spTree>
    <p:extLst>
      <p:ext uri="{BB962C8B-B14F-4D97-AF65-F5344CB8AC3E}">
        <p14:creationId xmlns:p14="http://schemas.microsoft.com/office/powerpoint/2010/main" val="19142163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5C6C79A-8A18-4D6F-B1E5-AD68B4D7605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力のつりあいから支点反力を求める</a:t>
            </a:r>
          </a:p>
        </p:txBody>
      </p:sp>
      <p:sp>
        <p:nvSpPr>
          <p:cNvPr id="2" name="">
            <a:extLst xmlns:a="http://schemas.openxmlformats.org/drawingml/2006/main">
              <a:ext uri="{FF2B5EF4-FFF2-40B4-BE49-F238E27FC236}">
                <a16:creationId xmlns:a16="http://schemas.microsoft.com/office/drawing/2014/main" id="{AA63EB88-360F-4231-88EF-F8723303E6B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B6F948-226D-4CD3-841C-8D56BB6FFEA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CCE9F04E-0E22-436A-B1CB-FAEE3E6A10E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4B40ABEC-05EF-4F6A-B7E2-6BDCF7264847}"/>
              </a:ext>
            </a:extLst>
          </p:cNvPr>
          <p:cNvSpPr>
            <a:spLocks xmlns:a="http://schemas.openxmlformats.org/drawingml/2006/main" noGrp="1"/>
          </p:cNvSpPr>
          <p:nvPr/>
        </p:nvSpPr>
        <p:spPr>
          <a:xfrm xmlns:a="http://schemas.openxmlformats.org/drawingml/2006/main">
            <a:off x="1714500" y="2809875"/>
            <a:ext cx="8572500" cy="209550"/>
          </a:xfrm>
          <a:prstGeom xmlns:a="http://schemas.openxmlformats.org/drawingml/2006/main" prst="rect">
            <a:avLst/>
          </a:prstGeom>
          <a:solidFill xmlns:a="http://schemas.openxmlformats.org/drawingml/2006/main">
            <a:srgbClr val="E8EEF3"/>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68877526-D963-40FF-A98D-E957F3B5B210}"/>
              </a:ext>
            </a:extLst>
          </p:cNvPr>
          <p:cNvSpPr>
            <a:spLocks xmlns:a="http://schemas.openxmlformats.org/drawingml/2006/main" noGrp="1"/>
          </p:cNvSpPr>
          <p:nvPr/>
        </p:nvSpPr>
        <p:spPr>
          <a:xfrm xmlns:a="http://schemas.openxmlformats.org/drawingml/2006/main">
            <a:off x="1524000" y="3019425"/>
            <a:ext cx="381000" cy="314325"/>
          </a:xfrm>
          <a:custGeom xmlns:a="http://schemas.openxmlformats.org/drawingml/2006/main">
            <a:pathLst>
              <a:path w="381000" h="314325">
                <a:moveTo>
                  <a:pt x="190500" y="0"/>
                </a:moveTo>
                <a:lnTo>
                  <a:pt x="0" y="314325"/>
                </a:lnTo>
                <a:lnTo>
                  <a:pt x="381000" y="314325"/>
                </a:lnTo>
                <a:lnTo>
                  <a:pt x="190500" y="0"/>
                </a:lnTo>
              </a:path>
            </a:pathLst>
          </a:custGeom>
          <a:noFill xmlns:a="http://schemas.openxmlformats.org/drawingml/2006/main"/>
          <a:ln xmlns:a="http://schemas.openxmlformats.org/drawingml/2006/main" w="19050">
            <a:solidFill>
              <a:srgbClr val="2876A8"/>
            </a:solidFill>
          </a:ln>
        </p:spPr>
      </p:sp>
      <p:sp>
        <p:nvSpPr>
          <p:cNvPr id="7" name="">
            <a:extLst xmlns:a="http://schemas.openxmlformats.org/drawingml/2006/main">
              <a:ext uri="{FF2B5EF4-FFF2-40B4-BE49-F238E27FC236}">
                <a16:creationId xmlns:a16="http://schemas.microsoft.com/office/drawing/2014/main" id="{C355AD57-0248-4051-9E07-52CF57554870}"/>
              </a:ext>
            </a:extLst>
          </p:cNvPr>
          <p:cNvSpPr>
            <a:spLocks xmlns:a="http://schemas.openxmlformats.org/drawingml/2006/main" noGrp="1"/>
          </p:cNvSpPr>
          <p:nvPr/>
        </p:nvSpPr>
        <p:spPr>
          <a:xfrm xmlns:a="http://schemas.openxmlformats.org/drawingml/2006/main">
            <a:off x="10096500" y="3019425"/>
            <a:ext cx="381000" cy="314325"/>
          </a:xfrm>
          <a:custGeom xmlns:a="http://schemas.openxmlformats.org/drawingml/2006/main">
            <a:pathLst>
              <a:path w="381000" h="314325">
                <a:moveTo>
                  <a:pt x="190500" y="0"/>
                </a:moveTo>
                <a:lnTo>
                  <a:pt x="0" y="314325"/>
                </a:lnTo>
                <a:lnTo>
                  <a:pt x="381000" y="314325"/>
                </a:lnTo>
                <a:lnTo>
                  <a:pt x="190500" y="0"/>
                </a:lnTo>
              </a:path>
            </a:pathLst>
          </a:custGeom>
          <a:noFill xmlns:a="http://schemas.openxmlformats.org/drawingml/2006/main"/>
          <a:ln xmlns:a="http://schemas.openxmlformats.org/drawingml/2006/main" w="19050">
            <a:solidFill>
              <a:srgbClr val="2876A8"/>
            </a:solidFill>
          </a:ln>
        </p:spPr>
      </p:sp>
      <p:sp>
        <p:nvSpPr>
          <p:cNvPr id="8" name="">
            <a:extLst xmlns:a="http://schemas.openxmlformats.org/drawingml/2006/main">
              <a:ext uri="{FF2B5EF4-FFF2-40B4-BE49-F238E27FC236}">
                <a16:creationId xmlns:a16="http://schemas.microsoft.com/office/drawing/2014/main" id="{D244DDE8-C425-4206-B1AA-653FB4E04624}"/>
              </a:ext>
            </a:extLst>
          </p:cNvPr>
          <p:cNvSpPr>
            <a:spLocks xmlns:a="http://schemas.openxmlformats.org/drawingml/2006/main" noGrp="1"/>
          </p:cNvSpPr>
          <p:nvPr/>
        </p:nvSpPr>
        <p:spPr>
          <a:xfrm xmlns:a="http://schemas.openxmlformats.org/drawingml/2006/main">
            <a:off x="6000750" y="1762125"/>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38100">
            <a:solidFill>
              <a:srgbClr val="C4483C"/>
            </a:solidFill>
          </a:ln>
        </p:spPr>
      </p:sp>
      <p:sp>
        <p:nvSpPr>
          <p:cNvPr id="9" name="">
            <a:extLst xmlns:a="http://schemas.openxmlformats.org/drawingml/2006/main">
              <a:ext uri="{FF2B5EF4-FFF2-40B4-BE49-F238E27FC236}">
                <a16:creationId xmlns:a16="http://schemas.microsoft.com/office/drawing/2014/main" id="{38DD839B-A89D-4E24-93E3-089AD502ADA9}"/>
              </a:ext>
            </a:extLst>
          </p:cNvPr>
          <p:cNvSpPr>
            <a:spLocks xmlns:a="http://schemas.openxmlformats.org/drawingml/2006/main" noGrp="1"/>
          </p:cNvSpPr>
          <p:nvPr/>
        </p:nvSpPr>
        <p:spPr>
          <a:xfrm xmlns:a="http://schemas.openxmlformats.org/drawingml/2006/main">
            <a:off x="5946890" y="265075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38100">
            <a:solidFill>
              <a:srgbClr val="C4483C"/>
            </a:solidFill>
          </a:ln>
        </p:spPr>
      </p:sp>
      <p:sp>
        <p:nvSpPr>
          <p:cNvPr id="10" name="">
            <a:extLst xmlns:a="http://schemas.openxmlformats.org/drawingml/2006/main">
              <a:ext uri="{FF2B5EF4-FFF2-40B4-BE49-F238E27FC236}">
                <a16:creationId xmlns:a16="http://schemas.microsoft.com/office/drawing/2014/main" id="{0C48CB1A-CA4C-45D7-B073-7C692C440B4F}"/>
              </a:ext>
            </a:extLst>
          </p:cNvPr>
          <p:cNvSpPr>
            <a:spLocks xmlns:a="http://schemas.openxmlformats.org/drawingml/2006/main" noGrp="1"/>
          </p:cNvSpPr>
          <p:nvPr/>
        </p:nvSpPr>
        <p:spPr>
          <a:xfrm xmlns:a="http://schemas.openxmlformats.org/drawingml/2006/main">
            <a:off x="6191250" y="1743075"/>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defRPr sz="2250" b="1">
                <a:solidFill>
                  <a:srgbClr val="C4483C"/>
                </a:solidFill>
                <a:latin typeface="Yu Gothic"/>
                <a:ea typeface="Yu Gothic"/>
                <a:cs typeface="Yu Gothic"/>
              </a:defRPr>
            </a:lvl1pPr>
            <a:lvl2pPr>
              <a:defRPr sz="2250" b="1">
                <a:solidFill>
                  <a:srgbClr val="C4483C"/>
                </a:solidFill>
                <a:latin typeface="Yu Gothic"/>
                <a:ea typeface="Yu Gothic"/>
                <a:cs typeface="Yu Gothic"/>
              </a:defRPr>
            </a:lvl2pPr>
            <a:lvl3pPr>
              <a:defRPr sz="2250" b="1">
                <a:solidFill>
                  <a:srgbClr val="C4483C"/>
                </a:solidFill>
                <a:latin typeface="Yu Gothic"/>
                <a:ea typeface="Yu Gothic"/>
                <a:cs typeface="Yu Gothic"/>
              </a:defRPr>
            </a:lvl3pPr>
            <a:lvl4pPr>
              <a:defRPr sz="2250" b="1">
                <a:solidFill>
                  <a:srgbClr val="C4483C"/>
                </a:solidFill>
                <a:latin typeface="Yu Gothic"/>
                <a:ea typeface="Yu Gothic"/>
                <a:cs typeface="Yu Gothic"/>
              </a:defRPr>
            </a:lvl4pPr>
            <a:lvl5pPr>
              <a:defRPr sz="2250" b="1">
                <a:solidFill>
                  <a:srgbClr val="C4483C"/>
                </a:solidFill>
                <a:latin typeface="Yu Gothic"/>
                <a:ea typeface="Yu Gothic"/>
                <a:cs typeface="Yu Gothic"/>
              </a:defRPr>
            </a:lvl5pPr>
            <a:lvl6pPr>
              <a:defRPr sz="2250" b="1">
                <a:solidFill>
                  <a:srgbClr val="C4483C"/>
                </a:solidFill>
                <a:latin typeface="Yu Gothic"/>
                <a:ea typeface="Yu Gothic"/>
                <a:cs typeface="Yu Gothic"/>
              </a:defRPr>
            </a:lvl6pPr>
            <a:lvl7pPr>
              <a:defRPr sz="2250" b="1">
                <a:solidFill>
                  <a:srgbClr val="C4483C"/>
                </a:solidFill>
                <a:latin typeface="Yu Gothic"/>
                <a:ea typeface="Yu Gothic"/>
                <a:cs typeface="Yu Gothic"/>
              </a:defRPr>
            </a:lvl7pPr>
            <a:lvl8pPr>
              <a:defRPr sz="2250" b="1">
                <a:solidFill>
                  <a:srgbClr val="C4483C"/>
                </a:solidFill>
                <a:latin typeface="Yu Gothic"/>
                <a:ea typeface="Yu Gothic"/>
                <a:cs typeface="Yu Gothic"/>
              </a:defRPr>
            </a:lvl8pPr>
            <a:lvl9pPr>
              <a:defRPr sz="2250" b="1">
                <a:solidFill>
                  <a:srgbClr val="C4483C"/>
                </a:solidFill>
                <a:latin typeface="Yu Gothic"/>
                <a:ea typeface="Yu Gothic"/>
                <a:cs typeface="Yu Gothic"/>
              </a:defRPr>
            </a:lvl9pPr>
          </a:lstStyle>
          <a:p xmlns:a="http://schemas.openxmlformats.org/drawingml/2006/main">
            <a:pPr>
              <a:defRPr sz="2250" b="1">
                <a:solidFill>
                  <a:srgbClr val="C4483C"/>
                </a:solidFill>
                <a:latin typeface="Yu Gothic"/>
                <a:ea typeface="Yu Gothic"/>
                <a:cs typeface="Yu Gothic"/>
              </a:defRPr>
            </a:pPr>
            <a:r>
              <a:rPr sz="2250" b="1">
                <a:solidFill>
                  <a:srgbClr val="C4483C"/>
                </a:solidFill>
                <a:latin typeface="Yu Gothic"/>
                <a:ea typeface="Yu Gothic"/>
                <a:cs typeface="Yu Gothic"/>
              </a:rPr>
              <a:t>F</a:t>
            </a:r>
          </a:p>
        </p:txBody>
      </p:sp>
      <p:sp>
        <p:nvSpPr>
          <p:cNvPr id="11" name="">
            <a:extLst xmlns:a="http://schemas.openxmlformats.org/drawingml/2006/main">
              <a:ext uri="{FF2B5EF4-FFF2-40B4-BE49-F238E27FC236}">
                <a16:creationId xmlns:a16="http://schemas.microsoft.com/office/drawing/2014/main" id="{FBED1FED-156B-4461-8A48-692B7B1425E0}"/>
              </a:ext>
            </a:extLst>
          </p:cNvPr>
          <p:cNvSpPr>
            <a:spLocks xmlns:a="http://schemas.openxmlformats.org/drawingml/2006/main" noGrp="1"/>
          </p:cNvSpPr>
          <p:nvPr/>
        </p:nvSpPr>
        <p:spPr>
          <a:xfrm xmlns:a="http://schemas.openxmlformats.org/drawingml/2006/main">
            <a:off x="1714500" y="3429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38100">
            <a:solidFill>
              <a:srgbClr val="2876A8"/>
            </a:solidFill>
          </a:ln>
        </p:spPr>
      </p:sp>
      <p:sp>
        <p:nvSpPr>
          <p:cNvPr id="12" name="">
            <a:extLst xmlns:a="http://schemas.openxmlformats.org/drawingml/2006/main">
              <a:ext uri="{FF2B5EF4-FFF2-40B4-BE49-F238E27FC236}">
                <a16:creationId xmlns:a16="http://schemas.microsoft.com/office/drawing/2014/main" id="{C02A16CE-3162-46C8-BB63-A41FDED3D766}"/>
              </a:ext>
            </a:extLst>
          </p:cNvPr>
          <p:cNvSpPr>
            <a:spLocks xmlns:a="http://schemas.openxmlformats.org/drawingml/2006/main" noGrp="1"/>
          </p:cNvSpPr>
          <p:nvPr/>
        </p:nvSpPr>
        <p:spPr>
          <a:xfrm xmlns:a="http://schemas.openxmlformats.org/drawingml/2006/main">
            <a:off x="1660640" y="3429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38100">
            <a:solidFill>
              <a:srgbClr val="2876A8"/>
            </a:solidFill>
          </a:ln>
        </p:spPr>
      </p:sp>
      <p:sp>
        <p:nvSpPr>
          <p:cNvPr id="13" name="">
            <a:extLst xmlns:a="http://schemas.openxmlformats.org/drawingml/2006/main">
              <a:ext uri="{FF2B5EF4-FFF2-40B4-BE49-F238E27FC236}">
                <a16:creationId xmlns:a16="http://schemas.microsoft.com/office/drawing/2014/main" id="{DEA4F673-EBF7-45CC-A463-A1D1E115D770}"/>
              </a:ext>
            </a:extLst>
          </p:cNvPr>
          <p:cNvSpPr>
            <a:spLocks xmlns:a="http://schemas.openxmlformats.org/drawingml/2006/main" noGrp="1"/>
          </p:cNvSpPr>
          <p:nvPr/>
        </p:nvSpPr>
        <p:spPr>
          <a:xfrm xmlns:a="http://schemas.openxmlformats.org/drawingml/2006/main">
            <a:off x="10287000" y="3429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38100">
            <a:solidFill>
              <a:srgbClr val="2876A8"/>
            </a:solidFill>
          </a:ln>
        </p:spPr>
      </p:sp>
      <p:sp>
        <p:nvSpPr>
          <p:cNvPr id="14" name="">
            <a:extLst xmlns:a="http://schemas.openxmlformats.org/drawingml/2006/main">
              <a:ext uri="{FF2B5EF4-FFF2-40B4-BE49-F238E27FC236}">
                <a16:creationId xmlns:a16="http://schemas.microsoft.com/office/drawing/2014/main" id="{967A471E-04D9-4108-A36B-8A3085637795}"/>
              </a:ext>
            </a:extLst>
          </p:cNvPr>
          <p:cNvSpPr>
            <a:spLocks xmlns:a="http://schemas.openxmlformats.org/drawingml/2006/main" noGrp="1"/>
          </p:cNvSpPr>
          <p:nvPr/>
        </p:nvSpPr>
        <p:spPr>
          <a:xfrm xmlns:a="http://schemas.openxmlformats.org/drawingml/2006/main">
            <a:off x="10233140" y="3429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38100">
            <a:solidFill>
              <a:srgbClr val="2876A8"/>
            </a:solidFill>
          </a:ln>
        </p:spPr>
      </p:sp>
      <p:sp>
        <p:nvSpPr>
          <p:cNvPr id="15" name="">
            <a:extLst xmlns:a="http://schemas.openxmlformats.org/drawingml/2006/main">
              <a:ext uri="{FF2B5EF4-FFF2-40B4-BE49-F238E27FC236}">
                <a16:creationId xmlns:a16="http://schemas.microsoft.com/office/drawing/2014/main" id="{782A1CBD-91AE-41F4-9670-38FE26A8D7D4}"/>
              </a:ext>
            </a:extLst>
          </p:cNvPr>
          <p:cNvSpPr>
            <a:spLocks xmlns:a="http://schemas.openxmlformats.org/drawingml/2006/main" noGrp="1"/>
          </p:cNvSpPr>
          <p:nvPr/>
        </p:nvSpPr>
        <p:spPr>
          <a:xfrm xmlns:a="http://schemas.openxmlformats.org/drawingml/2006/main">
            <a:off x="904875" y="3876675"/>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R_A</a:t>
            </a:r>
          </a:p>
        </p:txBody>
      </p:sp>
      <p:sp>
        <p:nvSpPr>
          <p:cNvPr id="16" name="">
            <a:extLst xmlns:a="http://schemas.openxmlformats.org/drawingml/2006/main">
              <a:ext uri="{FF2B5EF4-FFF2-40B4-BE49-F238E27FC236}">
                <a16:creationId xmlns:a16="http://schemas.microsoft.com/office/drawing/2014/main" id="{7BCAAC4E-E0D2-4783-9CFE-40C7C5E72ACC}"/>
              </a:ext>
            </a:extLst>
          </p:cNvPr>
          <p:cNvSpPr>
            <a:spLocks xmlns:a="http://schemas.openxmlformats.org/drawingml/2006/main" noGrp="1"/>
          </p:cNvSpPr>
          <p:nvPr/>
        </p:nvSpPr>
        <p:spPr>
          <a:xfrm xmlns:a="http://schemas.openxmlformats.org/drawingml/2006/main">
            <a:off x="10525125" y="3876675"/>
            <a:ext cx="119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876A8"/>
                </a:solidFill>
                <a:latin typeface="Yu Gothic"/>
                <a:ea typeface="Yu Gothic"/>
                <a:cs typeface="Yu Gothic"/>
              </a:defRPr>
            </a:defPPr>
            <a:lvl1pPr>
              <a:defRPr sz="2100" b="1">
                <a:solidFill>
                  <a:srgbClr val="2876A8"/>
                </a:solidFill>
                <a:latin typeface="Yu Gothic"/>
                <a:ea typeface="Yu Gothic"/>
                <a:cs typeface="Yu Gothic"/>
              </a:defRPr>
            </a:lvl1pPr>
            <a:lvl2pPr>
              <a:defRPr sz="2100" b="1">
                <a:solidFill>
                  <a:srgbClr val="2876A8"/>
                </a:solidFill>
                <a:latin typeface="Yu Gothic"/>
                <a:ea typeface="Yu Gothic"/>
                <a:cs typeface="Yu Gothic"/>
              </a:defRPr>
            </a:lvl2pPr>
            <a:lvl3pPr>
              <a:defRPr sz="2100" b="1">
                <a:solidFill>
                  <a:srgbClr val="2876A8"/>
                </a:solidFill>
                <a:latin typeface="Yu Gothic"/>
                <a:ea typeface="Yu Gothic"/>
                <a:cs typeface="Yu Gothic"/>
              </a:defRPr>
            </a:lvl3pPr>
            <a:lvl4pPr>
              <a:defRPr sz="2100" b="1">
                <a:solidFill>
                  <a:srgbClr val="2876A8"/>
                </a:solidFill>
                <a:latin typeface="Yu Gothic"/>
                <a:ea typeface="Yu Gothic"/>
                <a:cs typeface="Yu Gothic"/>
              </a:defRPr>
            </a:lvl4pPr>
            <a:lvl5pPr>
              <a:defRPr sz="2100" b="1">
                <a:solidFill>
                  <a:srgbClr val="2876A8"/>
                </a:solidFill>
                <a:latin typeface="Yu Gothic"/>
                <a:ea typeface="Yu Gothic"/>
                <a:cs typeface="Yu Gothic"/>
              </a:defRPr>
            </a:lvl5pPr>
            <a:lvl6pPr>
              <a:defRPr sz="2100" b="1">
                <a:solidFill>
                  <a:srgbClr val="2876A8"/>
                </a:solidFill>
                <a:latin typeface="Yu Gothic"/>
                <a:ea typeface="Yu Gothic"/>
                <a:cs typeface="Yu Gothic"/>
              </a:defRPr>
            </a:lvl6pPr>
            <a:lvl7pPr>
              <a:defRPr sz="2100" b="1">
                <a:solidFill>
                  <a:srgbClr val="2876A8"/>
                </a:solidFill>
                <a:latin typeface="Yu Gothic"/>
                <a:ea typeface="Yu Gothic"/>
                <a:cs typeface="Yu Gothic"/>
              </a:defRPr>
            </a:lvl7pPr>
            <a:lvl8pPr>
              <a:defRPr sz="2100" b="1">
                <a:solidFill>
                  <a:srgbClr val="2876A8"/>
                </a:solidFill>
                <a:latin typeface="Yu Gothic"/>
                <a:ea typeface="Yu Gothic"/>
                <a:cs typeface="Yu Gothic"/>
              </a:defRPr>
            </a:lvl8pPr>
            <a:lvl9pPr>
              <a:defRPr sz="2100" b="1">
                <a:solidFill>
                  <a:srgbClr val="2876A8"/>
                </a:solidFill>
                <a:latin typeface="Yu Gothic"/>
                <a:ea typeface="Yu Gothic"/>
                <a:cs typeface="Yu Gothic"/>
              </a:defRPr>
            </a:lvl9pPr>
          </a:lstStyle>
          <a:p xmlns:a="http://schemas.openxmlformats.org/drawingml/2006/main">
            <a:pPr>
              <a:defRPr sz="2100" b="1">
                <a:solidFill>
                  <a:srgbClr val="2876A8"/>
                </a:solidFill>
                <a:latin typeface="Yu Gothic"/>
                <a:ea typeface="Yu Gothic"/>
                <a:cs typeface="Yu Gothic"/>
              </a:defRPr>
            </a:pPr>
            <a:r>
              <a:rPr sz="2100" b="1">
                <a:solidFill>
                  <a:srgbClr val="2876A8"/>
                </a:solidFill>
                <a:latin typeface="Yu Gothic"/>
                <a:ea typeface="Yu Gothic"/>
                <a:cs typeface="Yu Gothic"/>
              </a:rPr>
              <a:t>R_B</a:t>
            </a:r>
          </a:p>
        </p:txBody>
      </p:sp>
      <p:sp>
        <p:nvSpPr>
          <p:cNvPr id="17" name="">
            <a:extLst xmlns:a="http://schemas.openxmlformats.org/drawingml/2006/main">
              <a:ext uri="{FF2B5EF4-FFF2-40B4-BE49-F238E27FC236}">
                <a16:creationId xmlns:a16="http://schemas.microsoft.com/office/drawing/2014/main" id="{36109B3A-85F0-45D6-892F-774CBE6CFDDF}"/>
              </a:ext>
            </a:extLst>
          </p:cNvPr>
          <p:cNvSpPr>
            <a:spLocks xmlns:a="http://schemas.openxmlformats.org/drawingml/2006/main" noGrp="1"/>
          </p:cNvSpPr>
          <p:nvPr/>
        </p:nvSpPr>
        <p:spPr>
          <a:xfrm xmlns:a="http://schemas.openxmlformats.org/drawingml/2006/main">
            <a:off x="1714500" y="3619500"/>
            <a:ext cx="8572500" cy="9525"/>
          </a:xfrm>
          <a:custGeom xmlns:a="http://schemas.openxmlformats.org/drawingml/2006/main">
            <a:pathLst>
              <a:path w="8572500" h="9525">
                <a:moveTo>
                  <a:pt x="0" y="0"/>
                </a:moveTo>
                <a:lnTo>
                  <a:pt x="8572500" y="0"/>
                </a:lnTo>
              </a:path>
            </a:pathLst>
          </a:custGeom>
          <a:noFill xmlns:a="http://schemas.openxmlformats.org/drawingml/2006/main"/>
          <a:ln xmlns:a="http://schemas.openxmlformats.org/drawingml/2006/main" w="19050">
            <a:solidFill>
              <a:srgbClr val="596875"/>
            </a:solidFill>
          </a:ln>
        </p:spPr>
      </p:sp>
      <p:sp>
        <p:nvSpPr>
          <p:cNvPr id="18" name="">
            <a:extLst xmlns:a="http://schemas.openxmlformats.org/drawingml/2006/main">
              <a:ext uri="{FF2B5EF4-FFF2-40B4-BE49-F238E27FC236}">
                <a16:creationId xmlns:a16="http://schemas.microsoft.com/office/drawing/2014/main" id="{631F2300-F5FB-4126-8915-111B0F38B272}"/>
              </a:ext>
            </a:extLst>
          </p:cNvPr>
          <p:cNvSpPr>
            <a:spLocks xmlns:a="http://schemas.openxmlformats.org/drawingml/2006/main" noGrp="1"/>
          </p:cNvSpPr>
          <p:nvPr/>
        </p:nvSpPr>
        <p:spPr>
          <a:xfrm xmlns:a="http://schemas.openxmlformats.org/drawingml/2006/main">
            <a:off x="3333750" y="3667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L/2</a:t>
            </a:r>
          </a:p>
        </p:txBody>
      </p:sp>
      <p:sp>
        <p:nvSpPr>
          <p:cNvPr id="19" name="">
            <a:extLst xmlns:a="http://schemas.openxmlformats.org/drawingml/2006/main">
              <a:ext uri="{FF2B5EF4-FFF2-40B4-BE49-F238E27FC236}">
                <a16:creationId xmlns:a16="http://schemas.microsoft.com/office/drawing/2014/main" id="{0231CEA2-ABA1-4255-B90A-D738711EDE39}"/>
              </a:ext>
            </a:extLst>
          </p:cNvPr>
          <p:cNvSpPr>
            <a:spLocks xmlns:a="http://schemas.openxmlformats.org/drawingml/2006/main" noGrp="1"/>
          </p:cNvSpPr>
          <p:nvPr/>
        </p:nvSpPr>
        <p:spPr>
          <a:xfrm xmlns:a="http://schemas.openxmlformats.org/drawingml/2006/main">
            <a:off x="7524750" y="3667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L/2</a:t>
            </a:r>
          </a:p>
        </p:txBody>
      </p:sp>
      <p:sp>
        <p:nvSpPr>
          <p:cNvPr id="20" name="">
            <a:extLst xmlns:a="http://schemas.openxmlformats.org/drawingml/2006/main">
              <a:ext uri="{FF2B5EF4-FFF2-40B4-BE49-F238E27FC236}">
                <a16:creationId xmlns:a16="http://schemas.microsoft.com/office/drawing/2014/main" id="{6D16A260-5DE7-4419-A632-A246B5882FD8}"/>
              </a:ext>
            </a:extLst>
          </p:cNvPr>
          <p:cNvSpPr>
            <a:spLocks xmlns:a="http://schemas.openxmlformats.org/drawingml/2006/main" noGrp="1"/>
          </p:cNvSpPr>
          <p:nvPr/>
        </p:nvSpPr>
        <p:spPr>
          <a:xfrm xmlns:a="http://schemas.openxmlformats.org/drawingml/2006/main">
            <a:off x="838200" y="46386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全体：R_A + R_B − F = 0</a:t>
            </a:r>
          </a:p>
        </p:txBody>
      </p:sp>
      <p:sp>
        <p:nvSpPr>
          <p:cNvPr id="21" name="">
            <a:extLst xmlns:a="http://schemas.openxmlformats.org/drawingml/2006/main">
              <a:ext uri="{FF2B5EF4-FFF2-40B4-BE49-F238E27FC236}">
                <a16:creationId xmlns:a16="http://schemas.microsoft.com/office/drawing/2014/main" id="{DE29697D-1349-47D4-9385-336D50BC6CC6}"/>
              </a:ext>
            </a:extLst>
          </p:cNvPr>
          <p:cNvSpPr>
            <a:spLocks xmlns:a="http://schemas.openxmlformats.org/drawingml/2006/main" noGrp="1"/>
          </p:cNvSpPr>
          <p:nvPr/>
        </p:nvSpPr>
        <p:spPr>
          <a:xfrm xmlns:a="http://schemas.openxmlformats.org/drawingml/2006/main">
            <a:off x="838200" y="50958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左支点回り：R_B L − F(L/2) = 0</a:t>
            </a:r>
          </a:p>
        </p:txBody>
      </p:sp>
      <p:sp>
        <p:nvSpPr>
          <p:cNvPr id="22" name="">
            <a:extLst xmlns:a="http://schemas.openxmlformats.org/drawingml/2006/main">
              <a:ext uri="{FF2B5EF4-FFF2-40B4-BE49-F238E27FC236}">
                <a16:creationId xmlns:a16="http://schemas.microsoft.com/office/drawing/2014/main" id="{F37F1A12-B594-43B3-857A-9AF0F5F0AA94}"/>
              </a:ext>
            </a:extLst>
          </p:cNvPr>
          <p:cNvSpPr>
            <a:spLocks xmlns:a="http://schemas.openxmlformats.org/drawingml/2006/main" noGrp="1"/>
          </p:cNvSpPr>
          <p:nvPr/>
        </p:nvSpPr>
        <p:spPr>
          <a:xfrm xmlns:a="http://schemas.openxmlformats.org/drawingml/2006/main">
            <a:off x="838200" y="55530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R_B = F/2 → R_A = F/2</a:t>
            </a:r>
          </a:p>
        </p:txBody>
      </p:sp>
    </p:spTree>
    <p:extLst>
      <p:ext uri="{BB962C8B-B14F-4D97-AF65-F5344CB8AC3E}">
        <p14:creationId xmlns:p14="http://schemas.microsoft.com/office/powerpoint/2010/main" val="9483891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EBF942-37C3-42D2-884A-04F6CF172AF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単純支持ばりの計算手順</a:t>
            </a:r>
          </a:p>
        </p:txBody>
      </p:sp>
      <p:cxnSp>
        <p:nvCxnSpPr>
          <p:cNvPr id="2" name="">
            <a:extLst xmlns:a="http://schemas.openxmlformats.org/drawingml/2006/main">
              <a:ext uri="{FF2B5EF4-FFF2-40B4-BE49-F238E27FC236}">
                <a16:creationId xmlns:a16="http://schemas.microsoft.com/office/drawing/2014/main" id="{262B67E9-8386-4D4E-9E22-A1D3127D766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EA808FF-4FD1-45BA-B5D9-04DD1C89F13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4CD396DF-CADB-4801-B799-2D054D6A6BA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F0843DEA-0100-49E3-9CD5-94E30148FC97}"/>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鉛直の力のつりあい：R_A＋R_B＝F</a:t>
            </a:r>
          </a:p>
        </p:txBody>
      </p:sp>
      <p:sp>
        <p:nvSpPr>
          <p:cNvPr id="6" name="">
            <a:extLst xmlns:a="http://schemas.openxmlformats.org/drawingml/2006/main">
              <a:ext uri="{FF2B5EF4-FFF2-40B4-BE49-F238E27FC236}">
                <a16:creationId xmlns:a16="http://schemas.microsoft.com/office/drawing/2014/main" id="{2BEAD468-9207-40E3-958F-068ED782C566}"/>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左支点回りのモーメント：R_B L−F L/2＝0。R_A＝R_B＝F/2</a:t>
            </a:r>
          </a:p>
        </p:txBody>
      </p:sp>
      <p:sp>
        <p:nvSpPr>
          <p:cNvPr id="7" name="">
            <a:extLst xmlns:a="http://schemas.openxmlformats.org/drawingml/2006/main">
              <a:ext uri="{FF2B5EF4-FFF2-40B4-BE49-F238E27FC236}">
                <a16:creationId xmlns:a16="http://schemas.microsoft.com/office/drawing/2014/main" id="{838B6DB8-6F59-4249-B734-AC4315BAD3F3}"/>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中央断面の曲げモーメントはM最大＝(F/2)(L/2)＝FL/4</a:t>
            </a:r>
          </a:p>
        </p:txBody>
      </p:sp>
      <p:sp>
        <p:nvSpPr>
          <p:cNvPr id="8" name="">
            <a:extLst xmlns:a="http://schemas.openxmlformats.org/drawingml/2006/main">
              <a:ext uri="{FF2B5EF4-FFF2-40B4-BE49-F238E27FC236}">
                <a16:creationId xmlns:a16="http://schemas.microsoft.com/office/drawing/2014/main" id="{A20F004B-1FAA-4D0F-8847-388E9F2248B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長方形断面ではI＝bh³/12、Z＝bh²/6</a:t>
            </a:r>
          </a:p>
        </p:txBody>
      </p:sp>
      <p:sp>
        <p:nvSpPr>
          <p:cNvPr id="9" name="">
            <a:extLst xmlns:a="http://schemas.openxmlformats.org/drawingml/2006/main">
              <a:ext uri="{FF2B5EF4-FFF2-40B4-BE49-F238E27FC236}">
                <a16:creationId xmlns:a16="http://schemas.microsoft.com/office/drawing/2014/main" id="{38F4FA42-7474-45CF-9A90-A80D3A39CE0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最大曲げ応力はσ最大＝M最大/Z、中央たわみはδ＝FL³/(48EI)</a:t>
            </a:r>
          </a:p>
        </p:txBody>
      </p:sp>
      <p:sp>
        <p:nvSpPr>
          <p:cNvPr id="10" name="">
            <a:extLst xmlns:a="http://schemas.openxmlformats.org/drawingml/2006/main">
              <a:ext uri="{FF2B5EF4-FFF2-40B4-BE49-F238E27FC236}">
                <a16:creationId xmlns:a16="http://schemas.microsoft.com/office/drawing/2014/main" id="{2FF16763-2F2D-45A7-B47E-03592E720809}"/>
              </a:ext>
            </a:extLst>
          </p:cNvPr>
          <p:cNvSpPr>
            <a:spLocks xmlns:a="http://schemas.openxmlformats.org/drawingml/2006/main" noGrp="1"/>
          </p:cNvSpPr>
          <p:nvPr/>
        </p:nvSpPr>
        <p:spPr>
          <a:xfrm xmlns:a="http://schemas.openxmlformats.org/drawingml/2006/main">
            <a:off x="685800" y="5476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N・mm・N/mm²を用いると、応力はMPa、たわみはmmで求まる</a:t>
            </a:r>
          </a:p>
        </p:txBody>
      </p:sp>
    </p:spTree>
    <p:extLst>
      <p:ext uri="{BB962C8B-B14F-4D97-AF65-F5344CB8AC3E}">
        <p14:creationId xmlns:p14="http://schemas.microsoft.com/office/powerpoint/2010/main" val="14379829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6330559-4218-4CEA-A626-8BFD8876F1F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断面のA・I・Z</a:t>
            </a:r>
          </a:p>
        </p:txBody>
      </p:sp>
      <p:sp>
        <p:nvSpPr>
          <p:cNvPr id="2" name="">
            <a:extLst xmlns:a="http://schemas.openxmlformats.org/drawingml/2006/main">
              <a:ext uri="{FF2B5EF4-FFF2-40B4-BE49-F238E27FC236}">
                <a16:creationId xmlns:a16="http://schemas.microsoft.com/office/drawing/2014/main" id="{046E7832-8D43-47C3-AC07-ABE954D0600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912DCE-FA85-4295-9FBB-B458612C60F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619DE82A-CBB6-44F2-93F8-6D42C397654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601332BE-AFF3-4585-AFBE-79F30331FC29}"/>
              </a:ext>
            </a:extLst>
          </p:cNvPr>
          <p:cNvSpPr>
            <a:spLocks xmlns:a="http://schemas.openxmlformats.org/drawingml/2006/main" noGrp="1"/>
          </p:cNvSpPr>
          <p:nvPr/>
        </p:nvSpPr>
        <p:spPr>
          <a:xfrm xmlns:a="http://schemas.openxmlformats.org/drawingml/2006/main">
            <a:off x="1619250" y="1905000"/>
            <a:ext cx="2381250" cy="1428750"/>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31B85DE7-D5FA-4A4E-A48D-BE334F73FCEE}"/>
              </a:ext>
            </a:extLst>
          </p:cNvPr>
          <p:cNvSpPr>
            <a:spLocks xmlns:a="http://schemas.openxmlformats.org/drawingml/2006/main" noGrp="1"/>
          </p:cNvSpPr>
          <p:nvPr/>
        </p:nvSpPr>
        <p:spPr>
          <a:xfrm xmlns:a="http://schemas.openxmlformats.org/drawingml/2006/main">
            <a:off x="1381125" y="2619375"/>
            <a:ext cx="2733675" cy="9525"/>
          </a:xfrm>
          <a:custGeom xmlns:a="http://schemas.openxmlformats.org/drawingml/2006/main">
            <a:pathLst>
              <a:path w="2733675" h="9525">
                <a:moveTo>
                  <a:pt x="0" y="0"/>
                </a:moveTo>
                <a:lnTo>
                  <a:pt x="2733675" y="0"/>
                </a:lnTo>
              </a:path>
            </a:pathLst>
          </a:custGeom>
          <a:noFill xmlns:a="http://schemas.openxmlformats.org/drawingml/2006/main"/>
          <a:ln xmlns:a="http://schemas.openxmlformats.org/drawingml/2006/main" w="19050">
            <a:solidFill>
              <a:srgbClr val="087E8B"/>
            </a:solidFill>
          </a:ln>
        </p:spPr>
      </p:sp>
      <p:sp>
        <p:nvSpPr>
          <p:cNvPr id="7" name="">
            <a:extLst xmlns:a="http://schemas.openxmlformats.org/drawingml/2006/main">
              <a:ext uri="{FF2B5EF4-FFF2-40B4-BE49-F238E27FC236}">
                <a16:creationId xmlns:a16="http://schemas.microsoft.com/office/drawing/2014/main" id="{831A699A-2A35-4DA5-8FE5-E06FF860B97D}"/>
              </a:ext>
            </a:extLst>
          </p:cNvPr>
          <p:cNvSpPr>
            <a:spLocks xmlns:a="http://schemas.openxmlformats.org/drawingml/2006/main" noGrp="1"/>
          </p:cNvSpPr>
          <p:nvPr/>
        </p:nvSpPr>
        <p:spPr>
          <a:xfrm xmlns:a="http://schemas.openxmlformats.org/drawingml/2006/main">
            <a:off x="4210050" y="190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8" name="">
            <a:extLst xmlns:a="http://schemas.openxmlformats.org/drawingml/2006/main">
              <a:ext uri="{FF2B5EF4-FFF2-40B4-BE49-F238E27FC236}">
                <a16:creationId xmlns:a16="http://schemas.microsoft.com/office/drawing/2014/main" id="{F234592D-FC79-4A8C-A5C2-F6167EB76AFA}"/>
              </a:ext>
            </a:extLst>
          </p:cNvPr>
          <p:cNvSpPr>
            <a:spLocks xmlns:a="http://schemas.openxmlformats.org/drawingml/2006/main" noGrp="1"/>
          </p:cNvSpPr>
          <p:nvPr/>
        </p:nvSpPr>
        <p:spPr>
          <a:xfrm xmlns:a="http://schemas.openxmlformats.org/drawingml/2006/main">
            <a:off x="4210050" y="3333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9" name="">
            <a:extLst xmlns:a="http://schemas.openxmlformats.org/drawingml/2006/main">
              <a:ext uri="{FF2B5EF4-FFF2-40B4-BE49-F238E27FC236}">
                <a16:creationId xmlns:a16="http://schemas.microsoft.com/office/drawing/2014/main" id="{E93C229F-DC0C-4144-AE3F-A57C75490F51}"/>
              </a:ext>
            </a:extLst>
          </p:cNvPr>
          <p:cNvSpPr>
            <a:spLocks xmlns:a="http://schemas.openxmlformats.org/drawingml/2006/main" noGrp="1"/>
          </p:cNvSpPr>
          <p:nvPr/>
        </p:nvSpPr>
        <p:spPr>
          <a:xfrm xmlns:a="http://schemas.openxmlformats.org/drawingml/2006/main">
            <a:off x="4305300" y="1905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19050">
            <a:solidFill>
              <a:srgbClr val="18364F"/>
            </a:solidFill>
          </a:ln>
        </p:spPr>
      </p:sp>
      <p:sp>
        <p:nvSpPr>
          <p:cNvPr id="10" name="">
            <a:extLst xmlns:a="http://schemas.openxmlformats.org/drawingml/2006/main">
              <a:ext uri="{FF2B5EF4-FFF2-40B4-BE49-F238E27FC236}">
                <a16:creationId xmlns:a16="http://schemas.microsoft.com/office/drawing/2014/main" id="{3C802497-D305-4304-88CA-03177C7F829F}"/>
              </a:ext>
            </a:extLst>
          </p:cNvPr>
          <p:cNvSpPr>
            <a:spLocks xmlns:a="http://schemas.openxmlformats.org/drawingml/2006/main" noGrp="1"/>
          </p:cNvSpPr>
          <p:nvPr/>
        </p:nvSpPr>
        <p:spPr>
          <a:xfrm xmlns:a="http://schemas.openxmlformats.org/drawingml/2006/main">
            <a:off x="4251440" y="1905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9E448592-B562-4072-9908-0C4A850222C6}"/>
              </a:ext>
            </a:extLst>
          </p:cNvPr>
          <p:cNvSpPr>
            <a:spLocks xmlns:a="http://schemas.openxmlformats.org/drawingml/2006/main" noGrp="1"/>
          </p:cNvSpPr>
          <p:nvPr/>
        </p:nvSpPr>
        <p:spPr>
          <a:xfrm xmlns:a="http://schemas.openxmlformats.org/drawingml/2006/main">
            <a:off x="4305300" y="2619375"/>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0F430109-B781-4936-9B12-E010B1B0689C}"/>
              </a:ext>
            </a:extLst>
          </p:cNvPr>
          <p:cNvSpPr>
            <a:spLocks xmlns:a="http://schemas.openxmlformats.org/drawingml/2006/main" noGrp="1"/>
          </p:cNvSpPr>
          <p:nvPr/>
        </p:nvSpPr>
        <p:spPr>
          <a:xfrm xmlns:a="http://schemas.openxmlformats.org/drawingml/2006/main">
            <a:off x="4251440" y="322225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13" name="">
            <a:extLst xmlns:a="http://schemas.openxmlformats.org/drawingml/2006/main">
              <a:ext uri="{FF2B5EF4-FFF2-40B4-BE49-F238E27FC236}">
                <a16:creationId xmlns:a16="http://schemas.microsoft.com/office/drawing/2014/main" id="{259AC628-CDC0-4410-A032-11B9F38E7838}"/>
              </a:ext>
            </a:extLst>
          </p:cNvPr>
          <p:cNvSpPr>
            <a:spLocks xmlns:a="http://schemas.openxmlformats.org/drawingml/2006/main" noGrp="1"/>
          </p:cNvSpPr>
          <p:nvPr/>
        </p:nvSpPr>
        <p:spPr>
          <a:xfrm xmlns:a="http://schemas.openxmlformats.org/drawingml/2006/main">
            <a:off x="1543050" y="35623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defRPr sz="1950" b="1">
                <a:solidFill>
                  <a:srgbClr val="18364F"/>
                </a:solidFill>
                <a:latin typeface="Yu Gothic"/>
                <a:ea typeface="Yu Gothic"/>
                <a:cs typeface="Yu Gothic"/>
              </a:defRPr>
            </a:lvl1pPr>
            <a:lvl2pPr>
              <a:defRPr sz="1950" b="1">
                <a:solidFill>
                  <a:srgbClr val="18364F"/>
                </a:solidFill>
                <a:latin typeface="Yu Gothic"/>
                <a:ea typeface="Yu Gothic"/>
                <a:cs typeface="Yu Gothic"/>
              </a:defRPr>
            </a:lvl2pPr>
            <a:lvl3pPr>
              <a:defRPr sz="1950" b="1">
                <a:solidFill>
                  <a:srgbClr val="18364F"/>
                </a:solidFill>
                <a:latin typeface="Yu Gothic"/>
                <a:ea typeface="Yu Gothic"/>
                <a:cs typeface="Yu Gothic"/>
              </a:defRPr>
            </a:lvl3pPr>
            <a:lvl4pPr>
              <a:defRPr sz="1950" b="1">
                <a:solidFill>
                  <a:srgbClr val="18364F"/>
                </a:solidFill>
                <a:latin typeface="Yu Gothic"/>
                <a:ea typeface="Yu Gothic"/>
                <a:cs typeface="Yu Gothic"/>
              </a:defRPr>
            </a:lvl4pPr>
            <a:lvl5pPr>
              <a:defRPr sz="1950" b="1">
                <a:solidFill>
                  <a:srgbClr val="18364F"/>
                </a:solidFill>
                <a:latin typeface="Yu Gothic"/>
                <a:ea typeface="Yu Gothic"/>
                <a:cs typeface="Yu Gothic"/>
              </a:defRPr>
            </a:lvl5pPr>
            <a:lvl6pPr>
              <a:defRPr sz="1950" b="1">
                <a:solidFill>
                  <a:srgbClr val="18364F"/>
                </a:solidFill>
                <a:latin typeface="Yu Gothic"/>
                <a:ea typeface="Yu Gothic"/>
                <a:cs typeface="Yu Gothic"/>
              </a:defRPr>
            </a:lvl6pPr>
            <a:lvl7pPr>
              <a:defRPr sz="1950" b="1">
                <a:solidFill>
                  <a:srgbClr val="18364F"/>
                </a:solidFill>
                <a:latin typeface="Yu Gothic"/>
                <a:ea typeface="Yu Gothic"/>
                <a:cs typeface="Yu Gothic"/>
              </a:defRPr>
            </a:lvl7pPr>
            <a:lvl8pPr>
              <a:defRPr sz="1950" b="1">
                <a:solidFill>
                  <a:srgbClr val="18364F"/>
                </a:solidFill>
                <a:latin typeface="Yu Gothic"/>
                <a:ea typeface="Yu Gothic"/>
                <a:cs typeface="Yu Gothic"/>
              </a:defRPr>
            </a:lvl8pPr>
            <a:lvl9pPr>
              <a:defRPr sz="1950" b="1">
                <a:solidFill>
                  <a:srgbClr val="18364F"/>
                </a:solidFill>
                <a:latin typeface="Yu Gothic"/>
                <a:ea typeface="Yu Gothic"/>
                <a:cs typeface="Yu Gothic"/>
              </a:defRPr>
            </a:lvl9pPr>
          </a:lstStyle>
          <a:p xmlns:a="http://schemas.openxmlformats.org/drawingml/2006/main">
            <a:pPr>
              <a:defRPr sz="1950" b="1">
                <a:solidFill>
                  <a:srgbClr val="18364F"/>
                </a:solidFill>
                <a:latin typeface="Yu Gothic"/>
                <a:ea typeface="Yu Gothic"/>
                <a:cs typeface="Yu Gothic"/>
              </a:defRPr>
            </a:pPr>
            <a:r>
              <a:rPr sz="1950" b="1">
                <a:solidFill>
                  <a:srgbClr val="18364F"/>
                </a:solidFill>
                <a:latin typeface="Yu Gothic"/>
                <a:ea typeface="Yu Gothic"/>
                <a:cs typeface="Yu Gothic"/>
              </a:rPr>
              <a:t>長方形：中心を通る軸の回り</a:t>
            </a:r>
          </a:p>
        </p:txBody>
      </p:sp>
      <p:sp>
        <p:nvSpPr>
          <p:cNvPr id="14" name="">
            <a:extLst xmlns:a="http://schemas.openxmlformats.org/drawingml/2006/main">
              <a:ext uri="{FF2B5EF4-FFF2-40B4-BE49-F238E27FC236}">
                <a16:creationId xmlns:a16="http://schemas.microsoft.com/office/drawing/2014/main" id="{19F47A23-FBAB-43CB-B5BA-A421D51DA9AC}"/>
              </a:ext>
            </a:extLst>
          </p:cNvPr>
          <p:cNvSpPr>
            <a:spLocks xmlns:a="http://schemas.openxmlformats.org/drawingml/2006/main" noGrp="1"/>
          </p:cNvSpPr>
          <p:nvPr/>
        </p:nvSpPr>
        <p:spPr>
          <a:xfrm xmlns:a="http://schemas.openxmlformats.org/drawingml/2006/main">
            <a:off x="2714625" y="401002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A6196C59-5B14-467D-A4F8-2654A62E57EC}"/>
              </a:ext>
            </a:extLst>
          </p:cNvPr>
          <p:cNvSpPr>
            <a:spLocks xmlns:a="http://schemas.openxmlformats.org/drawingml/2006/main" noGrp="1"/>
          </p:cNvSpPr>
          <p:nvPr/>
        </p:nvSpPr>
        <p:spPr>
          <a:xfrm xmlns:a="http://schemas.openxmlformats.org/drawingml/2006/main">
            <a:off x="4457700" y="24574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16" name="">
            <a:extLst xmlns:a="http://schemas.openxmlformats.org/drawingml/2006/main">
              <a:ext uri="{FF2B5EF4-FFF2-40B4-BE49-F238E27FC236}">
                <a16:creationId xmlns:a16="http://schemas.microsoft.com/office/drawing/2014/main" id="{93C8C79C-7314-4A24-B63A-69BE4BE12220}"/>
              </a:ext>
            </a:extLst>
          </p:cNvPr>
          <p:cNvSpPr>
            <a:spLocks xmlns:a="http://schemas.openxmlformats.org/drawingml/2006/main" noGrp="1"/>
          </p:cNvSpPr>
          <p:nvPr/>
        </p:nvSpPr>
        <p:spPr>
          <a:xfrm xmlns:a="http://schemas.openxmlformats.org/drawingml/2006/main">
            <a:off x="838200" y="4667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断面積：A = bh　[mm²]</a:t>
            </a:r>
          </a:p>
        </p:txBody>
      </p:sp>
      <p:sp>
        <p:nvSpPr>
          <p:cNvPr id="17" name="">
            <a:extLst xmlns:a="http://schemas.openxmlformats.org/drawingml/2006/main">
              <a:ext uri="{FF2B5EF4-FFF2-40B4-BE49-F238E27FC236}">
                <a16:creationId xmlns:a16="http://schemas.microsoft.com/office/drawing/2014/main" id="{8418AF5A-887E-4751-94FC-AC0AD3756AD4}"/>
              </a:ext>
            </a:extLst>
          </p:cNvPr>
          <p:cNvSpPr>
            <a:spLocks xmlns:a="http://schemas.openxmlformats.org/drawingml/2006/main" noGrp="1"/>
          </p:cNvSpPr>
          <p:nvPr/>
        </p:nvSpPr>
        <p:spPr>
          <a:xfrm xmlns:a="http://schemas.openxmlformats.org/drawingml/2006/main">
            <a:off x="838200" y="5124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断面二次モーメント：I = bh³/12　[mm⁴]</a:t>
            </a:r>
          </a:p>
        </p:txBody>
      </p:sp>
      <p:sp>
        <p:nvSpPr>
          <p:cNvPr id="18" name="">
            <a:extLst xmlns:a="http://schemas.openxmlformats.org/drawingml/2006/main">
              <a:ext uri="{FF2B5EF4-FFF2-40B4-BE49-F238E27FC236}">
                <a16:creationId xmlns:a16="http://schemas.microsoft.com/office/drawing/2014/main" id="{A0321CF9-B440-4F64-93AE-4AAB70BD9500}"/>
              </a:ext>
            </a:extLst>
          </p:cNvPr>
          <p:cNvSpPr>
            <a:spLocks xmlns:a="http://schemas.openxmlformats.org/drawingml/2006/main" noGrp="1"/>
          </p:cNvSpPr>
          <p:nvPr/>
        </p:nvSpPr>
        <p:spPr>
          <a:xfrm xmlns:a="http://schemas.openxmlformats.org/drawingml/2006/main">
            <a:off x="838200" y="5581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断面係数：Z = I/(h/2) = bh²/6　[mm³]</a:t>
            </a:r>
          </a:p>
        </p:txBody>
      </p:sp>
      <p:sp>
        <p:nvSpPr>
          <p:cNvPr id="19" name="">
            <a:extLst xmlns:a="http://schemas.openxmlformats.org/drawingml/2006/main">
              <a:ext uri="{FF2B5EF4-FFF2-40B4-BE49-F238E27FC236}">
                <a16:creationId xmlns:a16="http://schemas.microsoft.com/office/drawing/2014/main" id="{8F9AC359-83E8-4433-BB28-8130F486E852}"/>
              </a:ext>
            </a:extLst>
          </p:cNvPr>
          <p:cNvSpPr>
            <a:spLocks xmlns:a="http://schemas.openxmlformats.org/drawingml/2006/main" noGrp="1"/>
          </p:cNvSpPr>
          <p:nvPr/>
        </p:nvSpPr>
        <p:spPr>
          <a:xfrm xmlns:a="http://schemas.openxmlformats.org/drawingml/2006/main">
            <a:off x="4667250" y="2457450"/>
            <a:ext cx="190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中立軸</a:t>
            </a:r>
          </a:p>
        </p:txBody>
      </p:sp>
    </p:spTree>
    <p:extLst>
      <p:ext uri="{BB962C8B-B14F-4D97-AF65-F5344CB8AC3E}">
        <p14:creationId xmlns:p14="http://schemas.microsoft.com/office/powerpoint/2010/main" val="2934854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A83B9D-FD53-4C69-BF47-B7804D871AF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物性表を読むための条件</a:t>
            </a:r>
          </a:p>
        </p:txBody>
      </p:sp>
      <p:cxnSp>
        <p:nvCxnSpPr>
          <p:cNvPr id="2" name="">
            <a:extLst xmlns:a="http://schemas.openxmlformats.org/drawingml/2006/main">
              <a:ext uri="{FF2B5EF4-FFF2-40B4-BE49-F238E27FC236}">
                <a16:creationId xmlns:a16="http://schemas.microsoft.com/office/drawing/2014/main" id="{14788201-FE1F-434D-87E7-1C419D5016E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C89DFA5-BA55-47A7-A439-932F037E995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2B97D1E1-7B46-4DFE-9164-EBE4AAB6775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8A6A4A21-AD25-4061-9CCB-431DD0153312}"/>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樹種・産地と、繊維に対する荷重方向を確認する</a:t>
            </a:r>
          </a:p>
        </p:txBody>
      </p:sp>
      <p:sp>
        <p:nvSpPr>
          <p:cNvPr id="6" name="">
            <a:extLst xmlns:a="http://schemas.openxmlformats.org/drawingml/2006/main">
              <a:ext uri="{FF2B5EF4-FFF2-40B4-BE49-F238E27FC236}">
                <a16:creationId xmlns:a16="http://schemas.microsoft.com/office/drawing/2014/main" id="{80E39E47-6133-4961-BCC7-F1FB35CCA117}"/>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含水率、温度、荷重速度、試験方法を確認する</a:t>
            </a:r>
          </a:p>
        </p:txBody>
      </p:sp>
      <p:sp>
        <p:nvSpPr>
          <p:cNvPr id="7" name="">
            <a:extLst xmlns:a="http://schemas.openxmlformats.org/drawingml/2006/main">
              <a:ext uri="{FF2B5EF4-FFF2-40B4-BE49-F238E27FC236}">
                <a16:creationId xmlns:a16="http://schemas.microsoft.com/office/drawing/2014/main" id="{0090999F-075F-4C3C-ADE8-670E42EA343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小さな無欠点試験片の平均値か、節を含む実大材の値かを区別する</a:t>
            </a:r>
          </a:p>
        </p:txBody>
      </p:sp>
      <p:sp>
        <p:nvSpPr>
          <p:cNvPr id="8" name="">
            <a:extLst xmlns:a="http://schemas.openxmlformats.org/drawingml/2006/main">
              <a:ext uri="{FF2B5EF4-FFF2-40B4-BE49-F238E27FC236}">
                <a16:creationId xmlns:a16="http://schemas.microsoft.com/office/drawing/2014/main" id="{20E8DF02-87C8-4D57-A03C-9305B12DA2D0}"/>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Eの測定も、静的曲げ・軸方向試験・振動法で意味や評価条件が異なる</a:t>
            </a:r>
          </a:p>
        </p:txBody>
      </p:sp>
      <p:sp>
        <p:nvSpPr>
          <p:cNvPr id="9" name="">
            <a:extLst xmlns:a="http://schemas.openxmlformats.org/drawingml/2006/main">
              <a:ext uri="{FF2B5EF4-FFF2-40B4-BE49-F238E27FC236}">
                <a16:creationId xmlns:a16="http://schemas.microsoft.com/office/drawing/2014/main" id="{99A72BF0-8EA1-4F4B-8E8F-0B11C7D5167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平均的な破壊試験値と、構造設計で用いる値を区別する</a:t>
            </a:r>
          </a:p>
        </p:txBody>
      </p:sp>
    </p:spTree>
    <p:extLst>
      <p:ext uri="{BB962C8B-B14F-4D97-AF65-F5344CB8AC3E}">
        <p14:creationId xmlns:p14="http://schemas.microsoft.com/office/powerpoint/2010/main" val="17517705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03DEAC-9A50-47BB-AD93-37EE830B521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895908FA-C944-4EDD-A4F0-EF838F92121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7BEFB56-4D7A-4842-BBF1-D637C5E903E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94CE859E-FF1F-4A61-8C5F-DF831ED3419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graphicFrame>
        <p:nvGraphicFramePr>
          <p:cNvPr id="5" name="">
            <a:extLst xmlns:a="http://schemas.openxmlformats.org/drawingml/2006/main">
              <a:ext uri="{FF2B5EF4-FFF2-40B4-BE49-F238E27FC236}">
                <a16:creationId xmlns:a16="http://schemas.microsoft.com/office/drawing/2014/main" id="{08B80939-812D-4749-8641-CAC62B3A00D9}"/>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869156">
                <a:tc>
                  <a:txBody>
                    <a:bodyPr lIns="95250" tIns="95250" rIns="95250" bIns="95250"/>
                    <a:lstStyle/>
                    <a:p>
                      <a:r>
                        <a:rPr sz="1800" b="1">
                          <a:solidFill>
                            <a:srgbClr val="FFFFFF"/>
                          </a:solidFill>
                          <a:latin typeface="Yu Gothic"/>
                          <a:ea typeface="Yu Gothic"/>
                          <a:cs typeface="Yu Gothic"/>
                        </a:rPr>
                        <a:t>樹種・米国データ</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曲げE / MPa</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曲げ強さ / MPa</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869156">
                <a:tc>
                  <a:txBody>
                    <a:bodyPr lIns="95250" tIns="95250" rIns="95250" bIns="95250"/>
                    <a:lstStyle/>
                    <a:p>
                      <a:r>
                        <a:rPr sz="1800" b="0">
                          <a:solidFill>
                            <a:srgbClr val="253C4D"/>
                          </a:solidFill>
                          <a:latin typeface="Yu Gothic"/>
                          <a:ea typeface="Yu Gothic"/>
                          <a:cs typeface="Yu Gothic"/>
                        </a:rPr>
                        <a:t>Douglas-fir（Coast）</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13,400</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85.0</a:t>
                      </a:r>
                    </a:p>
                  </a:txBody>
                  <a:tcPr marL="91440" marR="91440" marT="45720" marB="45720" anchor="ctr">
                    <a:lnR w="9525">
                      <a:solidFill>
                        <a:srgbClr val="C8D3DD"/>
                      </a:solidFill>
                    </a:lnR>
                    <a:lnB w="9525">
                      <a:solidFill>
                        <a:srgbClr val="C8D3DD"/>
                      </a:solidFill>
                    </a:lnB>
                    <a:solidFill>
                      <a:srgbClr val="EDF2F6"/>
                    </a:solidFill>
                  </a:tcPr>
                </a:tc>
              </a:tr>
              <a:tr h="869156">
                <a:tc>
                  <a:txBody>
                    <a:bodyPr lIns="95250" tIns="95250" rIns="95250" bIns="95250"/>
                    <a:lstStyle/>
                    <a:p>
                      <a:r>
                        <a:rPr sz="1800" b="0">
                          <a:solidFill>
                            <a:srgbClr val="253C4D"/>
                          </a:solidFill>
                          <a:latin typeface="Yu Gothic"/>
                          <a:ea typeface="Yu Gothic"/>
                          <a:cs typeface="Yu Gothic"/>
                        </a:rPr>
                        <a:t>Sitka spruce</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10,800</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70.0</a:t>
                      </a:r>
                    </a:p>
                  </a:txBody>
                  <a:tcPr marL="91440" marR="91440" marT="45720" marB="45720" anchor="ctr">
                    <a:lnR w="9525">
                      <a:solidFill>
                        <a:srgbClr val="C8D3DD"/>
                      </a:solidFill>
                    </a:lnR>
                    <a:lnB w="9525">
                      <a:solidFill>
                        <a:srgbClr val="C8D3DD"/>
                      </a:solidFill>
                    </a:lnB>
                    <a:solidFill>
                      <a:srgbClr val="FFFFFF"/>
                    </a:solidFill>
                  </a:tcPr>
                </a:tc>
              </a:tr>
              <a:tr h="869156">
                <a:tc>
                  <a:txBody>
                    <a:bodyPr lIns="95250" tIns="95250" rIns="95250" bIns="95250"/>
                    <a:lstStyle/>
                    <a:p>
                      <a:r>
                        <a:rPr sz="1800" b="0">
                          <a:solidFill>
                            <a:srgbClr val="253C4D"/>
                          </a:solidFill>
                          <a:latin typeface="Yu Gothic"/>
                          <a:ea typeface="Yu Gothic"/>
                          <a:cs typeface="Yu Gothic"/>
                        </a:rPr>
                        <a:t>条件</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含水率12％</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無欠点小試験片の代表値</a:t>
                      </a:r>
                    </a:p>
                  </a:txBody>
                  <a:tcPr marL="91440" marR="91440" marT="45720" marB="45720" anchor="ctr">
                    <a:lnR w="9525">
                      <a:solidFill>
                        <a:srgbClr val="C8D3DD"/>
                      </a:solidFill>
                    </a:lnR>
                    <a:lnB w="9525">
                      <a:solidFill>
                        <a:srgbClr val="C8D3DD"/>
                      </a:solidFill>
                    </a:lnB>
                    <a:solidFill>
                      <a:srgbClr val="EDF2F6"/>
                    </a:solidFill>
                  </a:tcPr>
                </a:tc>
              </a:tr>
            </a:tbl>
          </a:graphicData>
        </a:graphic>
      </p:graphicFrame>
      <p:sp>
        <p:nvSpPr>
          <p:cNvPr id="6" name="">
            <a:extLst xmlns:a="http://schemas.openxmlformats.org/drawingml/2006/main">
              <a:ext uri="{FF2B5EF4-FFF2-40B4-BE49-F238E27FC236}">
                <a16:creationId xmlns:a16="http://schemas.microsoft.com/office/drawing/2014/main" id="{625C10CF-194D-43EF-893C-9C1AC2EFF32D}"/>
              </a:ext>
            </a:extLst>
          </p:cNvPr>
          <p:cNvSpPr>
            <a:spLocks xmlns:a="http://schemas.openxmlformats.org/drawingml/2006/main" noGrp="1"/>
          </p:cNvSpPr>
          <p:nvPr/>
        </p:nvSpPr>
        <p:spPr>
          <a:xfrm xmlns:a="http://schemas.openxmlformats.org/drawingml/2006/main">
            <a:off x="685800" y="58293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D6C78"/>
                </a:solidFill>
                <a:latin typeface="Yu Gothic"/>
                <a:ea typeface="Yu Gothic"/>
                <a:cs typeface="Yu Gothic"/>
              </a:defRPr>
            </a:defPPr>
            <a:lvl1pPr algn="l">
              <a:buNone/>
              <a:defRPr sz="1800" b="0">
                <a:solidFill>
                  <a:srgbClr val="5D6C78"/>
                </a:solidFill>
                <a:latin typeface="Yu Gothic"/>
                <a:ea typeface="Yu Gothic"/>
                <a:cs typeface="Yu Gothic"/>
              </a:defRPr>
            </a:lvl1pPr>
            <a:lvl2pPr algn="l">
              <a:buNone/>
              <a:defRPr sz="1800" b="0">
                <a:solidFill>
                  <a:srgbClr val="5D6C78"/>
                </a:solidFill>
                <a:latin typeface="Yu Gothic"/>
                <a:ea typeface="Yu Gothic"/>
                <a:cs typeface="Yu Gothic"/>
              </a:defRPr>
            </a:lvl2pPr>
            <a:lvl3pPr algn="l">
              <a:buNone/>
              <a:defRPr sz="1800" b="0">
                <a:solidFill>
                  <a:srgbClr val="5D6C78"/>
                </a:solidFill>
                <a:latin typeface="Yu Gothic"/>
                <a:ea typeface="Yu Gothic"/>
                <a:cs typeface="Yu Gothic"/>
              </a:defRPr>
            </a:lvl3pPr>
            <a:lvl4pPr algn="l">
              <a:buNone/>
              <a:defRPr sz="1800" b="0">
                <a:solidFill>
                  <a:srgbClr val="5D6C78"/>
                </a:solidFill>
                <a:latin typeface="Yu Gothic"/>
                <a:ea typeface="Yu Gothic"/>
                <a:cs typeface="Yu Gothic"/>
              </a:defRPr>
            </a:lvl4pPr>
            <a:lvl5pPr algn="l">
              <a:buNone/>
              <a:defRPr sz="1800" b="0">
                <a:solidFill>
                  <a:srgbClr val="5D6C78"/>
                </a:solidFill>
                <a:latin typeface="Yu Gothic"/>
                <a:ea typeface="Yu Gothic"/>
                <a:cs typeface="Yu Gothic"/>
              </a:defRPr>
            </a:lvl5pPr>
            <a:lvl6pPr algn="l">
              <a:buNone/>
              <a:defRPr sz="1800" b="0">
                <a:solidFill>
                  <a:srgbClr val="5D6C78"/>
                </a:solidFill>
                <a:latin typeface="Yu Gothic"/>
                <a:ea typeface="Yu Gothic"/>
                <a:cs typeface="Yu Gothic"/>
              </a:defRPr>
            </a:lvl6pPr>
            <a:lvl7pPr algn="l">
              <a:buNone/>
              <a:defRPr sz="1800" b="0">
                <a:solidFill>
                  <a:srgbClr val="5D6C78"/>
                </a:solidFill>
                <a:latin typeface="Yu Gothic"/>
                <a:ea typeface="Yu Gothic"/>
                <a:cs typeface="Yu Gothic"/>
              </a:defRPr>
            </a:lvl7pPr>
            <a:lvl8pPr algn="l">
              <a:buNone/>
              <a:defRPr sz="1800" b="0">
                <a:solidFill>
                  <a:srgbClr val="5D6C78"/>
                </a:solidFill>
                <a:latin typeface="Yu Gothic"/>
                <a:ea typeface="Yu Gothic"/>
                <a:cs typeface="Yu Gothic"/>
              </a:defRPr>
            </a:lvl8pPr>
            <a:lvl9pPr algn="l">
              <a:buNone/>
              <a:defRPr sz="1800" b="0">
                <a:solidFill>
                  <a:srgbClr val="5D6C78"/>
                </a:solidFill>
                <a:latin typeface="Yu Gothic"/>
                <a:ea typeface="Yu Gothic"/>
                <a:cs typeface="Yu Gothic"/>
              </a:defRPr>
            </a:lvl9pPr>
          </a:lstStyle>
          <a:p xmlns:a="http://schemas.openxmlformats.org/drawingml/2006/main">
            <a:pPr algn="l">
              <a:buNone/>
              <a:defRPr sz="1800" b="0">
                <a:solidFill>
                  <a:srgbClr val="5D6C78"/>
                </a:solidFill>
                <a:latin typeface="Yu Gothic"/>
                <a:ea typeface="Yu Gothic"/>
                <a:cs typeface="Yu Gothic"/>
              </a:defRPr>
            </a:pPr>
            <a:r>
              <a:rPr sz="1800" b="0">
                <a:solidFill>
                  <a:srgbClr val="5D6C78"/>
                </a:solidFill>
                <a:latin typeface="Yu Gothic"/>
                <a:ea typeface="Yu Gothic"/>
                <a:cs typeface="Yu Gothic"/>
              </a:rPr>
              <a:t>出典：Wood Handbook（2021）Table 5–3a。曲げEと曲げ強さ。</a:t>
            </a:r>
          </a:p>
        </p:txBody>
      </p:sp>
    </p:spTree>
    <p:extLst>
      <p:ext uri="{BB962C8B-B14F-4D97-AF65-F5344CB8AC3E}">
        <p14:creationId xmlns:p14="http://schemas.microsoft.com/office/powerpoint/2010/main" val="13071368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0677D7-A212-4BA1-8907-A42C9FE1CFA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原表の値と条件を転記する</a:t>
            </a:r>
          </a:p>
        </p:txBody>
      </p:sp>
      <p:sp>
        <p:nvSpPr>
          <p:cNvPr id="2" name="">
            <a:extLst xmlns:a="http://schemas.openxmlformats.org/drawingml/2006/main">
              <a:ext uri="{FF2B5EF4-FFF2-40B4-BE49-F238E27FC236}">
                <a16:creationId xmlns:a16="http://schemas.microsoft.com/office/drawing/2014/main" id="{74848E05-A0A0-43F3-98CE-D4A4F24839E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2499E4-035D-4741-AA6B-6FD29693ACA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351C5250-D981-4911-AC9A-BEA801E7166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27EDCB42-7346-463D-AF4B-DB48A9D727B4}"/>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原表MOR：85,000 kPa ／ 70,000 kPa</a:t>
            </a:r>
          </a:p>
        </p:txBody>
      </p:sp>
      <p:sp>
        <p:nvSpPr>
          <p:cNvPr id="6" name="">
            <a:extLst xmlns:a="http://schemas.openxmlformats.org/drawingml/2006/main">
              <a:ext uri="{FF2B5EF4-FFF2-40B4-BE49-F238E27FC236}">
                <a16:creationId xmlns:a16="http://schemas.microsoft.com/office/drawing/2014/main" id="{8725BD32-092C-4799-9B77-BCA342CF5A4F}"/>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原表の曲げE：13,400 MPa ／ 10,800 MPa</a:t>
            </a:r>
          </a:p>
        </p:txBody>
      </p:sp>
      <p:sp>
        <p:nvSpPr>
          <p:cNvPr id="7" name="">
            <a:extLst xmlns:a="http://schemas.openxmlformats.org/drawingml/2006/main">
              <a:ext uri="{FF2B5EF4-FFF2-40B4-BE49-F238E27FC236}">
                <a16:creationId xmlns:a16="http://schemas.microsoft.com/office/drawing/2014/main" id="{707479D4-0DCA-4D8E-AC17-696ED90C85C2}"/>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列の単位、12%の行、無欠点小試験片を確認</a:t>
            </a:r>
          </a:p>
        </p:txBody>
      </p:sp>
      <p:sp>
        <p:nvSpPr>
          <p:cNvPr id="8" name="">
            <a:extLst xmlns:a="http://schemas.openxmlformats.org/drawingml/2006/main">
              <a:ext uri="{FF2B5EF4-FFF2-40B4-BE49-F238E27FC236}">
                <a16:creationId xmlns:a16="http://schemas.microsoft.com/office/drawing/2014/main" id="{BDEE4838-BE47-4857-9759-EBDBC59562DC}"/>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同じ含水率なら、水の質量も同じか？</a:t>
            </a:r>
          </a:p>
        </p:txBody>
      </p:sp>
    </p:spTree>
    <p:extLst>
      <p:ext uri="{BB962C8B-B14F-4D97-AF65-F5344CB8AC3E}">
        <p14:creationId xmlns:p14="http://schemas.microsoft.com/office/powerpoint/2010/main" val="15351715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1BB9C2-3C76-4602-8EF8-6AC9E6F2E50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実際の物性値と曲げ計算</a:t>
            </a:r>
          </a:p>
        </p:txBody>
      </p:sp>
      <p:cxnSp>
        <p:nvCxnSpPr>
          <p:cNvPr id="2" name="">
            <a:extLst xmlns:a="http://schemas.openxmlformats.org/drawingml/2006/main">
              <a:ext uri="{FF2B5EF4-FFF2-40B4-BE49-F238E27FC236}">
                <a16:creationId xmlns:a16="http://schemas.microsoft.com/office/drawing/2014/main" id="{5598FF78-B9DF-461A-86C4-D92607B6F2E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BB3F8E7-C76C-469B-A5D6-D9259CD64BC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D7B1ACB-BFC0-462B-B2D1-D3B8A93CD10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5578A8B9-2446-495B-AFEE-04768E4DDC4E}"/>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F = 100 N、L = 600 mm、b = 80 mm、h = 15 mm</a:t>
            </a:r>
          </a:p>
        </p:txBody>
      </p:sp>
      <p:sp>
        <p:nvSpPr>
          <p:cNvPr id="6" name="">
            <a:extLst xmlns:a="http://schemas.openxmlformats.org/drawingml/2006/main">
              <a:ext uri="{FF2B5EF4-FFF2-40B4-BE49-F238E27FC236}">
                <a16:creationId xmlns:a16="http://schemas.microsoft.com/office/drawing/2014/main" id="{12CDAA16-28C3-418C-8547-95599F5C9082}"/>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同じ断面・支え方で、表の2樹種を比べる</a:t>
            </a:r>
          </a:p>
        </p:txBody>
      </p:sp>
      <p:sp>
        <p:nvSpPr>
          <p:cNvPr id="7" name="">
            <a:extLst xmlns:a="http://schemas.openxmlformats.org/drawingml/2006/main">
              <a:ext uri="{FF2B5EF4-FFF2-40B4-BE49-F238E27FC236}">
                <a16:creationId xmlns:a16="http://schemas.microsoft.com/office/drawing/2014/main" id="{EE150B50-DF44-4C32-BB57-DE0538C64C7E}"/>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Iと最大応力を求め、たわみを計算する</a:t>
            </a:r>
          </a:p>
        </p:txBody>
      </p:sp>
      <p:sp>
        <p:nvSpPr>
          <p:cNvPr id="8" name="">
            <a:extLst xmlns:a="http://schemas.openxmlformats.org/drawingml/2006/main">
              <a:ext uri="{FF2B5EF4-FFF2-40B4-BE49-F238E27FC236}">
                <a16:creationId xmlns:a16="http://schemas.microsoft.com/office/drawing/2014/main" id="{9841E1B1-F280-4AF6-AD13-773C60362935}"/>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曲げEを使用。計算結果だけで採用を決めるか？</a:t>
            </a:r>
          </a:p>
        </p:txBody>
      </p:sp>
    </p:spTree>
    <p:extLst>
      <p:ext uri="{BB962C8B-B14F-4D97-AF65-F5344CB8AC3E}">
        <p14:creationId xmlns:p14="http://schemas.microsoft.com/office/powerpoint/2010/main" val="11627681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A02BC7-C840-4F38-8318-46054BA93F2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44EAB719-63DF-4BFB-A3E8-BEE5C88017C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C8E190-1E57-4EE7-AF80-F249A00A2A8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33E405DE-4BAB-4CB4-8921-8222239A4BC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EC854AEB-9064-41E4-9D46-039BD1AAF1CB}"/>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8ECF5E9A-6EDE-434D-967E-63E4A16CA64F}"/>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6D73FF9-ED15-4042-9ED1-9C52A04ED4D6}"/>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49DA91CE-C434-4809-A144-10084E1CF7E7}"/>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再開したら：演習1の解説　実際の物性値と曲げ計算へ進みます。</a:t>
            </a:r>
          </a:p>
        </p:txBody>
      </p:sp>
    </p:spTree>
    <p:extLst>
      <p:ext uri="{BB962C8B-B14F-4D97-AF65-F5344CB8AC3E}">
        <p14:creationId xmlns:p14="http://schemas.microsoft.com/office/powerpoint/2010/main" val="62718819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B4ECFA-275A-4C4B-8026-39074D40BA2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実際の物性値と曲げ計算</a:t>
            </a:r>
          </a:p>
        </p:txBody>
      </p:sp>
      <p:cxnSp>
        <p:nvCxnSpPr>
          <p:cNvPr id="2" name="">
            <a:extLst xmlns:a="http://schemas.openxmlformats.org/drawingml/2006/main">
              <a:ext uri="{FF2B5EF4-FFF2-40B4-BE49-F238E27FC236}">
                <a16:creationId xmlns:a16="http://schemas.microsoft.com/office/drawing/2014/main" id="{A352F5ED-EB7A-4B71-BCAB-9C9E47BB2D6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47FC6A4-BB76-4E1A-B4D0-07848EC197B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9CA5A33-8C67-479D-B107-19E820D66E5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36FD966A-98CC-492E-A30E-3F7DC4AF755A}"/>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I = 80×15³/12 = 22,500 mm⁴</a:t>
            </a:r>
          </a:p>
        </p:txBody>
      </p:sp>
      <p:sp>
        <p:nvSpPr>
          <p:cNvPr id="6" name="">
            <a:extLst xmlns:a="http://schemas.openxmlformats.org/drawingml/2006/main">
              <a:ext uri="{FF2B5EF4-FFF2-40B4-BE49-F238E27FC236}">
                <a16:creationId xmlns:a16="http://schemas.microsoft.com/office/drawing/2014/main" id="{82DF6C82-23DC-44DA-8690-E0CA48057D6C}"/>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Z = 3,000 mm³、M最大 = 15,000 N·mm</a:t>
            </a:r>
          </a:p>
        </p:txBody>
      </p:sp>
      <p:sp>
        <p:nvSpPr>
          <p:cNvPr id="7" name="">
            <a:extLst xmlns:a="http://schemas.openxmlformats.org/drawingml/2006/main">
              <a:ext uri="{FF2B5EF4-FFF2-40B4-BE49-F238E27FC236}">
                <a16:creationId xmlns:a16="http://schemas.microsoft.com/office/drawing/2014/main" id="{F13DFCCF-60E7-45B6-9447-98E1737600AB}"/>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最大応力 = 5.00 MPa。たわみは約1.49／1.85 mm</a:t>
            </a:r>
          </a:p>
        </p:txBody>
      </p:sp>
      <p:sp>
        <p:nvSpPr>
          <p:cNvPr id="8" name="">
            <a:extLst xmlns:a="http://schemas.openxmlformats.org/drawingml/2006/main">
              <a:ext uri="{FF2B5EF4-FFF2-40B4-BE49-F238E27FC236}">
                <a16:creationId xmlns:a16="http://schemas.microsoft.com/office/drawing/2014/main" id="{F6DC8DD5-76E4-456A-8BDC-21800D07E506}"/>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曲げ強さとの単純な比は、設計の安全判定にならない</a:t>
            </a:r>
          </a:p>
        </p:txBody>
      </p:sp>
    </p:spTree>
    <p:extLst>
      <p:ext uri="{BB962C8B-B14F-4D97-AF65-F5344CB8AC3E}">
        <p14:creationId xmlns:p14="http://schemas.microsoft.com/office/powerpoint/2010/main" val="15554605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EF66E5-DE87-48B8-8398-1A80502BEB4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同じ応力でも、たわみは違う</a:t>
            </a:r>
          </a:p>
        </p:txBody>
      </p:sp>
      <p:sp>
        <p:nvSpPr>
          <p:cNvPr id="2" name="">
            <a:extLst xmlns:a="http://schemas.openxmlformats.org/drawingml/2006/main">
              <a:ext uri="{FF2B5EF4-FFF2-40B4-BE49-F238E27FC236}">
                <a16:creationId xmlns:a16="http://schemas.microsoft.com/office/drawing/2014/main" id="{2CC2D895-1DCA-4718-BADF-E9BD6752EBE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6AD65A-8824-44DC-93C9-3F893FF0AFF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2D65D60B-432C-4CCC-9E3A-9C7F665CBFD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graphicFrame>
        <p:nvGraphicFramePr>
          <p:cNvPr id="5" name="">
            <a:extLst xmlns:a="http://schemas.openxmlformats.org/drawingml/2006/main">
              <a:ext uri="{FF2B5EF4-FFF2-40B4-BE49-F238E27FC236}">
                <a16:creationId xmlns:a16="http://schemas.microsoft.com/office/drawing/2014/main" id="{CD59F30C-3968-4119-A860-0785A11B4BF9}"/>
              </a:ext>
            </a:extLst>
          </p:cNvPr>
          <p:cNvGraphicFramePr/>
          <p:nvPr/>
        </p:nvGraphicFramePr>
        <p:xfrm>
          <a:off xmlns:a="http://schemas.openxmlformats.org/drawingml/2006/main" x="838200" y="2000250"/>
          <a:ext xmlns:a="http://schemas.openxmlformats.org/drawingml/2006/main" cx="10477500" cy="2857500"/>
        </p:xfrm>
        <a:graphic xmlns:a="http://schemas.openxmlformats.org/drawingml/2006/main">
          <a:graphicData uri="http://schemas.openxmlformats.org/drawingml/2006/table">
            <a:tbl>
              <a:tblPr/>
              <a:tblGrid>
                <a:gridCol w="4762500"/>
                <a:gridCol w="2857500"/>
                <a:gridCol w="2857500"/>
              </a:tblGrid>
              <a:tr h="952500">
                <a:tc>
                  <a:txBody>
                    <a:bodyPr lIns="114300" tIns="114300" rIns="114300" bIns="114300"/>
                    <a:lstStyle/>
                    <a:p>
                      <a:r>
                        <a:rPr sz="2100" b="1">
                          <a:solidFill>
                            <a:srgbClr val="FFFFFF"/>
                          </a:solidFill>
                          <a:latin typeface="Yu Gothic"/>
                          <a:ea typeface="Yu Gothic"/>
                          <a:cs typeface="Yu Gothic"/>
                        </a:rPr>
                        <a:t>材料</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σ最大 / MPa</a:t>
                      </a:r>
                    </a:p>
                  </a:txBody>
                  <a:tcPr marL="91440" marR="91440" marT="45720" marB="45720">
                    <a:solidFill>
                      <a:srgbClr val="18364F"/>
                    </a:solidFill>
                  </a:tcPr>
                </a:tc>
                <a:tc>
                  <a:txBody>
                    <a:bodyPr lIns="114300" tIns="114300" rIns="114300" bIns="114300"/>
                    <a:lstStyle/>
                    <a:p>
                      <a:r>
                        <a:rPr sz="2100" b="1">
                          <a:solidFill>
                            <a:srgbClr val="FFFFFF"/>
                          </a:solidFill>
                          <a:latin typeface="Yu Gothic"/>
                          <a:ea typeface="Yu Gothic"/>
                          <a:cs typeface="Yu Gothic"/>
                        </a:rPr>
                        <a:t>δ中央 / mm</a:t>
                      </a:r>
                    </a:p>
                  </a:txBody>
                  <a:tcPr marL="91440" marR="91440" marT="45720" marB="45720">
                    <a:solidFill>
                      <a:srgbClr val="18364F"/>
                    </a:solidFill>
                  </a:tcPr>
                </a:tc>
              </a:tr>
              <a:tr h="952500">
                <a:tc>
                  <a:txBody>
                    <a:bodyPr lIns="114300" tIns="114300" rIns="114300" bIns="114300"/>
                    <a:lstStyle/>
                    <a:p>
                      <a:r>
                        <a:rPr sz="2100" b="0">
                          <a:solidFill>
                            <a:srgbClr val="253C4D"/>
                          </a:solidFill>
                          <a:latin typeface="Yu Gothic"/>
                          <a:ea typeface="Yu Gothic"/>
                          <a:cs typeface="Yu Gothic"/>
                        </a:rPr>
                        <a:t>Douglas-fir（Coast）</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5.00</a:t>
                      </a:r>
                    </a:p>
                  </a:txBody>
                  <a:tcPr marL="91440" marR="91440" marT="45720" marB="45720">
                    <a:solidFill>
                      <a:srgbClr val="F1F5F7"/>
                    </a:solidFill>
                  </a:tcPr>
                </a:tc>
                <a:tc>
                  <a:txBody>
                    <a:bodyPr lIns="114300" tIns="114300" rIns="114300" bIns="114300"/>
                    <a:lstStyle/>
                    <a:p>
                      <a:r>
                        <a:rPr sz="2100" b="0">
                          <a:solidFill>
                            <a:srgbClr val="253C4D"/>
                          </a:solidFill>
                          <a:latin typeface="Yu Gothic"/>
                          <a:ea typeface="Yu Gothic"/>
                          <a:cs typeface="Yu Gothic"/>
                        </a:rPr>
                        <a:t>1.49</a:t>
                      </a:r>
                    </a:p>
                  </a:txBody>
                  <a:tcPr marL="91440" marR="91440" marT="45720" marB="45720">
                    <a:solidFill>
                      <a:srgbClr val="F1F5F7"/>
                    </a:solidFill>
                  </a:tcPr>
                </a:tc>
              </a:tr>
              <a:tr h="952500">
                <a:tc>
                  <a:txBody>
                    <a:bodyPr lIns="114300" tIns="114300" rIns="114300" bIns="114300"/>
                    <a:lstStyle/>
                    <a:p>
                      <a:r>
                        <a:rPr sz="2100" b="0">
                          <a:solidFill>
                            <a:srgbClr val="253C4D"/>
                          </a:solidFill>
                          <a:latin typeface="Yu Gothic"/>
                          <a:ea typeface="Yu Gothic"/>
                          <a:cs typeface="Yu Gothic"/>
                        </a:rPr>
                        <a:t>Sitka spruce</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5.00</a:t>
                      </a:r>
                    </a:p>
                  </a:txBody>
                  <a:tcPr marL="91440" marR="91440" marT="45720" marB="45720">
                    <a:solidFill>
                      <a:srgbClr val="FFFFFF"/>
                    </a:solidFill>
                  </a:tcPr>
                </a:tc>
                <a:tc>
                  <a:txBody>
                    <a:bodyPr lIns="114300" tIns="114300" rIns="114300" bIns="114300"/>
                    <a:lstStyle/>
                    <a:p>
                      <a:r>
                        <a:rPr sz="2100" b="0">
                          <a:solidFill>
                            <a:srgbClr val="253C4D"/>
                          </a:solidFill>
                          <a:latin typeface="Yu Gothic"/>
                          <a:ea typeface="Yu Gothic"/>
                          <a:cs typeface="Yu Gothic"/>
                        </a:rPr>
                        <a:t>1.85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C016F4-DB68-4A93-BBAB-25409BD49174}"/>
              </a:ext>
            </a:extLst>
          </p:cNvPr>
          <p:cNvSpPr>
            <a:spLocks xmlns:a="http://schemas.openxmlformats.org/drawingml/2006/main" noGrp="1"/>
          </p:cNvSpPr>
          <p:nvPr/>
        </p:nvSpPr>
        <p:spPr>
          <a:xfrm xmlns:a="http://schemas.openxmlformats.org/drawingml/2006/main">
            <a:off x="838200" y="5286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F = 100 N、L = 600 mm、b = 80 mm、h = 15 mm</a:t>
            </a:r>
          </a:p>
        </p:txBody>
      </p:sp>
      <p:sp>
        <p:nvSpPr>
          <p:cNvPr id="7" name="">
            <a:extLst xmlns:a="http://schemas.openxmlformats.org/drawingml/2006/main">
              <a:ext uri="{FF2B5EF4-FFF2-40B4-BE49-F238E27FC236}">
                <a16:creationId xmlns:a16="http://schemas.microsoft.com/office/drawing/2014/main" id="{9699CAD1-8AC5-4D62-BD05-69D51806EF58}"/>
              </a:ext>
            </a:extLst>
          </p:cNvPr>
          <p:cNvSpPr>
            <a:spLocks xmlns:a="http://schemas.openxmlformats.org/drawingml/2006/main" noGrp="1"/>
          </p:cNvSpPr>
          <p:nvPr/>
        </p:nvSpPr>
        <p:spPr>
          <a:xfrm xmlns:a="http://schemas.openxmlformats.org/drawingml/2006/main">
            <a:off x="838200" y="57816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087E8B"/>
                </a:solidFill>
                <a:latin typeface="Yu Gothic"/>
                <a:ea typeface="Yu Gothic"/>
                <a:cs typeface="Yu Gothic"/>
              </a:defRPr>
            </a:defPPr>
            <a:lvl1pPr>
              <a:defRPr sz="1950" b="1">
                <a:solidFill>
                  <a:srgbClr val="087E8B"/>
                </a:solidFill>
                <a:latin typeface="Yu Gothic"/>
                <a:ea typeface="Yu Gothic"/>
                <a:cs typeface="Yu Gothic"/>
              </a:defRPr>
            </a:lvl1pPr>
            <a:lvl2pPr>
              <a:defRPr sz="1950" b="1">
                <a:solidFill>
                  <a:srgbClr val="087E8B"/>
                </a:solidFill>
                <a:latin typeface="Yu Gothic"/>
                <a:ea typeface="Yu Gothic"/>
                <a:cs typeface="Yu Gothic"/>
              </a:defRPr>
            </a:lvl2pPr>
            <a:lvl3pPr>
              <a:defRPr sz="1950" b="1">
                <a:solidFill>
                  <a:srgbClr val="087E8B"/>
                </a:solidFill>
                <a:latin typeface="Yu Gothic"/>
                <a:ea typeface="Yu Gothic"/>
                <a:cs typeface="Yu Gothic"/>
              </a:defRPr>
            </a:lvl3pPr>
            <a:lvl4pPr>
              <a:defRPr sz="1950" b="1">
                <a:solidFill>
                  <a:srgbClr val="087E8B"/>
                </a:solidFill>
                <a:latin typeface="Yu Gothic"/>
                <a:ea typeface="Yu Gothic"/>
                <a:cs typeface="Yu Gothic"/>
              </a:defRPr>
            </a:lvl4pPr>
            <a:lvl5pPr>
              <a:defRPr sz="1950" b="1">
                <a:solidFill>
                  <a:srgbClr val="087E8B"/>
                </a:solidFill>
                <a:latin typeface="Yu Gothic"/>
                <a:ea typeface="Yu Gothic"/>
                <a:cs typeface="Yu Gothic"/>
              </a:defRPr>
            </a:lvl5pPr>
            <a:lvl6pPr>
              <a:defRPr sz="1950" b="1">
                <a:solidFill>
                  <a:srgbClr val="087E8B"/>
                </a:solidFill>
                <a:latin typeface="Yu Gothic"/>
                <a:ea typeface="Yu Gothic"/>
                <a:cs typeface="Yu Gothic"/>
              </a:defRPr>
            </a:lvl6pPr>
            <a:lvl7pPr>
              <a:defRPr sz="1950" b="1">
                <a:solidFill>
                  <a:srgbClr val="087E8B"/>
                </a:solidFill>
                <a:latin typeface="Yu Gothic"/>
                <a:ea typeface="Yu Gothic"/>
                <a:cs typeface="Yu Gothic"/>
              </a:defRPr>
            </a:lvl7pPr>
            <a:lvl8pPr>
              <a:defRPr sz="1950" b="1">
                <a:solidFill>
                  <a:srgbClr val="087E8B"/>
                </a:solidFill>
                <a:latin typeface="Yu Gothic"/>
                <a:ea typeface="Yu Gothic"/>
                <a:cs typeface="Yu Gothic"/>
              </a:defRPr>
            </a:lvl8pPr>
            <a:lvl9pPr>
              <a:defRPr sz="1950" b="1">
                <a:solidFill>
                  <a:srgbClr val="087E8B"/>
                </a:solidFill>
                <a:latin typeface="Yu Gothic"/>
                <a:ea typeface="Yu Gothic"/>
                <a:cs typeface="Yu Gothic"/>
              </a:defRPr>
            </a:lvl9pPr>
          </a:lstStyle>
          <a:p xmlns:a="http://schemas.openxmlformats.org/drawingml/2006/main">
            <a:pPr>
              <a:defRPr sz="1950" b="1">
                <a:solidFill>
                  <a:srgbClr val="087E8B"/>
                </a:solidFill>
                <a:latin typeface="Yu Gothic"/>
                <a:ea typeface="Yu Gothic"/>
                <a:cs typeface="Yu Gothic"/>
              </a:defRPr>
            </a:pPr>
            <a:r>
              <a:rPr sz="1950" b="1">
                <a:solidFill>
                  <a:srgbClr val="087E8B"/>
                </a:solidFill>
                <a:latin typeface="Yu Gothic"/>
                <a:ea typeface="Yu Gothic"/>
                <a:cs typeface="Yu Gothic"/>
              </a:rPr>
              <a:t>同じ形・支持・荷重。曲げEの違いでたわみが変わる。</a:t>
            </a:r>
          </a:p>
        </p:txBody>
      </p:sp>
    </p:spTree>
    <p:extLst>
      <p:ext uri="{BB962C8B-B14F-4D97-AF65-F5344CB8AC3E}">
        <p14:creationId xmlns:p14="http://schemas.microsoft.com/office/powerpoint/2010/main" val="601633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7E555C-69E7-415A-82FD-6B0F242041C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同じ荷重と同じたわみの違い</a:t>
            </a:r>
          </a:p>
        </p:txBody>
      </p:sp>
      <p:sp>
        <p:nvSpPr>
          <p:cNvPr id="2" name="">
            <a:extLst xmlns:a="http://schemas.openxmlformats.org/drawingml/2006/main">
              <a:ext uri="{FF2B5EF4-FFF2-40B4-BE49-F238E27FC236}">
                <a16:creationId xmlns:a16="http://schemas.microsoft.com/office/drawing/2014/main" id="{DC99AAE6-6EB6-4079-AEF4-4FCB9D734F6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227F4A-5D36-48A0-97C8-552FDFB04EA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F4F9637C-2C96-4304-946A-8E9519731C1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A69AFC53-4F40-424E-B6F7-DE2DA5590BC4}"/>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同じ形・支持条件。曲げEだけ2倍</a:t>
            </a:r>
          </a:p>
        </p:txBody>
      </p:sp>
      <p:sp>
        <p:nvSpPr>
          <p:cNvPr id="6" name="">
            <a:extLst xmlns:a="http://schemas.openxmlformats.org/drawingml/2006/main">
              <a:ext uri="{FF2B5EF4-FFF2-40B4-BE49-F238E27FC236}">
                <a16:creationId xmlns:a16="http://schemas.microsoft.com/office/drawing/2014/main" id="{FC9127E8-FB58-4AE7-8822-1FD99A0BC38E}"/>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Fを同じにする → δは？ σは？</a:t>
            </a:r>
          </a:p>
        </p:txBody>
      </p:sp>
      <p:sp>
        <p:nvSpPr>
          <p:cNvPr id="7" name="">
            <a:extLst xmlns:a="http://schemas.openxmlformats.org/drawingml/2006/main">
              <a:ext uri="{FF2B5EF4-FFF2-40B4-BE49-F238E27FC236}">
                <a16:creationId xmlns:a16="http://schemas.microsoft.com/office/drawing/2014/main" id="{2EE6E9D1-AFE2-462A-B097-DA04CC6E6117}"/>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δを同じにする → Fは？ σは？</a:t>
            </a:r>
          </a:p>
        </p:txBody>
      </p:sp>
      <p:sp>
        <p:nvSpPr>
          <p:cNvPr id="8" name="">
            <a:extLst xmlns:a="http://schemas.openxmlformats.org/drawingml/2006/main">
              <a:ext uri="{FF2B5EF4-FFF2-40B4-BE49-F238E27FC236}">
                <a16:creationId xmlns:a16="http://schemas.microsoft.com/office/drawing/2014/main" id="{D524F4B3-1312-4802-B13E-1659C2C08C6E}"/>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F = 48EIδ/L³ から考える</a:t>
            </a:r>
          </a:p>
        </p:txBody>
      </p:sp>
    </p:spTree>
    <p:extLst>
      <p:ext uri="{BB962C8B-B14F-4D97-AF65-F5344CB8AC3E}">
        <p14:creationId xmlns:p14="http://schemas.microsoft.com/office/powerpoint/2010/main" val="1962158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7DE8A0-2C2F-41FA-9DF2-EB46D3CAA5E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短期の比較と実際の利用</a:t>
            </a:r>
          </a:p>
        </p:txBody>
      </p:sp>
      <p:cxnSp>
        <p:nvCxnSpPr>
          <p:cNvPr id="2" name="">
            <a:extLst xmlns:a="http://schemas.openxmlformats.org/drawingml/2006/main">
              <a:ext uri="{FF2B5EF4-FFF2-40B4-BE49-F238E27FC236}">
                <a16:creationId xmlns:a16="http://schemas.microsoft.com/office/drawing/2014/main" id="{F59E5F31-5899-4921-9C38-AAAADA1AD8B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3BF904B-643F-4643-BFE4-C13CDF88756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5D62D62-58CB-4832-B909-9C59BB4A492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10AE6652-32E1-4921-B323-A0EA9CDA863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同じ荷重・長さ・断面・支持条件で、Eの違いによるたわみを比べる</a:t>
            </a:r>
          </a:p>
        </p:txBody>
      </p:sp>
      <p:sp>
        <p:nvSpPr>
          <p:cNvPr id="6" name="">
            <a:extLst xmlns:a="http://schemas.openxmlformats.org/drawingml/2006/main">
              <a:ext uri="{FF2B5EF4-FFF2-40B4-BE49-F238E27FC236}">
                <a16:creationId xmlns:a16="http://schemas.microsoft.com/office/drawing/2014/main" id="{B9E48956-1405-4241-89B3-64E2AA0CBE1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曲げEを、条件確認なしで軸方向のEに置き換えない</a:t>
            </a:r>
          </a:p>
        </p:txBody>
      </p:sp>
      <p:sp>
        <p:nvSpPr>
          <p:cNvPr id="7" name="">
            <a:extLst xmlns:a="http://schemas.openxmlformats.org/drawingml/2006/main">
              <a:ext uri="{FF2B5EF4-FFF2-40B4-BE49-F238E27FC236}">
                <a16:creationId xmlns:a16="http://schemas.microsoft.com/office/drawing/2014/main" id="{66B55270-6E69-4857-9806-B4A35900CB09}"/>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節・繊維傾斜・割れなどを含む製品は、無欠点小試験片と異なる</a:t>
            </a:r>
          </a:p>
        </p:txBody>
      </p:sp>
      <p:sp>
        <p:nvSpPr>
          <p:cNvPr id="8" name="">
            <a:extLst xmlns:a="http://schemas.openxmlformats.org/drawingml/2006/main">
              <a:ext uri="{FF2B5EF4-FFF2-40B4-BE49-F238E27FC236}">
                <a16:creationId xmlns:a16="http://schemas.microsoft.com/office/drawing/2014/main" id="{1F7594C4-8AD5-4075-A588-792A2C4464FD}"/>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長く荷重を加えるとクリープが生じ、水分変動も変形に影響する</a:t>
            </a:r>
          </a:p>
        </p:txBody>
      </p:sp>
      <p:sp>
        <p:nvSpPr>
          <p:cNvPr id="9" name="">
            <a:extLst xmlns:a="http://schemas.openxmlformats.org/drawingml/2006/main">
              <a:ext uri="{FF2B5EF4-FFF2-40B4-BE49-F238E27FC236}">
                <a16:creationId xmlns:a16="http://schemas.microsoft.com/office/drawing/2014/main" id="{00723218-D5A3-4DBC-9BDC-48302A0FB3AA}"/>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試験値を使う計算と、実物を採用する判断の間に必要な情報を挙げる</a:t>
            </a:r>
          </a:p>
        </p:txBody>
      </p:sp>
    </p:spTree>
    <p:extLst>
      <p:ext uri="{BB962C8B-B14F-4D97-AF65-F5344CB8AC3E}">
        <p14:creationId xmlns:p14="http://schemas.microsoft.com/office/powerpoint/2010/main" val="4208853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D15D04-54F6-4AAF-8867-6D02558857B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　支点間距離を変えた比較</a:t>
            </a:r>
          </a:p>
        </p:txBody>
      </p:sp>
      <p:cxnSp>
        <p:nvCxnSpPr>
          <p:cNvPr id="2" name="">
            <a:extLst xmlns:a="http://schemas.openxmlformats.org/drawingml/2006/main">
              <a:ext uri="{FF2B5EF4-FFF2-40B4-BE49-F238E27FC236}">
                <a16:creationId xmlns:a16="http://schemas.microsoft.com/office/drawing/2014/main" id="{45365B82-4A5A-41F6-B95F-31DB8FEB781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C46558F3-614D-489C-87C1-0B6F180C6B8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FBE0ECD6-4A63-4042-AD82-5D61217392A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15B5A26C-FD35-4AB8-BC6E-6E6EBBE87C3A}"/>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物性表の値と条件を、比較表へ転記する</a:t>
            </a:r>
          </a:p>
        </p:txBody>
      </p:sp>
      <p:sp>
        <p:nvSpPr>
          <p:cNvPr id="6" name="">
            <a:extLst xmlns:a="http://schemas.openxmlformats.org/drawingml/2006/main">
              <a:ext uri="{FF2B5EF4-FFF2-40B4-BE49-F238E27FC236}">
                <a16:creationId xmlns:a16="http://schemas.microsoft.com/office/drawing/2014/main" id="{8C2487C4-D070-409A-A821-C8A9BCF710C3}"/>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長さを1.2倍にしたときのたわみ比を予想する</a:t>
            </a:r>
          </a:p>
        </p:txBody>
      </p:sp>
      <p:sp>
        <p:nvSpPr>
          <p:cNvPr id="7" name="">
            <a:extLst xmlns:a="http://schemas.openxmlformats.org/drawingml/2006/main">
              <a:ext uri="{FF2B5EF4-FFF2-40B4-BE49-F238E27FC236}">
                <a16:creationId xmlns:a16="http://schemas.microsoft.com/office/drawing/2014/main" id="{0D0AE180-1832-4188-8579-0E3300394E82}"/>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同じ荷重・断面なら1.2³倍か、式で確認する</a:t>
            </a:r>
          </a:p>
        </p:txBody>
      </p:sp>
      <p:sp>
        <p:nvSpPr>
          <p:cNvPr id="8" name="">
            <a:extLst xmlns:a="http://schemas.openxmlformats.org/drawingml/2006/main">
              <a:ext uri="{FF2B5EF4-FFF2-40B4-BE49-F238E27FC236}">
                <a16:creationId xmlns:a16="http://schemas.microsoft.com/office/drawing/2014/main" id="{FD651BA4-4D91-47F7-BF67-9E13A450EBF2}"/>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応力の倍率は、たわみの倍率と同じか？</a:t>
            </a:r>
          </a:p>
        </p:txBody>
      </p:sp>
    </p:spTree>
    <p:extLst>
      <p:ext uri="{BB962C8B-B14F-4D97-AF65-F5344CB8AC3E}">
        <p14:creationId xmlns:p14="http://schemas.microsoft.com/office/powerpoint/2010/main" val="31754708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F996B0-D274-4D06-8104-38A041F49E0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演習2の解説　支点間距離を変えた比較</a:t>
            </a:r>
          </a:p>
        </p:txBody>
      </p:sp>
      <p:cxnSp>
        <p:nvCxnSpPr>
          <p:cNvPr id="2" name="">
            <a:extLst xmlns:a="http://schemas.openxmlformats.org/drawingml/2006/main">
              <a:ext uri="{FF2B5EF4-FFF2-40B4-BE49-F238E27FC236}">
                <a16:creationId xmlns:a16="http://schemas.microsoft.com/office/drawing/2014/main" id="{27CC69AA-1B6E-4937-9484-2FCB82E7643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70BEE44-8B38-43EB-B0C9-B14B8A5F0A4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94E45862-1ABF-4047-9A8E-2F189417482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38B55CD2-3496-42C3-AF62-A11127577B6F}"/>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たわみは1.728倍、最大応力は1.2倍</a:t>
            </a:r>
          </a:p>
        </p:txBody>
      </p:sp>
      <p:sp>
        <p:nvSpPr>
          <p:cNvPr id="6" name="">
            <a:extLst xmlns:a="http://schemas.openxmlformats.org/drawingml/2006/main">
              <a:ext uri="{FF2B5EF4-FFF2-40B4-BE49-F238E27FC236}">
                <a16:creationId xmlns:a16="http://schemas.microsoft.com/office/drawing/2014/main" id="{1C4A7FCB-D14F-4191-8852-8F835366BA02}"/>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Eは変形の計算、強度は破壊等の比較に使う</a:t>
            </a:r>
          </a:p>
        </p:txBody>
      </p:sp>
      <p:sp>
        <p:nvSpPr>
          <p:cNvPr id="7" name="">
            <a:extLst xmlns:a="http://schemas.openxmlformats.org/drawingml/2006/main">
              <a:ext uri="{FF2B5EF4-FFF2-40B4-BE49-F238E27FC236}">
                <a16:creationId xmlns:a16="http://schemas.microsoft.com/office/drawing/2014/main" id="{6A6508AD-1464-4035-94F7-7CC669A47C5B}"/>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代表値から、学校用製品の安全を断定しない</a:t>
            </a:r>
          </a:p>
        </p:txBody>
      </p:sp>
    </p:spTree>
    <p:extLst>
      <p:ext uri="{BB962C8B-B14F-4D97-AF65-F5344CB8AC3E}">
        <p14:creationId xmlns:p14="http://schemas.microsoft.com/office/powerpoint/2010/main" val="7356262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0DE40E-C845-48FD-B7EA-AE548AFE9A4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高さ1 mmの違いを確かめる</a:t>
            </a:r>
          </a:p>
        </p:txBody>
      </p:sp>
      <p:sp>
        <p:nvSpPr>
          <p:cNvPr id="2" name="">
            <a:extLst xmlns:a="http://schemas.openxmlformats.org/drawingml/2006/main">
              <a:ext uri="{FF2B5EF4-FFF2-40B4-BE49-F238E27FC236}">
                <a16:creationId xmlns:a16="http://schemas.microsoft.com/office/drawing/2014/main" id="{355CA754-DC03-435C-8004-09A9F68250D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8BC8AA-0A5C-4817-8D18-46E4722406C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6D623DD3-38D5-4500-8C1A-94BB5348D4C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22F29A5F-6F5B-492F-8F00-3E44C6297F2C}"/>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同じF・L・b・Eで、h = 15 mmを基準</a:t>
            </a:r>
          </a:p>
        </p:txBody>
      </p:sp>
      <p:sp>
        <p:nvSpPr>
          <p:cNvPr id="6" name="">
            <a:extLst xmlns:a="http://schemas.openxmlformats.org/drawingml/2006/main">
              <a:ext uri="{FF2B5EF4-FFF2-40B4-BE49-F238E27FC236}">
                <a16:creationId xmlns:a16="http://schemas.microsoft.com/office/drawing/2014/main" id="{29520D0B-489F-4CF5-9A26-9E24A56CF038}"/>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h = 14 mm：δの比 = (15/14)³</a:t>
            </a:r>
          </a:p>
        </p:txBody>
      </p:sp>
      <p:sp>
        <p:nvSpPr>
          <p:cNvPr id="7" name="">
            <a:extLst xmlns:a="http://schemas.openxmlformats.org/drawingml/2006/main">
              <a:ext uri="{FF2B5EF4-FFF2-40B4-BE49-F238E27FC236}">
                <a16:creationId xmlns:a16="http://schemas.microsoft.com/office/drawing/2014/main" id="{11F18844-F973-4A85-B7EF-280C310FB47A}"/>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h = 16 mm：δの比 = (15/16)³</a:t>
            </a:r>
          </a:p>
        </p:txBody>
      </p:sp>
      <p:sp>
        <p:nvSpPr>
          <p:cNvPr id="8" name="">
            <a:extLst xmlns:a="http://schemas.openxmlformats.org/drawingml/2006/main">
              <a:ext uri="{FF2B5EF4-FFF2-40B4-BE49-F238E27FC236}">
                <a16:creationId xmlns:a16="http://schemas.microsoft.com/office/drawing/2014/main" id="{52D6A783-9B5C-4EB7-BAA3-41D78F269FEE}"/>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材質の比較で、寸法を確認する理由を書く</a:t>
            </a:r>
          </a:p>
        </p:txBody>
      </p:sp>
    </p:spTree>
    <p:extLst>
      <p:ext uri="{BB962C8B-B14F-4D97-AF65-F5344CB8AC3E}">
        <p14:creationId xmlns:p14="http://schemas.microsoft.com/office/powerpoint/2010/main" val="152589814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3E2400-DC6F-4399-9877-9E6594B5950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板のたわみを比べる授業案</a:t>
            </a:r>
          </a:p>
        </p:txBody>
      </p:sp>
      <p:cxnSp>
        <p:nvCxnSpPr>
          <p:cNvPr id="2" name="">
            <a:extLst xmlns:a="http://schemas.openxmlformats.org/drawingml/2006/main">
              <a:ext uri="{FF2B5EF4-FFF2-40B4-BE49-F238E27FC236}">
                <a16:creationId xmlns:a16="http://schemas.microsoft.com/office/drawing/2014/main" id="{6D323358-C8E1-4F9D-BCDF-7148D38F44A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D5D5E7C-CD54-4844-AD14-BC7DF470014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5D84DF58-B90B-4D8A-9EE3-817B2D58D8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DD573619-4837-4A16-89C7-EB4C909EAA7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比較：同じ樹種・方向・幅・支点間距離・荷重で、高さだけを変える</a:t>
            </a:r>
          </a:p>
        </p:txBody>
      </p:sp>
      <p:sp>
        <p:nvSpPr>
          <p:cNvPr id="6" name="">
            <a:extLst xmlns:a="http://schemas.openxmlformats.org/drawingml/2006/main">
              <a:ext uri="{FF2B5EF4-FFF2-40B4-BE49-F238E27FC236}">
                <a16:creationId xmlns:a16="http://schemas.microsoft.com/office/drawing/2014/main" id="{8BD563FF-4A5C-4BB7-9E95-163A7218970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記録：中央たわみと、荷重を除いた後の戻り</a:t>
            </a:r>
          </a:p>
        </p:txBody>
      </p:sp>
      <p:sp>
        <p:nvSpPr>
          <p:cNvPr id="7" name="">
            <a:extLst xmlns:a="http://schemas.openxmlformats.org/drawingml/2006/main">
              <a:ext uri="{FF2B5EF4-FFF2-40B4-BE49-F238E27FC236}">
                <a16:creationId xmlns:a16="http://schemas.microsoft.com/office/drawing/2014/main" id="{F2E3D9F4-3EB8-42E1-94CA-1E817DE6105E}"/>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発問：大きくたわんだ板は、必ず小さい荷重で折れるだろうか</a:t>
            </a:r>
          </a:p>
        </p:txBody>
      </p:sp>
      <p:sp>
        <p:nvSpPr>
          <p:cNvPr id="8" name="">
            <a:extLst xmlns:a="http://schemas.openxmlformats.org/drawingml/2006/main">
              <a:ext uri="{FF2B5EF4-FFF2-40B4-BE49-F238E27FC236}">
                <a16:creationId xmlns:a16="http://schemas.microsoft.com/office/drawing/2014/main" id="{B69A9032-6372-4AB8-925C-7ED7A81C4703}"/>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期待する説明：たわみの大小と、破壊時の強さは別の測定で確かめる</a:t>
            </a:r>
          </a:p>
        </p:txBody>
      </p:sp>
      <p:sp>
        <p:nvSpPr>
          <p:cNvPr id="9" name="">
            <a:extLst xmlns:a="http://schemas.openxmlformats.org/drawingml/2006/main">
              <a:ext uri="{FF2B5EF4-FFF2-40B4-BE49-F238E27FC236}">
                <a16:creationId xmlns:a16="http://schemas.microsoft.com/office/drawing/2014/main" id="{4A5045E4-84CC-460F-B34F-CF9CCBA32D55}"/>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教科書の接点：材料の特性・丈夫な部材／A(1)ア</a:t>
            </a:r>
          </a:p>
        </p:txBody>
      </p:sp>
    </p:spTree>
    <p:extLst>
      <p:ext uri="{BB962C8B-B14F-4D97-AF65-F5344CB8AC3E}">
        <p14:creationId xmlns:p14="http://schemas.microsoft.com/office/powerpoint/2010/main" val="142576312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85677A-5262-4424-83DB-BFA01676D99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1423CEA0-3546-4716-A6A4-204BF261A1D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01A4D7-905C-405B-A4CB-9D822305BD4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A328D446-6EEF-4B14-A291-31073318491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83B1B3C4-5DB6-4E31-B1EA-08D74B9E7DE2}"/>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75DC7327-6BE9-465F-9999-959148E37193}"/>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C5358538-722E-4837-9FFE-400C82EAE45F}"/>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FD41FAFC-0011-4711-A97C-3E16E2EA6F36}"/>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材料比較の記録と結論へ進みます。</a:t>
            </a:r>
          </a:p>
        </p:txBody>
      </p:sp>
    </p:spTree>
    <p:extLst>
      <p:ext uri="{BB962C8B-B14F-4D97-AF65-F5344CB8AC3E}">
        <p14:creationId xmlns:p14="http://schemas.microsoft.com/office/powerpoint/2010/main" val="16693174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869BD2-6C0E-4161-BDCD-182FF8FB941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材料比較の記録と結論</a:t>
            </a:r>
          </a:p>
        </p:txBody>
      </p:sp>
      <p:sp>
        <p:nvSpPr>
          <p:cNvPr id="2" name="">
            <a:extLst xmlns:a="http://schemas.openxmlformats.org/drawingml/2006/main">
              <a:ext uri="{FF2B5EF4-FFF2-40B4-BE49-F238E27FC236}">
                <a16:creationId xmlns:a16="http://schemas.microsoft.com/office/drawing/2014/main" id="{04547681-60AD-418F-9FBD-2A4169E57F8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1B831B-5C96-40EA-AD32-051E62889E4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FA17BEC0-EB75-4E40-A1FA-BACBBAA6ED5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AF65A9E5-B087-4CFB-9A7A-FDFED03F4229}"/>
              </a:ext>
            </a:extLst>
          </p:cNvPr>
          <p:cNvSpPr>
            <a:spLocks xmlns:a="http://schemas.openxmlformats.org/drawingml/2006/main" noGrp="1"/>
          </p:cNvSpPr>
          <p:nvPr/>
        </p:nvSpPr>
        <p:spPr>
          <a:xfrm xmlns:a="http://schemas.openxmlformats.org/drawingml/2006/main">
            <a:off x="838200" y="1704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記録する条件を6つ以上挙げる</a:t>
            </a:r>
          </a:p>
        </p:txBody>
      </p:sp>
      <p:sp>
        <p:nvSpPr>
          <p:cNvPr id="6" name="">
            <a:extLst xmlns:a="http://schemas.openxmlformats.org/drawingml/2006/main">
              <a:ext uri="{FF2B5EF4-FFF2-40B4-BE49-F238E27FC236}">
                <a16:creationId xmlns:a16="http://schemas.microsoft.com/office/drawing/2014/main" id="{B969F422-E14B-447E-888D-351BC58BBC04}"/>
              </a:ext>
            </a:extLst>
          </p:cNvPr>
          <p:cNvSpPr>
            <a:spLocks xmlns:a="http://schemas.openxmlformats.org/drawingml/2006/main" noGrp="1"/>
          </p:cNvSpPr>
          <p:nvPr/>
        </p:nvSpPr>
        <p:spPr>
          <a:xfrm xmlns:a="http://schemas.openxmlformats.org/drawingml/2006/main">
            <a:off x="838200" y="2847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中央たわみの基準位置と、繰り返し方を書く</a:t>
            </a:r>
          </a:p>
        </p:txBody>
      </p:sp>
      <p:sp>
        <p:nvSpPr>
          <p:cNvPr id="7" name="">
            <a:extLst xmlns:a="http://schemas.openxmlformats.org/drawingml/2006/main">
              <a:ext uri="{FF2B5EF4-FFF2-40B4-BE49-F238E27FC236}">
                <a16:creationId xmlns:a16="http://schemas.microsoft.com/office/drawing/2014/main" id="{38562035-0D91-45D2-9AF0-A999B95FEC92}"/>
              </a:ext>
            </a:extLst>
          </p:cNvPr>
          <p:cNvSpPr>
            <a:spLocks xmlns:a="http://schemas.openxmlformats.org/drawingml/2006/main" noGrp="1"/>
          </p:cNvSpPr>
          <p:nvPr/>
        </p:nvSpPr>
        <p:spPr>
          <a:xfrm xmlns:a="http://schemas.openxmlformats.org/drawingml/2006/main">
            <a:off x="838200" y="3990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「たわみが小さい＝全用途で強い」を修正する</a:t>
            </a:r>
          </a:p>
        </p:txBody>
      </p:sp>
    </p:spTree>
    <p:extLst>
      <p:ext uri="{BB962C8B-B14F-4D97-AF65-F5344CB8AC3E}">
        <p14:creationId xmlns:p14="http://schemas.microsoft.com/office/powerpoint/2010/main" val="19728836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4153CB-1C98-498E-BA04-0E72E284FA9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6DE8E7B8-64ED-4AB5-B6C9-4BAF8906F07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544EE4A-99F6-45DE-8B4B-4F18403F95A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060841CF-FC09-49B8-8874-EA3FA20FE38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5E807986-72F7-4AF3-9CEE-ECCEB988D938}"/>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1 MPaは何 N/mm²か</a:t>
            </a:r>
          </a:p>
        </p:txBody>
      </p:sp>
      <p:sp>
        <p:nvSpPr>
          <p:cNvPr id="6" name="">
            <a:extLst xmlns:a="http://schemas.openxmlformats.org/drawingml/2006/main">
              <a:ext uri="{FF2B5EF4-FFF2-40B4-BE49-F238E27FC236}">
                <a16:creationId xmlns:a16="http://schemas.microsoft.com/office/drawing/2014/main" id="{8C3D1E7E-C7A5-4B00-9BB6-36082E4CFD57}"/>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同じEなら、断面を変えてもたわみは同じか</a:t>
            </a:r>
          </a:p>
        </p:txBody>
      </p:sp>
      <p:sp>
        <p:nvSpPr>
          <p:cNvPr id="7" name="">
            <a:extLst xmlns:a="http://schemas.openxmlformats.org/drawingml/2006/main">
              <a:ext uri="{FF2B5EF4-FFF2-40B4-BE49-F238E27FC236}">
                <a16:creationId xmlns:a16="http://schemas.microsoft.com/office/drawing/2014/main" id="{59501B66-38D3-417C-AE67-DC8943073D70}"/>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曲げ強さを、そのまま許容応力にできるか</a:t>
            </a:r>
          </a:p>
        </p:txBody>
      </p:sp>
    </p:spTree>
    <p:extLst>
      <p:ext uri="{BB962C8B-B14F-4D97-AF65-F5344CB8AC3E}">
        <p14:creationId xmlns:p14="http://schemas.microsoft.com/office/powerpoint/2010/main" val="127056141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5DBB73-1A96-47B2-8D4E-C516955025E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復習と次の学習</a:t>
            </a:r>
          </a:p>
        </p:txBody>
      </p:sp>
      <p:cxnSp>
        <p:nvCxnSpPr>
          <p:cNvPr id="2" name="">
            <a:extLst xmlns:a="http://schemas.openxmlformats.org/drawingml/2006/main">
              <a:ext uri="{FF2B5EF4-FFF2-40B4-BE49-F238E27FC236}">
                <a16:creationId xmlns:a16="http://schemas.microsoft.com/office/drawing/2014/main" id="{3F78DBF8-F74D-4A08-96A9-85740ACFA2D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AA75102-B07F-4A13-B375-32075B7B37A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B499C15E-6260-4B6B-8AC6-3A69ADA6699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D828AD5E-902A-488C-9948-A3F9081FA497}"/>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例題の高さを18 mmに変更し、応力とたわみを再計算</a:t>
            </a:r>
          </a:p>
        </p:txBody>
      </p:sp>
      <p:sp>
        <p:nvSpPr>
          <p:cNvPr id="6" name="">
            <a:extLst xmlns:a="http://schemas.openxmlformats.org/drawingml/2006/main">
              <a:ext uri="{FF2B5EF4-FFF2-40B4-BE49-F238E27FC236}">
                <a16:creationId xmlns:a16="http://schemas.microsoft.com/office/drawing/2014/main" id="{31AA371B-8445-44E6-825C-1F1AAD90ACF4}"/>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同じ材のためEは一定と仮定し、倍率でも確認</a:t>
            </a:r>
          </a:p>
        </p:txBody>
      </p:sp>
      <p:sp>
        <p:nvSpPr>
          <p:cNvPr id="7" name="">
            <a:extLst xmlns:a="http://schemas.openxmlformats.org/drawingml/2006/main">
              <a:ext uri="{FF2B5EF4-FFF2-40B4-BE49-F238E27FC236}">
                <a16:creationId xmlns:a16="http://schemas.microsoft.com/office/drawing/2014/main" id="{108BF7E5-DA41-4E8A-B9BE-31DC3405E3B0}"/>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条件を省いた「強い木材」の説明を修正する</a:t>
            </a:r>
          </a:p>
        </p:txBody>
      </p:sp>
    </p:spTree>
    <p:extLst>
      <p:ext uri="{BB962C8B-B14F-4D97-AF65-F5344CB8AC3E}">
        <p14:creationId xmlns:p14="http://schemas.microsoft.com/office/powerpoint/2010/main" val="2848479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4DDC4E-FDD4-405E-8067-2B04EC99C6C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高さ18 mmの復習：倍率で確かめる</a:t>
            </a:r>
          </a:p>
        </p:txBody>
      </p:sp>
      <p:sp>
        <p:nvSpPr>
          <p:cNvPr id="2" name="">
            <a:extLst xmlns:a="http://schemas.openxmlformats.org/drawingml/2006/main">
              <a:ext uri="{FF2B5EF4-FFF2-40B4-BE49-F238E27FC236}">
                <a16:creationId xmlns:a16="http://schemas.microsoft.com/office/drawing/2014/main" id="{4F041AB5-149F-4AE7-8743-1D87AB205E9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BD4426-D1AF-4B74-AE00-E7B723E5C50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A5673588-02C0-4EED-A043-D147E5260A7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07295A90-9D01-407C-98A5-347A7A506F4B}"/>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h：15 → 18 mm、b・F・L・Eは一定</a:t>
            </a:r>
          </a:p>
        </p:txBody>
      </p:sp>
      <p:sp>
        <p:nvSpPr>
          <p:cNvPr id="6" name="">
            <a:extLst xmlns:a="http://schemas.openxmlformats.org/drawingml/2006/main">
              <a:ext uri="{FF2B5EF4-FFF2-40B4-BE49-F238E27FC236}">
                <a16:creationId xmlns:a16="http://schemas.microsoft.com/office/drawing/2014/main" id="{577659D7-3337-4A16-8698-74F20DCAF37C}"/>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I：1.728倍、Z：1.44倍</a:t>
            </a:r>
          </a:p>
        </p:txBody>
      </p:sp>
      <p:sp>
        <p:nvSpPr>
          <p:cNvPr id="7" name="">
            <a:extLst xmlns:a="http://schemas.openxmlformats.org/drawingml/2006/main">
              <a:ext uri="{FF2B5EF4-FFF2-40B4-BE49-F238E27FC236}">
                <a16:creationId xmlns:a16="http://schemas.microsoft.com/office/drawing/2014/main" id="{C679FE52-959F-4ADF-9421-FAECD6C4BABD}"/>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σ：1/1.44倍 → 約3.47 MPa</a:t>
            </a:r>
          </a:p>
        </p:txBody>
      </p:sp>
      <p:sp>
        <p:nvSpPr>
          <p:cNvPr id="8" name="">
            <a:extLst xmlns:a="http://schemas.openxmlformats.org/drawingml/2006/main">
              <a:ext uri="{FF2B5EF4-FFF2-40B4-BE49-F238E27FC236}">
                <a16:creationId xmlns:a16="http://schemas.microsoft.com/office/drawing/2014/main" id="{5DD4EA3A-7BBF-4EB5-ABE0-15A79CA43DA7}"/>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δ：1/1.728倍 → 約0.864 ／ 1.07 mm</a:t>
            </a:r>
          </a:p>
        </p:txBody>
      </p:sp>
    </p:spTree>
    <p:extLst>
      <p:ext uri="{BB962C8B-B14F-4D97-AF65-F5344CB8AC3E}">
        <p14:creationId xmlns:p14="http://schemas.microsoft.com/office/powerpoint/2010/main" val="61482787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874E59-2D06-4F14-8E6C-1D4881CB7A5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E3B43206-CDE1-4C9E-B29F-03EDDF24C2B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7732EB4-CEC8-4461-8D96-AAA71C1B265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第5回</a:t>
            </a:r>
          </a:p>
        </p:txBody>
      </p:sp>
      <p:sp>
        <p:nvSpPr>
          <p:cNvPr id="4" name="">
            <a:extLst xmlns:a="http://schemas.openxmlformats.org/drawingml/2006/main">
              <a:ext uri="{FF2B5EF4-FFF2-40B4-BE49-F238E27FC236}">
                <a16:creationId xmlns:a16="http://schemas.microsoft.com/office/drawing/2014/main" id="{70B074C9-05FF-4BC8-B868-885DAAC12D3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AE89FD7A-E334-4E42-8E58-15A105939B91}"/>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E・強度・硬さを、目的に応じて区別する</a:t>
            </a:r>
          </a:p>
        </p:txBody>
      </p:sp>
      <p:sp>
        <p:nvSpPr>
          <p:cNvPr id="6" name="">
            <a:extLst xmlns:a="http://schemas.openxmlformats.org/drawingml/2006/main">
              <a:ext uri="{FF2B5EF4-FFF2-40B4-BE49-F238E27FC236}">
                <a16:creationId xmlns:a16="http://schemas.microsoft.com/office/drawing/2014/main" id="{592ABD2E-B99D-457D-86DB-6B21289919A1}"/>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物性値には、単位と測定条件を添える</a:t>
            </a:r>
          </a:p>
        </p:txBody>
      </p:sp>
      <p:sp>
        <p:nvSpPr>
          <p:cNvPr id="7" name="">
            <a:extLst xmlns:a="http://schemas.openxmlformats.org/drawingml/2006/main">
              <a:ext uri="{FF2B5EF4-FFF2-40B4-BE49-F238E27FC236}">
                <a16:creationId xmlns:a16="http://schemas.microsoft.com/office/drawing/2014/main" id="{2242C2AE-0487-4B6B-881D-EF6353B36C57}"/>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次は、方向と節による違いを深める</a:t>
            </a:r>
          </a:p>
        </p:txBody>
      </p:sp>
    </p:spTree>
    <p:extLst>
      <p:ext uri="{BB962C8B-B14F-4D97-AF65-F5344CB8AC3E}">
        <p14:creationId xmlns:p14="http://schemas.microsoft.com/office/powerpoint/2010/main" val="120631790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7B2FB0-13C6-4247-9EDA-803BB98BB06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558D44CB-C327-4C6B-BA74-278E33768F2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C83E7105-F282-4223-B3CE-325F59DDC568}"/>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第5章 </a:t>
            </a:r>
          </a:p>
        </p:txBody>
      </p:sp>
      <p:sp>
        <p:nvSpPr>
          <p:cNvPr id="4" name="">
            <a:extLst xmlns:a="http://schemas.openxmlformats.org/drawingml/2006/main">
              <a:ext uri="{FF2B5EF4-FFF2-40B4-BE49-F238E27FC236}">
                <a16:creationId xmlns:a16="http://schemas.microsoft.com/office/drawing/2014/main" id="{77B8F1C8-B5D3-4D0B-9FAB-1095E58117C3}"/>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https://research.fs.usda.gov/treesearch/62244</a:t>
            </a:r>
          </a:p>
        </p:txBody>
      </p:sp>
      <p:sp>
        <p:nvSpPr>
          <p:cNvPr id="5" name="">
            <a:extLst xmlns:a="http://schemas.openxmlformats.org/drawingml/2006/main">
              <a:ext uri="{FF2B5EF4-FFF2-40B4-BE49-F238E27FC236}">
                <a16:creationId xmlns:a16="http://schemas.microsoft.com/office/drawing/2014/main" id="{F58E52CC-0058-4725-AB60-B8652D658164}"/>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6" name="">
            <a:extLst xmlns:a="http://schemas.openxmlformats.org/drawingml/2006/main">
              <a:ext uri="{FF2B5EF4-FFF2-40B4-BE49-F238E27FC236}">
                <a16:creationId xmlns:a16="http://schemas.microsoft.com/office/drawing/2014/main" id="{E29143A0-26C5-482E-A016-557D3D3F508F}"/>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7" name="">
            <a:extLst xmlns:a="http://schemas.openxmlformats.org/drawingml/2006/main">
              <a:ext uri="{FF2B5EF4-FFF2-40B4-BE49-F238E27FC236}">
                <a16:creationId xmlns:a16="http://schemas.microsoft.com/office/drawing/2014/main" id="{675D44C2-B945-49E0-9CB6-1A86146099BC}"/>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教育図書 R7内容解説 目次・掲載見本</a:t>
            </a:r>
          </a:p>
        </p:txBody>
      </p:sp>
      <p:sp>
        <p:nvSpPr>
          <p:cNvPr id="8" name="">
            <a:extLst xmlns:a="http://schemas.openxmlformats.org/drawingml/2006/main">
              <a:ext uri="{FF2B5EF4-FFF2-40B4-BE49-F238E27FC236}">
                <a16:creationId xmlns:a16="http://schemas.microsoft.com/office/drawing/2014/main" id="{F89B132F-7B08-4865-B0C8-D75F9847E38A}"/>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https://www.kyoiku-tosho.co.jp/wp/wp-content/uploads/2024/04/G_R7kaisetu.pdf</a:t>
            </a:r>
          </a:p>
        </p:txBody>
      </p:sp>
      <p:sp>
        <p:nvSpPr>
          <p:cNvPr id="9" name="">
            <a:extLst xmlns:a="http://schemas.openxmlformats.org/drawingml/2006/main">
              <a:ext uri="{FF2B5EF4-FFF2-40B4-BE49-F238E27FC236}">
                <a16:creationId xmlns:a16="http://schemas.microsoft.com/office/drawing/2014/main" id="{F2D77F95-F3F1-40B3-8D65-5DC49EABF358}"/>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0" name="">
            <a:extLst xmlns:a="http://schemas.openxmlformats.org/drawingml/2006/main">
              <a:ext uri="{FF2B5EF4-FFF2-40B4-BE49-F238E27FC236}">
                <a16:creationId xmlns:a16="http://schemas.microsoft.com/office/drawing/2014/main" id="{79BDD6F8-3298-4692-ADB0-57110D61BFA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第5回</a:t>
            </a:r>
          </a:p>
        </p:txBody>
      </p:sp>
      <p:sp>
        <p:nvSpPr>
          <p:cNvPr id="11" name="">
            <a:extLst xmlns:a="http://schemas.openxmlformats.org/drawingml/2006/main">
              <a:ext uri="{FF2B5EF4-FFF2-40B4-BE49-F238E27FC236}">
                <a16:creationId xmlns:a16="http://schemas.microsoft.com/office/drawing/2014/main" id="{51C4BE58-75C7-402A-8C66-CBCC57CF99A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Tree>
    <p:extLst>
      <p:ext uri="{BB962C8B-B14F-4D97-AF65-F5344CB8AC3E}">
        <p14:creationId xmlns:p14="http://schemas.microsoft.com/office/powerpoint/2010/main" val="9961356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2026-10-27T02:30:56.9230000Z</dcterms:created>
  <dcterms:modified xsi:type="dcterms:W3CDTF">2026-10-27T02:30:56.9230000Z</dcterms:modified>
</coreProperties>
</file>