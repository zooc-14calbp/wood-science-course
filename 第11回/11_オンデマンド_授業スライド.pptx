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9efe8990664b04" /><Relationship Type="http://schemas.openxmlformats.org/officeDocument/2006/relationships/extended-properties" Target="/docProps/app.xml" Id="R3423a2699897443a" /><Relationship Type="http://schemas.openxmlformats.org/officeDocument/2006/relationships/officeDocument" Target="/ppt/presentation.xml" Id="Rdeaef967bce04adb" /></Relationships>
</file>

<file path=ppt/presentation.xml><?xml version="1.0" encoding="utf-8"?>
<p:presentation xmlns:p="http://schemas.openxmlformats.org/presentationml/2006/main">
  <p:sldMasterIdLst>
    <p:sldMasterId xmlns:r="http://schemas.openxmlformats.org/officeDocument/2006/relationships" id="2147483648" r:id="Rde75f5875cc849db"/>
    <p:sldMasterId xmlns:r="http://schemas.openxmlformats.org/officeDocument/2006/relationships" id="2147483655" r:id="R25deb1d45dc3402e"/>
  </p:sldMasterIdLst>
  <p:notesMasterIdLst>
    <p:notesMasterId xmlns:r="http://schemas.openxmlformats.org/officeDocument/2006/relationships" r:id="R933dce0eb7274402"/>
  </p:notesMasterIdLst>
  <p:sldIdLst>
    <p:sldId xmlns:r="http://schemas.openxmlformats.org/officeDocument/2006/relationships" id="256" r:id="Rfa0c806700ec49d8"/>
    <p:sldId xmlns:r="http://schemas.openxmlformats.org/officeDocument/2006/relationships" id="257" r:id="Rb2d41643eeb14adb"/>
    <p:sldId xmlns:r="http://schemas.openxmlformats.org/officeDocument/2006/relationships" id="258" r:id="R6206550572394453"/>
    <p:sldId xmlns:r="http://schemas.openxmlformats.org/officeDocument/2006/relationships" id="259" r:id="R49af362592c14d5b"/>
    <p:sldId xmlns:r="http://schemas.openxmlformats.org/officeDocument/2006/relationships" id="260" r:id="Rdbe03722886c4f4f"/>
    <p:sldId xmlns:r="http://schemas.openxmlformats.org/officeDocument/2006/relationships" id="261" r:id="R7e4ee31061fd421f"/>
    <p:sldId xmlns:r="http://schemas.openxmlformats.org/officeDocument/2006/relationships" id="262" r:id="Re2d3c4551a984a1d"/>
    <p:sldId xmlns:r="http://schemas.openxmlformats.org/officeDocument/2006/relationships" id="263" r:id="R21634f463e694412"/>
    <p:sldId xmlns:r="http://schemas.openxmlformats.org/officeDocument/2006/relationships" id="264" r:id="R9a38e6ad92d342df"/>
    <p:sldId xmlns:r="http://schemas.openxmlformats.org/officeDocument/2006/relationships" id="265" r:id="R9632c08f7ba74b1d"/>
    <p:sldId xmlns:r="http://schemas.openxmlformats.org/officeDocument/2006/relationships" id="266" r:id="Rc2b3686947e147ef"/>
    <p:sldId xmlns:r="http://schemas.openxmlformats.org/officeDocument/2006/relationships" id="267" r:id="R15d351cd18bc4f37"/>
    <p:sldId xmlns:r="http://schemas.openxmlformats.org/officeDocument/2006/relationships" id="268" r:id="R0d5520927c7b49bd"/>
    <p:sldId xmlns:r="http://schemas.openxmlformats.org/officeDocument/2006/relationships" id="269" r:id="R450061244d5b4115"/>
    <p:sldId xmlns:r="http://schemas.openxmlformats.org/officeDocument/2006/relationships" id="270" r:id="R784c5fddb73b40b1"/>
    <p:sldId xmlns:r="http://schemas.openxmlformats.org/officeDocument/2006/relationships" id="271" r:id="Rf73ff64008fb4b69"/>
    <p:sldId xmlns:r="http://schemas.openxmlformats.org/officeDocument/2006/relationships" id="272" r:id="Rf18562e68faf4f65"/>
    <p:sldId xmlns:r="http://schemas.openxmlformats.org/officeDocument/2006/relationships" id="273" r:id="Ra754ba309579411a"/>
    <p:sldId xmlns:r="http://schemas.openxmlformats.org/officeDocument/2006/relationships" id="274" r:id="R9b137fac963b4a26"/>
    <p:sldId xmlns:r="http://schemas.openxmlformats.org/officeDocument/2006/relationships" id="275" r:id="R2ed2d7d0db224d59"/>
    <p:sldId xmlns:r="http://schemas.openxmlformats.org/officeDocument/2006/relationships" id="276" r:id="R8c75282b5f764a96"/>
    <p:sldId xmlns:r="http://schemas.openxmlformats.org/officeDocument/2006/relationships" id="277" r:id="R0eb9eb25551f4924"/>
    <p:sldId xmlns:r="http://schemas.openxmlformats.org/officeDocument/2006/relationships" id="278" r:id="R8cff8e4fe3b6438d"/>
    <p:sldId xmlns:r="http://schemas.openxmlformats.org/officeDocument/2006/relationships" id="279" r:id="Rb22a0932e3bd48f8"/>
    <p:sldId xmlns:r="http://schemas.openxmlformats.org/officeDocument/2006/relationships" id="280" r:id="R0682a14ba7214c88"/>
    <p:sldId xmlns:r="http://schemas.openxmlformats.org/officeDocument/2006/relationships" id="281" r:id="Rdc797633694b42b4"/>
    <p:sldId xmlns:r="http://schemas.openxmlformats.org/officeDocument/2006/relationships" id="282" r:id="Re0bd7d41d2994ffa"/>
    <p:sldId xmlns:r="http://schemas.openxmlformats.org/officeDocument/2006/relationships" id="283" r:id="R1d1fcdb8bf694e4a"/>
    <p:sldId xmlns:r="http://schemas.openxmlformats.org/officeDocument/2006/relationships" id="284" r:id="R8da1f213bfd04081"/>
    <p:sldId xmlns:r="http://schemas.openxmlformats.org/officeDocument/2006/relationships" id="285" r:id="R754a97c3f199479f"/>
    <p:sldId xmlns:r="http://schemas.openxmlformats.org/officeDocument/2006/relationships" id="286" r:id="R40eeca08874546d3"/>
    <p:sldId xmlns:r="http://schemas.openxmlformats.org/officeDocument/2006/relationships" id="287" r:id="Rb68b570f0d574eb7"/>
    <p:sldId xmlns:r="http://schemas.openxmlformats.org/officeDocument/2006/relationships" id="288" r:id="R6c21789702a345f7"/>
    <p:sldId xmlns:r="http://schemas.openxmlformats.org/officeDocument/2006/relationships" id="289" r:id="R738cfdc097ce4d17"/>
    <p:sldId xmlns:r="http://schemas.openxmlformats.org/officeDocument/2006/relationships" id="290" r:id="Rb366c35250684221"/>
    <p:sldId xmlns:r="http://schemas.openxmlformats.org/officeDocument/2006/relationships" id="291" r:id="R15a56617e8d347a3"/>
    <p:sldId xmlns:r="http://schemas.openxmlformats.org/officeDocument/2006/relationships" id="292" r:id="R08f34609a2ae4c78"/>
    <p:sldId xmlns:r="http://schemas.openxmlformats.org/officeDocument/2006/relationships" id="293" r:id="Rc43b1706ee074d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b6fd52e00d440a" /><Relationship Type="http://schemas.openxmlformats.org/officeDocument/2006/relationships/slideMaster" Target="/ppt/slideMasters/slideMaster1.xml" Id="Rde75f5875cc849db" /><Relationship Type="http://schemas.openxmlformats.org/officeDocument/2006/relationships/slideMaster" Target="/ppt/slideMasters/slideMaster2.xml" Id="R25deb1d45dc3402e" /><Relationship Type="http://schemas.openxmlformats.org/officeDocument/2006/relationships/notesMaster" Target="/ppt/notesMasters/notesMaster1.xml" Id="R933dce0eb7274402" /><Relationship Type="http://schemas.openxmlformats.org/officeDocument/2006/relationships/presProps" Target="/ppt/presProps.xml" Id="R1f7f443bc2884baa" /><Relationship Type="http://schemas.openxmlformats.org/officeDocument/2006/relationships/tableStyles" Target="/ppt/tableStyles.xml" Id="R483a8a85365e4b98" /><Relationship Type="http://schemas.openxmlformats.org/officeDocument/2006/relationships/slide" Target="/ppt/slides/slide1.xml" Id="Rfa0c806700ec49d8" /><Relationship Type="http://schemas.openxmlformats.org/officeDocument/2006/relationships/slide" Target="/ppt/slides/slide2.xml" Id="Rb2d41643eeb14adb" /><Relationship Type="http://schemas.openxmlformats.org/officeDocument/2006/relationships/slide" Target="/ppt/slides/slide3.xml" Id="R6206550572394453" /><Relationship Type="http://schemas.openxmlformats.org/officeDocument/2006/relationships/slide" Target="/ppt/slides/slide4.xml" Id="R49af362592c14d5b" /><Relationship Type="http://schemas.openxmlformats.org/officeDocument/2006/relationships/slide" Target="/ppt/slides/slide5.xml" Id="Rdbe03722886c4f4f" /><Relationship Type="http://schemas.openxmlformats.org/officeDocument/2006/relationships/slide" Target="/ppt/slides/slide6.xml" Id="R7e4ee31061fd421f" /><Relationship Type="http://schemas.openxmlformats.org/officeDocument/2006/relationships/slide" Target="/ppt/slides/slide7.xml" Id="Re2d3c4551a984a1d" /><Relationship Type="http://schemas.openxmlformats.org/officeDocument/2006/relationships/slide" Target="/ppt/slides/slide8.xml" Id="R21634f463e694412" /><Relationship Type="http://schemas.openxmlformats.org/officeDocument/2006/relationships/slide" Target="/ppt/slides/slide9.xml" Id="R9a38e6ad92d342df" /><Relationship Type="http://schemas.openxmlformats.org/officeDocument/2006/relationships/slide" Target="/ppt/slides/slide10.xml" Id="R9632c08f7ba74b1d" /><Relationship Type="http://schemas.openxmlformats.org/officeDocument/2006/relationships/slide" Target="/ppt/slides/slide11.xml" Id="Rc2b3686947e147ef" /><Relationship Type="http://schemas.openxmlformats.org/officeDocument/2006/relationships/slide" Target="/ppt/slides/slide12.xml" Id="R15d351cd18bc4f37" /><Relationship Type="http://schemas.openxmlformats.org/officeDocument/2006/relationships/slide" Target="/ppt/slides/slide13.xml" Id="R0d5520927c7b49bd" /><Relationship Type="http://schemas.openxmlformats.org/officeDocument/2006/relationships/slide" Target="/ppt/slides/slide14.xml" Id="R450061244d5b4115" /><Relationship Type="http://schemas.openxmlformats.org/officeDocument/2006/relationships/slide" Target="/ppt/slides/slide15.xml" Id="R784c5fddb73b40b1" /><Relationship Type="http://schemas.openxmlformats.org/officeDocument/2006/relationships/slide" Target="/ppt/slides/slide16.xml" Id="Rf73ff64008fb4b69" /><Relationship Type="http://schemas.openxmlformats.org/officeDocument/2006/relationships/slide" Target="/ppt/slides/slide17.xml" Id="Rf18562e68faf4f65" /><Relationship Type="http://schemas.openxmlformats.org/officeDocument/2006/relationships/slide" Target="/ppt/slides/slide18.xml" Id="Ra754ba309579411a" /><Relationship Type="http://schemas.openxmlformats.org/officeDocument/2006/relationships/slide" Target="/ppt/slides/slide19.xml" Id="R9b137fac963b4a26" /><Relationship Type="http://schemas.openxmlformats.org/officeDocument/2006/relationships/slide" Target="/ppt/slides/slide20.xml" Id="R2ed2d7d0db224d59" /><Relationship Type="http://schemas.openxmlformats.org/officeDocument/2006/relationships/slide" Target="/ppt/slides/slide21.xml" Id="R8c75282b5f764a96" /><Relationship Type="http://schemas.openxmlformats.org/officeDocument/2006/relationships/slide" Target="/ppt/slides/slide22.xml" Id="R0eb9eb25551f4924" /><Relationship Type="http://schemas.openxmlformats.org/officeDocument/2006/relationships/slide" Target="/ppt/slides/slide23.xml" Id="R8cff8e4fe3b6438d" /><Relationship Type="http://schemas.openxmlformats.org/officeDocument/2006/relationships/slide" Target="/ppt/slides/slide24.xml" Id="Rb22a0932e3bd48f8" /><Relationship Type="http://schemas.openxmlformats.org/officeDocument/2006/relationships/slide" Target="/ppt/slides/slide25.xml" Id="R0682a14ba7214c88" /><Relationship Type="http://schemas.openxmlformats.org/officeDocument/2006/relationships/slide" Target="/ppt/slides/slide26.xml" Id="Rdc797633694b42b4" /><Relationship Type="http://schemas.openxmlformats.org/officeDocument/2006/relationships/slide" Target="/ppt/slides/slide27.xml" Id="Re0bd7d41d2994ffa" /><Relationship Type="http://schemas.openxmlformats.org/officeDocument/2006/relationships/slide" Target="/ppt/slides/slide28.xml" Id="R1d1fcdb8bf694e4a" /><Relationship Type="http://schemas.openxmlformats.org/officeDocument/2006/relationships/slide" Target="/ppt/slides/slide29.xml" Id="R8da1f213bfd04081" /><Relationship Type="http://schemas.openxmlformats.org/officeDocument/2006/relationships/slide" Target="/ppt/slides/slide30.xml" Id="R754a97c3f199479f" /><Relationship Type="http://schemas.openxmlformats.org/officeDocument/2006/relationships/slide" Target="/ppt/slides/slide31.xml" Id="R40eeca08874546d3" /><Relationship Type="http://schemas.openxmlformats.org/officeDocument/2006/relationships/slide" Target="/ppt/slides/slide32.xml" Id="Rb68b570f0d574eb7" /><Relationship Type="http://schemas.openxmlformats.org/officeDocument/2006/relationships/slide" Target="/ppt/slides/slide33.xml" Id="R6c21789702a345f7" /><Relationship Type="http://schemas.openxmlformats.org/officeDocument/2006/relationships/slide" Target="/ppt/slides/slide34.xml" Id="R738cfdc097ce4d17" /><Relationship Type="http://schemas.openxmlformats.org/officeDocument/2006/relationships/slide" Target="/ppt/slides/slide35.xml" Id="Rb366c35250684221" /><Relationship Type="http://schemas.openxmlformats.org/officeDocument/2006/relationships/slide" Target="/ppt/slides/slide36.xml" Id="R15a56617e8d347a3" /><Relationship Type="http://schemas.openxmlformats.org/officeDocument/2006/relationships/slide" Target="/ppt/slides/slide37.xml" Id="R08f34609a2ae4c78" /><Relationship Type="http://schemas.openxmlformats.org/officeDocument/2006/relationships/slide" Target="/ppt/slides/slide38.xml" Id="Rc43b1706ee074d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4cc8a1c526a49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9ebaa6a85843af" /><Relationship Type="http://schemas.openxmlformats.org/officeDocument/2006/relationships/notesMaster" Target="/ppt/notesMasters/notesMaster1.xml" Id="R530a6882e4084a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96f50e72c54b5a" /><Relationship Type="http://schemas.openxmlformats.org/officeDocument/2006/relationships/notesMaster" Target="/ppt/notesMasters/notesMaster1.xml" Id="R504bd88798ac48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5f138d86dc4534" /><Relationship Type="http://schemas.openxmlformats.org/officeDocument/2006/relationships/notesMaster" Target="/ppt/notesMasters/notesMaster1.xml" Id="Rcbef89bcaef64c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6523bbe7bb4682" /><Relationship Type="http://schemas.openxmlformats.org/officeDocument/2006/relationships/notesMaster" Target="/ppt/notesMasters/notesMaster1.xml" Id="R8464915e44044b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9fac4a35524f08" /><Relationship Type="http://schemas.openxmlformats.org/officeDocument/2006/relationships/notesMaster" Target="/ppt/notesMasters/notesMaster1.xml" Id="R1688b5766b044f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91c519166a45af" /><Relationship Type="http://schemas.openxmlformats.org/officeDocument/2006/relationships/notesMaster" Target="/ppt/notesMasters/notesMaster1.xml" Id="R0055e5b0e45d4f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5474632b50492e" /><Relationship Type="http://schemas.openxmlformats.org/officeDocument/2006/relationships/notesMaster" Target="/ppt/notesMasters/notesMaster1.xml" Id="Rfe13b905f2d846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2a511d06f44eee" /><Relationship Type="http://schemas.openxmlformats.org/officeDocument/2006/relationships/notesMaster" Target="/ppt/notesMasters/notesMaster1.xml" Id="R948ba73e8c014c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0b7fa4d6bd46a6" /><Relationship Type="http://schemas.openxmlformats.org/officeDocument/2006/relationships/notesMaster" Target="/ppt/notesMasters/notesMaster1.xml" Id="R7ece149751034a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b809682dde4871" /><Relationship Type="http://schemas.openxmlformats.org/officeDocument/2006/relationships/notesMaster" Target="/ppt/notesMasters/notesMaster1.xml" Id="Re20fe61cbfd64c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7d40044d1c44d6" /><Relationship Type="http://schemas.openxmlformats.org/officeDocument/2006/relationships/notesMaster" Target="/ppt/notesMasters/notesMaster1.xml" Id="Rde738be12ebc4e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d60b3030b64783" /><Relationship Type="http://schemas.openxmlformats.org/officeDocument/2006/relationships/notesMaster" Target="/ppt/notesMasters/notesMaster1.xml" Id="Rb8dc44f1acbc43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61ccfe82eb4776" /><Relationship Type="http://schemas.openxmlformats.org/officeDocument/2006/relationships/notesMaster" Target="/ppt/notesMasters/notesMaster1.xml" Id="Rf6bb166fcfad40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4537aba8984ce2" /><Relationship Type="http://schemas.openxmlformats.org/officeDocument/2006/relationships/notesMaster" Target="/ppt/notesMasters/notesMaster1.xml" Id="Re4486678eae546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e849a2cbf2405d" /><Relationship Type="http://schemas.openxmlformats.org/officeDocument/2006/relationships/notesMaster" Target="/ppt/notesMasters/notesMaster1.xml" Id="Rdcee8456e7414c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90bb3a14784d5f" /><Relationship Type="http://schemas.openxmlformats.org/officeDocument/2006/relationships/notesMaster" Target="/ppt/notesMasters/notesMaster1.xml" Id="R18bd825277d948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1e24dc76ac44eb" /><Relationship Type="http://schemas.openxmlformats.org/officeDocument/2006/relationships/notesMaster" Target="/ppt/notesMasters/notesMaster1.xml" Id="R2430cfdbb1c94e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0aeac88dfd4c9c" /><Relationship Type="http://schemas.openxmlformats.org/officeDocument/2006/relationships/notesMaster" Target="/ppt/notesMasters/notesMaster1.xml" Id="R14f5048951ae4d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8c8d2c716847f4" /><Relationship Type="http://schemas.openxmlformats.org/officeDocument/2006/relationships/notesMaster" Target="/ppt/notesMasters/notesMaster1.xml" Id="R802e1210688c42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31c9024f3124a77" /><Relationship Type="http://schemas.openxmlformats.org/officeDocument/2006/relationships/notesMaster" Target="/ppt/notesMasters/notesMaster1.xml" Id="R7cb81d8ad855419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d006bb63344814" /><Relationship Type="http://schemas.openxmlformats.org/officeDocument/2006/relationships/notesMaster" Target="/ppt/notesMasters/notesMaster1.xml" Id="Re94c15aa4b9841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a382583a724bcb" /><Relationship Type="http://schemas.openxmlformats.org/officeDocument/2006/relationships/notesMaster" Target="/ppt/notesMasters/notesMaster1.xml" Id="R15dc769b671d4f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80ade402f604b7e" /><Relationship Type="http://schemas.openxmlformats.org/officeDocument/2006/relationships/notesMaster" Target="/ppt/notesMasters/notesMaster1.xml" Id="R7dfab44b106645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72c8944509d4307" /><Relationship Type="http://schemas.openxmlformats.org/officeDocument/2006/relationships/notesMaster" Target="/ppt/notesMasters/notesMaster1.xml" Id="R4a9b28ba7f03457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f865f5878af4f33" /><Relationship Type="http://schemas.openxmlformats.org/officeDocument/2006/relationships/notesMaster" Target="/ppt/notesMasters/notesMaster1.xml" Id="R4715cec79058471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da9d81fd44c4f60" /><Relationship Type="http://schemas.openxmlformats.org/officeDocument/2006/relationships/notesMaster" Target="/ppt/notesMasters/notesMaster1.xml" Id="R3f3e073738cb478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c785bcce3d4693" /><Relationship Type="http://schemas.openxmlformats.org/officeDocument/2006/relationships/notesMaster" Target="/ppt/notesMasters/notesMaster1.xml" Id="Rcc562db4fbab40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64da2f7cc44e51" /><Relationship Type="http://schemas.openxmlformats.org/officeDocument/2006/relationships/notesMaster" Target="/ppt/notesMasters/notesMaster1.xml" Id="Rb5cb6bd314d442b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b957a9cc0aa4e4c" /><Relationship Type="http://schemas.openxmlformats.org/officeDocument/2006/relationships/notesMaster" Target="/ppt/notesMasters/notesMaster1.xml" Id="R14634df642164f6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1b9943fb7374ada" /><Relationship Type="http://schemas.openxmlformats.org/officeDocument/2006/relationships/notesMaster" Target="/ppt/notesMasters/notesMaster1.xml" Id="Rc814d62a899b425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e8dabd15fd84208" /><Relationship Type="http://schemas.openxmlformats.org/officeDocument/2006/relationships/notesMaster" Target="/ppt/notesMasters/notesMaster1.xml" Id="Ra1cd629851d540a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917b6a7fe764f7f" /><Relationship Type="http://schemas.openxmlformats.org/officeDocument/2006/relationships/notesMaster" Target="/ppt/notesMasters/notesMaster1.xml" Id="R088baa36c07e4b9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ca16c4bc3504515" /><Relationship Type="http://schemas.openxmlformats.org/officeDocument/2006/relationships/notesMaster" Target="/ppt/notesMasters/notesMaster1.xml" Id="R83eca13105b64af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a52166a15024122" /><Relationship Type="http://schemas.openxmlformats.org/officeDocument/2006/relationships/notesMaster" Target="/ppt/notesMasters/notesMaster1.xml" Id="Reccd42cabdc3455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79831c3d9e84679" /><Relationship Type="http://schemas.openxmlformats.org/officeDocument/2006/relationships/notesMaster" Target="/ppt/notesMasters/notesMaster1.xml" Id="R64bd3955e67f4ef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b4e0758728a4210" /><Relationship Type="http://schemas.openxmlformats.org/officeDocument/2006/relationships/notesMaster" Target="/ppt/notesMasters/notesMaster1.xml" Id="R43cef347f28b4fc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6526120a0214091" /><Relationship Type="http://schemas.openxmlformats.org/officeDocument/2006/relationships/notesMaster" Target="/ppt/notesMasters/notesMaster1.xml" Id="R3eef66f9389445b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a126ed002d541d5" /><Relationship Type="http://schemas.openxmlformats.org/officeDocument/2006/relationships/notesMaster" Target="/ppt/notesMasters/notesMaster1.xml" Id="Rc2a139fd2b7641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十一回です。ノートと電卓を用意してください。第10回で、生物劣化と防腐、表面の仕上げ塗装の役割を分けました。今回は木材を接合する接着剤と、表面を仕上げる塗料を学びます。学校で使う木工用接着剤と瞬間接着剤を出発点に、構造用途で耐水性や長期耐久性が求められる接着へ広げます。実習の一律の施工処方ではなく、条件を読んで選ぶための講義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着剤の名前だけを暗記することを目標にしません。接着の仕組み、製作時の条件、使用時に保つ性能を組にします。後半では塗装を、着色、表面保護、清掃性、再塗装のしやすさから選びます。説明の後に考える時間と解説を設けます。無音の間は画面上部の残り時間を確認し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9回の構造・成分・水分・力を復習します。細胞の大きい空間へ入ることと、分子が接触して接着することを同じ一語で済ませません。木口では液を吸い込みやすい場合がありますが、深く入れば入るほど常に強くなるとは限りません。接着層に必要な量が不足する場合もあ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木口と板面へ液を置く場面を比べ、接着に影響しそうな木材の性質を二つ挙げ、理由を書いてください。画面上部の残り時間が進む間は、意図した無音です。必要なら一時停止してください。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多孔質な構造、方向による違い、含水状態などを挙げられます。木口から入りやすい場合がありますが、深く入るほど常に強くなるとは限りません。接着面へ必要な量が残り、接触して硬化する条件を考え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ぬれは液体が面へ広がって接触する性質です。水が広がる場合の観察を足場にしますが、水と全ての接着剤が同じ挙動をするわけではありません。接着を、穴に固形物を引っ掛ける効果だけに限定せず、界面の接触や相互作用も含めます。硬化の仕組みは接着剤ごとに異な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仮組みで面の合いを確認してから、指定された塗布量と作業可能時間、圧締、養生を管理します。圧締は接触を確保するためですが、強く締めるほどよいという一律の規則ではありません。木材の含水状態と温度も、乾燥や反応の進み方に関わります。圧締を外せる時点と、十分な強度へ達して荷重を掛けられる時点は、区別して製品資料で確認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合わせ、塗布、圧締、養生の順を書き、圧締を外せる時点と荷重を掛けられる時点を区別する理由を説明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解説します。接着面の接触を保ち、指定された条件で硬化させます。圧締解除後も強度の発現が進む製品があります。時刻を一律に決めず、製品の材料、温度、時間の指定を読みます。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着試験では、最大荷重だけでなく壊れた位置を記録します。木部破壊率は破断面のうち木材側で壊れた面積の割合として評価する指標です。木部破壊が多いことは接着状態を読む手掛かりですが、その試験の木材の強さにも左右されます。一回の乾燥試験で木材が壊れたから、長期の屋外使用まで保証できるとは言え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部破壊が多いという一回の乾燥試験から、屋外の長期使用まで保証できるでしょうか。追加して確認する条件を三つ書い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解説します。その試験で木材側が壊れたという情報です。水、熱、継続荷重、繰返し、木材と試験方法などを確かめます。破壊位置と最大荷重の両方を残します。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白い木工用接着剤の代表として、コニシのボンド木工用の一般品を取り上げます。主成分と分散している水を区別し、水が減って接着層を作ることを説明します。乾燥時に木部破壊を生じ得る接着でも、水、熱、継続荷重への耐久性は別に評価します。メーカーはこの一般品を耐水性を必要とする用途には使用不可としています。変性品や架橋型まで、全て同じ性質とみなさないでください。PVAcは酢酸ビニル樹脂で、ポリビニルアルコールと混同しない表記にしてい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コニシ ボンド木工用（一般品）https://www.bond.co.jp/bond/detail/item/info/productcd/10006/root/1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瞬間接着剤は、水を蒸発させる木工用接着剤と硬化の仕組みが異なります。表面などの微量な水分をきっかけに重合して固まります。だからといって、濡れた材へ大量に水を加えればよいという意味ではありません。木工用のアロンアルフアは、しみ込みやすい材料を考慮した高めの粘度の製品です。商品群には耐衝撃や耐水を改良したものもあるため、アロンアルフアという商標だけで性能を一つに決めません。大きい部材の構造接着を、固着の速さだけで選ばないことを確認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東亞合成 アロンアルフア木工用 https://www.aronalpha.com/product_search/wood/</a:t>
            </a:r>
          </a:p>
          <a:p xmlns:a="http://schemas.openxmlformats.org/drawingml/2006/main">
            <a:r>
              <a:t>東亞合成 瞬間接着剤の硬化と発熱 https://www.aronalpha.com/hatsunetsu/</a:t>
            </a:r>
          </a:p>
          <a:p xmlns:a="http://schemas.openxmlformats.org/drawingml/2006/main">
            <a:r>
              <a:t>東亞合成 アロンアルフア製品選択 https://www.aronalpha.com/support/49.html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硬化の化学と学校の加工に直接関わる扱いです。シアノアクリレートは布やティッシュへ広がると、反応が急激に進み発熱することがあるとメーカーが説明しています。生徒に発熱を起こさせる実験は設定しません。接着剤ごとに表示、換気や保護の指定、養生中の置き場所を確認します。一般の木工用接着剤の使い方を、そのまま瞬間接着剤へ置き換えないことを押さえ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東亞合成 瞬間接着剤の硬化と発熱 https://www.aronalpha.com/hatsunetsu/</a:t>
            </a:r>
          </a:p>
          <a:p xmlns:a="http://schemas.openxmlformats.org/drawingml/2006/main">
            <a:r>
              <a:t>東亞合成 アロンアルフア木工用 https://www.aronalpha.com/product_search/wood/</a:t>
            </a:r>
          </a:p>
          <a:p xmlns:a="http://schemas.openxmlformats.org/drawingml/2006/main">
            <a:r>
              <a:t>コニシ ボンド木工用（一般品）https://www.bond.co.jp/bond/detail/item/info/productcd/10006/root/1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一般的な木工用ボンドと瞬間接着剤について、固まる仕組みと、学校で扱うときの注意をそれぞれ説明してください。画面上部の残り時間が進む間は、意図した無音です。必要なら一時停止してください。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解説します。一般的な木工用ボンドでは水の移動や蒸発が接着層の形成に関わります。瞬間接着剤は微量な水分をきっかけに重合します。布やティッシュでの発熱など、製品に合った扱いを確認します。</a:t>
            </a:r>
          </a:p>
          <a:p xmlns:a="http://schemas.openxmlformats.org/drawingml/2006/main">
            <a:r>
              <a:t/>
            </a:r>
          </a:p>
          <a:p xmlns:a="http://schemas.openxmlformats.org/drawingml/2006/main">
            <a:r>
              <a:t>参照</a:t>
            </a:r>
          </a:p>
          <a:p xmlns:a="http://schemas.openxmlformats.org/drawingml/2006/main">
            <a:r>
              <a:t>東亞合成 瞬間接着剤の硬化と発熱 https://www.aronalpha.com/hatsunetsu/</a:t>
            </a:r>
          </a:p>
          <a:p xmlns:a="http://schemas.openxmlformats.org/drawingml/2006/main">
            <a:r>
              <a:t>東亞合成 アロンアルフア木工用 https://www.aronalpha.com/product_search/wood/</a:t>
            </a:r>
          </a:p>
          <a:p xmlns:a="http://schemas.openxmlformats.org/drawingml/2006/main">
            <a:r>
              <a:t>コニシ ボンド木工用（一般品）https://www.bond.co.jp/bond/detail/item/info/productcd/10006/root/1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それでは、再開します。レゾルシノール系：強度を、濡れや熱の中でも保つへ進みます。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レゾルシノール樹脂と、フェノール・レゾルシノール系の接着剤を代表例にします。高い強度に加え、濡れや熱、長期使用の条件でも接着性能を保つことが重要です。常温で硬化できる製品があり、濃い色の接着層を示す例があります。レゾルシノールが常に全ての乾燥試験で最強という順位付けをするのではなく、耐久性と構造用途の品質管理まで含めて説明します。化学の例として二液反応と架橋を扱いますが、学生が配合を推測して混ぜる活動は設定し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森林総合研究所 集成材の長期使用と接着層 https://www.ffpri.go.jp/pubs/seikasenshu/dai2ki/documents/aub.pdf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ポキシ系は主剤と硬化剤の反応で硬化し、木材のほか他材料との接着や補修に用いる例があります。充填性や耐水性は配合・製品で異なり、厚い隙間を埋めれば常に高強度になるとは限りません。水性高分子－イソシアネート系、EPIは、エマルジョンに別の硬化剤を加える系で、集成材などの工業用途があります。水性という語だけで、普通の木工用接着剤と同じ乾燥型と考えないことが要点です。単一成分ウレタン接着剤とも同一視せず、製品と適用条件を読み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フェノール樹脂系は耐水・耐候性を求める合板などに使う例があります。ユリア樹脂系は乾燥した室内用途の製品に使う例で、一般に耐水性は制約になります。メラミンや、メラミンを組み合わせた系では、配合によって耐水性等を調整します。材料名だけでどの接着剤が使われていると決めず、製品の表示と使用条件を確認します。次回の合板・LVL・ボード類では、要素と配向に加えて接着と水分条件を読み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工用ボンド、瞬間接着剤、レゾルシノール系を、硬化条件、乾燥強度、湿潤時の耐久性という三つの欄で比較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木工用ボンドの一般品と耐水改良品を区別します。瞬間接着剤は固着の速さだけで構造接着を選びません。レゾルシノール系は高い強度と耐水耐熱、長期耐久性を生かしますが、工程の管理も必要で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乾燥時の接着強さ、耐水・耐熱などの耐久性、長期荷重への抵抗は別の問いです。試験体の樹種や繊維方向、面積、継手形式、養生、試験方法も関わります。普通の木工用接着剤でも適切な乾燥条件では木材が壊れる場合があります。構造用途では、初期の最大荷重だけでなく、長い期間にわたり必要な性能を保つ根拠が求められ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力学の力と面積を復習します。重ね継手の面積で荷重を割った見かけの平均値を使います。重ね継手には曲げや端部の応力集中もあり、全ての位置が均一なせん断状態になるとは限りません。計算値をそのまま実物の許容応力や設計荷重にしないことを伝えます。単位換算は、1 MPaが1 N/mm²になる関係を確認します。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一ニュートン毎平方ミリメートルが一メガパスカルになる理由を、平方メートルへの換算を使って説明してください。画面上部の残り時間が進む間は、意図した無音です。必要なら一時停止してください。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一平方ミリメートルは百万分の一平方メートルです。したがって一ニュートンを一平方ミリメートルで割ると、百万ニュートン毎平方メートル、百万パスカルです。一メガパスカルと一致し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表は接着剤の銘柄を示さない学習用仮想値です。いずれも接着幅20 mm、重ね長さ25 mm、同じ樹種・継手・養生・試験条件を仮定します。指定の湿潤処理後に同じ方法で試験した結果とします。①接着面積を求める。②A・Bの乾燥時と湿潤処理後の見かけの平均せん断応力を求める。③湿潤処理後の荷重／乾燥時の荷重×100で保持率を求める。④この結果だけで構造用途へ採用できるか説明する。画面の問いに順に取り組んでください。答えと途中の式、判断に使った条件をノートへ残します。考える時間の後に解説へ進み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面積は20×25＝500 mm²です。Aは乾燥6.0 MPa、湿潤処理後1.2 MPa、保持率20%。Bは乾燥7.0 MPa、湿潤処理後5.6 MPa、保持率80%です。保持率が高いことと必要な絶対強度を満たすことは、両方確認します。試験数、ばらつき、木部破壊率、湿潤処理の内容、温度や長期荷重なども不明で、構造用途へそのまま採用でき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それでは、再開します。演習2　学校の製作で、接着剤を選ぶへ進みます。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つの用途は必要な性能が異なります。室内の木製小物には一般的な木工用接着剤を候補にできますが、接着面や圧締・養生を確認します。小部品の位置決めでは瞬間接着剤を候補にし、適材と作業時の扱いを確認します。屋外の荷重を受ける台では、耐水性、耐久性、接合法や製品の適用範囲まで確認します。ここでは適用品が決まるだけの情報を全て与えていないため、不足情報を挙げることも解答です。画面の問いに順に取り組んでください。答えと途中の式、判断に使った条件をノートへ残します。考える時間の後に解説へ進みます。</a:t>
            </a:r>
          </a:p>
          <a:p xmlns:a="http://schemas.openxmlformats.org/drawingml/2006/main">
            <a:r>
              <a:t/>
            </a:r>
          </a:p>
          <a:p xmlns:a="http://schemas.openxmlformats.org/drawingml/2006/main">
            <a:r>
              <a:t>自己確認の解説</a:t>
            </a:r>
          </a:p>
          <a:p xmlns:a="http://schemas.openxmlformats.org/drawingml/2006/main">
            <a:r>
              <a:t>用途ごとに、必要な性能と資料の確認項目が対応していればよい。商品名だけで断定しない。乾燥強さと耐水性、硬化の速さと十分な強度の発現を区別する。</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コニシ ボンド木工用（一般品）https://www.bond.co.jp/bond/detail/item/info/productcd/10006/root/1</a:t>
            </a:r>
          </a:p>
          <a:p xmlns:a="http://schemas.openxmlformats.org/drawingml/2006/main">
            <a:r>
              <a:t>東亞合成 アロンアルフア木工用 https://www.aronalpha.com/product_search/wood/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乾燥試験で強かった接着剤を、雨の当たる荷重部へ採用する前に、確認する情報を四つ挙げてください。画面上部の残り時間が進む間は、意図した無音です。必要なら一時停止してください。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解説します。対象材、湿潤や温度、継続荷重と耐久性、硬化工程、製品の適用条件などです。乾燥時の一つの試験値だけでは採用を決められません。</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コニシ ボンド木工用（一般品）https://www.bond.co.jp/bond/detail/item/info/productcd/10006/root/1</a:t>
            </a:r>
          </a:p>
          <a:p xmlns:a="http://schemas.openxmlformats.org/drawingml/2006/main">
            <a:r>
              <a:t>東亞合成 アロンアルフア木工用 https://www.aronalpha.com/product_search/wood/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塗装は色を付けるだけの工程ではありません。室内では外観と清掃性、屋外では光や水などからの保護が重要になります。ただし、塗装が材内部への水分移動や腐朽を常に完全に止めるわけではありません。屋外で使うなら、形や水の経路、塗膜の点検と再塗装を合わせて計画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浸透形と塗膜形成形は、表面にどのような層を作るかという見方です。オイルや一部のステインは、木目を生かし浸透を主体にする例がありますが、製品差があります。ニスや塗りつぶし塗料は、表面に連続した塗膜を作る例です。ステインは単なる着色剤を指す場合もあり、防腐や防水の性能があると名前だけで決めません。透明な仕上げは木目を見せますが、屋外の光に対する性能や再塗装の時期を製品ごとに確認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性という語は、使用前に水を主な媒体としていることを示します。硬化後に必ず水へ溶ける、耐水性がない、という意味ではありません。逆に、油性だから全て屋外の耐久性が高いとも言えません。ニスという仕上げの呼び方と、ウレタンなど樹脂の系統、硬化の方法も、別の軸として整理します。乾いたように触れる時点と、使用できるまでの養生を区別して、製品の表示を読み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性という表示と、硬化後の耐水性が別の情報である理由を説明し、塗料を選ぶときの別の比較軸を二つ書い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解説します。水性は主に塗るときの媒体に関する情報です。硬化後の性能は樹脂や硬化、製品条件も関わります。浸透形と塗膜形成、屋内外、保守の方法などを別に比較します。</a:t>
            </a:r>
          </a:p>
          <a:p xmlns:a="http://schemas.openxmlformats.org/drawingml/2006/main">
            <a:r>
              <a:t/>
            </a:r>
          </a:p>
          <a:p xmlns:a="http://schemas.openxmlformats.org/drawingml/2006/main">
            <a:r>
              <a:t>参照</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9回の収縮と膨潤へ戻ります。表面に塗膜を作っても、その下の木材は水分変化へ応答します。木材の動きや濡れが塗膜に影響し、塗膜の傷みから水が入りやすくなることも考えます。仕上げ時の含水状態と使用環境を近付けること、雨水の経路と乾く経路を確保することが重要です。板の片面を塗れば反りが完全に止まるという説明は避け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通常の木工用接着剤では、塗膜を介した面より、適切に調整した木材面同士を接着することが基本になります。先に塗装する場合は、接着面をどう扱うかを計画し、製品の適用材と工程を確認します。接着剤のはみ出しは、後の着色や吸込みのむらにも関わります。塗装を先にするか、接着を先にするかは、形と接着面、仕上げを組み合わせて考え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10回で学んだ保存処理とつなげます。水をはじくこと、光から守ること、菌の働きを抑えることはそれぞれ異なる機能です。一つの製品が複数の機能を持つ場合もありますが、透明である、色が付いているという見え方から機能を推測しません。処理材に塗装する場合は、材料の乾燥や塗料との適合を確認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第16章 https://research.fs.usda.gov/treesearch/62269</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それでは、再開します。自己確認　塗装と保存処理へ進みます。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透明な仕上げ塗装をした木材なら内部まで防腐されたと言えるでしょうか。何を確認すべきかを説明してください。画面上部の残り時間が進む間は、意図した無音です。必要なら一時停止してください。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解説します。透明という外観から防腐性能や内部の処理範囲は確定できません。製品の機能、対象生物、処理方法と範囲を読み、排水と乾燥、点検も組み合わせます。</a:t>
            </a:r>
          </a:p>
          <a:p xmlns:a="http://schemas.openxmlformats.org/drawingml/2006/main">
            <a:r>
              <a:t/>
            </a:r>
          </a:p>
          <a:p xmlns:a="http://schemas.openxmlformats.org/drawingml/2006/main">
            <a:r>
              <a:t>参照</a:t>
            </a:r>
          </a:p>
          <a:p xmlns:a="http://schemas.openxmlformats.org/drawingml/2006/main">
            <a:r>
              <a:t>USDA Wood Handbook 2021 第16章 https://research.fs.usda.gov/treesearch/62269</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雨の当たる荷重を受ける台についての紙上演習です。一般の木工用接着剤と透明ニスを塗れば十分、と結論した生徒の説明を見直します。接着の耐水性と、木材の吸水や腐朽、塗膜の維持を別に検討し、それらを排水や乾燥と対応させます。材料だけを高性能なものへ替えるのでなく、接合や支持部の状態、保守も含めて計画します。画面の問いに順に取り組んでください。答えと途中の式、判断に使った条件をノートへ残します。考える時間の後に解説へ進みます。</a:t>
            </a:r>
          </a:p>
          <a:p xmlns:a="http://schemas.openxmlformats.org/drawingml/2006/main">
            <a:r>
              <a:t/>
            </a:r>
          </a:p>
          <a:p xmlns:a="http://schemas.openxmlformats.org/drawingml/2006/main">
            <a:r>
              <a:t>自己確認の解説</a:t>
            </a:r>
          </a:p>
          <a:p xmlns:a="http://schemas.openxmlformats.org/drawingml/2006/main">
            <a:r>
              <a:t>水を流し乾く形を優先し、接着剤は対象材・荷重・湿潤条件・耐久性・工程を確認。塗料は屋外適合・塗膜の維持、保存処理は薬剤・処理範囲と加工後の扱いを確認。支持部が傷めば状態確認と補修・交換を検討する。</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では、商品名を当てたかより、使用条件と選択の理由が対応するかを見ます。短い説明でも、何を接着し、どんな水分や荷重に置かれ、どう硬化させるかがそろっていれば理解を確認できます。第12回の合板・LVL・ボード類では、接着の知識を要素と配向の比較へ使います。正式な課題A4は第15回後の既存設問を用い、今回は自己確認の演習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典の表10–1は接着剤の硬化、強度、用途を比較するために参照しました。個別製品の数値強度を、樹種や試験の異なる資料から並べて最強順位にすることはしていません。製品ページは2026年10月28日に確認したもので、実習前には使用する製品の最新の表示と条件を再確認します。塗装は第16章、木材の水分との関係を中心に読み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a:p xmlns:a="http://schemas.openxmlformats.org/drawingml/2006/main">
            <a:r>
              <a:t>コニシ ボンド木工用（一般品）https://www.bond.co.jp/bond/detail/item/info/productcd/10006/root/1</a:t>
            </a:r>
          </a:p>
          <a:p xmlns:a="http://schemas.openxmlformats.org/drawingml/2006/main">
            <a:r>
              <a:t>東亞合成 アロンアルフア木工用 https://www.aronalpha.com/product_search/wood/</a:t>
            </a:r>
          </a:p>
          <a:p xmlns:a="http://schemas.openxmlformats.org/drawingml/2006/main">
            <a:r>
              <a:t>東亞合成 瞬間接着剤の硬化と発熱 https://www.aronalpha.com/hatsunetsu/</a:t>
            </a:r>
          </a:p>
          <a:p xmlns:a="http://schemas.openxmlformats.org/drawingml/2006/main">
            <a:r>
              <a:t>文部科学省 中学校学習指導要領解説 技術・家庭編 https://www.mext.go.jp/component/a_menu/education/micro_detail/__icsFiles/afieldfile/2019/03/18/1387018_009.pdf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a25f65b52042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3a869ab91543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162747128f43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c6c5b26d1e4e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e0fc8ce3d74c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d99741edcb47c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9da6cddf1b4b498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e3333a3cd9ce488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c28f6805deb1467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4c97bffafc09420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c52004993f31419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4c54023d33924a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77FF0C-B922-4168-81A3-182A2E0C0F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30B460-C524-41B8-B482-ADA2E31C34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68FAA8-0928-43AD-9563-DF729729FC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A355BB-51D4-4B4F-89FF-E992067DAA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251C0E-94DD-46A8-A5EA-C241CED227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E9253F-8CCE-44C4-A4C7-F23FE36389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1D55-C1AC-4138-9D3B-52AB3F7080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C535A4-6BD3-48CD-B4AA-D60E8A5915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AB39AA-2786-4512-B830-842A0B988C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D702E2-941C-4502-B769-DD3D863BA6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316d32ceb0412b" /><Relationship Type="http://schemas.openxmlformats.org/officeDocument/2006/relationships/slideLayout" Target="/ppt/slideLayouts/slideLayout1.xml" Id="R2e66b095bab84522" /><Relationship Type="http://schemas.openxmlformats.org/officeDocument/2006/relationships/slideLayout" Target="/ppt/slideLayouts/slideLayout2.xml" Id="Rd32f43b5c6694573" /><Relationship Type="http://schemas.openxmlformats.org/officeDocument/2006/relationships/slideLayout" Target="/ppt/slideLayouts/slideLayout3.xml" Id="R26bf984090a14ad7" /><Relationship Type="http://schemas.openxmlformats.org/officeDocument/2006/relationships/slideLayout" Target="/ppt/slideLayouts/slideLayout4.xml" Id="R0d3008fd1150458d" /><Relationship Type="http://schemas.openxmlformats.org/officeDocument/2006/relationships/slideLayout" Target="/ppt/slideLayouts/slideLayout5.xml" Id="R95b02d1b1c564c12" /><Relationship Type="http://schemas.openxmlformats.org/officeDocument/2006/relationships/slideLayout" Target="/ppt/slideLayouts/slideLayout6.xml" Id="R0efef76daef14f3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84bafcd8af8431c" /><Relationship Type="http://schemas.openxmlformats.org/officeDocument/2006/relationships/slideLayout" Target="/ppt/slideLayouts/slideLayout7.xml" Id="Rafa6911bf69c4d2e" /><Relationship Type="http://schemas.openxmlformats.org/officeDocument/2006/relationships/slideLayout" Target="/ppt/slideLayouts/slideLayout8.xml" Id="Rcd710e8c9ab4474b" /><Relationship Type="http://schemas.openxmlformats.org/officeDocument/2006/relationships/slideLayout" Target="/ppt/slideLayouts/slideLayout9.xml" Id="R006f2e9a4d044024" /><Relationship Type="http://schemas.openxmlformats.org/officeDocument/2006/relationships/slideLayout" Target="/ppt/slideLayouts/slideLayout10.xml" Id="Rdf49803846324ad2" /><Relationship Type="http://schemas.openxmlformats.org/officeDocument/2006/relationships/slideLayout" Target="/ppt/slideLayouts/slideLayout11.xml" Id="R651099b0d3ad496f" /><Relationship Type="http://schemas.openxmlformats.org/officeDocument/2006/relationships/slideLayout" Target="/ppt/slideLayouts/slideLayout12.xml" Id="R012de60fd53d49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66b095bab84522"/>
    <p:sldLayoutId xmlns:r="http://schemas.openxmlformats.org/officeDocument/2006/relationships" id="2147483650" r:id="Rd32f43b5c6694573"/>
    <p:sldLayoutId xmlns:r="http://schemas.openxmlformats.org/officeDocument/2006/relationships" id="2147483651" r:id="R26bf984090a14ad7"/>
    <p:sldLayoutId xmlns:r="http://schemas.openxmlformats.org/officeDocument/2006/relationships" id="2147483652" r:id="R0d3008fd1150458d"/>
    <p:sldLayoutId xmlns:r="http://schemas.openxmlformats.org/officeDocument/2006/relationships" id="2147483653" r:id="R95b02d1b1c564c12"/>
    <p:sldLayoutId xmlns:r="http://schemas.openxmlformats.org/officeDocument/2006/relationships" id="2147483654" r:id="R0efef76daef14f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afa6911bf69c4d2e"/>
    <p:sldLayoutId xmlns:r="http://schemas.openxmlformats.org/officeDocument/2006/relationships" id="2147483657" r:id="Rcd710e8c9ab4474b"/>
    <p:sldLayoutId xmlns:r="http://schemas.openxmlformats.org/officeDocument/2006/relationships" id="2147483658" r:id="R006f2e9a4d044024"/>
    <p:sldLayoutId xmlns:r="http://schemas.openxmlformats.org/officeDocument/2006/relationships" id="2147483659" r:id="Rdf49803846324ad2"/>
    <p:sldLayoutId xmlns:r="http://schemas.openxmlformats.org/officeDocument/2006/relationships" id="2147483660" r:id="R651099b0d3ad496f"/>
    <p:sldLayoutId xmlns:r="http://schemas.openxmlformats.org/officeDocument/2006/relationships" id="2147483661" r:id="R012de60fd53d49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195ac7453754fe7" /><Relationship Type="http://schemas.openxmlformats.org/officeDocument/2006/relationships/notesSlide" Target="/ppt/notesSlides/notesSlide1.xml" Id="R47b9e24d84fc4e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9a6bf62de74259" /><Relationship Type="http://schemas.openxmlformats.org/officeDocument/2006/relationships/notesSlide" Target="/ppt/notesSlides/notesSlide2.xml" Id="R150fdb4a286343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ef452e2067449b" /><Relationship Type="http://schemas.openxmlformats.org/officeDocument/2006/relationships/notesSlide" Target="/ppt/notesSlides/notesSlide3.xml" Id="R09a1bddeb31542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d358413dc4452d" /><Relationship Type="http://schemas.openxmlformats.org/officeDocument/2006/relationships/notesSlide" Target="/ppt/notesSlides/notesSlide4.xml" Id="Rb0d7e45217f845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b17215d872423f" /><Relationship Type="http://schemas.openxmlformats.org/officeDocument/2006/relationships/notesSlide" Target="/ppt/notesSlides/notesSlide5.xml" Id="Reb30b72a33be4f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5d2ade7d104423" /><Relationship Type="http://schemas.openxmlformats.org/officeDocument/2006/relationships/notesSlide" Target="/ppt/notesSlides/notesSlide6.xml" Id="R504c1e6917014b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a410f6063f4ff2" /><Relationship Type="http://schemas.openxmlformats.org/officeDocument/2006/relationships/notesSlide" Target="/ppt/notesSlides/notesSlide7.xml" Id="R368b5933de7e4a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598d1d03064bba" /><Relationship Type="http://schemas.openxmlformats.org/officeDocument/2006/relationships/notesSlide" Target="/ppt/notesSlides/notesSlide8.xml" Id="Rb583cee7825440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ef48ad7fb04b8f" /><Relationship Type="http://schemas.openxmlformats.org/officeDocument/2006/relationships/notesSlide" Target="/ppt/notesSlides/notesSlide9.xml" Id="R893dd44a9fb94c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6f303ef218c4b99" /><Relationship Type="http://schemas.openxmlformats.org/officeDocument/2006/relationships/image" Target="/ppt/media/image.jpeg" Id="R71506ad46e774c66" /><Relationship Type="http://schemas.openxmlformats.org/officeDocument/2006/relationships/notesSlide" Target="/ppt/notesSlides/notesSlide10.xml" Id="R9395548b770049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0b9f172d9ef46af" /><Relationship Type="http://schemas.openxmlformats.org/officeDocument/2006/relationships/image" Target="/ppt/media/image2.jpeg" Id="R17dd447b71884ad8" /><Relationship Type="http://schemas.openxmlformats.org/officeDocument/2006/relationships/notesSlide" Target="/ppt/notesSlides/notesSlide11.xml" Id="R4236174bbf7241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65a7c50e33a486f" /><Relationship Type="http://schemas.openxmlformats.org/officeDocument/2006/relationships/notesSlide" Target="/ppt/notesSlides/notesSlide12.xml" Id="R8b0a0bc8b6174e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f3a74518f8b468f" /><Relationship Type="http://schemas.openxmlformats.org/officeDocument/2006/relationships/notesSlide" Target="/ppt/notesSlides/notesSlide13.xml" Id="R86bf9274f2a14b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e3d36a2983c4aee" /><Relationship Type="http://schemas.openxmlformats.org/officeDocument/2006/relationships/notesSlide" Target="/ppt/notesSlides/notesSlide14.xml" Id="R1145a029513140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c2be2dfd7f646c0" /><Relationship Type="http://schemas.openxmlformats.org/officeDocument/2006/relationships/notesSlide" Target="/ppt/notesSlides/notesSlide15.xml" Id="R771faff079f34b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e8ab924dc054f89" /><Relationship Type="http://schemas.openxmlformats.org/officeDocument/2006/relationships/notesSlide" Target="/ppt/notesSlides/notesSlide16.xml" Id="R62e957768bfb4c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a77dbc049cf48b0" /><Relationship Type="http://schemas.openxmlformats.org/officeDocument/2006/relationships/notesSlide" Target="/ppt/notesSlides/notesSlide17.xml" Id="Re8820c587b104f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08b5e1816bf46dc" /><Relationship Type="http://schemas.openxmlformats.org/officeDocument/2006/relationships/notesSlide" Target="/ppt/notesSlides/notesSlide18.xml" Id="Rfa7c6753f9484ca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2f45e900d1e4c10" /><Relationship Type="http://schemas.openxmlformats.org/officeDocument/2006/relationships/notesSlide" Target="/ppt/notesSlides/notesSlide19.xml" Id="R5c69cff4c13243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40fd999adf74429" /><Relationship Type="http://schemas.openxmlformats.org/officeDocument/2006/relationships/notesSlide" Target="/ppt/notesSlides/notesSlide20.xml" Id="Rd92c34cd81be473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e69c7a9575b4bae" /><Relationship Type="http://schemas.openxmlformats.org/officeDocument/2006/relationships/notesSlide" Target="/ppt/notesSlides/notesSlide21.xml" Id="R07fb8f74593e4f8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28da5ce7b9b41b0" /><Relationship Type="http://schemas.openxmlformats.org/officeDocument/2006/relationships/notesSlide" Target="/ppt/notesSlides/notesSlide22.xml" Id="Re15af13464b840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e23ec39e1074343" /><Relationship Type="http://schemas.openxmlformats.org/officeDocument/2006/relationships/notesSlide" Target="/ppt/notesSlides/notesSlide23.xml" Id="Ra8c22e302b734e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9b681fb7ce44553" /><Relationship Type="http://schemas.openxmlformats.org/officeDocument/2006/relationships/notesSlide" Target="/ppt/notesSlides/notesSlide24.xml" Id="Rb3d30b0e88a74a0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1d80dfad47044d4" /><Relationship Type="http://schemas.openxmlformats.org/officeDocument/2006/relationships/notesSlide" Target="/ppt/notesSlides/notesSlide25.xml" Id="Ra25d4d2a824b43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ce6b0ac719d4a90" /><Relationship Type="http://schemas.openxmlformats.org/officeDocument/2006/relationships/notesSlide" Target="/ppt/notesSlides/notesSlide26.xml" Id="Rbde84c9ff5a440a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efac25ac1854ef4" /><Relationship Type="http://schemas.openxmlformats.org/officeDocument/2006/relationships/notesSlide" Target="/ppt/notesSlides/notesSlide27.xml" Id="Rdf3b7f49a26d40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4529aed5a1246c6" /><Relationship Type="http://schemas.openxmlformats.org/officeDocument/2006/relationships/notesSlide" Target="/ppt/notesSlides/notesSlide28.xml" Id="Rf44ca2d955eb44e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8f7ef63cc8540e5" /><Relationship Type="http://schemas.openxmlformats.org/officeDocument/2006/relationships/notesSlide" Target="/ppt/notesSlides/notesSlide29.xml" Id="R465ae9885a1a42a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1d51a17c97e4b98" /><Relationship Type="http://schemas.openxmlformats.org/officeDocument/2006/relationships/notesSlide" Target="/ppt/notesSlides/notesSlide30.xml" Id="Rf0fc75f073bd4ba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528171ac58c4908" /><Relationship Type="http://schemas.openxmlformats.org/officeDocument/2006/relationships/notesSlide" Target="/ppt/notesSlides/notesSlide31.xml" Id="Rb8110d8673c7472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b51c05de3844cec" /><Relationship Type="http://schemas.openxmlformats.org/officeDocument/2006/relationships/notesSlide" Target="/ppt/notesSlides/notesSlide32.xml" Id="Rbb53793f1d5146f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2d9c4fe519e4278" /><Relationship Type="http://schemas.openxmlformats.org/officeDocument/2006/relationships/notesSlide" Target="/ppt/notesSlides/notesSlide33.xml" Id="R9af3aaeb07a24c6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1df55b8f0d148c5" /><Relationship Type="http://schemas.openxmlformats.org/officeDocument/2006/relationships/notesSlide" Target="/ppt/notesSlides/notesSlide34.xml" Id="R1bbce33079e845e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656b25a73fd4276" /><Relationship Type="http://schemas.openxmlformats.org/officeDocument/2006/relationships/notesSlide" Target="/ppt/notesSlides/notesSlide35.xml" Id="R6c06ed7b427f4b6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61063a91faf450d" /><Relationship Type="http://schemas.openxmlformats.org/officeDocument/2006/relationships/notesSlide" Target="/ppt/notesSlides/notesSlide36.xml" Id="Rb2080dbba37244c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cee35af317c4a4b" /><Relationship Type="http://schemas.openxmlformats.org/officeDocument/2006/relationships/notesSlide" Target="/ppt/notesSlides/notesSlide37.xml" Id="R28e726eddd5f469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778d83db57a478b" /><Relationship Type="http://schemas.openxmlformats.org/officeDocument/2006/relationships/notesSlide" Target="/ppt/notesSlides/notesSlide38.xml" Id="Rb6e1eaa167cc448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7A9362-6C43-44D5-BC20-E668C0202B0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第11回　木材の接着と塗装</a:t>
            </a:r>
          </a:p>
        </p:txBody>
      </p:sp>
      <p:sp>
        <p:nvSpPr>
          <p:cNvPr id="2" name="">
            <a:extLst xmlns:a="http://schemas.openxmlformats.org/drawingml/2006/main">
              <a:ext uri="{FF2B5EF4-FFF2-40B4-BE49-F238E27FC236}">
                <a16:creationId xmlns:a16="http://schemas.microsoft.com/office/drawing/2014/main" id="{EF63DDB5-0F5B-4BBE-9027-71EDEF019E0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326D84-7B85-4E37-9FC6-2CA7077BD91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156BC70B-E715-4E68-BBE3-447A443B8D1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B3092DB9-E5DA-42CF-AD7C-C94F3E79496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木材の表面・水分・力と、接着・塗装を結び付ける</a:t>
            </a:r>
          </a:p>
        </p:txBody>
      </p:sp>
      <p:sp>
        <p:nvSpPr>
          <p:cNvPr id="6" name="">
            <a:extLst xmlns:a="http://schemas.openxmlformats.org/drawingml/2006/main">
              <a:ext uri="{FF2B5EF4-FFF2-40B4-BE49-F238E27FC236}">
                <a16:creationId xmlns:a16="http://schemas.microsoft.com/office/drawing/2014/main" id="{E739C21F-C0FD-4F8B-9DFE-824F00BE6CE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学校の製作と、木質材料の接着を比較する</a:t>
            </a:r>
          </a:p>
        </p:txBody>
      </p:sp>
      <p:sp>
        <p:nvSpPr>
          <p:cNvPr id="7" name="">
            <a:extLst xmlns:a="http://schemas.openxmlformats.org/drawingml/2006/main">
              <a:ext uri="{FF2B5EF4-FFF2-40B4-BE49-F238E27FC236}">
                <a16:creationId xmlns:a16="http://schemas.microsoft.com/office/drawing/2014/main" id="{29769596-762E-4A2A-B010-72ED54CD7ED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乾燥強度、耐水性、硬化条件を分けて選ぶ</a:t>
            </a:r>
          </a:p>
        </p:txBody>
      </p:sp>
    </p:spTree>
    <p:extLst>
      <p:ext uri="{BB962C8B-B14F-4D97-AF65-F5344CB8AC3E}">
        <p14:creationId xmlns:p14="http://schemas.microsoft.com/office/powerpoint/2010/main" val="18627358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C9D4FA-2995-4995-90A0-45E49149D1E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今日の到達点</a:t>
            </a:r>
          </a:p>
        </p:txBody>
      </p:sp>
      <p:sp>
        <p:nvSpPr>
          <p:cNvPr id="2" name="">
            <a:extLst xmlns:a="http://schemas.openxmlformats.org/drawingml/2006/main">
              <a:ext uri="{FF2B5EF4-FFF2-40B4-BE49-F238E27FC236}">
                <a16:creationId xmlns:a16="http://schemas.microsoft.com/office/drawing/2014/main" id="{C969BBB4-9F14-47F6-BDB2-CF38379F3AD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FB0CA8-6B2A-41E8-A357-C89BAB2E707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4A538C3-0470-446B-9192-BF4930E043B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D84E71E2-C8D3-4713-82E3-9DB4D74ADD2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接着面と硬化条件を説明する</a:t>
            </a:r>
          </a:p>
        </p:txBody>
      </p:sp>
      <p:sp>
        <p:nvSpPr>
          <p:cNvPr id="6" name="">
            <a:extLst xmlns:a="http://schemas.openxmlformats.org/drawingml/2006/main">
              <a:ext uri="{FF2B5EF4-FFF2-40B4-BE49-F238E27FC236}">
                <a16:creationId xmlns:a16="http://schemas.microsoft.com/office/drawing/2014/main" id="{A5F11F15-C468-4819-ABDC-9EB9B582EE3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代表的接着剤の用途・強度・耐水性を比較する</a:t>
            </a:r>
          </a:p>
        </p:txBody>
      </p:sp>
      <p:sp>
        <p:nvSpPr>
          <p:cNvPr id="7" name="">
            <a:extLst xmlns:a="http://schemas.openxmlformats.org/drawingml/2006/main">
              <a:ext uri="{FF2B5EF4-FFF2-40B4-BE49-F238E27FC236}">
                <a16:creationId xmlns:a16="http://schemas.microsoft.com/office/drawing/2014/main" id="{E384E0E9-163E-41FC-9B76-1B07BDDCA403}"/>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接着強さを計算し、破壊位置も読む</a:t>
            </a:r>
          </a:p>
        </p:txBody>
      </p:sp>
      <p:sp>
        <p:nvSpPr>
          <p:cNvPr id="8" name="">
            <a:extLst xmlns:a="http://schemas.openxmlformats.org/drawingml/2006/main">
              <a:ext uri="{FF2B5EF4-FFF2-40B4-BE49-F238E27FC236}">
                <a16:creationId xmlns:a16="http://schemas.microsoft.com/office/drawing/2014/main" id="{A581145B-8649-46C5-ABE8-5EB2884ABCCD}"/>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④ 塗装の目的と、使用中の保守を説明する</a:t>
            </a:r>
          </a:p>
        </p:txBody>
      </p:sp>
    </p:spTree>
    <p:extLst>
      <p:ext uri="{BB962C8B-B14F-4D97-AF65-F5344CB8AC3E}">
        <p14:creationId xmlns:p14="http://schemas.microsoft.com/office/powerpoint/2010/main" val="2646095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9E35B8-17E3-4DA1-AADC-9299DC32392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接着する木材にも、構造と水分がある</a:t>
            </a:r>
          </a:p>
        </p:txBody>
      </p:sp>
      <p:sp>
        <p:nvSpPr>
          <p:cNvPr id="2" name="">
            <a:extLst xmlns:a="http://schemas.openxmlformats.org/drawingml/2006/main">
              <a:ext uri="{FF2B5EF4-FFF2-40B4-BE49-F238E27FC236}">
                <a16:creationId xmlns:a16="http://schemas.microsoft.com/office/drawing/2014/main" id="{365C54FB-A313-4B3A-9D4A-AC8CCE00197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F1F748-3684-4A33-B6A7-B37D4A69ABB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59CB0260-C012-4AB1-B085-C79EFA0F456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F5E24737-A2EC-4763-8467-12C1A353E6F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多孔質：接着剤が広がり、入り込む程度が変わる</a:t>
            </a:r>
          </a:p>
        </p:txBody>
      </p:sp>
      <p:sp>
        <p:nvSpPr>
          <p:cNvPr id="6" name="">
            <a:extLst xmlns:a="http://schemas.openxmlformats.org/drawingml/2006/main">
              <a:ext uri="{FF2B5EF4-FFF2-40B4-BE49-F238E27FC236}">
                <a16:creationId xmlns:a16="http://schemas.microsoft.com/office/drawing/2014/main" id="{D317AFDC-58D2-4BA8-A003-D8BAF7E7420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異方性：木口・板面、繊維方向で条件が異なる</a:t>
            </a:r>
          </a:p>
        </p:txBody>
      </p:sp>
      <p:sp>
        <p:nvSpPr>
          <p:cNvPr id="7" name="">
            <a:extLst xmlns:a="http://schemas.openxmlformats.org/drawingml/2006/main">
              <a:ext uri="{FF2B5EF4-FFF2-40B4-BE49-F238E27FC236}">
                <a16:creationId xmlns:a16="http://schemas.microsoft.com/office/drawing/2014/main" id="{00510783-7EFC-4045-BB18-6F4C4956F0B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吸湿・乾燥：木材も動き、接着部に力が生じる</a:t>
            </a:r>
          </a:p>
        </p:txBody>
      </p:sp>
      <p:sp>
        <p:nvSpPr>
          <p:cNvPr id="8" name="">
            <a:extLst xmlns:a="http://schemas.openxmlformats.org/drawingml/2006/main">
              <a:ext uri="{FF2B5EF4-FFF2-40B4-BE49-F238E27FC236}">
                <a16:creationId xmlns:a16="http://schemas.microsoft.com/office/drawing/2014/main" id="{01ED7029-B378-46C0-9825-D2BEC73061A2}"/>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表面のほこり・油・古い塗膜も確認する</a:t>
            </a:r>
          </a:p>
        </p:txBody>
      </p:sp>
    </p:spTree>
    <p:extLst>
      <p:ext uri="{BB962C8B-B14F-4D97-AF65-F5344CB8AC3E}">
        <p14:creationId xmlns:p14="http://schemas.microsoft.com/office/powerpoint/2010/main" val="10341365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A18B68-AB7F-4A50-A286-8A4EB58E06B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構造と接着面</a:t>
            </a:r>
          </a:p>
        </p:txBody>
      </p:sp>
      <p:sp>
        <p:nvSpPr>
          <p:cNvPr id="2" name="">
            <a:extLst xmlns:a="http://schemas.openxmlformats.org/drawingml/2006/main">
              <a:ext uri="{FF2B5EF4-FFF2-40B4-BE49-F238E27FC236}">
                <a16:creationId xmlns:a16="http://schemas.microsoft.com/office/drawing/2014/main" id="{1B8C87FD-A65D-46BC-BA45-D5A675605D4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0CFF90-BEAF-4C9C-A530-E0756BF75C1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24C227C9-F1B3-463E-B8EC-ACFE7AA9AAC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B9DB5E10-DF55-48C6-BCB7-86C2AE3BA34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木口と板面へ液を置く場面を比べ、接着に影響しそうな木材の性質を二つ挙</a:t>
            </a:r>
          </a:p>
        </p:txBody>
      </p:sp>
      <p:sp>
        <p:nvSpPr>
          <p:cNvPr id="6" name="">
            <a:extLst xmlns:a="http://schemas.openxmlformats.org/drawingml/2006/main">
              <a:ext uri="{FF2B5EF4-FFF2-40B4-BE49-F238E27FC236}">
                <a16:creationId xmlns:a16="http://schemas.microsoft.com/office/drawing/2014/main" id="{23FEAA9C-FD52-4D7F-9914-3CB9D087E14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げ、理由を書いてください。</a:t>
            </a:r>
          </a:p>
        </p:txBody>
      </p:sp>
      <p:sp>
        <p:nvSpPr>
          <p:cNvPr id="7" name="">
            <a:extLst xmlns:a="http://schemas.openxmlformats.org/drawingml/2006/main">
              <a:ext uri="{FF2B5EF4-FFF2-40B4-BE49-F238E27FC236}">
                <a16:creationId xmlns:a16="http://schemas.microsoft.com/office/drawing/2014/main" id="{273760AF-3999-4DEC-AD41-8BA165F8BCCA}"/>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6319919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C59676-B55F-497C-8391-46D01E6ACB2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接着面のぬれと、接着層の形成</a:t>
            </a:r>
          </a:p>
        </p:txBody>
      </p:sp>
      <p:sp>
        <p:nvSpPr>
          <p:cNvPr id="2" name="">
            <a:extLst xmlns:a="http://schemas.openxmlformats.org/drawingml/2006/main">
              <a:ext uri="{FF2B5EF4-FFF2-40B4-BE49-F238E27FC236}">
                <a16:creationId xmlns:a16="http://schemas.microsoft.com/office/drawing/2014/main" id="{524AFA30-57F7-4775-8576-90D128653B5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BAE522-E693-45C6-9B7F-60B35954AB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9DDAFE74-8224-4D05-A303-3A25E9FBC0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2A0192A3-7AEA-41D8-A580-218448466F2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接着剤が木材表面へ広がり、接触する</a:t>
            </a:r>
          </a:p>
        </p:txBody>
      </p:sp>
      <p:sp>
        <p:nvSpPr>
          <p:cNvPr id="6" name="">
            <a:extLst xmlns:a="http://schemas.openxmlformats.org/drawingml/2006/main">
              <a:ext uri="{FF2B5EF4-FFF2-40B4-BE49-F238E27FC236}">
                <a16:creationId xmlns:a16="http://schemas.microsoft.com/office/drawing/2014/main" id="{6CE7CC37-9C0C-48CD-A74D-F83267E0FF3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表面との相互作用と、組織への入り込みが関わる</a:t>
            </a:r>
          </a:p>
        </p:txBody>
      </p:sp>
      <p:sp>
        <p:nvSpPr>
          <p:cNvPr id="7" name="">
            <a:extLst xmlns:a="http://schemas.openxmlformats.org/drawingml/2006/main">
              <a:ext uri="{FF2B5EF4-FFF2-40B4-BE49-F238E27FC236}">
                <a16:creationId xmlns:a16="http://schemas.microsoft.com/office/drawing/2014/main" id="{16DA2F9C-3E18-423D-B39A-981313072FB4}"/>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乾燥・重合・架橋などにより、接着層が固まる</a:t>
            </a:r>
          </a:p>
        </p:txBody>
      </p:sp>
      <p:sp>
        <p:nvSpPr>
          <p:cNvPr id="8" name="">
            <a:extLst xmlns:a="http://schemas.openxmlformats.org/drawingml/2006/main">
              <a:ext uri="{FF2B5EF4-FFF2-40B4-BE49-F238E27FC236}">
                <a16:creationId xmlns:a16="http://schemas.microsoft.com/office/drawing/2014/main" id="{E9DF6134-AB4B-405B-AE28-E17A5D54985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木材／界面／接着層のどこも、性能に関わる</a:t>
            </a:r>
          </a:p>
        </p:txBody>
      </p:sp>
    </p:spTree>
    <p:extLst>
      <p:ext uri="{BB962C8B-B14F-4D97-AF65-F5344CB8AC3E}">
        <p14:creationId xmlns:p14="http://schemas.microsoft.com/office/powerpoint/2010/main" val="20712976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B25002-01BF-49F6-90C6-B6DDC255E6F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接着工程で管理する条件</a:t>
            </a:r>
          </a:p>
        </p:txBody>
      </p:sp>
      <p:sp>
        <p:nvSpPr>
          <p:cNvPr id="2" name="">
            <a:extLst xmlns:a="http://schemas.openxmlformats.org/drawingml/2006/main">
              <a:ext uri="{FF2B5EF4-FFF2-40B4-BE49-F238E27FC236}">
                <a16:creationId xmlns:a16="http://schemas.microsoft.com/office/drawing/2014/main" id="{E67BA2DE-3A8C-4733-90D6-81EE9141B0C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2E69ED-4472-4A4A-813E-BD58858A74C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A97AE8B8-78B8-4CAE-9865-DEAE62CAFA5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graphicFrame>
        <p:nvGraphicFramePr>
          <p:cNvPr id="5" name="">
            <a:extLst xmlns:a="http://schemas.openxmlformats.org/drawingml/2006/main">
              <a:ext uri="{FF2B5EF4-FFF2-40B4-BE49-F238E27FC236}">
                <a16:creationId xmlns:a16="http://schemas.microsoft.com/office/drawing/2014/main" id="{7B49242B-75A1-4907-B85E-B5ED28EE836E}"/>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7429500"/>
              </a:tblGrid>
              <a:tr h="809625">
                <a:tc>
                  <a:txBody>
                    <a:bodyPr lIns="95250" tIns="95250" rIns="95250" bIns="95250"/>
                    <a:lstStyle/>
                    <a:p>
                      <a:r>
                        <a:rPr sz="1875" b="1">
                          <a:solidFill>
                            <a:srgbClr val="FFFFFF"/>
                          </a:solidFill>
                          <a:latin typeface="Yu Gothic"/>
                          <a:ea typeface="Yu Gothic"/>
                          <a:cs typeface="Yu Gothic"/>
                        </a:rPr>
                        <a:t>段階</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確認すること</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面を合わせる</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平滑さ、清掃、仮組み、含水状態</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塗布・組立て</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量、均一さ、作業可能時間</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圧締・養生</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指定圧力・温度・時間、荷重を掛ける時期</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556B4E0D-2ECB-465E-BFA8-B5A5A8408BEA}"/>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圧締解除と、十分な硬化・強度の発現を区別する。</a:t>
            </a:r>
          </a:p>
        </p:txBody>
      </p:sp>
    </p:spTree>
    <p:extLst>
      <p:ext uri="{BB962C8B-B14F-4D97-AF65-F5344CB8AC3E}">
        <p14:creationId xmlns:p14="http://schemas.microsoft.com/office/powerpoint/2010/main" val="11472325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189095-F0A9-4E85-9AC8-715D658418B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圧締と養生</a:t>
            </a:r>
          </a:p>
        </p:txBody>
      </p:sp>
      <p:sp>
        <p:nvSpPr>
          <p:cNvPr id="2" name="">
            <a:extLst xmlns:a="http://schemas.openxmlformats.org/drawingml/2006/main">
              <a:ext uri="{FF2B5EF4-FFF2-40B4-BE49-F238E27FC236}">
                <a16:creationId xmlns:a16="http://schemas.microsoft.com/office/drawing/2014/main" id="{63AEFAD0-7B96-4AC9-805B-D8892DF2CAA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0AD694-89D6-4C37-9BAD-3EC1B2EDCA6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C1BBCC68-8B94-46E9-981C-AFC2A6B8583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79ADA41F-A4D7-4675-826C-F9F84390E26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面合わせ、塗布、圧締、養生の順を書き、圧締を外せる時点と荷重を掛けら</a:t>
            </a:r>
          </a:p>
        </p:txBody>
      </p:sp>
      <p:sp>
        <p:nvSpPr>
          <p:cNvPr id="6" name="">
            <a:extLst xmlns:a="http://schemas.openxmlformats.org/drawingml/2006/main">
              <a:ext uri="{FF2B5EF4-FFF2-40B4-BE49-F238E27FC236}">
                <a16:creationId xmlns:a16="http://schemas.microsoft.com/office/drawing/2014/main" id="{A73817CE-EFF3-478A-AA34-ECF0F2BE901D}"/>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れる時点を区別する理由を説明してください。</a:t>
            </a:r>
          </a:p>
        </p:txBody>
      </p:sp>
      <p:sp>
        <p:nvSpPr>
          <p:cNvPr id="7" name="">
            <a:extLst xmlns:a="http://schemas.openxmlformats.org/drawingml/2006/main">
              <a:ext uri="{FF2B5EF4-FFF2-40B4-BE49-F238E27FC236}">
                <a16:creationId xmlns:a16="http://schemas.microsoft.com/office/drawing/2014/main" id="{5DFB1054-A300-407B-AB2D-4991FC06F110}"/>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2698831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87279A-C221-4EA5-9C79-D7007A6E72F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接着部は、どこで壊れたか</a:t>
            </a:r>
          </a:p>
        </p:txBody>
      </p:sp>
      <p:sp>
        <p:nvSpPr>
          <p:cNvPr id="2" name="">
            <a:extLst xmlns:a="http://schemas.openxmlformats.org/drawingml/2006/main">
              <a:ext uri="{FF2B5EF4-FFF2-40B4-BE49-F238E27FC236}">
                <a16:creationId xmlns:a16="http://schemas.microsoft.com/office/drawing/2014/main" id="{22A948A8-FFCE-4A95-BDAB-F6A2AB1DDBB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A95CE1-E69D-481E-BFB0-A9AE566D41F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9BC69BDE-5DDC-45F6-B898-56C94D09B1E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B04C8E11-2B64-4BB2-9DB0-B47D618AB2A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木材の中：木部破壊</a:t>
            </a:r>
          </a:p>
        </p:txBody>
      </p:sp>
      <p:sp>
        <p:nvSpPr>
          <p:cNvPr id="6" name="">
            <a:extLst xmlns:a="http://schemas.openxmlformats.org/drawingml/2006/main">
              <a:ext uri="{FF2B5EF4-FFF2-40B4-BE49-F238E27FC236}">
                <a16:creationId xmlns:a16="http://schemas.microsoft.com/office/drawing/2014/main" id="{7A5BAB70-A245-4B94-9CB1-8072390178A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木材と接着層の境界：界面の破壊</a:t>
            </a:r>
          </a:p>
        </p:txBody>
      </p:sp>
      <p:sp>
        <p:nvSpPr>
          <p:cNvPr id="7" name="">
            <a:extLst xmlns:a="http://schemas.openxmlformats.org/drawingml/2006/main">
              <a:ext uri="{FF2B5EF4-FFF2-40B4-BE49-F238E27FC236}">
                <a16:creationId xmlns:a16="http://schemas.microsoft.com/office/drawing/2014/main" id="{6EAB6689-96D9-4D6D-852A-F332246EEA6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接着層の中：接着剤層の破壊</a:t>
            </a:r>
          </a:p>
        </p:txBody>
      </p:sp>
      <p:sp>
        <p:nvSpPr>
          <p:cNvPr id="8" name="">
            <a:extLst xmlns:a="http://schemas.openxmlformats.org/drawingml/2006/main">
              <a:ext uri="{FF2B5EF4-FFF2-40B4-BE49-F238E27FC236}">
                <a16:creationId xmlns:a16="http://schemas.microsoft.com/office/drawing/2014/main" id="{B4EDC6E5-357C-4A74-AD7B-CC0712CDABF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強さの値に、破壊位置・木部破壊率を添える</a:t>
            </a:r>
          </a:p>
        </p:txBody>
      </p:sp>
    </p:spTree>
    <p:extLst>
      <p:ext uri="{BB962C8B-B14F-4D97-AF65-F5344CB8AC3E}">
        <p14:creationId xmlns:p14="http://schemas.microsoft.com/office/powerpoint/2010/main" val="2249634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F33A53-63DF-41FB-A04F-746D04DFDF8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破壊位置の解釈</a:t>
            </a:r>
          </a:p>
        </p:txBody>
      </p:sp>
      <p:sp>
        <p:nvSpPr>
          <p:cNvPr id="2" name="">
            <a:extLst xmlns:a="http://schemas.openxmlformats.org/drawingml/2006/main">
              <a:ext uri="{FF2B5EF4-FFF2-40B4-BE49-F238E27FC236}">
                <a16:creationId xmlns:a16="http://schemas.microsoft.com/office/drawing/2014/main" id="{B6BF48E2-19D5-46C5-BD2D-83AEA537DDD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6080D8-F468-4224-9F2B-7FAB6FBCEBD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92D6937-E566-4E63-8A96-47EC208A333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C8623620-0182-4A97-ADA9-574CD58023F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木部破壊が多いという一回の乾燥試験から、屋外の長期使用まで保証できる</a:t>
            </a:r>
          </a:p>
        </p:txBody>
      </p:sp>
      <p:sp>
        <p:nvSpPr>
          <p:cNvPr id="6" name="">
            <a:extLst xmlns:a="http://schemas.openxmlformats.org/drawingml/2006/main">
              <a:ext uri="{FF2B5EF4-FFF2-40B4-BE49-F238E27FC236}">
                <a16:creationId xmlns:a16="http://schemas.microsoft.com/office/drawing/2014/main" id="{BEFF5BF1-37E6-4107-B529-615044FD028B}"/>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でしょうか。追加して確認する条件を三つ書いてください。</a:t>
            </a:r>
          </a:p>
        </p:txBody>
      </p:sp>
      <p:sp>
        <p:nvSpPr>
          <p:cNvPr id="7" name="">
            <a:extLst xmlns:a="http://schemas.openxmlformats.org/drawingml/2006/main">
              <a:ext uri="{FF2B5EF4-FFF2-40B4-BE49-F238E27FC236}">
                <a16:creationId xmlns:a16="http://schemas.microsoft.com/office/drawing/2014/main" id="{A4F300B3-31D1-45E0-A148-77E8584A9AC3}"/>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3120736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48C73D-B942-4379-9D32-E97A5C3AFE9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木工用ボンド：一般的なPVAc系</a:t>
            </a:r>
          </a:p>
        </p:txBody>
      </p:sp>
      <p:sp>
        <p:nvSpPr>
          <p:cNvPr id="2" name="">
            <a:extLst xmlns:a="http://schemas.openxmlformats.org/drawingml/2006/main">
              <a:ext uri="{FF2B5EF4-FFF2-40B4-BE49-F238E27FC236}">
                <a16:creationId xmlns:a16="http://schemas.microsoft.com/office/drawing/2014/main" id="{0E812869-F2AE-4E5F-83DF-0AF40F9F27A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EA36ED-61EF-4F68-AC03-B1A5A35309F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272A1707-B07A-4FAD-96B8-F3A5DA243D6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pic>
        <p:nvPicPr>
          <p:cNvPr id="5" name="">
            <a:extLst xmlns:a="http://schemas.openxmlformats.org/drawingml/2006/main">
              <a:ext uri="{FF2B5EF4-FFF2-40B4-BE49-F238E27FC236}">
                <a16:creationId xmlns:a16="http://schemas.microsoft.com/office/drawing/2014/main" id="{5D06CE3C-621D-4A4E-BE80-1589B9AADF1A}"/>
              </a:ext>
            </a:extLst>
          </p:cNvPr>
          <p:cNvPicPr>
            <a:picLocks xmlns:a="http://schemas.openxmlformats.org/drawingml/2006/main" noChangeAspect="1"/>
          </p:cNvPicPr>
          <p:nvPr/>
        </p:nvPicPr>
        <p:blipFill>
          <a:blip xmlns:r="http://schemas.openxmlformats.org/officeDocument/2006/relationships" xmlns:a="http://schemas.openxmlformats.org/drawingml/2006/main" r:embed="R71506ad46e774c66"/>
          <a:stretch xmlns:a="http://schemas.openxmlformats.org/drawingml/2006/main"/>
        </p:blipFill>
        <p:spPr>
          <a:xfrm xmlns:a="http://schemas.openxmlformats.org/drawingml/2006/main">
            <a:off x="895350" y="2128838"/>
            <a:ext cx="2667000"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1A82470-62EB-4277-960F-BD34C326644E}"/>
              </a:ext>
            </a:extLst>
          </p:cNvPr>
          <p:cNvSpPr>
            <a:spLocks xmlns:a="http://schemas.openxmlformats.org/drawingml/2006/main" noGrp="1"/>
          </p:cNvSpPr>
          <p:nvPr/>
        </p:nvSpPr>
        <p:spPr>
          <a:xfrm xmlns:a="http://schemas.openxmlformats.org/drawingml/2006/main">
            <a:off x="4000500" y="17145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酢酸ビニル樹脂系エマルジョン形の代表例</a:t>
            </a:r>
          </a:p>
        </p:txBody>
      </p:sp>
      <p:sp>
        <p:nvSpPr>
          <p:cNvPr id="7" name="">
            <a:extLst xmlns:a="http://schemas.openxmlformats.org/drawingml/2006/main">
              <a:ext uri="{FF2B5EF4-FFF2-40B4-BE49-F238E27FC236}">
                <a16:creationId xmlns:a16="http://schemas.microsoft.com/office/drawing/2014/main" id="{454FD330-3C8B-4B61-8CDA-477404BD97A6}"/>
              </a:ext>
            </a:extLst>
          </p:cNvPr>
          <p:cNvSpPr>
            <a:spLocks xmlns:a="http://schemas.openxmlformats.org/drawingml/2006/main" noGrp="1"/>
          </p:cNvSpPr>
          <p:nvPr/>
        </p:nvSpPr>
        <p:spPr>
          <a:xfrm xmlns:a="http://schemas.openxmlformats.org/drawingml/2006/main">
            <a:off x="4000500" y="26289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水が木材へ移動・蒸発し、接着層を形成する</a:t>
            </a:r>
          </a:p>
        </p:txBody>
      </p:sp>
      <p:sp>
        <p:nvSpPr>
          <p:cNvPr id="8" name="">
            <a:extLst xmlns:a="http://schemas.openxmlformats.org/drawingml/2006/main">
              <a:ext uri="{FF2B5EF4-FFF2-40B4-BE49-F238E27FC236}">
                <a16:creationId xmlns:a16="http://schemas.microsoft.com/office/drawing/2014/main" id="{B8F006DA-84FB-4F23-9985-62A5E1F109E6}"/>
              </a:ext>
            </a:extLst>
          </p:cNvPr>
          <p:cNvSpPr>
            <a:spLocks xmlns:a="http://schemas.openxmlformats.org/drawingml/2006/main" noGrp="1"/>
          </p:cNvSpPr>
          <p:nvPr/>
        </p:nvSpPr>
        <p:spPr>
          <a:xfrm xmlns:a="http://schemas.openxmlformats.org/drawingml/2006/main">
            <a:off x="4000500" y="35433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室内の木工で、適切な条件なら高い乾燥強度</a:t>
            </a:r>
          </a:p>
        </p:txBody>
      </p:sp>
      <p:sp>
        <p:nvSpPr>
          <p:cNvPr id="9" name="">
            <a:extLst xmlns:a="http://schemas.openxmlformats.org/drawingml/2006/main">
              <a:ext uri="{FF2B5EF4-FFF2-40B4-BE49-F238E27FC236}">
                <a16:creationId xmlns:a16="http://schemas.microsoft.com/office/drawing/2014/main" id="{8B5CE23D-A42E-429E-B264-14A75A08A873}"/>
              </a:ext>
            </a:extLst>
          </p:cNvPr>
          <p:cNvSpPr>
            <a:spLocks xmlns:a="http://schemas.openxmlformats.org/drawingml/2006/main" noGrp="1"/>
          </p:cNvSpPr>
          <p:nvPr/>
        </p:nvSpPr>
        <p:spPr>
          <a:xfrm xmlns:a="http://schemas.openxmlformats.org/drawingml/2006/main">
            <a:off x="4000500" y="44577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一般品は耐水用途に使えない。製品差を確認する</a:t>
            </a:r>
          </a:p>
        </p:txBody>
      </p:sp>
      <p:sp>
        <p:nvSpPr>
          <p:cNvPr id="10" name="">
            <a:extLst xmlns:a="http://schemas.openxmlformats.org/drawingml/2006/main">
              <a:ext uri="{FF2B5EF4-FFF2-40B4-BE49-F238E27FC236}">
                <a16:creationId xmlns:a16="http://schemas.microsoft.com/office/drawing/2014/main" id="{D44DE397-3535-4431-AE75-AFCCCDC6646A}"/>
              </a:ext>
            </a:extLst>
          </p:cNvPr>
          <p:cNvSpPr>
            <a:spLocks xmlns:a="http://schemas.openxmlformats.org/drawingml/2006/main" noGrp="1"/>
          </p:cNvSpPr>
          <p:nvPr/>
        </p:nvSpPr>
        <p:spPr>
          <a:xfrm xmlns:a="http://schemas.openxmlformats.org/drawingml/2006/main">
            <a:off x="838200" y="592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写真：コニシ公式商品ページ（2026-10-28確認）</a:t>
            </a:r>
          </a:p>
        </p:txBody>
      </p:sp>
    </p:spTree>
    <p:extLst>
      <p:ext uri="{BB962C8B-B14F-4D97-AF65-F5344CB8AC3E}">
        <p14:creationId xmlns:p14="http://schemas.microsoft.com/office/powerpoint/2010/main" val="14007332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756597-9519-47A8-BAA2-E27CCB9AFE6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瞬間接着剤：アロンアルフア等</a:t>
            </a:r>
          </a:p>
        </p:txBody>
      </p:sp>
      <p:sp>
        <p:nvSpPr>
          <p:cNvPr id="2" name="">
            <a:extLst xmlns:a="http://schemas.openxmlformats.org/drawingml/2006/main">
              <a:ext uri="{FF2B5EF4-FFF2-40B4-BE49-F238E27FC236}">
                <a16:creationId xmlns:a16="http://schemas.microsoft.com/office/drawing/2014/main" id="{A7297F4F-416D-4EB5-B359-113929D4647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ECEA80-8B89-4B8A-A4C9-2AF22C3486E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E629EEE-80BA-4ADD-96A2-746F7B8DF9A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pic>
        <p:nvPicPr>
          <p:cNvPr id="5" name="">
            <a:extLst xmlns:a="http://schemas.openxmlformats.org/drawingml/2006/main">
              <a:ext uri="{FF2B5EF4-FFF2-40B4-BE49-F238E27FC236}">
                <a16:creationId xmlns:a16="http://schemas.microsoft.com/office/drawing/2014/main" id="{1ED8574C-5699-47CC-94A6-9EDC61F6B0C9}"/>
              </a:ext>
            </a:extLst>
          </p:cNvPr>
          <p:cNvPicPr>
            <a:picLocks xmlns:a="http://schemas.openxmlformats.org/drawingml/2006/main" noChangeAspect="1"/>
          </p:cNvPicPr>
          <p:nvPr/>
        </p:nvPicPr>
        <p:blipFill>
          <a:blip xmlns:r="http://schemas.openxmlformats.org/officeDocument/2006/relationships" xmlns:a="http://schemas.openxmlformats.org/drawingml/2006/main" r:embed="R17dd447b71884ad8"/>
          <a:stretch xmlns:a="http://schemas.openxmlformats.org/drawingml/2006/main"/>
        </p:blipFill>
        <p:spPr>
          <a:xfrm xmlns:a="http://schemas.openxmlformats.org/drawingml/2006/main">
            <a:off x="895350" y="2128838"/>
            <a:ext cx="2667000"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E11F9C-4A54-4C2E-9BCA-7FF9990ACFC8}"/>
              </a:ext>
            </a:extLst>
          </p:cNvPr>
          <p:cNvSpPr>
            <a:spLocks xmlns:a="http://schemas.openxmlformats.org/drawingml/2006/main" noGrp="1"/>
          </p:cNvSpPr>
          <p:nvPr/>
        </p:nvSpPr>
        <p:spPr>
          <a:xfrm xmlns:a="http://schemas.openxmlformats.org/drawingml/2006/main">
            <a:off x="4000500" y="17145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シアノアクリレート系：表面の微量な水分で反応</a:t>
            </a:r>
          </a:p>
        </p:txBody>
      </p:sp>
      <p:sp>
        <p:nvSpPr>
          <p:cNvPr id="7" name="">
            <a:extLst xmlns:a="http://schemas.openxmlformats.org/drawingml/2006/main">
              <a:ext uri="{FF2B5EF4-FFF2-40B4-BE49-F238E27FC236}">
                <a16:creationId xmlns:a16="http://schemas.microsoft.com/office/drawing/2014/main" id="{5CA42197-374C-4316-8E79-527DA2AA2B14}"/>
              </a:ext>
            </a:extLst>
          </p:cNvPr>
          <p:cNvSpPr>
            <a:spLocks xmlns:a="http://schemas.openxmlformats.org/drawingml/2006/main" noGrp="1"/>
          </p:cNvSpPr>
          <p:nvPr/>
        </p:nvSpPr>
        <p:spPr>
          <a:xfrm xmlns:a="http://schemas.openxmlformats.org/drawingml/2006/main">
            <a:off x="4000500" y="26289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小さい面積の位置決め・補修等に使う例</a:t>
            </a:r>
          </a:p>
        </p:txBody>
      </p:sp>
      <p:sp>
        <p:nvSpPr>
          <p:cNvPr id="8" name="">
            <a:extLst xmlns:a="http://schemas.openxmlformats.org/drawingml/2006/main">
              <a:ext uri="{FF2B5EF4-FFF2-40B4-BE49-F238E27FC236}">
                <a16:creationId xmlns:a16="http://schemas.microsoft.com/office/drawing/2014/main" id="{4EF434E0-0742-4565-8176-79D061D6C9EB}"/>
              </a:ext>
            </a:extLst>
          </p:cNvPr>
          <p:cNvSpPr>
            <a:spLocks xmlns:a="http://schemas.openxmlformats.org/drawingml/2006/main" noGrp="1"/>
          </p:cNvSpPr>
          <p:nvPr/>
        </p:nvSpPr>
        <p:spPr>
          <a:xfrm xmlns:a="http://schemas.openxmlformats.org/drawingml/2006/main">
            <a:off x="4000500" y="35433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木工用は、しみ込みを考慮した製品もある</a:t>
            </a:r>
          </a:p>
        </p:txBody>
      </p:sp>
      <p:sp>
        <p:nvSpPr>
          <p:cNvPr id="9" name="">
            <a:extLst xmlns:a="http://schemas.openxmlformats.org/drawingml/2006/main">
              <a:ext uri="{FF2B5EF4-FFF2-40B4-BE49-F238E27FC236}">
                <a16:creationId xmlns:a16="http://schemas.microsoft.com/office/drawing/2014/main" id="{37468769-6ADD-46AA-843F-FA633A088FA2}"/>
              </a:ext>
            </a:extLst>
          </p:cNvPr>
          <p:cNvSpPr>
            <a:spLocks xmlns:a="http://schemas.openxmlformats.org/drawingml/2006/main" noGrp="1"/>
          </p:cNvSpPr>
          <p:nvPr/>
        </p:nvSpPr>
        <p:spPr>
          <a:xfrm xmlns:a="http://schemas.openxmlformats.org/drawingml/2006/main">
            <a:off x="4000500" y="44577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速い固着と、最終強度・耐水耐熱性を分ける</a:t>
            </a:r>
          </a:p>
        </p:txBody>
      </p:sp>
      <p:sp>
        <p:nvSpPr>
          <p:cNvPr id="10" name="">
            <a:extLst xmlns:a="http://schemas.openxmlformats.org/drawingml/2006/main">
              <a:ext uri="{FF2B5EF4-FFF2-40B4-BE49-F238E27FC236}">
                <a16:creationId xmlns:a16="http://schemas.microsoft.com/office/drawing/2014/main" id="{ABF73952-6ADD-4D63-9D52-57B281D582BC}"/>
              </a:ext>
            </a:extLst>
          </p:cNvPr>
          <p:cNvSpPr>
            <a:spLocks xmlns:a="http://schemas.openxmlformats.org/drawingml/2006/main" noGrp="1"/>
          </p:cNvSpPr>
          <p:nvPr/>
        </p:nvSpPr>
        <p:spPr>
          <a:xfrm xmlns:a="http://schemas.openxmlformats.org/drawingml/2006/main">
            <a:off x="838200" y="592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写真：東亞合成公式商品ページ（2026-10-28確認）</a:t>
            </a:r>
          </a:p>
        </p:txBody>
      </p:sp>
    </p:spTree>
    <p:extLst>
      <p:ext uri="{BB962C8B-B14F-4D97-AF65-F5344CB8AC3E}">
        <p14:creationId xmlns:p14="http://schemas.microsoft.com/office/powerpoint/2010/main" val="208972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C26951-790D-4953-986E-BF305178068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学校での使用：硬化の仕組みに合う扱い</a:t>
            </a:r>
          </a:p>
        </p:txBody>
      </p:sp>
      <p:sp>
        <p:nvSpPr>
          <p:cNvPr id="2" name="">
            <a:extLst xmlns:a="http://schemas.openxmlformats.org/drawingml/2006/main">
              <a:ext uri="{FF2B5EF4-FFF2-40B4-BE49-F238E27FC236}">
                <a16:creationId xmlns:a16="http://schemas.microsoft.com/office/drawing/2014/main" id="{B357422C-ABB9-435B-97E7-197F93B933D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214C10-9EE4-49E2-8E1B-07971521A02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1820089C-8B76-4F02-BE40-3537448C571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8765DBC4-6F42-4F3A-B0CF-120BA041197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製品の用途・表示・SDSと、学校での使用条件を確認</a:t>
            </a:r>
          </a:p>
        </p:txBody>
      </p:sp>
      <p:sp>
        <p:nvSpPr>
          <p:cNvPr id="6" name="">
            <a:extLst xmlns:a="http://schemas.openxmlformats.org/drawingml/2006/main">
              <a:ext uri="{FF2B5EF4-FFF2-40B4-BE49-F238E27FC236}">
                <a16:creationId xmlns:a16="http://schemas.microsoft.com/office/drawing/2014/main" id="{C3093102-7ED7-417A-89E0-9568A29A212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瞬間接着剤は布・ティッシュへしみ込むと発熱する</a:t>
            </a:r>
          </a:p>
        </p:txBody>
      </p:sp>
      <p:sp>
        <p:nvSpPr>
          <p:cNvPr id="7" name="">
            <a:extLst xmlns:a="http://schemas.openxmlformats.org/drawingml/2006/main">
              <a:ext uri="{FF2B5EF4-FFF2-40B4-BE49-F238E27FC236}">
                <a16:creationId xmlns:a16="http://schemas.microsoft.com/office/drawing/2014/main" id="{4E595468-AC10-46AA-8DD7-1B5BE32F7F8F}"/>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瞬間接着剤の作業に、布製の軍手を使わない</a:t>
            </a:r>
          </a:p>
        </p:txBody>
      </p:sp>
      <p:sp>
        <p:nvSpPr>
          <p:cNvPr id="8" name="">
            <a:extLst xmlns:a="http://schemas.openxmlformats.org/drawingml/2006/main">
              <a:ext uri="{FF2B5EF4-FFF2-40B4-BE49-F238E27FC236}">
                <a16:creationId xmlns:a16="http://schemas.microsoft.com/office/drawing/2014/main" id="{9F78B480-396D-4D43-8800-6D5E75498A6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塗布と圧締・養生を、説明用の例と実習で区別する</a:t>
            </a:r>
          </a:p>
        </p:txBody>
      </p:sp>
    </p:spTree>
    <p:extLst>
      <p:ext uri="{BB962C8B-B14F-4D97-AF65-F5344CB8AC3E}">
        <p14:creationId xmlns:p14="http://schemas.microsoft.com/office/powerpoint/2010/main" val="7354810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0DB574-47ED-4CFC-8251-5EDF7570857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二つの硬化の仕組み</a:t>
            </a:r>
          </a:p>
        </p:txBody>
      </p:sp>
      <p:sp>
        <p:nvSpPr>
          <p:cNvPr id="2" name="">
            <a:extLst xmlns:a="http://schemas.openxmlformats.org/drawingml/2006/main">
              <a:ext uri="{FF2B5EF4-FFF2-40B4-BE49-F238E27FC236}">
                <a16:creationId xmlns:a16="http://schemas.microsoft.com/office/drawing/2014/main" id="{58994B4D-77FD-4AB0-AC6B-981891E80C7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5F639B-4CF0-4C85-8D0A-555710E293D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0E932B73-5E7E-49D4-B2F5-31EA3AB6E4B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A8530947-3A57-4AF8-ACD1-96FE2424467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一般的な木工用ボンドと瞬間接着剤について、固まる仕組みと、学校で扱う</a:t>
            </a:r>
          </a:p>
        </p:txBody>
      </p:sp>
      <p:sp>
        <p:nvSpPr>
          <p:cNvPr id="6" name="">
            <a:extLst xmlns:a="http://schemas.openxmlformats.org/drawingml/2006/main">
              <a:ext uri="{FF2B5EF4-FFF2-40B4-BE49-F238E27FC236}">
                <a16:creationId xmlns:a16="http://schemas.microsoft.com/office/drawing/2014/main" id="{5858F44E-D666-485C-8A8F-F23D8F5C66E4}"/>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ときの注意をそれぞれ説明してください。</a:t>
            </a:r>
          </a:p>
        </p:txBody>
      </p:sp>
      <p:sp>
        <p:nvSpPr>
          <p:cNvPr id="7" name="">
            <a:extLst xmlns:a="http://schemas.openxmlformats.org/drawingml/2006/main">
              <a:ext uri="{FF2B5EF4-FFF2-40B4-BE49-F238E27FC236}">
                <a16:creationId xmlns:a16="http://schemas.microsoft.com/office/drawing/2014/main" id="{9138660F-0904-483E-8F14-76991E860CAD}"/>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3012870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3CF08D-43A4-41D0-BBF0-B7C46E4B5E9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6654F125-F936-440A-8956-BB89FB6FD83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886EEC-B946-44D9-A75B-4D70FA94D3B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6522AA73-ADE9-4F27-B2E8-1431422F460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38A475E2-FF7D-40E8-99E4-1CF7FEB291EC}"/>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4AF45B1-4D4A-4CDC-A11D-2F64F4FC8613}"/>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D36D859A-959C-49D5-8C33-6425BAEACD3D}"/>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DE702AAD-EA60-4344-8934-471ED9721F55}"/>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再開したら：レゾルシノール系：強度を、濡れや熱の中でも保つへ進みます。</a:t>
            </a:r>
          </a:p>
        </p:txBody>
      </p:sp>
    </p:spTree>
    <p:extLst>
      <p:ext uri="{BB962C8B-B14F-4D97-AF65-F5344CB8AC3E}">
        <p14:creationId xmlns:p14="http://schemas.microsoft.com/office/powerpoint/2010/main" val="4155152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3CEE09-4438-42CE-A5E8-672D1A0331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レゾルシノール系：強度を、濡れや熱の中でも保つ</a:t>
            </a:r>
          </a:p>
        </p:txBody>
      </p:sp>
      <p:sp>
        <p:nvSpPr>
          <p:cNvPr id="2" name="">
            <a:extLst xmlns:a="http://schemas.openxmlformats.org/drawingml/2006/main">
              <a:ext uri="{FF2B5EF4-FFF2-40B4-BE49-F238E27FC236}">
                <a16:creationId xmlns:a16="http://schemas.microsoft.com/office/drawing/2014/main" id="{0DFC32EC-5DA8-42A1-A149-0E336FCA5D5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342CE0-6A5A-4FFB-B3C8-D479FE38CD1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3A16A203-8CBC-4EFE-A82E-8AC954D91AB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0DB2AA44-847B-42D0-9D47-E117C6CE5C06}"/>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RF・PRF系：樹脂と硬化剤を用いる反応硬化型</a:t>
            </a:r>
          </a:p>
        </p:txBody>
      </p:sp>
      <p:sp>
        <p:nvSpPr>
          <p:cNvPr id="6" name="">
            <a:extLst xmlns:a="http://schemas.openxmlformats.org/drawingml/2006/main">
              <a:ext uri="{FF2B5EF4-FFF2-40B4-BE49-F238E27FC236}">
                <a16:creationId xmlns:a16="http://schemas.microsoft.com/office/drawing/2014/main" id="{DE885D28-D6DF-4BD2-BAB7-8A5C79FFF7A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高い乾燥・湿潤接着強度、耐水・耐熱・耐久性</a:t>
            </a:r>
          </a:p>
        </p:txBody>
      </p:sp>
      <p:sp>
        <p:nvSpPr>
          <p:cNvPr id="7" name="">
            <a:extLst xmlns:a="http://schemas.openxmlformats.org/drawingml/2006/main">
              <a:ext uri="{FF2B5EF4-FFF2-40B4-BE49-F238E27FC236}">
                <a16:creationId xmlns:a16="http://schemas.microsoft.com/office/drawing/2014/main" id="{1C4A5804-6808-4D51-B9B4-828EB4620CF6}"/>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集成材など、構造用途に使われる例</a:t>
            </a:r>
          </a:p>
        </p:txBody>
      </p:sp>
      <p:sp>
        <p:nvSpPr>
          <p:cNvPr id="8" name="">
            <a:extLst xmlns:a="http://schemas.openxmlformats.org/drawingml/2006/main">
              <a:ext uri="{FF2B5EF4-FFF2-40B4-BE49-F238E27FC236}">
                <a16:creationId xmlns:a16="http://schemas.microsoft.com/office/drawing/2014/main" id="{9F0B0D33-1836-4BB0-BC5C-C56E4C0E186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配合・面の合い・圧締・養生を管理する</a:t>
            </a:r>
          </a:p>
        </p:txBody>
      </p:sp>
    </p:spTree>
    <p:extLst>
      <p:ext uri="{BB962C8B-B14F-4D97-AF65-F5344CB8AC3E}">
        <p14:creationId xmlns:p14="http://schemas.microsoft.com/office/powerpoint/2010/main" val="15653828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96F408-3EFB-4364-BF3F-73B1E62EEE5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エポキシ系と、水性高分子－イソシアネート系</a:t>
            </a:r>
          </a:p>
        </p:txBody>
      </p:sp>
      <p:sp>
        <p:nvSpPr>
          <p:cNvPr id="2" name="">
            <a:extLst xmlns:a="http://schemas.openxmlformats.org/drawingml/2006/main">
              <a:ext uri="{FF2B5EF4-FFF2-40B4-BE49-F238E27FC236}">
                <a16:creationId xmlns:a16="http://schemas.microsoft.com/office/drawing/2014/main" id="{5270EB9B-4CEC-4B81-B4F6-3A9E1637DF6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08B8D9-07C8-4D2E-AE7F-540229258FF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8C6FA8C-9C7E-4C13-A059-2F2BC2759D4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graphicFrame>
        <p:nvGraphicFramePr>
          <p:cNvPr id="5" name="">
            <a:extLst xmlns:a="http://schemas.openxmlformats.org/drawingml/2006/main">
              <a:ext uri="{FF2B5EF4-FFF2-40B4-BE49-F238E27FC236}">
                <a16:creationId xmlns:a16="http://schemas.microsoft.com/office/drawing/2014/main" id="{66119996-6D2B-4A76-A6C5-56E6CCC28328}"/>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7429500"/>
              </a:tblGrid>
              <a:tr h="1079500">
                <a:tc>
                  <a:txBody>
                    <a:bodyPr lIns="95250" tIns="95250" rIns="95250" bIns="95250"/>
                    <a:lstStyle/>
                    <a:p>
                      <a:r>
                        <a:rPr sz="1875" b="1">
                          <a:solidFill>
                            <a:srgbClr val="FFFFFF"/>
                          </a:solidFill>
                          <a:latin typeface="Yu Gothic"/>
                          <a:ea typeface="Yu Gothic"/>
                          <a:cs typeface="Yu Gothic"/>
                        </a:rPr>
                        <a:t>系統</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硬化・用途の例</a:t>
                      </a:r>
                    </a:p>
                  </a:txBody>
                  <a:tcPr marL="91440" marR="91440" marT="45720" marB="45720">
                    <a:solidFill>
                      <a:srgbClr val="18364F"/>
                    </a:solidFill>
                  </a:tcPr>
                </a:tc>
              </a:tr>
              <a:tr h="1079500">
                <a:tc>
                  <a:txBody>
                    <a:bodyPr lIns="95250" tIns="95250" rIns="95250" bIns="95250"/>
                    <a:lstStyle/>
                    <a:p>
                      <a:r>
                        <a:rPr sz="1875" b="0">
                          <a:solidFill>
                            <a:srgbClr val="253C4D"/>
                          </a:solidFill>
                          <a:latin typeface="Yu Gothic"/>
                          <a:ea typeface="Yu Gothic"/>
                          <a:cs typeface="Yu Gothic"/>
                        </a:rPr>
                        <a:t>エポキシ系</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主剤＋硬化剤の反応。木材・異種材接着や補修</a:t>
                      </a:r>
                    </a:p>
                  </a:txBody>
                  <a:tcPr marL="91440" marR="91440" marT="45720" marB="45720">
                    <a:solidFill>
                      <a:srgbClr val="F1F5F7"/>
                    </a:solidFill>
                  </a:tcPr>
                </a:tc>
              </a:tr>
              <a:tr h="1079500">
                <a:tc>
                  <a:txBody>
                    <a:bodyPr lIns="95250" tIns="95250" rIns="95250" bIns="95250"/>
                    <a:lstStyle/>
                    <a:p>
                      <a:r>
                        <a:rPr sz="1875" b="0">
                          <a:solidFill>
                            <a:srgbClr val="253C4D"/>
                          </a:solidFill>
                          <a:latin typeface="Yu Gothic"/>
                          <a:ea typeface="Yu Gothic"/>
                          <a:cs typeface="Yu Gothic"/>
                        </a:rPr>
                        <a:t>EPI系</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水性高分子＋イソシアネート硬化剤。集成材等</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1AA9F11-DB78-4E58-8CC2-37575D353E95}"/>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どちらも製品の配合・用途・硬化条件により性能は変わる。</a:t>
            </a:r>
          </a:p>
        </p:txBody>
      </p:sp>
    </p:spTree>
    <p:extLst>
      <p:ext uri="{BB962C8B-B14F-4D97-AF65-F5344CB8AC3E}">
        <p14:creationId xmlns:p14="http://schemas.microsoft.com/office/powerpoint/2010/main" val="12403751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652FEE-C120-4446-B64E-1E326873A05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合板やボードで使う工業用接着剤</a:t>
            </a:r>
          </a:p>
        </p:txBody>
      </p:sp>
      <p:sp>
        <p:nvSpPr>
          <p:cNvPr id="2" name="">
            <a:extLst xmlns:a="http://schemas.openxmlformats.org/drawingml/2006/main">
              <a:ext uri="{FF2B5EF4-FFF2-40B4-BE49-F238E27FC236}">
                <a16:creationId xmlns:a16="http://schemas.microsoft.com/office/drawing/2014/main" id="{FAFFB684-4E96-48C8-97AF-B504F90ADF0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92060D-0397-4876-9411-1485389F2FC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78B730E4-DB8D-4669-979F-EDA5594E197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graphicFrame>
        <p:nvGraphicFramePr>
          <p:cNvPr id="5" name="">
            <a:extLst xmlns:a="http://schemas.openxmlformats.org/drawingml/2006/main">
              <a:ext uri="{FF2B5EF4-FFF2-40B4-BE49-F238E27FC236}">
                <a16:creationId xmlns:a16="http://schemas.microsoft.com/office/drawing/2014/main" id="{47775A4D-63AE-4687-AF2F-15DD987E9120}"/>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7429500"/>
              </a:tblGrid>
              <a:tr h="809625">
                <a:tc>
                  <a:txBody>
                    <a:bodyPr lIns="95250" tIns="95250" rIns="95250" bIns="95250"/>
                    <a:lstStyle/>
                    <a:p>
                      <a:r>
                        <a:rPr sz="1875" b="1">
                          <a:solidFill>
                            <a:srgbClr val="FFFFFF"/>
                          </a:solidFill>
                          <a:latin typeface="Yu Gothic"/>
                          <a:ea typeface="Yu Gothic"/>
                          <a:cs typeface="Yu Gothic"/>
                        </a:rPr>
                        <a:t>系統</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例・比較の観点</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フェノール系（PF）</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耐水性を求める合板等。工場の硬化条件</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ユリア系（UF）</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主に室内製品の例。耐水性の制約</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メラミン・複合系</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配合で耐水・耐久性等を調整</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9315712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754686-0E10-4E6F-AED3-144444A272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接着剤の比較表</a:t>
            </a:r>
          </a:p>
        </p:txBody>
      </p:sp>
      <p:sp>
        <p:nvSpPr>
          <p:cNvPr id="2" name="">
            <a:extLst xmlns:a="http://schemas.openxmlformats.org/drawingml/2006/main">
              <a:ext uri="{FF2B5EF4-FFF2-40B4-BE49-F238E27FC236}">
                <a16:creationId xmlns:a16="http://schemas.microsoft.com/office/drawing/2014/main" id="{4BD19569-4AC3-4C7C-B87D-0CA1F997709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CC8ACA-4300-434E-A048-11E9660450A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3C551104-4901-49D3-9A8F-3701CBFFA39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11AD70AB-6BDA-40EC-8D63-536E8ECFB0C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木工用ボンド、瞬間接着剤、レゾルシノール系を、硬化条件、乾燥強度、湿</a:t>
            </a:r>
          </a:p>
        </p:txBody>
      </p:sp>
      <p:sp>
        <p:nvSpPr>
          <p:cNvPr id="6" name="">
            <a:extLst xmlns:a="http://schemas.openxmlformats.org/drawingml/2006/main">
              <a:ext uri="{FF2B5EF4-FFF2-40B4-BE49-F238E27FC236}">
                <a16:creationId xmlns:a16="http://schemas.microsoft.com/office/drawing/2014/main" id="{C5B22140-FE2F-4108-A1C7-C875613EDB3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潤時の耐久性という三つの欄で比較してください。</a:t>
            </a:r>
          </a:p>
        </p:txBody>
      </p:sp>
      <p:sp>
        <p:nvSpPr>
          <p:cNvPr id="7" name="">
            <a:extLst xmlns:a="http://schemas.openxmlformats.org/drawingml/2006/main">
              <a:ext uri="{FF2B5EF4-FFF2-40B4-BE49-F238E27FC236}">
                <a16:creationId xmlns:a16="http://schemas.microsoft.com/office/drawing/2014/main" id="{7DDBAB14-1427-448B-ADE0-DE6EDE4493EE}"/>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0976392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E8A0A5-8825-4561-80DC-AAA9AE359D4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同じ「強い」を、三つの問いに分ける</a:t>
            </a:r>
          </a:p>
        </p:txBody>
      </p:sp>
      <p:sp>
        <p:nvSpPr>
          <p:cNvPr id="2" name="">
            <a:extLst xmlns:a="http://schemas.openxmlformats.org/drawingml/2006/main">
              <a:ext uri="{FF2B5EF4-FFF2-40B4-BE49-F238E27FC236}">
                <a16:creationId xmlns:a16="http://schemas.microsoft.com/office/drawing/2014/main" id="{67678B2E-45DE-4E10-BAE9-E00E2B8A0A9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6FADAB-D061-45E8-AC75-37A778ABB31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190D4467-D12B-4169-B46C-C9141B56465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9903C6AB-2602-47A5-BB58-81D97C5D50A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今の乾燥試験で、どれだけの荷重に耐えるか</a:t>
            </a:r>
          </a:p>
        </p:txBody>
      </p:sp>
      <p:sp>
        <p:nvSpPr>
          <p:cNvPr id="6" name="">
            <a:extLst xmlns:a="http://schemas.openxmlformats.org/drawingml/2006/main">
              <a:ext uri="{FF2B5EF4-FFF2-40B4-BE49-F238E27FC236}">
                <a16:creationId xmlns:a16="http://schemas.microsoft.com/office/drawing/2014/main" id="{FCF5B29A-7B6A-4D4C-960F-204160FC9FC6}"/>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濡れ・熱・乾湿繰返しの後も、性能が残るか</a:t>
            </a:r>
          </a:p>
        </p:txBody>
      </p:sp>
      <p:sp>
        <p:nvSpPr>
          <p:cNvPr id="7" name="">
            <a:extLst xmlns:a="http://schemas.openxmlformats.org/drawingml/2006/main">
              <a:ext uri="{FF2B5EF4-FFF2-40B4-BE49-F238E27FC236}">
                <a16:creationId xmlns:a16="http://schemas.microsoft.com/office/drawing/2014/main" id="{1BAEE97C-E77E-489B-A0E5-0AC4FA25BE63}"/>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継続荷重で、すべりやクリープが増えないか</a:t>
            </a:r>
          </a:p>
        </p:txBody>
      </p:sp>
      <p:sp>
        <p:nvSpPr>
          <p:cNvPr id="8" name="">
            <a:extLst xmlns:a="http://schemas.openxmlformats.org/drawingml/2006/main">
              <a:ext uri="{FF2B5EF4-FFF2-40B4-BE49-F238E27FC236}">
                <a16:creationId xmlns:a16="http://schemas.microsoft.com/office/drawing/2014/main" id="{46EDDA65-C0AA-4328-8A20-0E1176992D5E}"/>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木材・継手・工程の条件をそろえて比較する</a:t>
            </a:r>
          </a:p>
        </p:txBody>
      </p:sp>
    </p:spTree>
    <p:extLst>
      <p:ext uri="{BB962C8B-B14F-4D97-AF65-F5344CB8AC3E}">
        <p14:creationId xmlns:p14="http://schemas.microsoft.com/office/powerpoint/2010/main" val="16914865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26F4A6-450F-4542-8103-927BF9540EB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接着強さの計算：荷重と面積</a:t>
            </a:r>
          </a:p>
        </p:txBody>
      </p:sp>
      <p:sp>
        <p:nvSpPr>
          <p:cNvPr id="2" name="">
            <a:extLst xmlns:a="http://schemas.openxmlformats.org/drawingml/2006/main">
              <a:ext uri="{FF2B5EF4-FFF2-40B4-BE49-F238E27FC236}">
                <a16:creationId xmlns:a16="http://schemas.microsoft.com/office/drawing/2014/main" id="{C6EAC7E9-063F-4342-B846-27099A0D7CE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D9005B-E99D-4CF9-A869-BC31DFBF2AC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57A1A16A-71CD-432C-B4AD-2E308155E98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F0A6CD0F-573B-4D73-8155-AC99C1E33E8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見かけの平均せん断応力　τ平均＝F／A</a:t>
            </a:r>
          </a:p>
        </p:txBody>
      </p:sp>
      <p:sp>
        <p:nvSpPr>
          <p:cNvPr id="6" name="">
            <a:extLst xmlns:a="http://schemas.openxmlformats.org/drawingml/2006/main">
              <a:ext uri="{FF2B5EF4-FFF2-40B4-BE49-F238E27FC236}">
                <a16:creationId xmlns:a16="http://schemas.microsoft.com/office/drawing/2014/main" id="{94FC4C16-3049-49F1-B0C4-A0E109BEAE6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F：試験時の荷重［N］、A：重ね接着面積［mm²］</a:t>
            </a:r>
          </a:p>
        </p:txBody>
      </p:sp>
      <p:sp>
        <p:nvSpPr>
          <p:cNvPr id="7" name="">
            <a:extLst xmlns:a="http://schemas.openxmlformats.org/drawingml/2006/main">
              <a:ext uri="{FF2B5EF4-FFF2-40B4-BE49-F238E27FC236}">
                <a16:creationId xmlns:a16="http://schemas.microsoft.com/office/drawing/2014/main" id="{7B5BE6D5-D36C-48E2-91D5-6AA65D1C08C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1 N/mm²＝1 MPa</a:t>
            </a:r>
          </a:p>
        </p:txBody>
      </p:sp>
      <p:sp>
        <p:nvSpPr>
          <p:cNvPr id="8" name="">
            <a:extLst xmlns:a="http://schemas.openxmlformats.org/drawingml/2006/main">
              <a:ext uri="{FF2B5EF4-FFF2-40B4-BE49-F238E27FC236}">
                <a16:creationId xmlns:a16="http://schemas.microsoft.com/office/drawing/2014/main" id="{EF38B4B4-7CA9-458F-9D17-4E5157DEB913}"/>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端部の応力集中や、剥がす力は、この平均に現れない</a:t>
            </a:r>
          </a:p>
        </p:txBody>
      </p:sp>
    </p:spTree>
    <p:extLst>
      <p:ext uri="{BB962C8B-B14F-4D97-AF65-F5344CB8AC3E}">
        <p14:creationId xmlns:p14="http://schemas.microsoft.com/office/powerpoint/2010/main" val="20323254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86CC4E-3D9F-4ACF-A619-DC6A2380262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単位の復習</a:t>
            </a:r>
          </a:p>
        </p:txBody>
      </p:sp>
      <p:sp>
        <p:nvSpPr>
          <p:cNvPr id="2" name="">
            <a:extLst xmlns:a="http://schemas.openxmlformats.org/drawingml/2006/main">
              <a:ext uri="{FF2B5EF4-FFF2-40B4-BE49-F238E27FC236}">
                <a16:creationId xmlns:a16="http://schemas.microsoft.com/office/drawing/2014/main" id="{861CBCE9-CC8D-4057-BB65-FD88473CF76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E324DB-441A-477F-BB72-F020D96E324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066F3595-B12F-440E-A317-66BBB70CDC7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669C3DAB-3185-4D9B-8936-11CB3BC0837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一ニュートン毎平方ミリメートルが一メガパスカルになる理由を、平方メー</a:t>
            </a:r>
          </a:p>
        </p:txBody>
      </p:sp>
      <p:sp>
        <p:nvSpPr>
          <p:cNvPr id="6" name="">
            <a:extLst xmlns:a="http://schemas.openxmlformats.org/drawingml/2006/main">
              <a:ext uri="{FF2B5EF4-FFF2-40B4-BE49-F238E27FC236}">
                <a16:creationId xmlns:a16="http://schemas.microsoft.com/office/drawing/2014/main" id="{CF890DD9-FD54-4DBA-BC41-39E17D04517D}"/>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トルへの換算を使って説明してください。</a:t>
            </a:r>
          </a:p>
        </p:txBody>
      </p:sp>
      <p:sp>
        <p:nvSpPr>
          <p:cNvPr id="7" name="">
            <a:extLst xmlns:a="http://schemas.openxmlformats.org/drawingml/2006/main">
              <a:ext uri="{FF2B5EF4-FFF2-40B4-BE49-F238E27FC236}">
                <a16:creationId xmlns:a16="http://schemas.microsoft.com/office/drawing/2014/main" id="{7D8C7319-6E86-42EF-B6D7-3FE44E8D980B}"/>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71228490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215918-D174-4658-A4B5-996BE5F1F36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初期強度と、湿潤後の保持率</a:t>
            </a:r>
          </a:p>
        </p:txBody>
      </p:sp>
      <p:sp>
        <p:nvSpPr>
          <p:cNvPr id="2" name="">
            <a:extLst xmlns:a="http://schemas.openxmlformats.org/drawingml/2006/main">
              <a:ext uri="{FF2B5EF4-FFF2-40B4-BE49-F238E27FC236}">
                <a16:creationId xmlns:a16="http://schemas.microsoft.com/office/drawing/2014/main" id="{1DE4B5F7-978B-4BD1-8F7C-4A0CB1F8128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29591D-7BA8-4016-8350-FA4FD28FB03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E3C4844-81B9-4EE6-B0D0-9C1948788A1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graphicFrame>
        <p:nvGraphicFramePr>
          <p:cNvPr id="5" name="">
            <a:extLst xmlns:a="http://schemas.openxmlformats.org/drawingml/2006/main">
              <a:ext uri="{FF2B5EF4-FFF2-40B4-BE49-F238E27FC236}">
                <a16:creationId xmlns:a16="http://schemas.microsoft.com/office/drawing/2014/main" id="{95D66DDF-85AC-461C-BF3B-B020B2847CEB}"/>
              </a:ext>
            </a:extLst>
          </p:cNvPr>
          <p:cNvGraphicFramePr/>
          <p:nvPr/>
        </p:nvGraphicFramePr>
        <p:xfrm>
          <a:off xmlns:a="http://schemas.openxmlformats.org/drawingml/2006/main" x="838200" y="2400300"/>
          <a:ext xmlns:a="http://schemas.openxmlformats.org/drawingml/2006/main" cx="10477500" cy="2762250"/>
        </p:xfrm>
        <a:graphic xmlns:a="http://schemas.openxmlformats.org/drawingml/2006/main">
          <a:graphicData uri="http://schemas.openxmlformats.org/drawingml/2006/table">
            <a:tbl>
              <a:tblPr/>
              <a:tblGrid>
                <a:gridCol w="2857500"/>
                <a:gridCol w="3714750"/>
                <a:gridCol w="3905250"/>
              </a:tblGrid>
              <a:tr h="920750">
                <a:tc>
                  <a:txBody>
                    <a:bodyPr lIns="95250" tIns="95250" rIns="95250" bIns="95250"/>
                    <a:lstStyle/>
                    <a:p>
                      <a:r>
                        <a:rPr sz="1875" b="1">
                          <a:solidFill>
                            <a:srgbClr val="FFFFFF"/>
                          </a:solidFill>
                          <a:latin typeface="Yu Gothic"/>
                          <a:ea typeface="Yu Gothic"/>
                          <a:cs typeface="Yu Gothic"/>
                        </a:rPr>
                        <a:t>仮想試験体</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乾燥時の最大荷重</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湿潤処理後</a:t>
                      </a:r>
                    </a:p>
                  </a:txBody>
                  <a:tcPr marL="91440" marR="91440" marT="45720" marB="45720">
                    <a:solidFill>
                      <a:srgbClr val="18364F"/>
                    </a:solidFill>
                  </a:tcPr>
                </a:tc>
              </a:tr>
              <a:tr h="920750">
                <a:tc>
                  <a:txBody>
                    <a:bodyPr lIns="95250" tIns="95250" rIns="95250" bIns="95250"/>
                    <a:lstStyle/>
                    <a:p>
                      <a:r>
                        <a:rPr sz="1875" b="0">
                          <a:solidFill>
                            <a:srgbClr val="253C4D"/>
                          </a:solidFill>
                          <a:latin typeface="Yu Gothic"/>
                          <a:ea typeface="Yu Gothic"/>
                          <a:cs typeface="Yu Gothic"/>
                        </a:rPr>
                        <a:t>A</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3,000 N</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600 N</a:t>
                      </a:r>
                    </a:p>
                  </a:txBody>
                  <a:tcPr marL="91440" marR="91440" marT="45720" marB="45720">
                    <a:solidFill>
                      <a:srgbClr val="F1F5F7"/>
                    </a:solidFill>
                  </a:tcPr>
                </a:tc>
              </a:tr>
              <a:tr h="920750">
                <a:tc>
                  <a:txBody>
                    <a:bodyPr lIns="95250" tIns="95250" rIns="95250" bIns="95250"/>
                    <a:lstStyle/>
                    <a:p>
                      <a:r>
                        <a:rPr sz="1875" b="0">
                          <a:solidFill>
                            <a:srgbClr val="253C4D"/>
                          </a:solidFill>
                          <a:latin typeface="Yu Gothic"/>
                          <a:ea typeface="Yu Gothic"/>
                          <a:cs typeface="Yu Gothic"/>
                        </a:rPr>
                        <a:t>B</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3,500 N</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2,800 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5E8AFDB-6973-4B4B-A021-5D6E5376B9E3}"/>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幅20 mm×重ね長さ25 mm。銘柄の実測値・製品保証値ではない。</a:t>
            </a:r>
          </a:p>
        </p:txBody>
      </p:sp>
      <p:sp>
        <p:nvSpPr>
          <p:cNvPr id="7" name="">
            <a:extLst xmlns:a="http://schemas.openxmlformats.org/drawingml/2006/main">
              <a:ext uri="{FF2B5EF4-FFF2-40B4-BE49-F238E27FC236}">
                <a16:creationId xmlns:a16="http://schemas.microsoft.com/office/drawing/2014/main" id="{25F0D4D8-E42D-4E79-982D-74DA4B356C9C}"/>
              </a:ext>
            </a:extLst>
          </p:cNvPr>
          <p:cNvSpPr>
            <a:spLocks xmlns:a="http://schemas.openxmlformats.org/drawingml/2006/main" noGrp="1"/>
          </p:cNvSpPr>
          <p:nvPr/>
        </p:nvSpPr>
        <p:spPr>
          <a:xfrm xmlns:a="http://schemas.openxmlformats.org/drawingml/2006/main">
            <a:off x="838200" y="1457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① 接着面積と、A・Bの乾燥／湿潤後のτ平均を求める</a:t>
            </a:r>
          </a:p>
        </p:txBody>
      </p:sp>
      <p:sp>
        <p:nvSpPr>
          <p:cNvPr id="8" name="">
            <a:extLst xmlns:a="http://schemas.openxmlformats.org/drawingml/2006/main">
              <a:ext uri="{FF2B5EF4-FFF2-40B4-BE49-F238E27FC236}">
                <a16:creationId xmlns:a16="http://schemas.microsoft.com/office/drawing/2014/main" id="{D9A4B2C0-A0BD-4BF1-B142-4DD378F26385}"/>
              </a:ext>
            </a:extLst>
          </p:cNvPr>
          <p:cNvSpPr>
            <a:spLocks xmlns:a="http://schemas.openxmlformats.org/drawingml/2006/main" noGrp="1"/>
          </p:cNvSpPr>
          <p:nvPr/>
        </p:nvSpPr>
        <p:spPr>
          <a:xfrm xmlns:a="http://schemas.openxmlformats.org/drawingml/2006/main">
            <a:off x="838200" y="18764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② 荷重の保持率　③ 構造用途への採用を判断できるか</a:t>
            </a:r>
          </a:p>
        </p:txBody>
      </p:sp>
    </p:spTree>
    <p:extLst>
      <p:ext uri="{BB962C8B-B14F-4D97-AF65-F5344CB8AC3E}">
        <p14:creationId xmlns:p14="http://schemas.microsoft.com/office/powerpoint/2010/main" val="12815210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C54A4F-777D-4140-B59E-50983DB7F73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演習1の解説</a:t>
            </a:r>
          </a:p>
        </p:txBody>
      </p:sp>
      <p:sp>
        <p:nvSpPr>
          <p:cNvPr id="2" name="">
            <a:extLst xmlns:a="http://schemas.openxmlformats.org/drawingml/2006/main">
              <a:ext uri="{FF2B5EF4-FFF2-40B4-BE49-F238E27FC236}">
                <a16:creationId xmlns:a16="http://schemas.microsoft.com/office/drawing/2014/main" id="{7EDAAB0C-83FC-4E50-A3AF-447C9926B14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719DF8-B135-4C88-9BC2-84019B1D340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5FF9FC84-58BC-478F-B5CD-9F2EB65B975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graphicFrame>
        <p:nvGraphicFramePr>
          <p:cNvPr id="5" name="">
            <a:extLst xmlns:a="http://schemas.openxmlformats.org/drawingml/2006/main">
              <a:ext uri="{FF2B5EF4-FFF2-40B4-BE49-F238E27FC236}">
                <a16:creationId xmlns:a16="http://schemas.microsoft.com/office/drawing/2014/main" id="{B0C0608A-A843-4895-8DCF-E4A1C1926A1C}"/>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2857500"/>
                <a:gridCol w="3714750"/>
                <a:gridCol w="3905250"/>
              </a:tblGrid>
              <a:tr h="809625">
                <a:tc>
                  <a:txBody>
                    <a:bodyPr lIns="95250" tIns="95250" rIns="95250" bIns="95250"/>
                    <a:lstStyle/>
                    <a:p>
                      <a:r>
                        <a:rPr sz="1875" b="1">
                          <a:solidFill>
                            <a:srgbClr val="FFFFFF"/>
                          </a:solidFill>
                          <a:latin typeface="Yu Gothic"/>
                          <a:ea typeface="Yu Gothic"/>
                          <a:cs typeface="Yu Gothic"/>
                        </a:rPr>
                        <a:t>結果</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A</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B</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乾燥時／MPa</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6.0</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7.0</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湿潤後／MPa</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1.2</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5.6</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保持率</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20%</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80%</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CEF8577C-B079-4986-BDC3-72AE8CB28A33}"/>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初期強度、保持率、必要な絶対性能を分けて読む。</a:t>
            </a:r>
          </a:p>
        </p:txBody>
      </p:sp>
    </p:spTree>
    <p:extLst>
      <p:ext uri="{BB962C8B-B14F-4D97-AF65-F5344CB8AC3E}">
        <p14:creationId xmlns:p14="http://schemas.microsoft.com/office/powerpoint/2010/main" val="15230345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01F494-72DD-4E31-AFBE-6670C162950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EE02B3B2-CFC7-450B-A6CD-8EA97B64E3E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A88FC2-670F-48FE-AD36-85D802BB014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35F614C9-594B-4B66-9B9B-66F1E4D2FC5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8C2E38A0-1119-48D5-A949-3B5ADDD377C8}"/>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089AB058-3F80-4380-AEA7-91822B0BE96D}"/>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F8A52ECC-E492-4F99-B3A9-341FA0568CD8}"/>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109701E6-1B41-4552-8EEF-C25EAF3BE19B}"/>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再開したら：演習2　学校の製作で、接着剤を選ぶへ進みます。</a:t>
            </a:r>
          </a:p>
        </p:txBody>
      </p:sp>
    </p:spTree>
    <p:extLst>
      <p:ext uri="{BB962C8B-B14F-4D97-AF65-F5344CB8AC3E}">
        <p14:creationId xmlns:p14="http://schemas.microsoft.com/office/powerpoint/2010/main" val="11273603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5F0833-374E-48AC-8D98-E1CC724234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学校の製作で、接着剤を選ぶ</a:t>
            </a:r>
          </a:p>
        </p:txBody>
      </p:sp>
      <p:sp>
        <p:nvSpPr>
          <p:cNvPr id="2" name="">
            <a:extLst xmlns:a="http://schemas.openxmlformats.org/drawingml/2006/main">
              <a:ext uri="{FF2B5EF4-FFF2-40B4-BE49-F238E27FC236}">
                <a16:creationId xmlns:a16="http://schemas.microsoft.com/office/drawing/2014/main" id="{E7F1FA87-D8C4-490E-921E-24AC4B831B4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4B33F9-4E48-4D35-AC59-902BD7D15E4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89983CC-81C8-4B73-8874-B54DF0C6212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D970829E-4FAC-4254-8A94-CDE4D3369FD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室内の木製小物／位置決めが必要な小部品／雨の当たる台</a:t>
            </a:r>
          </a:p>
        </p:txBody>
      </p:sp>
      <p:sp>
        <p:nvSpPr>
          <p:cNvPr id="6" name="">
            <a:extLst xmlns:a="http://schemas.openxmlformats.org/drawingml/2006/main">
              <a:ext uri="{FF2B5EF4-FFF2-40B4-BE49-F238E27FC236}">
                <a16:creationId xmlns:a16="http://schemas.microsoft.com/office/drawing/2014/main" id="{F3143004-F768-4205-BF6A-CF05568CFA2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各用途で、材・濡れ方・荷重・作業時間を記入する</a:t>
            </a:r>
          </a:p>
        </p:txBody>
      </p:sp>
      <p:sp>
        <p:nvSpPr>
          <p:cNvPr id="7" name="">
            <a:extLst xmlns:a="http://schemas.openxmlformats.org/drawingml/2006/main">
              <a:ext uri="{FF2B5EF4-FFF2-40B4-BE49-F238E27FC236}">
                <a16:creationId xmlns:a16="http://schemas.microsoft.com/office/drawing/2014/main" id="{B1ADC008-3B9A-4777-84FA-72D426613E1F}"/>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候補の系統と、製品資料で確認する条件を挙げる</a:t>
            </a:r>
          </a:p>
        </p:txBody>
      </p:sp>
      <p:sp>
        <p:nvSpPr>
          <p:cNvPr id="8" name="">
            <a:extLst xmlns:a="http://schemas.openxmlformats.org/drawingml/2006/main">
              <a:ext uri="{FF2B5EF4-FFF2-40B4-BE49-F238E27FC236}">
                <a16:creationId xmlns:a16="http://schemas.microsoft.com/office/drawing/2014/main" id="{1D129C05-826B-4FA8-AF5F-4B60E3E52F1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「瞬間だから最強」「木工用なら全て同じ」を修正する</a:t>
            </a:r>
          </a:p>
        </p:txBody>
      </p:sp>
    </p:spTree>
    <p:extLst>
      <p:ext uri="{BB962C8B-B14F-4D97-AF65-F5344CB8AC3E}">
        <p14:creationId xmlns:p14="http://schemas.microsoft.com/office/powerpoint/2010/main" val="64205536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590785-F8BE-4CC4-947D-901D7EB8E8A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採用判断に足りない情報</a:t>
            </a:r>
          </a:p>
        </p:txBody>
      </p:sp>
      <p:sp>
        <p:nvSpPr>
          <p:cNvPr id="2" name="">
            <a:extLst xmlns:a="http://schemas.openxmlformats.org/drawingml/2006/main">
              <a:ext uri="{FF2B5EF4-FFF2-40B4-BE49-F238E27FC236}">
                <a16:creationId xmlns:a16="http://schemas.microsoft.com/office/drawing/2014/main" id="{D0593280-B159-4145-8AA4-11561EF338D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F1BA1E-D253-4B01-8987-492DC5BC01F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27F5B60B-A549-49D3-AD99-56B7A38F4D9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1B05C3DF-18F6-4BD3-BAC6-AA083A35C38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乾燥試験で強かった接着剤を、雨の当たる荷重部へ採用する前に、確認する</a:t>
            </a:r>
          </a:p>
        </p:txBody>
      </p:sp>
      <p:sp>
        <p:nvSpPr>
          <p:cNvPr id="6" name="">
            <a:extLst xmlns:a="http://schemas.openxmlformats.org/drawingml/2006/main">
              <a:ext uri="{FF2B5EF4-FFF2-40B4-BE49-F238E27FC236}">
                <a16:creationId xmlns:a16="http://schemas.microsoft.com/office/drawing/2014/main" id="{D7276CD9-6E75-4FB5-8082-FFAB6F4240BB}"/>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情報を四つ挙げてください。</a:t>
            </a:r>
          </a:p>
        </p:txBody>
      </p:sp>
      <p:sp>
        <p:nvSpPr>
          <p:cNvPr id="7" name="">
            <a:extLst xmlns:a="http://schemas.openxmlformats.org/drawingml/2006/main">
              <a:ext uri="{FF2B5EF4-FFF2-40B4-BE49-F238E27FC236}">
                <a16:creationId xmlns:a16="http://schemas.microsoft.com/office/drawing/2014/main" id="{C225A7EA-7380-41ED-A02C-368C20069061}"/>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5494800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9803E0-266D-4675-B487-C16C0111FC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塗装の目的：見た目、保護、清掃性</a:t>
            </a:r>
          </a:p>
        </p:txBody>
      </p:sp>
      <p:sp>
        <p:nvSpPr>
          <p:cNvPr id="2" name="">
            <a:extLst xmlns:a="http://schemas.openxmlformats.org/drawingml/2006/main">
              <a:ext uri="{FF2B5EF4-FFF2-40B4-BE49-F238E27FC236}">
                <a16:creationId xmlns:a16="http://schemas.microsoft.com/office/drawing/2014/main" id="{973ACF51-6F28-45D2-AE38-4054B083290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4623E1-7506-4AFD-87A5-4471DC7D19F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F2B93B2F-BE1C-4435-960E-C1A51E4B584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FA1DB944-EC9F-40A5-9A4B-89C1FBF69DC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着色・つや・木目の見え方を整える</a:t>
            </a:r>
          </a:p>
        </p:txBody>
      </p:sp>
      <p:sp>
        <p:nvSpPr>
          <p:cNvPr id="6" name="">
            <a:extLst xmlns:a="http://schemas.openxmlformats.org/drawingml/2006/main">
              <a:ext uri="{FF2B5EF4-FFF2-40B4-BE49-F238E27FC236}">
                <a16:creationId xmlns:a16="http://schemas.microsoft.com/office/drawing/2014/main" id="{766A6740-4C0E-492B-AFFE-BB8AC14C3260}"/>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水・光・摩耗や汚れから表面を保護する</a:t>
            </a:r>
          </a:p>
        </p:txBody>
      </p:sp>
      <p:sp>
        <p:nvSpPr>
          <p:cNvPr id="7" name="">
            <a:extLst xmlns:a="http://schemas.openxmlformats.org/drawingml/2006/main">
              <a:ext uri="{FF2B5EF4-FFF2-40B4-BE49-F238E27FC236}">
                <a16:creationId xmlns:a16="http://schemas.microsoft.com/office/drawing/2014/main" id="{F2A144B6-C263-482B-B368-D4CD6A2FF4AE}"/>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拭き取りやすさ・手触り・補修性も考える</a:t>
            </a:r>
          </a:p>
        </p:txBody>
      </p:sp>
      <p:sp>
        <p:nvSpPr>
          <p:cNvPr id="8" name="">
            <a:extLst xmlns:a="http://schemas.openxmlformats.org/drawingml/2006/main">
              <a:ext uri="{FF2B5EF4-FFF2-40B4-BE49-F238E27FC236}">
                <a16:creationId xmlns:a16="http://schemas.microsoft.com/office/drawing/2014/main" id="{AD0722A3-B5E2-4DEE-BA80-200D5B4F9ED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屋内／屋外と、使用中の手入れを先に決める</a:t>
            </a:r>
          </a:p>
        </p:txBody>
      </p:sp>
    </p:spTree>
    <p:extLst>
      <p:ext uri="{BB962C8B-B14F-4D97-AF65-F5344CB8AC3E}">
        <p14:creationId xmlns:p14="http://schemas.microsoft.com/office/powerpoint/2010/main" val="194044660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2C620C-6719-447C-8407-6701F5D3DB3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浸透形と、塗膜を作る仕上げ</a:t>
            </a:r>
          </a:p>
        </p:txBody>
      </p:sp>
      <p:sp>
        <p:nvSpPr>
          <p:cNvPr id="2" name="">
            <a:extLst xmlns:a="http://schemas.openxmlformats.org/drawingml/2006/main">
              <a:ext uri="{FF2B5EF4-FFF2-40B4-BE49-F238E27FC236}">
                <a16:creationId xmlns:a16="http://schemas.microsoft.com/office/drawing/2014/main" id="{FA224BE8-1C66-458C-989E-C1CEE81EC1E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FF07A4-D9A3-4DAA-9841-1FE4EE9B66D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74DF0479-E17D-43F9-AE54-18360842231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graphicFrame>
        <p:nvGraphicFramePr>
          <p:cNvPr id="5" name="">
            <a:extLst xmlns:a="http://schemas.openxmlformats.org/drawingml/2006/main">
              <a:ext uri="{FF2B5EF4-FFF2-40B4-BE49-F238E27FC236}">
                <a16:creationId xmlns:a16="http://schemas.microsoft.com/office/drawing/2014/main" id="{EE288CD4-7F91-4A8A-90A9-CFB03B4DA518}"/>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2857500"/>
                <a:gridCol w="3714750"/>
                <a:gridCol w="3905250"/>
              </a:tblGrid>
              <a:tr h="809625">
                <a:tc>
                  <a:txBody>
                    <a:bodyPr lIns="95250" tIns="95250" rIns="95250" bIns="95250"/>
                    <a:lstStyle/>
                    <a:p>
                      <a:r>
                        <a:rPr sz="1875" b="1">
                          <a:solidFill>
                            <a:srgbClr val="FFFFFF"/>
                          </a:solidFill>
                          <a:latin typeface="Yu Gothic"/>
                          <a:ea typeface="Yu Gothic"/>
                          <a:cs typeface="Yu Gothic"/>
                        </a:rPr>
                        <a:t>見方</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例</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確認点</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浸透を主体</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オイル・一部のステイン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汚れ、撥水、再塗装</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塗膜を形成</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ニス・塗りつぶし塗料</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摩耗、割れ、剥がれ</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着色の機能</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着色用ステイン等</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保護性能を別に確認</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361E1088-CFF3-48E8-AB06-851609966C61}"/>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分類は製品により重なる。名称だけで保護性能を決めない。</a:t>
            </a:r>
          </a:p>
        </p:txBody>
      </p:sp>
    </p:spTree>
    <p:extLst>
      <p:ext uri="{BB962C8B-B14F-4D97-AF65-F5344CB8AC3E}">
        <p14:creationId xmlns:p14="http://schemas.microsoft.com/office/powerpoint/2010/main" val="104724908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FBBAA6-DEDA-469C-835B-071C15B6B9D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水性・油性と、固まり方を分ける</a:t>
            </a:r>
          </a:p>
        </p:txBody>
      </p:sp>
      <p:sp>
        <p:nvSpPr>
          <p:cNvPr id="2" name="">
            <a:extLst xmlns:a="http://schemas.openxmlformats.org/drawingml/2006/main">
              <a:ext uri="{FF2B5EF4-FFF2-40B4-BE49-F238E27FC236}">
                <a16:creationId xmlns:a16="http://schemas.microsoft.com/office/drawing/2014/main" id="{928327D2-0943-4BC5-8E0E-156C24DA44F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B3C16B-F4F0-43AA-BB62-4EA1BFC4A84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CC94807-D736-48E3-9C3C-5C20143AB94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F2299B3D-D438-4B7F-B821-EE84BAF45E8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水性／溶剤系：何に分散・溶解しているか</a:t>
            </a:r>
          </a:p>
        </p:txBody>
      </p:sp>
      <p:sp>
        <p:nvSpPr>
          <p:cNvPr id="6" name="">
            <a:extLst xmlns:a="http://schemas.openxmlformats.org/drawingml/2006/main">
              <a:ext uri="{FF2B5EF4-FFF2-40B4-BE49-F238E27FC236}">
                <a16:creationId xmlns:a16="http://schemas.microsoft.com/office/drawing/2014/main" id="{A2B230B1-8702-4596-9570-CAD222BF0E3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乾燥／反応硬化：どう塗膜・仕上げ層を作るか</a:t>
            </a:r>
          </a:p>
        </p:txBody>
      </p:sp>
      <p:sp>
        <p:nvSpPr>
          <p:cNvPr id="7" name="">
            <a:extLst xmlns:a="http://schemas.openxmlformats.org/drawingml/2006/main">
              <a:ext uri="{FF2B5EF4-FFF2-40B4-BE49-F238E27FC236}">
                <a16:creationId xmlns:a16="http://schemas.microsoft.com/office/drawing/2014/main" id="{71860F8A-B844-4CE3-AD39-4C1E2963C666}"/>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アクリル・ウレタン等：主な樹脂の系統</a:t>
            </a:r>
          </a:p>
        </p:txBody>
      </p:sp>
      <p:sp>
        <p:nvSpPr>
          <p:cNvPr id="8" name="">
            <a:extLst xmlns:a="http://schemas.openxmlformats.org/drawingml/2006/main">
              <a:ext uri="{FF2B5EF4-FFF2-40B4-BE49-F238E27FC236}">
                <a16:creationId xmlns:a16="http://schemas.microsoft.com/office/drawing/2014/main" id="{00AE5137-3035-4467-841B-69EA4227EFB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水性塗料でも、硬化後の耐水性は製品で異なる</a:t>
            </a:r>
          </a:p>
        </p:txBody>
      </p:sp>
    </p:spTree>
    <p:extLst>
      <p:ext uri="{BB962C8B-B14F-4D97-AF65-F5344CB8AC3E}">
        <p14:creationId xmlns:p14="http://schemas.microsoft.com/office/powerpoint/2010/main" val="74293318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4DDFCA-8AE7-4D16-9D7A-ECFDA151525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塗料を比べる軸</a:t>
            </a:r>
          </a:p>
        </p:txBody>
      </p:sp>
      <p:sp>
        <p:nvSpPr>
          <p:cNvPr id="2" name="">
            <a:extLst xmlns:a="http://schemas.openxmlformats.org/drawingml/2006/main">
              <a:ext uri="{FF2B5EF4-FFF2-40B4-BE49-F238E27FC236}">
                <a16:creationId xmlns:a16="http://schemas.microsoft.com/office/drawing/2014/main" id="{5AA9883D-824F-4790-9715-1039419F40C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B70F54-5412-4977-BD31-AC1EDF26D68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B9139F8-9997-4CBF-BCED-33750C707F3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AA835FB6-A03E-466C-877A-DF882C657B3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水性という表示と、硬化後の耐水性が別の情報である理由を説明し、塗料を</a:t>
            </a:r>
          </a:p>
        </p:txBody>
      </p:sp>
      <p:sp>
        <p:nvSpPr>
          <p:cNvPr id="6" name="">
            <a:extLst xmlns:a="http://schemas.openxmlformats.org/drawingml/2006/main">
              <a:ext uri="{FF2B5EF4-FFF2-40B4-BE49-F238E27FC236}">
                <a16:creationId xmlns:a16="http://schemas.microsoft.com/office/drawing/2014/main" id="{BC8E4A9E-D64C-4C13-870B-633EC45A138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選ぶときの別の比較軸を二つ書いてください。</a:t>
            </a:r>
          </a:p>
        </p:txBody>
      </p:sp>
      <p:sp>
        <p:nvSpPr>
          <p:cNvPr id="7" name="">
            <a:extLst xmlns:a="http://schemas.openxmlformats.org/drawingml/2006/main">
              <a:ext uri="{FF2B5EF4-FFF2-40B4-BE49-F238E27FC236}">
                <a16:creationId xmlns:a16="http://schemas.microsoft.com/office/drawing/2014/main" id="{B51065CF-63F4-482D-9A8C-3B04B0B92FD1}"/>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34480194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119FAE-D742-4C8C-BFF3-6D419D18DA1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木材の動きと、塗膜の傷み</a:t>
            </a:r>
          </a:p>
        </p:txBody>
      </p:sp>
      <p:sp>
        <p:nvSpPr>
          <p:cNvPr id="2" name="">
            <a:extLst xmlns:a="http://schemas.openxmlformats.org/drawingml/2006/main">
              <a:ext uri="{FF2B5EF4-FFF2-40B4-BE49-F238E27FC236}">
                <a16:creationId xmlns:a16="http://schemas.microsoft.com/office/drawing/2014/main" id="{401A53EF-BC7D-4FBA-B7AF-021A2D3DD25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A4E3C1-FB86-439C-831D-86A2245FABC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F2590308-0760-497A-81F5-590D5D2A6E2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B7F87FA3-ABC9-4B8A-9EDE-45D05A3A785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含水率が変わると、木材は方向別に動く</a:t>
            </a:r>
          </a:p>
        </p:txBody>
      </p:sp>
      <p:sp>
        <p:nvSpPr>
          <p:cNvPr id="6" name="">
            <a:extLst xmlns:a="http://schemas.openxmlformats.org/drawingml/2006/main">
              <a:ext uri="{FF2B5EF4-FFF2-40B4-BE49-F238E27FC236}">
                <a16:creationId xmlns:a16="http://schemas.microsoft.com/office/drawing/2014/main" id="{96B7B208-A289-4EB1-9500-547120A8E74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塗膜の割れや剥がれ、水の入口を点検する</a:t>
            </a:r>
          </a:p>
        </p:txBody>
      </p:sp>
      <p:sp>
        <p:nvSpPr>
          <p:cNvPr id="7" name="">
            <a:extLst xmlns:a="http://schemas.openxmlformats.org/drawingml/2006/main">
              <a:ext uri="{FF2B5EF4-FFF2-40B4-BE49-F238E27FC236}">
                <a16:creationId xmlns:a16="http://schemas.microsoft.com/office/drawing/2014/main" id="{B778D9D5-0D74-4F0E-A781-1730C36A1E2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塗装は水分移動を遅らせても、完全には止めない</a:t>
            </a:r>
          </a:p>
        </p:txBody>
      </p:sp>
      <p:sp>
        <p:nvSpPr>
          <p:cNvPr id="8" name="">
            <a:extLst xmlns:a="http://schemas.openxmlformats.org/drawingml/2006/main">
              <a:ext uri="{FF2B5EF4-FFF2-40B4-BE49-F238E27FC236}">
                <a16:creationId xmlns:a16="http://schemas.microsoft.com/office/drawing/2014/main" id="{EF9DE20A-DFA3-4183-892C-AE10A3B689C5}"/>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木口・接合部・裏面を含め、濡れ方と乾き方を見る</a:t>
            </a:r>
          </a:p>
        </p:txBody>
      </p:sp>
    </p:spTree>
    <p:extLst>
      <p:ext uri="{BB962C8B-B14F-4D97-AF65-F5344CB8AC3E}">
        <p14:creationId xmlns:p14="http://schemas.microsoft.com/office/powerpoint/2010/main" val="150298024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442F93-0077-4A5B-840D-76FF7BD0D10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仕上げ工程と、接着工程の順序</a:t>
            </a:r>
          </a:p>
        </p:txBody>
      </p:sp>
      <p:sp>
        <p:nvSpPr>
          <p:cNvPr id="2" name="">
            <a:extLst xmlns:a="http://schemas.openxmlformats.org/drawingml/2006/main">
              <a:ext uri="{FF2B5EF4-FFF2-40B4-BE49-F238E27FC236}">
                <a16:creationId xmlns:a16="http://schemas.microsoft.com/office/drawing/2014/main" id="{8BBADE49-5102-4F42-9255-96B9E775120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D33C7E-9617-488A-95D3-30970DB0C86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A7A56C13-E1C4-481F-977E-8FE70283405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9C970334-42A4-4C3A-881E-33EAD4D9B38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試し塗りで、色・吸込み・手触りを確認する</a:t>
            </a:r>
          </a:p>
        </p:txBody>
      </p:sp>
      <p:sp>
        <p:nvSpPr>
          <p:cNvPr id="6" name="">
            <a:extLst xmlns:a="http://schemas.openxmlformats.org/drawingml/2006/main">
              <a:ext uri="{FF2B5EF4-FFF2-40B4-BE49-F238E27FC236}">
                <a16:creationId xmlns:a16="http://schemas.microsoft.com/office/drawing/2014/main" id="{16F31D0C-9CF4-4AD0-8C2B-746C2346D17B}"/>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下地調整、塗布、乾燥・養生を製品に合わせる</a:t>
            </a:r>
          </a:p>
        </p:txBody>
      </p:sp>
      <p:sp>
        <p:nvSpPr>
          <p:cNvPr id="7" name="">
            <a:extLst xmlns:a="http://schemas.openxmlformats.org/drawingml/2006/main">
              <a:ext uri="{FF2B5EF4-FFF2-40B4-BE49-F238E27FC236}">
                <a16:creationId xmlns:a16="http://schemas.microsoft.com/office/drawing/2014/main" id="{B619D6F3-6CBB-40CE-822E-7FB85C0931B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接着面は、塗膜を介さず接着できるかを確認する</a:t>
            </a:r>
          </a:p>
        </p:txBody>
      </p:sp>
      <p:sp>
        <p:nvSpPr>
          <p:cNvPr id="8" name="">
            <a:extLst xmlns:a="http://schemas.openxmlformats.org/drawingml/2006/main">
              <a:ext uri="{FF2B5EF4-FFF2-40B4-BE49-F238E27FC236}">
                <a16:creationId xmlns:a16="http://schemas.microsoft.com/office/drawing/2014/main" id="{B9B12757-6EE5-4875-8FCE-CB6DCA9919DE}"/>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組立て順序と、接着剤のはみ出しを計画する</a:t>
            </a:r>
          </a:p>
        </p:txBody>
      </p:sp>
    </p:spTree>
    <p:extLst>
      <p:ext uri="{BB962C8B-B14F-4D97-AF65-F5344CB8AC3E}">
        <p14:creationId xmlns:p14="http://schemas.microsoft.com/office/powerpoint/2010/main" val="107596708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B64797-7EE4-487C-BC1B-82326B8A5D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塗装と防腐：役割を組み合わせる</a:t>
            </a:r>
          </a:p>
        </p:txBody>
      </p:sp>
      <p:sp>
        <p:nvSpPr>
          <p:cNvPr id="2" name="">
            <a:extLst xmlns:a="http://schemas.openxmlformats.org/drawingml/2006/main">
              <a:ext uri="{FF2B5EF4-FFF2-40B4-BE49-F238E27FC236}">
                <a16:creationId xmlns:a16="http://schemas.microsoft.com/office/drawing/2014/main" id="{E8D7DB1E-1DCD-4234-B032-A845435D515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231C69-19FB-4D3C-B8AF-5B5C33EA82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6CCEEC68-86F1-46C1-9D55-F4E21D257F1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F3CA7E51-D2ED-403D-AAEE-E4D3DC615F1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通常の仕上げ塗装と、保存処理を区別する</a:t>
            </a:r>
          </a:p>
        </p:txBody>
      </p:sp>
      <p:sp>
        <p:nvSpPr>
          <p:cNvPr id="6" name="">
            <a:extLst xmlns:a="http://schemas.openxmlformats.org/drawingml/2006/main">
              <a:ext uri="{FF2B5EF4-FFF2-40B4-BE49-F238E27FC236}">
                <a16:creationId xmlns:a16="http://schemas.microsoft.com/office/drawing/2014/main" id="{481CE5D4-83CF-4C9F-85BE-0C83D344E1A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防腐成分を含む塗料も、対象と適用範囲を確認する</a:t>
            </a:r>
          </a:p>
        </p:txBody>
      </p:sp>
      <p:sp>
        <p:nvSpPr>
          <p:cNvPr id="7" name="">
            <a:extLst xmlns:a="http://schemas.openxmlformats.org/drawingml/2006/main">
              <a:ext uri="{FF2B5EF4-FFF2-40B4-BE49-F238E27FC236}">
                <a16:creationId xmlns:a16="http://schemas.microsoft.com/office/drawing/2014/main" id="{8DC552CF-7E02-4CF5-9D5A-43936E27CCE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保存処理材への塗装は、適合と乾燥条件を読む</a:t>
            </a:r>
          </a:p>
        </p:txBody>
      </p:sp>
      <p:sp>
        <p:nvSpPr>
          <p:cNvPr id="8" name="">
            <a:extLst xmlns:a="http://schemas.openxmlformats.org/drawingml/2006/main">
              <a:ext uri="{FF2B5EF4-FFF2-40B4-BE49-F238E27FC236}">
                <a16:creationId xmlns:a16="http://schemas.microsoft.com/office/drawing/2014/main" id="{2D27DC34-6234-4617-B038-E8D71997442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どちらも、傷んだ部材の耐力を自動的に回復しない</a:t>
            </a:r>
          </a:p>
        </p:txBody>
      </p:sp>
    </p:spTree>
    <p:extLst>
      <p:ext uri="{BB962C8B-B14F-4D97-AF65-F5344CB8AC3E}">
        <p14:creationId xmlns:p14="http://schemas.microsoft.com/office/powerpoint/2010/main" val="20112285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617216-047D-4D7B-9A37-6062A26AFD6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38D45DCC-0D8E-49B3-9D6D-92BD59D05BA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3A32530-EBD3-4A49-98D8-AB25DB7F32C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6A97B53-7F77-4BB2-BA58-1E2F69D957F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5253B06D-0E7A-4206-B7A3-6D033619A51A}"/>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55BC8F07-D625-44EC-9702-503DA01308D0}"/>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B8BABEF2-83EF-4BEB-869A-50A3D9885931}"/>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7DD8D227-9A63-489B-924A-F3947675C008}"/>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再開したら：自己確認　塗装と保存処理へ進みます。</a:t>
            </a:r>
          </a:p>
        </p:txBody>
      </p:sp>
    </p:spTree>
    <p:extLst>
      <p:ext uri="{BB962C8B-B14F-4D97-AF65-F5344CB8AC3E}">
        <p14:creationId xmlns:p14="http://schemas.microsoft.com/office/powerpoint/2010/main" val="94572554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F88FC0-8D4E-47EE-BDDC-EE1A2C90D9F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塗装と保存処理</a:t>
            </a:r>
          </a:p>
        </p:txBody>
      </p:sp>
      <p:sp>
        <p:nvSpPr>
          <p:cNvPr id="2" name="">
            <a:extLst xmlns:a="http://schemas.openxmlformats.org/drawingml/2006/main">
              <a:ext uri="{FF2B5EF4-FFF2-40B4-BE49-F238E27FC236}">
                <a16:creationId xmlns:a16="http://schemas.microsoft.com/office/drawing/2014/main" id="{95EF40DA-5209-4978-8B67-8309311EC30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2F4567-2804-4AC0-A7EF-4615F92D2B6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CD3B6628-7A92-443A-83FF-437888AEE74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
        <p:nvSpPr>
          <p:cNvPr id="5" name="">
            <a:extLst xmlns:a="http://schemas.openxmlformats.org/drawingml/2006/main">
              <a:ext uri="{FF2B5EF4-FFF2-40B4-BE49-F238E27FC236}">
                <a16:creationId xmlns:a16="http://schemas.microsoft.com/office/drawing/2014/main" id="{63DEADA6-23BA-45EE-8F5B-24789EB4B72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透明な仕上げ塗装をした木材なら内部まで防腐されたと言えるでしょうか。</a:t>
            </a:r>
          </a:p>
        </p:txBody>
      </p:sp>
      <p:sp>
        <p:nvSpPr>
          <p:cNvPr id="6" name="">
            <a:extLst xmlns:a="http://schemas.openxmlformats.org/drawingml/2006/main">
              <a:ext uri="{FF2B5EF4-FFF2-40B4-BE49-F238E27FC236}">
                <a16:creationId xmlns:a16="http://schemas.microsoft.com/office/drawing/2014/main" id="{428B5FDC-B2CC-45B4-B311-AAB4A109D38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何を確認すべきかを説明してください。</a:t>
            </a:r>
          </a:p>
        </p:txBody>
      </p:sp>
      <p:sp>
        <p:nvSpPr>
          <p:cNvPr id="7" name="">
            <a:extLst xmlns:a="http://schemas.openxmlformats.org/drawingml/2006/main">
              <a:ext uri="{FF2B5EF4-FFF2-40B4-BE49-F238E27FC236}">
                <a16:creationId xmlns:a16="http://schemas.microsoft.com/office/drawing/2014/main" id="{FF08D81B-911F-4444-8881-8ECF6A1C6481}"/>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61089858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5A23BA-E500-4129-A1A8-0A09D43D13C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演習3　屋外教材台の接着・塗装・保守</a:t>
            </a:r>
          </a:p>
        </p:txBody>
      </p:sp>
      <p:sp>
        <p:nvSpPr>
          <p:cNvPr id="2" name="">
            <a:extLst xmlns:a="http://schemas.openxmlformats.org/drawingml/2006/main">
              <a:ext uri="{FF2B5EF4-FFF2-40B4-BE49-F238E27FC236}">
                <a16:creationId xmlns:a16="http://schemas.microsoft.com/office/drawing/2014/main" id="{7A083D13-57DA-412A-9B6A-5CC0E6D89C3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EF24D2-FBCF-4D04-85C9-D6532C4D7AD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38CD03E-DEA7-4116-A1FF-F86536B079D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36</a:t>
            </a:r>
          </a:p>
        </p:txBody>
      </p:sp>
      <p:sp>
        <p:nvSpPr>
          <p:cNvPr id="5" name="">
            <a:extLst xmlns:a="http://schemas.openxmlformats.org/drawingml/2006/main">
              <a:ext uri="{FF2B5EF4-FFF2-40B4-BE49-F238E27FC236}">
                <a16:creationId xmlns:a16="http://schemas.microsoft.com/office/drawing/2014/main" id="{70C56126-05BA-4B00-BFCD-B5FECE82307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雨の当たる台で、接合部に水が残るという設定</a:t>
            </a:r>
          </a:p>
        </p:txBody>
      </p:sp>
      <p:sp>
        <p:nvSpPr>
          <p:cNvPr id="6" name="">
            <a:extLst xmlns:a="http://schemas.openxmlformats.org/drawingml/2006/main">
              <a:ext uri="{FF2B5EF4-FFF2-40B4-BE49-F238E27FC236}">
                <a16:creationId xmlns:a16="http://schemas.microsoft.com/office/drawing/2014/main" id="{7B193490-F0D2-4A0E-BFFA-171942C70BF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排水・乾燥と、必要な接合性能を整理する</a:t>
            </a:r>
          </a:p>
        </p:txBody>
      </p:sp>
      <p:sp>
        <p:nvSpPr>
          <p:cNvPr id="7" name="">
            <a:extLst xmlns:a="http://schemas.openxmlformats.org/drawingml/2006/main">
              <a:ext uri="{FF2B5EF4-FFF2-40B4-BE49-F238E27FC236}">
                <a16:creationId xmlns:a16="http://schemas.microsoft.com/office/drawing/2014/main" id="{C4C71255-657D-4A0F-A4E0-471EF13B4B1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接着剤・塗料・保存処理の確認項目を書く</a:t>
            </a:r>
          </a:p>
        </p:txBody>
      </p:sp>
      <p:sp>
        <p:nvSpPr>
          <p:cNvPr id="8" name="">
            <a:extLst xmlns:a="http://schemas.openxmlformats.org/drawingml/2006/main">
              <a:ext uri="{FF2B5EF4-FFF2-40B4-BE49-F238E27FC236}">
                <a16:creationId xmlns:a16="http://schemas.microsoft.com/office/drawing/2014/main" id="{C1767D80-A7FB-4921-BCD2-0523E8B6928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点検箇所と、交換しやすい部材を示す</a:t>
            </a:r>
          </a:p>
        </p:txBody>
      </p:sp>
    </p:spTree>
    <p:extLst>
      <p:ext uri="{BB962C8B-B14F-4D97-AF65-F5344CB8AC3E}">
        <p14:creationId xmlns:p14="http://schemas.microsoft.com/office/powerpoint/2010/main" val="139447940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5F766A-D259-404B-89AD-154724A0350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中学生の説明を、工程と理由で確かめる</a:t>
            </a:r>
          </a:p>
        </p:txBody>
      </p:sp>
      <p:sp>
        <p:nvSpPr>
          <p:cNvPr id="2" name="">
            <a:extLst xmlns:a="http://schemas.openxmlformats.org/drawingml/2006/main">
              <a:ext uri="{FF2B5EF4-FFF2-40B4-BE49-F238E27FC236}">
                <a16:creationId xmlns:a16="http://schemas.microsoft.com/office/drawing/2014/main" id="{F883F5E3-B735-4A87-84E5-865E96A5616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803368-9BBA-4715-B2DB-B6AB42C7205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61D51470-98F9-4ABD-AAEF-53D649F6B96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37</a:t>
            </a:r>
          </a:p>
        </p:txBody>
      </p:sp>
      <p:sp>
        <p:nvSpPr>
          <p:cNvPr id="5" name="">
            <a:extLst xmlns:a="http://schemas.openxmlformats.org/drawingml/2006/main">
              <a:ext uri="{FF2B5EF4-FFF2-40B4-BE49-F238E27FC236}">
                <a16:creationId xmlns:a16="http://schemas.microsoft.com/office/drawing/2014/main" id="{89775BD4-DAA8-468F-B97A-B9C3598098B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「なぜこの接着剤・塗料を選んだか」を短文にする</a:t>
            </a:r>
          </a:p>
        </p:txBody>
      </p:sp>
      <p:sp>
        <p:nvSpPr>
          <p:cNvPr id="6" name="">
            <a:extLst xmlns:a="http://schemas.openxmlformats.org/drawingml/2006/main">
              <a:ext uri="{FF2B5EF4-FFF2-40B4-BE49-F238E27FC236}">
                <a16:creationId xmlns:a16="http://schemas.microsoft.com/office/drawing/2014/main" id="{07E97B61-ABD5-49AE-825E-897A814EBCC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材・水・荷重・硬化条件のうち、根拠を示す</a:t>
            </a:r>
          </a:p>
        </p:txBody>
      </p:sp>
      <p:sp>
        <p:nvSpPr>
          <p:cNvPr id="7" name="">
            <a:extLst xmlns:a="http://schemas.openxmlformats.org/drawingml/2006/main">
              <a:ext uri="{FF2B5EF4-FFF2-40B4-BE49-F238E27FC236}">
                <a16:creationId xmlns:a16="http://schemas.microsoft.com/office/drawing/2014/main" id="{3B66664D-F71E-4681-BD0C-DA325400A0F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試験では条件をそろえ、値と破壊位置を記録する</a:t>
            </a:r>
          </a:p>
        </p:txBody>
      </p:sp>
      <p:sp>
        <p:nvSpPr>
          <p:cNvPr id="8" name="">
            <a:extLst xmlns:a="http://schemas.openxmlformats.org/drawingml/2006/main">
              <a:ext uri="{FF2B5EF4-FFF2-40B4-BE49-F238E27FC236}">
                <a16:creationId xmlns:a16="http://schemas.microsoft.com/office/drawing/2014/main" id="{7A3004A5-5763-4A68-9DC8-61A4C565FB42}"/>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次回：接着を使い、単板・小片・繊維を組み直す</a:t>
            </a:r>
          </a:p>
        </p:txBody>
      </p:sp>
    </p:spTree>
    <p:extLst>
      <p:ext uri="{BB962C8B-B14F-4D97-AF65-F5344CB8AC3E}">
        <p14:creationId xmlns:p14="http://schemas.microsoft.com/office/powerpoint/2010/main" val="61137509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B30AC1-171F-4D5E-BD61-406E90DC0A7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参考資料と、製品情報の読み方</a:t>
            </a:r>
          </a:p>
        </p:txBody>
      </p:sp>
      <p:sp>
        <p:nvSpPr>
          <p:cNvPr id="2" name="">
            <a:extLst xmlns:a="http://schemas.openxmlformats.org/drawingml/2006/main">
              <a:ext uri="{FF2B5EF4-FFF2-40B4-BE49-F238E27FC236}">
                <a16:creationId xmlns:a16="http://schemas.microsoft.com/office/drawing/2014/main" id="{684EA0E1-2941-447E-A73C-1300636FB6C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4BD979-0852-4BB5-9F33-8A988BD0CA3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D09A894-9CF8-46EC-8A78-9CF7577ECAD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38</a:t>
            </a:r>
          </a:p>
        </p:txBody>
      </p:sp>
      <p:sp>
        <p:nvSpPr>
          <p:cNvPr id="5" name="">
            <a:extLst xmlns:a="http://schemas.openxmlformats.org/drawingml/2006/main">
              <a:ext uri="{FF2B5EF4-FFF2-40B4-BE49-F238E27FC236}">
                <a16:creationId xmlns:a16="http://schemas.microsoft.com/office/drawing/2014/main" id="{DCB6A09D-E961-4032-AE0F-DE7529AA87C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Wood Handbook 2021 第10章：接着、強度、耐久性</a:t>
            </a:r>
          </a:p>
        </p:txBody>
      </p:sp>
      <p:sp>
        <p:nvSpPr>
          <p:cNvPr id="6" name="">
            <a:extLst xmlns:a="http://schemas.openxmlformats.org/drawingml/2006/main">
              <a:ext uri="{FF2B5EF4-FFF2-40B4-BE49-F238E27FC236}">
                <a16:creationId xmlns:a16="http://schemas.microsoft.com/office/drawing/2014/main" id="{F0F29141-3EAB-4031-8AEA-0A7FC3200E0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第16章：塗装、木材の水分、仕上げと保守</a:t>
            </a:r>
          </a:p>
        </p:txBody>
      </p:sp>
      <p:sp>
        <p:nvSpPr>
          <p:cNvPr id="7" name="">
            <a:extLst xmlns:a="http://schemas.openxmlformats.org/drawingml/2006/main">
              <a:ext uri="{FF2B5EF4-FFF2-40B4-BE49-F238E27FC236}">
                <a16:creationId xmlns:a16="http://schemas.microsoft.com/office/drawing/2014/main" id="{A1C978C5-4276-4038-8502-7EABE59899F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コニシ・東亞合成：一般品と改良品を区別する</a:t>
            </a:r>
          </a:p>
        </p:txBody>
      </p:sp>
      <p:sp>
        <p:nvSpPr>
          <p:cNvPr id="8" name="">
            <a:extLst xmlns:a="http://schemas.openxmlformats.org/drawingml/2006/main">
              <a:ext uri="{FF2B5EF4-FFF2-40B4-BE49-F238E27FC236}">
                <a16:creationId xmlns:a16="http://schemas.microsoft.com/office/drawing/2014/main" id="{F1F5094A-36EF-4EA0-A8ED-916BA7CC3D2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発表者ノートと配布資料に、参照先と条件を記載</a:t>
            </a:r>
          </a:p>
        </p:txBody>
      </p:sp>
    </p:spTree>
    <p:extLst>
      <p:ext uri="{BB962C8B-B14F-4D97-AF65-F5344CB8AC3E}">
        <p14:creationId xmlns:p14="http://schemas.microsoft.com/office/powerpoint/2010/main" val="1712246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2026-10-27T23:46:03.7200000Z</dcterms:created>
  <dcterms:modified xsi:type="dcterms:W3CDTF">2026-10-27T23:46:03.7200000Z</dcterms:modified>
</coreProperties>
</file>