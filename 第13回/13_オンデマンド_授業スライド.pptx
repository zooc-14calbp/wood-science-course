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a7d2fcc2e4a88" /><Relationship Type="http://schemas.openxmlformats.org/officeDocument/2006/relationships/extended-properties" Target="/docProps/app.xml" Id="Rf72017083299465a" /><Relationship Type="http://schemas.openxmlformats.org/officeDocument/2006/relationships/officeDocument" Target="/ppt/presentation.xml" Id="R818c2cabf8a447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21ee05adf74ba2"/>
    <p:sldMasterId xmlns:r="http://schemas.openxmlformats.org/officeDocument/2006/relationships" id="2147483655" r:id="Rca9b998dd1914615"/>
  </p:sldMasterIdLst>
  <p:notesMasterIdLst>
    <p:notesMasterId xmlns:r="http://schemas.openxmlformats.org/officeDocument/2006/relationships" r:id="R24eee027e2c640c1"/>
  </p:notesMasterIdLst>
  <p:sldIdLst>
    <p:sldId xmlns:r="http://schemas.openxmlformats.org/officeDocument/2006/relationships" id="256" r:id="Rc1e79c20b1f54f80"/>
    <p:sldId xmlns:r="http://schemas.openxmlformats.org/officeDocument/2006/relationships" id="257" r:id="Rc6a4e0eecb7d46cc"/>
    <p:sldId xmlns:r="http://schemas.openxmlformats.org/officeDocument/2006/relationships" id="258" r:id="R1dc03760dbaf4329"/>
    <p:sldId xmlns:r="http://schemas.openxmlformats.org/officeDocument/2006/relationships" id="259" r:id="R11409c0de1d64b5c"/>
    <p:sldId xmlns:r="http://schemas.openxmlformats.org/officeDocument/2006/relationships" id="260" r:id="Rd3ba8b1cdbf64c4d"/>
    <p:sldId xmlns:r="http://schemas.openxmlformats.org/officeDocument/2006/relationships" id="261" r:id="Rb448929c428a4a78"/>
    <p:sldId xmlns:r="http://schemas.openxmlformats.org/officeDocument/2006/relationships" id="262" r:id="R4114d420fec54393"/>
    <p:sldId xmlns:r="http://schemas.openxmlformats.org/officeDocument/2006/relationships" id="263" r:id="Ra6d4f4031a504eb3"/>
    <p:sldId xmlns:r="http://schemas.openxmlformats.org/officeDocument/2006/relationships" id="264" r:id="Rc4f0af6208864cd9"/>
    <p:sldId xmlns:r="http://schemas.openxmlformats.org/officeDocument/2006/relationships" id="265" r:id="Rd5450f66a50e4ecf"/>
    <p:sldId xmlns:r="http://schemas.openxmlformats.org/officeDocument/2006/relationships" id="266" r:id="Rbdd34f80cc884cf6"/>
    <p:sldId xmlns:r="http://schemas.openxmlformats.org/officeDocument/2006/relationships" id="267" r:id="Rab8ffb94bff5498e"/>
    <p:sldId xmlns:r="http://schemas.openxmlformats.org/officeDocument/2006/relationships" id="268" r:id="R58b01ed8de4547b2"/>
    <p:sldId xmlns:r="http://schemas.openxmlformats.org/officeDocument/2006/relationships" id="269" r:id="Rff37fd897d184d36"/>
    <p:sldId xmlns:r="http://schemas.openxmlformats.org/officeDocument/2006/relationships" id="270" r:id="Rdeda586fd5014647"/>
    <p:sldId xmlns:r="http://schemas.openxmlformats.org/officeDocument/2006/relationships" id="271" r:id="R391dd8a058e74a2a"/>
    <p:sldId xmlns:r="http://schemas.openxmlformats.org/officeDocument/2006/relationships" id="272" r:id="R0a793442905b47bf"/>
    <p:sldId xmlns:r="http://schemas.openxmlformats.org/officeDocument/2006/relationships" id="273" r:id="Re7e40d3a40974235"/>
    <p:sldId xmlns:r="http://schemas.openxmlformats.org/officeDocument/2006/relationships" id="274" r:id="R0f176f450a064cf2"/>
    <p:sldId xmlns:r="http://schemas.openxmlformats.org/officeDocument/2006/relationships" id="275" r:id="R18770bf3601e4a41"/>
    <p:sldId xmlns:r="http://schemas.openxmlformats.org/officeDocument/2006/relationships" id="276" r:id="R295fb7a91bcd4bea"/>
    <p:sldId xmlns:r="http://schemas.openxmlformats.org/officeDocument/2006/relationships" id="277" r:id="R3611e3a9b17e413c"/>
    <p:sldId xmlns:r="http://schemas.openxmlformats.org/officeDocument/2006/relationships" id="278" r:id="Rdda22722688146e8"/>
    <p:sldId xmlns:r="http://schemas.openxmlformats.org/officeDocument/2006/relationships" id="279" r:id="R832852f20cb84856"/>
    <p:sldId xmlns:r="http://schemas.openxmlformats.org/officeDocument/2006/relationships" id="280" r:id="R67ebc5ce7b3b458a"/>
    <p:sldId xmlns:r="http://schemas.openxmlformats.org/officeDocument/2006/relationships" id="281" r:id="R462c3e55c6ae40ab"/>
    <p:sldId xmlns:r="http://schemas.openxmlformats.org/officeDocument/2006/relationships" id="282" r:id="R07f22eb7a5ae4e0d"/>
    <p:sldId xmlns:r="http://schemas.openxmlformats.org/officeDocument/2006/relationships" id="283" r:id="Rd8e0be8629244f89"/>
    <p:sldId xmlns:r="http://schemas.openxmlformats.org/officeDocument/2006/relationships" id="284" r:id="R7662497254ed444b"/>
    <p:sldId xmlns:r="http://schemas.openxmlformats.org/officeDocument/2006/relationships" id="285" r:id="R576df8c051024ec0"/>
    <p:sldId xmlns:r="http://schemas.openxmlformats.org/officeDocument/2006/relationships" id="286" r:id="Rcb76b97946b14e87"/>
    <p:sldId xmlns:r="http://schemas.openxmlformats.org/officeDocument/2006/relationships" id="287" r:id="R1fea21c49e7d4b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4e7d753754589" /><Relationship Type="http://schemas.openxmlformats.org/officeDocument/2006/relationships/slideMaster" Target="/ppt/slideMasters/slideMaster1.xml" Id="R5521ee05adf74ba2" /><Relationship Type="http://schemas.openxmlformats.org/officeDocument/2006/relationships/slideMaster" Target="/ppt/slideMasters/slideMaster2.xml" Id="Rca9b998dd1914615" /><Relationship Type="http://schemas.openxmlformats.org/officeDocument/2006/relationships/notesMaster" Target="/ppt/notesMasters/notesMaster1.xml" Id="R24eee027e2c640c1" /><Relationship Type="http://schemas.openxmlformats.org/officeDocument/2006/relationships/presProps" Target="/ppt/presProps.xml" Id="R1e3be39a1b394aca" /><Relationship Type="http://schemas.openxmlformats.org/officeDocument/2006/relationships/tableStyles" Target="/ppt/tableStyles.xml" Id="R91fe467573c64637" /><Relationship Type="http://schemas.openxmlformats.org/officeDocument/2006/relationships/slide" Target="/ppt/slides/slide1.xml" Id="Rc1e79c20b1f54f80" /><Relationship Type="http://schemas.openxmlformats.org/officeDocument/2006/relationships/slide" Target="/ppt/slides/slide2.xml" Id="Rc6a4e0eecb7d46cc" /><Relationship Type="http://schemas.openxmlformats.org/officeDocument/2006/relationships/slide" Target="/ppt/slides/slide3.xml" Id="R1dc03760dbaf4329" /><Relationship Type="http://schemas.openxmlformats.org/officeDocument/2006/relationships/slide" Target="/ppt/slides/slide4.xml" Id="R11409c0de1d64b5c" /><Relationship Type="http://schemas.openxmlformats.org/officeDocument/2006/relationships/slide" Target="/ppt/slides/slide5.xml" Id="Rd3ba8b1cdbf64c4d" /><Relationship Type="http://schemas.openxmlformats.org/officeDocument/2006/relationships/slide" Target="/ppt/slides/slide6.xml" Id="Rb448929c428a4a78" /><Relationship Type="http://schemas.openxmlformats.org/officeDocument/2006/relationships/slide" Target="/ppt/slides/slide7.xml" Id="R4114d420fec54393" /><Relationship Type="http://schemas.openxmlformats.org/officeDocument/2006/relationships/slide" Target="/ppt/slides/slide8.xml" Id="Ra6d4f4031a504eb3" /><Relationship Type="http://schemas.openxmlformats.org/officeDocument/2006/relationships/slide" Target="/ppt/slides/slide9.xml" Id="Rc4f0af6208864cd9" /><Relationship Type="http://schemas.openxmlformats.org/officeDocument/2006/relationships/slide" Target="/ppt/slides/slide10.xml" Id="Rd5450f66a50e4ecf" /><Relationship Type="http://schemas.openxmlformats.org/officeDocument/2006/relationships/slide" Target="/ppt/slides/slide11.xml" Id="Rbdd34f80cc884cf6" /><Relationship Type="http://schemas.openxmlformats.org/officeDocument/2006/relationships/slide" Target="/ppt/slides/slide12.xml" Id="Rab8ffb94bff5498e" /><Relationship Type="http://schemas.openxmlformats.org/officeDocument/2006/relationships/slide" Target="/ppt/slides/slide13.xml" Id="R58b01ed8de4547b2" /><Relationship Type="http://schemas.openxmlformats.org/officeDocument/2006/relationships/slide" Target="/ppt/slides/slide14.xml" Id="Rff37fd897d184d36" /><Relationship Type="http://schemas.openxmlformats.org/officeDocument/2006/relationships/slide" Target="/ppt/slides/slide15.xml" Id="Rdeda586fd5014647" /><Relationship Type="http://schemas.openxmlformats.org/officeDocument/2006/relationships/slide" Target="/ppt/slides/slide16.xml" Id="R391dd8a058e74a2a" /><Relationship Type="http://schemas.openxmlformats.org/officeDocument/2006/relationships/slide" Target="/ppt/slides/slide17.xml" Id="R0a793442905b47bf" /><Relationship Type="http://schemas.openxmlformats.org/officeDocument/2006/relationships/slide" Target="/ppt/slides/slide18.xml" Id="Re7e40d3a40974235" /><Relationship Type="http://schemas.openxmlformats.org/officeDocument/2006/relationships/slide" Target="/ppt/slides/slide19.xml" Id="R0f176f450a064cf2" /><Relationship Type="http://schemas.openxmlformats.org/officeDocument/2006/relationships/slide" Target="/ppt/slides/slide20.xml" Id="R18770bf3601e4a41" /><Relationship Type="http://schemas.openxmlformats.org/officeDocument/2006/relationships/slide" Target="/ppt/slides/slide21.xml" Id="R295fb7a91bcd4bea" /><Relationship Type="http://schemas.openxmlformats.org/officeDocument/2006/relationships/slide" Target="/ppt/slides/slide22.xml" Id="R3611e3a9b17e413c" /><Relationship Type="http://schemas.openxmlformats.org/officeDocument/2006/relationships/slide" Target="/ppt/slides/slide23.xml" Id="Rdda22722688146e8" /><Relationship Type="http://schemas.openxmlformats.org/officeDocument/2006/relationships/slide" Target="/ppt/slides/slide24.xml" Id="R832852f20cb84856" /><Relationship Type="http://schemas.openxmlformats.org/officeDocument/2006/relationships/slide" Target="/ppt/slides/slide25.xml" Id="R67ebc5ce7b3b458a" /><Relationship Type="http://schemas.openxmlformats.org/officeDocument/2006/relationships/slide" Target="/ppt/slides/slide26.xml" Id="R462c3e55c6ae40ab" /><Relationship Type="http://schemas.openxmlformats.org/officeDocument/2006/relationships/slide" Target="/ppt/slides/slide27.xml" Id="R07f22eb7a5ae4e0d" /><Relationship Type="http://schemas.openxmlformats.org/officeDocument/2006/relationships/slide" Target="/ppt/slides/slide28.xml" Id="Rd8e0be8629244f89" /><Relationship Type="http://schemas.openxmlformats.org/officeDocument/2006/relationships/slide" Target="/ppt/slides/slide29.xml" Id="R7662497254ed444b" /><Relationship Type="http://schemas.openxmlformats.org/officeDocument/2006/relationships/slide" Target="/ppt/slides/slide30.xml" Id="R576df8c051024ec0" /><Relationship Type="http://schemas.openxmlformats.org/officeDocument/2006/relationships/slide" Target="/ppt/slides/slide31.xml" Id="Rcb76b97946b14e87" /><Relationship Type="http://schemas.openxmlformats.org/officeDocument/2006/relationships/slide" Target="/ppt/slides/slide32.xml" Id="R1fea21c49e7d4b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c30e246c016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bcd05244c4f56" /><Relationship Type="http://schemas.openxmlformats.org/officeDocument/2006/relationships/notesMaster" Target="/ppt/notesMasters/notesMaster1.xml" Id="R3a6292828937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8b4a93313429a" /><Relationship Type="http://schemas.openxmlformats.org/officeDocument/2006/relationships/notesMaster" Target="/ppt/notesMasters/notesMaster1.xml" Id="Rcfb60372435b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46dabd7a83473c" /><Relationship Type="http://schemas.openxmlformats.org/officeDocument/2006/relationships/notesMaster" Target="/ppt/notesMasters/notesMaster1.xml" Id="R468ed699944b48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b96af7f184773" /><Relationship Type="http://schemas.openxmlformats.org/officeDocument/2006/relationships/notesMaster" Target="/ppt/notesMasters/notesMaster1.xml" Id="R4be747e1027e48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b12549756047bd" /><Relationship Type="http://schemas.openxmlformats.org/officeDocument/2006/relationships/notesMaster" Target="/ppt/notesMasters/notesMaster1.xml" Id="R7455a1bda1654c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b74c5c6d874bb6" /><Relationship Type="http://schemas.openxmlformats.org/officeDocument/2006/relationships/notesMaster" Target="/ppt/notesMasters/notesMaster1.xml" Id="Rb616c3034d0146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a7def56faa47b1" /><Relationship Type="http://schemas.openxmlformats.org/officeDocument/2006/relationships/notesMaster" Target="/ppt/notesMasters/notesMaster1.xml" Id="R2a6f0dad49b5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941e11a5564e0b" /><Relationship Type="http://schemas.openxmlformats.org/officeDocument/2006/relationships/notesMaster" Target="/ppt/notesMasters/notesMaster1.xml" Id="R617bae45fd6042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d93eafca164f4d" /><Relationship Type="http://schemas.openxmlformats.org/officeDocument/2006/relationships/notesMaster" Target="/ppt/notesMasters/notesMaster1.xml" Id="Re8b272bd9aa74f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ed5729604a4db6" /><Relationship Type="http://schemas.openxmlformats.org/officeDocument/2006/relationships/notesMaster" Target="/ppt/notesMasters/notesMaster1.xml" Id="R89d52962a3bf4b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281893b9b24b5e" /><Relationship Type="http://schemas.openxmlformats.org/officeDocument/2006/relationships/notesMaster" Target="/ppt/notesMasters/notesMaster1.xml" Id="Rdd5c782b4cfa4a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8b0596c5314358" /><Relationship Type="http://schemas.openxmlformats.org/officeDocument/2006/relationships/notesMaster" Target="/ppt/notesMasters/notesMaster1.xml" Id="R466f552733f247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eed2cfb9684576" /><Relationship Type="http://schemas.openxmlformats.org/officeDocument/2006/relationships/notesMaster" Target="/ppt/notesMasters/notesMaster1.xml" Id="Rd0c30c9bf4b449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1c9358e1264974" /><Relationship Type="http://schemas.openxmlformats.org/officeDocument/2006/relationships/notesMaster" Target="/ppt/notesMasters/notesMaster1.xml" Id="Rc0c22d6c615449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85a3aec16e4740" /><Relationship Type="http://schemas.openxmlformats.org/officeDocument/2006/relationships/notesMaster" Target="/ppt/notesMasters/notesMaster1.xml" Id="Rd36b42d7f96444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4a145e4a88450b" /><Relationship Type="http://schemas.openxmlformats.org/officeDocument/2006/relationships/notesMaster" Target="/ppt/notesMasters/notesMaster1.xml" Id="Rdb5136fa0e6c4d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8ffe8bf64b4a2a" /><Relationship Type="http://schemas.openxmlformats.org/officeDocument/2006/relationships/notesMaster" Target="/ppt/notesMasters/notesMaster1.xml" Id="R69a1fc1217cb41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3f256467a24f06" /><Relationship Type="http://schemas.openxmlformats.org/officeDocument/2006/relationships/notesMaster" Target="/ppt/notesMasters/notesMaster1.xml" Id="R9c55f5200e3e41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565b67e8a54679" /><Relationship Type="http://schemas.openxmlformats.org/officeDocument/2006/relationships/notesMaster" Target="/ppt/notesMasters/notesMaster1.xml" Id="R325db2d4461f41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42318c7ec2420a" /><Relationship Type="http://schemas.openxmlformats.org/officeDocument/2006/relationships/notesMaster" Target="/ppt/notesMasters/notesMaster1.xml" Id="R78092b1b79cf4c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a4725a8d9a419f" /><Relationship Type="http://schemas.openxmlformats.org/officeDocument/2006/relationships/notesMaster" Target="/ppt/notesMasters/notesMaster1.xml" Id="Reee355e8c2b340d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511011a95e1443d" /><Relationship Type="http://schemas.openxmlformats.org/officeDocument/2006/relationships/notesMaster" Target="/ppt/notesMasters/notesMaster1.xml" Id="R8cb81008b71943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877cc52e154cdf" /><Relationship Type="http://schemas.openxmlformats.org/officeDocument/2006/relationships/notesMaster" Target="/ppt/notesMasters/notesMaster1.xml" Id="R410c7b2a3f3a44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51f7f826f54153" /><Relationship Type="http://schemas.openxmlformats.org/officeDocument/2006/relationships/notesMaster" Target="/ppt/notesMasters/notesMaster1.xml" Id="Rcd76d10cbd5946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322feaf31f4c41" /><Relationship Type="http://schemas.openxmlformats.org/officeDocument/2006/relationships/notesMaster" Target="/ppt/notesMasters/notesMaster1.xml" Id="Rfa38e46629ab43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c2938b2f134c23" /><Relationship Type="http://schemas.openxmlformats.org/officeDocument/2006/relationships/notesMaster" Target="/ppt/notesMasters/notesMaster1.xml" Id="R41c3ce8ef23b40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737175fdb4481c" /><Relationship Type="http://schemas.openxmlformats.org/officeDocument/2006/relationships/notesMaster" Target="/ppt/notesMasters/notesMaster1.xml" Id="R1c8e507a238747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83e2a426c1d4029" /><Relationship Type="http://schemas.openxmlformats.org/officeDocument/2006/relationships/notesMaster" Target="/ppt/notesMasters/notesMaster1.xml" Id="R83dc35fd3aec4e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ec285b3897445d7" /><Relationship Type="http://schemas.openxmlformats.org/officeDocument/2006/relationships/notesMaster" Target="/ppt/notesMasters/notesMaster1.xml" Id="Re9df3c3db26646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caca8d5b8a54b6f" /><Relationship Type="http://schemas.openxmlformats.org/officeDocument/2006/relationships/notesMaster" Target="/ppt/notesMasters/notesMaster1.xml" Id="Rfa17aa2dd9bc432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6ad57fc335c46df" /><Relationship Type="http://schemas.openxmlformats.org/officeDocument/2006/relationships/notesMaster" Target="/ppt/notesMasters/notesMaster1.xml" Id="R4c52c7d77d3d49a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861191b5ae84600" /><Relationship Type="http://schemas.openxmlformats.org/officeDocument/2006/relationships/notesMaster" Target="/ppt/notesMasters/notesMaster1.xml" Id="R2fe34bf1cd93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皆さん、こんにちは。木材及び木質材料学、第十三回です。今日は集成材とシーエルティーを扱います。前回の単板、小片、繊維から、ひき板という要素へ視点を移します。ノートと電卓を用意し、図へ方向と支点を書き込めるように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板とエルブイエルは単板、パーティクルボードは小片、エムディーエフは繊維が主な要素でした。今日の二つはひき板を使います。要素と配向という二つの軸を同じまま使えば、製品が増えても整理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つの関係は、要素、向き、使用条件です。ひき板を使うという共通点があっても、繊維をほぼ平行にそろえるか、層ごとに交差させるかで、力の伝わり方が変わります。そこへ、荷重方向、支持、接合、含水状態という使用条件を加えます。製品名だけを根拠に判断せず、図に条件を付ける練習を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合板、LVL、集成材、CLTを、単板かひき板か、平行か交差かの表へ分類してください。画面上部の残り時間が進む間は、意図した無音です。必要なら一時停止してください。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解説します。合板とLVLは単板、集成材とCLTはひき板を主な要素にします。合板とCLTは交差、LVLと集成材は主に平行です。実製品では層構成の仕様も確認します。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ラミナと呼ぶひき板を、主な繊維方向をそろえて接着積層する。乾燥・選別・接合・圧締を管理し、断面や長さを構成する。ラミナの等級や配置を調整して、部材の性能を設計する。曲げでは表層の役割が大きく、層の位置が性能に影響する。節を分散できても、節や接着部の影響が自動的に消えるわけではない。ラミナは集成材を構成するひき板です。一枚の大きな木材をそのまま使う場合に比べ、乾燥や選別、配置を調整しやすくなります。ただし、節を含む要素を分散させたことと、その影響を完全になくしたことは同じではありません。材料を選び、接合し、接着して性能を得る工程を一続きで見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成材。要素：ひき板等。主な配向を色分け。荷重方向と層構成。厚さだけで性能は決まらない。図の各層の矢印を追ってください。主な繊維方向はそろっています。梁として使うときは、その方向と支点間の方向を合わせて描きます。曲げを受ける梁では、一方の表層が引張り、もう一方が圧縮を受けます。どこにどんなラミナを配置するかが大切になる理由を、この図と結び付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つの支点に載せ、中央を下向きに押す梁を描き、上側と下側の引張り、圧縮を記入してください。ラミナの配置に関わる理由も説明します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解説します。通常の下向き荷重による正曲げでは上側が圧縮、下側が引張りです。表層の位置と材料の性能が曲げに大きく関わるため、ラミナの配置を確認します。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板材を並べた層を、主に直交させて積層接着する。合板と似た交差積層でも、原料は単板ではなく板材。面内の力、面外の曲げ、主なスパン方向を区別する。直交層のせん断変形なども、曲げやたわみに関係する。層数、層厚、配向、接着、接合を製品の条件として読む。シーエルティーは、ひき板を並べた層を主に直交させて積層した材料です。合板も交差していますが、要素の大きさが違います。また、面材に垂直に荷重が入る場合と、面内に力が入る場合を分けます。同じパネルに見えても、支持される辺と荷重の向きによって使う性能情報が変わります。直交層のせん断変形もたわみへ関わるため、全てを繊維方向のヤング率だけで代表させることはでき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条件をそろえた比較。値がある場合は、単位・定義・測定状態・出典を確認する。材料 | 要素 | 主な積層の考え方。合板 | 単板 | 交差積層。LVL | 単板 | ほぼ平行積層。集成材 | ひき板等 | ほぼ平行積層。CLT | ひき板の層 | 主に直交積層。この表では、縦に要素、横に配向という分類を重ねています。合板とシーエルティーは交差積層という点が似ています。エルブイエルと集成材は主に平行積層という点が似ています。一方、単板か、ひき板かという違いは残ります。似ている点と異なる点を一組で説明しましょ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合板とCLTに共通する点と異なる点をそれぞれ書き、荷重方向を一つ指定した図を描いてください。画面上部の残り時間が進む間は、意図した無音です。必要なら一時停止してください。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解説します。主に交差積層する点は似ていますが、単板とひき板という要素が違います。層厚、配向、接着、評価方向などを確認し、同じ数値性能と扱わないようにします。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ここで短い休憩を入れます。画面から目を離して、姿勢を変えましょう。肩を軽く上げて下ろす、手を開いて閉じるなど、できる範囲で構いません。動作は任意です。再開するときには、声を掛けます。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それでは、再開します。演習1　平行積層と直交積層へ進みます。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演習1　定義と条件から考える。厚さ30 mmの層を5層、同じ厚さに積層。A：主な繊維方向を平行にする。B：0°/90°/0°/90°/0°にする。全厚と材料の分類、性能比較に必要な条件を答える。厚さ三十ミリメートルの層を五層重ねたモデルです。接着層の厚さはここでは無視します。まず全厚を計算し、それから配向で材料を分類します。厚さが同じだからヤング率も曲げ強さも同じ、と言えるかを考えてください。数値を出す問題と、数値を出すのに足りない条件を挙げる問題を分けます。画面の問いに順に取り組んでください。答えと途中の式、判断に使った条件をノートへ残します。考える時間の後に解説へ進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演習1の解説。全厚は150 mm。Aは集成材、BはCLTの模式的な構成。同じ厚さでも、配向と荷重方向が違う。単純なEの平均で、CLTの曲げ性能を決めない。三十ミリメートル掛ける五層なので百五十ミリメートルです。主に平行なら集成材、直交する層を組み合わせるならシーエルティーのモデルです。ただし、これだけで等級や許容できる荷重が決まるわけではありません。層の材料と厚さ、配向、支持、荷重方向、接着や接合などの情報が必要です。数字が一つ分かった後にも、残っている未知の条件を整理しましょ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は材料の係数、EIは断面を含む曲げ剛性。積層材では各層の位置と方向が異なるため、Eの単純平均では扱えない。部材間の金物・ねじ・接着などが荷重を伝える。接合部のすべりや局部的な応力も、構造全体の変形・破壊に関わる。大断面の利用には、運搬・施工・水分管理も必要になる。第五回で、同じ荷重と支点間距離なら、ヤング率や断面二次モーメントがたわみに関わることを学びました。ヤング率イーは材料の係数、イーアイは断面を含む曲げ剛性です。積層材では、層ごとの位置と方向が違うので、イーだけを足して層数で割れば終わりとはなりません。さらに、部材をつなぐ接合部も変形します。部材が硬くても、接合部がすべれば構造全体は動くこと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ヤング率E、断面を含むEI、接合部のすべりを、それぞれ何の情報か説明してください。画面上部の残り時間が進む間は、意図した無音です。必要なら一時停止してください。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解説します。Eは材料の係数、EIは断面を含む曲げ剛性です。接合部のすべりは部材間の変形です。積層材は層の位置と方向も関わるので、Eの単純平均では済みません。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T。要素：ひき板等。主な配向を色分け。荷重方向と層構成。厚さだけで性能は決まらない。積層図に、支える二辺と、上から加える荷重を書いてみてください。次に支持する辺を九十度変えた場合を想像します。材料の層構成は変わらなくても、支点間を渡る向きが変わります。製品情報の主軸や評価方向と、この図の向きを対応させることが大切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CLTの層を描き、二辺で支える場合と、それを九十度変えた場合を比べてください。確認する製品情報を二つ挙げます。画面上部の残り時間が進む間は、意図した無音です。必要なら一時停止してください。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解説します。スパンを渡る方向と各層の配向の対応が変わります。層構成、評価方向、剛性や強度、支持と接合の適用条件を確認します。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回の接着の比較へ戻る。レゾルシノール系等の耐久性の高い接着剤でも、材料の含水状態・面の合い・圧締・硬化が適切でなければ製品性能は保証されない。構造用製品の等級、層構成、接着、使用環境を一組で確認する。塗装だけで木口や接合部の水分管理を置き換えない。製品の表示を読む順序を決めましょう。まず何を構成要素にしているか、次に等級と層構成、さらに接着の品質、どんな使用環境を想定するかを見ます。第十回の水分経路と保守も忘れないようにします。接着剤が水に耐えても、木材や接合部に水が残り続けてよいことにはな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十一回のレゾルシノール系や水性高分子イソシアネート系を思い出してください。高い性能を持つ接着剤を選ぶことと、適切な面の状態、塗布、圧締、養生を実現することの両方が必要です。工場での品質管理と、現場での施工や使用中の水分管理も役割が異なります。初期の強さの値だけで、長期の性能を全て説明しないこと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ここで短い休憩を入れます。画面から目を離して、姿勢を変えましょう。肩を軽く上げて下ろす、手を開いて閉じるなど、できる範囲で構いません。動作は任意です。再開するときには、声を掛けます。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それでは、再開します。自己確認　接着品質と工程へ進みます。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強い接着剤を使えば工程の管理は不要、という説明を修正してください。製造時と使用時の条件を分けて挙げます。画面上部の残り時間が進む間は、意図した無音です。必要なら一時停止してください。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解説します。製造では面、含水状態、塗布、圧締、硬化を管理します。使用時には水分や温度、荷重、保守を考えます。接着剤の種類だけで完成品の性能は決まりません。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演習2　観察・比較・選択。梁として使う場合／面材として使う場合を比較。主な荷重方向と、各層の繊維方向を図示。支え方・接合部・水分の条件も書き加える。必要な製品データと、未知の条件を整理する。二つの図を描く演習です。一つは梁が二つの支点を渡る場合、もう一つはパネルを面材として支える場合です。荷重の矢印と支持位置を書き、層の繊維方向を加えます。水が入る可能性や、力を次の部材へ渡す接合位置も印を付けます。形をきれいに描くことより、条件を読み取れる図を目指してください。画面の問いに順に取り組んでください。答えと途中の式、判断に使った条件をノートへ残します。考える時間の後に解説へ進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梁ではスパンに沿った配向と、曲げの引張側・圧縮側を確認する。面材では面内・面外と、主な支持方向を指定する。直交層のせん断変形、接合部のすべり、水分による動きも考える。製品情報は、材料名だけでなく層構成と試験方向が対応する箇所を読む。梁ならスパン方向に沿う層を確認し、曲げの引張側と圧縮側を示します。面材なら、面内の力か面外の曲げか、どの辺で支えるかを明示します。接合が力を渡す場所にあるかも確認しましょう。せん断変形やすべりを数値計算する必要はありませんが、たわみに関わる要因として挙げられるよう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梁と面材の図で、荷重が入る位置から接合部、支持部へ伝わる経路を矢印で示してください。未指定の条件には疑問符を付けます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解説します。荷重の矢印だけでなく、受ける層、支える辺、次の部材へ渡す接合をつなぎます。未知の支持や接合条件を残すことで、必要な製品情報を整理できます。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学生に説明するなら、同じ形式の四つの積層図を並べる方法が考えられます。単板かひき板か、向きをそろえるか交差させるかを色と矢印で示します。丈夫さという一語で終わらせず、どこで支えて、どちらへ力を加えるかを問いにします。大学で学ぶ層構成の詳細を、そのまま中学生の暗記項目にする必要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学生向けの十分間の活動を考えます。模型に書かせる方向、比較するときにそろえる条件、理解を確認する問いを一つずつ作ってください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要素と繊維方向を矢印で示し、支持と荷重をそろえて比べる活動が考えられます。向きを変えると何が変わるか、という問いに図を使って答えさせます。実際の構造製品の強度を模型だけで保証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ここで短い休憩を入れます。画面から目を離して、姿勢を変えましょう。肩を軽く上げて下ろす、手を開いて閉じるなど、できる範囲で構いません。動作は任意です。再開するときには、声を掛けます。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それでは、再開します。確認問題へ進みます。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問を自分の言葉で答えてください。一つ目は要素の違い、二つ目は主な配向、三つ目は厚さと性能の関係です。答えには図、方向、条件のうち必要なものを添えます。迷ったら七枚目の比較表と、積層図へ戻っ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合板は単板、CLTはひき板を主な要素にします。集成材は主に平行積層です。同じ全厚でも配向、層の位置、荷重方向、接着と接合の条件が違えば性能は同じとは限りません。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整理です。まず要素と配向で分類し、次に荷重と支持の方向を指定し、その条件に合う製品情報を読みます。接着と接合、水分と保守も性能へ関わります。同じ木材量や同じ全厚という情報は比較の一部ですが、それだけで全ての性能がそろうわけ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復習では、合板、エルブイエル、集成材、シーエルティーの四つを、一枚の紙へ同じ形式で描きます。各図に荷重と支点を加え、比較するときに必要な情報を二つ以上書いてください。発展として、層を増やす以外に、配置や材料の選別、接合の条件を調整する方法を考えます。これは正式な提出課題の追加ではなく、次回へ向けた自己確認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四製品の図を見直し、要素、配向、荷重、支点、接合、水分という六つの観点で、不足している情報を補ってください。画面上部の残り時間が進む間は、意図した無音です。必要なら一時停止してください。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解説します。材料の名前と形だけでなく、使い方を図へ加えることが大切です。数値がない場合も、何を調べれば判断に近づけるかを示せます。次回の加工と材料選択に、この図を使います。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では、木質材料の構成と製法を扱う章と、力学的性質を扱う章を対応させて読みます。原理の説明図と、個別の製品の数値を区別してください。第十四回は、加工と接合を含めた材料選択へ進みます。今日の要素と方向の図を、その判断の根拠として使ってい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bb40937004a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2fd74740a41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72db6b55549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514b8c7ee4e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2f642e94945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c56ac0eac40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b94893bf6743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c765d2569d44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9167ec02334c9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fb3fb15793145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bc3e72d1754a2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f321f0d95c4d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D32DDA-2DA8-47E4-8FD5-FE58E46C6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343EAD-5DA1-4867-A72E-EBA483F281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4A0E52-DE95-4B82-ACDD-2143A3E7A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CC2F0-2FDA-4867-AC00-64FB30D52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49D567-72E4-4933-8AE9-CD7DDD4FC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E4AC88-49AE-4B74-8119-D9F30EA30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47D9C7-CD2A-4660-9EC6-37496E4FB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284C17-6B70-4308-83B7-148EC027BE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53C33D-1EFF-40B5-B0F7-D4423E367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3667F9-7AA6-4917-A112-73AF20669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00090bbcd144f7" /><Relationship Type="http://schemas.openxmlformats.org/officeDocument/2006/relationships/slideLayout" Target="/ppt/slideLayouts/slideLayout1.xml" Id="R2e86fa05ae274589" /><Relationship Type="http://schemas.openxmlformats.org/officeDocument/2006/relationships/slideLayout" Target="/ppt/slideLayouts/slideLayout2.xml" Id="Re577ea468e3645c5" /><Relationship Type="http://schemas.openxmlformats.org/officeDocument/2006/relationships/slideLayout" Target="/ppt/slideLayouts/slideLayout3.xml" Id="R7160baa8b2f84b98" /><Relationship Type="http://schemas.openxmlformats.org/officeDocument/2006/relationships/slideLayout" Target="/ppt/slideLayouts/slideLayout4.xml" Id="R1e22db33aaed4017" /><Relationship Type="http://schemas.openxmlformats.org/officeDocument/2006/relationships/slideLayout" Target="/ppt/slideLayouts/slideLayout5.xml" Id="R9eded6d023f74aff" /><Relationship Type="http://schemas.openxmlformats.org/officeDocument/2006/relationships/slideLayout" Target="/ppt/slideLayouts/slideLayout6.xml" Id="R524ff38daa2b411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751cc5f76c5448b" /><Relationship Type="http://schemas.openxmlformats.org/officeDocument/2006/relationships/slideLayout" Target="/ppt/slideLayouts/slideLayout7.xml" Id="R52fe78abff014c92" /><Relationship Type="http://schemas.openxmlformats.org/officeDocument/2006/relationships/slideLayout" Target="/ppt/slideLayouts/slideLayout8.xml" Id="R8cb4acfadef14153" /><Relationship Type="http://schemas.openxmlformats.org/officeDocument/2006/relationships/slideLayout" Target="/ppt/slideLayouts/slideLayout9.xml" Id="R24c3f03c88654edc" /><Relationship Type="http://schemas.openxmlformats.org/officeDocument/2006/relationships/slideLayout" Target="/ppt/slideLayouts/slideLayout10.xml" Id="R92a64fe0f8714630" /><Relationship Type="http://schemas.openxmlformats.org/officeDocument/2006/relationships/slideLayout" Target="/ppt/slideLayouts/slideLayout11.xml" Id="Rad0ca8b4d7d34f39" /><Relationship Type="http://schemas.openxmlformats.org/officeDocument/2006/relationships/slideLayout" Target="/ppt/slideLayouts/slideLayout12.xml" Id="Ra12e65f208f047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86fa05ae274589"/>
    <p:sldLayoutId xmlns:r="http://schemas.openxmlformats.org/officeDocument/2006/relationships" id="2147483650" r:id="Re577ea468e3645c5"/>
    <p:sldLayoutId xmlns:r="http://schemas.openxmlformats.org/officeDocument/2006/relationships" id="2147483651" r:id="R7160baa8b2f84b98"/>
    <p:sldLayoutId xmlns:r="http://schemas.openxmlformats.org/officeDocument/2006/relationships" id="2147483652" r:id="R1e22db33aaed4017"/>
    <p:sldLayoutId xmlns:r="http://schemas.openxmlformats.org/officeDocument/2006/relationships" id="2147483653" r:id="R9eded6d023f74aff"/>
    <p:sldLayoutId xmlns:r="http://schemas.openxmlformats.org/officeDocument/2006/relationships" id="2147483654" r:id="R524ff38daa2b41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52fe78abff014c92"/>
    <p:sldLayoutId xmlns:r="http://schemas.openxmlformats.org/officeDocument/2006/relationships" id="2147483657" r:id="R8cb4acfadef14153"/>
    <p:sldLayoutId xmlns:r="http://schemas.openxmlformats.org/officeDocument/2006/relationships" id="2147483658" r:id="R24c3f03c88654edc"/>
    <p:sldLayoutId xmlns:r="http://schemas.openxmlformats.org/officeDocument/2006/relationships" id="2147483659" r:id="R92a64fe0f8714630"/>
    <p:sldLayoutId xmlns:r="http://schemas.openxmlformats.org/officeDocument/2006/relationships" id="2147483660" r:id="Rad0ca8b4d7d34f39"/>
    <p:sldLayoutId xmlns:r="http://schemas.openxmlformats.org/officeDocument/2006/relationships" id="2147483661" r:id="Ra12e65f208f0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4573b56d648b5" /><Relationship Type="http://schemas.openxmlformats.org/officeDocument/2006/relationships/notesSlide" Target="/ppt/notesSlides/notesSlide1.xml" Id="R2f9a53c5927e4c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e31ec828e47f3" /><Relationship Type="http://schemas.openxmlformats.org/officeDocument/2006/relationships/notesSlide" Target="/ppt/notesSlides/notesSlide2.xml" Id="Ref30288c31ec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3762c6d9f34ee5" /><Relationship Type="http://schemas.openxmlformats.org/officeDocument/2006/relationships/notesSlide" Target="/ppt/notesSlides/notesSlide3.xml" Id="R552517dc2ddb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6dacc5bb64c29" /><Relationship Type="http://schemas.openxmlformats.org/officeDocument/2006/relationships/notesSlide" Target="/ppt/notesSlides/notesSlide4.xml" Id="R726b4bcbaf154d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0d0118e6964117" /><Relationship Type="http://schemas.openxmlformats.org/officeDocument/2006/relationships/notesSlide" Target="/ppt/notesSlides/notesSlide5.xml" Id="Rd366b0ffff754e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dd25d0e064dd7" /><Relationship Type="http://schemas.openxmlformats.org/officeDocument/2006/relationships/notesSlide" Target="/ppt/notesSlides/notesSlide6.xml" Id="Rcff31995073b41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188cd88dd438c" /><Relationship Type="http://schemas.openxmlformats.org/officeDocument/2006/relationships/notesSlide" Target="/ppt/notesSlides/notesSlide7.xml" Id="Rcb3a9e50f4ac44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0e771ad0094049" /><Relationship Type="http://schemas.openxmlformats.org/officeDocument/2006/relationships/notesSlide" Target="/ppt/notesSlides/notesSlide8.xml" Id="Rc99c6cefd36945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73f74fbef3413e" /><Relationship Type="http://schemas.openxmlformats.org/officeDocument/2006/relationships/notesSlide" Target="/ppt/notesSlides/notesSlide9.xml" Id="Rdf69c2aafa71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fadeb954b44db" /><Relationship Type="http://schemas.openxmlformats.org/officeDocument/2006/relationships/notesSlide" Target="/ppt/notesSlides/notesSlide10.xml" Id="Rce0e9eb27e464a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fe8970fc04bfd" /><Relationship Type="http://schemas.openxmlformats.org/officeDocument/2006/relationships/notesSlide" Target="/ppt/notesSlides/notesSlide11.xml" Id="R103734c1e9c14f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6f63fbaea49d2" /><Relationship Type="http://schemas.openxmlformats.org/officeDocument/2006/relationships/notesSlide" Target="/ppt/notesSlides/notesSlide12.xml" Id="R1264289c54f1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e23a8962b494c" /><Relationship Type="http://schemas.openxmlformats.org/officeDocument/2006/relationships/notesSlide" Target="/ppt/notesSlides/notesSlide13.xml" Id="R0e925e66106b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2b1508cbc24329" /><Relationship Type="http://schemas.openxmlformats.org/officeDocument/2006/relationships/notesSlide" Target="/ppt/notesSlides/notesSlide14.xml" Id="Re47916a2d62048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642d684a54491" /><Relationship Type="http://schemas.openxmlformats.org/officeDocument/2006/relationships/notesSlide" Target="/ppt/notesSlides/notesSlide15.xml" Id="R3ab7ccef1aca45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6a03f4d2c4c64" /><Relationship Type="http://schemas.openxmlformats.org/officeDocument/2006/relationships/notesSlide" Target="/ppt/notesSlides/notesSlide16.xml" Id="Rc5cf6df900cd41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9763bb63343c6" /><Relationship Type="http://schemas.openxmlformats.org/officeDocument/2006/relationships/notesSlide" Target="/ppt/notesSlides/notesSlide17.xml" Id="R3a2eb56c1ece4f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795092b18a4e6e" /><Relationship Type="http://schemas.openxmlformats.org/officeDocument/2006/relationships/notesSlide" Target="/ppt/notesSlides/notesSlide18.xml" Id="Rfa24e6ff28b04c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895a9c5614708" /><Relationship Type="http://schemas.openxmlformats.org/officeDocument/2006/relationships/notesSlide" Target="/ppt/notesSlides/notesSlide19.xml" Id="Re79052cc79314c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88be868084543" /><Relationship Type="http://schemas.openxmlformats.org/officeDocument/2006/relationships/notesSlide" Target="/ppt/notesSlides/notesSlide20.xml" Id="Rc81f88d98a6145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3bf1d74f04d00" /><Relationship Type="http://schemas.openxmlformats.org/officeDocument/2006/relationships/notesSlide" Target="/ppt/notesSlides/notesSlide21.xml" Id="R2d3d49ff702240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a7c6feb5347a4" /><Relationship Type="http://schemas.openxmlformats.org/officeDocument/2006/relationships/notesSlide" Target="/ppt/notesSlides/notesSlide22.xml" Id="Re5cd43b69f8e45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d36f25b55b450f" /><Relationship Type="http://schemas.openxmlformats.org/officeDocument/2006/relationships/notesSlide" Target="/ppt/notesSlides/notesSlide23.xml" Id="R142a9375aacd49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4432a14ad445a" /><Relationship Type="http://schemas.openxmlformats.org/officeDocument/2006/relationships/notesSlide" Target="/ppt/notesSlides/notesSlide24.xml" Id="Ra922b227fb494d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90583ff1064a6a" /><Relationship Type="http://schemas.openxmlformats.org/officeDocument/2006/relationships/notesSlide" Target="/ppt/notesSlides/notesSlide25.xml" Id="Rfb6072f54f4e47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18629d04742a6" /><Relationship Type="http://schemas.openxmlformats.org/officeDocument/2006/relationships/notesSlide" Target="/ppt/notesSlides/notesSlide26.xml" Id="R6fe4808be3374d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cfe0f272449a6" /><Relationship Type="http://schemas.openxmlformats.org/officeDocument/2006/relationships/notesSlide" Target="/ppt/notesSlides/notesSlide27.xml" Id="R0ee20ad1049c47d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1571226344f3c" /><Relationship Type="http://schemas.openxmlformats.org/officeDocument/2006/relationships/notesSlide" Target="/ppt/notesSlides/notesSlide28.xml" Id="Rdf1f9a879eb04b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3c09516c04b0b" /><Relationship Type="http://schemas.openxmlformats.org/officeDocument/2006/relationships/notesSlide" Target="/ppt/notesSlides/notesSlide29.xml" Id="R26d3e86f511149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6e83d50f34b5a" /><Relationship Type="http://schemas.openxmlformats.org/officeDocument/2006/relationships/notesSlide" Target="/ppt/notesSlides/notesSlide30.xml" Id="R6ce39dd096864d3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ea607714f4f3b" /><Relationship Type="http://schemas.openxmlformats.org/officeDocument/2006/relationships/notesSlide" Target="/ppt/notesSlides/notesSlide31.xml" Id="R8222be8062fd462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a0c07463e44f27" /><Relationship Type="http://schemas.openxmlformats.org/officeDocument/2006/relationships/notesSlide" Target="/ppt/notesSlides/notesSlide32.xml" Id="R1f5c5df08ce546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67D63-AA53-481F-9FDA-2C8A26B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第13回　集成材とCLT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26789-360C-40E1-BA0B-611D483134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128EC-9979-4162-806A-D76F4466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288D-AAFD-44CE-9F35-4C37264F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81C4F-28BE-4BA4-80AF-929AF58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木質材料2：集成材・CLT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F589-C43F-4CD7-877E-81E3AA0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ひき板の平行積層と直交積層を区別し、構成・方向・品質管理と利用上の特徴を説明する。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275765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6D96D-6227-4D10-A254-2D19D43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4DA76-D8BA-4360-9C25-AF6554DB70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BB7E9-F6A8-4C79-A27D-BDAE0BC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1E350-D044-47D3-9C09-9BF67C16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61181-A6EB-4DA4-A247-70EBB3B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第12回で、単板・小片・繊維の木質材料を比較した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511E9-5278-474F-9826-1C5FC7B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第11回の接着を、ひき板の積層と品質へつなぐ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3DD5C-C6FA-4C2A-A704-04194D9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要素と配向を、合板・LVLと区別する</a:t>
            </a:r>
          </a:p>
        </p:txBody>
      </p:sp>
    </p:spTree>
    <p:extLst>
      <p:ext uri="{BB962C8B-B14F-4D97-AF65-F5344CB8AC3E}">
        <p14:creationId xmlns:p14="http://schemas.microsoft.com/office/powerpoint/2010/main" val="1207799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E0C0E-2F40-4424-BD9A-4BB7AB9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68126-C0EF-4D82-9D70-309B8FB428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1A439-DDC4-404D-A3E2-7AC9EB2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10FDA-978B-4C32-BB2D-1334DF1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366B-AD05-44EA-8F6D-C1DAF0BB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ラミナと呼ぶひき板を、主な繊維方向をそろえて接着積層する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BE07E-9FF3-44A2-9C2C-0F5643D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板材を並べた層を、主に直交させて積層接着する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2DA7-F8ED-4825-9A8F-9E8FDD0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製品の等級、ラミナの構成、接着、含水状態を確認する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E34C8-B6A4-48E0-BD5E-03FEE56B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874777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95AD4-4B70-4A3A-B7C1-7390BBF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四つの積層材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87D5D-2514-46E5-BF71-EFECCFFA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9BE3-F9FE-49B9-923D-917D86F5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55A46-2330-4AEF-B6B7-E3BFCB62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4FE1A-4B7D-4573-8725-6D6A3252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合板、LVL、集成材、CLTを、単板かひき板か、平行か交差かの表へ分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E4722-AB8E-47CD-8BA4-B24DA852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類してください。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B75AF-8495-4EFC-85FE-A9BD6D0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337867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0E3C4-2AF2-42F4-A1CE-E57114DF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集成材とラミナの配置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80105-02C7-4E8A-8F27-F8D679C8FA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3D076-8396-42A7-AB03-CB86B6E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0FB08-417E-423D-8D2F-B7810CF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F955A-0633-4CE9-ABDA-0ED0BC5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ラミナと呼ぶひき板を、主な繊維方向をそろえて接着積層する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3BD20-71FE-46D1-AB17-6B38FC96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乾燥・選別・接合・圧締を管理し、断面や長さを構成する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E109-191A-426F-B26F-610D7C1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ラミナの等級や配置を調整して、部材の性能を設計する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992AB-5EF3-41B7-B364-C469A3D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曲げでは表層の役割が大きく、層の位置が性能に影響する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85EC2-91F7-4692-8548-2A442C7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節を分散できても、節や接着部の影響が自動的に消えるわけではない</a:t>
            </a:r>
          </a:p>
        </p:txBody>
      </p:sp>
    </p:spTree>
    <p:extLst>
      <p:ext uri="{BB962C8B-B14F-4D97-AF65-F5344CB8AC3E}">
        <p14:creationId xmlns:p14="http://schemas.microsoft.com/office/powerpoint/2010/main" val="1425639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C1425-7C2F-4220-99B3-6BEEF4F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集成材の平行積層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3788-E1BD-437E-A4A8-8E018F29CE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F584D-D587-4B16-BEEC-C003F5E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14028-975A-46C1-8591-F41E998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6B55B-3A9E-4E2D-ADE7-DBE65E41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0955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9C5A7-B93F-40E4-855F-D724656F17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DA6FA-9004-45D9-AA77-C9BCFC1859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E42C1-943A-4BC1-8A72-902D9F6A2E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5BCDA-AEAC-4F1A-9CBA-898FECD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032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B04AC-2DEE-466F-9A70-A204355D52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6765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80BB2-F866-4E1B-AD69-4BD7FE4EA6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7622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F1304-499E-4146-B350-051ADD9B09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8479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17150-27CE-4E00-8D96-E76FBD5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10515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CDDBE-F4A5-496A-8B54-EBA6D0DAE4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81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A914F-0D96-4091-BD8B-D0D322328B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2670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31880-3824-49DB-B2C4-A6C7AEC955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52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8F339-9351-43A5-A5AD-8B91B7E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60997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291C3-5FFF-4588-BAD1-EA3D2642D3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6861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9C336-6274-455B-8CD0-C6E0282611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7719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E914C-A388-4843-9443-77A6507285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8576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7C805-D790-4119-BCEC-A51F8C9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1148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D29B6-AE91-405D-8613-8EBB55688E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1910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F090D-B1DF-4E04-9500-D786124AF4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2767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D4591-DC83-4E18-93CD-A02EA93A52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3624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08877-FBEB-4DF4-8BD4-0F99595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529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集成材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706CF-7520-4628-AB46-8E9B9E9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要素：ひき板等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81DE4-EF26-4482-9375-8FA31FBC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B2CC8-0809-4DC1-98C5-96E827F0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荷重方向と層構成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14BC0-FA4E-4D12-906E-4E9ABA4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厚さだけで性能は決まらない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666646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CF077-4354-4414-95AC-C758F961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梁の表層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8390-FDB2-458D-8BF6-B416B9F4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4D687-E390-4A53-B692-D679C094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0F5D2-5AC7-46FE-9007-4572E265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2FCE4-9561-41F4-AD28-A36058A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二つの支点に載せ、中央を下向きに押す梁を描き、上側と下側の引張り、圧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207DF-13CF-44E7-ABCB-4347450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縮を記入してください。ラミナの配置に関わる理由も説明します。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97F47-8909-4615-A429-07BBA091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742020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1E7F-E445-4822-A856-94C8C221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CLTの層構成と荷重方向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33A4C-1CDB-424E-BEAB-47E094DD89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9CF0F-24C3-4FC6-8D9C-5891D7B9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4F120-C717-4BC3-A152-D5339905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94785-CB13-471C-A2E4-2C56D50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板材を並べた層を、主に直交させて積層接着する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C738A-9F5D-4E1B-9A51-4C92122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合板と似た交差積層でも、原料は単板ではなく板材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DFA53-91DE-494E-B77E-E1EFE70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面内の力、面外の曲げ、主なスパン方向を区別する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62349-ED5F-4A59-844B-52432505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直交層のせん断変形なども、曲げやたわみに関係する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F6C15-A048-4EF9-945A-C9571841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層数、層厚、配向、接着、接合を製品の条件として読む</a:t>
            </a:r>
          </a:p>
        </p:txBody>
      </p:sp>
    </p:spTree>
    <p:extLst>
      <p:ext uri="{BB962C8B-B14F-4D97-AF65-F5344CB8AC3E}">
        <p14:creationId xmlns:p14="http://schemas.microsoft.com/office/powerpoint/2010/main" val="476607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94013-667E-495D-8060-6EBB0E3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9DB55-42E0-4F40-8F9A-2AA84DC37C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5C958-D5F3-4FAA-87A7-094DA45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10BE2-201C-43A4-A682-F45BFAB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CD111-B32F-49D0-B0F2-BE04F42E605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主な積層の考え方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LVL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ほぼ平行積層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集成材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ひき板等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ほぼ平行積層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CLT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ひき板の層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主に直交積層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840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28128-EBD9-4AD8-B781-9389C963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同じ交差積層の違い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DE266-B6E2-4F9A-A82D-6BC0E657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3778A-DCEE-4A64-B7D0-55A9A785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6F588-2DA8-4237-B77B-1F985F99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CA273-3669-4658-B529-629F7176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合板とCLTに共通する点と異なる点をそれぞれ書き、荷重方向を一つ指定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C6A86-667B-401E-965F-D4B4A16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した図を描いてください。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5BDB9-4567-4276-98A9-6D43BD4F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07390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48445-E690-4275-A7BE-910520DC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F2BA-87EB-4E6F-99A5-CF9F0C6B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4E698-6B83-4925-B49A-CF47C423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85200-05F1-4D1A-B868-598FCCED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58233-A406-4CF2-964E-C3F8FB34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CCF40-C94D-45A5-8187-28455287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肩を軽く上げて下ろす。手を開いて閉じる。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54D35-0EAD-46EC-92D0-FD8510E9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7B99C-E5E4-4425-BC3C-5676CFD0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再開したら：演習1　平行積層と直交積層へ進みます。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1865140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BB8C4-2DCB-482A-AC5F-E2ACD0D0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平行積層と直交積層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7BF53-68B4-48A1-B439-9FA399B428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16017-A5E9-493E-8A5E-F0AEDC1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65AE5-78DE-4225-BE2C-8D498A9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44CE-AE7D-4877-A273-E1A3C345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厚さ30 mmの層を5層、同じ厚さに積層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52061-FD8F-4724-919F-6FD5C90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A：主な繊維方向を平行にする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F5298-CB56-47AE-B23D-8A6AE7A2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B：0°/90°/0°/90°/0°にする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FB79A-0304-45A3-8D56-181AF85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全厚と材料の分類、性能比較に必要な条件を答える</a:t>
            </a:r>
          </a:p>
        </p:txBody>
      </p:sp>
    </p:spTree>
    <p:extLst>
      <p:ext uri="{BB962C8B-B14F-4D97-AF65-F5344CB8AC3E}">
        <p14:creationId xmlns:p14="http://schemas.microsoft.com/office/powerpoint/2010/main" val="11021035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46EFD-29E3-4241-A8B6-C000636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平行積層と直交積層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7A1A-EB02-47C0-9CFD-9CCE211947C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54BBE-B10C-4BD7-8DA5-12CFE25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E8DF3-83ED-4D6F-8AFD-9B54B81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7FFDB-7FA9-4DEA-9043-72A0FBA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全厚は150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391AA-0121-4051-BFE4-D3D2E31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Aは集成材、BはCLTの模式的な構成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3F173-D980-4DE3-BF4D-D91EDBA9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同じ厚さでも、配向と荷重方向が違う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93F55-C6F1-49D3-839D-05AA17D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単純なEの平均で、CLTの曲げ性能を決めない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1941799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E7BE9-1945-4E0E-9A79-F37820E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部材の性能と接合部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A50C7-6550-4F71-B799-48A3C0FE31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EB822-1D57-4CF5-BA9E-4CE735A7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5828F-9470-4659-A45A-467F339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04DC8-0095-4E7A-A193-85839950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Eは材料の係数、EIは断面を含む曲げ剛性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49E31-9B00-41FE-9EE9-FD36910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積層材では各層の位置と方向が異なるため、Eの単純平均では扱えない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A24C9-035C-4CBB-98B7-D60E27B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部材間の金物・ねじ・接着などが荷重を伝える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C7B56-1F0C-4AA5-9B1B-3B65D8D7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接合部のすべりや局部的な応力も、構造全体の変形・破壊に関わる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F51A-047E-48C9-A1BC-E83FFF4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大断面の利用には、運搬・施工・水分管理も必要になる</a:t>
            </a:r>
          </a:p>
        </p:txBody>
      </p:sp>
    </p:spTree>
    <p:extLst>
      <p:ext uri="{BB962C8B-B14F-4D97-AF65-F5344CB8AC3E}">
        <p14:creationId xmlns:p14="http://schemas.microsoft.com/office/powerpoint/2010/main" val="3090746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37C8B-EA3F-466A-8A6B-B0E0A41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EとEIと接合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82BA-CAB9-4A9B-B10F-17D2B42E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93575-0DCB-40E1-B621-7AD32BB7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4E2BF-6AA5-406B-8ECE-350FF63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727C6-EBFA-4F29-B60D-DF67D3B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ヤング率E、断面を含むEI、接合部のすべりを、それぞれ何の情報か説明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BEC05-47BF-42CB-9877-0917F0C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してください。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2D9C8-35A8-42A7-B60A-8497AD71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6763553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D7DB16-8B84-4017-A67C-5A6BF2C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CLTの直交積層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B1CF1-7F1A-4336-844A-B5D47161F1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D284C-A4BA-4F74-A3FA-BD25F9B7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44EE5-9CCC-4DAD-8401-D4C3AD51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8FD4-4656-4D04-BAEB-7C2AEDF7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0955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4A4A4-128C-4FF6-A4E4-B388DDFB08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4920D-8310-4650-8545-B23CC2A4AA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294E0-AA1F-4E1E-9E21-60135C11C6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37DCA-B040-46AF-A6FB-6787AA2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032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FD4BA-E209-4899-B175-E53F63AB1D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87BAC-C7A3-49FC-AEFB-4B392446C3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2581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1E769-9A01-423E-8E83-753244AB01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95488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79D18-F843-4707-96C4-A18F8B637C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8394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66BCA-6E6E-4A15-A8DE-354557EB5C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1300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F0130-D102-4D03-AE93-8CDF825459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4206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E1C13-8408-4430-AFC2-A40653D5595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7113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47F43-3F74-4D4B-84ED-26725C5A3B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0019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E7436-0333-4D74-89D2-64DDDDD6EE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52925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2EAD8-9C28-4B86-A6A3-24CEB5F525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5831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1D2B6-F54F-4F37-B61A-2B5C44A458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38738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EEBD-1896-4033-BC50-B75B6DDD44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31644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2642E-4B98-42B1-9C79-A81289D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10515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014B0-0C7E-4611-987A-A4D7B540E0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81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02AAD-F767-415B-AC93-FE166F2DEC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2670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045C6-1E4F-4E11-9099-DF7F682A4F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52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5F383-F880-4C9F-BEC3-69109228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60997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39A3F-FDF4-424C-8454-95E1821666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E71AD2-8A8F-4D5C-8760-FF779F9EBD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2581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64154F-AF54-4952-A977-16573CA2B4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95488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E7DAA-F96A-4A69-B7A5-B02BC0CAAE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8394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205541-1F88-4124-B786-1347F811EA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1300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466B70-8FEE-474A-A365-87B1E7A0DF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4206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2329A-1C78-4F1F-9186-C554B2AF76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7113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4E5782-93DC-488E-A29B-E9E3EBAE0E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0019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3C1EBE-07DF-41B1-B513-9E715B9F36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52925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AB148D-5078-4E6F-8FE1-09C3B13554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5831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9907A9-E041-41B8-B139-850523EE97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38738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4F4046-37B5-477A-AD30-C27BAD3D7D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31644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5A5C1-0B8B-4545-8BC6-0680401F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1148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5BFE70-79D8-4A9B-BF5B-9B33A3F5E4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1910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7E5DEE-1C71-4A57-9CCE-2B695EC487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2767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BA8AE-FDC4-4882-B84F-72C428DA0D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3624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BA5CAC-16A1-4A2E-A98B-4320F53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529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CLT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1BA77D-8702-4C55-8412-E5359777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要素：ひき板等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DE5393-5C5D-4CC1-B763-2C2DBD57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E75756-5889-4487-B839-F6419087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荷重方向と層構成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A857DD-4CF4-4F59-B269-BE700783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厚さだけで性能は決まらない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10910137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A2A3B-A976-4043-98D8-F765AFED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支持方向と主軸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C7AA4-7C3C-46B5-964F-58F27EA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324EC-C7E0-4BEF-A602-B394ECD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7EEA-21B2-466A-9AC6-290A2C74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D7FE2-25BA-4418-B55F-10FD828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CLTの層を描き、二辺で支える場合と、それを九十度変えた場合を比べて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797F9-2778-4B06-8F16-CDC2C53B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ください。確認する製品情報を二つ挙げます。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B54D4-3282-4B2E-9F50-0ED65C4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128629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7C200-AFCD-4A1E-9D3A-4A756A4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品質情報と利用条件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877CC-3455-4271-9F05-C86E9AAC60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38A5B-F22F-4679-9B5A-606DBA5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D012B-AAF5-425D-95AB-B67EF5D3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97D40-7922-46AC-9B29-52819F62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製品の等級、ラミナの構成、接着、含水状態を確認する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9C434-54B5-4022-BE90-394A851E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実測平均値、製品の表示値、設計で用いる数値を区別する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8CF8-8AF3-409A-B680-52E7105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施工中や使用中の濡れ、木口や接合部の水分管理も考える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630A9-448B-4D12-A781-1612C75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点検・補修・交換を含めて、長く使える納まりを検討する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AFE66-EDC7-45C8-B43A-A43AF22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学校では、構成と荷重の関係を模型や断面写真で説明できることを目指す</a:t>
            </a:r>
          </a:p>
        </p:txBody>
      </p:sp>
    </p:spTree>
    <p:extLst>
      <p:ext uri="{BB962C8B-B14F-4D97-AF65-F5344CB8AC3E}">
        <p14:creationId xmlns:p14="http://schemas.microsoft.com/office/powerpoint/2010/main" val="1920812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6C4BE-6A9B-47C4-9A15-F98C124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構造用途の接着：初期強度と耐久性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63737-0CA7-4CB0-9DC8-8AF2991D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1CA6C-05B8-4CD2-B65C-00D0053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6B264-131F-4250-949B-3B808669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CF019-5DB1-41E8-9DEC-8455C109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レゾルシノール系・EPI系等も、製品と条件を確認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BB0A0-C5D5-472C-8027-92CBA057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配合・含水状態・圧締・硬化を工場で管理する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329D8-7484-477F-AD03-8119AC0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接着層の強さ、剥離、木部破壊、耐久性を評価する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CCF58-1CB4-445B-A873-FA6BAD1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接着剤名だけで、構造部材の性能は決まらない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13956522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34276-B999-4944-81CC-BA8848D9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162F8-D713-47E6-80ED-3F0A5436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C5EEB-DD86-4A79-A67C-339645AD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E256F-EE96-4F29-990B-CE32229D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18439-DAA2-4454-A2B2-E75FEC4D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0A4B9-8E1E-4DCE-B7BF-423325A7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肩を軽く上げて下ろす。手を開いて閉じる。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1F0BB-BB8C-438E-BC3F-9A7B75A8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E73DD-1C0E-4DA3-B55D-0C215B59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再開したら：自己確認　接着品質と工程へ進みます。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1258160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3AA50-91F0-41E3-B665-DF30314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接着品質と工程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8CCBE-8EE7-4992-BE14-AD520ED0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E9452-5398-46EF-9F13-79FBBED0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AC7D7-18C9-47F1-B527-7C70D18A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7107A-BB11-4018-8405-1B5F50F1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強い接着剤を使えば工程の管理は不要、という説明を修正してください。製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3DD47-80EF-4A4E-9936-D5BF18F1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造時と使用時の条件を分けて挙げます。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1E3B2-697D-4D33-BCF4-65A4CDD8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8039062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9D30C-F6CA-4B35-AC6A-342BD43C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梁と面材の使い分け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3F917-F170-4F2E-8061-4F20E5016E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4571-E9C4-45A8-9CE2-5748A325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A4BDB-E27B-4266-A30E-9E23EC6A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F1CA2-76DC-4DAE-8639-3645BEEB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梁として使う場合／面材として使う場合を比較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15603-AF4C-496F-8B35-E47C6D4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主な荷重方向と、各層の繊維方向を図示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CD3B1-AE9E-4E4A-A957-5154EDB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支え方・接合部・水分の条件も書き加える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42513-1299-477A-98F8-1837540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必要な製品データと、未知の条件を整理する</a:t>
            </a:r>
          </a:p>
        </p:txBody>
      </p:sp>
    </p:spTree>
    <p:extLst>
      <p:ext uri="{BB962C8B-B14F-4D97-AF65-F5344CB8AC3E}">
        <p14:creationId xmlns:p14="http://schemas.microsoft.com/office/powerpoint/2010/main" val="5354892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DEE6-3B6E-43EB-A9D2-03085DF1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荷重を伝える層と接合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A5865-A838-4D82-ACD3-A3A61B9E2A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7F916-5B1F-47AD-A9A5-1BD0CA33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E5E6B-DADE-4DE2-A95A-94CFAC0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6B81-8C73-4C2C-BC79-FF6B76F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梁ではスパンに沿った配向と、曲げの引張側・圧縮側を確認する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D4E79-250F-40B6-999F-1D8ACCC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面材では面内・面外と、主な支持方向を指定する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4AC4-1A8F-48E0-B467-7A3EB667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直交層のせん断変形、接合部のすべり、水分による動きも考える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D5D8C-4CAA-42F7-A718-E8AD11A4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製品情報は、材料名だけでなく層構成と試験方向が対応する箇所を読む</a:t>
            </a:r>
          </a:p>
        </p:txBody>
      </p:sp>
    </p:spTree>
    <p:extLst>
      <p:ext uri="{BB962C8B-B14F-4D97-AF65-F5344CB8AC3E}">
        <p14:creationId xmlns:p14="http://schemas.microsoft.com/office/powerpoint/2010/main" val="1721056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63754-A2A2-48EB-9CD1-66ED502F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荷重の経路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F9B4E-DAA1-4D6F-8E68-671EF82D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024DB-0216-4091-BA97-2CF4A0C6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0BE0-2E16-405B-A973-D79E97F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4B462-708D-4F66-89FC-8741FE4F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梁と面材の図で、荷重が入る位置から接合部、支持部へ伝わる経路を矢印で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1DD5D-D69A-4E44-8541-417AF91F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示してください。未指定の条件には疑問符を付けます。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B9E38-E9E6-4C6B-92A9-18A46D0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8254668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C9342-8163-40BA-9303-9F6911EA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単板と板材の積層模型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A9A5A-3CE5-436E-BB33-0190BFB892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11440-0B31-4809-B66D-0716FC24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91BF3-4BA6-458B-8FAC-4E60C06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2ECA-D593-4F22-9F55-9FFFE1F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同じ形式の図で、合板・LVL・集成材・CLTを比較する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B0769-059D-48D3-9992-1EF5DE4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第一の軸は要素の大きさ、第二の軸は配向の違い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E4DC-60F8-445C-8067-654B2EF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模型に荷重方向と支える位置を書き込む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7B96F-1183-437C-AD02-82FD130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発問：同じ木材量でも、使う向きや層の配置で何が変わるか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E6B31-D33E-4621-B77B-5D74FBE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教科書の接点：丈夫な部材・構造と材料利用／A(1)ア・イ</a:t>
            </a:r>
          </a:p>
        </p:txBody>
      </p:sp>
    </p:spTree>
    <p:extLst>
      <p:ext uri="{BB962C8B-B14F-4D97-AF65-F5344CB8AC3E}">
        <p14:creationId xmlns:p14="http://schemas.microsoft.com/office/powerpoint/2010/main" val="20041938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002BD-CD70-48DE-82D4-9B9AD7C5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中学生の積層模型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CBC07-BCEF-4F61-9815-BC9C68C0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04873-5AC9-4610-8786-BCE2FC8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83D8C-F6FF-46EB-9718-751FA0E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9D75D-4906-4B5F-BD1B-033A581A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中学生向けの十分間の活動を考えます。模型に書かせる方向、比較するとき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350AD-D322-4178-8093-47990F5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にそろえる条件、理解を確認する問いを一つずつ作ってください。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6F055-C78D-496A-937B-1F261A9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7880493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FC6A9-CF34-47B6-B42B-EEA1E471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F6EE1-8842-4F4E-A751-1EF8995D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37F9B-51A8-4563-AA2D-0D5CB3BD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F1F07-FE93-4FD3-9F40-93EE14E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25197-C6F9-48A8-9969-9EB6290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5F68A-1D32-4859-A583-A3BE3667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肩を軽く上げて下ろす。手を開いて閉じる。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3189A-A3C7-41D2-B8BF-60897575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7994B-8D48-4181-B1BC-ECC782AC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再開したら：確認問題へ進みます。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8756667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9EC9-96F3-4CF1-B1ED-1125501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5F5F2-26BC-4E4E-9F2D-B7D727138DE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13965-150C-4331-96E8-B67EAC2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D4BFA-E7FB-4E59-AF42-7F5459A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CEB0-6489-4172-94C7-1155A837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合板とCLTの要素の違いは？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CA2C0-0917-4688-92B8-CA0BE353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集成材は、各層の繊維を交互に直交させるか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ABEDD-7C9D-4221-B9CA-D7B3642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全厚が同じなら、曲げ性能も同じか</a:t>
            </a:r>
          </a:p>
        </p:txBody>
      </p:sp>
    </p:spTree>
    <p:extLst>
      <p:ext uri="{BB962C8B-B14F-4D97-AF65-F5344CB8AC3E}">
        <p14:creationId xmlns:p14="http://schemas.microsoft.com/office/powerpoint/2010/main" val="17908075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64980-D8E9-40BC-A9BF-574FDC6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F2222-12E2-4404-8BA4-7C6A855C42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F981C-A410-4B9E-9496-EDDAFB86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B02B5-99C1-4ADD-90A0-DE7EAA38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A86D3-00E8-4EEC-BEDB-3F89DF3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要素と積層方向で、主要な製品を分類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80D92-FCB8-457E-9FEC-85213185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製品情報と使用条件で、性能を判断する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93A87-6737-497F-9558-9E012225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次は、加工・接合を含む材料選択へ</a:t>
            </a:r>
          </a:p>
        </p:txBody>
      </p:sp>
    </p:spTree>
    <p:extLst>
      <p:ext uri="{BB962C8B-B14F-4D97-AF65-F5344CB8AC3E}">
        <p14:creationId xmlns:p14="http://schemas.microsoft.com/office/powerpoint/2010/main" val="11374056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4570-2F83-4E3F-AE1D-8986ACD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22101-51B3-40F9-9626-4375B7D4D2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D3E7D-610A-4CDE-AA80-521E5825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02525-9BC4-46D1-A94C-8E5DD45F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6B7D4-63B8-40FB-86AF-62FE7FC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4製品の要素と配向を、同じ形式の図で比較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4EB86-4F63-4D11-8EF1-640D07F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荷重方向を指定し、どの製品情報が必要か説明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62356-E6BD-402B-95C1-4735617F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発展：層を増やす以外の性能調整方法を考える</a:t>
            </a:r>
          </a:p>
        </p:txBody>
      </p:sp>
    </p:spTree>
    <p:extLst>
      <p:ext uri="{BB962C8B-B14F-4D97-AF65-F5344CB8AC3E}">
        <p14:creationId xmlns:p14="http://schemas.microsoft.com/office/powerpoint/2010/main" val="10170972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E4966-701F-4D84-A3AE-63E25E5A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次回へつなぐ図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ABD52-795D-4BA9-A1D7-F0B71DA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78B56-2C0E-49F7-BEFB-EF1F028E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0BA57-6EF1-41CA-B377-A3F50AE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D0A8C-DCBD-4E56-B101-F708E2F4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四製品の図を見直し、要素、配向、荷重、支点、接合、水分という六つの観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C26F1-21BD-425C-BE91-1B27A70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点で、不足している情報を補ってください。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96643-214E-4762-A28B-F141EDCB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7210431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EDBA4-A747-4816-A047-1C2088B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A41E0-8CB4-4C97-B2BB-8369837289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6588A-9A23-4BA8-96B4-23C6216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第11章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53DE7-6807-4E56-885F-B3624FC9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7264C-2851-485C-8D8C-A9D17F04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第12章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A8BC5-FF43-408B-8E21-FDCF7DD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01541-B8A6-44F7-BBE8-0DB7225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B4043-6B68-489C-B545-5CF1264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7B46F-F0F7-456B-A490-98BF397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教育図書 R7内容解説 目次・掲載見本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C0BF7-C8E0-4CC8-BEA3-77CD1A3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https://www.kyoiku-tosho.co.jp/wp/wp-content/uploads/2024/04/G_R7kaisetu.pdf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2E0B9-1377-4123-A242-747C0880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5AC20-B90C-40D3-8DF5-BBE34AB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46AB-2AA8-44C4-B9C9-244E3F5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55955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2026-10-27T23:46:22.5890000Z</dcterms:created>
  <dcterms:modified xsi:type="dcterms:W3CDTF">2026-10-27T23:46:22.5890000Z</dcterms:modified>
</coreProperties>
</file>