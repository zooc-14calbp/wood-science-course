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a9a6d3606a64be2" /><Relationship Type="http://schemas.openxmlformats.org/officeDocument/2006/relationships/extended-properties" Target="/docProps/app.xml" Id="R85fb372eb24c49dc" /><Relationship Type="http://schemas.openxmlformats.org/officeDocument/2006/relationships/officeDocument" Target="/ppt/presentation.xml" Id="R2f09d555930648d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be2d2a805fe40aa"/>
    <p:sldMasterId xmlns:r="http://schemas.openxmlformats.org/officeDocument/2006/relationships" id="2147483655" r:id="Rd12215c2e4b94a0c"/>
  </p:sldMasterIdLst>
  <p:notesMasterIdLst>
    <p:notesMasterId xmlns:r="http://schemas.openxmlformats.org/officeDocument/2006/relationships" r:id="R06362982010941ec"/>
  </p:notesMasterIdLst>
  <p:sldIdLst>
    <p:sldId xmlns:r="http://schemas.openxmlformats.org/officeDocument/2006/relationships" id="256" r:id="Rd7bd0e90cef14594"/>
    <p:sldId xmlns:r="http://schemas.openxmlformats.org/officeDocument/2006/relationships" id="257" r:id="Rdedcc44a43204e04"/>
    <p:sldId xmlns:r="http://schemas.openxmlformats.org/officeDocument/2006/relationships" id="258" r:id="R3933ce09453a45e7"/>
    <p:sldId xmlns:r="http://schemas.openxmlformats.org/officeDocument/2006/relationships" id="259" r:id="Rce1a6c896c204943"/>
    <p:sldId xmlns:r="http://schemas.openxmlformats.org/officeDocument/2006/relationships" id="260" r:id="R537addfec65e4641"/>
    <p:sldId xmlns:r="http://schemas.openxmlformats.org/officeDocument/2006/relationships" id="261" r:id="R210c3249a9e04eed"/>
    <p:sldId xmlns:r="http://schemas.openxmlformats.org/officeDocument/2006/relationships" id="262" r:id="Rc283d1c60efc4ddc"/>
    <p:sldId xmlns:r="http://schemas.openxmlformats.org/officeDocument/2006/relationships" id="263" r:id="R06e3982d8ce54bbe"/>
    <p:sldId xmlns:r="http://schemas.openxmlformats.org/officeDocument/2006/relationships" id="264" r:id="R2c21cb8f282648c2"/>
    <p:sldId xmlns:r="http://schemas.openxmlformats.org/officeDocument/2006/relationships" id="265" r:id="Rf0b8f1f757d04545"/>
    <p:sldId xmlns:r="http://schemas.openxmlformats.org/officeDocument/2006/relationships" id="266" r:id="Rc5abb6c57ba24007"/>
    <p:sldId xmlns:r="http://schemas.openxmlformats.org/officeDocument/2006/relationships" id="267" r:id="R2cccd436da984c70"/>
    <p:sldId xmlns:r="http://schemas.openxmlformats.org/officeDocument/2006/relationships" id="268" r:id="R94ec7ad0c4c54146"/>
    <p:sldId xmlns:r="http://schemas.openxmlformats.org/officeDocument/2006/relationships" id="269" r:id="R7c43e86144ba4619"/>
    <p:sldId xmlns:r="http://schemas.openxmlformats.org/officeDocument/2006/relationships" id="270" r:id="R43b05d3b808c4017"/>
    <p:sldId xmlns:r="http://schemas.openxmlformats.org/officeDocument/2006/relationships" id="271" r:id="R30c58a886f4a4fed"/>
    <p:sldId xmlns:r="http://schemas.openxmlformats.org/officeDocument/2006/relationships" id="272" r:id="Re9252adaf3ea459c"/>
    <p:sldId xmlns:r="http://schemas.openxmlformats.org/officeDocument/2006/relationships" id="273" r:id="Ra980d29558304912"/>
    <p:sldId xmlns:r="http://schemas.openxmlformats.org/officeDocument/2006/relationships" id="274" r:id="R05cf6f491e854a56"/>
    <p:sldId xmlns:r="http://schemas.openxmlformats.org/officeDocument/2006/relationships" id="275" r:id="R1a0e691a3d1d4f8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a1cc03d81ca4f84" /><Relationship Type="http://schemas.openxmlformats.org/officeDocument/2006/relationships/slideMaster" Target="/ppt/slideMasters/slideMaster1.xml" Id="R1be2d2a805fe40aa" /><Relationship Type="http://schemas.openxmlformats.org/officeDocument/2006/relationships/slideMaster" Target="/ppt/slideMasters/slideMaster2.xml" Id="Rd12215c2e4b94a0c" /><Relationship Type="http://schemas.openxmlformats.org/officeDocument/2006/relationships/notesMaster" Target="/ppt/notesMasters/notesMaster1.xml" Id="R06362982010941ec" /><Relationship Type="http://schemas.openxmlformats.org/officeDocument/2006/relationships/presProps" Target="/ppt/presProps.xml" Id="R548c6f6cbd924ae5" /><Relationship Type="http://schemas.openxmlformats.org/officeDocument/2006/relationships/tableStyles" Target="/ppt/tableStyles.xml" Id="R9cc67e89b15a4ffe" /><Relationship Type="http://schemas.openxmlformats.org/officeDocument/2006/relationships/slide" Target="/ppt/slides/slide1.xml" Id="Rd7bd0e90cef14594" /><Relationship Type="http://schemas.openxmlformats.org/officeDocument/2006/relationships/slide" Target="/ppt/slides/slide2.xml" Id="Rdedcc44a43204e04" /><Relationship Type="http://schemas.openxmlformats.org/officeDocument/2006/relationships/slide" Target="/ppt/slides/slide3.xml" Id="R3933ce09453a45e7" /><Relationship Type="http://schemas.openxmlformats.org/officeDocument/2006/relationships/slide" Target="/ppt/slides/slide4.xml" Id="Rce1a6c896c204943" /><Relationship Type="http://schemas.openxmlformats.org/officeDocument/2006/relationships/slide" Target="/ppt/slides/slide5.xml" Id="R537addfec65e4641" /><Relationship Type="http://schemas.openxmlformats.org/officeDocument/2006/relationships/slide" Target="/ppt/slides/slide6.xml" Id="R210c3249a9e04eed" /><Relationship Type="http://schemas.openxmlformats.org/officeDocument/2006/relationships/slide" Target="/ppt/slides/slide7.xml" Id="Rc283d1c60efc4ddc" /><Relationship Type="http://schemas.openxmlformats.org/officeDocument/2006/relationships/slide" Target="/ppt/slides/slide8.xml" Id="R06e3982d8ce54bbe" /><Relationship Type="http://schemas.openxmlformats.org/officeDocument/2006/relationships/slide" Target="/ppt/slides/slide9.xml" Id="R2c21cb8f282648c2" /><Relationship Type="http://schemas.openxmlformats.org/officeDocument/2006/relationships/slide" Target="/ppt/slides/slide10.xml" Id="Rf0b8f1f757d04545" /><Relationship Type="http://schemas.openxmlformats.org/officeDocument/2006/relationships/slide" Target="/ppt/slides/slide11.xml" Id="Rc5abb6c57ba24007" /><Relationship Type="http://schemas.openxmlformats.org/officeDocument/2006/relationships/slide" Target="/ppt/slides/slide12.xml" Id="R2cccd436da984c70" /><Relationship Type="http://schemas.openxmlformats.org/officeDocument/2006/relationships/slide" Target="/ppt/slides/slide13.xml" Id="R94ec7ad0c4c54146" /><Relationship Type="http://schemas.openxmlformats.org/officeDocument/2006/relationships/slide" Target="/ppt/slides/slide14.xml" Id="R7c43e86144ba4619" /><Relationship Type="http://schemas.openxmlformats.org/officeDocument/2006/relationships/slide" Target="/ppt/slides/slide15.xml" Id="R43b05d3b808c4017" /><Relationship Type="http://schemas.openxmlformats.org/officeDocument/2006/relationships/slide" Target="/ppt/slides/slide16.xml" Id="R30c58a886f4a4fed" /><Relationship Type="http://schemas.openxmlformats.org/officeDocument/2006/relationships/slide" Target="/ppt/slides/slide17.xml" Id="Re9252adaf3ea459c" /><Relationship Type="http://schemas.openxmlformats.org/officeDocument/2006/relationships/slide" Target="/ppt/slides/slide18.xml" Id="Ra980d29558304912" /><Relationship Type="http://schemas.openxmlformats.org/officeDocument/2006/relationships/slide" Target="/ppt/slides/slide19.xml" Id="R05cf6f491e854a56" /><Relationship Type="http://schemas.openxmlformats.org/officeDocument/2006/relationships/slide" Target="/ppt/slides/slide20.xml" Id="R1a0e691a3d1d4f8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9997f991d8c545c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7e2734691cb42dc" /><Relationship Type="http://schemas.openxmlformats.org/officeDocument/2006/relationships/notesMaster" Target="/ppt/notesMasters/notesMaster1.xml" Id="R52f8f9389faf42a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9dd6e232add4597" /><Relationship Type="http://schemas.openxmlformats.org/officeDocument/2006/relationships/notesMaster" Target="/ppt/notesMasters/notesMaster1.xml" Id="Rcd5d957f5cff442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186930037a64460" /><Relationship Type="http://schemas.openxmlformats.org/officeDocument/2006/relationships/notesMaster" Target="/ppt/notesMasters/notesMaster1.xml" Id="R9b39a10780bc400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88031b0cb9144fc" /><Relationship Type="http://schemas.openxmlformats.org/officeDocument/2006/relationships/notesMaster" Target="/ppt/notesMasters/notesMaster1.xml" Id="R3afad6b1114b40f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10efed819f94919" /><Relationship Type="http://schemas.openxmlformats.org/officeDocument/2006/relationships/notesMaster" Target="/ppt/notesMasters/notesMaster1.xml" Id="Ra14c230ef8834dc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40ec57c8c934be3" /><Relationship Type="http://schemas.openxmlformats.org/officeDocument/2006/relationships/notesMaster" Target="/ppt/notesMasters/notesMaster1.xml" Id="R05e4c3cde8cb4f6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daddbe9081b4f3a" /><Relationship Type="http://schemas.openxmlformats.org/officeDocument/2006/relationships/notesMaster" Target="/ppt/notesMasters/notesMaster1.xml" Id="R0b2baff18654418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f836016aec74634" /><Relationship Type="http://schemas.openxmlformats.org/officeDocument/2006/relationships/notesMaster" Target="/ppt/notesMasters/notesMaster1.xml" Id="Rf582cb77c1a7461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403858c84604c54" /><Relationship Type="http://schemas.openxmlformats.org/officeDocument/2006/relationships/notesMaster" Target="/ppt/notesMasters/notesMaster1.xml" Id="R4a7c42df044a4f3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4a1199c9e5a4d26" /><Relationship Type="http://schemas.openxmlformats.org/officeDocument/2006/relationships/notesMaster" Target="/ppt/notesMasters/notesMaster1.xml" Id="R67549bd1578c435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fcded7eaa9c4ca8" /><Relationship Type="http://schemas.openxmlformats.org/officeDocument/2006/relationships/notesMaster" Target="/ppt/notesMasters/notesMaster1.xml" Id="R963d3192615d47b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6309d8172f54440" /><Relationship Type="http://schemas.openxmlformats.org/officeDocument/2006/relationships/notesMaster" Target="/ppt/notesMasters/notesMaster1.xml" Id="Re1f985f3a5c24dc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48ed7d4e91c4f94" /><Relationship Type="http://schemas.openxmlformats.org/officeDocument/2006/relationships/notesMaster" Target="/ppt/notesMasters/notesMaster1.xml" Id="R6cb6f410b49245b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4efaeec343f4da1" /><Relationship Type="http://schemas.openxmlformats.org/officeDocument/2006/relationships/notesMaster" Target="/ppt/notesMasters/notesMaster1.xml" Id="R88765f77d2ac482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a865d3d6b784118" /><Relationship Type="http://schemas.openxmlformats.org/officeDocument/2006/relationships/notesMaster" Target="/ppt/notesMasters/notesMaster1.xml" Id="Ra96575b1878f4af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b86db0c114f4301" /><Relationship Type="http://schemas.openxmlformats.org/officeDocument/2006/relationships/notesMaster" Target="/ppt/notesMasters/notesMaster1.xml" Id="R23b84bf1e6814f6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b8a262825704882" /><Relationship Type="http://schemas.openxmlformats.org/officeDocument/2006/relationships/notesMaster" Target="/ppt/notesMasters/notesMaster1.xml" Id="R0e2416c186484cd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33d7a519b434fc2" /><Relationship Type="http://schemas.openxmlformats.org/officeDocument/2006/relationships/notesMaster" Target="/ppt/notesMasters/notesMaster1.xml" Id="R8041962e788a416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1a882cb6fb90452e" /><Relationship Type="http://schemas.openxmlformats.org/officeDocument/2006/relationships/notesMaster" Target="/ppt/notesMasters/notesMaster1.xml" Id="R0bd6e67909a845a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06929e85a4f44b2" /><Relationship Type="http://schemas.openxmlformats.org/officeDocument/2006/relationships/notesMaster" Target="/ppt/notesMasters/notesMaster1.xml" Id="Rc6b36cd58db64c4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授業時間：0～5分（5分）</a:t>
            </a:r>
          </a:p>
          <a:p xmlns:a="http://schemas.openxmlformats.org/drawingml/2006/main">
            <a:r>
              <a:t>原資料：第13回の1枚目。本文・図を再利用。</a:t>
            </a:r>
          </a:p>
          <a:p xmlns:a="http://schemas.openxmlformats.org/drawingml/2006/main">
            <a:r>
              <a:t>説明・活動の内容</a:t>
            </a:r>
          </a:p>
          <a:p xmlns:a="http://schemas.openxmlformats.org/drawingml/2006/main">
            <a:r>
              <a:t>木質材料2：集成材・CLT</a:t>
            </a:r>
          </a:p>
          <a:p xmlns:a="http://schemas.openxmlformats.org/drawingml/2006/main">
            <a:r>
              <a:t>ひき板の平行積層と直交積層を区別し、構成・方向・品質管理と利用上の特徴を説明する。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この回の動画は未制作。90分の対面授業・今後のオンデマンド化用シナリオ。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</a:t>
            </a:r>
          </a:p>
          <a:p xmlns:a="http://schemas.openxmlformats.org/drawingml/2006/main">
            <a:r>
              <a:t>USDA Wood Handbook 2021 第10章 https://research.fs.usda.gov/treesearch/62250</a:t>
            </a:r>
          </a:p>
          <a:p xmlns:a="http://schemas.openxmlformats.org/drawingml/2006/main">
            <a:r>
              <a:t>USDA Wood Handbook 2021 第11章 https://research.fs.usda.gov/treesearch/62258</a:t>
            </a:r>
          </a:p>
          <a:p xmlns:a="http://schemas.openxmlformats.org/drawingml/2006/main">
            <a:r>
              <a:t>USDA Wood Handbook 2021 第12章 https://research.fs.usda.gov/treesearch/62260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授業時間：5～10分（5分）</a:t>
            </a:r>
          </a:p>
          <a:p xmlns:a="http://schemas.openxmlformats.org/drawingml/2006/main">
            <a:r>
              <a:t>原資料：第13回の2枚目。本文・図を再利用。</a:t>
            </a:r>
          </a:p>
          <a:p xmlns:a="http://schemas.openxmlformats.org/drawingml/2006/main">
            <a:r>
              <a:t>説明・活動の内容</a:t>
            </a:r>
          </a:p>
          <a:p xmlns:a="http://schemas.openxmlformats.org/drawingml/2006/main">
            <a:r>
              <a:t>単板・小片・繊維の木質材料を比較した</a:t>
            </a:r>
          </a:p>
          <a:p xmlns:a="http://schemas.openxmlformats.org/drawingml/2006/main">
            <a:r>
              <a:t>今日は、ひき板をどう並べるかに注目</a:t>
            </a:r>
          </a:p>
          <a:p xmlns:a="http://schemas.openxmlformats.org/drawingml/2006/main">
            <a:r>
              <a:t>要素と配向を、合板・LVLと区別する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この回の動画は未制作。90分の対面授業・今後のオンデマンド化用シナリオ。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</a:t>
            </a:r>
          </a:p>
          <a:p xmlns:a="http://schemas.openxmlformats.org/drawingml/2006/main">
            <a:r>
              <a:t>USDA Wood Handbook 2021 第10章 https://research.fs.usda.gov/treesearch/62250</a:t>
            </a:r>
          </a:p>
          <a:p xmlns:a="http://schemas.openxmlformats.org/drawingml/2006/main">
            <a:r>
              <a:t>USDA Wood Handbook 2021 第11章 https://research.fs.usda.gov/treesearch/62258</a:t>
            </a:r>
          </a:p>
          <a:p xmlns:a="http://schemas.openxmlformats.org/drawingml/2006/main">
            <a:r>
              <a:t>USDA Wood Handbook 2021 第12章 https://research.fs.usda.gov/treesearch/62260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授業時間：10～15分（5分）</a:t>
            </a:r>
          </a:p>
          <a:p xmlns:a="http://schemas.openxmlformats.org/drawingml/2006/main">
            <a:r>
              <a:t>原資料：第13回の3枚目。本文・図を再利用。</a:t>
            </a:r>
          </a:p>
          <a:p xmlns:a="http://schemas.openxmlformats.org/drawingml/2006/main">
            <a:r>
              <a:t>今回考える三つの関係</a:t>
            </a:r>
          </a:p>
          <a:p xmlns:a="http://schemas.openxmlformats.org/drawingml/2006/main">
            <a:r>
              <a:t>説明：</a:t>
            </a:r>
          </a:p>
          <a:p xmlns:a="http://schemas.openxmlformats.org/drawingml/2006/main">
            <a:r>
              <a:t>ラミナと呼ぶひき板を、主な繊維方向をそろえて接着積層する</a:t>
            </a:r>
          </a:p>
          <a:p xmlns:a="http://schemas.openxmlformats.org/drawingml/2006/main">
            <a:r>
              <a:t>板材を並べた層を、主に直交させて積層接着する</a:t>
            </a:r>
          </a:p>
          <a:p xmlns:a="http://schemas.openxmlformats.org/drawingml/2006/main">
            <a:r>
              <a:t>製品の等級、ラミナの構成、接着、含水状態を確認する</a:t>
            </a:r>
          </a:p>
          <a:p xmlns:a="http://schemas.openxmlformats.org/drawingml/2006/main">
            <a:r>
              <a:t>演習では、式・単位・観察の根拠を残して説明する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この回の動画は未制作。90分の対面授業・今後のオンデマンド化用シナリオ。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</a:t>
            </a:r>
          </a:p>
          <a:p xmlns:a="http://schemas.openxmlformats.org/drawingml/2006/main">
            <a:r>
              <a:t>USDA Wood Handbook 2021 第10章 https://research.fs.usda.gov/treesearch/62250</a:t>
            </a:r>
          </a:p>
          <a:p xmlns:a="http://schemas.openxmlformats.org/drawingml/2006/main">
            <a:r>
              <a:t>USDA Wood Handbook 2021 第11章 https://research.fs.usda.gov/treesearch/62258</a:t>
            </a:r>
          </a:p>
          <a:p xmlns:a="http://schemas.openxmlformats.org/drawingml/2006/main">
            <a:r>
              <a:t>USDA Wood Handbook 2021 第12章 https://research.fs.usda.gov/treesearch/62260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授業時間：15～20分（5分）</a:t>
            </a:r>
          </a:p>
          <a:p xmlns:a="http://schemas.openxmlformats.org/drawingml/2006/main">
            <a:r>
              <a:t>原資料：第13回の4枚目。本文・図を再利用。</a:t>
            </a:r>
          </a:p>
          <a:p xmlns:a="http://schemas.openxmlformats.org/drawingml/2006/main">
            <a:r>
              <a:t>集成材とラミナの配置</a:t>
            </a:r>
          </a:p>
          <a:p xmlns:a="http://schemas.openxmlformats.org/drawingml/2006/main">
            <a:r>
              <a:t>説明：</a:t>
            </a:r>
          </a:p>
          <a:p xmlns:a="http://schemas.openxmlformats.org/drawingml/2006/main">
            <a:r>
              <a:t>ラミナと呼ぶひき板を、主な繊維方向をそろえて接着積層する</a:t>
            </a:r>
          </a:p>
          <a:p xmlns:a="http://schemas.openxmlformats.org/drawingml/2006/main">
            <a:r>
              <a:t>乾燥・選別・接合・圧締を管理し、断面や長さを構成する</a:t>
            </a:r>
          </a:p>
          <a:p xmlns:a="http://schemas.openxmlformats.org/drawingml/2006/main">
            <a:r>
              <a:t>ラミナの等級や配置を調整して、部材の性能を設計する</a:t>
            </a:r>
          </a:p>
          <a:p xmlns:a="http://schemas.openxmlformats.org/drawingml/2006/main">
            <a:r>
              <a:t>曲げでは表層の役割が大きく、層の位置が性能に影響する</a:t>
            </a:r>
          </a:p>
          <a:p xmlns:a="http://schemas.openxmlformats.org/drawingml/2006/main">
            <a:r>
              <a:t>節を分散できても、節や接着部の影響が自動的に消えるわけではない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この回の動画は未制作。90分の対面授業・今後のオンデマンド化用シナリオ。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</a:t>
            </a:r>
          </a:p>
          <a:p xmlns:a="http://schemas.openxmlformats.org/drawingml/2006/main">
            <a:r>
              <a:t>USDA Wood Handbook 2021 第10章 https://research.fs.usda.gov/treesearch/62250</a:t>
            </a:r>
          </a:p>
          <a:p xmlns:a="http://schemas.openxmlformats.org/drawingml/2006/main">
            <a:r>
              <a:t>USDA Wood Handbook 2021 第11章 https://research.fs.usda.gov/treesearch/62258</a:t>
            </a:r>
          </a:p>
          <a:p xmlns:a="http://schemas.openxmlformats.org/drawingml/2006/main">
            <a:r>
              <a:t>USDA Wood Handbook 2021 第12章 https://research.fs.usda.gov/treesearch/62260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授業時間：20～25分（5分）</a:t>
            </a:r>
          </a:p>
          <a:p xmlns:a="http://schemas.openxmlformats.org/drawingml/2006/main">
            <a:r>
              <a:t>原資料：第13回の5枚目。本文・図を再利用。</a:t>
            </a:r>
          </a:p>
          <a:p xmlns:a="http://schemas.openxmlformats.org/drawingml/2006/main">
            <a:r>
              <a:t>説明・活動の内容</a:t>
            </a:r>
          </a:p>
          <a:p xmlns:a="http://schemas.openxmlformats.org/drawingml/2006/main">
            <a:r>
              <a:t>集成材</a:t>
            </a:r>
          </a:p>
          <a:p xmlns:a="http://schemas.openxmlformats.org/drawingml/2006/main">
            <a:r>
              <a:t>要素：ひき板等</a:t>
            </a:r>
          </a:p>
          <a:p xmlns:a="http://schemas.openxmlformats.org/drawingml/2006/main">
            <a:r>
              <a:t>主な配向を色分け</a:t>
            </a:r>
          </a:p>
          <a:p xmlns:a="http://schemas.openxmlformats.org/drawingml/2006/main">
            <a:r>
              <a:t>荷重方向と層構成</a:t>
            </a:r>
          </a:p>
          <a:p xmlns:a="http://schemas.openxmlformats.org/drawingml/2006/main">
            <a:r>
              <a:t>厚さだけで性能は決まらない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この回の動画は未制作。90分の対面授業・今後のオンデマンド化用シナリオ。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</a:t>
            </a:r>
          </a:p>
          <a:p xmlns:a="http://schemas.openxmlformats.org/drawingml/2006/main">
            <a:r>
              <a:t>USDA Wood Handbook 2021 第10章 https://research.fs.usda.gov/treesearch/62250</a:t>
            </a:r>
          </a:p>
          <a:p xmlns:a="http://schemas.openxmlformats.org/drawingml/2006/main">
            <a:r>
              <a:t>USDA Wood Handbook 2021 第11章 https://research.fs.usda.gov/treesearch/62258</a:t>
            </a:r>
          </a:p>
          <a:p xmlns:a="http://schemas.openxmlformats.org/drawingml/2006/main">
            <a:r>
              <a:t>USDA Wood Handbook 2021 第12章 https://research.fs.usda.gov/treesearch/62260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授業時間：25～30分（5分）</a:t>
            </a:r>
          </a:p>
          <a:p xmlns:a="http://schemas.openxmlformats.org/drawingml/2006/main">
            <a:r>
              <a:t>原資料：第13回の6枚目。本文・図を再利用。</a:t>
            </a:r>
          </a:p>
          <a:p xmlns:a="http://schemas.openxmlformats.org/drawingml/2006/main">
            <a:r>
              <a:t>CLTの層構成と荷重方向</a:t>
            </a:r>
          </a:p>
          <a:p xmlns:a="http://schemas.openxmlformats.org/drawingml/2006/main">
            <a:r>
              <a:t>説明：</a:t>
            </a:r>
          </a:p>
          <a:p xmlns:a="http://schemas.openxmlformats.org/drawingml/2006/main">
            <a:r>
              <a:t>板材を並べた層を、主に直交させて積層接着する</a:t>
            </a:r>
          </a:p>
          <a:p xmlns:a="http://schemas.openxmlformats.org/drawingml/2006/main">
            <a:r>
              <a:t>合板と似た交差積層でも、原料は単板ではなく板材</a:t>
            </a:r>
          </a:p>
          <a:p xmlns:a="http://schemas.openxmlformats.org/drawingml/2006/main">
            <a:r>
              <a:t>面内の力、面外の曲げ、主なスパン方向を区別する</a:t>
            </a:r>
          </a:p>
          <a:p xmlns:a="http://schemas.openxmlformats.org/drawingml/2006/main">
            <a:r>
              <a:t>直交層のせん断変形なども、曲げやたわみに関係する</a:t>
            </a:r>
          </a:p>
          <a:p xmlns:a="http://schemas.openxmlformats.org/drawingml/2006/main">
            <a:r>
              <a:t>層数、層厚、配向、接着、接合を製品の条件として読む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この回の動画は未制作。90分の対面授業・今後のオンデマンド化用シナリオ。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</a:t>
            </a:r>
          </a:p>
          <a:p xmlns:a="http://schemas.openxmlformats.org/drawingml/2006/main">
            <a:r>
              <a:t>USDA Wood Handbook 2021 第10章 https://research.fs.usda.gov/treesearch/62250</a:t>
            </a:r>
          </a:p>
          <a:p xmlns:a="http://schemas.openxmlformats.org/drawingml/2006/main">
            <a:r>
              <a:t>USDA Wood Handbook 2021 第11章 https://research.fs.usda.gov/treesearch/62258</a:t>
            </a:r>
          </a:p>
          <a:p xmlns:a="http://schemas.openxmlformats.org/drawingml/2006/main">
            <a:r>
              <a:t>USDA Wood Handbook 2021 第12章 https://research.fs.usda.gov/treesearch/62260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授業時間：30～34分（4分）</a:t>
            </a:r>
          </a:p>
          <a:p xmlns:a="http://schemas.openxmlformats.org/drawingml/2006/main">
            <a:r>
              <a:t>原資料：第13回の7枚目。本文・図を再利用。</a:t>
            </a:r>
          </a:p>
          <a:p xmlns:a="http://schemas.openxmlformats.org/drawingml/2006/main">
            <a:r>
              <a:t>説明・活動の内容</a:t>
            </a:r>
          </a:p>
          <a:p xmlns:a="http://schemas.openxmlformats.org/drawingml/2006/main">
            <a:r>
              <a:t>条件をそろえた比較</a:t>
            </a:r>
          </a:p>
          <a:p xmlns:a="http://schemas.openxmlformats.org/drawingml/2006/main">
            <a:r>
              <a:t>値がある場合は、単位・定義・測定状態・出典を確認する</a:t>
            </a:r>
          </a:p>
          <a:p xmlns:a="http://schemas.openxmlformats.org/drawingml/2006/main">
            <a:r>
              <a:t>材料 | 要素 | 主な積層の考え方</a:t>
            </a:r>
          </a:p>
          <a:p xmlns:a="http://schemas.openxmlformats.org/drawingml/2006/main">
            <a:r>
              <a:t>合板 | 単板 | 交差積層</a:t>
            </a:r>
          </a:p>
          <a:p xmlns:a="http://schemas.openxmlformats.org/drawingml/2006/main">
            <a:r>
              <a:t>LVL | 単板 | ほぼ平行積層</a:t>
            </a:r>
          </a:p>
          <a:p xmlns:a="http://schemas.openxmlformats.org/drawingml/2006/main">
            <a:r>
              <a:t>集成材 | ひき板等 | ほぼ平行積層</a:t>
            </a:r>
          </a:p>
          <a:p xmlns:a="http://schemas.openxmlformats.org/drawingml/2006/main">
            <a:r>
              <a:t>CLT | ひき板の層 | 主に直交積層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この回の動画は未制作。90分の対面授業・今後のオンデマンド化用シナリオ。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</a:t>
            </a:r>
          </a:p>
          <a:p xmlns:a="http://schemas.openxmlformats.org/drawingml/2006/main">
            <a:r>
              <a:t>USDA Wood Handbook 2021 第10章 https://research.fs.usda.gov/treesearch/62250</a:t>
            </a:r>
          </a:p>
          <a:p xmlns:a="http://schemas.openxmlformats.org/drawingml/2006/main">
            <a:r>
              <a:t>USDA Wood Handbook 2021 第11章 https://research.fs.usda.gov/treesearch/62258</a:t>
            </a:r>
          </a:p>
          <a:p xmlns:a="http://schemas.openxmlformats.org/drawingml/2006/main">
            <a:r>
              <a:t>USDA Wood Handbook 2021 第12章 https://research.fs.usda.gov/treesearch/62260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授業時間：34～40分（6分）</a:t>
            </a:r>
          </a:p>
          <a:p xmlns:a="http://schemas.openxmlformats.org/drawingml/2006/main">
            <a:r>
              <a:t>原資料：第13回の8枚目。本文・図を再利用。</a:t>
            </a:r>
          </a:p>
          <a:p xmlns:a="http://schemas.openxmlformats.org/drawingml/2006/main">
            <a:r>
              <a:t>説明・活動の内容</a:t>
            </a:r>
          </a:p>
          <a:p xmlns:a="http://schemas.openxmlformats.org/drawingml/2006/main">
            <a:r>
              <a:t>演習1　定義と条件から考える</a:t>
            </a:r>
          </a:p>
          <a:p xmlns:a="http://schemas.openxmlformats.org/drawingml/2006/main">
            <a:r>
              <a:t>厚さ30 mmの層を5層、同じ厚さに積層</a:t>
            </a:r>
          </a:p>
          <a:p xmlns:a="http://schemas.openxmlformats.org/drawingml/2006/main">
            <a:r>
              <a:t>A：主な繊維方向を平行にする</a:t>
            </a:r>
          </a:p>
          <a:p xmlns:a="http://schemas.openxmlformats.org/drawingml/2006/main">
            <a:r>
              <a:t>B：0°/90°/0°/90°/0°にする</a:t>
            </a:r>
          </a:p>
          <a:p xmlns:a="http://schemas.openxmlformats.org/drawingml/2006/main">
            <a:r>
              <a:t>全厚と材料の分類、性能比較に必要な条件を答える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この回の動画は未制作。90分の対面授業・今後のオンデマンド化用シナリオ。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</a:t>
            </a:r>
          </a:p>
          <a:p xmlns:a="http://schemas.openxmlformats.org/drawingml/2006/main">
            <a:r>
              <a:t>USDA Wood Handbook 2021 第10章 https://research.fs.usda.gov/treesearch/62250</a:t>
            </a:r>
          </a:p>
          <a:p xmlns:a="http://schemas.openxmlformats.org/drawingml/2006/main">
            <a:r>
              <a:t>USDA Wood Handbook 2021 第11章 https://research.fs.usda.gov/treesearch/62258</a:t>
            </a:r>
          </a:p>
          <a:p xmlns:a="http://schemas.openxmlformats.org/drawingml/2006/main">
            <a:r>
              <a:t>USDA Wood Handbook 2021 第12章 https://research.fs.usda.gov/treesearch/62260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授業時間：40～44分（4分）</a:t>
            </a:r>
          </a:p>
          <a:p xmlns:a="http://schemas.openxmlformats.org/drawingml/2006/main">
            <a:r>
              <a:t>原資料：第13回の9枚目。本文・図を再利用。</a:t>
            </a:r>
          </a:p>
          <a:p xmlns:a="http://schemas.openxmlformats.org/drawingml/2006/main">
            <a:r>
              <a:t>説明・活動の内容</a:t>
            </a:r>
          </a:p>
          <a:p xmlns:a="http://schemas.openxmlformats.org/drawingml/2006/main">
            <a:r>
              <a:t>演習1の解説</a:t>
            </a:r>
          </a:p>
          <a:p xmlns:a="http://schemas.openxmlformats.org/drawingml/2006/main">
            <a:r>
              <a:t>全厚は150 mm</a:t>
            </a:r>
          </a:p>
          <a:p xmlns:a="http://schemas.openxmlformats.org/drawingml/2006/main">
            <a:r>
              <a:t>Aは集成材、BはCLTの模式的な構成</a:t>
            </a:r>
          </a:p>
          <a:p xmlns:a="http://schemas.openxmlformats.org/drawingml/2006/main">
            <a:r>
              <a:t>同じ厚さでも、配向と荷重方向が違う</a:t>
            </a:r>
          </a:p>
          <a:p xmlns:a="http://schemas.openxmlformats.org/drawingml/2006/main">
            <a:r>
              <a:t>単純なEの平均で、CLTの曲げ性能を決めない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この回の動画は未制作。90分の対面授業・今後のオンデマンド化用シナリオ。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</a:t>
            </a:r>
          </a:p>
          <a:p xmlns:a="http://schemas.openxmlformats.org/drawingml/2006/main">
            <a:r>
              <a:t>USDA Wood Handbook 2021 第10章 https://research.fs.usda.gov/treesearch/62250</a:t>
            </a:r>
          </a:p>
          <a:p xmlns:a="http://schemas.openxmlformats.org/drawingml/2006/main">
            <a:r>
              <a:t>USDA Wood Handbook 2021 第11章 https://research.fs.usda.gov/treesearch/62258</a:t>
            </a:r>
          </a:p>
          <a:p xmlns:a="http://schemas.openxmlformats.org/drawingml/2006/main">
            <a:r>
              <a:t>USDA Wood Handbook 2021 第12章 https://research.fs.usda.gov/treesearch/62260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授業時間：44～48分（4分）</a:t>
            </a:r>
          </a:p>
          <a:p xmlns:a="http://schemas.openxmlformats.org/drawingml/2006/main">
            <a:r>
              <a:t>原資料：第13回の10枚目。本文・図を再利用。</a:t>
            </a:r>
          </a:p>
          <a:p xmlns:a="http://schemas.openxmlformats.org/drawingml/2006/main">
            <a:r>
              <a:t>部材の性能と接合部</a:t>
            </a:r>
          </a:p>
          <a:p xmlns:a="http://schemas.openxmlformats.org/drawingml/2006/main">
            <a:r>
              <a:t>説明：</a:t>
            </a:r>
          </a:p>
          <a:p xmlns:a="http://schemas.openxmlformats.org/drawingml/2006/main">
            <a:r>
              <a:t>Eは材料の係数、EIは断面を含む曲げ剛性</a:t>
            </a:r>
          </a:p>
          <a:p xmlns:a="http://schemas.openxmlformats.org/drawingml/2006/main">
            <a:r>
              <a:t>積層材では各層の位置と方向が異なるため、Eの単純平均では扱えない</a:t>
            </a:r>
          </a:p>
          <a:p xmlns:a="http://schemas.openxmlformats.org/drawingml/2006/main">
            <a:r>
              <a:t>部材間の金物・ねじ・接着などが荷重を伝える</a:t>
            </a:r>
          </a:p>
          <a:p xmlns:a="http://schemas.openxmlformats.org/drawingml/2006/main">
            <a:r>
              <a:t>接合部のすべりや局部的な応力も、構造全体の変形・破壊に関わる</a:t>
            </a:r>
          </a:p>
          <a:p xmlns:a="http://schemas.openxmlformats.org/drawingml/2006/main">
            <a:r>
              <a:t>大断面の利用には、運搬・施工・水分管理も必要になる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この回の動画は未制作。90分の対面授業・今後のオンデマンド化用シナリオ。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</a:t>
            </a:r>
          </a:p>
          <a:p xmlns:a="http://schemas.openxmlformats.org/drawingml/2006/main">
            <a:r>
              <a:t>USDA Wood Handbook 2021 第10章 https://research.fs.usda.gov/treesearch/62250</a:t>
            </a:r>
          </a:p>
          <a:p xmlns:a="http://schemas.openxmlformats.org/drawingml/2006/main">
            <a:r>
              <a:t>USDA Wood Handbook 2021 第11章 https://research.fs.usda.gov/treesearch/62258</a:t>
            </a:r>
          </a:p>
          <a:p xmlns:a="http://schemas.openxmlformats.org/drawingml/2006/main">
            <a:r>
              <a:t>USDA Wood Handbook 2021 第12章 https://research.fs.usda.gov/treesearch/62260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授業時間：48～52分（4分）</a:t>
            </a:r>
          </a:p>
          <a:p xmlns:a="http://schemas.openxmlformats.org/drawingml/2006/main">
            <a:r>
              <a:t>原資料：第13回の11枚目。本文・図を再利用。</a:t>
            </a:r>
          </a:p>
          <a:p xmlns:a="http://schemas.openxmlformats.org/drawingml/2006/main">
            <a:r>
              <a:t>説明・活動の内容</a:t>
            </a:r>
          </a:p>
          <a:p xmlns:a="http://schemas.openxmlformats.org/drawingml/2006/main">
            <a:r>
              <a:t>CLT</a:t>
            </a:r>
          </a:p>
          <a:p xmlns:a="http://schemas.openxmlformats.org/drawingml/2006/main">
            <a:r>
              <a:t>要素：ひき板等</a:t>
            </a:r>
          </a:p>
          <a:p xmlns:a="http://schemas.openxmlformats.org/drawingml/2006/main">
            <a:r>
              <a:t>主な配向を色分け</a:t>
            </a:r>
          </a:p>
          <a:p xmlns:a="http://schemas.openxmlformats.org/drawingml/2006/main">
            <a:r>
              <a:t>荷重方向と層構成</a:t>
            </a:r>
          </a:p>
          <a:p xmlns:a="http://schemas.openxmlformats.org/drawingml/2006/main">
            <a:r>
              <a:t>厚さだけで性能は決まらない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この回の動画は未制作。90分の対面授業・今後のオンデマンド化用シナリオ。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</a:t>
            </a:r>
          </a:p>
          <a:p xmlns:a="http://schemas.openxmlformats.org/drawingml/2006/main">
            <a:r>
              <a:t>USDA Wood Handbook 2021 第10章 https://research.fs.usda.gov/treesearch/62250</a:t>
            </a:r>
          </a:p>
          <a:p xmlns:a="http://schemas.openxmlformats.org/drawingml/2006/main">
            <a:r>
              <a:t>USDA Wood Handbook 2021 第11章 https://research.fs.usda.gov/treesearch/62258</a:t>
            </a:r>
          </a:p>
          <a:p xmlns:a="http://schemas.openxmlformats.org/drawingml/2006/main">
            <a:r>
              <a:t>USDA Wood Handbook 2021 第12章 https://research.fs.usda.gov/treesearch/62260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授業時間：52～56分（4分）</a:t>
            </a:r>
          </a:p>
          <a:p xmlns:a="http://schemas.openxmlformats.org/drawingml/2006/main">
            <a:r>
              <a:t>原資料：第13回の12枚目。本文・図を再利用。</a:t>
            </a:r>
          </a:p>
          <a:p xmlns:a="http://schemas.openxmlformats.org/drawingml/2006/main">
            <a:r>
              <a:t>第11回の接着の比較へ戻る。レゾルシノール系等の耐久性の高い接着剤でも、材料の含水状態・面の合い・圧締・硬化が適切でなければ製品性能は保証されない。構造用製品の等級、層構成、接着、使用環境を一組で確認する。塗装だけで木口や接合部の水分管理を置き換えな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この回の動画は未制作。90分の対面授業・今後のオンデマンド化用シナリオ。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</a:t>
            </a:r>
          </a:p>
          <a:p xmlns:a="http://schemas.openxmlformats.org/drawingml/2006/main">
            <a:r>
              <a:t>USDA Wood Handbook 2021 第10章 https://research.fs.usda.gov/treesearch/62250</a:t>
            </a:r>
          </a:p>
          <a:p xmlns:a="http://schemas.openxmlformats.org/drawingml/2006/main">
            <a:r>
              <a:t>USDA Wood Handbook 2021 第11章 https://research.fs.usda.gov/treesearch/62258</a:t>
            </a:r>
          </a:p>
          <a:p xmlns:a="http://schemas.openxmlformats.org/drawingml/2006/main">
            <a:r>
              <a:t>USDA Wood Handbook 2021 第12章 https://research.fs.usda.gov/treesearch/62260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授業時間：56～60分（4分）</a:t>
            </a:r>
          </a:p>
          <a:p xmlns:a="http://schemas.openxmlformats.org/drawingml/2006/main">
            <a:r>
              <a:t>第11回からの追加接続。構造用途では、接着剤の種類と、製造工程・品質管理、長期の使用条件を合わせて判断する。水性という語から一般の木工用接着剤と同一視せず、使用環境・製品の規格と仕様を確認す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この回の動画は未制作。90分の対面授業・今後のオンデマンド化用シナリオ。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</a:t>
            </a:r>
          </a:p>
          <a:p xmlns:a="http://schemas.openxmlformats.org/drawingml/2006/main">
            <a:r>
              <a:t>USDA Wood Handbook 2021 第10章 https://research.fs.usda.gov/treesearch/62250</a:t>
            </a:r>
          </a:p>
          <a:p xmlns:a="http://schemas.openxmlformats.org/drawingml/2006/main">
            <a:r>
              <a:t>USDA Wood Handbook 2021 第11章 https://research.fs.usda.gov/treesearch/62258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授業時間：60～66分（6分）</a:t>
            </a:r>
          </a:p>
          <a:p xmlns:a="http://schemas.openxmlformats.org/drawingml/2006/main">
            <a:r>
              <a:t>原資料：第13回の13枚目。本文・図を再利用。</a:t>
            </a:r>
          </a:p>
          <a:p xmlns:a="http://schemas.openxmlformats.org/drawingml/2006/main">
            <a:r>
              <a:t>説明・活動の内容</a:t>
            </a:r>
          </a:p>
          <a:p xmlns:a="http://schemas.openxmlformats.org/drawingml/2006/main">
            <a:r>
              <a:t>演習2　観察・比較・選択</a:t>
            </a:r>
          </a:p>
          <a:p xmlns:a="http://schemas.openxmlformats.org/drawingml/2006/main">
            <a:r>
              <a:t>梁として使う場合／面材として使う場合を比較</a:t>
            </a:r>
          </a:p>
          <a:p xmlns:a="http://schemas.openxmlformats.org/drawingml/2006/main">
            <a:r>
              <a:t>主な荷重方向と、各層の繊維方向を図示</a:t>
            </a:r>
          </a:p>
          <a:p xmlns:a="http://schemas.openxmlformats.org/drawingml/2006/main">
            <a:r>
              <a:t>支え方・接合部・水分の条件も書き加える</a:t>
            </a:r>
          </a:p>
          <a:p xmlns:a="http://schemas.openxmlformats.org/drawingml/2006/main">
            <a:r>
              <a:t>必要な製品データと、未知の条件を整理する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この回の動画は未制作。90分の対面授業・今後のオンデマンド化用シナリオ。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</a:t>
            </a:r>
          </a:p>
          <a:p xmlns:a="http://schemas.openxmlformats.org/drawingml/2006/main">
            <a:r>
              <a:t>USDA Wood Handbook 2021 第10章 https://research.fs.usda.gov/treesearch/62250</a:t>
            </a:r>
          </a:p>
          <a:p xmlns:a="http://schemas.openxmlformats.org/drawingml/2006/main">
            <a:r>
              <a:t>USDA Wood Handbook 2021 第11章 https://research.fs.usda.gov/treesearch/62258</a:t>
            </a:r>
          </a:p>
          <a:p xmlns:a="http://schemas.openxmlformats.org/drawingml/2006/main">
            <a:r>
              <a:t>USDA Wood Handbook 2021 第12章 https://research.fs.usda.gov/treesearch/62260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授業時間：66～70分（4分）</a:t>
            </a:r>
          </a:p>
          <a:p xmlns:a="http://schemas.openxmlformats.org/drawingml/2006/main">
            <a:r>
              <a:t>原資料：第13回の14枚目。本文・図を再利用。</a:t>
            </a:r>
          </a:p>
          <a:p xmlns:a="http://schemas.openxmlformats.org/drawingml/2006/main">
            <a:r>
              <a:t>演習2の解説　荷重を伝える層と接合</a:t>
            </a:r>
          </a:p>
          <a:p xmlns:a="http://schemas.openxmlformats.org/drawingml/2006/main">
            <a:r>
              <a:t>説明：</a:t>
            </a:r>
          </a:p>
          <a:p xmlns:a="http://schemas.openxmlformats.org/drawingml/2006/main">
            <a:r>
              <a:t>梁ではスパンに沿った配向と、曲げの引張側・圧縮側を確認する</a:t>
            </a:r>
          </a:p>
          <a:p xmlns:a="http://schemas.openxmlformats.org/drawingml/2006/main">
            <a:r>
              <a:t>面材では面内・面外と、主な支持方向を指定する</a:t>
            </a:r>
          </a:p>
          <a:p xmlns:a="http://schemas.openxmlformats.org/drawingml/2006/main">
            <a:r>
              <a:t>直交層のせん断変形、接合部のすべり、水分による動きも考える</a:t>
            </a:r>
          </a:p>
          <a:p xmlns:a="http://schemas.openxmlformats.org/drawingml/2006/main">
            <a:r>
              <a:t>製品情報は、材料名だけでなく層構成と試験方向が対応する箇所を読む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この回の動画は未制作。90分の対面授業・今後のオンデマンド化用シナリオ。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</a:t>
            </a:r>
          </a:p>
          <a:p xmlns:a="http://schemas.openxmlformats.org/drawingml/2006/main">
            <a:r>
              <a:t>USDA Wood Handbook 2021 第10章 https://research.fs.usda.gov/treesearch/62250</a:t>
            </a:r>
          </a:p>
          <a:p xmlns:a="http://schemas.openxmlformats.org/drawingml/2006/main">
            <a:r>
              <a:t>USDA Wood Handbook 2021 第11章 https://research.fs.usda.gov/treesearch/62258</a:t>
            </a:r>
          </a:p>
          <a:p xmlns:a="http://schemas.openxmlformats.org/drawingml/2006/main">
            <a:r>
              <a:t>USDA Wood Handbook 2021 第12章 https://research.fs.usda.gov/treesearch/62260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授業時間：70～74分（4分）</a:t>
            </a:r>
          </a:p>
          <a:p xmlns:a="http://schemas.openxmlformats.org/drawingml/2006/main">
            <a:r>
              <a:t>原資料：第13回の15枚目。本文・図を再利用。</a:t>
            </a:r>
          </a:p>
          <a:p xmlns:a="http://schemas.openxmlformats.org/drawingml/2006/main">
            <a:r>
              <a:t>単板と板材の積層模型</a:t>
            </a:r>
          </a:p>
          <a:p xmlns:a="http://schemas.openxmlformats.org/drawingml/2006/main">
            <a:r>
              <a:t>説明：</a:t>
            </a:r>
          </a:p>
          <a:p xmlns:a="http://schemas.openxmlformats.org/drawingml/2006/main">
            <a:r>
              <a:t>同じ形式の図で、合板・LVL・集成材・CLTを比較する</a:t>
            </a:r>
          </a:p>
          <a:p xmlns:a="http://schemas.openxmlformats.org/drawingml/2006/main">
            <a:r>
              <a:t>第一の軸は要素の大きさ、第二の軸は配向の違い</a:t>
            </a:r>
          </a:p>
          <a:p xmlns:a="http://schemas.openxmlformats.org/drawingml/2006/main">
            <a:r>
              <a:t>模型に荷重方向と支える位置を書き込む</a:t>
            </a:r>
          </a:p>
          <a:p xmlns:a="http://schemas.openxmlformats.org/drawingml/2006/main">
            <a:r>
              <a:t>発問：同じ木材量でも、使う向きや層の配置で何が変わるか</a:t>
            </a:r>
          </a:p>
          <a:p xmlns:a="http://schemas.openxmlformats.org/drawingml/2006/main">
            <a:r>
              <a:t>教科書の接点：丈夫な部材・構造と材料利用／A(1)ア・イ</a:t>
            </a:r>
          </a:p>
          <a:p xmlns:a="http://schemas.openxmlformats.org/drawingml/2006/main">
            <a:r>
              <a:t>中学校で確かめること：丈夫な部材・構造と材料利用。本講義で深める根拠：ラミナの配置・CLTの荷重方向・接合部の役割。教科書の項目は出版社の公開目次・指導計画・評価規準で照合した。大学の専門用語や数式を、そのまま中学生の必須暗記項目とはしな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この回の動画は未制作。90分の対面授業・今後のオンデマンド化用シナリオ。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</a:t>
            </a:r>
          </a:p>
          <a:p xmlns:a="http://schemas.openxmlformats.org/drawingml/2006/main">
            <a:r>
              <a:t>USDA Wood Handbook 2021 第10章 https://research.fs.usda.gov/treesearch/62250</a:t>
            </a:r>
          </a:p>
          <a:p xmlns:a="http://schemas.openxmlformats.org/drawingml/2006/main">
            <a:r>
              <a:t>USDA Wood Handbook 2021 第11章 https://research.fs.usda.gov/treesearch/62258</a:t>
            </a:r>
          </a:p>
          <a:p xmlns:a="http://schemas.openxmlformats.org/drawingml/2006/main">
            <a:r>
              <a:t>USDA Wood Handbook 2021 第12章 https://research.fs.usda.gov/treesearch/62260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授業時間：74～78分（4分）</a:t>
            </a:r>
          </a:p>
          <a:p xmlns:a="http://schemas.openxmlformats.org/drawingml/2006/main">
            <a:r>
              <a:t>原資料：第13回の16枚目。本文・図を再利用。</a:t>
            </a:r>
          </a:p>
          <a:p xmlns:a="http://schemas.openxmlformats.org/drawingml/2006/main">
            <a:r>
              <a:t>説明・活動の内容</a:t>
            </a:r>
          </a:p>
          <a:p xmlns:a="http://schemas.openxmlformats.org/drawingml/2006/main">
            <a:r>
              <a:t>確認問題　図・式・理由で答える</a:t>
            </a:r>
          </a:p>
          <a:p xmlns:a="http://schemas.openxmlformats.org/drawingml/2006/main">
            <a:r>
              <a:t>① 合板とCLTの要素の違いは？</a:t>
            </a:r>
          </a:p>
          <a:p xmlns:a="http://schemas.openxmlformats.org/drawingml/2006/main">
            <a:r>
              <a:t>② 集成材は、各層の繊維を交互に直交させるか</a:t>
            </a:r>
          </a:p>
          <a:p xmlns:a="http://schemas.openxmlformats.org/drawingml/2006/main">
            <a:r>
              <a:t>③ 全厚が同じなら、曲げ性能も同じか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この回の動画は未制作。90分の対面授業・今後のオンデマンド化用シナリオ。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</a:t>
            </a:r>
          </a:p>
          <a:p xmlns:a="http://schemas.openxmlformats.org/drawingml/2006/main">
            <a:r>
              <a:t>USDA Wood Handbook 2021 第10章 https://research.fs.usda.gov/treesearch/62250</a:t>
            </a:r>
          </a:p>
          <a:p xmlns:a="http://schemas.openxmlformats.org/drawingml/2006/main">
            <a:r>
              <a:t>USDA Wood Handbook 2021 第11章 https://research.fs.usda.gov/treesearch/62258</a:t>
            </a:r>
          </a:p>
          <a:p xmlns:a="http://schemas.openxmlformats.org/drawingml/2006/main">
            <a:r>
              <a:t>USDA Wood Handbook 2021 第12章 https://research.fs.usda.gov/treesearch/62260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授業時間：78～82分（4分）</a:t>
            </a:r>
          </a:p>
          <a:p xmlns:a="http://schemas.openxmlformats.org/drawingml/2006/main">
            <a:r>
              <a:t>原資料：第13回の17枚目。本文・図を再利用。</a:t>
            </a:r>
          </a:p>
          <a:p xmlns:a="http://schemas.openxmlformats.org/drawingml/2006/main">
            <a:r>
              <a:t>説明・活動の内容</a:t>
            </a:r>
          </a:p>
          <a:p xmlns:a="http://schemas.openxmlformats.org/drawingml/2006/main">
            <a:r>
              <a:t>今回の要点</a:t>
            </a:r>
          </a:p>
          <a:p xmlns:a="http://schemas.openxmlformats.org/drawingml/2006/main">
            <a:r>
              <a:t>要素と積層方向で、主要な製品を分類</a:t>
            </a:r>
          </a:p>
          <a:p xmlns:a="http://schemas.openxmlformats.org/drawingml/2006/main">
            <a:r>
              <a:t>製品情報と使用条件で、性能を判断する</a:t>
            </a:r>
          </a:p>
          <a:p xmlns:a="http://schemas.openxmlformats.org/drawingml/2006/main">
            <a:r>
              <a:t>次は、加工・接合を含む材料選択へ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この回の動画は未制作。90分の対面授業・今後のオンデマンド化用シナリオ。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</a:t>
            </a:r>
          </a:p>
          <a:p xmlns:a="http://schemas.openxmlformats.org/drawingml/2006/main">
            <a:r>
              <a:t>USDA Wood Handbook 2021 第10章 https://research.fs.usda.gov/treesearch/62250</a:t>
            </a:r>
          </a:p>
          <a:p xmlns:a="http://schemas.openxmlformats.org/drawingml/2006/main">
            <a:r>
              <a:t>USDA Wood Handbook 2021 第11章 https://research.fs.usda.gov/treesearch/62258</a:t>
            </a:r>
          </a:p>
          <a:p xmlns:a="http://schemas.openxmlformats.org/drawingml/2006/main">
            <a:r>
              <a:t>USDA Wood Handbook 2021 第12章 https://research.fs.usda.gov/treesearch/62260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授業時間：82～86分（4分）</a:t>
            </a:r>
          </a:p>
          <a:p xmlns:a="http://schemas.openxmlformats.org/drawingml/2006/main">
            <a:r>
              <a:t>原資料：第13回の18枚目。本文・図を再利用。</a:t>
            </a:r>
          </a:p>
          <a:p xmlns:a="http://schemas.openxmlformats.org/drawingml/2006/main">
            <a:r>
              <a:t>説明・活動の内容</a:t>
            </a:r>
          </a:p>
          <a:p xmlns:a="http://schemas.openxmlformats.org/drawingml/2006/main">
            <a:r>
              <a:t>宿題と次の学習</a:t>
            </a:r>
          </a:p>
          <a:p xmlns:a="http://schemas.openxmlformats.org/drawingml/2006/main">
            <a:r>
              <a:t>4製品の要素と配向を、同じ形式の図で比較</a:t>
            </a:r>
          </a:p>
          <a:p xmlns:a="http://schemas.openxmlformats.org/drawingml/2006/main">
            <a:r>
              <a:t>荷重方向を指定し、どの製品情報が必要か説明</a:t>
            </a:r>
          </a:p>
          <a:p xmlns:a="http://schemas.openxmlformats.org/drawingml/2006/main">
            <a:r>
              <a:t>発展：層を増やす以外の性能調整方法を考える</a:t>
            </a:r>
          </a:p>
          <a:p xmlns:a="http://schemas.openxmlformats.org/drawingml/2006/main">
            <a:r>
              <a:t>次回の前提になる図と定義を、自分のノートに残す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この回の動画は未制作。90分の対面授業・今後のオンデマンド化用シナリオ。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</a:t>
            </a:r>
          </a:p>
          <a:p xmlns:a="http://schemas.openxmlformats.org/drawingml/2006/main">
            <a:r>
              <a:t>USDA Wood Handbook 2021 第10章 https://research.fs.usda.gov/treesearch/62250</a:t>
            </a:r>
          </a:p>
          <a:p xmlns:a="http://schemas.openxmlformats.org/drawingml/2006/main">
            <a:r>
              <a:t>USDA Wood Handbook 2021 第11章 https://research.fs.usda.gov/treesearch/62258</a:t>
            </a:r>
          </a:p>
          <a:p xmlns:a="http://schemas.openxmlformats.org/drawingml/2006/main">
            <a:r>
              <a:t>USDA Wood Handbook 2021 第12章 https://research.fs.usda.gov/treesearch/62260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授業時間：86～90分（4分）</a:t>
            </a:r>
          </a:p>
          <a:p xmlns:a="http://schemas.openxmlformats.org/drawingml/2006/main">
            <a:r>
              <a:t>原資料：第13回の19枚目。本文・図を再利用。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この回の動画は未制作。90分の対面授業・今後のオンデマンド化用シナリオ。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</a:t>
            </a:r>
          </a:p>
          <a:p xmlns:a="http://schemas.openxmlformats.org/drawingml/2006/main">
            <a:r>
              <a:t>USDA Wood Handbook 2021 第10章 https://research.fs.usda.gov/treesearch/62250</a:t>
            </a:r>
          </a:p>
          <a:p xmlns:a="http://schemas.openxmlformats.org/drawingml/2006/main">
            <a:r>
              <a:t>USDA Wood Handbook 2021 第11章 https://research.fs.usda.gov/treesearch/62258</a:t>
            </a:r>
          </a:p>
          <a:p xmlns:a="http://schemas.openxmlformats.org/drawingml/2006/main">
            <a:r>
              <a:t>USDA Wood Handbook 2021 第12章 https://research.fs.usda.gov/treesearch/62260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d9e77b8f21428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2dfc0b2f7e4db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fe13d5ab3743c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04fbebc5ec405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511acdd5c54ae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43cea8159146ae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67693ce11e5f463b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2a1d1804e5c34813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9f9ed5ab4c3d430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c9191484afbe4dfa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fc515741bb334d58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4b84bd0641844cd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01C7C26-445A-4D2B-B3C7-396867FB0BE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AB5D4EA-C627-40D7-9758-804A6434583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1CE61B8-28BB-4702-9732-28A9987ACFC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E7F6E55-8690-47ED-864F-706BBEC8A7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7069715-EF7B-4A71-8465-B50E0902B8A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E716BFF-F3DE-4802-9F20-2B36975A442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4A92231-EE06-4908-81FE-DF5B0921872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29D9F0F-98C8-41E8-B65D-12F25AED7F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E15E71F-154A-4B4C-BE61-9E87652713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E3A76AE-530B-471B-A6D0-E3B5D8D7BB5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7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BD32DDA-2DA8-47E4-8FD5-FE58E46C66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5343EAD-5DA1-4867-A72E-EBA483F281C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8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94A0E52-DE95-4B82-ACDD-2143A3E7A21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9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77CC2F0-2FDA-4867-AC00-64FB30D5291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149D567-72E4-4933-8AE9-CD7DDD4FC75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10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8E4AC88-49AE-4B74-8119-D9F30EA3085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547D9C7-CD2A-4660-9EC6-37496E4FB7F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E8284C17-6B70-4308-83B7-148EC027BE9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11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B53C33D-1EFF-40B5-B0F7-D4423E3676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93667F9-7AA6-4917-A112-73AF206694B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12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b248973cde644c3" /><Relationship Type="http://schemas.openxmlformats.org/officeDocument/2006/relationships/slideLayout" Target="/ppt/slideLayouts/slideLayout1.xml" Id="R4f3a8241db4e43c0" /><Relationship Type="http://schemas.openxmlformats.org/officeDocument/2006/relationships/slideLayout" Target="/ppt/slideLayouts/slideLayout2.xml" Id="R9e690ebd3a244e09" /><Relationship Type="http://schemas.openxmlformats.org/officeDocument/2006/relationships/slideLayout" Target="/ppt/slideLayouts/slideLayout3.xml" Id="R7140be86a77e4b10" /><Relationship Type="http://schemas.openxmlformats.org/officeDocument/2006/relationships/slideLayout" Target="/ppt/slideLayouts/slideLayout4.xml" Id="R100ea1663e66405e" /><Relationship Type="http://schemas.openxmlformats.org/officeDocument/2006/relationships/slideLayout" Target="/ppt/slideLayouts/slideLayout5.xml" Id="Rc9e8320f80984f37" /><Relationship Type="http://schemas.openxmlformats.org/officeDocument/2006/relationships/slideLayout" Target="/ppt/slideLayouts/slideLayout6.xml" Id="R8f05b0677e294453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3a8f478c9f3f470c" /><Relationship Type="http://schemas.openxmlformats.org/officeDocument/2006/relationships/slideLayout" Target="/ppt/slideLayouts/slideLayout7.xml" Id="R146b170f91b249a0" /><Relationship Type="http://schemas.openxmlformats.org/officeDocument/2006/relationships/slideLayout" Target="/ppt/slideLayouts/slideLayout8.xml" Id="Rfba1da73032048f4" /><Relationship Type="http://schemas.openxmlformats.org/officeDocument/2006/relationships/slideLayout" Target="/ppt/slideLayouts/slideLayout9.xml" Id="R96ae21e52a0d4740" /><Relationship Type="http://schemas.openxmlformats.org/officeDocument/2006/relationships/slideLayout" Target="/ppt/slideLayouts/slideLayout10.xml" Id="Rd04a8f4a86654b27" /><Relationship Type="http://schemas.openxmlformats.org/officeDocument/2006/relationships/slideLayout" Target="/ppt/slideLayouts/slideLayout11.xml" Id="Rbe57c8d1f3cc467e" /><Relationship Type="http://schemas.openxmlformats.org/officeDocument/2006/relationships/slideLayout" Target="/ppt/slideLayouts/slideLayout12.xml" Id="R65e3fb8c9d784fb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f3a8241db4e43c0"/>
    <p:sldLayoutId xmlns:r="http://schemas.openxmlformats.org/officeDocument/2006/relationships" id="2147483650" r:id="R9e690ebd3a244e09"/>
    <p:sldLayoutId xmlns:r="http://schemas.openxmlformats.org/officeDocument/2006/relationships" id="2147483651" r:id="R7140be86a77e4b10"/>
    <p:sldLayoutId xmlns:r="http://schemas.openxmlformats.org/officeDocument/2006/relationships" id="2147483652" r:id="R100ea1663e66405e"/>
    <p:sldLayoutId xmlns:r="http://schemas.openxmlformats.org/officeDocument/2006/relationships" id="2147483653" r:id="Rc9e8320f80984f37"/>
    <p:sldLayoutId xmlns:r="http://schemas.openxmlformats.org/officeDocument/2006/relationships" id="2147483654" r:id="R8f05b0677e29445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6" r:id="R146b170f91b249a0"/>
    <p:sldLayoutId xmlns:r="http://schemas.openxmlformats.org/officeDocument/2006/relationships" id="2147483657" r:id="Rfba1da73032048f4"/>
    <p:sldLayoutId xmlns:r="http://schemas.openxmlformats.org/officeDocument/2006/relationships" id="2147483658" r:id="R96ae21e52a0d4740"/>
    <p:sldLayoutId xmlns:r="http://schemas.openxmlformats.org/officeDocument/2006/relationships" id="2147483659" r:id="Rd04a8f4a86654b27"/>
    <p:sldLayoutId xmlns:r="http://schemas.openxmlformats.org/officeDocument/2006/relationships" id="2147483660" r:id="Rbe57c8d1f3cc467e"/>
    <p:sldLayoutId xmlns:r="http://schemas.openxmlformats.org/officeDocument/2006/relationships" id="2147483661" r:id="R65e3fb8c9d784fb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dc269c15ae54503" /><Relationship Type="http://schemas.openxmlformats.org/officeDocument/2006/relationships/notesSlide" Target="/ppt/notesSlides/notesSlide1.xml" Id="Re9b8739285f540d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3fc34ae01c446df" /><Relationship Type="http://schemas.openxmlformats.org/officeDocument/2006/relationships/notesSlide" Target="/ppt/notesSlides/notesSlide2.xml" Id="Rc5d286d69b98415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283a3052f87f4364" /><Relationship Type="http://schemas.openxmlformats.org/officeDocument/2006/relationships/notesSlide" Target="/ppt/notesSlides/notesSlide3.xml" Id="R8236aaaa7cf7481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c1f2cb583d0f4e4e" /><Relationship Type="http://schemas.openxmlformats.org/officeDocument/2006/relationships/notesSlide" Target="/ppt/notesSlides/notesSlide4.xml" Id="R42be9c7acb83450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3822cb973f1411a" /><Relationship Type="http://schemas.openxmlformats.org/officeDocument/2006/relationships/notesSlide" Target="/ppt/notesSlides/notesSlide5.xml" Id="R08ba73f2153e483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93da0b2ae7804f3f" /><Relationship Type="http://schemas.openxmlformats.org/officeDocument/2006/relationships/notesSlide" Target="/ppt/notesSlides/notesSlide6.xml" Id="Rf2fa27ef5e204ec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6f8f5ef402c45b3" /><Relationship Type="http://schemas.openxmlformats.org/officeDocument/2006/relationships/notesSlide" Target="/ppt/notesSlides/notesSlide7.xml" Id="R611138bbc923437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c3f145108a248df" /><Relationship Type="http://schemas.openxmlformats.org/officeDocument/2006/relationships/notesSlide" Target="/ppt/notesSlides/notesSlide8.xml" Id="R497dba0f8eff4ac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c74b3c556914eb1" /><Relationship Type="http://schemas.openxmlformats.org/officeDocument/2006/relationships/notesSlide" Target="/ppt/notesSlides/notesSlide9.xml" Id="R44af243bda8c43c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4e13c2f4fb1c43d1" /><Relationship Type="http://schemas.openxmlformats.org/officeDocument/2006/relationships/notesSlide" Target="/ppt/notesSlides/notesSlide10.xml" Id="R963bf17c17c241a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47a9d6423384259" /><Relationship Type="http://schemas.openxmlformats.org/officeDocument/2006/relationships/notesSlide" Target="/ppt/notesSlides/notesSlide11.xml" Id="R14f70bdfd901447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7046714fd3b04501" /><Relationship Type="http://schemas.openxmlformats.org/officeDocument/2006/relationships/notesSlide" Target="/ppt/notesSlides/notesSlide12.xml" Id="R955050263da34e6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38e963948b94881" /><Relationship Type="http://schemas.openxmlformats.org/officeDocument/2006/relationships/notesSlide" Target="/ppt/notesSlides/notesSlide13.xml" Id="Ra5cbbc9a53fd48b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1dd717487b641fb" /><Relationship Type="http://schemas.openxmlformats.org/officeDocument/2006/relationships/notesSlide" Target="/ppt/notesSlides/notesSlide14.xml" Id="Rb4329fec054d434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00f420b4d0064b57" /><Relationship Type="http://schemas.openxmlformats.org/officeDocument/2006/relationships/notesSlide" Target="/ppt/notesSlides/notesSlide15.xml" Id="R3e192a608f834b8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064ca972b8324fcd" /><Relationship Type="http://schemas.openxmlformats.org/officeDocument/2006/relationships/notesSlide" Target="/ppt/notesSlides/notesSlide16.xml" Id="R59999b4fb865404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489251d2a6640e2" /><Relationship Type="http://schemas.openxmlformats.org/officeDocument/2006/relationships/notesSlide" Target="/ppt/notesSlides/notesSlide17.xml" Id="R5e05ef3b24d54c3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8f650416fd54f67" /><Relationship Type="http://schemas.openxmlformats.org/officeDocument/2006/relationships/notesSlide" Target="/ppt/notesSlides/notesSlide18.xml" Id="R4593d0c642a0464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de132f2bc9c43ed" /><Relationship Type="http://schemas.openxmlformats.org/officeDocument/2006/relationships/notesSlide" Target="/ppt/notesSlides/notesSlide19.xml" Id="R98174410cc564c89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03fd76a12c904e9d" /><Relationship Type="http://schemas.openxmlformats.org/officeDocument/2006/relationships/notesSlide" Target="/ppt/notesSlides/notesSlide20.xml" Id="R884eaaa3e666471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567D63-AA53-481F-9FDA-2C8A26BF5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第13回　集成材とCLT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3B2018-9F81-4A5B-AC03-97BCB95E1B08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8128EC-9979-4162-806A-D76F44665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第13回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74288D-AAFD-44CE-9F35-4C37264F6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481C4F-28BE-4BA4-80AF-929AF581C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8204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6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6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6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6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6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6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6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6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6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6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6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木質材料2：集成材・CLT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BEF589-C43F-4CD7-877E-81E3AA0F6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57575"/>
            <a:ext cx="1082040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ひき板の平行積層と直交積層を区別し、構成・方向・品質管理と利用上の特徴を説明する。</a:t>
            </a:r>
          </a:p>
        </p:txBody>
      </p:sp>
    </p:spTree>
    <p:extLst>
      <p:ext uri="{BB962C8B-B14F-4D97-AF65-F5344CB8AC3E}">
        <p14:creationId xmlns:p14="http://schemas.microsoft.com/office/powerpoint/2010/main" val="127576513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66D96D-6227-4D10-A254-2D19D438C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今回の前提を確かめる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3BD74A-72F8-49A7-AA36-A7CDC0383926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CBB7E9-F6A8-4C79-A27D-BDAE0BCA6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第13回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91E350-D044-47D3-9C09-9BF67C163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D61181-A6EB-4DA4-A247-70EBB3BDB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第12回で、単板・小片・繊維の木質材料を比較した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6511E9-5278-474F-9826-1C5FC7B2E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第11回の接着を、ひき板の積層と品質へつなぐ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E3DD5C-C6FA-4C2A-A704-04194D954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要素と配向を、合板・LVLと区別する</a:t>
            </a:r>
          </a:p>
        </p:txBody>
      </p:sp>
    </p:spTree>
    <p:extLst>
      <p:ext uri="{BB962C8B-B14F-4D97-AF65-F5344CB8AC3E}">
        <p14:creationId xmlns:p14="http://schemas.microsoft.com/office/powerpoint/2010/main" val="120779940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4E0C0E-2F40-4424-BD9A-4BB7AB957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今回考える三つの関係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9DE736-6051-407B-AF2E-0AFC992D4FB6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41A439-DDC4-404D-A3E2-7AC9EB2F0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第13回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010FDA-978B-4C32-BB2D-1334DF1DB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2F366B-AD05-44EA-8F6D-C1DAF0BBF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71625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ラミナと呼ぶひき板を、主な繊維方向をそろえて接着積層する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DBE07E-9FF3-44A2-9C2C-0F5643D4F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43175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板材を並べた層を、主に直交させて積層接着する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162DA7-F8ED-4825-9A8F-9E8FDD0B5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14725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製品の等級、ラミナの構成、接着、含水状態を確認する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3E34C8-B6A4-48E0-BD5E-03FEE56B1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86275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演習では、式・単位・観察の根拠を残して説明する</a:t>
            </a:r>
          </a:p>
        </p:txBody>
      </p:sp>
    </p:spTree>
    <p:extLst>
      <p:ext uri="{BB962C8B-B14F-4D97-AF65-F5344CB8AC3E}">
        <p14:creationId xmlns:p14="http://schemas.microsoft.com/office/powerpoint/2010/main" val="187477718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40E3C4-2AF2-42F4-A1CE-E57114DFE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集成材とラミナの配置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AAB0A4-56FB-432B-BA8B-95795F0ED44B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83D076-8396-42A7-AB03-CB86B6E7F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第13回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A0FB08-417E-423D-8D2F-B7810CF78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AF955A-0633-4CE9-ABDA-0ED0BC525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716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ラミナと呼ぶひき板を、主な繊維方向をそろえて接着積層する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23BD20-71FE-46D1-AB17-6B38FC96A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乾燥・選別・接合・圧締を管理し、断面や長さを構成する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70E109-191A-426F-B26F-610D7C144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337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ラミナの等級や配置を調整して、部材の性能を設計する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B992AB-5EF3-41B7-B364-C469A3D48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1477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曲げでは表層の役割が大きく、層の位置が性能に影響する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985EC2-91F7-4692-8548-2A442C732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958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節を分散できても、節や接着部の影響が自動的に消えるわけではない</a:t>
            </a:r>
          </a:p>
        </p:txBody>
      </p:sp>
    </p:spTree>
    <p:extLst>
      <p:ext uri="{BB962C8B-B14F-4D97-AF65-F5344CB8AC3E}">
        <p14:creationId xmlns:p14="http://schemas.microsoft.com/office/powerpoint/2010/main" val="142563943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9DC1425-7C2F-4220-99B3-6BEEF4F08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集成材の平行積層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91A3A6-F0B6-488E-9C57-2649EDFD6FDC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7F584D-D587-4B16-BEEC-C003F5EE2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第13回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614028-975A-46C1-8591-F41E99844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46B55B-3A9E-4E2D-ADE7-DBE65E418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2095500"/>
            <a:ext cx="509587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E4"/>
          </a:solidFill>
          <a:ln xmlns:a="http://schemas.openxmlformats.org/drawingml/2006/main" w="14288">
            <a:solidFill>
              <a:srgbClr val="C8D3DD"/>
            </a:solidFill>
          </a:ln>
        </p:spPr>
      </p:sp>
      <p:cxnSp>
        <p:nvCxn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3C87BC-55FC-41E1-A2EC-28FB01F17FCB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190625" y="2171700"/>
            <a:ext cx="4714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B55D09"/>
            </a:solidFill>
          </a:ln>
        </p:spPr>
      </p:cxnSp>
      <p:cxnSp>
        <p:nvCxn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7F7F89-4547-4167-AE0D-1C3E26184C6B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190625" y="2257425"/>
            <a:ext cx="4714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B55D09"/>
            </a:solidFill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FDF06C-9C1C-42BA-8107-210B27D69D2C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190625" y="2343150"/>
            <a:ext cx="4714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B55D09"/>
            </a:solidFill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25BCDA-AEAC-4F1A-9CBA-898FECD33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2600325"/>
            <a:ext cx="509587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E4"/>
          </a:solidFill>
          <a:ln xmlns:a="http://schemas.openxmlformats.org/drawingml/2006/main" w="14288">
            <a:solidFill>
              <a:srgbClr val="C8D3DD"/>
            </a:solidFill>
          </a:ln>
        </p:spPr>
      </p: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563978-25FA-465A-82F6-DA3D680A4830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190625" y="2676525"/>
            <a:ext cx="4714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B55D09"/>
            </a:solidFill>
          </a:ln>
        </p:spPr>
      </p:cxn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A4E78E-54FC-4BB2-A0EF-673516B0A2EE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190625" y="2762250"/>
            <a:ext cx="4714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B55D09"/>
            </a:solidFill>
          </a:ln>
        </p:spPr>
      </p:cxn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4534F0-9140-43B5-8945-02A1F9F9B949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190625" y="2847975"/>
            <a:ext cx="4714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B55D09"/>
            </a:solidFill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317150-27CE-4E00-8D96-E76FBD568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3105150"/>
            <a:ext cx="509587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E4"/>
          </a:solidFill>
          <a:ln xmlns:a="http://schemas.openxmlformats.org/drawingml/2006/main" w="14288">
            <a:solidFill>
              <a:srgbClr val="C8D3DD"/>
            </a:solidFill>
          </a:ln>
        </p:spPr>
      </p: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EB2A0D-3BBB-47E3-92FA-A9EB88337BDC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190625" y="3181350"/>
            <a:ext cx="4714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B55D09"/>
            </a:solidFill>
          </a:ln>
        </p:spPr>
      </p:cxnSp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B841FD-5EB8-4F6F-ABFA-E655F9B80187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190625" y="3267075"/>
            <a:ext cx="4714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B55D09"/>
            </a:solidFill>
          </a:ln>
        </p:spPr>
      </p:cxn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67B0B8-A848-486F-B51C-7034DC5CE2E0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190625" y="3352800"/>
            <a:ext cx="4714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B55D09"/>
            </a:solidFill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68F339-9351-43A5-A5AD-8B91B7E84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3609975"/>
            <a:ext cx="509587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E4"/>
          </a:solidFill>
          <a:ln xmlns:a="http://schemas.openxmlformats.org/drawingml/2006/main" w="14288">
            <a:solidFill>
              <a:srgbClr val="C8D3DD"/>
            </a:solidFill>
          </a:ln>
        </p:spPr>
      </p:sp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6B3645-D5C3-40F1-ADA8-40741ABB07CA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190625" y="3686175"/>
            <a:ext cx="4714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B55D09"/>
            </a:solidFill>
          </a:ln>
        </p:spPr>
      </p:cxnSp>
      <p:cxnSp>
        <p:nvCxn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52341D-B05F-4D03-A90C-101ADCDB329D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190625" y="3771900"/>
            <a:ext cx="4714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B55D09"/>
            </a:solidFill>
          </a:ln>
        </p:spPr>
      </p:cxnSp>
      <p:cxnSp>
        <p:nvCxn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CDC6BC-62D4-4BA8-A709-4DA88FE69B49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190625" y="3857625"/>
            <a:ext cx="4714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B55D09"/>
            </a:solidFill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17C805-D790-4119-BCEC-A51F8C905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4114800"/>
            <a:ext cx="509587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E4"/>
          </a:solidFill>
          <a:ln xmlns:a="http://schemas.openxmlformats.org/drawingml/2006/main" w="14288">
            <a:solidFill>
              <a:srgbClr val="C8D3DD"/>
            </a:solidFill>
          </a:ln>
        </p:spPr>
      </p:sp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8246F8-3534-4C37-9593-ED08B895E1C6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190625" y="4191000"/>
            <a:ext cx="4714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B55D09"/>
            </a:solidFill>
          </a:ln>
        </p:spPr>
      </p:cxnSp>
      <p:cxnSp>
        <p:nvCxn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264910-9BC4-4469-BE8D-3A4135472AB9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190625" y="4276725"/>
            <a:ext cx="4714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B55D09"/>
            </a:solidFill>
          </a:ln>
        </p:spPr>
      </p:cxnSp>
      <p:cxnSp>
        <p:nvCxn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60BED50-E7FE-4CF0-A062-8B830A2649C8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190625" y="4362450"/>
            <a:ext cx="4714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B55D09"/>
            </a:solidFill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AA08877-FBEB-4DF4-8BD4-0F9959500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752975"/>
            <a:ext cx="5095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ctr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ctr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ctr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ctr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ctr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ctr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ctr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ctr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ctr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集成材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6B706CF-7520-4628-AB46-8E9B9E941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1933575"/>
            <a:ext cx="43148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要素：ひき板等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B881DE4-EF26-4482-9375-8FA31FBCB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809875"/>
            <a:ext cx="43148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主な配向を色分け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58B2CC8-0809-4DC1-98C5-96E827F0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686175"/>
            <a:ext cx="43148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荷重方向と層構成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FE14BC0-FA4E-4D12-906E-4E9ABA4EB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562475"/>
            <a:ext cx="43148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厚さだけで性能は決まらない</a:t>
            </a:r>
          </a:p>
        </p:txBody>
      </p:sp>
    </p:spTree>
    <p:extLst>
      <p:ext uri="{BB962C8B-B14F-4D97-AF65-F5344CB8AC3E}">
        <p14:creationId xmlns:p14="http://schemas.microsoft.com/office/powerpoint/2010/main" val="66664658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BB1E7F-E445-4822-A856-94C8C221C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CLTの層構成と荷重方向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BB15AB-9E22-4C63-92A9-1F638B4E0603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D9CF0F-24C3-4FC6-8D9C-5891D7B95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第13回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34F120-C717-4BC3-A152-D5339905E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394785-CB13-471C-A2E4-2C56D507A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716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板材を並べた層を、主に直交させて積層接着する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EC738A-9F5D-4E1B-9A51-4C92122D7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合板と似た交差積層でも、原料は単板ではなく板材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0DFA53-91DE-494E-B77E-E1EFE703A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337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面内の力、面外の曲げ、主なスパン方向を区別する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662349-ED5F-4A59-844B-52432505D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1477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直交層のせん断変形なども、曲げやたわみに関係する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7F6C15-A048-4EF9-945A-C95718413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958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層数、層厚、配向、接着、接合を製品の条件として読む</a:t>
            </a:r>
          </a:p>
        </p:txBody>
      </p:sp>
    </p:spTree>
    <p:extLst>
      <p:ext uri="{BB962C8B-B14F-4D97-AF65-F5344CB8AC3E}">
        <p14:creationId xmlns:p14="http://schemas.microsoft.com/office/powerpoint/2010/main" val="47660782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194013-667E-495D-8060-6EBB0E3B9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比較するデータと条件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EF4AC6-72EE-452B-B53C-3FE55CFCADC8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95C958-D5F3-4FAA-87A7-094DA45F6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第13回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E10BE2-201C-43A4-A682-F45BFABF9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6646F8-5086-479B-B250-E867D22144B5}"/>
              </a:ext>
            </a:extLst>
          </p:cNvPr>
          <p:cNvGraphicFramePr/>
          <p:nvPr/>
        </p:nvGraphicFramePr>
        <p:xfrm>
          <a:off xmlns:a="http://schemas.openxmlformats.org/drawingml/2006/main" x="685800" y="1733550"/>
          <a:ext xmlns:a="http://schemas.openxmlformats.org/drawingml/2006/main" cx="108204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606800"/>
                <a:gridCol w="3606800"/>
                <a:gridCol w="3606800"/>
              </a:tblGrid>
              <a:tr h="695325">
                <a:tc>
                  <a:txBody>
                    <a:bodyPr lIns="95250" tIns="95250" rIns="95250" bIns="95250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材料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T w="9525">
                      <a:solidFill>
                        <a:srgbClr val="C8D3DD"/>
                      </a:solidFill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18364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要素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T w="9525">
                      <a:solidFill>
                        <a:srgbClr val="C8D3DD"/>
                      </a:solidFill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18364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主な積層の考え方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T w="9525">
                      <a:solidFill>
                        <a:srgbClr val="C8D3DD"/>
                      </a:solidFill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18364F"/>
                    </a:solidFill>
                  </a:tcPr>
                </a:tc>
              </a:tr>
              <a:tr h="695325">
                <a:tc>
                  <a:txBody>
                    <a:bodyPr lIns="95250" tIns="95250" rIns="95250" bIns="95250"/>
                    <a:lstStyle/>
                    <a:p>
                      <a:r>
                        <a:rPr sz="1800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合板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00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単板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00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交差積層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</a:tr>
              <a:tr h="695325">
                <a:tc>
                  <a:txBody>
                    <a:bodyPr lIns="95250" tIns="95250" rIns="95250" bIns="95250"/>
                    <a:lstStyle/>
                    <a:p>
                      <a:r>
                        <a:rPr sz="1800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LVL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00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単板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00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ほぼ平行積層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 lIns="95250" tIns="95250" rIns="95250" bIns="95250"/>
                    <a:lstStyle/>
                    <a:p>
                      <a:r>
                        <a:rPr sz="1800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集成材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00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ひき板等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00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ほぼ平行積層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</a:tr>
              <a:tr h="695325">
                <a:tc>
                  <a:txBody>
                    <a:bodyPr lIns="95250" tIns="95250" rIns="95250" bIns="95250"/>
                    <a:lstStyle/>
                    <a:p>
                      <a:r>
                        <a:rPr sz="1800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CLT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00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ひき板の層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00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主に直交積層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8284011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FBB8C4-2DCB-482A-AC5F-E2ACD0D01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演習1　平行積層と直交積層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E09220-9DEE-4662-90E3-D3E5602E8CBB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816017-A5E9-493E-8A5E-F0AEDC123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第13回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965AE5-78DE-4225-BE2C-8D498A9CF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0544CE-AE7D-4877-A273-E1A3C3453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97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厚さ30 mmの層を5層、同じ厚さに積層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A52061-FD8F-4724-919F-6FD5C905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860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A：主な繊維方向を平行にする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7F5298-CB56-47AE-B23D-8A6AE7A2E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623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B：0°/90°/0°/90°/0°にする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6FB79A-0304-45A3-8D56-181AF8519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386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全厚と材料の分類、性能比較に必要な条件を答える</a:t>
            </a:r>
          </a:p>
        </p:txBody>
      </p:sp>
    </p:spTree>
    <p:extLst>
      <p:ext uri="{BB962C8B-B14F-4D97-AF65-F5344CB8AC3E}">
        <p14:creationId xmlns:p14="http://schemas.microsoft.com/office/powerpoint/2010/main" val="110210354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246EFD-29E3-4241-A8B6-C0006363E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演習1の解説　平行積層と直交積層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CE67FB-26D6-405C-BC50-55B0A7A31667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054BBE-B10C-4BD7-8DA5-12CFE25BB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第13回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BE8DF3-83ED-4D6F-8AFD-9B54B81F4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77FFDB-7FA9-4DEA-9043-72A0FBAB7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97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全厚は150 mm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C391AA-0121-4051-BFE4-D3D2E31B9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860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Aは集成材、BはCLTの模式的な構成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03F173-D980-4DE3-BF4D-D91EDBA9E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623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同じ厚さでも、配向と荷重方向が違う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493F55-C6F1-49D3-839D-05AA17DB8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386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単純なEの平均で、CLTの曲げ性能を決めない</a:t>
            </a:r>
          </a:p>
        </p:txBody>
      </p:sp>
    </p:spTree>
    <p:extLst>
      <p:ext uri="{BB962C8B-B14F-4D97-AF65-F5344CB8AC3E}">
        <p14:creationId xmlns:p14="http://schemas.microsoft.com/office/powerpoint/2010/main" val="194179933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DE7BE9-1945-4E0E-9A79-F37820EFB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部材の性能と接合部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0837FB-D556-4D26-9486-065B4A289A07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CEB822-1D57-4CF5-BA9E-4CE735A7C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第13回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D5828F-9470-4659-A45A-467F3390B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D04DC8-0095-4E7A-A193-858399502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716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Eは材料の係数、EIは断面を含む曲げ剛性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D49E31-9B00-41FE-9EE9-FD3691090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積層材では各層の位置と方向が異なるため、Eの単純平均では扱えない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DA24C9-035C-4CBB-98B7-D60E27BFB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337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部材間の金物・ねじ・接着などが荷重を伝える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CC7B56-1F0C-4AA5-9B1B-3B65D8D79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1477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接合部のすべりや局部的な応力も、構造全体の変形・破壊に関わる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87F51A-047E-48C9-A1BC-E83FFF454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958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大断面の利用には、運搬・施工・水分管理も必要になる</a:t>
            </a:r>
          </a:p>
        </p:txBody>
      </p:sp>
    </p:spTree>
    <p:extLst>
      <p:ext uri="{BB962C8B-B14F-4D97-AF65-F5344CB8AC3E}">
        <p14:creationId xmlns:p14="http://schemas.microsoft.com/office/powerpoint/2010/main" val="30907461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BD7DB16-8B84-4017-A67C-5A6BF2CBE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CLTの直交積層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BAAF9A-61B1-429B-899D-5197072D2A92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7D284C-A4BA-4F74-A3FA-BD25F9B77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第13回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D44EE5-9CCC-4DAD-8401-D4C3AD51D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6E8FD4-4656-4D04-BAEB-7C2AEDF7E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2095500"/>
            <a:ext cx="509587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E4"/>
          </a:solidFill>
          <a:ln xmlns:a="http://schemas.openxmlformats.org/drawingml/2006/main" w="14288">
            <a:solidFill>
              <a:srgbClr val="C8D3DD"/>
            </a:solidFill>
          </a:ln>
        </p:spPr>
      </p:sp>
      <p:cxnSp>
        <p:nvCxn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C3F280-3293-4AFB-B05B-A92EDF176E10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190625" y="2171700"/>
            <a:ext cx="4714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B55D09"/>
            </a:solidFill>
          </a:ln>
        </p:spPr>
      </p:cxnSp>
      <p:cxnSp>
        <p:nvCxn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A6E638-1418-4E7E-B3F7-1832D278BE70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190625" y="2257425"/>
            <a:ext cx="4714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B55D09"/>
            </a:solidFill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2CB9E2-E217-470A-883D-7D004C1E3AE1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190625" y="2343150"/>
            <a:ext cx="4714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B55D09"/>
            </a:solidFill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A37DCA-B040-46AF-A6FB-6787AA2E1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2600325"/>
            <a:ext cx="509587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6"/>
          </a:solidFill>
          <a:ln xmlns:a="http://schemas.openxmlformats.org/drawingml/2006/main" w="14288">
            <a:solidFill>
              <a:srgbClr val="C8D3DD"/>
            </a:solidFill>
          </a:ln>
        </p:spPr>
      </p: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A5E154-F316-4CEC-9863-9D10D25F95B6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209675" y="2667000"/>
            <a:ext cx="0" cy="3429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C98"/>
            </a:solidFill>
          </a:ln>
        </p:spPr>
      </p:cxn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6FCA1B-F13A-4E22-ADCF-FD70F37E3ECB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602581" y="2667000"/>
            <a:ext cx="0" cy="3429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C98"/>
            </a:solidFill>
          </a:ln>
        </p:spPr>
      </p:cxn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8C86E2-F03F-472A-B123-3E4B36FED1B2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995488" y="2667000"/>
            <a:ext cx="0" cy="3429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C98"/>
            </a:solidFill>
          </a:ln>
        </p:spPr>
      </p:cxnSp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BEB7AB-8CB3-423B-8437-DB88EFD69B41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2388394" y="2667000"/>
            <a:ext cx="0" cy="3429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C98"/>
            </a:solidFill>
          </a:ln>
        </p:spPr>
      </p:cxn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69F6EA-6DB0-4EC7-87C2-FD6275B596F0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2781300" y="2667000"/>
            <a:ext cx="0" cy="3429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C98"/>
            </a:solidFill>
          </a:ln>
        </p:spPr>
      </p:cxnSp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1C0CDD-6A69-434E-8A68-586B511BC3CA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3174206" y="2667000"/>
            <a:ext cx="0" cy="3429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C98"/>
            </a:solidFill>
          </a:ln>
        </p:spPr>
      </p:cxn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E1892B-029E-44CD-BBA1-F1FE6FFF1F69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3567113" y="2667000"/>
            <a:ext cx="0" cy="3429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C98"/>
            </a:solidFill>
          </a:ln>
        </p:spPr>
      </p:cxnSp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A16291-3F8D-4701-BC6E-E6DA5E6F731B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3960019" y="2667000"/>
            <a:ext cx="0" cy="3429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C98"/>
            </a:solidFill>
          </a:ln>
        </p:spPr>
      </p:cxnSp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C2475F-5FBD-4ACB-AEA1-FD400291B374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4352925" y="2667000"/>
            <a:ext cx="0" cy="3429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C98"/>
            </a:solidFill>
          </a:ln>
        </p:spPr>
      </p:cxnSp>
      <p:cxnSp>
        <p:nvCxn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9B9810-350B-49B3-B809-8139092530FF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4745831" y="2667000"/>
            <a:ext cx="0" cy="3429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C98"/>
            </a:solidFill>
          </a:ln>
        </p:spPr>
      </p:cxnSp>
      <p:cxnSp>
        <p:nvCxn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8D15A2-F661-4C18-A77F-86C848826560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5138738" y="2667000"/>
            <a:ext cx="0" cy="3429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C98"/>
            </a:solidFill>
          </a:ln>
        </p:spPr>
      </p:cxnSp>
      <p:cxnSp>
        <p:nvCxn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299C8D-E2DD-4B16-AF37-E70A034AB12A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5531644" y="2667000"/>
            <a:ext cx="0" cy="3429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C98"/>
            </a:solidFill>
          </a:ln>
        </p:spPr>
      </p:cxn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2F2642E-4B98-42B1-9C79-A81289DD6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3105150"/>
            <a:ext cx="509587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E4"/>
          </a:solidFill>
          <a:ln xmlns:a="http://schemas.openxmlformats.org/drawingml/2006/main" w="14288">
            <a:solidFill>
              <a:srgbClr val="C8D3DD"/>
            </a:solidFill>
          </a:ln>
        </p:spPr>
      </p:sp>
      <p:cxnSp>
        <p:nvCxn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DBB25C5-B1BC-4A02-BF99-04958908A4E3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190625" y="3181350"/>
            <a:ext cx="4714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B55D09"/>
            </a:solidFill>
          </a:ln>
        </p:spPr>
      </p:cxnSp>
      <p:cxnSp>
        <p:nvCxn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D601FBC-2EDD-4AB6-B186-6965DE33E964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190625" y="3267075"/>
            <a:ext cx="4714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B55D09"/>
            </a:solidFill>
          </a:ln>
        </p:spPr>
      </p:cxnSp>
      <p:cxnSp>
        <p:nvCxn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1894F66-AAFE-4DFB-A9D4-E4BF64BFF035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190625" y="3352800"/>
            <a:ext cx="4714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B55D09"/>
            </a:solidFill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A5F383-F880-4C9F-BEC3-69109228C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3609975"/>
            <a:ext cx="509587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6"/>
          </a:solidFill>
          <a:ln xmlns:a="http://schemas.openxmlformats.org/drawingml/2006/main" w="14288">
            <a:solidFill>
              <a:srgbClr val="C8D3DD"/>
            </a:solidFill>
          </a:ln>
        </p:spPr>
      </p:sp>
      <p:cxnSp>
        <p:nvCxn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D234F7D-A71C-4CB6-8C5F-9D5002E5D19A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209675" y="3676650"/>
            <a:ext cx="0" cy="3429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C98"/>
            </a:solidFill>
          </a:ln>
        </p:spPr>
      </p:cxnSp>
      <p:cxnSp>
        <p:nvCxn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D611FDE-1BE1-4110-B693-05C9BA38DD94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602581" y="3676650"/>
            <a:ext cx="0" cy="3429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C98"/>
            </a:solidFill>
          </a:ln>
        </p:spPr>
      </p:cxnSp>
      <p:cxnSp>
        <p:nvCxn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CDD681C-53A8-47C7-BEFE-4D15B207DDA5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995488" y="3676650"/>
            <a:ext cx="0" cy="3429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C98"/>
            </a:solidFill>
          </a:ln>
        </p:spPr>
      </p:cxnSp>
      <p:cxnSp>
        <p:nvCxn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5822B30-9B5F-44A3-9E6F-9F6EDC81EA5D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2388394" y="3676650"/>
            <a:ext cx="0" cy="3429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C98"/>
            </a:solidFill>
          </a:ln>
        </p:spPr>
      </p:cxnSp>
      <p:cxnSp>
        <p:nvCxn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0948B57-0004-4ECA-B501-B0FC5BC7BAE9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2781300" y="3676650"/>
            <a:ext cx="0" cy="3429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C98"/>
            </a:solidFill>
          </a:ln>
        </p:spPr>
      </p:cxnSp>
      <p:cxnSp>
        <p:nvCxn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65BE4B3-AAAC-49A5-BA44-C4F4ADF8CACD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3174206" y="3676650"/>
            <a:ext cx="0" cy="3429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C98"/>
            </a:solidFill>
          </a:ln>
        </p:spPr>
      </p:cxnSp>
      <p:cxnSp>
        <p:nvCxn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6D7965-91AF-48D9-A6C0-14A518AF65F0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3567113" y="3676650"/>
            <a:ext cx="0" cy="3429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C98"/>
            </a:solidFill>
          </a:ln>
        </p:spPr>
      </p:cxnSp>
      <p:cxnSp>
        <p:nvCxn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A6024E7-2933-49D7-A13C-4072C9AC4A07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3960019" y="3676650"/>
            <a:ext cx="0" cy="3429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C98"/>
            </a:solidFill>
          </a:ln>
        </p:spPr>
      </p:cxnSp>
      <p:cxnSp>
        <p:nvCxn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A2FA63C-FDED-4101-80DB-73041A57F87D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4352925" y="3676650"/>
            <a:ext cx="0" cy="3429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C98"/>
            </a:solidFill>
          </a:ln>
        </p:spPr>
      </p:cxnSp>
      <p:cxnSp>
        <p:nvCxn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864479C-8FD4-4BDD-A506-9A18AE7C2A93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4745831" y="3676650"/>
            <a:ext cx="0" cy="3429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C98"/>
            </a:solidFill>
          </a:ln>
        </p:spPr>
      </p:cxnSp>
      <p:cxnSp>
        <p:nvCxn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C47AB46-8A22-4FA0-A16E-CC33DB52C150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5138738" y="3676650"/>
            <a:ext cx="0" cy="3429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C98"/>
            </a:solidFill>
          </a:ln>
        </p:spPr>
      </p:cxnSp>
      <p:cxnSp>
        <p:nvCxn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6FB93DC-ACE4-4B20-B78E-95D394B320E9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5531644" y="3676650"/>
            <a:ext cx="0" cy="3429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C98"/>
            </a:solidFill>
          </a:ln>
        </p:spPr>
      </p:cxn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585A5C1-0B8B-4545-8BC6-0680401F4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4114800"/>
            <a:ext cx="509587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E4"/>
          </a:solidFill>
          <a:ln xmlns:a="http://schemas.openxmlformats.org/drawingml/2006/main" w="14288">
            <a:solidFill>
              <a:srgbClr val="C8D3DD"/>
            </a:solidFill>
          </a:ln>
        </p:spPr>
      </p:sp>
      <p:cxnSp>
        <p:nvCxn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C2F92C2-EB97-454B-A0F8-B81AB879DC63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190625" y="4191000"/>
            <a:ext cx="4714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B55D09"/>
            </a:solidFill>
          </a:ln>
        </p:spPr>
      </p:cxnSp>
      <p:cxnSp>
        <p:nvCxn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8EDB99B-F473-4AF8-BB41-AC8ED7940DB7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190625" y="4276725"/>
            <a:ext cx="4714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B55D09"/>
            </a:solidFill>
          </a:ln>
        </p:spPr>
      </p:cxnSp>
      <p:cxnSp>
        <p:nvCxn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1E6D711-72C0-4759-A723-C80A5A3288AA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190625" y="4362450"/>
            <a:ext cx="471487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B55D09"/>
            </a:solidFill>
          </a:ln>
        </p:spPr>
      </p:cxn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9BA5CAC-16A1-4A2E-A98B-4320F53A0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752975"/>
            <a:ext cx="5095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ctr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ctr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ctr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ctr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ctr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ctr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ctr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ctr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ctr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CLT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21BA77D-8702-4C55-8412-E53597772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1933575"/>
            <a:ext cx="43148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要素：ひき板等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4DE5393-5C5D-4CC1-B763-2C2DBD571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809875"/>
            <a:ext cx="43148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主な配向を色分け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4E75756-5889-4487-B839-F64190874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686175"/>
            <a:ext cx="43148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荷重方向と層構成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DA857DD-4CF4-4F59-B269-BE700783B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562475"/>
            <a:ext cx="43148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厚さだけで性能は決まらない</a:t>
            </a:r>
          </a:p>
        </p:txBody>
      </p:sp>
    </p:spTree>
    <p:extLst>
      <p:ext uri="{BB962C8B-B14F-4D97-AF65-F5344CB8AC3E}">
        <p14:creationId xmlns:p14="http://schemas.microsoft.com/office/powerpoint/2010/main" val="109101375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67C200-AFCD-4A1E-9D3A-4A756A45D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品質情報と利用条件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E86477-D74A-4234-9A65-9CE07249E814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838A5B-F22F-4679-9B5A-606DBA59C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第13回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3D012B-AAF5-425D-95AB-B67EF5D33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B97D40-7922-46AC-9B29-52819F62E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716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製品の等級、ラミナの構成、接着、含水状態を確認する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F9C434-54B5-4022-BE90-394A851E8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実測平均値、製品の表示値、設計で用いる数値を区別する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7A8CF8-8AF3-409A-B680-52E710589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337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施工中や使用中の濡れ、木口や接合部の水分管理も考える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8630A9-448B-4D12-A781-1612C75AD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1477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点検・補修・交換を含めて、長く使える納まりを検討する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FAFE66-EDC7-45C8-B43A-A43AF221F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958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学校では、構成と荷重の関係を模型や断面写真で説明できることを目指す</a:t>
            </a:r>
          </a:p>
        </p:txBody>
      </p:sp>
    </p:spTree>
    <p:extLst>
      <p:ext uri="{BB962C8B-B14F-4D97-AF65-F5344CB8AC3E}">
        <p14:creationId xmlns:p14="http://schemas.microsoft.com/office/powerpoint/2010/main" val="192081202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86C4BE-6A9B-47C4-9A15-F98C1245F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構造用途の接着：初期強度と耐久性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563737-0CA7-4CB0-9DC8-8AF2991DA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811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64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81CA6C-05B8-4CD2-B65C-00D005393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334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第13回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76B264-131F-4250-949B-3B8086692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19850"/>
            <a:ext cx="742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DCF019-5DB1-41E8-9DEC-8455C1090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66875"/>
            <a:ext cx="1047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レゾルシノール系・EPI系等も、製品と条件を確認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BBB0A0-C5D5-472C-8027-92CBA057A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62225"/>
            <a:ext cx="1047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配合・含水状態・圧締・硬化を工場で管理する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7329D8-7484-477F-AD03-8119AC0D4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57575"/>
            <a:ext cx="1047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接着層の強さ、剥離、木部破壊、耐久性を評価する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4CCF58-1CB4-445B-A873-FA6BAD194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52925"/>
            <a:ext cx="1047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接着剤名だけで、構造部材の性能は決まらない</a:t>
            </a:r>
          </a:p>
        </p:txBody>
      </p:sp>
    </p:spTree>
    <p:extLst>
      <p:ext uri="{BB962C8B-B14F-4D97-AF65-F5344CB8AC3E}">
        <p14:creationId xmlns:p14="http://schemas.microsoft.com/office/powerpoint/2010/main" val="139565222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F9D30C-F6CA-4B35-AC6A-342BD43C3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演習2　梁と面材の使い分け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A16674-EEB5-4DAF-A025-4F83C45BAE20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544571-E9C4-45A8-9CE2-5748A3255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第13回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EA4BDB-E27B-4266-A30E-9E23EC6A4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9F1CA2-76DC-4DAE-8639-3645BEEB1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97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梁として使う場合／面材として使う場合を比較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915603-AF4C-496F-8B35-E47C6D407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860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主な荷重方向と、各層の繊維方向を図示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8CD3B1-AE9E-4E4A-A957-5154EDB54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623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支え方・接合部・水分の条件も書き加える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D42513-1299-477A-98F8-1837540DF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386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必要な製品データと、未知の条件を整理する</a:t>
            </a:r>
          </a:p>
        </p:txBody>
      </p:sp>
    </p:spTree>
    <p:extLst>
      <p:ext uri="{BB962C8B-B14F-4D97-AF65-F5344CB8AC3E}">
        <p14:creationId xmlns:p14="http://schemas.microsoft.com/office/powerpoint/2010/main" val="53548921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44DEE6-3B6E-43EB-A9D2-03085DF1C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演習2の解説　荷重を伝える層と接合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EF161C-7C0A-420F-B6B4-86349E7B4E55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27F916-5B1F-47AD-A9A5-1BD0CA330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第13回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5E5E6B-DADE-4DE2-A95A-94CFAC032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716B81-8C73-4C2C-BC79-FF6B76FFA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71625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梁ではスパンに沿った配向と、曲げの引張側・圧縮側を確認する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4D4E79-250F-40B6-999F-1D8ACCC96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43175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面材では面内・面外と、主な支持方向を指定する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974AC4-1A8F-48E0-B467-7A3EB6674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14725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直交層のせん断変形、接合部のすべり、水分による動きも考える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3D5D8C-4CAA-42F7-A718-E8AD11A45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86275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製品情報は、材料名だけでなく層構成と試験方向が対応する箇所を読む</a:t>
            </a:r>
          </a:p>
        </p:txBody>
      </p:sp>
    </p:spTree>
    <p:extLst>
      <p:ext uri="{BB962C8B-B14F-4D97-AF65-F5344CB8AC3E}">
        <p14:creationId xmlns:p14="http://schemas.microsoft.com/office/powerpoint/2010/main" val="17210568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AC9342-8163-40BA-9303-9F6911EA0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単板と板材の積層模型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F5D36B-6E97-431B-B221-620B1B44657F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C11440-0B31-4809-B66D-0716FC24A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第13回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591BF3-4BA6-458B-8FAC-4E60C0682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BE2ECA-D593-4F22-9F55-9FFFE1F9C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716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同じ形式の図で、合板・LVL・集成材・CLTを比較する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6B0769-059D-48D3-9992-1EF5DE40A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第一の軸は要素の大きさ、第二の軸は配向の違い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B0E4DC-60F8-445C-8067-654B2EFC8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337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模型に荷重方向と支える位置を書き込む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17B96F-1183-437C-AD02-82FD13054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1477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発問：同じ木材量でも、使う向きや層の配置で何が変わるか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3E6B31-D33E-4621-B77B-5D74FBEE2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958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教科書の接点：丈夫な部材・構造と材料利用／A(1)ア・イ</a:t>
            </a:r>
          </a:p>
        </p:txBody>
      </p:sp>
    </p:spTree>
    <p:extLst>
      <p:ext uri="{BB962C8B-B14F-4D97-AF65-F5344CB8AC3E}">
        <p14:creationId xmlns:p14="http://schemas.microsoft.com/office/powerpoint/2010/main" val="200419382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749EC9-96F3-4CF1-B1ED-1125501B4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確認問題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1A06EE-9696-41EC-83DB-28B9CB0EEE17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813965-150C-4331-96E8-B67EAC26D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第13回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ED4BFA-E7FB-4E59-AF42-7F5459A1C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38CEB0-6489-4172-94C7-1155A8379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① 合板とCLTの要素の違いは？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ACA2C0-0917-4688-92B8-CA0BE3535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② 集成材は、各層の繊維を交互に直交させるか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ABEDD-7C9D-4221-B9CA-D7B36422C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③ 全厚が同じなら、曲げ性能も同じか</a:t>
            </a:r>
          </a:p>
        </p:txBody>
      </p:sp>
    </p:spTree>
    <p:extLst>
      <p:ext uri="{BB962C8B-B14F-4D97-AF65-F5344CB8AC3E}">
        <p14:creationId xmlns:p14="http://schemas.microsoft.com/office/powerpoint/2010/main" val="179080755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664980-D8E9-40BC-A9BF-574FDC62C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要点の整理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BD7445-A15E-4705-92FF-570ECDF7D3AE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CF981C-A410-4B9E-9496-EDDAFB86A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第13回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7B02B5-99C1-4ADD-90A0-DE7EAA381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3A86D3-00E8-4EEC-BEDB-3F89DF311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要素と積層方向で、主要な製品を分類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980D92-FCB8-457E-9FEC-85213185A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製品情報と使用条件で、性能を判断する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793A87-6737-497F-9558-9E0122255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次は、加工・接合を含む材料選択へ</a:t>
            </a:r>
          </a:p>
        </p:txBody>
      </p:sp>
    </p:spTree>
    <p:extLst>
      <p:ext uri="{BB962C8B-B14F-4D97-AF65-F5344CB8AC3E}">
        <p14:creationId xmlns:p14="http://schemas.microsoft.com/office/powerpoint/2010/main" val="113740562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064570-2F83-4E3F-AE1D-8986ACD52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復習と次の学習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C2469A-89C7-47DF-9082-A5BF9EADDA36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CD3E7D-610A-4CDE-AA80-521E58257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第13回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102525-9BC4-46D1-A94C-8E5DD45FB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C6B7D4-63B8-40FB-86AF-62FE7FC6F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4製品の要素と配向を、同じ形式の図で比較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74EB86-4F63-4D11-8EF1-640D07FB7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荷重方向を指定し、どの製品情報が必要か説明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E62356-E6BD-402B-95C1-4735617FA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発展：層を増やす以外の性能調整方法を考える</a:t>
            </a:r>
          </a:p>
        </p:txBody>
      </p:sp>
    </p:spTree>
    <p:extLst>
      <p:ext uri="{BB962C8B-B14F-4D97-AF65-F5344CB8AC3E}">
        <p14:creationId xmlns:p14="http://schemas.microsoft.com/office/powerpoint/2010/main" val="101709725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AEDBA4-A747-4816-A047-1C2088B99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参考資料と読み進め方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A0AFA3-442B-43D7-A507-1C51B38FEBC7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F6588A-9A23-4BA8-96B4-23C62160E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90675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Wood Handbook 2021 第11章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753DE7-6807-4E56-885F-B3624FC96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https://research.fs.usda.gov/treesearch/62258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47264C-2851-485C-8D8C-A9D17F047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90800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Wood Handbook 2021 第12章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AA8BC5-FF43-408B-8E21-FDCF7DDBE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0375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https://research.fs.usda.gov/treesearch/62260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B01541-B8A6-44F7-BBE8-0DB7225DC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90925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学習指導要領解説 A 材料と加工の技術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8B4043-6B68-489C-B545-5CF126459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https://www.mext.go.jp/component/a_menu/education/micro_detail/__icsFiles/afieldfile/2019/03/18/1387018_009.pdf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E7B46F-F0F7-456B-A490-98BF397D9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91050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教育図書 R7内容解説 目次・掲載見本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9C0BF7-C8E0-4CC8-BEA3-77CD1A3C5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00625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https://www.kyoiku-tosho.co.jp/wp/wp-content/uploads/2024/04/G_R7kaisetu.pdf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52E0B9-1377-4123-A242-747C08808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講義で扱った図・式・用語に該当する節を参照し、出典箇所を記録する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F5AC20-B90C-40D3-8DF5-BBE34AB47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第13回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9646AB-2AA8-44C4-B9C9-244E3F5D4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75595536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2026-10-27T23:24:03.6570000Z</dcterms:created>
  <dcterms:modified xsi:type="dcterms:W3CDTF">2026-10-27T23:24:03.6570000Z</dcterms:modified>
</coreProperties>
</file>