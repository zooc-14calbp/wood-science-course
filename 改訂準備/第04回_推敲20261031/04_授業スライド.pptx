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162199b84946cd" /><Relationship Type="http://schemas.openxmlformats.org/officeDocument/2006/relationships/extended-properties" Target="/docProps/app.xml" Id="R76bdeda9332149cc" /><Relationship Type="http://schemas.openxmlformats.org/officeDocument/2006/relationships/officeDocument" Target="/ppt/presentation.xml" Id="R0ec0cd4472154547" /></Relationships>
</file>

<file path=ppt/presentation.xml><?xml version="1.0" encoding="utf-8"?>
<p:presentation xmlns:p="http://schemas.openxmlformats.org/presentationml/2006/main">
  <p:sldMasterIdLst>
    <p:sldMasterId xmlns:r="http://schemas.openxmlformats.org/officeDocument/2006/relationships" id="2147483648" r:id="R89a2c11ae88f4e36"/>
  </p:sldMasterIdLst>
  <p:notesMasterIdLst>
    <p:notesMasterId xmlns:r="http://schemas.openxmlformats.org/officeDocument/2006/relationships" r:id="R22070a6cf8454b6d"/>
  </p:notesMasterIdLst>
  <p:sldIdLst>
    <p:sldId xmlns:r="http://schemas.openxmlformats.org/officeDocument/2006/relationships" id="256" r:id="R687e980a65084b7d"/>
    <p:sldId xmlns:r="http://schemas.openxmlformats.org/officeDocument/2006/relationships" id="257" r:id="Rc2035d77721a480c"/>
    <p:sldId xmlns:r="http://schemas.openxmlformats.org/officeDocument/2006/relationships" id="258" r:id="R5e4f3a067a094d5e"/>
    <p:sldId xmlns:r="http://schemas.openxmlformats.org/officeDocument/2006/relationships" id="259" r:id="R980b99b167b742b3"/>
    <p:sldId xmlns:r="http://schemas.openxmlformats.org/officeDocument/2006/relationships" id="260" r:id="Re2f16980c01c45c2"/>
    <p:sldId xmlns:r="http://schemas.openxmlformats.org/officeDocument/2006/relationships" id="261" r:id="R5f247b49abfc4d94"/>
    <p:sldId xmlns:r="http://schemas.openxmlformats.org/officeDocument/2006/relationships" id="262" r:id="R38907f5021614818"/>
    <p:sldId xmlns:r="http://schemas.openxmlformats.org/officeDocument/2006/relationships" id="263" r:id="Rf8691f4df59842d3"/>
    <p:sldId xmlns:r="http://schemas.openxmlformats.org/officeDocument/2006/relationships" id="264" r:id="R6049dbe52d584c49"/>
    <p:sldId xmlns:r="http://schemas.openxmlformats.org/officeDocument/2006/relationships" id="265" r:id="Rd06733ed959e4be6"/>
    <p:sldId xmlns:r="http://schemas.openxmlformats.org/officeDocument/2006/relationships" id="266" r:id="Re30baef5e59f4839"/>
    <p:sldId xmlns:r="http://schemas.openxmlformats.org/officeDocument/2006/relationships" id="267" r:id="Ra12d38b441094f0f"/>
    <p:sldId xmlns:r="http://schemas.openxmlformats.org/officeDocument/2006/relationships" id="268" r:id="Rf71e7f87a81b440a"/>
    <p:sldId xmlns:r="http://schemas.openxmlformats.org/officeDocument/2006/relationships" id="269" r:id="Rb89b6561eb864291"/>
    <p:sldId xmlns:r="http://schemas.openxmlformats.org/officeDocument/2006/relationships" id="270" r:id="R9ae679e84ab346c1"/>
    <p:sldId xmlns:r="http://schemas.openxmlformats.org/officeDocument/2006/relationships" id="271" r:id="Rfcffbc394a2b474e"/>
    <p:sldId xmlns:r="http://schemas.openxmlformats.org/officeDocument/2006/relationships" id="272" r:id="R0c9d5471c523402b"/>
    <p:sldId xmlns:r="http://schemas.openxmlformats.org/officeDocument/2006/relationships" id="273" r:id="R05be8d9859704dd0"/>
    <p:sldId xmlns:r="http://schemas.openxmlformats.org/officeDocument/2006/relationships" id="274" r:id="R919b0a5819814a95"/>
    <p:sldId xmlns:r="http://schemas.openxmlformats.org/officeDocument/2006/relationships" id="275" r:id="Re3a9dd6ba87e434f"/>
    <p:sldId xmlns:r="http://schemas.openxmlformats.org/officeDocument/2006/relationships" id="276" r:id="R182206dfe4a04e5d"/>
    <p:sldId xmlns:r="http://schemas.openxmlformats.org/officeDocument/2006/relationships" id="277" r:id="Rbdd12b0414f04a1a"/>
    <p:sldId xmlns:r="http://schemas.openxmlformats.org/officeDocument/2006/relationships" id="278" r:id="R581507389df54de1"/>
    <p:sldId xmlns:r="http://schemas.openxmlformats.org/officeDocument/2006/relationships" id="279" r:id="R8f702b97a4824fdc"/>
    <p:sldId xmlns:r="http://schemas.openxmlformats.org/officeDocument/2006/relationships" id="280" r:id="Rdff6377c55d146f2"/>
    <p:sldId xmlns:r="http://schemas.openxmlformats.org/officeDocument/2006/relationships" id="281" r:id="Rae49736d9baf48d1"/>
    <p:sldId xmlns:r="http://schemas.openxmlformats.org/officeDocument/2006/relationships" id="282" r:id="R1719812fb10d4226"/>
    <p:sldId xmlns:r="http://schemas.openxmlformats.org/officeDocument/2006/relationships" id="283" r:id="R79a9d7101acc4bbc"/>
    <p:sldId xmlns:r="http://schemas.openxmlformats.org/officeDocument/2006/relationships" id="284" r:id="R5e04fc90d41b4cdf"/>
    <p:sldId xmlns:r="http://schemas.openxmlformats.org/officeDocument/2006/relationships" id="285" r:id="R70de9ab056b74a95"/>
    <p:sldId xmlns:r="http://schemas.openxmlformats.org/officeDocument/2006/relationships" id="286" r:id="Rd5f116c024a44024"/>
    <p:sldId xmlns:r="http://schemas.openxmlformats.org/officeDocument/2006/relationships" id="287" r:id="R47bc4e7f3b2f4283"/>
    <p:sldId xmlns:r="http://schemas.openxmlformats.org/officeDocument/2006/relationships" id="288" r:id="R1de418e12290402d"/>
    <p:sldId xmlns:r="http://schemas.openxmlformats.org/officeDocument/2006/relationships" id="289" r:id="R2b87d9db181e48cd"/>
    <p:sldId xmlns:r="http://schemas.openxmlformats.org/officeDocument/2006/relationships" id="290" r:id="R74247a3035d24a0b"/>
    <p:sldId xmlns:r="http://schemas.openxmlformats.org/officeDocument/2006/relationships" id="291" r:id="R70670f26c7c8400e"/>
    <p:sldId xmlns:r="http://schemas.openxmlformats.org/officeDocument/2006/relationships" id="292" r:id="R1742855124f1404c"/>
    <p:sldId xmlns:r="http://schemas.openxmlformats.org/officeDocument/2006/relationships" id="293" r:id="R58414299b6974c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4b686124744886" /><Relationship Type="http://schemas.openxmlformats.org/officeDocument/2006/relationships/slideMaster" Target="/ppt/slideMasters/slideMaster1.xml" Id="R89a2c11ae88f4e36" /><Relationship Type="http://schemas.openxmlformats.org/officeDocument/2006/relationships/notesMaster" Target="/ppt/notesMasters/notesMaster1.xml" Id="R22070a6cf8454b6d" /><Relationship Type="http://schemas.openxmlformats.org/officeDocument/2006/relationships/presProps" Target="/ppt/presProps.xml" Id="R582b2cd971fa4a33" /><Relationship Type="http://schemas.openxmlformats.org/officeDocument/2006/relationships/tableStyles" Target="/ppt/tableStyles.xml" Id="R87d56709eaea4f6c" /><Relationship Type="http://schemas.openxmlformats.org/officeDocument/2006/relationships/slide" Target="/ppt/slides/slide1.xml" Id="R687e980a65084b7d" /><Relationship Type="http://schemas.openxmlformats.org/officeDocument/2006/relationships/slide" Target="/ppt/slides/slide2.xml" Id="Rc2035d77721a480c" /><Relationship Type="http://schemas.openxmlformats.org/officeDocument/2006/relationships/slide" Target="/ppt/slides/slide3.xml" Id="R5e4f3a067a094d5e" /><Relationship Type="http://schemas.openxmlformats.org/officeDocument/2006/relationships/slide" Target="/ppt/slides/slide4.xml" Id="R980b99b167b742b3" /><Relationship Type="http://schemas.openxmlformats.org/officeDocument/2006/relationships/slide" Target="/ppt/slides/slide5.xml" Id="Re2f16980c01c45c2" /><Relationship Type="http://schemas.openxmlformats.org/officeDocument/2006/relationships/slide" Target="/ppt/slides/slide6.xml" Id="R5f247b49abfc4d94" /><Relationship Type="http://schemas.openxmlformats.org/officeDocument/2006/relationships/slide" Target="/ppt/slides/slide7.xml" Id="R38907f5021614818" /><Relationship Type="http://schemas.openxmlformats.org/officeDocument/2006/relationships/slide" Target="/ppt/slides/slide8.xml" Id="Rf8691f4df59842d3" /><Relationship Type="http://schemas.openxmlformats.org/officeDocument/2006/relationships/slide" Target="/ppt/slides/slide9.xml" Id="R6049dbe52d584c49" /><Relationship Type="http://schemas.openxmlformats.org/officeDocument/2006/relationships/slide" Target="/ppt/slides/slide10.xml" Id="Rd06733ed959e4be6" /><Relationship Type="http://schemas.openxmlformats.org/officeDocument/2006/relationships/slide" Target="/ppt/slides/slide11.xml" Id="Re30baef5e59f4839" /><Relationship Type="http://schemas.openxmlformats.org/officeDocument/2006/relationships/slide" Target="/ppt/slides/slide12.xml" Id="Ra12d38b441094f0f" /><Relationship Type="http://schemas.openxmlformats.org/officeDocument/2006/relationships/slide" Target="/ppt/slides/slide13.xml" Id="Rf71e7f87a81b440a" /><Relationship Type="http://schemas.openxmlformats.org/officeDocument/2006/relationships/slide" Target="/ppt/slides/slide14.xml" Id="Rb89b6561eb864291" /><Relationship Type="http://schemas.openxmlformats.org/officeDocument/2006/relationships/slide" Target="/ppt/slides/slide15.xml" Id="R9ae679e84ab346c1" /><Relationship Type="http://schemas.openxmlformats.org/officeDocument/2006/relationships/slide" Target="/ppt/slides/slide16.xml" Id="Rfcffbc394a2b474e" /><Relationship Type="http://schemas.openxmlformats.org/officeDocument/2006/relationships/slide" Target="/ppt/slides/slide17.xml" Id="R0c9d5471c523402b" /><Relationship Type="http://schemas.openxmlformats.org/officeDocument/2006/relationships/slide" Target="/ppt/slides/slide18.xml" Id="R05be8d9859704dd0" /><Relationship Type="http://schemas.openxmlformats.org/officeDocument/2006/relationships/slide" Target="/ppt/slides/slide19.xml" Id="R919b0a5819814a95" /><Relationship Type="http://schemas.openxmlformats.org/officeDocument/2006/relationships/slide" Target="/ppt/slides/slide20.xml" Id="Re3a9dd6ba87e434f" /><Relationship Type="http://schemas.openxmlformats.org/officeDocument/2006/relationships/slide" Target="/ppt/slides/slide21.xml" Id="R182206dfe4a04e5d" /><Relationship Type="http://schemas.openxmlformats.org/officeDocument/2006/relationships/slide" Target="/ppt/slides/slide22.xml" Id="Rbdd12b0414f04a1a" /><Relationship Type="http://schemas.openxmlformats.org/officeDocument/2006/relationships/slide" Target="/ppt/slides/slide23.xml" Id="R581507389df54de1" /><Relationship Type="http://schemas.openxmlformats.org/officeDocument/2006/relationships/slide" Target="/ppt/slides/slide24.xml" Id="R8f702b97a4824fdc" /><Relationship Type="http://schemas.openxmlformats.org/officeDocument/2006/relationships/slide" Target="/ppt/slides/slide25.xml" Id="Rdff6377c55d146f2" /><Relationship Type="http://schemas.openxmlformats.org/officeDocument/2006/relationships/slide" Target="/ppt/slides/slide26.xml" Id="Rae49736d9baf48d1" /><Relationship Type="http://schemas.openxmlformats.org/officeDocument/2006/relationships/slide" Target="/ppt/slides/slide27.xml" Id="R1719812fb10d4226" /><Relationship Type="http://schemas.openxmlformats.org/officeDocument/2006/relationships/slide" Target="/ppt/slides/slide28.xml" Id="R79a9d7101acc4bbc" /><Relationship Type="http://schemas.openxmlformats.org/officeDocument/2006/relationships/slide" Target="/ppt/slides/slide29.xml" Id="R5e04fc90d41b4cdf" /><Relationship Type="http://schemas.openxmlformats.org/officeDocument/2006/relationships/slide" Target="/ppt/slides/slide30.xml" Id="R70de9ab056b74a95" /><Relationship Type="http://schemas.openxmlformats.org/officeDocument/2006/relationships/slide" Target="/ppt/slides/slide31.xml" Id="Rd5f116c024a44024" /><Relationship Type="http://schemas.openxmlformats.org/officeDocument/2006/relationships/slide" Target="/ppt/slides/slide32.xml" Id="R47bc4e7f3b2f4283" /><Relationship Type="http://schemas.openxmlformats.org/officeDocument/2006/relationships/slide" Target="/ppt/slides/slide33.xml" Id="R1de418e12290402d" /><Relationship Type="http://schemas.openxmlformats.org/officeDocument/2006/relationships/slide" Target="/ppt/slides/slide34.xml" Id="R2b87d9db181e48cd" /><Relationship Type="http://schemas.openxmlformats.org/officeDocument/2006/relationships/slide" Target="/ppt/slides/slide35.xml" Id="R74247a3035d24a0b" /><Relationship Type="http://schemas.openxmlformats.org/officeDocument/2006/relationships/slide" Target="/ppt/slides/slide36.xml" Id="R70670f26c7c8400e" /><Relationship Type="http://schemas.openxmlformats.org/officeDocument/2006/relationships/slide" Target="/ppt/slides/slide37.xml" Id="R1742855124f1404c" /><Relationship Type="http://schemas.openxmlformats.org/officeDocument/2006/relationships/slide" Target="/ppt/slides/slide38.xml" Id="R58414299b6974c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1345e418ea49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83939b982d4885" /><Relationship Type="http://schemas.openxmlformats.org/officeDocument/2006/relationships/notesMaster" Target="/ppt/notesMasters/notesMaster1.xml" Id="R6f826b60016b45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e3e96d29a54f74" /><Relationship Type="http://schemas.openxmlformats.org/officeDocument/2006/relationships/notesMaster" Target="/ppt/notesMasters/notesMaster1.xml" Id="Rbc6971650db040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c34c159fb942ac" /><Relationship Type="http://schemas.openxmlformats.org/officeDocument/2006/relationships/notesMaster" Target="/ppt/notesMasters/notesMaster1.xml" Id="R86e2b6a8523a44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7b6daa56224104" /><Relationship Type="http://schemas.openxmlformats.org/officeDocument/2006/relationships/notesMaster" Target="/ppt/notesMasters/notesMaster1.xml" Id="R3da8a350d5ce48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db3c68c80142c0" /><Relationship Type="http://schemas.openxmlformats.org/officeDocument/2006/relationships/notesMaster" Target="/ppt/notesMasters/notesMaster1.xml" Id="R28c194630dbd48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a4bf8719344167" /><Relationship Type="http://schemas.openxmlformats.org/officeDocument/2006/relationships/notesMaster" Target="/ppt/notesMasters/notesMaster1.xml" Id="Rf04d9166fd7c4f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0a834b615546dc" /><Relationship Type="http://schemas.openxmlformats.org/officeDocument/2006/relationships/notesMaster" Target="/ppt/notesMasters/notesMaster1.xml" Id="R5daf11bd744349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734477289f4af9" /><Relationship Type="http://schemas.openxmlformats.org/officeDocument/2006/relationships/notesMaster" Target="/ppt/notesMasters/notesMaster1.xml" Id="Reaeea3b2d79049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27a9cff9ad45f9" /><Relationship Type="http://schemas.openxmlformats.org/officeDocument/2006/relationships/notesMaster" Target="/ppt/notesMasters/notesMaster1.xml" Id="R55436c87e77a4f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e028243b6c490e" /><Relationship Type="http://schemas.openxmlformats.org/officeDocument/2006/relationships/notesMaster" Target="/ppt/notesMasters/notesMaster1.xml" Id="Ra7a13ca63bb449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50d7076b2c482b" /><Relationship Type="http://schemas.openxmlformats.org/officeDocument/2006/relationships/notesMaster" Target="/ppt/notesMasters/notesMaster1.xml" Id="Rd738d9da879f48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09ca5b8e5f4cc7" /><Relationship Type="http://schemas.openxmlformats.org/officeDocument/2006/relationships/notesMaster" Target="/ppt/notesMasters/notesMaster1.xml" Id="R164afc97fe484a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8542acf90b459a" /><Relationship Type="http://schemas.openxmlformats.org/officeDocument/2006/relationships/notesMaster" Target="/ppt/notesMasters/notesMaster1.xml" Id="R45abe639b66640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f647b6f7c54298" /><Relationship Type="http://schemas.openxmlformats.org/officeDocument/2006/relationships/notesMaster" Target="/ppt/notesMasters/notesMaster1.xml" Id="Rade79d22863f48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91d410b0061412c" /><Relationship Type="http://schemas.openxmlformats.org/officeDocument/2006/relationships/notesMaster" Target="/ppt/notesMasters/notesMaster1.xml" Id="Ra3590fe730f144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809353829743a2" /><Relationship Type="http://schemas.openxmlformats.org/officeDocument/2006/relationships/notesMaster" Target="/ppt/notesMasters/notesMaster1.xml" Id="R4c39c3eee77245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79dfb8b4f645f7" /><Relationship Type="http://schemas.openxmlformats.org/officeDocument/2006/relationships/notesMaster" Target="/ppt/notesMasters/notesMaster1.xml" Id="Rf22eb616572a4d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30df96ed154be5" /><Relationship Type="http://schemas.openxmlformats.org/officeDocument/2006/relationships/notesMaster" Target="/ppt/notesMasters/notesMaster1.xml" Id="R492006d877fc43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a1858dc2904720" /><Relationship Type="http://schemas.openxmlformats.org/officeDocument/2006/relationships/notesMaster" Target="/ppt/notesMasters/notesMaster1.xml" Id="R5b59facff43847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58dedf8ae340ce" /><Relationship Type="http://schemas.openxmlformats.org/officeDocument/2006/relationships/notesMaster" Target="/ppt/notesMasters/notesMaster1.xml" Id="R384aed3a9f1b48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96659f718f3498e" /><Relationship Type="http://schemas.openxmlformats.org/officeDocument/2006/relationships/notesMaster" Target="/ppt/notesMasters/notesMaster1.xml" Id="R8d1673a7cbea4a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734c2886d13422f" /><Relationship Type="http://schemas.openxmlformats.org/officeDocument/2006/relationships/notesMaster" Target="/ppt/notesMasters/notesMaster1.xml" Id="Rbf10f1112b5c4c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75e4d90b93f4d6e" /><Relationship Type="http://schemas.openxmlformats.org/officeDocument/2006/relationships/notesMaster" Target="/ppt/notesMasters/notesMaster1.xml" Id="R344748b0e56242b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8ec8f9a80d4c84" /><Relationship Type="http://schemas.openxmlformats.org/officeDocument/2006/relationships/notesMaster" Target="/ppt/notesMasters/notesMaster1.xml" Id="Re0c6c9b3811e4dd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f3a32ca87514ff8" /><Relationship Type="http://schemas.openxmlformats.org/officeDocument/2006/relationships/notesMaster" Target="/ppt/notesMasters/notesMaster1.xml" Id="R58798bd9e6d14e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561983a501542f5" /><Relationship Type="http://schemas.openxmlformats.org/officeDocument/2006/relationships/notesMaster" Target="/ppt/notesMasters/notesMaster1.xml" Id="R310a12ca5bb246e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15f07c19584f51" /><Relationship Type="http://schemas.openxmlformats.org/officeDocument/2006/relationships/notesMaster" Target="/ppt/notesMasters/notesMaster1.xml" Id="Rc756160c8339487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d21d3b984794bcf" /><Relationship Type="http://schemas.openxmlformats.org/officeDocument/2006/relationships/notesMaster" Target="/ppt/notesMasters/notesMaster1.xml" Id="R388bdf6235d84c4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c460beecff84276" /><Relationship Type="http://schemas.openxmlformats.org/officeDocument/2006/relationships/notesMaster" Target="/ppt/notesMasters/notesMaster1.xml" Id="R44c960e8c4e944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35a29ebb8d1402c" /><Relationship Type="http://schemas.openxmlformats.org/officeDocument/2006/relationships/notesMaster" Target="/ppt/notesMasters/notesMaster1.xml" Id="R16aa07e96d41436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69b3471c5954313" /><Relationship Type="http://schemas.openxmlformats.org/officeDocument/2006/relationships/notesMaster" Target="/ppt/notesMasters/notesMaster1.xml" Id="R7e099ef25adb4e9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7cfc9f546bb46f2" /><Relationship Type="http://schemas.openxmlformats.org/officeDocument/2006/relationships/notesMaster" Target="/ppt/notesMasters/notesMaster1.xml" Id="R1326f4990f67480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4d8e28b14f34d5b" /><Relationship Type="http://schemas.openxmlformats.org/officeDocument/2006/relationships/notesMaster" Target="/ppt/notesMasters/notesMaster1.xml" Id="Rc7cf78aa540b45b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533451295bf4584" /><Relationship Type="http://schemas.openxmlformats.org/officeDocument/2006/relationships/notesMaster" Target="/ppt/notesMasters/notesMaster1.xml" Id="R7f8f5f45e83f450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88fb0e11e9c4c31" /><Relationship Type="http://schemas.openxmlformats.org/officeDocument/2006/relationships/notesMaster" Target="/ppt/notesMasters/notesMaster1.xml" Id="R18848f6b6e8246c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6c9b3f2a34b4740" /><Relationship Type="http://schemas.openxmlformats.org/officeDocument/2006/relationships/notesMaster" Target="/ppt/notesMasters/notesMaster1.xml" Id="R54bf82e74748490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29263e883eb4d9a" /><Relationship Type="http://schemas.openxmlformats.org/officeDocument/2006/relationships/notesMaster" Target="/ppt/notesMasters/notesMaster1.xml" Id="R53b5b446dce64c8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697d45e30ee47e8" /><Relationship Type="http://schemas.openxmlformats.org/officeDocument/2006/relationships/notesMaster" Target="/ppt/notesMasters/notesMaster1.xml" Id="R0ac6003d93e545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皆さん、こんにちは。木材及び木質材料学の第4回を始めます。今回は、主要構成成分です。前回学んだ細胞壁の図へ、セルロース、ヘミセルロース、リグニンを対応させます。さらに、水素結合、親水性と疎水性という見方を加え、木材と水の関係を考えます。動画は、問いと三回の短い休憩を含む九十分です。図を描くノートと配布資料を用意し、必要なときは一時停止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a:t>
            </a:r>
          </a:p>
          <a:p xmlns:a="http://schemas.openxmlformats.org/drawingml/2006/main">
            <a:r>
              <a:t/>
            </a:r>
          </a:p>
          <a:p xmlns:a="http://schemas.openxmlformats.org/drawingml/2006/main">
            <a:r>
              <a:t>今回の中心は、細胞壁をつくる成分が、どのように組み合わさって働くかです。木材の化学という題名でも、複雑な反応式を順番に覚える授業にはしません。成分の形の特徴と、配向や水との関係を、図で説明することを目指します。</a:t>
            </a:r>
          </a:p>
          <a:p xmlns:a="http://schemas.openxmlformats.org/drawingml/2006/main">
            <a:r>
              <a:t>最初に前回の層構造を復習し、層の名前と成分の名前を分けます。次に、主要な三成分と、水分子との関わりを考えます。ここで、水素結合、親水性、疎水性を導入します。言葉だけで覚えず、図のどことどこが関わるかを確かめてください。</a:t>
            </a:r>
          </a:p>
          <a:p xmlns:a="http://schemas.openxmlformats.org/drawingml/2006/main">
            <a:r>
              <a:t>中盤には、成分の質量割合を計算する演習があります。全乾質量を基準にする理由を、湿った木材の質量との違いから確認します。後半は、吸湿や膨潤、表面で水をはじくことと内部の吸湿との違いへ進みます。木材の物理を詳しく学ぶ回へ向けた準備です。</a:t>
            </a:r>
          </a:p>
          <a:p xmlns:a="http://schemas.openxmlformats.org/drawingml/2006/main">
            <a:r>
              <a:t>最後には、比喩を使った説明を見直し、課題エーワンの取り組み方を案内します。動画中の演習は自己確認用です。既存の提出課題とは区別してください。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身近な木製品に戻ると、材料を選ぶ際には、どのくらい変形するか、湿度が変わったときに寸法がどう変わるか、表面の処理をどうするか、といった問いが生じます。今回の成分の知識は、その理由を考えるための背景になります。成分名を聞いただけで製品の性能を一つに決めるのではなく、構造、水分、使う方向や環境と合わせて考えます。反応式を省く場合にも、何がどこにあり、何と相互作用するかは、図に残して説明しましょう。</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元の第4回スライド：2</a:t>
            </a:r>
          </a:p>
          <a:p xmlns:a="http://schemas.openxmlformats.org/drawingml/2006/main">
            <a:r>
              <a:t/>
            </a:r>
          </a:p>
          <a:p xmlns:a="http://schemas.openxmlformats.org/drawingml/2006/main">
            <a:r>
              <a:t>前回の二つの細胞の図を、そのまま使います。左右の白い領域は、別々の細胞の内腔です。その間には、それぞれの細胞の二次壁、一次壁と、中央の細胞間層があります。中央のアイ、またはエムエルが、細胞間層を指します。</a:t>
            </a:r>
          </a:p>
          <a:p xmlns:a="http://schemas.openxmlformats.org/drawingml/2006/main">
            <a:r>
              <a:t>一つの内腔から外へたどると、エススリー、エスツー、エスワン、一次壁、細胞間層の順でした。隣の内腔へ向かうと、隣の一次壁、エスワン、エスツー、エススリーを通ります。典型的にはエスツーが二次壁の厚さの大きな部分を占めます。</a:t>
            </a:r>
          </a:p>
          <a:p xmlns:a="http://schemas.openxmlformats.org/drawingml/2006/main">
            <a:r>
              <a:t>前回は、壁の中のミクロフィブリルがどの向きへ配向するかを学びました。傾角の基準は、細胞の長手方向でした。今回は、その細長い集合が何からできていて、周囲にどのような成分が組み合わさっているかを加えます。</a:t>
            </a:r>
          </a:p>
          <a:p xmlns:a="http://schemas.openxmlformats.org/drawingml/2006/main">
            <a:r>
              <a:t>まず、エスツーを指し、そこが層の名称であることを確認してください。今日出てくるセルロースなどの成分名を、その一層だけの名前として当てはめないことが大切です。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元の第4回スライド：11</a:t>
            </a:r>
          </a:p>
          <a:p xmlns:a="http://schemas.openxmlformats.org/drawingml/2006/main">
            <a:r>
              <a:t/>
            </a:r>
          </a:p>
          <a:p xmlns:a="http://schemas.openxmlformats.org/drawingml/2006/main">
            <a:r>
              <a:t>立体図へ戻り、層構造と成分の違いを整理します。この図は、ウッドハンドブックの細胞壁の切り開き図です。ピー、エスワン、エスツー、エススリーという区分は、壁のどの領域を指すかを示しています。</a:t>
            </a:r>
          </a:p>
          <a:p xmlns:a="http://schemas.openxmlformats.org/drawingml/2006/main">
            <a:r>
              <a:t>これに対して、セルロース、ヘミセルロース、リグニンは、壁を構成する物質の名前です。エスワンはセルロース、エスツーはヘミセルロース、エススリーはリグニン、と割り当てることはできません。それぞれの層に、複数の成分が組み合わさっています。層によって割合や配向などが異なります。</a:t>
            </a:r>
          </a:p>
          <a:p xmlns:a="http://schemas.openxmlformats.org/drawingml/2006/main">
            <a:r>
              <a:t>立体図の層に見える細い線は、ミクロフィブリルの配向の読み取りへつながります。一方、この白黒の図は、三成分を色で分けた図ではありません。後で示す成分の概念図では、セルロースの集合と、その周囲の成分を別の色で対応させます。</a:t>
            </a:r>
          </a:p>
          <a:p xmlns:a="http://schemas.openxmlformats.org/drawingml/2006/main">
            <a:r>
              <a:t>層の図では、どの場所かを問い、成分の図では、何で構成されているかを問うと考えてください。同じエスツーについて、厚さ、配向、構成成分という違う情報を加えていけます。前回と同じ図を使いながら、読む視点を増や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元の第4回スライド：4</a:t>
            </a:r>
          </a:p>
          <a:p xmlns:a="http://schemas.openxmlformats.org/drawingml/2006/main">
            <a:r>
              <a:t/>
            </a:r>
          </a:p>
          <a:p xmlns:a="http://schemas.openxmlformats.org/drawingml/2006/main">
            <a:r>
              <a:t>主要な三成分の名前と形の特徴を確認します。セルロースは、グルコースという糖が長くつながった多糖です。ここでは、長い分子の鎖が集合し、細長いミクロフィブリルをつくることへ注目します。</a:t>
            </a:r>
          </a:p>
          <a:p xmlns:a="http://schemas.openxmlformats.org/drawingml/2006/main">
            <a:r>
              <a:t>ヘミセルロースは、一つの物質の固有名だけを指すわけではありません。複数の種類の糖を含む、さまざまな多糖の総称として使います。セルロースと比べて短く、分岐をもつものなどがあり、壁の中でセルロースや他の成分と関わります。ヘミという名前から、セルロースが半分に切れたもの、と考えないでください。</a:t>
            </a:r>
          </a:p>
          <a:p xmlns:a="http://schemas.openxmlformats.org/drawingml/2006/main">
            <a:r>
              <a:t>リグニンは、芳香族の構造を含む、複雑な高分子です。芳香族という化学の名称を、においがするからという日常語の意味だけで理解しないようにします。今日は、糖が単純に直線へつながったセルロースとは、構造の特徴が違うことを押さえます。</a:t>
            </a:r>
          </a:p>
          <a:p xmlns:a="http://schemas.openxmlformats.org/drawingml/2006/main">
            <a:r>
              <a:t>この三成分に加え、抽出成分や無機成分もあります。全ての木材に同じ固定した割合で入るとは限りません。種類、構造の特徴、役割を一組で読み、量については測定基準を伴う資料で確かめます。</a:t>
            </a:r>
          </a:p>
          <a:p xmlns:a="http://schemas.openxmlformats.org/drawingml/2006/main">
            <a:r>
              <a:t/>
            </a:r>
          </a:p>
          <a:p xmlns:a="http://schemas.openxmlformats.org/drawingml/2006/main">
            <a:r>
              <a:t/>
            </a:r>
          </a:p>
          <a:p xmlns:a="http://schemas.openxmlformats.org/drawingml/2006/main">
            <a:r>
              <a:t/>
            </a:r>
          </a:p>
          <a:p xmlns:a="http://schemas.openxmlformats.org/drawingml/2006/main">
            <a:r>
              <a:t>高分子という語は、多くの小さな単位がつながった、大きな分子を考える際に使います。図で一本の線として描いても、それは肉眼で見える一本の木の繊維ではありません。木材、細胞、壁、分子の尺度を分けます。今日の範囲では、グルコースの環の全ての原子を描けることや、結合の番号を覚えることを到達点にしません。長い鎖の集合、分岐を含む周囲の多糖、リグニンを含む複合体という、図の対応を確かめてください。</a:t>
            </a:r>
          </a:p>
          <a:p xmlns:a="http://schemas.openxmlformats.org/drawingml/2006/main">
            <a:r>
              <a:t>成分の名前を、役割の言葉へ置き換える練習をします。セルロースなら、長い鎖が集まった細長い構造と配向、ヘミセルロースなら、周囲で組み合わさる多糖と水との関係、リグニンなら、細胞間の結合や壁の複合体の性質、というように説明できます。ただし、これはそれぞれに一つしか仕事がないという分類ではありません。表は、主な特徴を理解する入口です。材料の値を調べる際には、成分がどの状態にあり、他とどう組み合わさるかを確認します。「木材にはセルロースがある」という事実に、どこで、どの形で、どの性質へ関わるかを加えると、材料の説明へ進め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元の第4回スライド：5</a:t>
            </a:r>
          </a:p>
          <a:p xmlns:a="http://schemas.openxmlformats.org/drawingml/2006/main">
            <a:r>
              <a:t/>
            </a:r>
          </a:p>
          <a:p xmlns:a="http://schemas.openxmlformats.org/drawingml/2006/main">
            <a:r>
              <a:t>主要成分の概念図を、早めに提示しておきます。青い平行な線の束が、セルロースの集合を表します。緑の分岐した線は、ヘミセルロースの概念です。周囲の薄い色の領域には、リグニンなどを含む成分が組み合わさっていると考えます。</a:t>
            </a:r>
          </a:p>
          <a:p xmlns:a="http://schemas.openxmlformats.org/drawingml/2006/main">
            <a:r>
              <a:t>図は、各成分の実際の分子配置や量を正確に再現したものではありません。線の本数を数えて質量割合を求めたり、青い部分だけが一つの層だと読んだりする使い方はしません。細長い集合と、その周囲の成分が組み合わさるという関係を示しています。</a:t>
            </a:r>
          </a:p>
          <a:p xmlns:a="http://schemas.openxmlformats.org/drawingml/2006/main">
            <a:r>
              <a:t>セルロースだけを取り出した説明では、壁全体の性質を表し切れません。周囲の成分との相互作用、配向、壁の層構造が一緒に関わります。後で水を考える際にも、青い線だけ、緑の線だけに水が関わるという二分法にはしません。</a:t>
            </a:r>
          </a:p>
          <a:p xmlns:a="http://schemas.openxmlformats.org/drawingml/2006/main">
            <a:r>
              <a:t>いまは、図の青、緑、背景のそれぞれに、対応する成分名を一つずつ言ってみてください。それから、前回のエスワン、エスツー、エススリーの色分けとは、違う種類の区別であることを確認します。</a:t>
            </a:r>
          </a:p>
          <a:p xmlns:a="http://schemas.openxmlformats.org/drawingml/2006/main">
            <a:r>
              <a:t/>
            </a:r>
          </a:p>
          <a:p xmlns:a="http://schemas.openxmlformats.org/drawingml/2006/main">
            <a:r>
              <a:t>青はセルロースの集合、緑はヘミセルロースの概念、周囲の領域はリグニンなどを含む組合せです。層ごとに一成分だけが入るという図ではありません。</a:t>
            </a:r>
          </a:p>
          <a:p xmlns:a="http://schemas.openxmlformats.org/drawingml/2006/main">
            <a:r>
              <a:t/>
            </a:r>
          </a:p>
          <a:p xmlns:a="http://schemas.openxmlformats.org/drawingml/2006/main">
            <a:r>
              <a:t>同じ概念図を、三つの問いで使い直せます。力を考えるときは、細長い集合の向きと、周囲の成分との組合せへ注目します。水を考えるときは、水が近付き、相互作用できる場所を考えます。組成の計算では、図の見た目から量を推測せず、別に与えた全乾質量の値を使います。一枚の図を再利用するときも、何を読むために示したのかを明確にすると、図の単純化を実物の固定した比率と取り違えにくくなります。</a:t>
            </a:r>
          </a:p>
          <a:p xmlns:a="http://schemas.openxmlformats.org/drawingml/2006/main">
            <a:r>
              <a:t>この模式図のどこに水を描けるかを、後で考えてみましょう。青い束の中へ、全て同じ密度で水を並べる図にしてしまうと、規則性の高い集合の内部へ水が入りにくいという特徴が失われます。逆に、緑の線のそばにしか水を描かないと、セルロースの表面やリグニンにも水と関わる部分があることを表せません。図は目的に応じて簡単にしますが、何を省いたかを言葉で補います。今日繰り返し使う成分図も、一つの分子の正確な配置を示す図として扱わず、細長い集合と周囲の関係を思い出すために使い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元の第4回スライド：6</a:t>
            </a:r>
          </a:p>
          <a:p xmlns:a="http://schemas.openxmlformats.org/drawingml/2006/main">
            <a:r>
              <a:t/>
            </a:r>
          </a:p>
          <a:p xmlns:a="http://schemas.openxmlformats.org/drawingml/2006/main">
            <a:r>
              <a:t>セルロースを、分子の鎖と、その集合に分けます。小さな糖の単位がつながって、長い鎖をつくります。その鎖が複数集まり、細長い構造になります。前回のミクロフィブリルは、この集合に対応します。</a:t>
            </a:r>
          </a:p>
          <a:p xmlns:a="http://schemas.openxmlformats.org/drawingml/2006/main">
            <a:r>
              <a:t>長い鎖が一本だけ孤立して働くというより、鎖同士の相互作用を含む集合として考えます。水素結合は、この後に水との関係から説明しますが、セルロースの鎖同士の間にも関わる相互作用です。一本の共有結合と、鎖同士の間の相互作用を、同じ種類の線として混ぜないことが大切です。</a:t>
            </a:r>
          </a:p>
          <a:p xmlns:a="http://schemas.openxmlformats.org/drawingml/2006/main">
            <a:r>
              <a:t>セルロースは、木材の細胞壁で、引張りへの抵抗に大きく関わります。ただし、実際の木材の引張強度が、セルロースの量だけで数値として決まるわけではありません。配向、他の成分、欠点、水分などが関係します。</a:t>
            </a:r>
          </a:p>
          <a:p xmlns:a="http://schemas.openxmlformats.org/drawingml/2006/main">
            <a:r>
              <a:t>この図では、鎖が集まる関係だけを表しています。単位の形や本数、実際の断面寸法を、そのまま読み取らないでください。名称を覚えるときも、セルロースという物質と、ミクロフィブリルという集合の構造を、区別して説明できるようにします。</a:t>
            </a:r>
          </a:p>
          <a:p xmlns:a="http://schemas.openxmlformats.org/drawingml/2006/main">
            <a:r>
              <a:t/>
            </a:r>
          </a:p>
          <a:p xmlns:a="http://schemas.openxmlformats.org/drawingml/2006/main">
            <a:r>
              <a:t/>
            </a:r>
          </a:p>
          <a:p xmlns:a="http://schemas.openxmlformats.org/drawingml/2006/main">
            <a:r>
              <a:t/>
            </a:r>
          </a:p>
          <a:p xmlns:a="http://schemas.openxmlformats.org/drawingml/2006/main">
            <a:r>
              <a:t>紙の繊維を見て「セルロースがある」と説明する場合も、見えている一本が、そのまま一本のセルロース分子だという意味ではありません。観察の尺度を確認する必要があります。木材から成分を取り出す加工と、細胞の壁の中で各成分が組み合わさる状態も、同じではありません。取り出した物質の性質を、そのまま壁全体へ当てはめる際には、元の配向や周囲との組合せがどう変わったかを考えます。今日の図は、その出発点になる関係を示しています。</a:t>
            </a:r>
          </a:p>
          <a:p xmlns:a="http://schemas.openxmlformats.org/drawingml/2006/main">
            <a:r>
              <a:t>分子の鎖同士の関係を考えるときには、一方向だけに強い結び付きがあるという説明で済ませないことも大切です。集合をつくる分子内の共有結合と、分子同士の間の水素結合を含む相互作用は、同じものではありません。今日の図の実線と点線は、その区別を助けます。細胞壁全体では、鎖の集合の向きと、周囲の成分の組合せが、力を加えた方向への応答へ関わります。個々の相互作用の値を全て覚えなくても、分子の鎖、鎖の集合、壁全体という尺度を分ければ、どの話をしているかを追え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セルロースの構造式と、立体モデルを並べます。左のいす形の構造式は、糖の環が平らな六角形ではないことを表しています。記号を省略した角や線の端には、炭素があるという描き方です。オーエイチとエイチオーは、同じ酸素と水素の部分を、結合する向きに合わせて書いています。</a:t>
            </a:r>
          </a:p>
          <a:p xmlns:a="http://schemas.openxmlformats.org/drawingml/2006/main">
            <a:r>
              <a:t>グルコース単位が、ベータ一、四結合でつながります。一と四は、隣り合う単位で結び付く炭素の番号です。右の図は、セルロース・アイ・ベータの結晶構造データから作られた部分の立体モデルです。灰色が炭素、赤が酸素、白が水素です。木材の写真ではなく、原子の位置とつながりを見える形にした図です。</a:t>
            </a:r>
          </a:p>
          <a:p xmlns:a="http://schemas.openxmlformats.org/drawingml/2006/main">
            <a:r>
              <a:t>構造式は結合の読み取り、立体モデルは空間的な配置の理解に使います。図で赤い酸素を見つけることと、その全てが水へ同じように開かれていると考えることは別です。まず、鎖が三次元の形をもち、オーエイチ基を含むことを確かめます。詳しい記号の読み方と、デンプンとの違いは、補助テキストで復習でき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https://en.wikipedia.org/wiki/Cellulose</a:t>
            </a:r>
          </a:p>
          <a:p xmlns:a="http://schemas.openxmlformats.org/drawingml/2006/main">
            <a:r>
              <a:t>https://commons.wikimedia.org/wiki/File:Cellulose-Ibeta-from-xtal-2002-3D-balls.png</a:t>
            </a:r>
          </a:p>
          <a:p xmlns:a="http://schemas.openxmlformats.org/drawingml/2006/main">
            <a:r>
              <a:t>https://commons.wikimedia.org/wiki/File:Cellulose_Struktur_in_Sesselform.svg</a:t>
            </a:r>
          </a:p>
          <a:p xmlns:a="http://schemas.openxmlformats.org/drawingml/2006/main">
            <a:r>
              <a:t>https://doi.org/10.1021/ja0257319</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成分の図を、力の向きへつなぎます。ミクロフィブリルが細胞軸に近い向きへ配向する場合、その細長い集合の向きは、長さ方向の変形に関わります。前回は、エスツー層の傾角が小さい材で、一般に繊維方向のヤング率が高い傾向を学びました。</a:t>
            </a:r>
          </a:p>
          <a:p xmlns:a="http://schemas.openxmlformats.org/drawingml/2006/main">
            <a:r>
              <a:t>ここで、量と向きを分けます。セルロースがどのくらいあるかは、成分の量の情報です。どちらへ配向しているかは、構造の向きの情報です。両方を同じ一つの数値で表しているわけではありません。同じ量があっても、配向や周囲との組合せが変われば、力への応答が同じとは限りません。</a:t>
            </a:r>
          </a:p>
          <a:p xmlns:a="http://schemas.openxmlformats.org/drawingml/2006/main">
            <a:r>
              <a:t>木材全体では、長い細胞が主に繊維方向へ並びます。さらに、その壁の中にも配向があります。前回の二つの尺度を保ったまま、今回の成分を対応させてください。</a:t>
            </a:r>
          </a:p>
          <a:p xmlns:a="http://schemas.openxmlformats.org/drawingml/2006/main">
            <a:r>
              <a:t>また、変形しにくさを表すヤング率と、壊れるときの強度は別の量です。今回の成分の図から、どの方向の全ての強度も一律に高くなると結論せず、比較した性質と方向を指定します。</a:t>
            </a:r>
          </a:p>
          <a:p xmlns:a="http://schemas.openxmlformats.org/drawingml/2006/main">
            <a:r>
              <a:t/>
            </a:r>
          </a:p>
          <a:p xmlns:a="http://schemas.openxmlformats.org/drawingml/2006/main">
            <a:r>
              <a:t/>
            </a:r>
          </a:p>
          <a:p xmlns:a="http://schemas.openxmlformats.org/drawingml/2006/main">
            <a:r>
              <a:t/>
            </a:r>
          </a:p>
          <a:p xmlns:a="http://schemas.openxmlformats.org/drawingml/2006/main">
            <a:r>
              <a:t>「繊維が多いから強い」という一文を見直すなら、まず繊維という語で何を指したかを確認します。細胞のことか、壁内部の集合のことかで尺度が違います。次に、強いという語を、同じ応力で変形が小さいのか、破壊するときの応力が大きいのかへ分けます。その上で、方向と水分などの条件を加えます。成分の名称を増やすだけでなく、説明の対象と比較する量を具体化すると、材質についての文章が正確にな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水との関係を考えるために、最小限の化学の記号を導入します。オーは酸素、エイチは水素を表します。細胞壁の成分の分子には、酸素と水素がつながった、オーエイチ基という部分があります。水酸基、またはヒドロキシ基と呼ぶ部分です。</a:t>
            </a:r>
          </a:p>
          <a:p xmlns:a="http://schemas.openxmlformats.org/drawingml/2006/main">
            <a:r>
              <a:t>一方、水分子は、酸素一つと水素二つからできているので、エイチツーオーと表します。図の壁の分子に付いたオーエイチ基と、一つの水分子を区別してください。壁の中にオーエイチ基があるということを、水が最初から一分子ずつ同じ形で閉じ込められているという説明にはしません。</a:t>
            </a:r>
          </a:p>
          <a:p xmlns:a="http://schemas.openxmlformats.org/drawingml/2006/main">
            <a:r>
              <a:t>酸素と水素の間では、電子の引き寄せ方に偏りがあります。そのため、水分子同士や、水と壁の分子との間に、向きを伴う相互作用が生じます。その重要な一つが、水素結合です。詳しい電子配置を全て学ぶより、まず、どの部分と水が関わるかを図で見ます。</a:t>
            </a:r>
          </a:p>
          <a:p xmlns:a="http://schemas.openxmlformats.org/drawingml/2006/main">
            <a:r>
              <a:t>セルロースにもヘミセルロースにも、オーエイチ基があります。リグニンにも、水と相互作用する部分があります。三成分を、水が関わる成分と、全く関わらない成分へ二つに切り分けないように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図で原子の記号の間に引いた実線は、分子の中の共有結合を表します。後で示す点線とは意味が異なります。記号のオーとエイチを見慣れなくても、実線でつながった壁の一部分と、外から近付く水分子の二つを見分ければ、次の説明へ進めます。化学の用語が突然増えるときは、どの図のどこを名付けているかを確認してください。オーエイチ基という文字だけを覚えず、水と関わる場所として図の中へ書き込んでおきましょう。</a:t>
            </a:r>
          </a:p>
          <a:p xmlns:a="http://schemas.openxmlformats.org/drawingml/2006/main">
            <a:r>
              <a:t>水分子の図では、水素二つが酸素に結び付いています。これは、実際の水分子を大きく拡大して見やすくした記号です。酸素が大きいから、その周りへ水素が自由に転がっているという意味ではありません。壁の分子に付いたオーエイチ基でも、酸素と水素は分子内のつながりとして描きます。水が近付くときは、この分子内のつながりを残したまま、別の分子との相互作用を加えます。水素が、酸素同士の間に一本の釘のように固定されているという模型でもありません。記号の実線が何を表し、点線をどこへ加えるかを順に確認してください。</a:t>
            </a:r>
          </a:p>
          <a:p xmlns:a="http://schemas.openxmlformats.org/drawingml/2006/main">
            <a:r>
              <a:t/>
            </a:r>
          </a:p>
          <a:p xmlns:a="http://schemas.openxmlformats.org/drawingml/2006/main">
            <a:r>
              <a:t>出典・参照</a:t>
            </a:r>
          </a:p>
          <a:p xmlns:a="http://schemas.openxmlformats.org/drawingml/2006/main">
            <a:r>
              <a:t>https://goldbook.iupac.org/terms/view/H02899</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図の点線に注目します。壁の分子の酸素に付いた水素と、近くの水分子の酸素との間に、相互作用の一例を示しました。これが水素結合です。実線で描いた、分子内の酸素と水素のつながりとは、区別して読みます。</a:t>
            </a:r>
          </a:p>
          <a:p xmlns:a="http://schemas.openxmlformats.org/drawingml/2006/main">
            <a:r>
              <a:t>水素結合は、水分子同士の間にも、壁の成分同士の間にも、水と壁の成分との間にも生じます。壁の中で水が関わる場所を考える際には、分子のどの部分に水が近付けるかが重要になります。</a:t>
            </a:r>
          </a:p>
          <a:p xmlns:a="http://schemas.openxmlformats.org/drawingml/2006/main">
            <a:r>
              <a:t>水が壁の中へ入ると、壁の成分と水との相互作用を含めた状態になります。壁の分子同士の関係や、分子の動きやすさも変わり、膨潤や変形のしやすさへ関わります。水が入ったら、全ての分子鎖が切れてなくなる、という説明ではありません。</a:t>
            </a:r>
          </a:p>
          <a:p xmlns:a="http://schemas.openxmlformats.org/drawingml/2006/main">
            <a:r>
              <a:t>ここでは、点線を、水素結合を示すための記号として使います。実際の結合距離や角度を正確に再現した図ではありません。まず、壁のどの部分と、水のどの部分の間へ点線を付けたかを指して説明してください。</a:t>
            </a:r>
          </a:p>
          <a:p xmlns:a="http://schemas.openxmlformats.org/drawingml/2006/main">
            <a:r>
              <a:t/>
            </a:r>
          </a:p>
          <a:p xmlns:a="http://schemas.openxmlformats.org/drawingml/2006/main">
            <a:r>
              <a:t>壁のオーエイチ基に付く水素と、水分子の酸素との間へ点線を付けています。水素結合の一例です。点線の両端を、二つの水素同士につないでいないかも確認してください。</a:t>
            </a:r>
          </a:p>
          <a:p xmlns:a="http://schemas.openxmlformats.org/drawingml/2006/main">
            <a:r>
              <a:t/>
            </a:r>
          </a:p>
          <a:p xmlns:a="http://schemas.openxmlformats.org/drawingml/2006/main">
            <a:r>
              <a:t>「結合」という同じ語が使われるので、分子内の共有結合と混同しやすい点です。細胞壁が吸湿するとき、説明の中心は、水と成分との相互作用や、壁の状態の変化です。セルロースの長い鎖が、水へ触れただけで次々に分解されるという話にはしません。一方、水素結合を一つの硬い金具のように固定して描くことにも注意します。図は、どの部分が関わり得るかを示すものです。水分が変わったときの性質を、分子間の関係まで戻して考える手掛かりとして使います。</a:t>
            </a:r>
          </a:p>
          <a:p xmlns:a="http://schemas.openxmlformats.org/drawingml/2006/main">
            <a:r>
              <a:t>水素結合の図を読む際には、点線の位置だけでなく、相手の分子が別に存在していることを確かめます。一つの水分子が壁の近くへ関わる場合でも、周囲にはさらに別の水分子があり、水同士も相互作用します。木材の吸湿を、一つのオーエイチ基に一つの水が永久に貼り付くという、単純な固定模型だけでは説明し切れません。水分や温度によって、壁内部の状態も変わります。今日は、定量的な吸湿量の式を導く段階ではなく、水と成分との相互作用があるという基礎を確かめます。点線一本の図から、最大で何グラム吸うかを計算したとは扱わないことも、模式図の限界です。</a:t>
            </a:r>
          </a:p>
          <a:p xmlns:a="http://schemas.openxmlformats.org/drawingml/2006/main">
            <a:r>
              <a:t/>
            </a:r>
          </a:p>
          <a:p xmlns:a="http://schemas.openxmlformats.org/drawingml/2006/main">
            <a:r>
              <a:t>出典・参照</a:t>
            </a:r>
          </a:p>
          <a:p xmlns:a="http://schemas.openxmlformats.org/drawingml/2006/main">
            <a:r>
              <a:t>https://goldbook.iupac.org/terms/view/H02899</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休憩</a:t>
            </a:r>
          </a:p>
          <a:p xmlns:a="http://schemas.openxmlformats.org/drawingml/2006/main">
            <a:r>
              <a:t/>
            </a:r>
          </a:p>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それでは、再開します。親水性と疎水性へ進みます。</a:t>
            </a:r>
          </a:p>
          <a:p xmlns:a="http://schemas.openxmlformats.org/drawingml/2006/main">
            <a:r>
              <a:t/>
            </a:r>
          </a:p>
          <a:p xmlns:a="http://schemas.openxmlformats.org/drawingml/2006/main">
            <a:r>
              <a:t>出典・参照</a:t>
            </a:r>
          </a:p>
          <a:p xmlns:a="http://schemas.openxmlformats.org/drawingml/2006/main">
            <a:r>
              <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水との関係を表す二つの言葉です。親水性は、水と相互作用し、なじみやすいという性質を考えるときに使います。疎水性は、水との親和性が比較的小さいという見方です。分子のどの部分を指したか、何と比べたかを添えて説明します。</a:t>
            </a:r>
          </a:p>
          <a:p xmlns:a="http://schemas.openxmlformats.org/drawingml/2006/main">
            <a:r>
              <a:t>オーエイチ基など、水素結合に関わる部分は、水との相互作用を考える手掛かりになります。一方、水となじみにくい部分も、同じ分子や材料の中に存在します。材料全体へ、親水性か疎水性かという一枚の札を貼れば全て分かる、というわけではありません。</a:t>
            </a:r>
          </a:p>
          <a:p xmlns:a="http://schemas.openxmlformats.org/drawingml/2006/main">
            <a:r>
              <a:t>セルロースやヘミセルロースは、水が関わるオーエイチ基をもちます。リグニンは、これらの多糖類に比べて水との親和性が小さい面がありますが、水と全く相互作用しない物質ではありません。リグニンにもオーエイチ基などがあります。</a:t>
            </a:r>
          </a:p>
          <a:p xmlns:a="http://schemas.openxmlformats.org/drawingml/2006/main">
            <a:r>
              <a:t>水滴を置いたときの表面のぬれ方と、湿った空気から内部へ水を取り込むことも、区別する必要があります。表面が水をはじいて見えることだけから、その材料全体が吸湿しないとは判断できません。後半で、この違いを図へ戻して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親水性という語を、必ず水に溶けるという意味へ置き換えないことが大切です。また、疎水性を、水が近付けない完全な防水の意味として使うこともできません。分子の相互作用、表面の状態、材料内部への経路は、それぞれ異なる情報です。木材を扱う教師には、この三つを分けて考える視点が必要です。例えば、表面処理で水滴の広がり方が変わっても、端や傷、処理のない面からの水や、時間をかけた水蒸気の移動まで、一つの観察で確定したことにはなりません。</a:t>
            </a:r>
          </a:p>
          <a:p xmlns:a="http://schemas.openxmlformats.org/drawingml/2006/main">
            <a:r>
              <a:t>水となじみやすい、という言葉を使う場合は、何を同じにして比較したかも考えます。分子の一部分の性質を説明する場合と、加工した板の表面を比較する場合では、対象が違います。表面に別の物質を塗った板では、水が最初に接する相手が変わります。しかし、板の内部にある木材の成分まで全て別の物質へ置き換わったとは限りません。この区別を保てば、表面処理と内部の吸湿性を、対立する二つの説明ではなく、異なる場所の情報として整理できます。材料の全体を、親水か疎水かという一語だけで使い分けるより、どの部分と水の関係を調べたかを記録しましょう。</a:t>
            </a:r>
          </a:p>
          <a:p xmlns:a="http://schemas.openxmlformats.org/drawingml/2006/main">
            <a:r>
              <a:t/>
            </a:r>
          </a:p>
          <a:p xmlns:a="http://schemas.openxmlformats.org/drawingml/2006/main">
            <a:r>
              <a:t>出典・参照</a:t>
            </a:r>
          </a:p>
          <a:p xmlns:a="http://schemas.openxmlformats.org/drawingml/2006/main">
            <a:r>
              <a:t>https://goldbook.iupac.org/terms/view/H02906</a:t>
            </a:r>
          </a:p>
          <a:p xmlns:a="http://schemas.openxmlformats.org/drawingml/2006/main">
            <a:r>
              <a:t>https://goldbook.iupac.org/terms/view/HT06964</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セルロースの例で、親水性と溶解を分けます。セルロースには、水と相互作用できるオーエイチ基があります。しかし、木材や紙のセルロースが、通常の水へ、砂糖のように簡単に溶けてしまうわけではありません。</a:t>
            </a:r>
          </a:p>
          <a:p xmlns:a="http://schemas.openxmlformats.org/drawingml/2006/main">
            <a:r>
              <a:t>その理由を考えるときには、分子の性質だけでなく、長い鎖が集まった構造を見ます。セルロースの集合には、規則性が高く、水が入り込みにくい領域があります。一方、集合の表面や、規則性の低い領域など、水が近付き、関わる場所もあります。</a:t>
            </a:r>
          </a:p>
          <a:p xmlns:a="http://schemas.openxmlformats.org/drawingml/2006/main">
            <a:r>
              <a:t>したがって、オーエイチ基の数が分かれば、全てが同じように水へ開かれていると考えることはできません。どの部分へ水が到達できるかという、アクセスのしやすさも重要です。今回の図では、この違いを、集合の内部と周囲を分けて示しています。</a:t>
            </a:r>
          </a:p>
          <a:p xmlns:a="http://schemas.openxmlformats.org/drawingml/2006/main">
            <a:r>
              <a:t>水となじむ部分があること、壁が吸湿すること、材料全体が水へ溶けることは、同じ現象ではありません。この三つを区別できると、セルロースは水に溶けないから吸湿しない、という誤った説明を修正できます。</a:t>
            </a:r>
          </a:p>
          <a:p xmlns:a="http://schemas.openxmlformats.org/drawingml/2006/main">
            <a:r>
              <a:t/>
            </a:r>
          </a:p>
          <a:p xmlns:a="http://schemas.openxmlformats.org/drawingml/2006/main">
            <a:r>
              <a:t/>
            </a:r>
          </a:p>
          <a:p xmlns:a="http://schemas.openxmlformats.org/drawingml/2006/main">
            <a:r>
              <a:t/>
            </a:r>
          </a:p>
          <a:p xmlns:a="http://schemas.openxmlformats.org/drawingml/2006/main">
            <a:r>
              <a:t>紙が湿気を吸っても、ただちに全て透明な溶液になるわけではありません。こうした身近な観察を、親水性と溶解の区別へ結び付けられます。ただし、紙の種類や処理も性質へ関わるので、紙一枚で木材の全ての挙動を再現したとは扱いません。説明では、水と関わる部分があるという分子の情報と、長い鎖が集合しているという構造の情報を一緒に使います。単に名前が同じ糖に由来するから、全て同じ溶け方をすると予想しないことも、材料の構造を見る練習になります。</a:t>
            </a:r>
          </a:p>
          <a:p xmlns:a="http://schemas.openxmlformats.org/drawingml/2006/main">
            <a:r>
              <a:t>水が近付けるかという問いは、オーエイチ基という名称だけでは答えられません。細い集合の内部で、分子が密に配置し、互いに相互作用している場合と、集合の表面にある場合では、水へ開かれた状態が違います。さらに、実際の壁はセルロースだけでなく、周囲の成分を含みます。取り出した成分を測った結果と、木材の壁の中で組み合わさった状態の結果を、同じ条件とみなさないようにします。水のアクセスの考え方を使うと、同じ成分名でも、構造の違いが吸湿へ関わる理由を説明できます。分子、集合、壁という階層を残しておくことが、化学と物理をつなぐ手掛かりになります。</a:t>
            </a:r>
          </a:p>
          <a:p xmlns:a="http://schemas.openxmlformats.org/drawingml/2006/main">
            <a:r>
              <a:t/>
            </a:r>
          </a:p>
          <a:p xmlns:a="http://schemas.openxmlformats.org/drawingml/2006/main">
            <a:r>
              <a:t>出典・参照</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元の第4回スライド：10</a:t>
            </a:r>
          </a:p>
          <a:p xmlns:a="http://schemas.openxmlformats.org/drawingml/2006/main">
            <a:r>
              <a:t/>
            </a:r>
          </a:p>
          <a:p xmlns:a="http://schemas.openxmlformats.org/drawingml/2006/main">
            <a:r>
              <a:t>ヘミセルロースへ注目します。複数の種類の多糖を含み、セルロースや他の成分との相互作用を通して、壁の構造や性質に関わります。図の緑の分岐した線は、この関係を考えるための概念です。全てのヘミセルロースが同じ枝の数や配置をもつわけではありません。</a:t>
            </a:r>
          </a:p>
          <a:p xmlns:a="http://schemas.openxmlformats.org/drawingml/2006/main">
            <a:r>
              <a:t>ヘミセルロースには、水が近付きやすいオーエイチ基などがあり、吸放湿に大きく関わります。セルロースの集合の内部へ入る場合と、周囲の比較的アクセスしやすい部分へ関わる場合では、構造の条件が違います。</a:t>
            </a:r>
          </a:p>
          <a:p xmlns:a="http://schemas.openxmlformats.org/drawingml/2006/main">
            <a:r>
              <a:t>水が関わると、周囲の成分の動きやすさや、壁の変形のしやすさも変化します。水分による性質の変化を説明する際に、セルロースの細い集合の向きだけでなく、周囲の多糖の存在を考える必要があります。</a:t>
            </a:r>
          </a:p>
          <a:p xmlns:a="http://schemas.openxmlformats.org/drawingml/2006/main">
            <a:r>
              <a:t>ただし、吸湿はヘミセルロースだけが行い、他の成分は水と無関係、と分けることはしません。壁は成分が組み合わさる複合体です。それぞれの量と、水へ開かれた場所、相互作用を合わせて考えます。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周囲をつなぐ成分」という短い説明は、構造をつかむ入口として使えます。しかし、図の緑の線を、実際に一本ずつ全ての集合の間を結ぶ同じ接着金具と考えることはできません。分子の種類や配置、相互作用は、単純な模型より複雑です。説明では、細長い集合と周囲の成分が協調する点を使い、具体的な分子のつながりを全て描けたとは扱わないことが大切です。言い切れる範囲を添える習慣は、後半の比喩の演習でも使います。</a:t>
            </a:r>
          </a:p>
          <a:p xmlns:a="http://schemas.openxmlformats.org/drawingml/2006/main">
            <a:r>
              <a:t>ここでいうアクセスしやすさは、木材全体に大きな穴が多いかどうかという問いだけではありません。内腔のような空間を通って水が移ることと、細胞壁内部の成分へ水分子が近付くことは、尺度が違います。前回までに学んだ多孔質という特徴へ、今回の成分の親水的な部分を加えて考えます。吸湿を説明するときに、内腔に水滴がたまる図だけでは不十分な理由も、ここにあります。ヘミセルロースの役割を述べるときは、周囲の成分との関係と、水に近付きやすい部分の両方を示すと、後の壁の変形の説明へつなが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ヘミセルロースは一つの化合物の名前ではなく、複数種の多糖の総称です。ここでは、広葉樹材に多いキシランを代表例として示します。上の構造式では、主鎖の糖の環のほかに、横へ付く部分や、アセチル基などが見えます。全てのヘミセルロースが、この図と同じ構造ではありません。</a:t>
            </a:r>
          </a:p>
          <a:p xmlns:a="http://schemas.openxmlformats.org/drawingml/2006/main">
            <a:r>
              <a:t>下の立体モデルは、主鎖をつくるキシロース三単位、キシロトリオースの計算上の一つの配座です。側鎖やアセチル基を省いた短いモデルなので、上の分子全体と同一のものを二通りで描いたのではありません。主鎖の三次元の形を見るための部分の例です。</a:t>
            </a:r>
          </a:p>
          <a:p xmlns:a="http://schemas.openxmlformats.org/drawingml/2006/main">
            <a:r>
              <a:t>キシロースは炭素を五つもつ糖、グルコースは六つもつ糖です。同じ多糖でも、単位の種類や結び方、側鎖が異なります。針葉樹では、グルコマンナン類など別の種類も重要です。成分名が共通でも、樹種や構造が同じとは限らないことを残し、水が近付ける部分と周囲の成分との関係へ戻っ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https://en.wikipedia.org/wiki/Hemicellulose</a:t>
            </a:r>
          </a:p>
          <a:p xmlns:a="http://schemas.openxmlformats.org/drawingml/2006/main">
            <a:r>
              <a:t>https://commons.wikimedia.org/wiki/File:Xylan_hardwood.svg</a:t>
            </a:r>
          </a:p>
          <a:p xmlns:a="http://schemas.openxmlformats.org/drawingml/2006/main">
            <a:r>
              <a:t>https://pubchem.ncbi.nlm.nih.gov/compound/10201852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リグニンは、壁の複合体としての性質と、細胞間の結合などに関わります。芳香族の構造を含む複雑な高分子で、周囲の成分と組み合わさって、壁の剛性や構造に寄与します。</a:t>
            </a:r>
          </a:p>
          <a:p xmlns:a="http://schemas.openxmlformats.org/drawingml/2006/main">
            <a:r>
              <a:t>リグニンを、単に水をはじく接着剤という一語で説明すると、役割と限界が見えにくくなります。多糖類より水との親和性が小さい面があっても、オーエイチ基など水と相互作用する部分をもちます。水に全く関わらない、完全に不透水の材料という意味ではありません。</a:t>
            </a:r>
          </a:p>
          <a:p xmlns:a="http://schemas.openxmlformats.org/drawingml/2006/main">
            <a:r>
              <a:t>細胞間層や壁の各領域で、成分の割合は異なります。しかし、リグニンは細胞間層にだけあり、二次壁にはない、といった区分にもできません。前の層の図と合わせ、場所と成分を一対一に割り当てないことを確認します。</a:t>
            </a:r>
          </a:p>
          <a:p xmlns:a="http://schemas.openxmlformats.org/drawingml/2006/main">
            <a:r>
              <a:t>木材全体の強度、水分による変形、生物劣化を考えるときには、セルロースの集合と、その周囲のヘミセルロースやリグニンを含む構造へ戻ります。どれか一つだけが、全ての性質を単独で決めるという説明は避けます。</a:t>
            </a:r>
          </a:p>
          <a:p xmlns:a="http://schemas.openxmlformats.org/drawingml/2006/main">
            <a:r>
              <a:t/>
            </a:r>
          </a:p>
          <a:p xmlns:a="http://schemas.openxmlformats.org/drawingml/2006/main">
            <a:r>
              <a:t/>
            </a:r>
          </a:p>
          <a:p xmlns:a="http://schemas.openxmlformats.org/drawingml/2006/main">
            <a:r>
              <a:t/>
            </a:r>
          </a:p>
          <a:p xmlns:a="http://schemas.openxmlformats.org/drawingml/2006/main">
            <a:r>
              <a:t>物質の役割を日常語で説明するとき、接着剤、骨組み、充填材などの比喩が役立つ場合があります。ただし、木材の分子の間の関係を、製品の接着剤を塗って固める工程と同じだと考えてはいけません。生きた樹木の細胞が形成する壁には、成分の配置と構造があります。リグニンの役割を短く述べる場合も、細胞間の結合や壁の性質に関わる、という対象を付け足すと、接着剤という比喩の一語より意味が具体的になります。</a:t>
            </a:r>
          </a:p>
          <a:p xmlns:a="http://schemas.openxmlformats.org/drawingml/2006/main">
            <a:r>
              <a:t>リグニンと水の関係を述べる文章を、二つ比べます。「多糖類より水との親和性が小さい面がある」という比較と、「水を全く吸わない」という絶対的な断定は、意味が異なります。前者は相対的な特徴の説明です。後者は、水との相互作用が一切ないという別の主張になります。今日の内容では、リグニンにもオーエイチ基等があることを残し、相互作用がゼロとはしません。複雑な材料を短い語で説明するときほど、比較の相手と、言い切る範囲を確認することが大切です。耐水性という製品の評価も、成分名一つだけから決めることはできません。</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リグニンは糖の鎖ではなく、芳香族の環を含む構成が、様々な結合で組み合わさった高分子です。全ての樹種に共通する、一つの繰り返し単位や、一枚の決まった立体構造式で表すことはできません。</a:t>
            </a:r>
          </a:p>
          <a:p xmlns:a="http://schemas.openxmlformats.org/drawingml/2006/main">
            <a:r>
              <a:t>ここでは、リグニンで重要なベータ、オー、フォー型のエーテル結合を学ぶためのモデル化合物を示します。二つの芳香族の環と、それを結ぶ部分、オーエイチ基を探してください。これは天然リグニン全体を測定して得た形ではなく、結合の特徴を説明するための小さな化合物です。</a:t>
            </a:r>
          </a:p>
          <a:p xmlns:a="http://schemas.openxmlformats.org/drawingml/2006/main">
            <a:r>
              <a:t>右の立体モデルは、左と同じモデル化合物の、計算で得た配座の一例です。回転や配置が変わり得る分子について、これだけが唯一の形という意味にはしません。環を結ぶ結合の読み方と、分子が空間の中で形をもつことを対応させます。</a:t>
            </a:r>
          </a:p>
          <a:p xmlns:a="http://schemas.openxmlformats.org/drawingml/2006/main">
            <a:r>
              <a:t>芳香族という語は、図に示す環の構造に関する言葉です。においが良いという意味で判定しません。また、リグニンにもオーエイチ基等があるので、図の芳香族の環だけを見て、水と無関係だとはしません。木材全体の水分応答は、周囲の多糖や壁の構造も合わせて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https://en.wikipedia.org/wiki/Lignin</a:t>
            </a:r>
          </a:p>
          <a:p xmlns:a="http://schemas.openxmlformats.org/drawingml/2006/main">
            <a:r>
              <a:t>https://pubchem.ncbi.nlm.nih.gov/compound/6424189</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元の第4回スライド：7</a:t>
            </a:r>
          </a:p>
          <a:p xmlns:a="http://schemas.openxmlformats.org/drawingml/2006/main">
            <a:r>
              <a:t/>
            </a:r>
          </a:p>
          <a:p xmlns:a="http://schemas.openxmlformats.org/drawingml/2006/main">
            <a:r>
              <a:t>三成分を、構造の特徴と水との関係で整理します。セルロースは長い鎖の集合をつくり、配向とともに力への応答へ関わります。オーエイチ基がありますが、水が近付ける場所は、集合の状態によって異なります。</a:t>
            </a:r>
          </a:p>
          <a:p xmlns:a="http://schemas.openxmlformats.org/drawingml/2006/main">
            <a:r>
              <a:t>ヘミセルロースは、周囲の多糖として他の成分と組み合わさり、吸放湿や壁の変形に関わります。リグニンは、細胞間の結合や複合体としての壁の性質に寄与し、水との親和性は多糖類と同一ではありませんが、相互作用が全くないわけでもありません。</a:t>
            </a:r>
          </a:p>
          <a:p xmlns:a="http://schemas.openxmlformats.org/drawingml/2006/main">
            <a:r>
              <a:t>この表では、役割をきっぱり三分割して、引張りは全てセルロース、水は全てヘミセルロース、接着は全てリグニン、と決めていません。主な特徴を取り出した整理です。壁全体では組合せが重要です。</a:t>
            </a:r>
          </a:p>
          <a:p xmlns:a="http://schemas.openxmlformats.org/drawingml/2006/main">
            <a:r>
              <a:t>ここで、同じエスツーの中に三成分の名前を書き込むことはできるでしょうか。また、セルロースにも水と関わる部分があると説明できるでしょうか。前半の図へ戻って、この二つの問いを確かめてください。</a:t>
            </a:r>
          </a:p>
          <a:p xmlns:a="http://schemas.openxmlformats.org/drawingml/2006/main">
            <a:r>
              <a:t/>
            </a:r>
          </a:p>
          <a:p xmlns:a="http://schemas.openxmlformats.org/drawingml/2006/main">
            <a:r>
              <a:t>各層には複数の成分が組み合わさっています。また、セルロースにもオーエイチ基があり、水がアクセスできる場所では水と相互作用します。成分名と層名、水との関係をそれぞれ分けて読めれば十分です。</a:t>
            </a:r>
          </a:p>
          <a:p xmlns:a="http://schemas.openxmlformats.org/drawingml/2006/main">
            <a:r>
              <a:t/>
            </a:r>
          </a:p>
          <a:p xmlns:a="http://schemas.openxmlformats.org/drawingml/2006/main">
            <a:r>
              <a:t>物性の資料で成分割合と強度の関係を調べる場合にも、表の見出しを広げすぎないことが大切です。同じ成分割合でも、配向、密度、水分、欠点、測定方向などが違えば、値は変わり得ます。水分に関する資料でも、単離した成分の結果なのか、木材の壁の中にある状態なのかを確認します。比較の対象が異なる値を、名前が同じという理由だけで同じ条件の順位にしないことは、ここまで学んだ材料のデータの読み方と共通します。</a:t>
            </a:r>
          </a:p>
          <a:p xmlns:a="http://schemas.openxmlformats.org/drawingml/2006/main">
            <a:r>
              <a:t>この表の説明を、自分の言葉で一つずつ言い換えてみます。成分名だけを読んだ後に、「どの構造をつくるか」「力や水にどう関わるか」を短く付け加えます。もし「エスツーはリグニン」と書いていたら、層と成分の区分へ戻します。「セルロースは水に溶けないから、水と無関係」と書いていたら、オーエイチ基と集合の図へ戻します。「吸湿するのはヘミセルロースだけ」と書いていたら、複数の成分と水の関係へ戻します。誤りを見つけたときに、どの図を使って直せるかを持っておくことが、用語の暗記より実際の説明で役立ち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質量百分率は、ある成分の質量が、全体の質量に占める割合を、百分率で示す一般的な名称です。木材だけで使う特別な用語ではありません。分子は何の質量か、分母はどの全体の質量かを確かめます。</a:t>
            </a:r>
          </a:p>
          <a:p xmlns:a="http://schemas.openxmlformats.org/drawingml/2006/main">
            <a:r>
              <a:t>今回は、全乾にした木材全体を分母にして、セルロースなどの成分の質量割合を計算します。水を含む試料全体を分母にした割合と、同じ数値とは限りません。</a:t>
            </a:r>
          </a:p>
          <a:p xmlns:a="http://schemas.openxmlformats.org/drawingml/2006/main">
            <a:r>
              <a:t>水の量を表す含水率、モイスチャー・コンテントは、第八回で詳しく扱います。木材では乾いた木材を分母にするため、水を含む全体に占める水の質量百分率とは、定義が異なります。今日は、成分の割合の計算と、水の量の指標を分ける入口にとどめます。</a:t>
            </a:r>
          </a:p>
          <a:p xmlns:a="http://schemas.openxmlformats.org/drawingml/2006/main">
            <a:r>
              <a:t>前回の、壁の体積割合とも別の量です。数字にパーセントが付いているだけでは、何を割ったかは分かりません。以降の四十五、二十五、二十五、五パーセントは、計算用に与えた仮定値です。</a:t>
            </a:r>
          </a:p>
          <a:p xmlns:a="http://schemas.openxmlformats.org/drawingml/2006/main">
            <a:r>
              <a:t/>
            </a:r>
          </a:p>
          <a:p xmlns:a="http://schemas.openxmlformats.org/drawingml/2006/main">
            <a:r>
              <a:t/>
            </a:r>
          </a:p>
          <a:p xmlns:a="http://schemas.openxmlformats.org/drawingml/2006/main">
            <a:r>
              <a:t/>
            </a:r>
          </a:p>
          <a:p xmlns:a="http://schemas.openxmlformats.org/drawingml/2006/main">
            <a:r>
              <a:t>同じパーセントでも、何の量の比かを言葉へ戻します。セルロースの質量を乾いた木材全体の質量で割る場合と、水の質量を乾いた木材の質量で割る場合は、分子も問いも異なります。さらに、水を含む試料全体で水を割る方法もあります。全体の何割かを知りたいのか、乾いた材料を基準に水がどの程度あるかを知りたいのかで、分母が変わります。一般名称だけから分母を決めず、資料に書かれた定義を先に読みましょう。</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休憩</a:t>
            </a:r>
          </a:p>
          <a:p xmlns:a="http://schemas.openxmlformats.org/drawingml/2006/main">
            <a:r>
              <a:t/>
            </a:r>
          </a:p>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それでは、再開します。演習1　成分の質量割合へ進みます。</a:t>
            </a:r>
          </a:p>
          <a:p xmlns:a="http://schemas.openxmlformats.org/drawingml/2006/main">
            <a:r>
              <a:t/>
            </a:r>
          </a:p>
          <a:p xmlns:a="http://schemas.openxmlformats.org/drawingml/2006/main">
            <a:r>
              <a:t>出典・参照</a:t>
            </a:r>
          </a:p>
          <a:p xmlns:a="http://schemas.openxmlformats.org/drawingml/2006/main">
            <a:r>
              <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元の第4回スライド：8</a:t>
            </a:r>
          </a:p>
          <a:p xmlns:a="http://schemas.openxmlformats.org/drawingml/2006/main">
            <a:r>
              <a:t/>
            </a:r>
          </a:p>
          <a:p xmlns:a="http://schemas.openxmlformats.org/drawingml/2006/main">
            <a:r>
              <a:t>演習です。全乾試料が百グラムあり、セルロース四十五グラム、ヘミセルロース二十五グラム、リグニン二十五グラムを含むとします。その他の成分は五グラムです。図と表に、計算用の設定値を示しました。</a:t>
            </a:r>
          </a:p>
          <a:p xmlns:a="http://schemas.openxmlformats.org/drawingml/2006/main">
            <a:r>
              <a:t>一つ目は、各成分の質量百分率と、主要三成分を合わせた質量と百分率です。全体の分母が百グラムなので、まず式の分子と分母を一組ずつ書いてください。三成分の合計と、その他を含む全体の合計を区別します。</a:t>
            </a:r>
          </a:p>
          <a:p xmlns:a="http://schemas.openxmlformats.org/drawingml/2006/main">
            <a:r>
              <a:t>二つ目は、同じ組成の全乾試料が二百四十グラムある場合です。セルロースは何グラム含まれるでしょうか。百分率を小数へ直して掛ける方法と、百グラムの試料からの倍率を使う方法の、どちらでも構いません。</a:t>
            </a:r>
          </a:p>
          <a:p xmlns:a="http://schemas.openxmlformats.org/drawingml/2006/main">
            <a:r>
              <a:t>三つ目は、その他の五グラムへ何が含まれ得るかです。ここまで説明した成分の分類へ戻って答えてください。未知の成分を調べなければ答えられない問いではありません。途中式と単位を残し、必要なら一時停止して計算を終え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計算結果の大きさも予想しておきます。二百四十グラムの試料は、百グラムの二点四倍です。同じ組成なら、セルロースの質量も四十五グラムより大きくなり、全体の二百四十グラムよりは小さくなるはずです。割合を四十五という数値のまま掛けて、全体をはるかに超える質量が出た場合は、百分率から小数への換算を確認します。計算式を作る前に、答えがどの範囲へ入るかを考えると、単位や割合の誤りに気付きやすくな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元の第4回スライド：9</a:t>
            </a:r>
          </a:p>
          <a:p xmlns:a="http://schemas.openxmlformats.org/drawingml/2006/main">
            <a:r>
              <a:t/>
            </a:r>
          </a:p>
          <a:p xmlns:a="http://schemas.openxmlformats.org/drawingml/2006/main">
            <a:r>
              <a:t>各成分の百分率を確認します。セルロースは四十五割る百、掛ける百で四十五パーセントです。ヘミセルロースは二十五パーセント、リグニンも二十五パーセント、その他は五パーセントです。全てを足すと百パーセントになります。</a:t>
            </a:r>
          </a:p>
          <a:p xmlns:a="http://schemas.openxmlformats.org/drawingml/2006/main">
            <a:r>
              <a:t>主要三成分の合計は、四十五足す二十五足す二十五で、九十五グラムです。全乾百グラムに対して、九十五パーセントになります。主要三成分だけで百パーセントと読み替えると、分母が変わるので注意してください。</a:t>
            </a:r>
          </a:p>
          <a:p xmlns:a="http://schemas.openxmlformats.org/drawingml/2006/main">
            <a:r>
              <a:t>二つ目は、二百四十に零点四五を掛けて、百八グラムです。四十五に二点四を掛けても同じです。二つの方法の答えが一致することも確認しましょう。三つ目のその他には、抽出成分、無機成分などが考えられます。</a:t>
            </a:r>
          </a:p>
          <a:p xmlns:a="http://schemas.openxmlformats.org/drawingml/2006/main">
            <a:r>
              <a:t>ここで使った質量は全乾状態の値です。同じ組成という条件も、計算の仮定です。実際の資料では、どの樹種、どの部位、どの分析方法についての値かを確認します。表の数値は、成分の質量と質量割合を表しており、細胞壁の層の厚さを表してはいません。</a:t>
            </a:r>
          </a:p>
          <a:p xmlns:a="http://schemas.openxmlformats.org/drawingml/2006/main">
            <a:r>
              <a:t/>
            </a:r>
          </a:p>
          <a:p xmlns:a="http://schemas.openxmlformats.org/drawingml/2006/main">
            <a:r>
              <a:t/>
            </a:r>
          </a:p>
          <a:p xmlns:a="http://schemas.openxmlformats.org/drawingml/2006/main">
            <a:r>
              <a:t/>
            </a:r>
          </a:p>
          <a:p xmlns:a="http://schemas.openxmlformats.org/drawingml/2006/main">
            <a:r>
              <a:t>三成分だけを取り出して、その中でセルロースが占める割合を問われた場合は、四十五を九十五で割る別の計算になります。およそ四十七点四パーセントです。これは誤った計算ではなく、分母を主要三成分の合計へ変えた問いの答えです。しかし今回の問いは、全乾試料全体を百パーセントとしました。百分率を引用するときには、何を百としたかを必ず添えます。異なる資料の値が少し違うときにも、まず全体の範囲や測定基準を確認することが役立ちます。</a:t>
            </a:r>
          </a:p>
          <a:p xmlns:a="http://schemas.openxmlformats.org/drawingml/2006/main">
            <a:r>
              <a:t>全体の二百四十グラムについて、残りの成分も確認できます。ヘミセルロースは二百四十掛ける零点二五で六十グラム、リグニンも六十グラムです。その他は二百四十掛ける零点零五で十二グラムです。百八、六十、六十、十二を足すと二百四十になります。各成分の割合を足して百になることと、質量を足して全体の質量になることを、両方確認できます。途中で一つの計算を誤った場合にも、合計の点検は手掛かりになります。ただし、合計が一致したことだけで、実際の木材もその組成だと確認したことにはなりません。今回は与えられた仮定に対する計算で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水分の指標を、短く先取りします。水を含む木材の質量は、全乾木材の質量と、水の質量を足したものです。ここから全乾木材の質量を引くと、水の質量が残ります。式を記号だけで読まず、「全乾木材プラス水、から全乾木材を引く」と、図の二つの部分を指して確かめてください。</a:t>
            </a:r>
          </a:p>
          <a:p xmlns:a="http://schemas.openxmlformats.org/drawingml/2006/main">
            <a:r>
              <a:t>木材の含水率は、この水の質量を、全乾木材の質量で割ります。例えば、全乾木材百グラムに水二十グラムなら、水は百二十引く百で二十グラム。木材の含水率は二十割る百、掛ける百で二十パーセントです。</a:t>
            </a:r>
          </a:p>
          <a:p xmlns:a="http://schemas.openxmlformats.org/drawingml/2006/main">
            <a:r>
              <a:t>分母は、水を含む百二十グラム全体ではありません。これは、乾いた材料を基準にした指標です。第八回では、食品や農産物でよく使う、水を含む全体を分母にした指標も比較します。今回は、分子で全乾木材を引いて、水の質量を取り出すことと、木材では全乾木材を分母にすることだけを押さえ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https://research.fs.usda.gov/treesearch/62243</a:t>
            </a:r>
          </a:p>
          <a:p xmlns:a="http://schemas.openxmlformats.org/drawingml/2006/main">
            <a:r>
              <a:t>https://www.fao.org/4/t1838e/T1838E0u.htm</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元の第4回スライド：12</a:t>
            </a:r>
          </a:p>
          <a:p xmlns:a="http://schemas.openxmlformats.org/drawingml/2006/main">
            <a:r>
              <a:t/>
            </a:r>
          </a:p>
          <a:p xmlns:a="http://schemas.openxmlformats.org/drawingml/2006/main">
            <a:r>
              <a:t>木材と水の関係を、場所から分けます。木材には、内腔などの大きな空間と、細胞壁の内部があります。どちらにも水が存在し得ますが、壁の成分と水分子が近くで相互作用する状態と、大きな空間に水がある状態を、同じ一つの図で済ませないことが大切です。</a:t>
            </a:r>
          </a:p>
          <a:p xmlns:a="http://schemas.openxmlformats.org/drawingml/2006/main">
            <a:r>
              <a:t>細胞壁内の水は、セルロース、ヘミセルロース、リグニンなどの成分と、水素結合を含む相互作用をもちます。この壁の状態が変わることが、吸湿による膨潤や、変形しやすさに関わります。</a:t>
            </a:r>
          </a:p>
          <a:p xmlns:a="http://schemas.openxmlformats.org/drawingml/2006/main">
            <a:r>
              <a:t>一方、内腔の水は、空間へ水があるという情報です。そこに水が多くなれば質量は増えますが、その質量の増え方と同じ割合で、必ず木材の外形寸法も増えるとは限りません。水がどこへ加わったかを考えます。</a:t>
            </a:r>
          </a:p>
          <a:p xmlns:a="http://schemas.openxmlformats.org/drawingml/2006/main">
            <a:r>
              <a:t>従来の用語では、細胞壁内の水を結合水、内腔などの水を自由水と呼ぶことがあります。今日は場所との対応を入口にし、詳しい定義や境目の扱いは後の水分の回へつなぎます。空隙があるという構造と、壁自体が水と相互作用するという性質の両方が必要です。</a:t>
            </a:r>
          </a:p>
          <a:p xmlns:a="http://schemas.openxmlformats.org/drawingml/2006/main">
            <a:r>
              <a:t/>
            </a:r>
          </a:p>
          <a:p xmlns:a="http://schemas.openxmlformats.org/drawingml/2006/main">
            <a:r>
              <a:t/>
            </a:r>
          </a:p>
          <a:p xmlns:a="http://schemas.openxmlformats.org/drawingml/2006/main">
            <a:r>
              <a:t/>
            </a:r>
          </a:p>
          <a:p xmlns:a="http://schemas.openxmlformats.org/drawingml/2006/main">
            <a:r>
              <a:t>模型のストローの穴へ水を入れた場合、空間に水があることは示せます。しかし、そのプラスチックの壁が、木材の壁と同じように吸湿や膨潤をするとは限りません。模型が表す範囲を、内腔の位置と細胞の配列へ限定し、壁内部の水との関係は別の拡大図で説明します。前回の尺度の区別が、ここでも役立ちます。木材を多孔質という一語だけで説明すると、内腔を満たす水だけを想像しやすいので、壁を指して何が起こるかを付け加えてください。</a:t>
            </a:r>
          </a:p>
          <a:p xmlns:a="http://schemas.openxmlformats.org/drawingml/2006/main">
            <a:r>
              <a:t>水分が変わる際に、質量と寸法の両方を測る理由を、この図から考えられます。内腔などの水の量が変わる場合と、細胞壁内の水の状態が変わる場合では、外形寸法への影響が同じとは限りません。質量が十パーセント増えたので、幅も十パーセント増える、という比例式は与えていません。さらに木材には方向による違いがあります。同じ質量変化に対して、長さ、幅、厚さの変化を別々に記録することで、水が材料の性質へどう関わるかを調べられます。ここでは、どの場所の水を説明したかを明らかにして、後の測定の学習へつなげます。</a:t>
            </a:r>
          </a:p>
          <a:p xmlns:a="http://schemas.openxmlformats.org/drawingml/2006/main">
            <a:r>
              <a:t/>
            </a:r>
          </a:p>
          <a:p xmlns:a="http://schemas.openxmlformats.org/drawingml/2006/main">
            <a:r>
              <a:t>出典・参照</a:t>
            </a:r>
          </a:p>
          <a:p xmlns:a="http://schemas.openxmlformats.org/drawingml/2006/main">
            <a:r>
              <a:t>https://doi.org/10.3390/f13122051</a:t>
            </a:r>
          </a:p>
          <a:p xmlns:a="http://schemas.openxmlformats.org/drawingml/2006/main">
            <a:r>
              <a:t>https://doi.org/10.1007/s10570-022-04973-0</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空気が湿ると、木材の細胞壁が水を取り込み、膨らむことがあります。これを、吸湿と膨潤の関係として考えます。水分を失う側では、壁の状態が変わり、収縮が生じます。ここでも、内腔に水が入ることだけで全てを説明しません。</a:t>
            </a:r>
          </a:p>
          <a:p xmlns:a="http://schemas.openxmlformats.org/drawingml/2006/main">
            <a:r>
              <a:t>水が壁内部の成分と相互作用すると、分子の配置や間隔、動きやすさなどが関わって、壁全体の寸法や力への応答が変わります。水素結合はその重要な背景です。ただし、一枚の模式図だけから、どの方向へ何パーセント膨らむかという数値までは求められません。</a:t>
            </a:r>
          </a:p>
          <a:p xmlns:a="http://schemas.openxmlformats.org/drawingml/2006/main">
            <a:r>
              <a:t>木材には、細胞の配列と、壁内部の配向という方向性があります。そのため、長さ方向、放射方向、接線方向で寸法変化が同じとは限りません。一般に、通常材では長さ方向の変化は横方向より小さく、横方向でもアールとティーで違いがあります。具体的な値や条件は後の回で調べます。</a:t>
            </a:r>
          </a:p>
          <a:p xmlns:a="http://schemas.openxmlformats.org/drawingml/2006/main">
            <a:r>
              <a:t>第1回の板取りの図にもつながります。板目板から追い柾、柾目板へ変わると、板幅が主にティーからアールへ対応し、同じ板幅という語でも組織上の方向が変わりました。使う板の向きと水分の条件を、一緒に確認する理由です。</a:t>
            </a:r>
          </a:p>
          <a:p xmlns:a="http://schemas.openxmlformats.org/drawingml/2006/main">
            <a:r>
              <a:t/>
            </a:r>
          </a:p>
          <a:p xmlns:a="http://schemas.openxmlformats.org/drawingml/2006/main">
            <a:r>
              <a:t/>
            </a:r>
          </a:p>
          <a:p xmlns:a="http://schemas.openxmlformats.org/drawingml/2006/main">
            <a:r>
              <a:t/>
            </a:r>
          </a:p>
          <a:p xmlns:a="http://schemas.openxmlformats.org/drawingml/2006/main">
            <a:r>
              <a:t>木製の引き出しや板の継ぎ目について、季節によって動きが変わるという観察は、吸放湿と寸法の関係を考える入口になります。ただし、その観察だけから、成分割合や一つの結合の変化を直接測定したとは言えません。分子の相互作用、細胞壁、細胞の配列、部材の寸法という尺度を順に結び付けて説明します。学校の製作でも、乾いた状態の寸法だけを見て全ての季節の状態を同じと見なさず、材料の方向と使用環境に配慮する背景になります。</a:t>
            </a:r>
          </a:p>
          <a:p xmlns:a="http://schemas.openxmlformats.org/drawingml/2006/main">
            <a:r>
              <a:t>方向ごとの寸法変化を説明するとき、分子の一部分の親水性だけで、アールとティーの違いを全て導いたことにはなりません。木材全体には、細胞の形や配列、年輪の構造、放射組織、壁の層や配向などが重なっています。水との相互作用という化学の情報へ、組織の方向性という構造の情報を合わせます。図を一段ずつ拡大し、逆に部材の寸法へ戻るという読み方が必要です。教員が説明を簡単にする場合も、「壁が水と関わること」と「木材の方向により変化が違うこと」を、二つの図でつなげると、原因を一つに決めすぎずに伝えられ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表面で水滴が丸くなった木片を見て、この材料は水を吸わないと結論してよいでしょうか。水滴の形は、その表面のぬれ方を知る手掛かりです。しかし、内部へ湿気が移ることや、長い時間で水分が変化することまで、同時に測ったわけではありません。</a:t>
            </a:r>
          </a:p>
          <a:p xmlns:a="http://schemas.openxmlformats.org/drawingml/2006/main">
            <a:r>
              <a:t>表面の処理は、ぬれ方や液体の水の入り方へ影響します。一方、未処理の端や、傷、別の面などの経路もあります。処理の種類や状態によって、水蒸気の移動の程度も変わります。表面が水をはじく見え方と、木材内部の成分が水と相互作用し得ることは、両立します。</a:t>
            </a:r>
          </a:p>
          <a:p xmlns:a="http://schemas.openxmlformats.org/drawingml/2006/main">
            <a:r>
              <a:t>したがって、親水性と疎水性を扱う際には、分子の部分の話、表面の状態の話、材料全体の吸湿や吸水の話を分けます。何を観察した結果かが分かれば、過度な一般化を避けられます。</a:t>
            </a:r>
          </a:p>
          <a:p xmlns:a="http://schemas.openxmlformats.org/drawingml/2006/main">
            <a:r>
              <a:t>実際に比較するなら、水滴の広がり方を見たのか、一定の温度と湿度の中で質量の変化を測ったのかを区別します。測る時間、表面積、方向、処理した面も確認します。今日の段階では、二つの観察が違う問いへ答えることを押さえ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例えば「表面が水をはじいた」という観察文は、見えた事実を限定して書いています。「内部へ水分が全く移らず、寸法も変わらない」と加えると、別の測定が必要な結論へ進んでいます。教師として説明する場合にも、観察と推測を分けることが大切です。材質、表面処理、使う環境を組み合わせて材料を選ぶ際、水滴の写真一枚だけで耐久性や寸法安定性まで確定しない理由を、生徒へ説明できます。</a:t>
            </a:r>
          </a:p>
          <a:p xmlns:a="http://schemas.openxmlformats.org/drawingml/2006/main">
            <a:r>
              <a:t>吸湿と吸水という言葉も、観察した条件を添えて使います。空気中の水蒸気とのやり取りを考える場合と、液体の水が表面や木口へ触れる場合では、経路や時間の条件が異なります。今回の表面のぬれ方の問いでは、水滴を置いた時点の見え方を確認しています。その結果を、長い時間の内部の質量変化や、どの湿度でも同じ状態という結論へ広げないようにします。実際の材料選択では、表面の仕上げと、端部や接合部、使う環境を一緒に考えます。水素結合や親水性の知識は、この観察が何を示したかを考える背景として使います。</a:t>
            </a:r>
          </a:p>
          <a:p xmlns:a="http://schemas.openxmlformats.org/drawingml/2006/main">
            <a:r>
              <a:t/>
            </a:r>
          </a:p>
          <a:p xmlns:a="http://schemas.openxmlformats.org/drawingml/2006/main">
            <a:r>
              <a:t>出典・参照</a:t>
            </a:r>
          </a:p>
          <a:p xmlns:a="http://schemas.openxmlformats.org/drawingml/2006/main">
            <a:r>
              <a:t>https://doi.org/10.3390/f13122051</a:t>
            </a:r>
          </a:p>
          <a:p xmlns:a="http://schemas.openxmlformats.org/drawingml/2006/main">
            <a:r>
              <a:t>https://goldbook.iupac.org/terms/view/H02906</a:t>
            </a:r>
          </a:p>
          <a:p xmlns:a="http://schemas.openxmlformats.org/drawingml/2006/main">
            <a:r>
              <a:t>https://goldbook.iupac.org/terms/view/HT06964</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主要三成分以外にも、木材には抽出成分や無機成分があります。抽出成分には多様な物質があり、樹種や部位によって異なります。色、におい、耐朽性などに関わるものがありますが、全てが同じ役割をもつ一種類の物質ではありません。</a:t>
            </a:r>
          </a:p>
          <a:p xmlns:a="http://schemas.openxmlformats.org/drawingml/2006/main">
            <a:r>
              <a:t>心材に含まれる特定の抽出成分が、耐朽性へ寄与する場合があります。しかし、ある成分があるという情報だけで、どの環境でも腐らないと判断することはできません。生物の種類、水分、温度、使われる状況などが関わります。</a:t>
            </a:r>
          </a:p>
          <a:p xmlns:a="http://schemas.openxmlformats.org/drawingml/2006/main">
            <a:r>
              <a:t>腐朽菌が壁の多糖類やリグニンなどを分解すると、壁の構造と機能が変わります。生物劣化は、色が変わったかどうかだけで評価できる現象ではありません。力を支える構造がどう変わるかという、材料の性質にも関わります。</a:t>
            </a:r>
          </a:p>
          <a:p xmlns:a="http://schemas.openxmlformats.org/drawingml/2006/main">
            <a:r>
              <a:t>今日は、生物劣化の種類を全て学ぶ段階ではありません。主要成分の組合せが変わると、壁の機能が変わるという接続を押さえます。水との関係も、成分と生物の活動の両方から、後の回で詳しく学びます。</a:t>
            </a:r>
          </a:p>
          <a:p xmlns:a="http://schemas.openxmlformats.org/drawingml/2006/main">
            <a:r>
              <a:t/>
            </a:r>
          </a:p>
          <a:p xmlns:a="http://schemas.openxmlformats.org/drawingml/2006/main">
            <a:r>
              <a:t/>
            </a:r>
          </a:p>
          <a:p xmlns:a="http://schemas.openxmlformats.org/drawingml/2006/main">
            <a:r>
              <a:t/>
            </a:r>
          </a:p>
          <a:p xmlns:a="http://schemas.openxmlformats.org/drawingml/2006/main">
            <a:r>
              <a:t>その他という分類は、重要でないという意味ではありません。質量割合が小さい成分でも、色やにおい、耐朽性、加工や接着などへ影響する場合があります。大きな割合を占める三成分の基本を学ぶことと、小さい割合の成分の影響を無視することを区別してください。演習の五パーセントは計算用の設定なので、その数字を全ての心材や辺材へ固定して使わないことも確認し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元の第4回スライド：13</a:t>
            </a:r>
          </a:p>
          <a:p xmlns:a="http://schemas.openxmlformats.org/drawingml/2006/main">
            <a:r>
              <a:t/>
            </a:r>
          </a:p>
          <a:p xmlns:a="http://schemas.openxmlformats.org/drawingml/2006/main">
            <a:r>
              <a:t>説明の質を考える演習です。木材の細胞壁を、鉄筋コンクリートにたとえる説明があります。細長い構造と、その周りの材料が組み合わさって働くという点を、入口として使う比喩です。今日は、その比喩で説明できることと、できないことを分けます。</a:t>
            </a:r>
          </a:p>
          <a:p xmlns:a="http://schemas.openxmlformats.org/drawingml/2006/main">
            <a:r>
              <a:t>一つ目に、壁の概念図を使い、細長い集合と周囲の成分へ対応する部分を示してください。セルロースの集合、ヘミセルロースやリグニンを含む周囲という語を使います。周囲の一成分だけを、コンクリートそのものと完全に同じものとして割り当てる必要はありません。</a:t>
            </a:r>
          </a:p>
          <a:p xmlns:a="http://schemas.openxmlformats.org/drawingml/2006/main">
            <a:r>
              <a:t>二つ目に、この比喩が役立つ点を一つ書きます。組合せと向きという視点を使って考えてください。三つ目に、比喩だけでは説明できない点を一つ書きます。今日学んだ、水素結合、水のアクセス、吸湿や膨潤のどれかへつなげられます。</a:t>
            </a:r>
          </a:p>
          <a:p xmlns:a="http://schemas.openxmlformats.org/drawingml/2006/main">
            <a:r>
              <a:t>最後に、中学生へ伝える短い説明を作ってください。比喩の意味が分からなければ、鉄筋コンクリートの名称を使わず、壁の図だけで説明しても構いません。比喩を必ず使うことより、構造と性質が対応していることを大切に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元の第4回スライド：14</a:t>
            </a:r>
          </a:p>
          <a:p xmlns:a="http://schemas.openxmlformats.org/drawingml/2006/main">
            <a:r>
              <a:t/>
            </a:r>
          </a:p>
          <a:p xmlns:a="http://schemas.openxmlformats.org/drawingml/2006/main">
            <a:r>
              <a:t>解答の一例です。細胞壁には、配向したセルロースの細長い集合があり、その周囲に他の成分が組み合わさっている、と説明できます。細長い構造と周囲が協調するという点は、比喩が伝えやすい関係です。</a:t>
            </a:r>
          </a:p>
          <a:p xmlns:a="http://schemas.openxmlformats.org/drawingml/2006/main">
            <a:r>
              <a:t>しかし、鉄筋の一本がセルロース分子一本に対応し、コンクリートがそのままリグニンだけに対応するといった、固定した一対一の模型ではありません。寸法の尺度も、組成も、相互作用も異なります。ヘミセルロースの存在を消してよいわけでもありません。</a:t>
            </a:r>
          </a:p>
          <a:p xmlns:a="http://schemas.openxmlformats.org/drawingml/2006/main">
            <a:r>
              <a:t>水との関係では、壁内部のオーエイチ基と水との水素結合、水が近付ける場所、吸湿に伴う壁の状態の変化などが必要です。比喩で組合せを説明できたとしても、吸湿や膨潤の機構をそれだけで説明したことにはなりません。</a:t>
            </a:r>
          </a:p>
          <a:p xmlns:a="http://schemas.openxmlformats.org/drawingml/2006/main">
            <a:r>
              <a:t>中学生への短い説明なら、「細胞の壁は、細い繊維状の集合と周囲の成分が組み合わさっている。集合の向きと、水との関わりが、変形の仕方へ影響する」と言えます。図で対象と向きを示せれば、長い専門語を多く並べるより、説明の関係が伝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自分の文章を点検するときには、三つの区別を確かめてください。まず、層名と成分名を入れ替えていないか。次に、成分の量と集合の向きを一つにしていないか。最後に、水となじむことと、水へ全部溶けることを同じだとしていないかです。比喩のよさを評価する際も、文章が印象的かどうかだけでなく、これらの対応を保っているかを見ます。図を指しながら説明する方法は、誤りがある場合に、どの対応を直せばよいかを見つける手掛かりにもなり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休憩</a:t>
            </a:r>
          </a:p>
          <a:p xmlns:a="http://schemas.openxmlformats.org/drawingml/2006/main">
            <a:r>
              <a:t/>
            </a:r>
          </a:p>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それでは、再開します。演習3　水との関係を図で説明へ進みます。</a:t>
            </a:r>
          </a:p>
          <a:p xmlns:a="http://schemas.openxmlformats.org/drawingml/2006/main">
            <a:r>
              <a:t/>
            </a:r>
          </a:p>
          <a:p xmlns:a="http://schemas.openxmlformats.org/drawingml/2006/main">
            <a:r>
              <a:t>出典・参照</a:t>
            </a:r>
          </a:p>
          <a:p xmlns:a="http://schemas.openxmlformats.org/drawingml/2006/main">
            <a:r>
              <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追加した水の話を、図で確かめます。一つ目は、壁のオーエイチ基と、一つの水分子を描き、水素結合の一例を点線で示してください。分子内のつながりは実線とし、二つの線の意味を分けます。完全な化学構造式を描く必要はありません。</a:t>
            </a:r>
          </a:p>
          <a:p xmlns:a="http://schemas.openxmlformats.org/drawingml/2006/main">
            <a:r>
              <a:t>二つ目は、内腔にある水と、細胞壁内にある水の位置です。二つを図へ書き込み、吸湿による壁の膨潤を説明するときに、どちらへ注目するかを示してください。水の全ての状態を細かく分類する問いではありません。</a:t>
            </a:r>
          </a:p>
          <a:p xmlns:a="http://schemas.openxmlformats.org/drawingml/2006/main">
            <a:r>
              <a:t>三つ目は、「表面で水滴が丸くなったので、この木片は湿気を取り込まない」という説明の修正です。何を観察した文なのかと、さらに何を測る必要があるかを、一文ずつ書いてください。</a:t>
            </a:r>
          </a:p>
          <a:p xmlns:a="http://schemas.openxmlformats.org/drawingml/2006/main">
            <a:r>
              <a:t>今日の図を見返して答えて構いません。親水性、疎水性、吸湿という語を使う場合は、分子の部分、表面、材料全体のどの話かを添えます。自分の図と言葉が同じ対象を説明しているかを確かめ、必要なら一時停止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この問いでは、材料の防水性能や耐久性を数値で判定することは求めていません。必要なのは、図の中で位置を分け、観察したことから言える範囲を説明することです。水素結合の図では、点線の片端を水素、もう片端を近くの酸素へ対応させます。場所の図では、内腔と壁を一つの白い空間へまとめないようにします。説明の修正では、「全く吸わない」という断定を消すだけでなく、内部の質量変化や、測る温湿度と時間など、追加で確かめる情報を示せると、考えた根拠が伝わります。</a:t>
            </a:r>
          </a:p>
          <a:p xmlns:a="http://schemas.openxmlformats.org/drawingml/2006/main">
            <a:r>
              <a:t>三つ目の説明を修正するときには、「水滴が丸かった」という事実を消す必要はありません。その事実から言える範囲を、表面のぬれ方へ限定し、内部の吸湿を別の測定へ分けます。このように、文章の一部を正しく残しながら、行き過ぎた結論を直す方法は、調べ学習でも使えます。資料に一つの試験結果が書かれていたら、どの材料、どの状態、どの方法の結果かを確認します。その条件を飛び越えて、全ての木材や全ての環境に同じ性質があると決めないことが、材料の説明で必要です。</a:t>
            </a:r>
          </a:p>
          <a:p xmlns:a="http://schemas.openxmlformats.org/drawingml/2006/main">
            <a:r>
              <a:t/>
            </a:r>
          </a:p>
          <a:p xmlns:a="http://schemas.openxmlformats.org/drawingml/2006/main">
            <a:r>
              <a:t>出典・参照</a:t>
            </a:r>
          </a:p>
          <a:p xmlns:a="http://schemas.openxmlformats.org/drawingml/2006/main">
            <a:r>
              <a:t>https://goldbook.iupac.org/terms/view/H02899</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元の第4回スライド：追加</a:t>
            </a:r>
          </a:p>
          <a:p xmlns:a="http://schemas.openxmlformats.org/drawingml/2006/main">
            <a:r>
              <a:t/>
            </a:r>
          </a:p>
          <a:p xmlns:a="http://schemas.openxmlformats.org/drawingml/2006/main">
            <a:r>
              <a:t>一つ目では、壁の酸素に付いた水素と、水分子の酸素との間へ点線を示せます。水素結合の一例です。分子の中の酸素と水素のつながりまで、全て同じ点線へ置き換えないでください。</a:t>
            </a:r>
          </a:p>
          <a:p xmlns:a="http://schemas.openxmlformats.org/drawingml/2006/main">
            <a:r>
              <a:t>二つ目では、内腔という大きな空間にある水と、壁の成分の近くに存在する水を分けます。壁の吸湿と膨潤を考える際には、細胞壁内の水と、成分との相互作用へ注目します。空間に水が増えた量と、外形寸法の増加が、いつも同じ比で対応するわけではありません。</a:t>
            </a:r>
          </a:p>
          <a:p xmlns:a="http://schemas.openxmlformats.org/drawingml/2006/main">
            <a:r>
              <a:t>三つ目は、例えば「水滴が丸く見えたことから、この表面がその条件ではぬれにくかったと考えられる。材料内部の吸湿については、一定の温湿度で時間をおいた質量の変化などを、別に確かめる」と修正できます。端や処理した面の違いも確認する情報です。</a:t>
            </a:r>
          </a:p>
          <a:p xmlns:a="http://schemas.openxmlformats.org/drawingml/2006/main">
            <a:r>
              <a:t>水をはじく表面と、内部の壁が水と相互作用し得ることは、両立します。親水性や疎水性という一つの名称から、材料全体の挙動を全て決めないことを、図と観察の違いから説明できれば、今回の目標へ近付きます。</a:t>
            </a:r>
          </a:p>
          <a:p xmlns:a="http://schemas.openxmlformats.org/drawingml/2006/main">
            <a:r>
              <a:t/>
            </a:r>
          </a:p>
          <a:p xmlns:a="http://schemas.openxmlformats.org/drawingml/2006/main">
            <a:r>
              <a:t/>
            </a:r>
          </a:p>
          <a:p xmlns:a="http://schemas.openxmlformats.org/drawingml/2006/main">
            <a:r>
              <a:t/>
            </a:r>
          </a:p>
          <a:p xmlns:a="http://schemas.openxmlformats.org/drawingml/2006/main">
            <a:r>
              <a:t>セルロースについても、同じ説明の手順を使えます。「水に簡単には溶けない」という観察から、「水と関わる部分がない」と結論することはできません。分子の部分としてのオーエイチ基と、集合としての構造へ戻ります。水がアクセスしやすい場所と、入り込みにくい場所を区別すれば、吸湿しながら材料の形を保つという関係を考えられます。複数の尺度を使い分けることが、言い切りすぎた説明を直す手掛かりになります。</a:t>
            </a:r>
          </a:p>
          <a:p xmlns:a="http://schemas.openxmlformats.org/drawingml/2006/main">
            <a:r>
              <a:t/>
            </a:r>
          </a:p>
          <a:p xmlns:a="http://schemas.openxmlformats.org/drawingml/2006/main">
            <a:r>
              <a:t>出典・参照</a:t>
            </a:r>
          </a:p>
          <a:p xmlns:a="http://schemas.openxmlformats.org/drawingml/2006/main">
            <a:r>
              <a:t>https://goldbook.iupac.org/terms/view/H02899</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元の第4回スライド：15</a:t>
            </a:r>
          </a:p>
          <a:p xmlns:a="http://schemas.openxmlformats.org/drawingml/2006/main">
            <a:r>
              <a:t/>
            </a:r>
          </a:p>
          <a:p xmlns:a="http://schemas.openxmlformats.org/drawingml/2006/main">
            <a:r>
              <a:t>中学校での説明へ戻ります。材料の性質や加工方法を考える学習では、木材の方向や水分による変化を、観察や製作と結び付けられます。今回の分子の話は、その理由を説明する教員の背景として使います。全ての専門語を一律に中学生へ暗記させることは目的にしません。</a:t>
            </a:r>
          </a:p>
          <a:p xmlns:a="http://schemas.openxmlformats.org/drawingml/2006/main">
            <a:r>
              <a:t>例えば、同じ木片について、繊維方向の矢印を描き、板幅がどの方向に対応するかを確認します。次に、湿った状態と乾いた状態で、どの寸法をどの方法で比べるかを考えます。材料や寸法、時間、温湿度などをそろえれば、比較する問いが具体的になります。</a:t>
            </a:r>
          </a:p>
          <a:p xmlns:a="http://schemas.openxmlformats.org/drawingml/2006/main">
            <a:r>
              <a:t>分子の説明を添える場合は、「細胞の壁には、水と関わる部分がある。壁が湿気を取り込むと状態が変わり、寸法や変形の仕方も変わる」と図へ対応させられます。水素結合という語を使うなら、まず点線の両端を示してください。</a:t>
            </a:r>
          </a:p>
          <a:p xmlns:a="http://schemas.openxmlformats.org/drawingml/2006/main">
            <a:r>
              <a:t>表面の水滴だけを見た活動と、質量や寸法の変化を測る活動では、分かることが違います。生徒の答えを評価するときも、用語の多さだけでなく、観察したことと説明の対象が対応しているかを見ます。</a:t>
            </a:r>
          </a:p>
          <a:p xmlns:a="http://schemas.openxmlformats.org/drawingml/2006/main">
            <a:r>
              <a:t/>
            </a:r>
          </a:p>
          <a:p xmlns:a="http://schemas.openxmlformats.org/drawingml/2006/main">
            <a:r>
              <a:t/>
            </a:r>
          </a:p>
          <a:p xmlns:a="http://schemas.openxmlformats.org/drawingml/2006/main">
            <a:r>
              <a:t/>
            </a:r>
          </a:p>
          <a:p xmlns:a="http://schemas.openxmlformats.org/drawingml/2006/main">
            <a:r>
              <a:t>学習指導要領解説の、材料と加工の技術との接点は、材料の性質と加工の理解です。公開の年間計画や評価規準は、教科書で扱う学習を確認する手掛かりになりますが、採択して使う本文や図の具体的なページとは区別して照合します。専門書の購入やスキャンが進んだ段階では、今回の図や説明と対応するページを記録して加えます。今ある資料で確認したことと、受領してから照合することを分けておくと、出典に基づいた教材の改善を続けられます。</a:t>
            </a:r>
          </a:p>
          <a:p xmlns:a="http://schemas.openxmlformats.org/drawingml/2006/main">
            <a:r>
              <a:t>観察を計画する際は、どの量を比べれば問いに答えられるかを先に考えます。表面の水滴の形を比べるなら、滴の量、置いた面、経過時間をそろえる視点があります。吸湿による質量変化なら、試料の大きさ、最初の水分状態、温度と湿度、時間を記録します。寸法の変化なら、どの方向の寸法かと、測り方も必要です。一つの活動で全てを正確に調べることを求めるのではなく、問いを限定し、結果から何が言えるかを明確にします。分子の説明と、観察の設計を行き来することが、技術科の教員としての理解を深めます。</a:t>
            </a:r>
          </a:p>
          <a:p xmlns:a="http://schemas.openxmlformats.org/drawingml/2006/main">
            <a:r>
              <a:t/>
            </a:r>
          </a:p>
          <a:p xmlns:a="http://schemas.openxmlformats.org/drawingml/2006/main">
            <a:r>
              <a:t>出典・参照</a:t>
            </a:r>
          </a:p>
          <a:p xmlns:a="http://schemas.openxmlformats.org/drawingml/2006/main">
            <a:r>
              <a:t>https://www.mext.go.jp/component/a_menu/education/micro_detail/__icsFiles/afieldfile/2019/03/18/1387018_009.pdf</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元の第4回スライド：16</a:t>
            </a:r>
          </a:p>
          <a:p xmlns:a="http://schemas.openxmlformats.org/drawingml/2006/main">
            <a:r>
              <a:t/>
            </a:r>
          </a:p>
          <a:p xmlns:a="http://schemas.openxmlformats.org/drawingml/2006/main">
            <a:r>
              <a:t>最後の自己確認です。一つ目に、ミクロフィブリルの主成分と、エスワン、エスツー、エススリーが表す区分を、それぞれ答えてください。成分名と層名を混ぜずに書きます。</a:t>
            </a:r>
          </a:p>
          <a:p xmlns:a="http://schemas.openxmlformats.org/drawingml/2006/main">
            <a:r>
              <a:t>二つ目に、セルロースにも水と関わる部分がある理由を、オーエイチ基と、水が近付ける場所という二つの視点から説明します。全てが水に溶けるという説明にはしないでください。</a:t>
            </a:r>
          </a:p>
          <a:p xmlns:a="http://schemas.openxmlformats.org/drawingml/2006/main">
            <a:r>
              <a:t>三つ目に、水素結合を示した点線が何と何の間にあるかを、図で指します。分子内の実線との違いも確認しましょう。四つ目に、疎水的な表面が見えれば木片全体の吸湿がゼロかどうかを、表面と内部を分けて答えます。</a:t>
            </a:r>
          </a:p>
          <a:p xmlns:a="http://schemas.openxmlformats.org/drawingml/2006/main">
            <a:r>
              <a:t>五つ目に、成分の質量百分率を比べるとき、分母として何を確認するかを答えてください。ここまでの図と演習を使って、短く言ってみましょう。必要なら止めて、自分の説明をノートへ残してから再開してください。</a:t>
            </a:r>
          </a:p>
          <a:p xmlns:a="http://schemas.openxmlformats.org/drawingml/2006/main">
            <a:r>
              <a:t/>
            </a:r>
          </a:p>
          <a:p xmlns:a="http://schemas.openxmlformats.org/drawingml/2006/main">
            <a:r>
              <a:t>ミクロフィブリルの主成分はセルロースで、エスワンからエススリーは二次壁の層名です。セルロースにはオーエイチ基があり、アクセスできる場所で水と相互作用します。水素結合の点線は、水素と近くの酸素の間の一例でした。表面のぬれ方だけで内部の吸湿は決められず、質量割合は全乾基準かなど、分母を確認します。</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https://goldbook.iupac.org/terms/view/H02899</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元の第4回スライド：18</a:t>
            </a:r>
          </a:p>
          <a:p xmlns:a="http://schemas.openxmlformats.org/drawingml/2006/main">
            <a:r>
              <a:t/>
            </a:r>
          </a:p>
          <a:p xmlns:a="http://schemas.openxmlformats.org/drawingml/2006/main">
            <a:r>
              <a:t>第四回の終了後には、既存の課題エーワン、構造と成分から木材を説明する、に取り組みます。対象は第一回から第四回までです。方向と断面、細胞と年輪、壁と空隙の数量モデル、主要成分の調べ学習、中学生への説明というまとまりがあります。</a:t>
            </a:r>
          </a:p>
          <a:p xmlns:a="http://schemas.openxmlformats.org/drawingml/2006/main">
            <a:r>
              <a:t>回答フォームには、エーワン、キューワン、エーなどの回答アイディーが付いています。アイディーを残して、その欄へ答えてください。計算では、何を求めた式かと、最後の単位を残します。調べ学習では、資料名だけでなく、どのページや節で確かめたかを書きます。</a:t>
            </a:r>
          </a:p>
          <a:p xmlns:a="http://schemas.openxmlformats.org/drawingml/2006/main">
            <a:r>
              <a:t>配点は基本七十点、発展三十点です。各欄五点で、基本欄を十二欄十分に達成すれば六十点になります。ただし、何か書けば自動的に六十点になるという意味ではありません。対応する要点を、欄ごとに示すことが大切です。</a:t>
            </a:r>
          </a:p>
          <a:p xmlns:a="http://schemas.openxmlformats.org/drawingml/2006/main">
            <a:r>
              <a:t>作業の目安は七十五分から百分で、動画の九十分には含めていません。提出期限や方法、生成エーアイの利用の扱いは、授業の案内に従ってください。今日の自己確認の演習とは分け、課題の問題文と回答アイディーを確かめて取り組み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https://www.mext.go.jp/component/a_menu/education/micro_detail/__icsFiles/afieldfile/2019/03/18/1387018_009.pdf</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元の第4回スライド：17</a:t>
            </a:r>
          </a:p>
          <a:p xmlns:a="http://schemas.openxmlformats.org/drawingml/2006/main">
            <a:r>
              <a:t/>
            </a:r>
          </a:p>
          <a:p xmlns:a="http://schemas.openxmlformats.org/drawingml/2006/main">
            <a:r>
              <a:t>今日の要点を整理します。細胞壁は、セルロース、ヘミセルロース、リグニンなどが組み合わさる複合体です。層の区分と成分の種類は異なり、エスワンからエススリーへ、一成分ずつを割り当てることはできません。</a:t>
            </a:r>
          </a:p>
          <a:p xmlns:a="http://schemas.openxmlformats.org/drawingml/2006/main">
            <a:r>
              <a:t>セルロースの鎖が集合し、その配向が力への応答に関わります。周囲の成分も含めた構造と、水がアクセスできる場所が、木材の性質を考える手掛かりになります。成分の量だけで全てを説明せず、向きと状態を合わせます。</a:t>
            </a:r>
          </a:p>
          <a:p xmlns:a="http://schemas.openxmlformats.org/drawingml/2006/main">
            <a:r>
              <a:t>オーエイチ基と水の水素結合から、吸湿や膨潤の背景を考えました。親水性は水への溶解と同じではなく、疎水性も完全な防水や吸湿ゼロを意味しません。表面のぬれ方と、内部の吸湿、水の場所を区別します。</a:t>
            </a:r>
          </a:p>
          <a:p xmlns:a="http://schemas.openxmlformats.org/drawingml/2006/main">
            <a:r>
              <a:t>次回は、ヤング率と強度を、実際の物性値や条件から区別して考えます。その後、水分や寸法変化、生物劣化の回で、今日の成分と水の図をさらに使います。ノートに、層の図、成分の図、水素結合の図を残しておい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最初に示した図へ戻れば、今回加わった情報を確かめられます。場所を指す層の図、構成する物質を指す成分の図、水との相互作用を示す図です。同じ現象を、異なる尺度の情報で説明しています。名前を一列に並べるより、どの図が何の問いへ答えるかを言えるようにすると、材料の性質へ結び付けやすくなります。課題へ取り組む際にも、結論だけを書き始める前に、使う図と比較する条件を確認してください。</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元の第4回スライド：19</a:t>
            </a:r>
          </a:p>
          <a:p xmlns:a="http://schemas.openxmlformats.org/drawingml/2006/main">
            <a:r>
              <a:t/>
            </a:r>
          </a:p>
          <a:p xmlns:a="http://schemas.openxmlformats.org/drawingml/2006/main">
            <a:r>
              <a:t>参考資料です。ウッドハンドブック二千二十一年版の第三章には、木材化学の節があります。冊子の三の九ページ前後で、主要成分の説明を確認できます。前回から借用している壁の図は、図三の六、冊子三の七ページです。層の説明と成分の説明を、それぞれ対応する箇所で読みます。</a:t>
            </a:r>
          </a:p>
          <a:p xmlns:a="http://schemas.openxmlformats.org/drawingml/2006/main">
            <a:r>
              <a:t>水素結合や親水性の用語は、国際純正応用化学連合、アイユーパックの用語集を参照しています。木材と水の関係は、二千二十二年の水に関する総説と、細胞壁の吸湿を調べた研究を参照しました。リンクと該当箇所を配布資料にも残しています。</a:t>
            </a:r>
          </a:p>
          <a:p xmlns:a="http://schemas.openxmlformats.org/drawingml/2006/main">
            <a:r>
              <a:t>専門的な論文の全てを、今日一度に読む必要はありません。例えば、細胞壁内の水がどの成分と相互作用するかを確認したいなら、その節と図を選びます。用語の定義を確かめる場合は、用語集を使います。資料を選ぶ目的を、先に決めてください。</a:t>
            </a:r>
          </a:p>
          <a:p xmlns:a="http://schemas.openxmlformats.org/drawingml/2006/main">
            <a:r>
              <a:t>購入やスキャンを進めている教科書は、受領後に書名、版、ページを照合して補います。いま確認した公開資料と、これから確認する資料を区別します。課題では、参照した事実と、自分の判断を分けて書いてください。第四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https://research.fs.usda.gov/treesearch/62242</a:t>
            </a:r>
          </a:p>
          <a:p xmlns:a="http://schemas.openxmlformats.org/drawingml/2006/main">
            <a:r>
              <a:t>https://doi.org/10.3390/f13122051</a:t>
            </a:r>
          </a:p>
          <a:p xmlns:a="http://schemas.openxmlformats.org/drawingml/2006/main">
            <a:r>
              <a:t>https://doi.org/10.1007/s10570-022-04973-0</a:t>
            </a:r>
          </a:p>
          <a:p xmlns:a="http://schemas.openxmlformats.org/drawingml/2006/main">
            <a:r>
              <a:t>https://goldbook.iupac.org/terms/view/H02899</a:t>
            </a:r>
          </a:p>
          <a:p xmlns:a="http://schemas.openxmlformats.org/drawingml/2006/main">
            <a:r>
              <a:t>https://goldbook.iupac.org/terms/view/H02906</a:t>
            </a:r>
          </a:p>
          <a:p xmlns:a="http://schemas.openxmlformats.org/drawingml/2006/main">
            <a:r>
              <a:t>https://goldbook.iupac.org/terms/view/HT06964</a:t>
            </a:r>
          </a:p>
          <a:p xmlns:a="http://schemas.openxmlformats.org/drawingml/2006/main">
            <a:r>
              <a:t/>
            </a:r>
          </a:p>
          <a:p xmlns:a="http://schemas.openxmlformats.org/drawingml/2006/main">
            <a:r>
              <a:t>図：OH基・水素結合・成分・水の場所等は説明用の編集可能な模式図。化学結合の実線と相互作用の点線を区別し、寸法比・量を再現しない。借用図はUSDA Wood Handbook 2021 Chapter 3 Fig.3–6, p.3–7。原図図部分のトリミング。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b54965f2434c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75ff8011f34c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494f06c31048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051cbe5e8743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8cc8d66a704f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de87568e2449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5F10E2-78FF-41F8-9998-46FE69C6E9B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81438D-99EA-4FC2-A634-88FA10E7ADF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A3955E-D88D-45B7-ACA8-8C039EACCF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67D4F5-8B53-4BA6-BA8A-E7608E168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8B5E05-4989-45E9-B8A5-9A46283F9E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2BC4BA-33D1-454C-9D32-C88D6C004C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3B68EF-88E0-4AF5-A714-48730FBD8B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0AE66D-3F23-4178-8BCE-390F6775976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CBAF51-250E-49B3-AD51-249C826EF1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71BD68-DD1E-4537-A067-DB428360F8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0db79b410145aa" /><Relationship Type="http://schemas.openxmlformats.org/officeDocument/2006/relationships/slideLayout" Target="/ppt/slideLayouts/slideLayout1.xml" Id="R43381b1e0bf84582" /><Relationship Type="http://schemas.openxmlformats.org/officeDocument/2006/relationships/slideLayout" Target="/ppt/slideLayouts/slideLayout2.xml" Id="R4974e88be9714df4" /><Relationship Type="http://schemas.openxmlformats.org/officeDocument/2006/relationships/slideLayout" Target="/ppt/slideLayouts/slideLayout3.xml" Id="R712678b2488c4469" /><Relationship Type="http://schemas.openxmlformats.org/officeDocument/2006/relationships/slideLayout" Target="/ppt/slideLayouts/slideLayout4.xml" Id="Rde6fb33e663f478c" /><Relationship Type="http://schemas.openxmlformats.org/officeDocument/2006/relationships/slideLayout" Target="/ppt/slideLayouts/slideLayout5.xml" Id="R4388524e027643e5" /><Relationship Type="http://schemas.openxmlformats.org/officeDocument/2006/relationships/slideLayout" Target="/ppt/slideLayouts/slideLayout6.xml" Id="R1a8fca905dcd46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381b1e0bf84582"/>
    <p:sldLayoutId xmlns:r="http://schemas.openxmlformats.org/officeDocument/2006/relationships" id="2147483650" r:id="R4974e88be9714df4"/>
    <p:sldLayoutId xmlns:r="http://schemas.openxmlformats.org/officeDocument/2006/relationships" id="2147483651" r:id="R712678b2488c4469"/>
    <p:sldLayoutId xmlns:r="http://schemas.openxmlformats.org/officeDocument/2006/relationships" id="2147483652" r:id="Rde6fb33e663f478c"/>
    <p:sldLayoutId xmlns:r="http://schemas.openxmlformats.org/officeDocument/2006/relationships" id="2147483653" r:id="R4388524e027643e5"/>
    <p:sldLayoutId xmlns:r="http://schemas.openxmlformats.org/officeDocument/2006/relationships" id="2147483654" r:id="R1a8fca905dcd46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6fcecb0f1c4ed0" /><Relationship Type="http://schemas.openxmlformats.org/officeDocument/2006/relationships/hyperlink" Target="https://lc-nue.naruto-u.ac.jp/lcu-web/SC_06001B00_22" TargetMode="External" Id="Raf11677b62dc4331" /><Relationship Type="http://schemas.openxmlformats.org/officeDocument/2006/relationships/notesSlide" Target="/ppt/notesSlides/notesSlide1.xml" Id="Rdefd736a926840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dc1d6356a1e4c29" /><Relationship Type="http://schemas.openxmlformats.org/officeDocument/2006/relationships/notesSlide" Target="/ppt/notesSlides/notesSlide2.xml" Id="Rb94a6ca4dd9c46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6c15c828174591" /><Relationship Type="http://schemas.openxmlformats.org/officeDocument/2006/relationships/notesSlide" Target="/ppt/notesSlides/notesSlide3.xml" Id="R5fd0c26925a445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0c8d58e9414819" /><Relationship Type="http://schemas.openxmlformats.org/officeDocument/2006/relationships/image" Target="/ppt/media/image.png" Id="Rc20d4b9d69e246b6" /><Relationship Type="http://schemas.openxmlformats.org/officeDocument/2006/relationships/hyperlink" Target="https://research.fs.usda.gov/treesearch/62242" TargetMode="External" Id="R8740ffa27f49457b" /><Relationship Type="http://schemas.openxmlformats.org/officeDocument/2006/relationships/notesSlide" Target="/ppt/notesSlides/notesSlide4.xml" Id="Rab3339d8340b4c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e50f94d713421f" /><Relationship Type="http://schemas.openxmlformats.org/officeDocument/2006/relationships/notesSlide" Target="/ppt/notesSlides/notesSlide5.xml" Id="R1d4b20e5477e40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4c8c4bfcde42df" /><Relationship Type="http://schemas.openxmlformats.org/officeDocument/2006/relationships/notesSlide" Target="/ppt/notesSlides/notesSlide6.xml" Id="Rcff1891b7faa47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11b161cc0854724" /><Relationship Type="http://schemas.openxmlformats.org/officeDocument/2006/relationships/notesSlide" Target="/ppt/notesSlides/notesSlide7.xml" Id="R1671ea645b5246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24be07c22e347f6" /><Relationship Type="http://schemas.openxmlformats.org/officeDocument/2006/relationships/image" Target="/ppt/media/image2.png" Id="R3ae1914224074510" /><Relationship Type="http://schemas.openxmlformats.org/officeDocument/2006/relationships/image" Target="/ppt/media/image3.png" Id="Rb02a3018b54c4f8c" /><Relationship Type="http://schemas.openxmlformats.org/officeDocument/2006/relationships/hyperlink" Target="https://en.wikipedia.org/wiki/Cellulose" TargetMode="External" Id="R023a2e0e7af04a62" /><Relationship Type="http://schemas.openxmlformats.org/officeDocument/2006/relationships/notesSlide" Target="/ppt/notesSlides/notesSlide8.xml" Id="R96659aa622e049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1326d8189548e3" /><Relationship Type="http://schemas.openxmlformats.org/officeDocument/2006/relationships/notesSlide" Target="/ppt/notesSlides/notesSlide9.xml" Id="Rc51e2ef5f52042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55f60df21e43da" /><Relationship Type="http://schemas.openxmlformats.org/officeDocument/2006/relationships/notesSlide" Target="/ppt/notesSlides/notesSlide10.xml" Id="R9bb8c4ddac8640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97d5df5320f49a5" /><Relationship Type="http://schemas.openxmlformats.org/officeDocument/2006/relationships/notesSlide" Target="/ppt/notesSlides/notesSlide11.xml" Id="R0259276c7da449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a98043ee94d46c2" /><Relationship Type="http://schemas.openxmlformats.org/officeDocument/2006/relationships/notesSlide" Target="/ppt/notesSlides/notesSlide12.xml" Id="Ra2b0026fa6104a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72adbd4b4204f98" /><Relationship Type="http://schemas.openxmlformats.org/officeDocument/2006/relationships/notesSlide" Target="/ppt/notesSlides/notesSlide13.xml" Id="R8d4550d7083847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69732bdb2ac49af" /><Relationship Type="http://schemas.openxmlformats.org/officeDocument/2006/relationships/notesSlide" Target="/ppt/notesSlides/notesSlide14.xml" Id="R9666a1c9ceba4f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04db11950e74ed6" /><Relationship Type="http://schemas.openxmlformats.org/officeDocument/2006/relationships/notesSlide" Target="/ppt/notesSlides/notesSlide15.xml" Id="Rf8da36d324e041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dda0ee4dadf481f" /><Relationship Type="http://schemas.openxmlformats.org/officeDocument/2006/relationships/image" Target="/ppt/media/image4.png" Id="Rddf04e9ba3b441a1" /><Relationship Type="http://schemas.openxmlformats.org/officeDocument/2006/relationships/image" Target="/ppt/media/image5.png" Id="R7934404766e74ca5" /><Relationship Type="http://schemas.openxmlformats.org/officeDocument/2006/relationships/hyperlink" Target="https://en.wikipedia.org/wiki/Hemicellulose" TargetMode="External" Id="R2b0a26f4dbf24ee8" /><Relationship Type="http://schemas.openxmlformats.org/officeDocument/2006/relationships/notesSlide" Target="/ppt/notesSlides/notesSlide16.xml" Id="R791f7241a7d24d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185204acac14f18" /><Relationship Type="http://schemas.openxmlformats.org/officeDocument/2006/relationships/notesSlide" Target="/ppt/notesSlides/notesSlide17.xml" Id="R712e86d1345646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606fc63952f4c19" /><Relationship Type="http://schemas.openxmlformats.org/officeDocument/2006/relationships/image" Target="/ppt/media/image6.png" Id="Ra0770064fc594aa3" /><Relationship Type="http://schemas.openxmlformats.org/officeDocument/2006/relationships/image" Target="/ppt/media/image7.png" Id="R746b63b899ef4600" /><Relationship Type="http://schemas.openxmlformats.org/officeDocument/2006/relationships/hyperlink" Target="https://pubchem.ncbi.nlm.nih.gov/compound/6424189" TargetMode="External" Id="R43e5b061096649be" /><Relationship Type="http://schemas.openxmlformats.org/officeDocument/2006/relationships/notesSlide" Target="/ppt/notesSlides/notesSlide18.xml" Id="R05269261cb264a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f1fb320c2fe4a8c" /><Relationship Type="http://schemas.openxmlformats.org/officeDocument/2006/relationships/notesSlide" Target="/ppt/notesSlides/notesSlide19.xml" Id="Reacc945a7b644f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0e5867885694600" /><Relationship Type="http://schemas.openxmlformats.org/officeDocument/2006/relationships/notesSlide" Target="/ppt/notesSlides/notesSlide20.xml" Id="Raa66111f658b47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fb14039c4e54cd3" /><Relationship Type="http://schemas.openxmlformats.org/officeDocument/2006/relationships/notesSlide" Target="/ppt/notesSlides/notesSlide21.xml" Id="R18d48981b44f4a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2a779ef02e74ff8" /><Relationship Type="http://schemas.openxmlformats.org/officeDocument/2006/relationships/notesSlide" Target="/ppt/notesSlides/notesSlide22.xml" Id="R929d5b3576ad46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2674370a794426e" /><Relationship Type="http://schemas.openxmlformats.org/officeDocument/2006/relationships/notesSlide" Target="/ppt/notesSlides/notesSlide23.xml" Id="Refd522d16c6c48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af3790c350c420c" /><Relationship Type="http://schemas.openxmlformats.org/officeDocument/2006/relationships/notesSlide" Target="/ppt/notesSlides/notesSlide24.xml" Id="Rcd77743d576f4f2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b5e06d98fc84b55" /><Relationship Type="http://schemas.openxmlformats.org/officeDocument/2006/relationships/notesSlide" Target="/ppt/notesSlides/notesSlide25.xml" Id="R498dcdac6445448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4efe321bdeb4630" /><Relationship Type="http://schemas.openxmlformats.org/officeDocument/2006/relationships/notesSlide" Target="/ppt/notesSlides/notesSlide26.xml" Id="Rc961cd39c768477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ca6cf13a7eb4080" /><Relationship Type="http://schemas.openxmlformats.org/officeDocument/2006/relationships/notesSlide" Target="/ppt/notesSlides/notesSlide27.xml" Id="R56f46df5deb5467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e0e3537c030476d" /><Relationship Type="http://schemas.openxmlformats.org/officeDocument/2006/relationships/notesSlide" Target="/ppt/notesSlides/notesSlide28.xml" Id="Rd256b3e19e474cc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8c17294ecc14e39" /><Relationship Type="http://schemas.openxmlformats.org/officeDocument/2006/relationships/notesSlide" Target="/ppt/notesSlides/notesSlide29.xml" Id="R8311846a1acb4b2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fabac257bd44d51" /><Relationship Type="http://schemas.openxmlformats.org/officeDocument/2006/relationships/notesSlide" Target="/ppt/notesSlides/notesSlide30.xml" Id="R63651bc6f5da462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b50ac0d15f44303" /><Relationship Type="http://schemas.openxmlformats.org/officeDocument/2006/relationships/notesSlide" Target="/ppt/notesSlides/notesSlide31.xml" Id="Rb05d393c699c46d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1a7d553493048ef" /><Relationship Type="http://schemas.openxmlformats.org/officeDocument/2006/relationships/notesSlide" Target="/ppt/notesSlides/notesSlide32.xml" Id="R48e9ae60ec51493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eb1191dc43442fc" /><Relationship Type="http://schemas.openxmlformats.org/officeDocument/2006/relationships/notesSlide" Target="/ppt/notesSlides/notesSlide33.xml" Id="R58dd9bc7ae23485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f4a411e8c1d44a2" /><Relationship Type="http://schemas.openxmlformats.org/officeDocument/2006/relationships/notesSlide" Target="/ppt/notesSlides/notesSlide34.xml" Id="Rdeaf0ef6ea734c8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9298afc131946b5" /><Relationship Type="http://schemas.openxmlformats.org/officeDocument/2006/relationships/notesSlide" Target="/ppt/notesSlides/notesSlide35.xml" Id="R9ff3fbecd06f4a3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49c749fc9a84d6b" /><Relationship Type="http://schemas.openxmlformats.org/officeDocument/2006/relationships/notesSlide" Target="/ppt/notesSlides/notesSlide36.xml" Id="R3ec5e0d36dd0454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0c761ffaa6b4727" /><Relationship Type="http://schemas.openxmlformats.org/officeDocument/2006/relationships/notesSlide" Target="/ppt/notesSlides/notesSlide37.xml" Id="Ra9add1f612ff488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06db84b168c470a" /><Relationship Type="http://schemas.openxmlformats.org/officeDocument/2006/relationships/hyperlink" Target="https://research.fs.usda.gov/treesearch/62242" TargetMode="External" Id="R4d46d52e16e54da1" /><Relationship Type="http://schemas.openxmlformats.org/officeDocument/2006/relationships/hyperlink" Target="https://goldbook.iupac.org/terms/view/H02899" TargetMode="External" Id="R77c4ad08e9014bfd" /><Relationship Type="http://schemas.openxmlformats.org/officeDocument/2006/relationships/hyperlink" Target="https://doi.org/10.3390/f13122051" TargetMode="External" Id="Rd0fb2c8c303f4df4" /><Relationship Type="http://schemas.openxmlformats.org/officeDocument/2006/relationships/hyperlink" Target="https://doi.org/10.1007/s10570-022-04973-0" TargetMode="External" Id="R1a3c85101c0d4570" /><Relationship Type="http://schemas.openxmlformats.org/officeDocument/2006/relationships/notesSlide" Target="/ppt/notesSlides/notesSlide38.xml" Id="R904db9f4ec8f460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2968FA0-6C4B-4764-A45C-A58A8F1523C3}"/>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buNone/>
              <a:defRPr sz="4050" b="1">
                <a:solidFill>
                  <a:srgbClr val="18364F"/>
                </a:solidFill>
                <a:latin typeface="Yu Gothic"/>
                <a:ea typeface="Yu Gothic"/>
                <a:cs typeface="Yu Gothic"/>
              </a:defRPr>
            </a:lvl1pPr>
            <a:lvl2pPr>
              <a:buNone/>
              <a:defRPr sz="4050" b="1">
                <a:solidFill>
                  <a:srgbClr val="18364F"/>
                </a:solidFill>
                <a:latin typeface="Yu Gothic"/>
                <a:ea typeface="Yu Gothic"/>
                <a:cs typeface="Yu Gothic"/>
              </a:defRPr>
            </a:lvl2pPr>
            <a:lvl3pPr>
              <a:buNone/>
              <a:defRPr sz="4050" b="1">
                <a:solidFill>
                  <a:srgbClr val="18364F"/>
                </a:solidFill>
                <a:latin typeface="Yu Gothic"/>
                <a:ea typeface="Yu Gothic"/>
                <a:cs typeface="Yu Gothic"/>
              </a:defRPr>
            </a:lvl3pPr>
            <a:lvl4pPr>
              <a:buNone/>
              <a:defRPr sz="4050" b="1">
                <a:solidFill>
                  <a:srgbClr val="18364F"/>
                </a:solidFill>
                <a:latin typeface="Yu Gothic"/>
                <a:ea typeface="Yu Gothic"/>
                <a:cs typeface="Yu Gothic"/>
              </a:defRPr>
            </a:lvl4pPr>
            <a:lvl5pPr>
              <a:buNone/>
              <a:defRPr sz="4050" b="1">
                <a:solidFill>
                  <a:srgbClr val="18364F"/>
                </a:solidFill>
                <a:latin typeface="Yu Gothic"/>
                <a:ea typeface="Yu Gothic"/>
                <a:cs typeface="Yu Gothic"/>
              </a:defRPr>
            </a:lvl5pPr>
            <a:lvl6pPr>
              <a:buNone/>
              <a:defRPr sz="4050" b="1">
                <a:solidFill>
                  <a:srgbClr val="18364F"/>
                </a:solidFill>
                <a:latin typeface="Yu Gothic"/>
                <a:ea typeface="Yu Gothic"/>
                <a:cs typeface="Yu Gothic"/>
              </a:defRPr>
            </a:lvl6pPr>
            <a:lvl7pPr>
              <a:buNone/>
              <a:defRPr sz="4050" b="1">
                <a:solidFill>
                  <a:srgbClr val="18364F"/>
                </a:solidFill>
                <a:latin typeface="Yu Gothic"/>
                <a:ea typeface="Yu Gothic"/>
                <a:cs typeface="Yu Gothic"/>
              </a:defRPr>
            </a:lvl7pPr>
            <a:lvl8pPr>
              <a:buNone/>
              <a:defRPr sz="4050" b="1">
                <a:solidFill>
                  <a:srgbClr val="18364F"/>
                </a:solidFill>
                <a:latin typeface="Yu Gothic"/>
                <a:ea typeface="Yu Gothic"/>
                <a:cs typeface="Yu Gothic"/>
              </a:defRPr>
            </a:lvl8pPr>
            <a:lvl9pPr>
              <a:buNone/>
              <a:defRPr sz="4050" b="1">
                <a:solidFill>
                  <a:srgbClr val="18364F"/>
                </a:solidFill>
                <a:latin typeface="Yu Gothic"/>
                <a:ea typeface="Yu Gothic"/>
                <a:cs typeface="Yu Gothic"/>
              </a:defRPr>
            </a:lvl9pPr>
          </a:lstStyle>
          <a:p xmlns:a="http://schemas.openxmlformats.org/drawingml/2006/main">
            <a:pPr>
              <a:buNone/>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509945D5-5482-43E8-B58B-C853A9B5C7AB}"/>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buNone/>
              <a:defRPr sz="2925" b="1">
                <a:solidFill>
                  <a:srgbClr val="087E8B"/>
                </a:solidFill>
                <a:latin typeface="Yu Gothic"/>
                <a:ea typeface="Yu Gothic"/>
                <a:cs typeface="Yu Gothic"/>
              </a:defRPr>
            </a:lvl1pPr>
            <a:lvl2pPr>
              <a:buNone/>
              <a:defRPr sz="2925" b="1">
                <a:solidFill>
                  <a:srgbClr val="087E8B"/>
                </a:solidFill>
                <a:latin typeface="Yu Gothic"/>
                <a:ea typeface="Yu Gothic"/>
                <a:cs typeface="Yu Gothic"/>
              </a:defRPr>
            </a:lvl2pPr>
            <a:lvl3pPr>
              <a:buNone/>
              <a:defRPr sz="2925" b="1">
                <a:solidFill>
                  <a:srgbClr val="087E8B"/>
                </a:solidFill>
                <a:latin typeface="Yu Gothic"/>
                <a:ea typeface="Yu Gothic"/>
                <a:cs typeface="Yu Gothic"/>
              </a:defRPr>
            </a:lvl3pPr>
            <a:lvl4pPr>
              <a:buNone/>
              <a:defRPr sz="2925" b="1">
                <a:solidFill>
                  <a:srgbClr val="087E8B"/>
                </a:solidFill>
                <a:latin typeface="Yu Gothic"/>
                <a:ea typeface="Yu Gothic"/>
                <a:cs typeface="Yu Gothic"/>
              </a:defRPr>
            </a:lvl4pPr>
            <a:lvl5pPr>
              <a:buNone/>
              <a:defRPr sz="2925" b="1">
                <a:solidFill>
                  <a:srgbClr val="087E8B"/>
                </a:solidFill>
                <a:latin typeface="Yu Gothic"/>
                <a:ea typeface="Yu Gothic"/>
                <a:cs typeface="Yu Gothic"/>
              </a:defRPr>
            </a:lvl5pPr>
            <a:lvl6pPr>
              <a:buNone/>
              <a:defRPr sz="2925" b="1">
                <a:solidFill>
                  <a:srgbClr val="087E8B"/>
                </a:solidFill>
                <a:latin typeface="Yu Gothic"/>
                <a:ea typeface="Yu Gothic"/>
                <a:cs typeface="Yu Gothic"/>
              </a:defRPr>
            </a:lvl6pPr>
            <a:lvl7pPr>
              <a:buNone/>
              <a:defRPr sz="2925" b="1">
                <a:solidFill>
                  <a:srgbClr val="087E8B"/>
                </a:solidFill>
                <a:latin typeface="Yu Gothic"/>
                <a:ea typeface="Yu Gothic"/>
                <a:cs typeface="Yu Gothic"/>
              </a:defRPr>
            </a:lvl7pPr>
            <a:lvl8pPr>
              <a:buNone/>
              <a:defRPr sz="2925" b="1">
                <a:solidFill>
                  <a:srgbClr val="087E8B"/>
                </a:solidFill>
                <a:latin typeface="Yu Gothic"/>
                <a:ea typeface="Yu Gothic"/>
                <a:cs typeface="Yu Gothic"/>
              </a:defRPr>
            </a:lvl8pPr>
            <a:lvl9pPr>
              <a:buNone/>
              <a:defRPr sz="2925" b="1">
                <a:solidFill>
                  <a:srgbClr val="087E8B"/>
                </a:solidFill>
                <a:latin typeface="Yu Gothic"/>
                <a:ea typeface="Yu Gothic"/>
                <a:cs typeface="Yu Gothic"/>
              </a:defRPr>
            </a:lvl9pPr>
          </a:lstStyle>
          <a:p xmlns:a="http://schemas.openxmlformats.org/drawingml/2006/main">
            <a:pPr>
              <a:buNone/>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第4回　主要構成成分</a:t>
            </a:r>
          </a:p>
        </p:txBody>
      </p:sp>
      <p:sp>
        <p:nvSpPr>
          <p:cNvPr id="3" name="">
            <a:extLst xmlns:a="http://schemas.openxmlformats.org/drawingml/2006/main">
              <a:ext uri="{FF2B5EF4-FFF2-40B4-BE49-F238E27FC236}">
                <a16:creationId xmlns:a16="http://schemas.microsoft.com/office/drawing/2014/main" id="{FD2684CC-6198-4F68-BEF4-237492639077}"/>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570B20-7C84-41FD-9C5C-9E74B20AA53F}"/>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B24397D8-40E0-4242-8D78-8FC61529F822}"/>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52BE5EE9-ABF2-4AF4-BD92-0585376FFDEE}"/>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0AB1451D-F039-42E3-BFD4-E2BA418B5D60}"/>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F720F277-9FB7-402D-8339-77F68BA7EA08}"/>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af11677b62dc4331"/>
              </a:rPr>
              <a:t>https://lc-nue.naruto-u.ac.jp/lcu-web/SC_06001B00_22</a:t>
            </a:r>
          </a:p>
        </p:txBody>
      </p:sp>
      <p:sp>
        <p:nvSpPr>
          <p:cNvPr id="9" name="">
            <a:extLst xmlns:a="http://schemas.openxmlformats.org/drawingml/2006/main">
              <a:ext uri="{FF2B5EF4-FFF2-40B4-BE49-F238E27FC236}">
                <a16:creationId xmlns:a16="http://schemas.microsoft.com/office/drawing/2014/main" id="{D3B33368-D2CB-42F6-82E9-25B5D73DB527}"/>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21234502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58021D-63F1-42E4-98F1-582569F1314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今回の見通し</a:t>
            </a:r>
          </a:p>
        </p:txBody>
      </p:sp>
      <p:sp>
        <p:nvSpPr>
          <p:cNvPr id="2" name="">
            <a:extLst xmlns:a="http://schemas.openxmlformats.org/drawingml/2006/main">
              <a:ext uri="{FF2B5EF4-FFF2-40B4-BE49-F238E27FC236}">
                <a16:creationId xmlns:a16="http://schemas.microsoft.com/office/drawing/2014/main" id="{3FCB57BF-3512-48B0-A565-C784E365F1E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406FE5-DAF4-41B3-943B-ABF033EF792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B96F77EC-10D1-48F6-AB32-762A5D1DE6D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DAC459F7-ECFD-487E-912A-C3D9458BD98E}"/>
              </a:ext>
            </a:extLst>
          </p:cNvPr>
          <p:cNvSpPr>
            <a:spLocks xmlns:a="http://schemas.openxmlformats.org/drawingml/2006/main" noGrp="1"/>
          </p:cNvSpPr>
          <p:nvPr/>
        </p:nvSpPr>
        <p:spPr>
          <a:xfrm xmlns:a="http://schemas.openxmlformats.org/drawingml/2006/main">
            <a:off x="838200" y="16668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層の名前と、成分の名前を区別する</a:t>
            </a:r>
          </a:p>
        </p:txBody>
      </p:sp>
      <p:sp>
        <p:nvSpPr>
          <p:cNvPr id="6" name="">
            <a:extLst xmlns:a="http://schemas.openxmlformats.org/drawingml/2006/main">
              <a:ext uri="{FF2B5EF4-FFF2-40B4-BE49-F238E27FC236}">
                <a16:creationId xmlns:a16="http://schemas.microsoft.com/office/drawing/2014/main" id="{D6A2FA65-14C9-49AE-A6C3-99C48573894F}"/>
              </a:ext>
            </a:extLst>
          </p:cNvPr>
          <p:cNvSpPr>
            <a:spLocks xmlns:a="http://schemas.openxmlformats.org/drawingml/2006/main" noGrp="1"/>
          </p:cNvSpPr>
          <p:nvPr/>
        </p:nvSpPr>
        <p:spPr>
          <a:xfrm xmlns:a="http://schemas.openxmlformats.org/drawingml/2006/main">
            <a:off x="838200" y="26955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主要三成分の役割を、壁の構造へ対応させる</a:t>
            </a:r>
          </a:p>
        </p:txBody>
      </p:sp>
      <p:sp>
        <p:nvSpPr>
          <p:cNvPr id="7" name="">
            <a:extLst xmlns:a="http://schemas.openxmlformats.org/drawingml/2006/main">
              <a:ext uri="{FF2B5EF4-FFF2-40B4-BE49-F238E27FC236}">
                <a16:creationId xmlns:a16="http://schemas.microsoft.com/office/drawing/2014/main" id="{981FCBDE-889A-4E29-A83C-43F0C501F48A}"/>
              </a:ext>
            </a:extLst>
          </p:cNvPr>
          <p:cNvSpPr>
            <a:spLocks xmlns:a="http://schemas.openxmlformats.org/drawingml/2006/main" noGrp="1"/>
          </p:cNvSpPr>
          <p:nvPr/>
        </p:nvSpPr>
        <p:spPr>
          <a:xfrm xmlns:a="http://schemas.openxmlformats.org/drawingml/2006/main">
            <a:off x="838200" y="37242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水素結合から、親水性・疎水性と吸湿へ進む</a:t>
            </a:r>
          </a:p>
        </p:txBody>
      </p:sp>
      <p:sp>
        <p:nvSpPr>
          <p:cNvPr id="8" name="">
            <a:extLst xmlns:a="http://schemas.openxmlformats.org/drawingml/2006/main">
              <a:ext uri="{FF2B5EF4-FFF2-40B4-BE49-F238E27FC236}">
                <a16:creationId xmlns:a16="http://schemas.microsoft.com/office/drawing/2014/main" id="{156178AB-A61D-40E9-B137-B2BA6F315797}"/>
              </a:ext>
            </a:extLst>
          </p:cNvPr>
          <p:cNvSpPr>
            <a:spLocks xmlns:a="http://schemas.openxmlformats.org/drawingml/2006/main" noGrp="1"/>
          </p:cNvSpPr>
          <p:nvPr/>
        </p:nvSpPr>
        <p:spPr>
          <a:xfrm xmlns:a="http://schemas.openxmlformats.org/drawingml/2006/main">
            <a:off x="838200" y="47529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質量割合の計算、説明の演習、課題A1の案内</a:t>
            </a:r>
          </a:p>
        </p:txBody>
      </p:sp>
    </p:spTree>
    <p:extLst>
      <p:ext uri="{BB962C8B-B14F-4D97-AF65-F5344CB8AC3E}">
        <p14:creationId xmlns:p14="http://schemas.microsoft.com/office/powerpoint/2010/main" val="4606148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9FC9950E-7179-4B57-BE95-23F0652CC08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復習：隣り合う細胞と壁</a:t>
            </a:r>
          </a:p>
        </p:txBody>
      </p:sp>
      <p:sp>
        <p:nvSpPr>
          <p:cNvPr id="2" name="">
            <a:extLst xmlns:a="http://schemas.openxmlformats.org/drawingml/2006/main">
              <a:ext uri="{FF2B5EF4-FFF2-40B4-BE49-F238E27FC236}">
                <a16:creationId xmlns:a16="http://schemas.microsoft.com/office/drawing/2014/main" id="{D2C38515-607A-42BC-ABB5-32BDFFEBD35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6D1968-F6D7-4D86-A0E4-385DE3B8192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5E143D70-A2E4-48BC-9C22-CB6FDE67426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9E8D25F8-6B8A-4D1B-BCB8-450F65D73A61}"/>
              </a:ext>
            </a:extLst>
          </p:cNvPr>
          <p:cNvSpPr>
            <a:spLocks xmlns:a="http://schemas.openxmlformats.org/drawingml/2006/main" noGrp="1"/>
          </p:cNvSpPr>
          <p:nvPr/>
        </p:nvSpPr>
        <p:spPr>
          <a:xfrm xmlns:a="http://schemas.openxmlformats.org/drawingml/2006/main">
            <a:off x="876300" y="1809750"/>
            <a:ext cx="1667636"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6" name="">
            <a:extLst xmlns:a="http://schemas.openxmlformats.org/drawingml/2006/main">
              <a:ext uri="{FF2B5EF4-FFF2-40B4-BE49-F238E27FC236}">
                <a16:creationId xmlns:a16="http://schemas.microsoft.com/office/drawing/2014/main" id="{52D4650E-D064-483F-84D3-6A8D551A5C0F}"/>
              </a:ext>
            </a:extLst>
          </p:cNvPr>
          <p:cNvSpPr>
            <a:spLocks xmlns:a="http://schemas.openxmlformats.org/drawingml/2006/main" noGrp="1"/>
          </p:cNvSpPr>
          <p:nvPr/>
        </p:nvSpPr>
        <p:spPr>
          <a:xfrm xmlns:a="http://schemas.openxmlformats.org/drawingml/2006/main">
            <a:off x="895350" y="251460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7" name="">
            <a:extLst xmlns:a="http://schemas.openxmlformats.org/drawingml/2006/main">
              <a:ext uri="{FF2B5EF4-FFF2-40B4-BE49-F238E27FC236}">
                <a16:creationId xmlns:a16="http://schemas.microsoft.com/office/drawing/2014/main" id="{123E870C-A5F2-483F-BE52-B5D8B742A314}"/>
              </a:ext>
            </a:extLst>
          </p:cNvPr>
          <p:cNvSpPr>
            <a:spLocks xmlns:a="http://schemas.openxmlformats.org/drawingml/2006/main" noGrp="1"/>
          </p:cNvSpPr>
          <p:nvPr/>
        </p:nvSpPr>
        <p:spPr>
          <a:xfrm xmlns:a="http://schemas.openxmlformats.org/drawingml/2006/main">
            <a:off x="2543936" y="1809750"/>
            <a:ext cx="233469" cy="1762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8" name="">
            <a:extLst xmlns:a="http://schemas.openxmlformats.org/drawingml/2006/main">
              <a:ext uri="{FF2B5EF4-FFF2-40B4-BE49-F238E27FC236}">
                <a16:creationId xmlns:a16="http://schemas.microsoft.com/office/drawing/2014/main" id="{1015750D-8F81-483E-9C7E-C90C3F90AA4A}"/>
              </a:ext>
            </a:extLst>
          </p:cNvPr>
          <p:cNvSpPr>
            <a:spLocks xmlns:a="http://schemas.openxmlformats.org/drawingml/2006/main" noGrp="1"/>
          </p:cNvSpPr>
          <p:nvPr/>
        </p:nvSpPr>
        <p:spPr>
          <a:xfrm xmlns:a="http://schemas.openxmlformats.org/drawingml/2006/main">
            <a:off x="2777405" y="1809750"/>
            <a:ext cx="2501454" cy="1762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9" name="">
            <a:extLst xmlns:a="http://schemas.openxmlformats.org/drawingml/2006/main">
              <a:ext uri="{FF2B5EF4-FFF2-40B4-BE49-F238E27FC236}">
                <a16:creationId xmlns:a16="http://schemas.microsoft.com/office/drawing/2014/main" id="{A38474E1-1672-46B7-BDEF-050BA810606F}"/>
              </a:ext>
            </a:extLst>
          </p:cNvPr>
          <p:cNvSpPr>
            <a:spLocks xmlns:a="http://schemas.openxmlformats.org/drawingml/2006/main" noGrp="1"/>
          </p:cNvSpPr>
          <p:nvPr/>
        </p:nvSpPr>
        <p:spPr>
          <a:xfrm xmlns:a="http://schemas.openxmlformats.org/drawingml/2006/main">
            <a:off x="2796455" y="251460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0" name="">
            <a:extLst xmlns:a="http://schemas.openxmlformats.org/drawingml/2006/main">
              <a:ext uri="{FF2B5EF4-FFF2-40B4-BE49-F238E27FC236}">
                <a16:creationId xmlns:a16="http://schemas.microsoft.com/office/drawing/2014/main" id="{7A132550-51DC-4D9F-B66E-E1182E0EB846}"/>
              </a:ext>
            </a:extLst>
          </p:cNvPr>
          <p:cNvSpPr>
            <a:spLocks xmlns:a="http://schemas.openxmlformats.org/drawingml/2006/main" noGrp="1"/>
          </p:cNvSpPr>
          <p:nvPr/>
        </p:nvSpPr>
        <p:spPr>
          <a:xfrm xmlns:a="http://schemas.openxmlformats.org/drawingml/2006/main">
            <a:off x="5278858" y="1809750"/>
            <a:ext cx="366880" cy="1762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1" name="">
            <a:extLst xmlns:a="http://schemas.openxmlformats.org/drawingml/2006/main">
              <a:ext uri="{FF2B5EF4-FFF2-40B4-BE49-F238E27FC236}">
                <a16:creationId xmlns:a16="http://schemas.microsoft.com/office/drawing/2014/main" id="{06F0AB46-5F2C-4FA7-8622-CB5F924C4A38}"/>
              </a:ext>
            </a:extLst>
          </p:cNvPr>
          <p:cNvSpPr>
            <a:spLocks xmlns:a="http://schemas.openxmlformats.org/drawingml/2006/main" noGrp="1"/>
          </p:cNvSpPr>
          <p:nvPr/>
        </p:nvSpPr>
        <p:spPr>
          <a:xfrm xmlns:a="http://schemas.openxmlformats.org/drawingml/2006/main">
            <a:off x="5645738" y="1809750"/>
            <a:ext cx="300174" cy="1762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2" name="">
            <a:extLst xmlns:a="http://schemas.openxmlformats.org/drawingml/2006/main">
              <a:ext uri="{FF2B5EF4-FFF2-40B4-BE49-F238E27FC236}">
                <a16:creationId xmlns:a16="http://schemas.microsoft.com/office/drawing/2014/main" id="{98F2910B-77B9-4AD9-8CDE-9B2C0C826390}"/>
              </a:ext>
            </a:extLst>
          </p:cNvPr>
          <p:cNvSpPr>
            <a:spLocks xmlns:a="http://schemas.openxmlformats.org/drawingml/2006/main" noGrp="1"/>
          </p:cNvSpPr>
          <p:nvPr/>
        </p:nvSpPr>
        <p:spPr>
          <a:xfrm xmlns:a="http://schemas.openxmlformats.org/drawingml/2006/main">
            <a:off x="5945913" y="1809750"/>
            <a:ext cx="300174" cy="1762125"/>
          </a:xfrm>
          <a:prstGeom xmlns:a="http://schemas.openxmlformats.org/drawingml/2006/main" prst="rect">
            <a:avLst/>
          </a:prstGeom>
          <a:solidFill xmlns:a="http://schemas.openxmlformats.org/drawingml/2006/main">
            <a:srgbClr val="D9DDE0"/>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66274016-BE29-4147-9A44-70CD210CAFE0}"/>
              </a:ext>
            </a:extLst>
          </p:cNvPr>
          <p:cNvSpPr>
            <a:spLocks xmlns:a="http://schemas.openxmlformats.org/drawingml/2006/main" noGrp="1"/>
          </p:cNvSpPr>
          <p:nvPr/>
        </p:nvSpPr>
        <p:spPr>
          <a:xfrm xmlns:a="http://schemas.openxmlformats.org/drawingml/2006/main">
            <a:off x="6246087" y="1809750"/>
            <a:ext cx="300174" cy="1762125"/>
          </a:xfrm>
          <a:prstGeom xmlns:a="http://schemas.openxmlformats.org/drawingml/2006/main" prst="rect">
            <a:avLst/>
          </a:prstGeom>
          <a:solidFill xmlns:a="http://schemas.openxmlformats.org/drawingml/2006/main">
            <a:srgbClr val="D7B78C"/>
          </a:solidFill>
          <a:ln xmlns:a="http://schemas.openxmlformats.org/drawingml/2006/main" w="9525">
            <a:solidFill>
              <a:srgbClr val="596875"/>
            </a:solidFill>
          </a:ln>
        </p:spPr>
      </p:sp>
      <p:sp>
        <p:nvSpPr>
          <p:cNvPr id="14" name="">
            <a:extLst xmlns:a="http://schemas.openxmlformats.org/drawingml/2006/main">
              <a:ext uri="{FF2B5EF4-FFF2-40B4-BE49-F238E27FC236}">
                <a16:creationId xmlns:a16="http://schemas.microsoft.com/office/drawing/2014/main" id="{FC2C9EC1-CBFD-4797-B474-6E2CFFFE8295}"/>
              </a:ext>
            </a:extLst>
          </p:cNvPr>
          <p:cNvSpPr>
            <a:spLocks xmlns:a="http://schemas.openxmlformats.org/drawingml/2006/main" noGrp="1"/>
          </p:cNvSpPr>
          <p:nvPr/>
        </p:nvSpPr>
        <p:spPr>
          <a:xfrm xmlns:a="http://schemas.openxmlformats.org/drawingml/2006/main">
            <a:off x="6546262" y="1809750"/>
            <a:ext cx="366880" cy="1762125"/>
          </a:xfrm>
          <a:prstGeom xmlns:a="http://schemas.openxmlformats.org/drawingml/2006/main" prst="rect">
            <a:avLst/>
          </a:prstGeom>
          <a:solidFill xmlns:a="http://schemas.openxmlformats.org/drawingml/2006/main">
            <a:srgbClr val="B9D8EC"/>
          </a:solidFill>
          <a:ln xmlns:a="http://schemas.openxmlformats.org/drawingml/2006/main" w="9525">
            <a:solidFill>
              <a:srgbClr val="596875"/>
            </a:solidFill>
          </a:ln>
        </p:spPr>
      </p:sp>
      <p:sp>
        <p:nvSpPr>
          <p:cNvPr id="15" name="">
            <a:extLst xmlns:a="http://schemas.openxmlformats.org/drawingml/2006/main">
              <a:ext uri="{FF2B5EF4-FFF2-40B4-BE49-F238E27FC236}">
                <a16:creationId xmlns:a16="http://schemas.microsoft.com/office/drawing/2014/main" id="{183DAC8A-1728-4F06-A685-CE1499B7DF28}"/>
              </a:ext>
            </a:extLst>
          </p:cNvPr>
          <p:cNvSpPr>
            <a:spLocks xmlns:a="http://schemas.openxmlformats.org/drawingml/2006/main" noGrp="1"/>
          </p:cNvSpPr>
          <p:nvPr/>
        </p:nvSpPr>
        <p:spPr>
          <a:xfrm xmlns:a="http://schemas.openxmlformats.org/drawingml/2006/main">
            <a:off x="6913142" y="1809750"/>
            <a:ext cx="2501454" cy="1762125"/>
          </a:xfrm>
          <a:prstGeom xmlns:a="http://schemas.openxmlformats.org/drawingml/2006/main" prst="rect">
            <a:avLst/>
          </a:prstGeom>
          <a:solidFill xmlns:a="http://schemas.openxmlformats.org/drawingml/2006/main">
            <a:srgbClr val="C5E2D6"/>
          </a:solidFill>
          <a:ln xmlns:a="http://schemas.openxmlformats.org/drawingml/2006/main" w="9525">
            <a:solidFill>
              <a:srgbClr val="596875"/>
            </a:solidFill>
          </a:ln>
        </p:spPr>
      </p:sp>
      <p:sp>
        <p:nvSpPr>
          <p:cNvPr id="16" name="">
            <a:extLst xmlns:a="http://schemas.openxmlformats.org/drawingml/2006/main">
              <a:ext uri="{FF2B5EF4-FFF2-40B4-BE49-F238E27FC236}">
                <a16:creationId xmlns:a16="http://schemas.microsoft.com/office/drawing/2014/main" id="{1FE66264-0A6C-4FAC-9674-F9206AFF9004}"/>
              </a:ext>
            </a:extLst>
          </p:cNvPr>
          <p:cNvSpPr>
            <a:spLocks xmlns:a="http://schemas.openxmlformats.org/drawingml/2006/main" noGrp="1"/>
          </p:cNvSpPr>
          <p:nvPr/>
        </p:nvSpPr>
        <p:spPr>
          <a:xfrm xmlns:a="http://schemas.openxmlformats.org/drawingml/2006/main">
            <a:off x="6932192" y="2514600"/>
            <a:ext cx="246335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S2</a:t>
            </a:r>
          </a:p>
        </p:txBody>
      </p:sp>
      <p:sp>
        <p:nvSpPr>
          <p:cNvPr id="17" name="">
            <a:extLst xmlns:a="http://schemas.openxmlformats.org/drawingml/2006/main">
              <a:ext uri="{FF2B5EF4-FFF2-40B4-BE49-F238E27FC236}">
                <a16:creationId xmlns:a16="http://schemas.microsoft.com/office/drawing/2014/main" id="{642F9911-0960-44CF-B93A-54A1760F6F9F}"/>
              </a:ext>
            </a:extLst>
          </p:cNvPr>
          <p:cNvSpPr>
            <a:spLocks xmlns:a="http://schemas.openxmlformats.org/drawingml/2006/main" noGrp="1"/>
          </p:cNvSpPr>
          <p:nvPr/>
        </p:nvSpPr>
        <p:spPr>
          <a:xfrm xmlns:a="http://schemas.openxmlformats.org/drawingml/2006/main">
            <a:off x="9414595" y="1809750"/>
            <a:ext cx="233469" cy="1762125"/>
          </a:xfrm>
          <a:prstGeom xmlns:a="http://schemas.openxmlformats.org/drawingml/2006/main" prst="rect">
            <a:avLst/>
          </a:prstGeom>
          <a:solidFill xmlns:a="http://schemas.openxmlformats.org/drawingml/2006/main">
            <a:srgbClr val="B8A4CE"/>
          </a:solidFill>
          <a:ln xmlns:a="http://schemas.openxmlformats.org/drawingml/2006/main" w="9525">
            <a:solidFill>
              <a:srgbClr val="596875"/>
            </a:solidFill>
          </a:ln>
        </p:spPr>
      </p:sp>
      <p:sp>
        <p:nvSpPr>
          <p:cNvPr id="18" name="">
            <a:extLst xmlns:a="http://schemas.openxmlformats.org/drawingml/2006/main">
              <a:ext uri="{FF2B5EF4-FFF2-40B4-BE49-F238E27FC236}">
                <a16:creationId xmlns:a16="http://schemas.microsoft.com/office/drawing/2014/main" id="{DC135740-C80B-4FF0-A79C-FC8957D6D41F}"/>
              </a:ext>
            </a:extLst>
          </p:cNvPr>
          <p:cNvSpPr>
            <a:spLocks xmlns:a="http://schemas.openxmlformats.org/drawingml/2006/main" noGrp="1"/>
          </p:cNvSpPr>
          <p:nvPr/>
        </p:nvSpPr>
        <p:spPr>
          <a:xfrm xmlns:a="http://schemas.openxmlformats.org/drawingml/2006/main">
            <a:off x="9648064" y="1809750"/>
            <a:ext cx="1667636"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9" name="">
            <a:extLst xmlns:a="http://schemas.openxmlformats.org/drawingml/2006/main">
              <a:ext uri="{FF2B5EF4-FFF2-40B4-BE49-F238E27FC236}">
                <a16:creationId xmlns:a16="http://schemas.microsoft.com/office/drawing/2014/main" id="{D2DCE2F9-6038-416F-A031-2C0A9233E046}"/>
              </a:ext>
            </a:extLst>
          </p:cNvPr>
          <p:cNvSpPr>
            <a:spLocks xmlns:a="http://schemas.openxmlformats.org/drawingml/2006/main" noGrp="1"/>
          </p:cNvSpPr>
          <p:nvPr/>
        </p:nvSpPr>
        <p:spPr>
          <a:xfrm xmlns:a="http://schemas.openxmlformats.org/drawingml/2006/main">
            <a:off x="9667114" y="2514600"/>
            <a:ext cx="162953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内腔</a:t>
            </a:r>
          </a:p>
        </p:txBody>
      </p:sp>
      <p:sp>
        <p:nvSpPr>
          <p:cNvPr id="20" name="">
            <a:extLst xmlns:a="http://schemas.openxmlformats.org/drawingml/2006/main">
              <a:ext uri="{FF2B5EF4-FFF2-40B4-BE49-F238E27FC236}">
                <a16:creationId xmlns:a16="http://schemas.microsoft.com/office/drawing/2014/main" id="{651AA035-F264-4CBF-852B-2E24DE52E8CC}"/>
              </a:ext>
            </a:extLst>
          </p:cNvPr>
          <p:cNvSpPr>
            <a:spLocks xmlns:a="http://schemas.openxmlformats.org/drawingml/2006/main" noGrp="1"/>
          </p:cNvSpPr>
          <p:nvPr/>
        </p:nvSpPr>
        <p:spPr>
          <a:xfrm xmlns:a="http://schemas.openxmlformats.org/drawingml/2006/main">
            <a:off x="2660670" y="357187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1" name="">
            <a:extLst xmlns:a="http://schemas.openxmlformats.org/drawingml/2006/main">
              <a:ext uri="{FF2B5EF4-FFF2-40B4-BE49-F238E27FC236}">
                <a16:creationId xmlns:a16="http://schemas.microsoft.com/office/drawing/2014/main" id="{75D7BAFB-6F90-4FEF-8760-2FEFBA7FA24A}"/>
              </a:ext>
            </a:extLst>
          </p:cNvPr>
          <p:cNvSpPr>
            <a:spLocks xmlns:a="http://schemas.openxmlformats.org/drawingml/2006/main" noGrp="1"/>
          </p:cNvSpPr>
          <p:nvPr/>
        </p:nvSpPr>
        <p:spPr>
          <a:xfrm xmlns:a="http://schemas.openxmlformats.org/drawingml/2006/main">
            <a:off x="2555895" y="4124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22" name="">
            <a:extLst xmlns:a="http://schemas.openxmlformats.org/drawingml/2006/main">
              <a:ext uri="{FF2B5EF4-FFF2-40B4-BE49-F238E27FC236}">
                <a16:creationId xmlns:a16="http://schemas.microsoft.com/office/drawing/2014/main" id="{E8C361EC-2C99-4743-88FB-EBB6FD0C13A5}"/>
              </a:ext>
            </a:extLst>
          </p:cNvPr>
          <p:cNvSpPr>
            <a:spLocks xmlns:a="http://schemas.openxmlformats.org/drawingml/2006/main" noGrp="1"/>
          </p:cNvSpPr>
          <p:nvPr/>
        </p:nvSpPr>
        <p:spPr>
          <a:xfrm xmlns:a="http://schemas.openxmlformats.org/drawingml/2006/main">
            <a:off x="5462298" y="3571875"/>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3" name="">
            <a:extLst xmlns:a="http://schemas.openxmlformats.org/drawingml/2006/main">
              <a:ext uri="{FF2B5EF4-FFF2-40B4-BE49-F238E27FC236}">
                <a16:creationId xmlns:a16="http://schemas.microsoft.com/office/drawing/2014/main" id="{31B8E220-AB07-4E12-96AB-E47C773F9A3C}"/>
              </a:ext>
            </a:extLst>
          </p:cNvPr>
          <p:cNvSpPr>
            <a:spLocks xmlns:a="http://schemas.openxmlformats.org/drawingml/2006/main" noGrp="1"/>
          </p:cNvSpPr>
          <p:nvPr/>
        </p:nvSpPr>
        <p:spPr>
          <a:xfrm xmlns:a="http://schemas.openxmlformats.org/drawingml/2006/main">
            <a:off x="5357523" y="37242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24" name="">
            <a:extLst xmlns:a="http://schemas.openxmlformats.org/drawingml/2006/main">
              <a:ext uri="{FF2B5EF4-FFF2-40B4-BE49-F238E27FC236}">
                <a16:creationId xmlns:a16="http://schemas.microsoft.com/office/drawing/2014/main" id="{71E347A5-4E37-4CC7-9C50-AA3CE4662809}"/>
              </a:ext>
            </a:extLst>
          </p:cNvPr>
          <p:cNvSpPr>
            <a:spLocks xmlns:a="http://schemas.openxmlformats.org/drawingml/2006/main" noGrp="1"/>
          </p:cNvSpPr>
          <p:nvPr/>
        </p:nvSpPr>
        <p:spPr>
          <a:xfrm xmlns:a="http://schemas.openxmlformats.org/drawingml/2006/main">
            <a:off x="5795826" y="357187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5" name="">
            <a:extLst xmlns:a="http://schemas.openxmlformats.org/drawingml/2006/main">
              <a:ext uri="{FF2B5EF4-FFF2-40B4-BE49-F238E27FC236}">
                <a16:creationId xmlns:a16="http://schemas.microsoft.com/office/drawing/2014/main" id="{C7F62C8F-BF07-4678-9DC1-D9BF9B1595BF}"/>
              </a:ext>
            </a:extLst>
          </p:cNvPr>
          <p:cNvSpPr>
            <a:spLocks xmlns:a="http://schemas.openxmlformats.org/drawingml/2006/main" noGrp="1"/>
          </p:cNvSpPr>
          <p:nvPr/>
        </p:nvSpPr>
        <p:spPr>
          <a:xfrm xmlns:a="http://schemas.openxmlformats.org/drawingml/2006/main">
            <a:off x="5691051" y="4124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26" name="">
            <a:extLst xmlns:a="http://schemas.openxmlformats.org/drawingml/2006/main">
              <a:ext uri="{FF2B5EF4-FFF2-40B4-BE49-F238E27FC236}">
                <a16:creationId xmlns:a16="http://schemas.microsoft.com/office/drawing/2014/main" id="{C69A75B0-7706-4E97-860C-05D0A3A1659B}"/>
              </a:ext>
            </a:extLst>
          </p:cNvPr>
          <p:cNvSpPr>
            <a:spLocks xmlns:a="http://schemas.openxmlformats.org/drawingml/2006/main" noGrp="1"/>
          </p:cNvSpPr>
          <p:nvPr/>
        </p:nvSpPr>
        <p:spPr>
          <a:xfrm xmlns:a="http://schemas.openxmlformats.org/drawingml/2006/main">
            <a:off x="6096000" y="3571875"/>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27" name="">
            <a:extLst xmlns:a="http://schemas.openxmlformats.org/drawingml/2006/main">
              <a:ext uri="{FF2B5EF4-FFF2-40B4-BE49-F238E27FC236}">
                <a16:creationId xmlns:a16="http://schemas.microsoft.com/office/drawing/2014/main" id="{145BE93F-E645-437A-8B6D-EF6E48BE0101}"/>
              </a:ext>
            </a:extLst>
          </p:cNvPr>
          <p:cNvSpPr>
            <a:spLocks xmlns:a="http://schemas.openxmlformats.org/drawingml/2006/main" noGrp="1"/>
          </p:cNvSpPr>
          <p:nvPr/>
        </p:nvSpPr>
        <p:spPr>
          <a:xfrm xmlns:a="http://schemas.openxmlformats.org/drawingml/2006/main">
            <a:off x="5991225" y="37242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I</a:t>
            </a:r>
          </a:p>
        </p:txBody>
      </p:sp>
      <p:sp>
        <p:nvSpPr>
          <p:cNvPr id="28" name="">
            <a:extLst xmlns:a="http://schemas.openxmlformats.org/drawingml/2006/main">
              <a:ext uri="{FF2B5EF4-FFF2-40B4-BE49-F238E27FC236}">
                <a16:creationId xmlns:a16="http://schemas.microsoft.com/office/drawing/2014/main" id="{D472ED05-2AEB-4901-BC48-E84539A47E07}"/>
              </a:ext>
            </a:extLst>
          </p:cNvPr>
          <p:cNvSpPr>
            <a:spLocks xmlns:a="http://schemas.openxmlformats.org/drawingml/2006/main" noGrp="1"/>
          </p:cNvSpPr>
          <p:nvPr/>
        </p:nvSpPr>
        <p:spPr>
          <a:xfrm xmlns:a="http://schemas.openxmlformats.org/drawingml/2006/main">
            <a:off x="6396174" y="357187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29" name="">
            <a:extLst xmlns:a="http://schemas.openxmlformats.org/drawingml/2006/main">
              <a:ext uri="{FF2B5EF4-FFF2-40B4-BE49-F238E27FC236}">
                <a16:creationId xmlns:a16="http://schemas.microsoft.com/office/drawing/2014/main" id="{13BE4CFE-06E9-4764-990E-FC57922E2E20}"/>
              </a:ext>
            </a:extLst>
          </p:cNvPr>
          <p:cNvSpPr>
            <a:spLocks xmlns:a="http://schemas.openxmlformats.org/drawingml/2006/main" noGrp="1"/>
          </p:cNvSpPr>
          <p:nvPr/>
        </p:nvSpPr>
        <p:spPr>
          <a:xfrm xmlns:a="http://schemas.openxmlformats.org/drawingml/2006/main">
            <a:off x="6291399" y="4124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P</a:t>
            </a:r>
          </a:p>
        </p:txBody>
      </p:sp>
      <p:sp>
        <p:nvSpPr>
          <p:cNvPr id="30" name="">
            <a:extLst xmlns:a="http://schemas.openxmlformats.org/drawingml/2006/main">
              <a:ext uri="{FF2B5EF4-FFF2-40B4-BE49-F238E27FC236}">
                <a16:creationId xmlns:a16="http://schemas.microsoft.com/office/drawing/2014/main" id="{A78F3B54-7350-443A-9180-0ECFE5615F44}"/>
              </a:ext>
            </a:extLst>
          </p:cNvPr>
          <p:cNvSpPr>
            <a:spLocks xmlns:a="http://schemas.openxmlformats.org/drawingml/2006/main" noGrp="1"/>
          </p:cNvSpPr>
          <p:nvPr/>
        </p:nvSpPr>
        <p:spPr>
          <a:xfrm xmlns:a="http://schemas.openxmlformats.org/drawingml/2006/main">
            <a:off x="6729702" y="3571875"/>
            <a:ext cx="9525" cy="152400"/>
          </a:xfrm>
          <a:custGeom xmlns:a="http://schemas.openxmlformats.org/drawingml/2006/main">
            <a:pathLst>
              <a:path w="9525" h="152400">
                <a:moveTo>
                  <a:pt x="0" y="0"/>
                </a:moveTo>
                <a:lnTo>
                  <a:pt x="0" y="152400"/>
                </a:lnTo>
              </a:path>
            </a:pathLst>
          </a:custGeom>
          <a:noFill xmlns:a="http://schemas.openxmlformats.org/drawingml/2006/main"/>
          <a:ln xmlns:a="http://schemas.openxmlformats.org/drawingml/2006/main" w="9525">
            <a:solidFill>
              <a:srgbClr val="596875"/>
            </a:solidFill>
          </a:ln>
        </p:spPr>
      </p:sp>
      <p:sp>
        <p:nvSpPr>
          <p:cNvPr id="31" name="">
            <a:extLst xmlns:a="http://schemas.openxmlformats.org/drawingml/2006/main">
              <a:ext uri="{FF2B5EF4-FFF2-40B4-BE49-F238E27FC236}">
                <a16:creationId xmlns:a16="http://schemas.microsoft.com/office/drawing/2014/main" id="{C51E9A46-C953-41FE-80D1-85D39C65F893}"/>
              </a:ext>
            </a:extLst>
          </p:cNvPr>
          <p:cNvSpPr>
            <a:spLocks xmlns:a="http://schemas.openxmlformats.org/drawingml/2006/main" noGrp="1"/>
          </p:cNvSpPr>
          <p:nvPr/>
        </p:nvSpPr>
        <p:spPr>
          <a:xfrm xmlns:a="http://schemas.openxmlformats.org/drawingml/2006/main">
            <a:off x="6624927" y="37242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S1</a:t>
            </a:r>
          </a:p>
        </p:txBody>
      </p:sp>
      <p:sp>
        <p:nvSpPr>
          <p:cNvPr id="32" name="">
            <a:extLst xmlns:a="http://schemas.openxmlformats.org/drawingml/2006/main">
              <a:ext uri="{FF2B5EF4-FFF2-40B4-BE49-F238E27FC236}">
                <a16:creationId xmlns:a16="http://schemas.microsoft.com/office/drawing/2014/main" id="{EA4CEB13-164C-4F75-8165-B8E0C2F686C4}"/>
              </a:ext>
            </a:extLst>
          </p:cNvPr>
          <p:cNvSpPr>
            <a:spLocks xmlns:a="http://schemas.openxmlformats.org/drawingml/2006/main" noGrp="1"/>
          </p:cNvSpPr>
          <p:nvPr/>
        </p:nvSpPr>
        <p:spPr>
          <a:xfrm xmlns:a="http://schemas.openxmlformats.org/drawingml/2006/main">
            <a:off x="9531330" y="3571875"/>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9525">
            <a:solidFill>
              <a:srgbClr val="596875"/>
            </a:solidFill>
          </a:ln>
        </p:spPr>
      </p:sp>
      <p:sp>
        <p:nvSpPr>
          <p:cNvPr id="33" name="">
            <a:extLst xmlns:a="http://schemas.openxmlformats.org/drawingml/2006/main">
              <a:ext uri="{FF2B5EF4-FFF2-40B4-BE49-F238E27FC236}">
                <a16:creationId xmlns:a16="http://schemas.microsoft.com/office/drawing/2014/main" id="{2457AB17-41C2-4562-80BB-29C47EB5292D}"/>
              </a:ext>
            </a:extLst>
          </p:cNvPr>
          <p:cNvSpPr>
            <a:spLocks xmlns:a="http://schemas.openxmlformats.org/drawingml/2006/main" noGrp="1"/>
          </p:cNvSpPr>
          <p:nvPr/>
        </p:nvSpPr>
        <p:spPr>
          <a:xfrm xmlns:a="http://schemas.openxmlformats.org/drawingml/2006/main">
            <a:off x="9426555" y="41243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1">
                <a:solidFill>
                  <a:srgbClr val="18364F"/>
                </a:solidFill>
                <a:latin typeface="Yu Gothic"/>
                <a:ea typeface="Yu Gothic"/>
                <a:cs typeface="Yu Gothic"/>
              </a:defRPr>
            </a:defPPr>
            <a:lvl1pPr>
              <a:buNone/>
              <a:defRPr sz="1650" b="1">
                <a:solidFill>
                  <a:srgbClr val="18364F"/>
                </a:solidFill>
                <a:latin typeface="Yu Gothic"/>
                <a:ea typeface="Yu Gothic"/>
                <a:cs typeface="Yu Gothic"/>
              </a:defRPr>
            </a:lvl1pPr>
            <a:lvl2pPr>
              <a:buNone/>
              <a:defRPr sz="1650" b="1">
                <a:solidFill>
                  <a:srgbClr val="18364F"/>
                </a:solidFill>
                <a:latin typeface="Yu Gothic"/>
                <a:ea typeface="Yu Gothic"/>
                <a:cs typeface="Yu Gothic"/>
              </a:defRPr>
            </a:lvl2pPr>
            <a:lvl3pPr>
              <a:buNone/>
              <a:defRPr sz="1650" b="1">
                <a:solidFill>
                  <a:srgbClr val="18364F"/>
                </a:solidFill>
                <a:latin typeface="Yu Gothic"/>
                <a:ea typeface="Yu Gothic"/>
                <a:cs typeface="Yu Gothic"/>
              </a:defRPr>
            </a:lvl3pPr>
            <a:lvl4pPr>
              <a:buNone/>
              <a:defRPr sz="1650" b="1">
                <a:solidFill>
                  <a:srgbClr val="18364F"/>
                </a:solidFill>
                <a:latin typeface="Yu Gothic"/>
                <a:ea typeface="Yu Gothic"/>
                <a:cs typeface="Yu Gothic"/>
              </a:defRPr>
            </a:lvl4pPr>
            <a:lvl5pPr>
              <a:buNone/>
              <a:defRPr sz="1650" b="1">
                <a:solidFill>
                  <a:srgbClr val="18364F"/>
                </a:solidFill>
                <a:latin typeface="Yu Gothic"/>
                <a:ea typeface="Yu Gothic"/>
                <a:cs typeface="Yu Gothic"/>
              </a:defRPr>
            </a:lvl5pPr>
            <a:lvl6pPr>
              <a:buNone/>
              <a:defRPr sz="1650" b="1">
                <a:solidFill>
                  <a:srgbClr val="18364F"/>
                </a:solidFill>
                <a:latin typeface="Yu Gothic"/>
                <a:ea typeface="Yu Gothic"/>
                <a:cs typeface="Yu Gothic"/>
              </a:defRPr>
            </a:lvl6pPr>
            <a:lvl7pPr>
              <a:buNone/>
              <a:defRPr sz="1650" b="1">
                <a:solidFill>
                  <a:srgbClr val="18364F"/>
                </a:solidFill>
                <a:latin typeface="Yu Gothic"/>
                <a:ea typeface="Yu Gothic"/>
                <a:cs typeface="Yu Gothic"/>
              </a:defRPr>
            </a:lvl7pPr>
            <a:lvl8pPr>
              <a:buNone/>
              <a:defRPr sz="1650" b="1">
                <a:solidFill>
                  <a:srgbClr val="18364F"/>
                </a:solidFill>
                <a:latin typeface="Yu Gothic"/>
                <a:ea typeface="Yu Gothic"/>
                <a:cs typeface="Yu Gothic"/>
              </a:defRPr>
            </a:lvl8pPr>
            <a:lvl9pPr>
              <a:buNone/>
              <a:defRPr sz="1650" b="1">
                <a:solidFill>
                  <a:srgbClr val="18364F"/>
                </a:solidFill>
                <a:latin typeface="Yu Gothic"/>
                <a:ea typeface="Yu Gothic"/>
                <a:cs typeface="Yu Gothic"/>
              </a:defRPr>
            </a:lvl9pPr>
          </a:lstStyle>
          <a:p xmlns:a="http://schemas.openxmlformats.org/drawingml/2006/main">
            <a:pPr>
              <a:buNone/>
              <a:defRPr sz="1650" b="1">
                <a:solidFill>
                  <a:srgbClr val="18364F"/>
                </a:solidFill>
                <a:latin typeface="Yu Gothic"/>
                <a:ea typeface="Yu Gothic"/>
                <a:cs typeface="Yu Gothic"/>
              </a:defRPr>
            </a:pPr>
            <a:r>
              <a:rPr sz="1650" b="1">
                <a:solidFill>
                  <a:srgbClr val="18364F"/>
                </a:solidFill>
                <a:latin typeface="Yu Gothic"/>
                <a:ea typeface="Yu Gothic"/>
                <a:cs typeface="Yu Gothic"/>
              </a:rPr>
              <a:t>S3</a:t>
            </a:r>
          </a:p>
        </p:txBody>
      </p:sp>
      <p:sp>
        <p:nvSpPr>
          <p:cNvPr id="34" name="">
            <a:extLst xmlns:a="http://schemas.openxmlformats.org/drawingml/2006/main">
              <a:ext uri="{FF2B5EF4-FFF2-40B4-BE49-F238E27FC236}">
                <a16:creationId xmlns:a16="http://schemas.microsoft.com/office/drawing/2014/main" id="{AFAAA5F0-C59B-4DC9-9A0C-98D02C5AB598}"/>
              </a:ext>
            </a:extLst>
          </p:cNvPr>
          <p:cNvSpPr>
            <a:spLocks xmlns:a="http://schemas.openxmlformats.org/drawingml/2006/main" noGrp="1"/>
          </p:cNvSpPr>
          <p:nvPr/>
        </p:nvSpPr>
        <p:spPr>
          <a:xfrm xmlns:a="http://schemas.openxmlformats.org/drawingml/2006/main">
            <a:off x="876300" y="1400175"/>
            <a:ext cx="417576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左の細胞</a:t>
            </a:r>
          </a:p>
        </p:txBody>
      </p:sp>
      <p:sp>
        <p:nvSpPr>
          <p:cNvPr id="35" name="">
            <a:extLst xmlns:a="http://schemas.openxmlformats.org/drawingml/2006/main">
              <a:ext uri="{FF2B5EF4-FFF2-40B4-BE49-F238E27FC236}">
                <a16:creationId xmlns:a16="http://schemas.microsoft.com/office/drawing/2014/main" id="{C0C58DBC-A728-4D32-B341-9372F834795A}"/>
              </a:ext>
            </a:extLst>
          </p:cNvPr>
          <p:cNvSpPr>
            <a:spLocks xmlns:a="http://schemas.openxmlformats.org/drawingml/2006/main" noGrp="1"/>
          </p:cNvSpPr>
          <p:nvPr/>
        </p:nvSpPr>
        <p:spPr>
          <a:xfrm xmlns:a="http://schemas.openxmlformats.org/drawingml/2006/main">
            <a:off x="8183880" y="1400175"/>
            <a:ext cx="313182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右の細胞</a:t>
            </a:r>
          </a:p>
        </p:txBody>
      </p:sp>
      <p:sp>
        <p:nvSpPr>
          <p:cNvPr id="36" name="">
            <a:extLst xmlns:a="http://schemas.openxmlformats.org/drawingml/2006/main">
              <a:ext uri="{FF2B5EF4-FFF2-40B4-BE49-F238E27FC236}">
                <a16:creationId xmlns:a16="http://schemas.microsoft.com/office/drawing/2014/main" id="{2C32A3CB-8ACF-47F8-9EEB-4384FD565423}"/>
              </a:ext>
            </a:extLst>
          </p:cNvPr>
          <p:cNvSpPr>
            <a:spLocks xmlns:a="http://schemas.openxmlformats.org/drawingml/2006/main" noGrp="1"/>
          </p:cNvSpPr>
          <p:nvPr/>
        </p:nvSpPr>
        <p:spPr>
          <a:xfrm xmlns:a="http://schemas.openxmlformats.org/drawingml/2006/main">
            <a:off x="876300" y="4581525"/>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buNone/>
              <a:defRPr sz="1650" b="0">
                <a:solidFill>
                  <a:srgbClr val="596875"/>
                </a:solidFill>
                <a:latin typeface="Yu Gothic"/>
                <a:ea typeface="Yu Gothic"/>
                <a:cs typeface="Yu Gothic"/>
              </a:defRPr>
            </a:lvl1pPr>
            <a:lvl2pPr>
              <a:buNone/>
              <a:defRPr sz="1650" b="0">
                <a:solidFill>
                  <a:srgbClr val="596875"/>
                </a:solidFill>
                <a:latin typeface="Yu Gothic"/>
                <a:ea typeface="Yu Gothic"/>
                <a:cs typeface="Yu Gothic"/>
              </a:defRPr>
            </a:lvl2pPr>
            <a:lvl3pPr>
              <a:buNone/>
              <a:defRPr sz="1650" b="0">
                <a:solidFill>
                  <a:srgbClr val="596875"/>
                </a:solidFill>
                <a:latin typeface="Yu Gothic"/>
                <a:ea typeface="Yu Gothic"/>
                <a:cs typeface="Yu Gothic"/>
              </a:defRPr>
            </a:lvl3pPr>
            <a:lvl4pPr>
              <a:buNone/>
              <a:defRPr sz="1650" b="0">
                <a:solidFill>
                  <a:srgbClr val="596875"/>
                </a:solidFill>
                <a:latin typeface="Yu Gothic"/>
                <a:ea typeface="Yu Gothic"/>
                <a:cs typeface="Yu Gothic"/>
              </a:defRPr>
            </a:lvl4pPr>
            <a:lvl5pPr>
              <a:buNone/>
              <a:defRPr sz="1650" b="0">
                <a:solidFill>
                  <a:srgbClr val="596875"/>
                </a:solidFill>
                <a:latin typeface="Yu Gothic"/>
                <a:ea typeface="Yu Gothic"/>
                <a:cs typeface="Yu Gothic"/>
              </a:defRPr>
            </a:lvl5pPr>
            <a:lvl6pPr>
              <a:buNone/>
              <a:defRPr sz="1650" b="0">
                <a:solidFill>
                  <a:srgbClr val="596875"/>
                </a:solidFill>
                <a:latin typeface="Yu Gothic"/>
                <a:ea typeface="Yu Gothic"/>
                <a:cs typeface="Yu Gothic"/>
              </a:defRPr>
            </a:lvl6pPr>
            <a:lvl7pPr>
              <a:buNone/>
              <a:defRPr sz="1650" b="0">
                <a:solidFill>
                  <a:srgbClr val="596875"/>
                </a:solidFill>
                <a:latin typeface="Yu Gothic"/>
                <a:ea typeface="Yu Gothic"/>
                <a:cs typeface="Yu Gothic"/>
              </a:defRPr>
            </a:lvl7pPr>
            <a:lvl8pPr>
              <a:buNone/>
              <a:defRPr sz="1650" b="0">
                <a:solidFill>
                  <a:srgbClr val="596875"/>
                </a:solidFill>
                <a:latin typeface="Yu Gothic"/>
                <a:ea typeface="Yu Gothic"/>
                <a:cs typeface="Yu Gothic"/>
              </a:defRPr>
            </a:lvl8pPr>
            <a:lvl9pPr>
              <a:buNone/>
              <a:defRPr sz="1650" b="0">
                <a:solidFill>
                  <a:srgbClr val="596875"/>
                </a:solidFill>
                <a:latin typeface="Yu Gothic"/>
                <a:ea typeface="Yu Gothic"/>
                <a:cs typeface="Yu Gothic"/>
              </a:defRPr>
            </a:lvl9pPr>
          </a:lstStyle>
          <a:p xmlns:a="http://schemas.openxmlformats.org/drawingml/2006/main">
            <a:pPr>
              <a:buNone/>
              <a:defRPr sz="1650" b="0">
                <a:solidFill>
                  <a:srgbClr val="596875"/>
                </a:solidFill>
                <a:latin typeface="Yu Gothic"/>
                <a:ea typeface="Yu Gothic"/>
                <a:cs typeface="Yu Gothic"/>
              </a:defRPr>
            </a:pPr>
            <a:r>
              <a:rPr sz="1650" b="0">
                <a:solidFill>
                  <a:srgbClr val="596875"/>
                </a:solidFill>
                <a:latin typeface="Yu Gothic"/>
                <a:ea typeface="Yu Gothic"/>
                <a:cs typeface="Yu Gothic"/>
              </a:rPr>
              <a:t>S2 を厚くした模式図。色・厚さ比は実測値ではない。</a:t>
            </a:r>
          </a:p>
        </p:txBody>
      </p:sp>
      <p:sp>
        <p:nvSpPr>
          <p:cNvPr id="37" name="">
            <a:extLst xmlns:a="http://schemas.openxmlformats.org/drawingml/2006/main">
              <a:ext uri="{FF2B5EF4-FFF2-40B4-BE49-F238E27FC236}">
                <a16:creationId xmlns:a16="http://schemas.microsoft.com/office/drawing/2014/main" id="{9144B39A-5BF5-41C0-83E0-BD347CFD9C37}"/>
              </a:ext>
            </a:extLst>
          </p:cNvPr>
          <p:cNvSpPr>
            <a:spLocks xmlns:a="http://schemas.openxmlformats.org/drawingml/2006/main" noGrp="1"/>
          </p:cNvSpPr>
          <p:nvPr/>
        </p:nvSpPr>
        <p:spPr>
          <a:xfrm xmlns:a="http://schemas.openxmlformats.org/drawingml/2006/main">
            <a:off x="838200" y="50292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内腔から外へ：S3・S2・S1・P・I（ML）</a:t>
            </a:r>
          </a:p>
        </p:txBody>
      </p:sp>
      <p:sp>
        <p:nvSpPr>
          <p:cNvPr id="38" name="">
            <a:extLst xmlns:a="http://schemas.openxmlformats.org/drawingml/2006/main">
              <a:ext uri="{FF2B5EF4-FFF2-40B4-BE49-F238E27FC236}">
                <a16:creationId xmlns:a16="http://schemas.microsoft.com/office/drawing/2014/main" id="{B13B6701-DA50-4365-9AB2-96006838E83E}"/>
              </a:ext>
            </a:extLst>
          </p:cNvPr>
          <p:cNvSpPr>
            <a:spLocks xmlns:a="http://schemas.openxmlformats.org/drawingml/2006/main" noGrp="1"/>
          </p:cNvSpPr>
          <p:nvPr/>
        </p:nvSpPr>
        <p:spPr>
          <a:xfrm xmlns:a="http://schemas.openxmlformats.org/drawingml/2006/main">
            <a:off x="838200" y="54102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S2 は、細胞壁の二次壁の層名</a:t>
            </a:r>
          </a:p>
        </p:txBody>
      </p:sp>
      <p:sp>
        <p:nvSpPr>
          <p:cNvPr id="39" name="">
            <a:extLst xmlns:a="http://schemas.openxmlformats.org/drawingml/2006/main">
              <a:ext uri="{FF2B5EF4-FFF2-40B4-BE49-F238E27FC236}">
                <a16:creationId xmlns:a16="http://schemas.microsoft.com/office/drawing/2014/main" id="{FFAE739C-C303-4706-8749-6235028EFDCA}"/>
              </a:ext>
            </a:extLst>
          </p:cNvPr>
          <p:cNvSpPr>
            <a:spLocks xmlns:a="http://schemas.openxmlformats.org/drawingml/2006/main" noGrp="1"/>
          </p:cNvSpPr>
          <p:nvPr/>
        </p:nvSpPr>
        <p:spPr>
          <a:xfrm xmlns:a="http://schemas.openxmlformats.org/drawingml/2006/main">
            <a:off x="838200" y="57912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層の色分けと、成分の色分けを区別する</a:t>
            </a:r>
          </a:p>
        </p:txBody>
      </p:sp>
    </p:spTree>
    <p:extLst>
      <p:ext uri="{BB962C8B-B14F-4D97-AF65-F5344CB8AC3E}">
        <p14:creationId xmlns:p14="http://schemas.microsoft.com/office/powerpoint/2010/main" val="15899539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7E7309-BDAB-41FA-805C-FFF4089B259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層構造と成分は、違う情報</a:t>
            </a:r>
          </a:p>
        </p:txBody>
      </p:sp>
      <p:sp>
        <p:nvSpPr>
          <p:cNvPr id="2" name="">
            <a:extLst xmlns:a="http://schemas.openxmlformats.org/drawingml/2006/main">
              <a:ext uri="{FF2B5EF4-FFF2-40B4-BE49-F238E27FC236}">
                <a16:creationId xmlns:a16="http://schemas.microsoft.com/office/drawing/2014/main" id="{912634A3-A1E7-4DE2-AF49-2FDEA6FF5E6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B0C06B-6906-4330-8A41-790D245A663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7C67AE77-2022-4C87-9372-B285575D0E0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pic>
        <p:nvPicPr>
          <p:cNvPr id="5" name="">
            <a:extLst xmlns:a="http://schemas.openxmlformats.org/drawingml/2006/main">
              <a:ext uri="{FF2B5EF4-FFF2-40B4-BE49-F238E27FC236}">
                <a16:creationId xmlns:a16="http://schemas.microsoft.com/office/drawing/2014/main" id="{89E9E076-6187-4C12-A549-0CC2BC92F68F}"/>
              </a:ext>
            </a:extLst>
          </p:cNvPr>
          <p:cNvPicPr>
            <a:picLocks xmlns:a="http://schemas.openxmlformats.org/drawingml/2006/main" noChangeAspect="1"/>
          </p:cNvPicPr>
          <p:nvPr/>
        </p:nvPicPr>
        <p:blipFill>
          <a:blip xmlns:r="http://schemas.openxmlformats.org/officeDocument/2006/relationships" xmlns:a="http://schemas.openxmlformats.org/drawingml/2006/main" r:embed="Rc20d4b9d69e246b6"/>
          <a:stretch xmlns:a="http://schemas.openxmlformats.org/drawingml/2006/main"/>
        </p:blipFill>
        <p:spPr>
          <a:xfrm xmlns:a="http://schemas.openxmlformats.org/drawingml/2006/main">
            <a:off x="1077005" y="1552575"/>
            <a:ext cx="398008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81571E-92E9-4C40-A9CF-C90D90B57499}"/>
              </a:ext>
            </a:extLst>
          </p:cNvPr>
          <p:cNvSpPr>
            <a:spLocks xmlns:a="http://schemas.openxmlformats.org/drawingml/2006/main" noGrp="1"/>
          </p:cNvSpPr>
          <p:nvPr/>
        </p:nvSpPr>
        <p:spPr>
          <a:xfrm xmlns:a="http://schemas.openxmlformats.org/drawingml/2006/main">
            <a:off x="5905500" y="1619250"/>
            <a:ext cx="5572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P・S1・S2・S3：壁の場所・層の区分</a:t>
            </a:r>
          </a:p>
        </p:txBody>
      </p:sp>
      <p:sp>
        <p:nvSpPr>
          <p:cNvPr id="7" name="">
            <a:extLst xmlns:a="http://schemas.openxmlformats.org/drawingml/2006/main">
              <a:ext uri="{FF2B5EF4-FFF2-40B4-BE49-F238E27FC236}">
                <a16:creationId xmlns:a16="http://schemas.microsoft.com/office/drawing/2014/main" id="{D53420AC-5FDB-48E2-9599-F2DC054BC653}"/>
              </a:ext>
            </a:extLst>
          </p:cNvPr>
          <p:cNvSpPr>
            <a:spLocks xmlns:a="http://schemas.openxmlformats.org/drawingml/2006/main" noGrp="1"/>
          </p:cNvSpPr>
          <p:nvPr/>
        </p:nvSpPr>
        <p:spPr>
          <a:xfrm xmlns:a="http://schemas.openxmlformats.org/drawingml/2006/main">
            <a:off x="5905500" y="2647950"/>
            <a:ext cx="5572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セルロース等：壁をつくる物質の名前</a:t>
            </a:r>
          </a:p>
        </p:txBody>
      </p:sp>
      <p:sp>
        <p:nvSpPr>
          <p:cNvPr id="8" name="">
            <a:extLst xmlns:a="http://schemas.openxmlformats.org/drawingml/2006/main">
              <a:ext uri="{FF2B5EF4-FFF2-40B4-BE49-F238E27FC236}">
                <a16:creationId xmlns:a16="http://schemas.microsoft.com/office/drawing/2014/main" id="{DCC27F37-4FCA-4BB7-BC0A-5EAAC02A97CD}"/>
              </a:ext>
            </a:extLst>
          </p:cNvPr>
          <p:cNvSpPr>
            <a:spLocks xmlns:a="http://schemas.openxmlformats.org/drawingml/2006/main" noGrp="1"/>
          </p:cNvSpPr>
          <p:nvPr/>
        </p:nvSpPr>
        <p:spPr>
          <a:xfrm xmlns:a="http://schemas.openxmlformats.org/drawingml/2006/main">
            <a:off x="5905500" y="3676650"/>
            <a:ext cx="5572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各層に、複数の成分が組み合わさる</a:t>
            </a:r>
          </a:p>
        </p:txBody>
      </p:sp>
      <p:sp>
        <p:nvSpPr>
          <p:cNvPr id="9" name="">
            <a:extLst xmlns:a="http://schemas.openxmlformats.org/drawingml/2006/main">
              <a:ext uri="{FF2B5EF4-FFF2-40B4-BE49-F238E27FC236}">
                <a16:creationId xmlns:a16="http://schemas.microsoft.com/office/drawing/2014/main" id="{34DCAABD-CAF4-4C86-BA5D-BA1BCCDEA7A8}"/>
              </a:ext>
            </a:extLst>
          </p:cNvPr>
          <p:cNvSpPr>
            <a:spLocks xmlns:a="http://schemas.openxmlformats.org/drawingml/2006/main" noGrp="1"/>
          </p:cNvSpPr>
          <p:nvPr/>
        </p:nvSpPr>
        <p:spPr>
          <a:xfrm xmlns:a="http://schemas.openxmlformats.org/drawingml/2006/main">
            <a:off x="5905500" y="4705350"/>
            <a:ext cx="5572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層名と成分名を、一対一に割り当てない</a:t>
            </a:r>
          </a:p>
        </p:txBody>
      </p:sp>
      <p:sp>
        <p:nvSpPr>
          <p:cNvPr id="10" name="">
            <a:extLst xmlns:a="http://schemas.openxmlformats.org/drawingml/2006/main">
              <a:ext uri="{FF2B5EF4-FFF2-40B4-BE49-F238E27FC236}">
                <a16:creationId xmlns:a16="http://schemas.microsoft.com/office/drawing/2014/main" id="{33E91535-1D47-4DE9-B869-08FFEEA142AC}"/>
              </a:ext>
            </a:extLst>
          </p:cNvPr>
          <p:cNvSpPr>
            <a:spLocks xmlns:a="http://schemas.openxmlformats.org/drawingml/2006/main" noGrp="1"/>
          </p:cNvSpPr>
          <p:nvPr/>
        </p:nvSpPr>
        <p:spPr>
          <a:xfrm xmlns:a="http://schemas.openxmlformats.org/drawingml/2006/main">
            <a:off x="685800" y="60293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hlinkClick xmlns:r="http://schemas.openxmlformats.org/officeDocument/2006/relationships" r:id="R8740ffa27f49457b"/>
              </a:rPr>
              <a:t>USDA Wood Handbook 2021, Fig. 3–6（3–7頁）</a:t>
            </a:r>
          </a:p>
        </p:txBody>
      </p:sp>
    </p:spTree>
    <p:extLst>
      <p:ext uri="{BB962C8B-B14F-4D97-AF65-F5344CB8AC3E}">
        <p14:creationId xmlns:p14="http://schemas.microsoft.com/office/powerpoint/2010/main" val="1597748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EBAD9A-814D-4A1D-A0D9-333FDB527A6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細胞壁の主要三成分</a:t>
            </a:r>
          </a:p>
        </p:txBody>
      </p:sp>
      <p:sp>
        <p:nvSpPr>
          <p:cNvPr id="2" name="">
            <a:extLst xmlns:a="http://schemas.openxmlformats.org/drawingml/2006/main">
              <a:ext uri="{FF2B5EF4-FFF2-40B4-BE49-F238E27FC236}">
                <a16:creationId xmlns:a16="http://schemas.microsoft.com/office/drawing/2014/main" id="{33F90204-EA83-46BC-9F21-989B71BC5CD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95AB78-F7CE-43ED-8AB4-BE1D1D8A96E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286E8372-2552-412C-BC5A-1A9A9AC9D7A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graphicFrame>
        <p:nvGraphicFramePr>
          <p:cNvPr id="5" name="">
            <a:extLst xmlns:a="http://schemas.openxmlformats.org/drawingml/2006/main">
              <a:ext uri="{FF2B5EF4-FFF2-40B4-BE49-F238E27FC236}">
                <a16:creationId xmlns:a16="http://schemas.microsoft.com/office/drawing/2014/main" id="{04605FC8-FF00-4783-A86F-B82FE2A38750}"/>
              </a:ext>
            </a:extLst>
          </p:cNvPr>
          <p:cNvGraphicFramePr/>
          <p:nvPr/>
        </p:nvGraphicFramePr>
        <p:xfrm>
          <a:off xmlns:a="http://schemas.openxmlformats.org/drawingml/2006/main" x="838200" y="1828800"/>
          <a:ext xmlns:a="http://schemas.openxmlformats.org/drawingml/2006/main" cx="10477500" cy="3524250"/>
        </p:xfrm>
        <a:graphic xmlns:a="http://schemas.openxmlformats.org/drawingml/2006/main">
          <a:graphicData uri="http://schemas.openxmlformats.org/drawingml/2006/table">
            <a:tbl>
              <a:tblPr/>
              <a:tblGrid>
                <a:gridCol w="2238375"/>
                <a:gridCol w="3714750"/>
                <a:gridCol w="4524375"/>
              </a:tblGrid>
              <a:tr h="881063">
                <a:tc>
                  <a:txBody>
                    <a:bodyPr lIns="95250" tIns="95250" rIns="95250" bIns="95250"/>
                    <a:lstStyle/>
                    <a:p>
                      <a:r>
                        <a:rPr sz="1950" b="1">
                          <a:solidFill>
                            <a:srgbClr val="FFFFFF"/>
                          </a:solidFill>
                          <a:latin typeface="Yu Gothic"/>
                          <a:ea typeface="Yu Gothic"/>
                          <a:cs typeface="Yu Gothic"/>
                        </a:rPr>
                        <a:t>成分</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主な構造の特徴</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細胞壁での見方</a:t>
                      </a:r>
                    </a:p>
                  </a:txBody>
                  <a:tcPr marL="91440" marR="91440" marT="45720" marB="45720">
                    <a:solidFill>
                      <a:srgbClr val="18364F"/>
                    </a:solidFill>
                  </a:tcPr>
                </a:tc>
              </a:tr>
              <a:tr h="881063">
                <a:tc>
                  <a:txBody>
                    <a:bodyPr lIns="95250" tIns="95250" rIns="95250" bIns="95250"/>
                    <a:lstStyle/>
                    <a:p>
                      <a:r>
                        <a:rPr sz="1950" b="0">
                          <a:solidFill>
                            <a:srgbClr val="253C4D"/>
                          </a:solidFill>
                          <a:latin typeface="Yu Gothic"/>
                          <a:ea typeface="Yu Gothic"/>
                          <a:cs typeface="Yu Gothic"/>
                        </a:rPr>
                        <a:t>セルロース</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グルコース単位の長い鎖</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鎖が集合し、ミクロフィブリルへ</a:t>
                      </a:r>
                    </a:p>
                  </a:txBody>
                  <a:tcPr marL="91440" marR="91440" marT="45720" marB="45720">
                    <a:solidFill>
                      <a:srgbClr val="F1F5F7"/>
                    </a:solidFill>
                  </a:tcPr>
                </a:tc>
              </a:tr>
              <a:tr h="881063">
                <a:tc>
                  <a:txBody>
                    <a:bodyPr lIns="95250" tIns="95250" rIns="95250" bIns="95250"/>
                    <a:lstStyle/>
                    <a:p>
                      <a:r>
                        <a:rPr sz="1950" b="0">
                          <a:solidFill>
                            <a:srgbClr val="253C4D"/>
                          </a:solidFill>
                          <a:latin typeface="Yu Gothic"/>
                          <a:ea typeface="Yu Gothic"/>
                          <a:cs typeface="Yu Gothic"/>
                        </a:rPr>
                        <a:t>ヘミセルロース</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複数種の多糖の総称</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周囲の成分との相互作用</a:t>
                      </a:r>
                    </a:p>
                  </a:txBody>
                  <a:tcPr marL="91440" marR="91440" marT="45720" marB="45720">
                    <a:solidFill>
                      <a:srgbClr val="FFFFFF"/>
                    </a:solidFill>
                  </a:tcPr>
                </a:tc>
              </a:tr>
              <a:tr h="881063">
                <a:tc>
                  <a:txBody>
                    <a:bodyPr lIns="95250" tIns="95250" rIns="95250" bIns="95250"/>
                    <a:lstStyle/>
                    <a:p>
                      <a:r>
                        <a:rPr sz="1950" b="0">
                          <a:solidFill>
                            <a:srgbClr val="253C4D"/>
                          </a:solidFill>
                          <a:latin typeface="Yu Gothic"/>
                          <a:ea typeface="Yu Gothic"/>
                          <a:cs typeface="Yu Gothic"/>
                        </a:rPr>
                        <a:t>リグニン</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芳香族構造を含む高分子</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壁や細胞間の複合体の性質</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32E2A7E5-163C-46A7-93E5-CEA51A48F735}"/>
              </a:ext>
            </a:extLst>
          </p:cNvPr>
          <p:cNvSpPr>
            <a:spLocks xmlns:a="http://schemas.openxmlformats.org/drawingml/2006/main" noGrp="1"/>
          </p:cNvSpPr>
          <p:nvPr/>
        </p:nvSpPr>
        <p:spPr>
          <a:xfrm xmlns:a="http://schemas.openxmlformats.org/drawingml/2006/main">
            <a:off x="838200" y="56959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層名に一対一で割り当てず、組合せとして読む。</a:t>
            </a:r>
          </a:p>
        </p:txBody>
      </p:sp>
    </p:spTree>
    <p:extLst>
      <p:ext uri="{BB962C8B-B14F-4D97-AF65-F5344CB8AC3E}">
        <p14:creationId xmlns:p14="http://schemas.microsoft.com/office/powerpoint/2010/main" val="1307908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835E04E-5E47-4BF1-B5B8-3C75A66A2A2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壁の成分の組合せ</a:t>
            </a:r>
          </a:p>
        </p:txBody>
      </p:sp>
      <p:sp>
        <p:nvSpPr>
          <p:cNvPr id="2" name="">
            <a:extLst xmlns:a="http://schemas.openxmlformats.org/drawingml/2006/main">
              <a:ext uri="{FF2B5EF4-FFF2-40B4-BE49-F238E27FC236}">
                <a16:creationId xmlns:a16="http://schemas.microsoft.com/office/drawing/2014/main" id="{B68E286D-5AE0-457B-B4A1-F58C9D4AD70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8D1968-4500-4C0D-ABA0-C47749B5B30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F833AAEE-D42D-49F3-BE08-E2841FC3248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46802E0C-BA67-4C9C-B121-A5B619D10A5D}"/>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3B10D661-8934-4F97-ACA9-5676901C312F}"/>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A52C69B9-20B7-4B37-9F3C-95CE2DAB14BD}"/>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A888CF25-652E-4EA8-92F7-ABF0BA1CEF58}"/>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9E158865-584D-422C-B5AE-D9A00FF0A6E2}"/>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2B499939-E304-4EED-84DD-B62740643D9D}"/>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F311E5DF-0F84-4EDC-A325-5F338F18CFAB}"/>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E416233A-8F84-49E8-BE09-ECC3A17C53FF}"/>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9E21EFE6-93B9-4A69-8099-0D8A2BF551D4}"/>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F8D48A0E-14CE-4113-81F3-99E4FFAB47F3}"/>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2E9612B0-C91B-4A02-9E6A-C6A13F24AF45}"/>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12B29984-0289-4DB4-BAE9-942DE7055C8B}"/>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F2948E37-E55E-4AB8-8788-DD96D95F6DB2}"/>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D06512C3-CED6-495E-AECB-805A9292B818}"/>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23727AFA-A4EF-4E16-A5C4-AD915C8AB3D5}"/>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28557295-5390-464D-BE25-C50C6AD86B60}"/>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03382EC7-3FEB-4785-AE11-265EF4F1CDD5}"/>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ECDA8C1E-79F0-4EBF-A57E-BEB1563881FF}"/>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2227020D-74E1-45EF-A0C5-34ECFDAF88C1}"/>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28319720-364D-425F-BA23-81B5CEC0E8E7}"/>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6EF9FD1C-55A5-4FB4-9A9D-D413174C7757}"/>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11916FED-725B-4344-82B4-5323E75E6029}"/>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0D7B7960-0407-4759-9843-C42DA02547E6}"/>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EF53CD91-E8F1-45A4-AF80-D809A4F21872}"/>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0DAD6196-76BA-4D65-AB2B-3BF8465269F9}"/>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DD16CD9A-C8DF-4E6D-8E77-5152E5FB5DDD}"/>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904606E7-AEA9-4438-98F4-80F80A387C05}"/>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9F5E77DF-2C59-4030-9DB0-D85734E1D7AD}"/>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細長い集合と、その周囲の成分</a:t>
            </a:r>
          </a:p>
        </p:txBody>
      </p:sp>
      <p:sp>
        <p:nvSpPr>
          <p:cNvPr id="33" name="">
            <a:extLst xmlns:a="http://schemas.openxmlformats.org/drawingml/2006/main">
              <a:ext uri="{FF2B5EF4-FFF2-40B4-BE49-F238E27FC236}">
                <a16:creationId xmlns:a16="http://schemas.microsoft.com/office/drawing/2014/main" id="{C4807E6C-A572-4211-B81F-391D45996E1E}"/>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三成分を組み合わせて読む</a:t>
            </a:r>
          </a:p>
        </p:txBody>
      </p:sp>
      <p:sp>
        <p:nvSpPr>
          <p:cNvPr id="34" name="">
            <a:extLst xmlns:a="http://schemas.openxmlformats.org/drawingml/2006/main">
              <a:ext uri="{FF2B5EF4-FFF2-40B4-BE49-F238E27FC236}">
                <a16:creationId xmlns:a16="http://schemas.microsoft.com/office/drawing/2014/main" id="{C50CADF6-9E8F-4F93-8C04-882C01ED7617}"/>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層名と成分名は、別の情報</a:t>
            </a:r>
          </a:p>
        </p:txBody>
      </p:sp>
      <p:sp>
        <p:nvSpPr>
          <p:cNvPr id="35" name="">
            <a:extLst xmlns:a="http://schemas.openxmlformats.org/drawingml/2006/main">
              <a:ext uri="{FF2B5EF4-FFF2-40B4-BE49-F238E27FC236}">
                <a16:creationId xmlns:a16="http://schemas.microsoft.com/office/drawing/2014/main" id="{986D4E0F-F8AD-4BF1-9B1A-C09C90ACAC76}"/>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485158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CD26715B-BC7F-4210-94E4-AEB7493C6B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セルロースの鎖と集合</a:t>
            </a:r>
          </a:p>
        </p:txBody>
      </p:sp>
      <p:sp>
        <p:nvSpPr>
          <p:cNvPr id="2" name="">
            <a:extLst xmlns:a="http://schemas.openxmlformats.org/drawingml/2006/main">
              <a:ext uri="{FF2B5EF4-FFF2-40B4-BE49-F238E27FC236}">
                <a16:creationId xmlns:a16="http://schemas.microsoft.com/office/drawing/2014/main" id="{BCE73CCF-96E3-4FDB-A1F2-DCA3CA382F2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3C9A88-A3DE-4B87-8F62-F248F9562A6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30B88EAF-0DA5-4A11-99CF-257E2056A63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251DECC7-5BD4-478F-8D8B-B22B2F0DCDA8}"/>
              </a:ext>
            </a:extLst>
          </p:cNvPr>
          <p:cNvSpPr>
            <a:spLocks xmlns:a="http://schemas.openxmlformats.org/drawingml/2006/main" noGrp="1"/>
          </p:cNvSpPr>
          <p:nvPr/>
        </p:nvSpPr>
        <p:spPr>
          <a:xfrm xmlns:a="http://schemas.openxmlformats.org/drawingml/2006/main">
            <a:off x="1419225"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6" name="">
            <a:extLst xmlns:a="http://schemas.openxmlformats.org/drawingml/2006/main">
              <a:ext uri="{FF2B5EF4-FFF2-40B4-BE49-F238E27FC236}">
                <a16:creationId xmlns:a16="http://schemas.microsoft.com/office/drawing/2014/main" id="{EE904081-F6CA-4051-A08A-16483B0382F4}"/>
              </a:ext>
            </a:extLst>
          </p:cNvPr>
          <p:cNvSpPr>
            <a:spLocks xmlns:a="http://schemas.openxmlformats.org/drawingml/2006/main" noGrp="1"/>
          </p:cNvSpPr>
          <p:nvPr/>
        </p:nvSpPr>
        <p:spPr>
          <a:xfrm xmlns:a="http://schemas.openxmlformats.org/drawingml/2006/main">
            <a:off x="981075"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7" name="">
            <a:extLst xmlns:a="http://schemas.openxmlformats.org/drawingml/2006/main">
              <a:ext uri="{FF2B5EF4-FFF2-40B4-BE49-F238E27FC236}">
                <a16:creationId xmlns:a16="http://schemas.microsoft.com/office/drawing/2014/main" id="{22ACFAE0-A475-439F-99FD-E12C3BEFD9A8}"/>
              </a:ext>
            </a:extLst>
          </p:cNvPr>
          <p:cNvSpPr>
            <a:spLocks xmlns:a="http://schemas.openxmlformats.org/drawingml/2006/main" noGrp="1"/>
          </p:cNvSpPr>
          <p:nvPr/>
        </p:nvSpPr>
        <p:spPr>
          <a:xfrm xmlns:a="http://schemas.openxmlformats.org/drawingml/2006/main">
            <a:off x="2038350"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8" name="">
            <a:extLst xmlns:a="http://schemas.openxmlformats.org/drawingml/2006/main">
              <a:ext uri="{FF2B5EF4-FFF2-40B4-BE49-F238E27FC236}">
                <a16:creationId xmlns:a16="http://schemas.microsoft.com/office/drawing/2014/main" id="{C6A0D2DD-8340-4C3F-95E8-2515BC114339}"/>
              </a:ext>
            </a:extLst>
          </p:cNvPr>
          <p:cNvSpPr>
            <a:spLocks xmlns:a="http://schemas.openxmlformats.org/drawingml/2006/main" noGrp="1"/>
          </p:cNvSpPr>
          <p:nvPr/>
        </p:nvSpPr>
        <p:spPr>
          <a:xfrm xmlns:a="http://schemas.openxmlformats.org/drawingml/2006/main">
            <a:off x="1600200"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9" name="">
            <a:extLst xmlns:a="http://schemas.openxmlformats.org/drawingml/2006/main">
              <a:ext uri="{FF2B5EF4-FFF2-40B4-BE49-F238E27FC236}">
                <a16:creationId xmlns:a16="http://schemas.microsoft.com/office/drawing/2014/main" id="{A30E104B-4585-4C30-BFAC-F7B684E272B9}"/>
              </a:ext>
            </a:extLst>
          </p:cNvPr>
          <p:cNvSpPr>
            <a:spLocks xmlns:a="http://schemas.openxmlformats.org/drawingml/2006/main" noGrp="1"/>
          </p:cNvSpPr>
          <p:nvPr/>
        </p:nvSpPr>
        <p:spPr>
          <a:xfrm xmlns:a="http://schemas.openxmlformats.org/drawingml/2006/main">
            <a:off x="2657475"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0" name="">
            <a:extLst xmlns:a="http://schemas.openxmlformats.org/drawingml/2006/main">
              <a:ext uri="{FF2B5EF4-FFF2-40B4-BE49-F238E27FC236}">
                <a16:creationId xmlns:a16="http://schemas.microsoft.com/office/drawing/2014/main" id="{2C5E30BD-1F0D-46C9-812F-27DB3EE111FD}"/>
              </a:ext>
            </a:extLst>
          </p:cNvPr>
          <p:cNvSpPr>
            <a:spLocks xmlns:a="http://schemas.openxmlformats.org/drawingml/2006/main" noGrp="1"/>
          </p:cNvSpPr>
          <p:nvPr/>
        </p:nvSpPr>
        <p:spPr>
          <a:xfrm xmlns:a="http://schemas.openxmlformats.org/drawingml/2006/main">
            <a:off x="2219325"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1" name="">
            <a:extLst xmlns:a="http://schemas.openxmlformats.org/drawingml/2006/main">
              <a:ext uri="{FF2B5EF4-FFF2-40B4-BE49-F238E27FC236}">
                <a16:creationId xmlns:a16="http://schemas.microsoft.com/office/drawing/2014/main" id="{BA940DEE-2D4E-4159-B1A5-E52CA8A9EE87}"/>
              </a:ext>
            </a:extLst>
          </p:cNvPr>
          <p:cNvSpPr>
            <a:spLocks xmlns:a="http://schemas.openxmlformats.org/drawingml/2006/main" noGrp="1"/>
          </p:cNvSpPr>
          <p:nvPr/>
        </p:nvSpPr>
        <p:spPr>
          <a:xfrm xmlns:a="http://schemas.openxmlformats.org/drawingml/2006/main">
            <a:off x="3276600"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2" name="">
            <a:extLst xmlns:a="http://schemas.openxmlformats.org/drawingml/2006/main">
              <a:ext uri="{FF2B5EF4-FFF2-40B4-BE49-F238E27FC236}">
                <a16:creationId xmlns:a16="http://schemas.microsoft.com/office/drawing/2014/main" id="{18867ACC-0AAB-4F4A-9CDB-E268BDC96C3C}"/>
              </a:ext>
            </a:extLst>
          </p:cNvPr>
          <p:cNvSpPr>
            <a:spLocks xmlns:a="http://schemas.openxmlformats.org/drawingml/2006/main" noGrp="1"/>
          </p:cNvSpPr>
          <p:nvPr/>
        </p:nvSpPr>
        <p:spPr>
          <a:xfrm xmlns:a="http://schemas.openxmlformats.org/drawingml/2006/main">
            <a:off x="2838450"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3" name="">
            <a:extLst xmlns:a="http://schemas.openxmlformats.org/drawingml/2006/main">
              <a:ext uri="{FF2B5EF4-FFF2-40B4-BE49-F238E27FC236}">
                <a16:creationId xmlns:a16="http://schemas.microsoft.com/office/drawing/2014/main" id="{F7AA9AA6-B2CE-49D3-A41A-D6D869DCCA4F}"/>
              </a:ext>
            </a:extLst>
          </p:cNvPr>
          <p:cNvSpPr>
            <a:spLocks xmlns:a="http://schemas.openxmlformats.org/drawingml/2006/main" noGrp="1"/>
          </p:cNvSpPr>
          <p:nvPr/>
        </p:nvSpPr>
        <p:spPr>
          <a:xfrm xmlns:a="http://schemas.openxmlformats.org/drawingml/2006/main">
            <a:off x="3895725" y="20955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4" name="">
            <a:extLst xmlns:a="http://schemas.openxmlformats.org/drawingml/2006/main">
              <a:ext uri="{FF2B5EF4-FFF2-40B4-BE49-F238E27FC236}">
                <a16:creationId xmlns:a16="http://schemas.microsoft.com/office/drawing/2014/main" id="{F0066A85-2967-4B6C-B58E-210183F66167}"/>
              </a:ext>
            </a:extLst>
          </p:cNvPr>
          <p:cNvSpPr>
            <a:spLocks xmlns:a="http://schemas.openxmlformats.org/drawingml/2006/main" noGrp="1"/>
          </p:cNvSpPr>
          <p:nvPr/>
        </p:nvSpPr>
        <p:spPr>
          <a:xfrm xmlns:a="http://schemas.openxmlformats.org/drawingml/2006/main">
            <a:off x="3457575"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5" name="">
            <a:extLst xmlns:a="http://schemas.openxmlformats.org/drawingml/2006/main">
              <a:ext uri="{FF2B5EF4-FFF2-40B4-BE49-F238E27FC236}">
                <a16:creationId xmlns:a16="http://schemas.microsoft.com/office/drawing/2014/main" id="{63A3EFF8-A46D-4510-9855-D52520B7E4EE}"/>
              </a:ext>
            </a:extLst>
          </p:cNvPr>
          <p:cNvSpPr>
            <a:spLocks xmlns:a="http://schemas.openxmlformats.org/drawingml/2006/main" noGrp="1"/>
          </p:cNvSpPr>
          <p:nvPr/>
        </p:nvSpPr>
        <p:spPr>
          <a:xfrm xmlns:a="http://schemas.openxmlformats.org/drawingml/2006/main">
            <a:off x="4076700" y="19050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6" name="">
            <a:extLst xmlns:a="http://schemas.openxmlformats.org/drawingml/2006/main">
              <a:ext uri="{FF2B5EF4-FFF2-40B4-BE49-F238E27FC236}">
                <a16:creationId xmlns:a16="http://schemas.microsoft.com/office/drawing/2014/main" id="{5FF7ECEF-A483-4322-9061-87EF05C78A47}"/>
              </a:ext>
            </a:extLst>
          </p:cNvPr>
          <p:cNvSpPr>
            <a:spLocks xmlns:a="http://schemas.openxmlformats.org/drawingml/2006/main" noGrp="1"/>
          </p:cNvSpPr>
          <p:nvPr/>
        </p:nvSpPr>
        <p:spPr>
          <a:xfrm xmlns:a="http://schemas.openxmlformats.org/drawingml/2006/main">
            <a:off x="1419225"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7" name="">
            <a:extLst xmlns:a="http://schemas.openxmlformats.org/drawingml/2006/main">
              <a:ext uri="{FF2B5EF4-FFF2-40B4-BE49-F238E27FC236}">
                <a16:creationId xmlns:a16="http://schemas.microsoft.com/office/drawing/2014/main" id="{699882E0-886C-42AF-B74A-8D0B1A85EA8C}"/>
              </a:ext>
            </a:extLst>
          </p:cNvPr>
          <p:cNvSpPr>
            <a:spLocks xmlns:a="http://schemas.openxmlformats.org/drawingml/2006/main" noGrp="1"/>
          </p:cNvSpPr>
          <p:nvPr/>
        </p:nvSpPr>
        <p:spPr>
          <a:xfrm xmlns:a="http://schemas.openxmlformats.org/drawingml/2006/main">
            <a:off x="981075"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18" name="">
            <a:extLst xmlns:a="http://schemas.openxmlformats.org/drawingml/2006/main">
              <a:ext uri="{FF2B5EF4-FFF2-40B4-BE49-F238E27FC236}">
                <a16:creationId xmlns:a16="http://schemas.microsoft.com/office/drawing/2014/main" id="{470B6566-CCCC-40AB-B096-CAA237377A2B}"/>
              </a:ext>
            </a:extLst>
          </p:cNvPr>
          <p:cNvSpPr>
            <a:spLocks xmlns:a="http://schemas.openxmlformats.org/drawingml/2006/main" noGrp="1"/>
          </p:cNvSpPr>
          <p:nvPr/>
        </p:nvSpPr>
        <p:spPr>
          <a:xfrm xmlns:a="http://schemas.openxmlformats.org/drawingml/2006/main">
            <a:off x="2038350"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19" name="">
            <a:extLst xmlns:a="http://schemas.openxmlformats.org/drawingml/2006/main">
              <a:ext uri="{FF2B5EF4-FFF2-40B4-BE49-F238E27FC236}">
                <a16:creationId xmlns:a16="http://schemas.microsoft.com/office/drawing/2014/main" id="{1A35EF24-755D-47A5-A12A-673B7F5D8F0A}"/>
              </a:ext>
            </a:extLst>
          </p:cNvPr>
          <p:cNvSpPr>
            <a:spLocks xmlns:a="http://schemas.openxmlformats.org/drawingml/2006/main" noGrp="1"/>
          </p:cNvSpPr>
          <p:nvPr/>
        </p:nvSpPr>
        <p:spPr>
          <a:xfrm xmlns:a="http://schemas.openxmlformats.org/drawingml/2006/main">
            <a:off x="1600200"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0" name="">
            <a:extLst xmlns:a="http://schemas.openxmlformats.org/drawingml/2006/main">
              <a:ext uri="{FF2B5EF4-FFF2-40B4-BE49-F238E27FC236}">
                <a16:creationId xmlns:a16="http://schemas.microsoft.com/office/drawing/2014/main" id="{8B1FA6A8-83D7-45FD-8072-D4CBF5F2A052}"/>
              </a:ext>
            </a:extLst>
          </p:cNvPr>
          <p:cNvSpPr>
            <a:spLocks xmlns:a="http://schemas.openxmlformats.org/drawingml/2006/main" noGrp="1"/>
          </p:cNvSpPr>
          <p:nvPr/>
        </p:nvSpPr>
        <p:spPr>
          <a:xfrm xmlns:a="http://schemas.openxmlformats.org/drawingml/2006/main">
            <a:off x="2657475"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21" name="">
            <a:extLst xmlns:a="http://schemas.openxmlformats.org/drawingml/2006/main">
              <a:ext uri="{FF2B5EF4-FFF2-40B4-BE49-F238E27FC236}">
                <a16:creationId xmlns:a16="http://schemas.microsoft.com/office/drawing/2014/main" id="{B827148D-AC22-4111-8C07-1038F4B00A79}"/>
              </a:ext>
            </a:extLst>
          </p:cNvPr>
          <p:cNvSpPr>
            <a:spLocks xmlns:a="http://schemas.openxmlformats.org/drawingml/2006/main" noGrp="1"/>
          </p:cNvSpPr>
          <p:nvPr/>
        </p:nvSpPr>
        <p:spPr>
          <a:xfrm xmlns:a="http://schemas.openxmlformats.org/drawingml/2006/main">
            <a:off x="2219325"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2" name="">
            <a:extLst xmlns:a="http://schemas.openxmlformats.org/drawingml/2006/main">
              <a:ext uri="{FF2B5EF4-FFF2-40B4-BE49-F238E27FC236}">
                <a16:creationId xmlns:a16="http://schemas.microsoft.com/office/drawing/2014/main" id="{DA9A8145-C368-4C05-B877-EDDB5CE70EE1}"/>
              </a:ext>
            </a:extLst>
          </p:cNvPr>
          <p:cNvSpPr>
            <a:spLocks xmlns:a="http://schemas.openxmlformats.org/drawingml/2006/main" noGrp="1"/>
          </p:cNvSpPr>
          <p:nvPr/>
        </p:nvSpPr>
        <p:spPr>
          <a:xfrm xmlns:a="http://schemas.openxmlformats.org/drawingml/2006/main">
            <a:off x="3276600"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23" name="">
            <a:extLst xmlns:a="http://schemas.openxmlformats.org/drawingml/2006/main">
              <a:ext uri="{FF2B5EF4-FFF2-40B4-BE49-F238E27FC236}">
                <a16:creationId xmlns:a16="http://schemas.microsoft.com/office/drawing/2014/main" id="{0A836741-FB2D-4CE4-BDBC-61FB42DAC43D}"/>
              </a:ext>
            </a:extLst>
          </p:cNvPr>
          <p:cNvSpPr>
            <a:spLocks xmlns:a="http://schemas.openxmlformats.org/drawingml/2006/main" noGrp="1"/>
          </p:cNvSpPr>
          <p:nvPr/>
        </p:nvSpPr>
        <p:spPr>
          <a:xfrm xmlns:a="http://schemas.openxmlformats.org/drawingml/2006/main">
            <a:off x="2838450"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4" name="">
            <a:extLst xmlns:a="http://schemas.openxmlformats.org/drawingml/2006/main">
              <a:ext uri="{FF2B5EF4-FFF2-40B4-BE49-F238E27FC236}">
                <a16:creationId xmlns:a16="http://schemas.microsoft.com/office/drawing/2014/main" id="{C2639ABB-93EE-48D1-A98E-39869D84B323}"/>
              </a:ext>
            </a:extLst>
          </p:cNvPr>
          <p:cNvSpPr>
            <a:spLocks xmlns:a="http://schemas.openxmlformats.org/drawingml/2006/main" noGrp="1"/>
          </p:cNvSpPr>
          <p:nvPr/>
        </p:nvSpPr>
        <p:spPr>
          <a:xfrm xmlns:a="http://schemas.openxmlformats.org/drawingml/2006/main">
            <a:off x="3895725" y="25717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25" name="">
            <a:extLst xmlns:a="http://schemas.openxmlformats.org/drawingml/2006/main">
              <a:ext uri="{FF2B5EF4-FFF2-40B4-BE49-F238E27FC236}">
                <a16:creationId xmlns:a16="http://schemas.microsoft.com/office/drawing/2014/main" id="{C402244A-5773-4D95-9DC8-79252D4AFB05}"/>
              </a:ext>
            </a:extLst>
          </p:cNvPr>
          <p:cNvSpPr>
            <a:spLocks xmlns:a="http://schemas.openxmlformats.org/drawingml/2006/main" noGrp="1"/>
          </p:cNvSpPr>
          <p:nvPr/>
        </p:nvSpPr>
        <p:spPr>
          <a:xfrm xmlns:a="http://schemas.openxmlformats.org/drawingml/2006/main">
            <a:off x="3457575"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6" name="">
            <a:extLst xmlns:a="http://schemas.openxmlformats.org/drawingml/2006/main">
              <a:ext uri="{FF2B5EF4-FFF2-40B4-BE49-F238E27FC236}">
                <a16:creationId xmlns:a16="http://schemas.microsoft.com/office/drawing/2014/main" id="{F3E0A5AE-F021-491A-84F3-FF927D4100BD}"/>
              </a:ext>
            </a:extLst>
          </p:cNvPr>
          <p:cNvSpPr>
            <a:spLocks xmlns:a="http://schemas.openxmlformats.org/drawingml/2006/main" noGrp="1"/>
          </p:cNvSpPr>
          <p:nvPr/>
        </p:nvSpPr>
        <p:spPr>
          <a:xfrm xmlns:a="http://schemas.openxmlformats.org/drawingml/2006/main">
            <a:off x="4076700" y="23812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7" name="">
            <a:extLst xmlns:a="http://schemas.openxmlformats.org/drawingml/2006/main">
              <a:ext uri="{FF2B5EF4-FFF2-40B4-BE49-F238E27FC236}">
                <a16:creationId xmlns:a16="http://schemas.microsoft.com/office/drawing/2014/main" id="{B6AC5680-99CE-47BA-A78A-017C790F3D13}"/>
              </a:ext>
            </a:extLst>
          </p:cNvPr>
          <p:cNvSpPr>
            <a:spLocks xmlns:a="http://schemas.openxmlformats.org/drawingml/2006/main" noGrp="1"/>
          </p:cNvSpPr>
          <p:nvPr/>
        </p:nvSpPr>
        <p:spPr>
          <a:xfrm xmlns:a="http://schemas.openxmlformats.org/drawingml/2006/main">
            <a:off x="1419225"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28" name="">
            <a:extLst xmlns:a="http://schemas.openxmlformats.org/drawingml/2006/main">
              <a:ext uri="{FF2B5EF4-FFF2-40B4-BE49-F238E27FC236}">
                <a16:creationId xmlns:a16="http://schemas.microsoft.com/office/drawing/2014/main" id="{1EF7CF94-488A-406F-B9B3-CDD5AB4E2984}"/>
              </a:ext>
            </a:extLst>
          </p:cNvPr>
          <p:cNvSpPr>
            <a:spLocks xmlns:a="http://schemas.openxmlformats.org/drawingml/2006/main" noGrp="1"/>
          </p:cNvSpPr>
          <p:nvPr/>
        </p:nvSpPr>
        <p:spPr>
          <a:xfrm xmlns:a="http://schemas.openxmlformats.org/drawingml/2006/main">
            <a:off x="981075"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29" name="">
            <a:extLst xmlns:a="http://schemas.openxmlformats.org/drawingml/2006/main">
              <a:ext uri="{FF2B5EF4-FFF2-40B4-BE49-F238E27FC236}">
                <a16:creationId xmlns:a16="http://schemas.microsoft.com/office/drawing/2014/main" id="{D34ACC84-5FCC-45E2-B21C-583A31A497A1}"/>
              </a:ext>
            </a:extLst>
          </p:cNvPr>
          <p:cNvSpPr>
            <a:spLocks xmlns:a="http://schemas.openxmlformats.org/drawingml/2006/main" noGrp="1"/>
          </p:cNvSpPr>
          <p:nvPr/>
        </p:nvSpPr>
        <p:spPr>
          <a:xfrm xmlns:a="http://schemas.openxmlformats.org/drawingml/2006/main">
            <a:off x="2038350"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0" name="">
            <a:extLst xmlns:a="http://schemas.openxmlformats.org/drawingml/2006/main">
              <a:ext uri="{FF2B5EF4-FFF2-40B4-BE49-F238E27FC236}">
                <a16:creationId xmlns:a16="http://schemas.microsoft.com/office/drawing/2014/main" id="{C77945D1-8393-4B93-9EE2-58BADEF5FA51}"/>
              </a:ext>
            </a:extLst>
          </p:cNvPr>
          <p:cNvSpPr>
            <a:spLocks xmlns:a="http://schemas.openxmlformats.org/drawingml/2006/main" noGrp="1"/>
          </p:cNvSpPr>
          <p:nvPr/>
        </p:nvSpPr>
        <p:spPr>
          <a:xfrm xmlns:a="http://schemas.openxmlformats.org/drawingml/2006/main">
            <a:off x="1600200"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1" name="">
            <a:extLst xmlns:a="http://schemas.openxmlformats.org/drawingml/2006/main">
              <a:ext uri="{FF2B5EF4-FFF2-40B4-BE49-F238E27FC236}">
                <a16:creationId xmlns:a16="http://schemas.microsoft.com/office/drawing/2014/main" id="{E300FCAF-64A0-44B5-8624-E415EEB9B36C}"/>
              </a:ext>
            </a:extLst>
          </p:cNvPr>
          <p:cNvSpPr>
            <a:spLocks xmlns:a="http://schemas.openxmlformats.org/drawingml/2006/main" noGrp="1"/>
          </p:cNvSpPr>
          <p:nvPr/>
        </p:nvSpPr>
        <p:spPr>
          <a:xfrm xmlns:a="http://schemas.openxmlformats.org/drawingml/2006/main">
            <a:off x="2657475"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2" name="">
            <a:extLst xmlns:a="http://schemas.openxmlformats.org/drawingml/2006/main">
              <a:ext uri="{FF2B5EF4-FFF2-40B4-BE49-F238E27FC236}">
                <a16:creationId xmlns:a16="http://schemas.microsoft.com/office/drawing/2014/main" id="{1802DC2F-BCC0-4F27-BD80-D8A578C609A3}"/>
              </a:ext>
            </a:extLst>
          </p:cNvPr>
          <p:cNvSpPr>
            <a:spLocks xmlns:a="http://schemas.openxmlformats.org/drawingml/2006/main" noGrp="1"/>
          </p:cNvSpPr>
          <p:nvPr/>
        </p:nvSpPr>
        <p:spPr>
          <a:xfrm xmlns:a="http://schemas.openxmlformats.org/drawingml/2006/main">
            <a:off x="2219325"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3" name="">
            <a:extLst xmlns:a="http://schemas.openxmlformats.org/drawingml/2006/main">
              <a:ext uri="{FF2B5EF4-FFF2-40B4-BE49-F238E27FC236}">
                <a16:creationId xmlns:a16="http://schemas.microsoft.com/office/drawing/2014/main" id="{55F2B4C5-4F18-4330-904C-850B01637D22}"/>
              </a:ext>
            </a:extLst>
          </p:cNvPr>
          <p:cNvSpPr>
            <a:spLocks xmlns:a="http://schemas.openxmlformats.org/drawingml/2006/main" noGrp="1"/>
          </p:cNvSpPr>
          <p:nvPr/>
        </p:nvSpPr>
        <p:spPr>
          <a:xfrm xmlns:a="http://schemas.openxmlformats.org/drawingml/2006/main">
            <a:off x="3276600"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4" name="">
            <a:extLst xmlns:a="http://schemas.openxmlformats.org/drawingml/2006/main">
              <a:ext uri="{FF2B5EF4-FFF2-40B4-BE49-F238E27FC236}">
                <a16:creationId xmlns:a16="http://schemas.microsoft.com/office/drawing/2014/main" id="{4F029297-1E01-4C1D-AD68-FE7E68B0D24A}"/>
              </a:ext>
            </a:extLst>
          </p:cNvPr>
          <p:cNvSpPr>
            <a:spLocks xmlns:a="http://schemas.openxmlformats.org/drawingml/2006/main" noGrp="1"/>
          </p:cNvSpPr>
          <p:nvPr/>
        </p:nvSpPr>
        <p:spPr>
          <a:xfrm xmlns:a="http://schemas.openxmlformats.org/drawingml/2006/main">
            <a:off x="2838450"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5" name="">
            <a:extLst xmlns:a="http://schemas.openxmlformats.org/drawingml/2006/main">
              <a:ext uri="{FF2B5EF4-FFF2-40B4-BE49-F238E27FC236}">
                <a16:creationId xmlns:a16="http://schemas.microsoft.com/office/drawing/2014/main" id="{1CCBDCE6-DDBC-491F-AED4-8283F8D2EC99}"/>
              </a:ext>
            </a:extLst>
          </p:cNvPr>
          <p:cNvSpPr>
            <a:spLocks xmlns:a="http://schemas.openxmlformats.org/drawingml/2006/main" noGrp="1"/>
          </p:cNvSpPr>
          <p:nvPr/>
        </p:nvSpPr>
        <p:spPr>
          <a:xfrm xmlns:a="http://schemas.openxmlformats.org/drawingml/2006/main">
            <a:off x="3895725" y="304800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6" name="">
            <a:extLst xmlns:a="http://schemas.openxmlformats.org/drawingml/2006/main">
              <a:ext uri="{FF2B5EF4-FFF2-40B4-BE49-F238E27FC236}">
                <a16:creationId xmlns:a16="http://schemas.microsoft.com/office/drawing/2014/main" id="{68861F93-3275-433E-9F2D-53B1F5DFE5E3}"/>
              </a:ext>
            </a:extLst>
          </p:cNvPr>
          <p:cNvSpPr>
            <a:spLocks xmlns:a="http://schemas.openxmlformats.org/drawingml/2006/main" noGrp="1"/>
          </p:cNvSpPr>
          <p:nvPr/>
        </p:nvSpPr>
        <p:spPr>
          <a:xfrm xmlns:a="http://schemas.openxmlformats.org/drawingml/2006/main">
            <a:off x="3457575"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7" name="">
            <a:extLst xmlns:a="http://schemas.openxmlformats.org/drawingml/2006/main">
              <a:ext uri="{FF2B5EF4-FFF2-40B4-BE49-F238E27FC236}">
                <a16:creationId xmlns:a16="http://schemas.microsoft.com/office/drawing/2014/main" id="{563E5DA1-B75E-4D8F-A378-9A0C39A7357F}"/>
              </a:ext>
            </a:extLst>
          </p:cNvPr>
          <p:cNvSpPr>
            <a:spLocks xmlns:a="http://schemas.openxmlformats.org/drawingml/2006/main" noGrp="1"/>
          </p:cNvSpPr>
          <p:nvPr/>
        </p:nvSpPr>
        <p:spPr>
          <a:xfrm xmlns:a="http://schemas.openxmlformats.org/drawingml/2006/main">
            <a:off x="4076700" y="285750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38" name="">
            <a:extLst xmlns:a="http://schemas.openxmlformats.org/drawingml/2006/main">
              <a:ext uri="{FF2B5EF4-FFF2-40B4-BE49-F238E27FC236}">
                <a16:creationId xmlns:a16="http://schemas.microsoft.com/office/drawing/2014/main" id="{6EDEF342-16B8-4B60-97D4-B11E29DD0C31}"/>
              </a:ext>
            </a:extLst>
          </p:cNvPr>
          <p:cNvSpPr>
            <a:spLocks xmlns:a="http://schemas.openxmlformats.org/drawingml/2006/main" noGrp="1"/>
          </p:cNvSpPr>
          <p:nvPr/>
        </p:nvSpPr>
        <p:spPr>
          <a:xfrm xmlns:a="http://schemas.openxmlformats.org/drawingml/2006/main">
            <a:off x="1419225"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39" name="">
            <a:extLst xmlns:a="http://schemas.openxmlformats.org/drawingml/2006/main">
              <a:ext uri="{FF2B5EF4-FFF2-40B4-BE49-F238E27FC236}">
                <a16:creationId xmlns:a16="http://schemas.microsoft.com/office/drawing/2014/main" id="{7656E07E-8D90-4056-B7A3-5E02D42ED25D}"/>
              </a:ext>
            </a:extLst>
          </p:cNvPr>
          <p:cNvSpPr>
            <a:spLocks xmlns:a="http://schemas.openxmlformats.org/drawingml/2006/main" noGrp="1"/>
          </p:cNvSpPr>
          <p:nvPr/>
        </p:nvSpPr>
        <p:spPr>
          <a:xfrm xmlns:a="http://schemas.openxmlformats.org/drawingml/2006/main">
            <a:off x="981075"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0" name="">
            <a:extLst xmlns:a="http://schemas.openxmlformats.org/drawingml/2006/main">
              <a:ext uri="{FF2B5EF4-FFF2-40B4-BE49-F238E27FC236}">
                <a16:creationId xmlns:a16="http://schemas.microsoft.com/office/drawing/2014/main" id="{AD303B57-2960-418F-BE82-DFAC486EE6C9}"/>
              </a:ext>
            </a:extLst>
          </p:cNvPr>
          <p:cNvSpPr>
            <a:spLocks xmlns:a="http://schemas.openxmlformats.org/drawingml/2006/main" noGrp="1"/>
          </p:cNvSpPr>
          <p:nvPr/>
        </p:nvSpPr>
        <p:spPr>
          <a:xfrm xmlns:a="http://schemas.openxmlformats.org/drawingml/2006/main">
            <a:off x="2038350"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41" name="">
            <a:extLst xmlns:a="http://schemas.openxmlformats.org/drawingml/2006/main">
              <a:ext uri="{FF2B5EF4-FFF2-40B4-BE49-F238E27FC236}">
                <a16:creationId xmlns:a16="http://schemas.microsoft.com/office/drawing/2014/main" id="{4A262535-EB35-410C-88C1-E85370DCDD0C}"/>
              </a:ext>
            </a:extLst>
          </p:cNvPr>
          <p:cNvSpPr>
            <a:spLocks xmlns:a="http://schemas.openxmlformats.org/drawingml/2006/main" noGrp="1"/>
          </p:cNvSpPr>
          <p:nvPr/>
        </p:nvSpPr>
        <p:spPr>
          <a:xfrm xmlns:a="http://schemas.openxmlformats.org/drawingml/2006/main">
            <a:off x="1600200"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2" name="">
            <a:extLst xmlns:a="http://schemas.openxmlformats.org/drawingml/2006/main">
              <a:ext uri="{FF2B5EF4-FFF2-40B4-BE49-F238E27FC236}">
                <a16:creationId xmlns:a16="http://schemas.microsoft.com/office/drawing/2014/main" id="{9AA3F99F-BD6B-4FA9-8FBD-92041825718F}"/>
              </a:ext>
            </a:extLst>
          </p:cNvPr>
          <p:cNvSpPr>
            <a:spLocks xmlns:a="http://schemas.openxmlformats.org/drawingml/2006/main" noGrp="1"/>
          </p:cNvSpPr>
          <p:nvPr/>
        </p:nvSpPr>
        <p:spPr>
          <a:xfrm xmlns:a="http://schemas.openxmlformats.org/drawingml/2006/main">
            <a:off x="2657475"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43" name="">
            <a:extLst xmlns:a="http://schemas.openxmlformats.org/drawingml/2006/main">
              <a:ext uri="{FF2B5EF4-FFF2-40B4-BE49-F238E27FC236}">
                <a16:creationId xmlns:a16="http://schemas.microsoft.com/office/drawing/2014/main" id="{245F6B79-3AF1-4695-AA47-DB9410B7DF78}"/>
              </a:ext>
            </a:extLst>
          </p:cNvPr>
          <p:cNvSpPr>
            <a:spLocks xmlns:a="http://schemas.openxmlformats.org/drawingml/2006/main" noGrp="1"/>
          </p:cNvSpPr>
          <p:nvPr/>
        </p:nvSpPr>
        <p:spPr>
          <a:xfrm xmlns:a="http://schemas.openxmlformats.org/drawingml/2006/main">
            <a:off x="2219325"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4" name="">
            <a:extLst xmlns:a="http://schemas.openxmlformats.org/drawingml/2006/main">
              <a:ext uri="{FF2B5EF4-FFF2-40B4-BE49-F238E27FC236}">
                <a16:creationId xmlns:a16="http://schemas.microsoft.com/office/drawing/2014/main" id="{E0AE84CB-2FC0-42B9-902A-A596F780DE35}"/>
              </a:ext>
            </a:extLst>
          </p:cNvPr>
          <p:cNvSpPr>
            <a:spLocks xmlns:a="http://schemas.openxmlformats.org/drawingml/2006/main" noGrp="1"/>
          </p:cNvSpPr>
          <p:nvPr/>
        </p:nvSpPr>
        <p:spPr>
          <a:xfrm xmlns:a="http://schemas.openxmlformats.org/drawingml/2006/main">
            <a:off x="3276600"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45" name="">
            <a:extLst xmlns:a="http://schemas.openxmlformats.org/drawingml/2006/main">
              <a:ext uri="{FF2B5EF4-FFF2-40B4-BE49-F238E27FC236}">
                <a16:creationId xmlns:a16="http://schemas.microsoft.com/office/drawing/2014/main" id="{9EE658BC-2786-4B06-9EA7-7F9658056266}"/>
              </a:ext>
            </a:extLst>
          </p:cNvPr>
          <p:cNvSpPr>
            <a:spLocks xmlns:a="http://schemas.openxmlformats.org/drawingml/2006/main" noGrp="1"/>
          </p:cNvSpPr>
          <p:nvPr/>
        </p:nvSpPr>
        <p:spPr>
          <a:xfrm xmlns:a="http://schemas.openxmlformats.org/drawingml/2006/main">
            <a:off x="2838450"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6" name="">
            <a:extLst xmlns:a="http://schemas.openxmlformats.org/drawingml/2006/main">
              <a:ext uri="{FF2B5EF4-FFF2-40B4-BE49-F238E27FC236}">
                <a16:creationId xmlns:a16="http://schemas.microsoft.com/office/drawing/2014/main" id="{C5FA035A-507D-4360-A4C8-EFD8B0F7B395}"/>
              </a:ext>
            </a:extLst>
          </p:cNvPr>
          <p:cNvSpPr>
            <a:spLocks xmlns:a="http://schemas.openxmlformats.org/drawingml/2006/main" noGrp="1"/>
          </p:cNvSpPr>
          <p:nvPr/>
        </p:nvSpPr>
        <p:spPr>
          <a:xfrm xmlns:a="http://schemas.openxmlformats.org/drawingml/2006/main">
            <a:off x="3895725" y="3524250"/>
            <a:ext cx="161925" cy="9525"/>
          </a:xfrm>
          <a:custGeom xmlns:a="http://schemas.openxmlformats.org/drawingml/2006/main">
            <a:pathLst>
              <a:path w="161925" h="9525">
                <a:moveTo>
                  <a:pt x="0" y="0"/>
                </a:moveTo>
                <a:lnTo>
                  <a:pt x="161925" y="0"/>
                </a:lnTo>
              </a:path>
            </a:pathLst>
          </a:custGeom>
          <a:noFill xmlns:a="http://schemas.openxmlformats.org/drawingml/2006/main"/>
          <a:ln xmlns:a="http://schemas.openxmlformats.org/drawingml/2006/main" w="28575">
            <a:solidFill>
              <a:srgbClr val="2876A8"/>
            </a:solidFill>
          </a:ln>
        </p:spPr>
      </p:sp>
      <p:sp>
        <p:nvSpPr>
          <p:cNvPr id="47" name="">
            <a:extLst xmlns:a="http://schemas.openxmlformats.org/drawingml/2006/main">
              <a:ext uri="{FF2B5EF4-FFF2-40B4-BE49-F238E27FC236}">
                <a16:creationId xmlns:a16="http://schemas.microsoft.com/office/drawing/2014/main" id="{04364D88-157C-4111-B6D7-29C7A5AB8AA9}"/>
              </a:ext>
            </a:extLst>
          </p:cNvPr>
          <p:cNvSpPr>
            <a:spLocks xmlns:a="http://schemas.openxmlformats.org/drawingml/2006/main" noGrp="1"/>
          </p:cNvSpPr>
          <p:nvPr/>
        </p:nvSpPr>
        <p:spPr>
          <a:xfrm xmlns:a="http://schemas.openxmlformats.org/drawingml/2006/main">
            <a:off x="3457575"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8" name="">
            <a:extLst xmlns:a="http://schemas.openxmlformats.org/drawingml/2006/main">
              <a:ext uri="{FF2B5EF4-FFF2-40B4-BE49-F238E27FC236}">
                <a16:creationId xmlns:a16="http://schemas.microsoft.com/office/drawing/2014/main" id="{73133082-C2B3-4571-9165-CCF3B60E47A6}"/>
              </a:ext>
            </a:extLst>
          </p:cNvPr>
          <p:cNvSpPr>
            <a:spLocks xmlns:a="http://schemas.openxmlformats.org/drawingml/2006/main" noGrp="1"/>
          </p:cNvSpPr>
          <p:nvPr/>
        </p:nvSpPr>
        <p:spPr>
          <a:xfrm xmlns:a="http://schemas.openxmlformats.org/drawingml/2006/main">
            <a:off x="4076700" y="3333750"/>
            <a:ext cx="419100" cy="361950"/>
          </a:xfrm>
          <a:prstGeom xmlns:a="http://schemas.openxmlformats.org/drawingml/2006/main" prst="rect">
            <a:avLst/>
          </a:prstGeom>
          <a:solidFill xmlns:a="http://schemas.openxmlformats.org/drawingml/2006/main">
            <a:srgbClr val="DDEBF5"/>
          </a:solidFill>
          <a:ln xmlns:a="http://schemas.openxmlformats.org/drawingml/2006/main" w="19050">
            <a:solidFill>
              <a:srgbClr val="2876A8"/>
            </a:solidFill>
          </a:ln>
        </p:spPr>
      </p:sp>
      <p:sp>
        <p:nvSpPr>
          <p:cNvPr id="49" name="">
            <a:extLst xmlns:a="http://schemas.openxmlformats.org/drawingml/2006/main">
              <a:ext uri="{FF2B5EF4-FFF2-40B4-BE49-F238E27FC236}">
                <a16:creationId xmlns:a16="http://schemas.microsoft.com/office/drawing/2014/main" id="{325D8E16-18F8-4C87-BE2C-1B0EAF094578}"/>
              </a:ext>
            </a:extLst>
          </p:cNvPr>
          <p:cNvSpPr>
            <a:spLocks xmlns:a="http://schemas.openxmlformats.org/drawingml/2006/main" noGrp="1"/>
          </p:cNvSpPr>
          <p:nvPr/>
        </p:nvSpPr>
        <p:spPr>
          <a:xfrm xmlns:a="http://schemas.openxmlformats.org/drawingml/2006/main">
            <a:off x="5238750" y="2809875"/>
            <a:ext cx="904875" cy="9525"/>
          </a:xfrm>
          <a:custGeom xmlns:a="http://schemas.openxmlformats.org/drawingml/2006/main">
            <a:pathLst>
              <a:path w="904875" h="9525">
                <a:moveTo>
                  <a:pt x="0" y="0"/>
                </a:moveTo>
                <a:lnTo>
                  <a:pt x="904875" y="0"/>
                </a:lnTo>
              </a:path>
            </a:pathLst>
          </a:custGeom>
          <a:noFill xmlns:a="http://schemas.openxmlformats.org/drawingml/2006/main"/>
          <a:ln xmlns:a="http://schemas.openxmlformats.org/drawingml/2006/main" w="28575">
            <a:solidFill>
              <a:srgbClr val="18364F"/>
            </a:solidFill>
          </a:ln>
        </p:spPr>
      </p:sp>
      <p:sp>
        <p:nvSpPr>
          <p:cNvPr id="50" name="">
            <a:extLst xmlns:a="http://schemas.openxmlformats.org/drawingml/2006/main">
              <a:ext uri="{FF2B5EF4-FFF2-40B4-BE49-F238E27FC236}">
                <a16:creationId xmlns:a16="http://schemas.microsoft.com/office/drawing/2014/main" id="{623A2171-FDD4-4FE5-A82F-AFFF103688B0}"/>
              </a:ext>
            </a:extLst>
          </p:cNvPr>
          <p:cNvSpPr>
            <a:spLocks xmlns:a="http://schemas.openxmlformats.org/drawingml/2006/main" noGrp="1"/>
          </p:cNvSpPr>
          <p:nvPr/>
        </p:nvSpPr>
        <p:spPr>
          <a:xfrm xmlns:a="http://schemas.openxmlformats.org/drawingml/2006/main">
            <a:off x="6040704" y="2760158"/>
            <a:ext cx="102921" cy="99433"/>
          </a:xfrm>
          <a:custGeom xmlns:a="http://schemas.openxmlformats.org/drawingml/2006/main">
            <a:pathLst>
              <a:path w="102921" h="99433">
                <a:moveTo>
                  <a:pt x="0" y="99433"/>
                </a:moveTo>
                <a:lnTo>
                  <a:pt x="102921" y="49717"/>
                </a:lnTo>
                <a:lnTo>
                  <a:pt x="0" y="0"/>
                </a:lnTo>
              </a:path>
            </a:pathLst>
          </a:custGeom>
          <a:noFill xmlns:a="http://schemas.openxmlformats.org/drawingml/2006/main"/>
          <a:ln xmlns:a="http://schemas.openxmlformats.org/drawingml/2006/main" w="28575">
            <a:solidFill>
              <a:srgbClr val="18364F"/>
            </a:solidFill>
          </a:ln>
        </p:spPr>
      </p:sp>
      <p:sp>
        <p:nvSpPr>
          <p:cNvPr id="51" name="">
            <a:extLst xmlns:a="http://schemas.openxmlformats.org/drawingml/2006/main">
              <a:ext uri="{FF2B5EF4-FFF2-40B4-BE49-F238E27FC236}">
                <a16:creationId xmlns:a16="http://schemas.microsoft.com/office/drawing/2014/main" id="{86C20B4D-BBFB-4DCE-80CF-9E1501EF9077}"/>
              </a:ext>
            </a:extLst>
          </p:cNvPr>
          <p:cNvSpPr>
            <a:spLocks xmlns:a="http://schemas.openxmlformats.org/drawingml/2006/main" noGrp="1"/>
          </p:cNvSpPr>
          <p:nvPr/>
        </p:nvSpPr>
        <p:spPr>
          <a:xfrm xmlns:a="http://schemas.openxmlformats.org/drawingml/2006/main">
            <a:off x="671512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2" name="">
            <a:extLst xmlns:a="http://schemas.openxmlformats.org/drawingml/2006/main">
              <a:ext uri="{FF2B5EF4-FFF2-40B4-BE49-F238E27FC236}">
                <a16:creationId xmlns:a16="http://schemas.microsoft.com/office/drawing/2014/main" id="{9A2564D2-A0FF-460C-8D64-1C76993970FB}"/>
              </a:ext>
            </a:extLst>
          </p:cNvPr>
          <p:cNvSpPr>
            <a:spLocks xmlns:a="http://schemas.openxmlformats.org/drawingml/2006/main" noGrp="1"/>
          </p:cNvSpPr>
          <p:nvPr/>
        </p:nvSpPr>
        <p:spPr>
          <a:xfrm xmlns:a="http://schemas.openxmlformats.org/drawingml/2006/main">
            <a:off x="683895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3" name="">
            <a:extLst xmlns:a="http://schemas.openxmlformats.org/drawingml/2006/main">
              <a:ext uri="{FF2B5EF4-FFF2-40B4-BE49-F238E27FC236}">
                <a16:creationId xmlns:a16="http://schemas.microsoft.com/office/drawing/2014/main" id="{174B2E83-555A-43D6-AF53-91F38743FE93}"/>
              </a:ext>
            </a:extLst>
          </p:cNvPr>
          <p:cNvSpPr>
            <a:spLocks xmlns:a="http://schemas.openxmlformats.org/drawingml/2006/main" noGrp="1"/>
          </p:cNvSpPr>
          <p:nvPr/>
        </p:nvSpPr>
        <p:spPr>
          <a:xfrm xmlns:a="http://schemas.openxmlformats.org/drawingml/2006/main">
            <a:off x="696277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4" name="">
            <a:extLst xmlns:a="http://schemas.openxmlformats.org/drawingml/2006/main">
              <a:ext uri="{FF2B5EF4-FFF2-40B4-BE49-F238E27FC236}">
                <a16:creationId xmlns:a16="http://schemas.microsoft.com/office/drawing/2014/main" id="{17727C2E-5E92-4C60-BE77-F14D39481B45}"/>
              </a:ext>
            </a:extLst>
          </p:cNvPr>
          <p:cNvSpPr>
            <a:spLocks xmlns:a="http://schemas.openxmlformats.org/drawingml/2006/main" noGrp="1"/>
          </p:cNvSpPr>
          <p:nvPr/>
        </p:nvSpPr>
        <p:spPr>
          <a:xfrm xmlns:a="http://schemas.openxmlformats.org/drawingml/2006/main">
            <a:off x="708660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5" name="">
            <a:extLst xmlns:a="http://schemas.openxmlformats.org/drawingml/2006/main">
              <a:ext uri="{FF2B5EF4-FFF2-40B4-BE49-F238E27FC236}">
                <a16:creationId xmlns:a16="http://schemas.microsoft.com/office/drawing/2014/main" id="{F1BB8036-6297-42A7-AA1D-613FB39A9C8B}"/>
              </a:ext>
            </a:extLst>
          </p:cNvPr>
          <p:cNvSpPr>
            <a:spLocks xmlns:a="http://schemas.openxmlformats.org/drawingml/2006/main" noGrp="1"/>
          </p:cNvSpPr>
          <p:nvPr/>
        </p:nvSpPr>
        <p:spPr>
          <a:xfrm xmlns:a="http://schemas.openxmlformats.org/drawingml/2006/main">
            <a:off x="721042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6" name="">
            <a:extLst xmlns:a="http://schemas.openxmlformats.org/drawingml/2006/main">
              <a:ext uri="{FF2B5EF4-FFF2-40B4-BE49-F238E27FC236}">
                <a16:creationId xmlns:a16="http://schemas.microsoft.com/office/drawing/2014/main" id="{1E9D4BB3-E0CE-45FB-A668-CFF3130396D8}"/>
              </a:ext>
            </a:extLst>
          </p:cNvPr>
          <p:cNvSpPr>
            <a:spLocks xmlns:a="http://schemas.openxmlformats.org/drawingml/2006/main" noGrp="1"/>
          </p:cNvSpPr>
          <p:nvPr/>
        </p:nvSpPr>
        <p:spPr>
          <a:xfrm xmlns:a="http://schemas.openxmlformats.org/drawingml/2006/main">
            <a:off x="733425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7" name="">
            <a:extLst xmlns:a="http://schemas.openxmlformats.org/drawingml/2006/main">
              <a:ext uri="{FF2B5EF4-FFF2-40B4-BE49-F238E27FC236}">
                <a16:creationId xmlns:a16="http://schemas.microsoft.com/office/drawing/2014/main" id="{F809418D-D8BD-4BF6-A9F4-1007032F358C}"/>
              </a:ext>
            </a:extLst>
          </p:cNvPr>
          <p:cNvSpPr>
            <a:spLocks xmlns:a="http://schemas.openxmlformats.org/drawingml/2006/main" noGrp="1"/>
          </p:cNvSpPr>
          <p:nvPr/>
        </p:nvSpPr>
        <p:spPr>
          <a:xfrm xmlns:a="http://schemas.openxmlformats.org/drawingml/2006/main">
            <a:off x="745807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8" name="">
            <a:extLst xmlns:a="http://schemas.openxmlformats.org/drawingml/2006/main">
              <a:ext uri="{FF2B5EF4-FFF2-40B4-BE49-F238E27FC236}">
                <a16:creationId xmlns:a16="http://schemas.microsoft.com/office/drawing/2014/main" id="{6CC8E433-67F1-4AE7-A9E3-F1BBD286D12F}"/>
              </a:ext>
            </a:extLst>
          </p:cNvPr>
          <p:cNvSpPr>
            <a:spLocks xmlns:a="http://schemas.openxmlformats.org/drawingml/2006/main" noGrp="1"/>
          </p:cNvSpPr>
          <p:nvPr/>
        </p:nvSpPr>
        <p:spPr>
          <a:xfrm xmlns:a="http://schemas.openxmlformats.org/drawingml/2006/main">
            <a:off x="758190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59" name="">
            <a:extLst xmlns:a="http://schemas.openxmlformats.org/drawingml/2006/main">
              <a:ext uri="{FF2B5EF4-FFF2-40B4-BE49-F238E27FC236}">
                <a16:creationId xmlns:a16="http://schemas.microsoft.com/office/drawing/2014/main" id="{C8A471C3-91F4-48EA-98A5-5F1EFC8AF257}"/>
              </a:ext>
            </a:extLst>
          </p:cNvPr>
          <p:cNvSpPr>
            <a:spLocks xmlns:a="http://schemas.openxmlformats.org/drawingml/2006/main" noGrp="1"/>
          </p:cNvSpPr>
          <p:nvPr/>
        </p:nvSpPr>
        <p:spPr>
          <a:xfrm xmlns:a="http://schemas.openxmlformats.org/drawingml/2006/main">
            <a:off x="770572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60" name="">
            <a:extLst xmlns:a="http://schemas.openxmlformats.org/drawingml/2006/main">
              <a:ext uri="{FF2B5EF4-FFF2-40B4-BE49-F238E27FC236}">
                <a16:creationId xmlns:a16="http://schemas.microsoft.com/office/drawing/2014/main" id="{00316C07-2B18-478D-8F6F-A9D8FE6F3432}"/>
              </a:ext>
            </a:extLst>
          </p:cNvPr>
          <p:cNvSpPr>
            <a:spLocks xmlns:a="http://schemas.openxmlformats.org/drawingml/2006/main" noGrp="1"/>
          </p:cNvSpPr>
          <p:nvPr/>
        </p:nvSpPr>
        <p:spPr>
          <a:xfrm xmlns:a="http://schemas.openxmlformats.org/drawingml/2006/main">
            <a:off x="782955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61" name="">
            <a:extLst xmlns:a="http://schemas.openxmlformats.org/drawingml/2006/main">
              <a:ext uri="{FF2B5EF4-FFF2-40B4-BE49-F238E27FC236}">
                <a16:creationId xmlns:a16="http://schemas.microsoft.com/office/drawing/2014/main" id="{1C079985-CDE2-4E2B-883F-A903AD2BF75C}"/>
              </a:ext>
            </a:extLst>
          </p:cNvPr>
          <p:cNvSpPr>
            <a:spLocks xmlns:a="http://schemas.openxmlformats.org/drawingml/2006/main" noGrp="1"/>
          </p:cNvSpPr>
          <p:nvPr/>
        </p:nvSpPr>
        <p:spPr>
          <a:xfrm xmlns:a="http://schemas.openxmlformats.org/drawingml/2006/main">
            <a:off x="7953375"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62" name="">
            <a:extLst xmlns:a="http://schemas.openxmlformats.org/drawingml/2006/main">
              <a:ext uri="{FF2B5EF4-FFF2-40B4-BE49-F238E27FC236}">
                <a16:creationId xmlns:a16="http://schemas.microsoft.com/office/drawing/2014/main" id="{1499D843-F03E-4FA3-9B8B-976A263B6D84}"/>
              </a:ext>
            </a:extLst>
          </p:cNvPr>
          <p:cNvSpPr>
            <a:spLocks xmlns:a="http://schemas.openxmlformats.org/drawingml/2006/main" noGrp="1"/>
          </p:cNvSpPr>
          <p:nvPr/>
        </p:nvSpPr>
        <p:spPr>
          <a:xfrm xmlns:a="http://schemas.openxmlformats.org/drawingml/2006/main">
            <a:off x="8077200" y="1857375"/>
            <a:ext cx="9525" cy="1952625"/>
          </a:xfrm>
          <a:custGeom xmlns:a="http://schemas.openxmlformats.org/drawingml/2006/main">
            <a:pathLst>
              <a:path w="9525" h="1952625">
                <a:moveTo>
                  <a:pt x="0" y="0"/>
                </a:moveTo>
                <a:lnTo>
                  <a:pt x="0" y="1952625"/>
                </a:lnTo>
              </a:path>
            </a:pathLst>
          </a:custGeom>
          <a:noFill xmlns:a="http://schemas.openxmlformats.org/drawingml/2006/main"/>
          <a:ln xmlns:a="http://schemas.openxmlformats.org/drawingml/2006/main" w="38100">
            <a:solidFill>
              <a:srgbClr val="2876A8"/>
            </a:solidFill>
          </a:ln>
        </p:spPr>
      </p:sp>
      <p:sp>
        <p:nvSpPr>
          <p:cNvPr id="63" name="">
            <a:extLst xmlns:a="http://schemas.openxmlformats.org/drawingml/2006/main">
              <a:ext uri="{FF2B5EF4-FFF2-40B4-BE49-F238E27FC236}">
                <a16:creationId xmlns:a16="http://schemas.microsoft.com/office/drawing/2014/main" id="{701D58C0-48DB-471A-A3B1-842483F4ED7A}"/>
              </a:ext>
            </a:extLst>
          </p:cNvPr>
          <p:cNvSpPr>
            <a:spLocks xmlns:a="http://schemas.openxmlformats.org/drawingml/2006/main" noGrp="1"/>
          </p:cNvSpPr>
          <p:nvPr/>
        </p:nvSpPr>
        <p:spPr>
          <a:xfrm xmlns:a="http://schemas.openxmlformats.org/drawingml/2006/main">
            <a:off x="838200" y="40481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グルコース単位がつながる鎖</a:t>
            </a:r>
          </a:p>
        </p:txBody>
      </p:sp>
      <p:sp>
        <p:nvSpPr>
          <p:cNvPr id="64" name="">
            <a:extLst xmlns:a="http://schemas.openxmlformats.org/drawingml/2006/main">
              <a:ext uri="{FF2B5EF4-FFF2-40B4-BE49-F238E27FC236}">
                <a16:creationId xmlns:a16="http://schemas.microsoft.com/office/drawing/2014/main" id="{B1E3F0CB-A7A5-4CAD-94D5-FC221837AE4B}"/>
              </a:ext>
            </a:extLst>
          </p:cNvPr>
          <p:cNvSpPr>
            <a:spLocks xmlns:a="http://schemas.openxmlformats.org/drawingml/2006/main" noGrp="1"/>
          </p:cNvSpPr>
          <p:nvPr/>
        </p:nvSpPr>
        <p:spPr>
          <a:xfrm xmlns:a="http://schemas.openxmlformats.org/drawingml/2006/main">
            <a:off x="6381750" y="4048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集合：ミクロフィブリル</a:t>
            </a:r>
          </a:p>
        </p:txBody>
      </p:sp>
      <p:sp>
        <p:nvSpPr>
          <p:cNvPr id="65" name="">
            <a:extLst xmlns:a="http://schemas.openxmlformats.org/drawingml/2006/main">
              <a:ext uri="{FF2B5EF4-FFF2-40B4-BE49-F238E27FC236}">
                <a16:creationId xmlns:a16="http://schemas.microsoft.com/office/drawing/2014/main" id="{921B5017-A908-44EA-AB8B-7C67DF31CF3A}"/>
              </a:ext>
            </a:extLst>
          </p:cNvPr>
          <p:cNvSpPr>
            <a:spLocks xmlns:a="http://schemas.openxmlformats.org/drawingml/2006/main" noGrp="1"/>
          </p:cNvSpPr>
          <p:nvPr/>
        </p:nvSpPr>
        <p:spPr>
          <a:xfrm xmlns:a="http://schemas.openxmlformats.org/drawingml/2006/main">
            <a:off x="838200" y="48863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鎖のつながりと、鎖同士の相互作用を区別</a:t>
            </a:r>
          </a:p>
        </p:txBody>
      </p:sp>
      <p:sp>
        <p:nvSpPr>
          <p:cNvPr id="66" name="">
            <a:extLst xmlns:a="http://schemas.openxmlformats.org/drawingml/2006/main">
              <a:ext uri="{FF2B5EF4-FFF2-40B4-BE49-F238E27FC236}">
                <a16:creationId xmlns:a16="http://schemas.microsoft.com/office/drawing/2014/main" id="{CF31B827-31ED-4346-960B-6966957B41FD}"/>
              </a:ext>
            </a:extLst>
          </p:cNvPr>
          <p:cNvSpPr>
            <a:spLocks xmlns:a="http://schemas.openxmlformats.org/drawingml/2006/main" noGrp="1"/>
          </p:cNvSpPr>
          <p:nvPr/>
        </p:nvSpPr>
        <p:spPr>
          <a:xfrm xmlns:a="http://schemas.openxmlformats.org/drawingml/2006/main">
            <a:off x="838200" y="54768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細胞壁の引張りへの抵抗に関わる</a:t>
            </a:r>
          </a:p>
        </p:txBody>
      </p:sp>
      <p:sp>
        <p:nvSpPr>
          <p:cNvPr id="67" name="">
            <a:extLst xmlns:a="http://schemas.openxmlformats.org/drawingml/2006/main">
              <a:ext uri="{FF2B5EF4-FFF2-40B4-BE49-F238E27FC236}">
                <a16:creationId xmlns:a16="http://schemas.microsoft.com/office/drawing/2014/main" id="{F22D7227-4727-412F-A343-5CD5D20D3CEE}"/>
              </a:ext>
            </a:extLst>
          </p:cNvPr>
          <p:cNvSpPr>
            <a:spLocks xmlns:a="http://schemas.openxmlformats.org/drawingml/2006/main" noGrp="1"/>
          </p:cNvSpPr>
          <p:nvPr/>
        </p:nvSpPr>
        <p:spPr>
          <a:xfrm xmlns:a="http://schemas.openxmlformats.org/drawingml/2006/main">
            <a:off x="838200" y="60198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化学構造式ではない模式図。実際の分子数・寸法比は再現しない。</a:t>
            </a:r>
          </a:p>
        </p:txBody>
      </p:sp>
    </p:spTree>
    <p:extLst>
      <p:ext uri="{BB962C8B-B14F-4D97-AF65-F5344CB8AC3E}">
        <p14:creationId xmlns:p14="http://schemas.microsoft.com/office/powerpoint/2010/main" val="9125633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720BCD-702E-4DB6-88BE-419B3383C4F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セルロース：構造式と立体モデル</a:t>
            </a:r>
          </a:p>
        </p:txBody>
      </p:sp>
      <p:sp>
        <p:nvSpPr>
          <p:cNvPr id="2" name="">
            <a:extLst xmlns:a="http://schemas.openxmlformats.org/drawingml/2006/main">
              <a:ext uri="{FF2B5EF4-FFF2-40B4-BE49-F238E27FC236}">
                <a16:creationId xmlns:a16="http://schemas.microsoft.com/office/drawing/2014/main" id="{210FB153-444B-461D-9E25-FDC21D7B887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111334-C678-4896-A7F9-55E93FEAFDB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F04C0FD6-4CA3-4114-B70A-EBE921DBC46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3E154191-B01C-4DE9-8AC2-B95944693E55}"/>
              </a:ext>
            </a:extLst>
          </p:cNvPr>
          <p:cNvSpPr>
            <a:spLocks xmlns:a="http://schemas.openxmlformats.org/drawingml/2006/main" noGrp="1"/>
          </p:cNvSpPr>
          <p:nvPr/>
        </p:nvSpPr>
        <p:spPr>
          <a:xfrm xmlns:a="http://schemas.openxmlformats.org/drawingml/2006/main">
            <a:off x="838200" y="15240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いす形の構造式（繰り返し単位）</a:t>
            </a:r>
          </a:p>
        </p:txBody>
      </p:sp>
      <p:pic>
        <p:nvPicPr>
          <p:cNvPr id="6" name="">
            <a:extLst xmlns:a="http://schemas.openxmlformats.org/drawingml/2006/main">
              <a:ext uri="{FF2B5EF4-FFF2-40B4-BE49-F238E27FC236}">
                <a16:creationId xmlns:a16="http://schemas.microsoft.com/office/drawing/2014/main" id="{EA42E26E-A382-49E6-93F9-2BDBD1385CE7}"/>
              </a:ext>
            </a:extLst>
          </p:cNvPr>
          <p:cNvPicPr>
            <a:picLocks xmlns:a="http://schemas.openxmlformats.org/drawingml/2006/main" noChangeAspect="1"/>
          </p:cNvPicPr>
          <p:nvPr/>
        </p:nvPicPr>
        <p:blipFill>
          <a:blip xmlns:r="http://schemas.openxmlformats.org/officeDocument/2006/relationships" xmlns:a="http://schemas.openxmlformats.org/drawingml/2006/main" r:embed="R3ae1914224074510"/>
          <a:stretch xmlns:a="http://schemas.openxmlformats.org/drawingml/2006/main"/>
        </p:blipFill>
        <p:spPr>
          <a:xfrm xmlns:a="http://schemas.openxmlformats.org/drawingml/2006/main">
            <a:off x="879419" y="2076450"/>
            <a:ext cx="4661012" cy="27432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C18717E-A74B-41C9-BFF2-AA0C8746B2EA}"/>
              </a:ext>
            </a:extLst>
          </p:cNvPr>
          <p:cNvSpPr>
            <a:spLocks xmlns:a="http://schemas.openxmlformats.org/drawingml/2006/main" noGrp="1"/>
          </p:cNvSpPr>
          <p:nvPr/>
        </p:nvSpPr>
        <p:spPr>
          <a:xfrm xmlns:a="http://schemas.openxmlformats.org/drawingml/2006/main">
            <a:off x="6334125" y="15240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セルロース Iβ：結晶構造の部分</a:t>
            </a:r>
          </a:p>
        </p:txBody>
      </p:sp>
      <p:pic>
        <p:nvPicPr>
          <p:cNvPr id="8" name="">
            <a:extLst xmlns:a="http://schemas.openxmlformats.org/drawingml/2006/main">
              <a:ext uri="{FF2B5EF4-FFF2-40B4-BE49-F238E27FC236}">
                <a16:creationId xmlns:a16="http://schemas.microsoft.com/office/drawing/2014/main" id="{64301A9E-8FA5-472F-882C-D6CFCA1F0188}"/>
              </a:ext>
            </a:extLst>
          </p:cNvPr>
          <p:cNvPicPr>
            <a:picLocks xmlns:a="http://schemas.openxmlformats.org/drawingml/2006/main" noChangeAspect="1"/>
          </p:cNvPicPr>
          <p:nvPr/>
        </p:nvPicPr>
        <p:blipFill>
          <a:blip xmlns:r="http://schemas.openxmlformats.org/officeDocument/2006/relationships" xmlns:a="http://schemas.openxmlformats.org/drawingml/2006/main" r:embed="Rb02a3018b54c4f8c"/>
          <a:stretch xmlns:a="http://schemas.openxmlformats.org/drawingml/2006/main"/>
        </p:blipFill>
        <p:spPr>
          <a:xfrm xmlns:a="http://schemas.openxmlformats.org/drawingml/2006/main">
            <a:off x="6238875" y="2377916"/>
            <a:ext cx="5238750" cy="195929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3543087-8AE8-4A6A-81E7-D97A2AEBD5D5}"/>
              </a:ext>
            </a:extLst>
          </p:cNvPr>
          <p:cNvSpPr>
            <a:spLocks xmlns:a="http://schemas.openxmlformats.org/drawingml/2006/main" noGrp="1"/>
          </p:cNvSpPr>
          <p:nvPr/>
        </p:nvSpPr>
        <p:spPr>
          <a:xfrm xmlns:a="http://schemas.openxmlformats.org/drawingml/2006/main">
            <a:off x="838200" y="51054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β(1→4)結合の鎖。図では炭素に付くH等を省略。</a:t>
            </a:r>
          </a:p>
        </p:txBody>
      </p:sp>
      <p:sp>
        <p:nvSpPr>
          <p:cNvPr id="10" name="">
            <a:extLst xmlns:a="http://schemas.openxmlformats.org/drawingml/2006/main">
              <a:ext uri="{FF2B5EF4-FFF2-40B4-BE49-F238E27FC236}">
                <a16:creationId xmlns:a16="http://schemas.microsoft.com/office/drawing/2014/main" id="{C18835E3-1795-4211-AADA-29706EE5091D}"/>
              </a:ext>
            </a:extLst>
          </p:cNvPr>
          <p:cNvSpPr>
            <a:spLocks xmlns:a="http://schemas.openxmlformats.org/drawingml/2006/main" noGrp="1"/>
          </p:cNvSpPr>
          <p:nvPr/>
        </p:nvSpPr>
        <p:spPr>
          <a:xfrm xmlns:a="http://schemas.openxmlformats.org/drawingml/2006/main">
            <a:off x="838200" y="55340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立体モデルの原子色：C 灰、O 赤、H 白。原子の写真ではない。</a:t>
            </a:r>
          </a:p>
        </p:txBody>
      </p:sp>
      <p:sp>
        <p:nvSpPr>
          <p:cNvPr id="11" name="">
            <a:extLst xmlns:a="http://schemas.openxmlformats.org/drawingml/2006/main">
              <a:ext uri="{FF2B5EF4-FFF2-40B4-BE49-F238E27FC236}">
                <a16:creationId xmlns:a16="http://schemas.microsoft.com/office/drawing/2014/main" id="{E8F5B147-AA94-4388-A80B-916AE8283F37}"/>
              </a:ext>
            </a:extLst>
          </p:cNvPr>
          <p:cNvSpPr>
            <a:spLocks xmlns:a="http://schemas.openxmlformats.org/drawingml/2006/main" noGrp="1"/>
          </p:cNvSpPr>
          <p:nvPr/>
        </p:nvSpPr>
        <p:spPr>
          <a:xfrm xmlns:a="http://schemas.openxmlformats.org/drawingml/2006/main">
            <a:off x="838200" y="59626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596875"/>
                </a:solidFill>
                <a:latin typeface="Yu Gothic"/>
                <a:ea typeface="Yu Gothic"/>
                <a:cs typeface="Yu Gothic"/>
              </a:defRPr>
            </a:defPPr>
            <a:lvl1pPr>
              <a:buNone/>
              <a:defRPr sz="1350" b="0">
                <a:solidFill>
                  <a:srgbClr val="596875"/>
                </a:solidFill>
                <a:latin typeface="Yu Gothic"/>
                <a:ea typeface="Yu Gothic"/>
                <a:cs typeface="Yu Gothic"/>
              </a:defRPr>
            </a:lvl1pPr>
            <a:lvl2pPr>
              <a:buNone/>
              <a:defRPr sz="1350" b="0">
                <a:solidFill>
                  <a:srgbClr val="596875"/>
                </a:solidFill>
                <a:latin typeface="Yu Gothic"/>
                <a:ea typeface="Yu Gothic"/>
                <a:cs typeface="Yu Gothic"/>
              </a:defRPr>
            </a:lvl2pPr>
            <a:lvl3pPr>
              <a:buNone/>
              <a:defRPr sz="1350" b="0">
                <a:solidFill>
                  <a:srgbClr val="596875"/>
                </a:solidFill>
                <a:latin typeface="Yu Gothic"/>
                <a:ea typeface="Yu Gothic"/>
                <a:cs typeface="Yu Gothic"/>
              </a:defRPr>
            </a:lvl3pPr>
            <a:lvl4pPr>
              <a:buNone/>
              <a:defRPr sz="1350" b="0">
                <a:solidFill>
                  <a:srgbClr val="596875"/>
                </a:solidFill>
                <a:latin typeface="Yu Gothic"/>
                <a:ea typeface="Yu Gothic"/>
                <a:cs typeface="Yu Gothic"/>
              </a:defRPr>
            </a:lvl4pPr>
            <a:lvl5pPr>
              <a:buNone/>
              <a:defRPr sz="1350" b="0">
                <a:solidFill>
                  <a:srgbClr val="596875"/>
                </a:solidFill>
                <a:latin typeface="Yu Gothic"/>
                <a:ea typeface="Yu Gothic"/>
                <a:cs typeface="Yu Gothic"/>
              </a:defRPr>
            </a:lvl5pPr>
            <a:lvl6pPr>
              <a:buNone/>
              <a:defRPr sz="1350" b="0">
                <a:solidFill>
                  <a:srgbClr val="596875"/>
                </a:solidFill>
                <a:latin typeface="Yu Gothic"/>
                <a:ea typeface="Yu Gothic"/>
                <a:cs typeface="Yu Gothic"/>
              </a:defRPr>
            </a:lvl6pPr>
            <a:lvl7pPr>
              <a:buNone/>
              <a:defRPr sz="1350" b="0">
                <a:solidFill>
                  <a:srgbClr val="596875"/>
                </a:solidFill>
                <a:latin typeface="Yu Gothic"/>
                <a:ea typeface="Yu Gothic"/>
                <a:cs typeface="Yu Gothic"/>
              </a:defRPr>
            </a:lvl7pPr>
            <a:lvl8pPr>
              <a:buNone/>
              <a:defRPr sz="1350" b="0">
                <a:solidFill>
                  <a:srgbClr val="596875"/>
                </a:solidFill>
                <a:latin typeface="Yu Gothic"/>
                <a:ea typeface="Yu Gothic"/>
                <a:cs typeface="Yu Gothic"/>
              </a:defRPr>
            </a:lvl8pPr>
            <a:lvl9pPr>
              <a:buNone/>
              <a:defRPr sz="1350" b="0">
                <a:solidFill>
                  <a:srgbClr val="596875"/>
                </a:solidFill>
                <a:latin typeface="Yu Gothic"/>
                <a:ea typeface="Yu Gothic"/>
                <a:cs typeface="Yu Gothic"/>
              </a:defRPr>
            </a:lvl9pPr>
          </a:lstStyle>
          <a:p xmlns:a="http://schemas.openxmlformats.org/drawingml/2006/main">
            <a:pPr>
              <a:buNone/>
              <a:defRPr sz="1350" b="0">
                <a:solidFill>
                  <a:srgbClr val="596875"/>
                </a:solidFill>
                <a:latin typeface="Yu Gothic"/>
                <a:ea typeface="Yu Gothic"/>
                <a:cs typeface="Yu Gothic"/>
              </a:defRPr>
            </a:pPr>
            <a:r>
              <a:rPr sz="1350" b="0">
                <a:solidFill>
                  <a:srgbClr val="596875"/>
                </a:solidFill>
                <a:latin typeface="Yu Gothic"/>
                <a:ea typeface="Yu Gothic"/>
                <a:cs typeface="Yu Gothic"/>
                <a:hlinkClick xmlns:r="http://schemas.openxmlformats.org/officeDocument/2006/relationships" r:id="R023a2e0e7af04a62"/>
              </a:rPr>
              <a:t>構造式：Chembro-lignin／立体図：Ben Mills（いずれもPublic domain）</a:t>
            </a:r>
          </a:p>
        </p:txBody>
      </p:sp>
    </p:spTree>
    <p:extLst>
      <p:ext uri="{BB962C8B-B14F-4D97-AF65-F5344CB8AC3E}">
        <p14:creationId xmlns:p14="http://schemas.microsoft.com/office/powerpoint/2010/main" val="2002092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ECC1860-180E-4AA8-ADA1-008C57EB563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配向が、力の向きに関わる</a:t>
            </a:r>
          </a:p>
        </p:txBody>
      </p:sp>
      <p:sp>
        <p:nvSpPr>
          <p:cNvPr id="2" name="">
            <a:extLst xmlns:a="http://schemas.openxmlformats.org/drawingml/2006/main">
              <a:ext uri="{FF2B5EF4-FFF2-40B4-BE49-F238E27FC236}">
                <a16:creationId xmlns:a16="http://schemas.microsoft.com/office/drawing/2014/main" id="{E58230B0-260C-4652-A3D4-66487225530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C81ED0-C8E9-4720-A98B-4585CEB479E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D0C03D04-DD67-4524-99D9-0C79E90BDF3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27EB3D1F-4E84-4E8F-9A65-F9A3947C6C9C}"/>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030DD737-BC47-4135-B6D9-88845E321B8E}"/>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81A5C094-7807-4A8C-B907-73B851133BA4}"/>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A9D7A6D6-AC54-4546-9754-89578DA8B9CA}"/>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B286C5F9-F24C-4C01-A043-93D116D2FC22}"/>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A42CE973-4AD6-4DAF-B629-3F2ECDCEFA9E}"/>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A23E952A-F4E2-4692-B4F6-5FB0A4A891B6}"/>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BF7C0E60-5D9C-4F03-88E0-49D6B2D38DFD}"/>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EEF9D0E4-8AC4-4B3F-A84C-FD79EB2190D7}"/>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CAEA97B9-D174-4188-B69B-02488C8EA052}"/>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7D897E88-2BC4-47C9-B3E0-AA6E2E974900}"/>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876B03BF-FF39-45DD-8CFF-EB8A17E5D2F6}"/>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17A47FEE-8EF1-4911-8C11-52C14BAE28FF}"/>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8CA745F7-F5F4-41A5-AE1A-951FC8063E9A}"/>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9245228E-C04C-4A07-A902-83E2ED20BD87}"/>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2EE17AA6-B796-4EC8-8B09-E7DBBF843E59}"/>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B230447B-346D-4EDC-9211-394A27881939}"/>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0862DA30-8C69-43CD-8BD9-81D8912FA3E5}"/>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18B03F1A-20C6-4FF7-BDC0-F230B13639BA}"/>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5A165255-48B1-4ED5-9EB6-EB017D23F323}"/>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DF1D11DD-E828-4DD6-8257-E2738E0C31C5}"/>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6559D1EA-D588-4983-8070-8285D26EC395}"/>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5473B51F-AB70-4CC2-A68C-B9AE71939E49}"/>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7E527010-459D-4742-AC3D-51F12A808B83}"/>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6FB2A3DC-A7B3-44E7-9428-45CA985C505A}"/>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9F2A9D2A-A2DF-4D3D-9A86-A4D740EF7DDF}"/>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804FD7BC-7AB6-45A2-8CC5-5EA92DD326D7}"/>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B9BEA086-FB20-47A0-BA34-9ECE7E416567}"/>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成分の量と、集合の向きは別の情報</a:t>
            </a:r>
          </a:p>
        </p:txBody>
      </p:sp>
      <p:sp>
        <p:nvSpPr>
          <p:cNvPr id="33" name="">
            <a:extLst xmlns:a="http://schemas.openxmlformats.org/drawingml/2006/main">
              <a:ext uri="{FF2B5EF4-FFF2-40B4-BE49-F238E27FC236}">
                <a16:creationId xmlns:a16="http://schemas.microsoft.com/office/drawing/2014/main" id="{F7D41DA5-C3FE-4A18-80FE-C12F6AE50042}"/>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細胞の配列と、壁内部の配向を分ける</a:t>
            </a:r>
          </a:p>
        </p:txBody>
      </p:sp>
      <p:sp>
        <p:nvSpPr>
          <p:cNvPr id="34" name="">
            <a:extLst xmlns:a="http://schemas.openxmlformats.org/drawingml/2006/main">
              <a:ext uri="{FF2B5EF4-FFF2-40B4-BE49-F238E27FC236}">
                <a16:creationId xmlns:a16="http://schemas.microsoft.com/office/drawing/2014/main" id="{C68AFD82-7C78-4D06-9F78-F7F7C098A217}"/>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方向・水分・欠点・試験方法も確認</a:t>
            </a:r>
          </a:p>
        </p:txBody>
      </p:sp>
      <p:sp>
        <p:nvSpPr>
          <p:cNvPr id="35" name="">
            <a:extLst xmlns:a="http://schemas.openxmlformats.org/drawingml/2006/main">
              <a:ext uri="{FF2B5EF4-FFF2-40B4-BE49-F238E27FC236}">
                <a16:creationId xmlns:a16="http://schemas.microsoft.com/office/drawing/2014/main" id="{63320FC5-AC05-4D4C-8C48-BCE215A17198}"/>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ヤング率と破壊強度を区別する</a:t>
            </a:r>
          </a:p>
        </p:txBody>
      </p:sp>
      <p:sp>
        <p:nvSpPr>
          <p:cNvPr id="36" name="">
            <a:extLst xmlns:a="http://schemas.openxmlformats.org/drawingml/2006/main">
              <a:ext uri="{FF2B5EF4-FFF2-40B4-BE49-F238E27FC236}">
                <a16:creationId xmlns:a16="http://schemas.microsoft.com/office/drawing/2014/main" id="{B63DDF4D-6B10-4A78-93A0-3C5E428AAA80}"/>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3716153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2BFE424-6375-4409-A2F2-71A99018996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OH基と水分子</a:t>
            </a:r>
          </a:p>
        </p:txBody>
      </p:sp>
      <p:sp>
        <p:nvSpPr>
          <p:cNvPr id="2" name="">
            <a:extLst xmlns:a="http://schemas.openxmlformats.org/drawingml/2006/main">
              <a:ext uri="{FF2B5EF4-FFF2-40B4-BE49-F238E27FC236}">
                <a16:creationId xmlns:a16="http://schemas.microsoft.com/office/drawing/2014/main" id="{C375585C-1763-4475-A96C-664EEE18600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08F87B-3A77-450F-A9D9-64D3056AF26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DF28024B-E0DC-4709-ABF5-70B4BA3810B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E1536A32-EEA9-4CB0-B59A-3DF1790FBE20}"/>
              </a:ext>
            </a:extLst>
          </p:cNvPr>
          <p:cNvSpPr>
            <a:spLocks xmlns:a="http://schemas.openxmlformats.org/drawingml/2006/main" noGrp="1"/>
          </p:cNvSpPr>
          <p:nvPr/>
        </p:nvSpPr>
        <p:spPr>
          <a:xfrm xmlns:a="http://schemas.openxmlformats.org/drawingml/2006/main">
            <a:off x="857250" y="17430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壁の分子の一部（OH基）</a:t>
            </a:r>
          </a:p>
        </p:txBody>
      </p:sp>
      <p:sp>
        <p:nvSpPr>
          <p:cNvPr id="6" name="">
            <a:extLst xmlns:a="http://schemas.openxmlformats.org/drawingml/2006/main">
              <a:ext uri="{FF2B5EF4-FFF2-40B4-BE49-F238E27FC236}">
                <a16:creationId xmlns:a16="http://schemas.microsoft.com/office/drawing/2014/main" id="{6B6720B5-3F19-4EA3-AFFE-AB87340B0345}"/>
              </a:ext>
            </a:extLst>
          </p:cNvPr>
          <p:cNvSpPr>
            <a:spLocks xmlns:a="http://schemas.openxmlformats.org/drawingml/2006/main" noGrp="1"/>
          </p:cNvSpPr>
          <p:nvPr/>
        </p:nvSpPr>
        <p:spPr>
          <a:xfrm xmlns:a="http://schemas.openxmlformats.org/drawingml/2006/main">
            <a:off x="9620250" y="2600325"/>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buNone/>
              <a:defRPr sz="2025" b="1">
                <a:solidFill>
                  <a:srgbClr val="18364F"/>
                </a:solidFill>
                <a:latin typeface="Yu Gothic"/>
                <a:ea typeface="Yu Gothic"/>
                <a:cs typeface="Yu Gothic"/>
              </a:defRPr>
            </a:lvl1pPr>
            <a:lvl2pPr>
              <a:buNone/>
              <a:defRPr sz="2025" b="1">
                <a:solidFill>
                  <a:srgbClr val="18364F"/>
                </a:solidFill>
                <a:latin typeface="Yu Gothic"/>
                <a:ea typeface="Yu Gothic"/>
                <a:cs typeface="Yu Gothic"/>
              </a:defRPr>
            </a:lvl2pPr>
            <a:lvl3pPr>
              <a:buNone/>
              <a:defRPr sz="2025" b="1">
                <a:solidFill>
                  <a:srgbClr val="18364F"/>
                </a:solidFill>
                <a:latin typeface="Yu Gothic"/>
                <a:ea typeface="Yu Gothic"/>
                <a:cs typeface="Yu Gothic"/>
              </a:defRPr>
            </a:lvl3pPr>
            <a:lvl4pPr>
              <a:buNone/>
              <a:defRPr sz="2025" b="1">
                <a:solidFill>
                  <a:srgbClr val="18364F"/>
                </a:solidFill>
                <a:latin typeface="Yu Gothic"/>
                <a:ea typeface="Yu Gothic"/>
                <a:cs typeface="Yu Gothic"/>
              </a:defRPr>
            </a:lvl4pPr>
            <a:lvl5pPr>
              <a:buNone/>
              <a:defRPr sz="2025" b="1">
                <a:solidFill>
                  <a:srgbClr val="18364F"/>
                </a:solidFill>
                <a:latin typeface="Yu Gothic"/>
                <a:ea typeface="Yu Gothic"/>
                <a:cs typeface="Yu Gothic"/>
              </a:defRPr>
            </a:lvl5pPr>
            <a:lvl6pPr>
              <a:buNone/>
              <a:defRPr sz="2025" b="1">
                <a:solidFill>
                  <a:srgbClr val="18364F"/>
                </a:solidFill>
                <a:latin typeface="Yu Gothic"/>
                <a:ea typeface="Yu Gothic"/>
                <a:cs typeface="Yu Gothic"/>
              </a:defRPr>
            </a:lvl6pPr>
            <a:lvl7pPr>
              <a:buNone/>
              <a:defRPr sz="2025" b="1">
                <a:solidFill>
                  <a:srgbClr val="18364F"/>
                </a:solidFill>
                <a:latin typeface="Yu Gothic"/>
                <a:ea typeface="Yu Gothic"/>
                <a:cs typeface="Yu Gothic"/>
              </a:defRPr>
            </a:lvl7pPr>
            <a:lvl8pPr>
              <a:buNone/>
              <a:defRPr sz="2025" b="1">
                <a:solidFill>
                  <a:srgbClr val="18364F"/>
                </a:solidFill>
                <a:latin typeface="Yu Gothic"/>
                <a:ea typeface="Yu Gothic"/>
                <a:cs typeface="Yu Gothic"/>
              </a:defRPr>
            </a:lvl8pPr>
            <a:lvl9pPr>
              <a:buNone/>
              <a:defRPr sz="2025" b="1">
                <a:solidFill>
                  <a:srgbClr val="18364F"/>
                </a:solidFill>
                <a:latin typeface="Yu Gothic"/>
                <a:ea typeface="Yu Gothic"/>
                <a:cs typeface="Yu Gothic"/>
              </a:defRPr>
            </a:lvl9pPr>
          </a:lstStyle>
          <a:p xmlns:a="http://schemas.openxmlformats.org/drawingml/2006/main">
            <a:pP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水分子 H₂O</a:t>
            </a:r>
          </a:p>
        </p:txBody>
      </p:sp>
      <p:sp>
        <p:nvSpPr>
          <p:cNvPr id="7" name="">
            <a:extLst xmlns:a="http://schemas.openxmlformats.org/drawingml/2006/main">
              <a:ext uri="{FF2B5EF4-FFF2-40B4-BE49-F238E27FC236}">
                <a16:creationId xmlns:a16="http://schemas.microsoft.com/office/drawing/2014/main" id="{E3AD9E57-62BA-4E2C-829D-722B0FFECEC1}"/>
              </a:ext>
            </a:extLst>
          </p:cNvPr>
          <p:cNvSpPr>
            <a:spLocks xmlns:a="http://schemas.openxmlformats.org/drawingml/2006/main" noGrp="1"/>
          </p:cNvSpPr>
          <p:nvPr/>
        </p:nvSpPr>
        <p:spPr>
          <a:xfrm xmlns:a="http://schemas.openxmlformats.org/drawingml/2006/main">
            <a:off x="1809750" y="2809875"/>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38100">
            <a:solidFill>
              <a:srgbClr val="253C4D"/>
            </a:solidFill>
          </a:ln>
        </p:spPr>
      </p:sp>
      <p:sp>
        <p:nvSpPr>
          <p:cNvPr id="8" name="">
            <a:extLst xmlns:a="http://schemas.openxmlformats.org/drawingml/2006/main">
              <a:ext uri="{FF2B5EF4-FFF2-40B4-BE49-F238E27FC236}">
                <a16:creationId xmlns:a16="http://schemas.microsoft.com/office/drawing/2014/main" id="{A3443414-42BC-428B-9833-79ED3FBA0B03}"/>
              </a:ext>
            </a:extLst>
          </p:cNvPr>
          <p:cNvSpPr>
            <a:spLocks xmlns:a="http://schemas.openxmlformats.org/drawingml/2006/main" noGrp="1"/>
          </p:cNvSpPr>
          <p:nvPr/>
        </p:nvSpPr>
        <p:spPr>
          <a:xfrm xmlns:a="http://schemas.openxmlformats.org/drawingml/2006/main">
            <a:off x="3952875" y="280987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38100">
            <a:solidFill>
              <a:srgbClr val="253C4D"/>
            </a:solidFill>
          </a:ln>
        </p:spPr>
      </p:sp>
      <p:sp>
        <p:nvSpPr>
          <p:cNvPr id="9" name="">
            <a:extLst xmlns:a="http://schemas.openxmlformats.org/drawingml/2006/main">
              <a:ext uri="{FF2B5EF4-FFF2-40B4-BE49-F238E27FC236}">
                <a16:creationId xmlns:a16="http://schemas.microsoft.com/office/drawing/2014/main" id="{16E44AC1-AA9B-4E60-9023-5B81AC5F36D6}"/>
              </a:ext>
            </a:extLst>
          </p:cNvPr>
          <p:cNvSpPr>
            <a:spLocks xmlns:a="http://schemas.openxmlformats.org/drawingml/2006/main" noGrp="1"/>
          </p:cNvSpPr>
          <p:nvPr/>
        </p:nvSpPr>
        <p:spPr>
          <a:xfrm xmlns:a="http://schemas.openxmlformats.org/drawingml/2006/main">
            <a:off x="904875" y="2600325"/>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xmlns:a="http://schemas.openxmlformats.org/drawingml/2006/main">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壁の鎖</a:t>
            </a:r>
          </a:p>
        </p:txBody>
      </p:sp>
      <p:sp>
        <p:nvSpPr>
          <p:cNvPr id="10" name="">
            <a:extLst xmlns:a="http://schemas.openxmlformats.org/drawingml/2006/main">
              <a:ext uri="{FF2B5EF4-FFF2-40B4-BE49-F238E27FC236}">
                <a16:creationId xmlns:a16="http://schemas.microsoft.com/office/drawing/2014/main" id="{EB6FA1C7-B02F-46B7-A0A9-DA6ABB230DB4}"/>
              </a:ext>
            </a:extLst>
          </p:cNvPr>
          <p:cNvSpPr>
            <a:spLocks xmlns:a="http://schemas.openxmlformats.org/drawingml/2006/main" noGrp="1"/>
          </p:cNvSpPr>
          <p:nvPr/>
        </p:nvSpPr>
        <p:spPr>
          <a:xfrm xmlns:a="http://schemas.openxmlformats.org/drawingml/2006/main">
            <a:off x="3381375" y="2524125"/>
            <a:ext cx="571500" cy="57150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1" name="">
            <a:extLst xmlns:a="http://schemas.openxmlformats.org/drawingml/2006/main">
              <a:ext uri="{FF2B5EF4-FFF2-40B4-BE49-F238E27FC236}">
                <a16:creationId xmlns:a16="http://schemas.microsoft.com/office/drawing/2014/main" id="{2A922F5E-BADC-4791-82C8-C20A6C5654CA}"/>
              </a:ext>
            </a:extLst>
          </p:cNvPr>
          <p:cNvSpPr>
            <a:spLocks xmlns:a="http://schemas.openxmlformats.org/drawingml/2006/main" noGrp="1"/>
          </p:cNvSpPr>
          <p:nvPr/>
        </p:nvSpPr>
        <p:spPr>
          <a:xfrm xmlns:a="http://schemas.openxmlformats.org/drawingml/2006/main">
            <a:off x="3562350" y="2524125"/>
            <a:ext cx="28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2" name="">
            <a:extLst xmlns:a="http://schemas.openxmlformats.org/drawingml/2006/main">
              <a:ext uri="{FF2B5EF4-FFF2-40B4-BE49-F238E27FC236}">
                <a16:creationId xmlns:a16="http://schemas.microsoft.com/office/drawing/2014/main" id="{8CABE813-054C-4E02-8AC9-90D7AD54923A}"/>
              </a:ext>
            </a:extLst>
          </p:cNvPr>
          <p:cNvSpPr>
            <a:spLocks xmlns:a="http://schemas.openxmlformats.org/drawingml/2006/main" noGrp="1"/>
          </p:cNvSpPr>
          <p:nvPr/>
        </p:nvSpPr>
        <p:spPr>
          <a:xfrm xmlns:a="http://schemas.openxmlformats.org/drawingml/2006/main">
            <a:off x="4791075" y="25717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3" name="">
            <a:extLst xmlns:a="http://schemas.openxmlformats.org/drawingml/2006/main">
              <a:ext uri="{FF2B5EF4-FFF2-40B4-BE49-F238E27FC236}">
                <a16:creationId xmlns:a16="http://schemas.microsoft.com/office/drawing/2014/main" id="{2C6AE01F-BCE0-4FAA-9820-DDCD4B5BE071}"/>
              </a:ext>
            </a:extLst>
          </p:cNvPr>
          <p:cNvSpPr>
            <a:spLocks xmlns:a="http://schemas.openxmlformats.org/drawingml/2006/main" noGrp="1"/>
          </p:cNvSpPr>
          <p:nvPr/>
        </p:nvSpPr>
        <p:spPr>
          <a:xfrm xmlns:a="http://schemas.openxmlformats.org/drawingml/2006/main">
            <a:off x="4924425" y="25717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14" name="">
            <a:extLst xmlns:a="http://schemas.openxmlformats.org/drawingml/2006/main">
              <a:ext uri="{FF2B5EF4-FFF2-40B4-BE49-F238E27FC236}">
                <a16:creationId xmlns:a16="http://schemas.microsoft.com/office/drawing/2014/main" id="{CB0158D4-3850-421D-8E9A-92A667FFBC42}"/>
              </a:ext>
            </a:extLst>
          </p:cNvPr>
          <p:cNvSpPr>
            <a:spLocks xmlns:a="http://schemas.openxmlformats.org/drawingml/2006/main" noGrp="1"/>
          </p:cNvSpPr>
          <p:nvPr/>
        </p:nvSpPr>
        <p:spPr>
          <a:xfrm xmlns:a="http://schemas.openxmlformats.org/drawingml/2006/main">
            <a:off x="8334375" y="2266950"/>
            <a:ext cx="657225" cy="400050"/>
          </a:xfrm>
          <a:custGeom xmlns:a="http://schemas.openxmlformats.org/drawingml/2006/main">
            <a:pathLst>
              <a:path w="657225" h="400050">
                <a:moveTo>
                  <a:pt x="0" y="400050"/>
                </a:moveTo>
                <a:lnTo>
                  <a:pt x="657225" y="0"/>
                </a:lnTo>
              </a:path>
            </a:pathLst>
          </a:custGeom>
          <a:noFill xmlns:a="http://schemas.openxmlformats.org/drawingml/2006/main"/>
          <a:ln xmlns:a="http://schemas.openxmlformats.org/drawingml/2006/main" w="38100">
            <a:solidFill>
              <a:srgbClr val="253C4D"/>
            </a:solidFill>
          </a:ln>
        </p:spPr>
      </p:sp>
      <p:sp>
        <p:nvSpPr>
          <p:cNvPr id="15" name="">
            <a:extLst xmlns:a="http://schemas.openxmlformats.org/drawingml/2006/main">
              <a:ext uri="{FF2B5EF4-FFF2-40B4-BE49-F238E27FC236}">
                <a16:creationId xmlns:a16="http://schemas.microsoft.com/office/drawing/2014/main" id="{7EA9015D-DE2A-4DDF-980F-4875027E9D1B}"/>
              </a:ext>
            </a:extLst>
          </p:cNvPr>
          <p:cNvSpPr>
            <a:spLocks xmlns:a="http://schemas.openxmlformats.org/drawingml/2006/main" noGrp="1"/>
          </p:cNvSpPr>
          <p:nvPr/>
        </p:nvSpPr>
        <p:spPr>
          <a:xfrm xmlns:a="http://schemas.openxmlformats.org/drawingml/2006/main">
            <a:off x="8334375" y="2952750"/>
            <a:ext cx="657225" cy="400050"/>
          </a:xfrm>
          <a:custGeom xmlns:a="http://schemas.openxmlformats.org/drawingml/2006/main">
            <a:pathLst>
              <a:path w="657225" h="400050">
                <a:moveTo>
                  <a:pt x="0" y="0"/>
                </a:moveTo>
                <a:lnTo>
                  <a:pt x="657225" y="400050"/>
                </a:lnTo>
              </a:path>
            </a:pathLst>
          </a:custGeom>
          <a:noFill xmlns:a="http://schemas.openxmlformats.org/drawingml/2006/main"/>
          <a:ln xmlns:a="http://schemas.openxmlformats.org/drawingml/2006/main" w="38100">
            <a:solidFill>
              <a:srgbClr val="253C4D"/>
            </a:solidFill>
          </a:ln>
        </p:spPr>
      </p:sp>
      <p:sp>
        <p:nvSpPr>
          <p:cNvPr id="16" name="">
            <a:extLst xmlns:a="http://schemas.openxmlformats.org/drawingml/2006/main">
              <a:ext uri="{FF2B5EF4-FFF2-40B4-BE49-F238E27FC236}">
                <a16:creationId xmlns:a16="http://schemas.microsoft.com/office/drawing/2014/main" id="{1E0A6E55-E560-4F87-A6AD-4D49EF566453}"/>
              </a:ext>
            </a:extLst>
          </p:cNvPr>
          <p:cNvSpPr>
            <a:spLocks xmlns:a="http://schemas.openxmlformats.org/drawingml/2006/main" noGrp="1"/>
          </p:cNvSpPr>
          <p:nvPr/>
        </p:nvSpPr>
        <p:spPr>
          <a:xfrm xmlns:a="http://schemas.openxmlformats.org/drawingml/2006/main">
            <a:off x="7781925" y="2495550"/>
            <a:ext cx="628650" cy="62865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7" name="">
            <a:extLst xmlns:a="http://schemas.openxmlformats.org/drawingml/2006/main">
              <a:ext uri="{FF2B5EF4-FFF2-40B4-BE49-F238E27FC236}">
                <a16:creationId xmlns:a16="http://schemas.microsoft.com/office/drawing/2014/main" id="{4293BC95-2D62-4E25-8111-57D7781D20E6}"/>
              </a:ext>
            </a:extLst>
          </p:cNvPr>
          <p:cNvSpPr>
            <a:spLocks xmlns:a="http://schemas.openxmlformats.org/drawingml/2006/main" noGrp="1"/>
          </p:cNvSpPr>
          <p:nvPr/>
        </p:nvSpPr>
        <p:spPr>
          <a:xfrm xmlns:a="http://schemas.openxmlformats.org/drawingml/2006/main">
            <a:off x="7991475" y="2495550"/>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69102A3B-65D2-4E4D-9F32-8897BEB18BC3}"/>
              </a:ext>
            </a:extLst>
          </p:cNvPr>
          <p:cNvSpPr>
            <a:spLocks xmlns:a="http://schemas.openxmlformats.org/drawingml/2006/main" noGrp="1"/>
          </p:cNvSpPr>
          <p:nvPr/>
        </p:nvSpPr>
        <p:spPr>
          <a:xfrm xmlns:a="http://schemas.openxmlformats.org/drawingml/2006/main">
            <a:off x="9001125" y="18859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9" name="">
            <a:extLst xmlns:a="http://schemas.openxmlformats.org/drawingml/2006/main">
              <a:ext uri="{FF2B5EF4-FFF2-40B4-BE49-F238E27FC236}">
                <a16:creationId xmlns:a16="http://schemas.microsoft.com/office/drawing/2014/main" id="{C5A61E3A-1A8A-4EF1-A97C-2A5324FE0588}"/>
              </a:ext>
            </a:extLst>
          </p:cNvPr>
          <p:cNvSpPr>
            <a:spLocks xmlns:a="http://schemas.openxmlformats.org/drawingml/2006/main" noGrp="1"/>
          </p:cNvSpPr>
          <p:nvPr/>
        </p:nvSpPr>
        <p:spPr>
          <a:xfrm xmlns:a="http://schemas.openxmlformats.org/drawingml/2006/main">
            <a:off x="9134475" y="18859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0" name="">
            <a:extLst xmlns:a="http://schemas.openxmlformats.org/drawingml/2006/main">
              <a:ext uri="{FF2B5EF4-FFF2-40B4-BE49-F238E27FC236}">
                <a16:creationId xmlns:a16="http://schemas.microsoft.com/office/drawing/2014/main" id="{980A3230-9CCA-41E0-8E38-9CC1749E4316}"/>
              </a:ext>
            </a:extLst>
          </p:cNvPr>
          <p:cNvSpPr>
            <a:spLocks xmlns:a="http://schemas.openxmlformats.org/drawingml/2006/main" noGrp="1"/>
          </p:cNvSpPr>
          <p:nvPr/>
        </p:nvSpPr>
        <p:spPr>
          <a:xfrm xmlns:a="http://schemas.openxmlformats.org/drawingml/2006/main">
            <a:off x="9001125" y="32575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21" name="">
            <a:extLst xmlns:a="http://schemas.openxmlformats.org/drawingml/2006/main">
              <a:ext uri="{FF2B5EF4-FFF2-40B4-BE49-F238E27FC236}">
                <a16:creationId xmlns:a16="http://schemas.microsoft.com/office/drawing/2014/main" id="{16DFC47C-3151-4A91-9C50-769337085A9A}"/>
              </a:ext>
            </a:extLst>
          </p:cNvPr>
          <p:cNvSpPr>
            <a:spLocks xmlns:a="http://schemas.openxmlformats.org/drawingml/2006/main" noGrp="1"/>
          </p:cNvSpPr>
          <p:nvPr/>
        </p:nvSpPr>
        <p:spPr>
          <a:xfrm xmlns:a="http://schemas.openxmlformats.org/drawingml/2006/main">
            <a:off x="9134475" y="32575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2" name="">
            <a:extLst xmlns:a="http://schemas.openxmlformats.org/drawingml/2006/main">
              <a:ext uri="{FF2B5EF4-FFF2-40B4-BE49-F238E27FC236}">
                <a16:creationId xmlns:a16="http://schemas.microsoft.com/office/drawing/2014/main" id="{6D0D32AC-DF64-4ADA-89CA-2CFD568F6DC5}"/>
              </a:ext>
            </a:extLst>
          </p:cNvPr>
          <p:cNvSpPr>
            <a:spLocks xmlns:a="http://schemas.openxmlformats.org/drawingml/2006/main" noGrp="1"/>
          </p:cNvSpPr>
          <p:nvPr/>
        </p:nvSpPr>
        <p:spPr>
          <a:xfrm xmlns:a="http://schemas.openxmlformats.org/drawingml/2006/main">
            <a:off x="5238750" y="3171825"/>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OH基と水を区別</a:t>
            </a:r>
          </a:p>
        </p:txBody>
      </p:sp>
      <p:sp>
        <p:nvSpPr>
          <p:cNvPr id="23" name="">
            <a:extLst xmlns:a="http://schemas.openxmlformats.org/drawingml/2006/main">
              <a:ext uri="{FF2B5EF4-FFF2-40B4-BE49-F238E27FC236}">
                <a16:creationId xmlns:a16="http://schemas.microsoft.com/office/drawing/2014/main" id="{CC19DBC5-D9BE-4034-A9D5-4C7DF1A56D6C}"/>
              </a:ext>
            </a:extLst>
          </p:cNvPr>
          <p:cNvSpPr>
            <a:spLocks xmlns:a="http://schemas.openxmlformats.org/drawingml/2006/main" noGrp="1"/>
          </p:cNvSpPr>
          <p:nvPr/>
        </p:nvSpPr>
        <p:spPr>
          <a:xfrm xmlns:a="http://schemas.openxmlformats.org/drawingml/2006/main">
            <a:off x="838200" y="42957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O：酸素　H：水素</a:t>
            </a:r>
          </a:p>
        </p:txBody>
      </p:sp>
      <p:sp>
        <p:nvSpPr>
          <p:cNvPr id="24" name="">
            <a:extLst xmlns:a="http://schemas.openxmlformats.org/drawingml/2006/main">
              <a:ext uri="{FF2B5EF4-FFF2-40B4-BE49-F238E27FC236}">
                <a16:creationId xmlns:a16="http://schemas.microsoft.com/office/drawing/2014/main" id="{4479EBF2-7908-49C8-8C75-43A0B44316B7}"/>
              </a:ext>
            </a:extLst>
          </p:cNvPr>
          <p:cNvSpPr>
            <a:spLocks xmlns:a="http://schemas.openxmlformats.org/drawingml/2006/main" noGrp="1"/>
          </p:cNvSpPr>
          <p:nvPr/>
        </p:nvSpPr>
        <p:spPr>
          <a:xfrm xmlns:a="http://schemas.openxmlformats.org/drawingml/2006/main">
            <a:off x="838200" y="47434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OH基：分子の中の −O−H の部分</a:t>
            </a:r>
          </a:p>
        </p:txBody>
      </p:sp>
      <p:sp>
        <p:nvSpPr>
          <p:cNvPr id="25" name="">
            <a:extLst xmlns:a="http://schemas.openxmlformats.org/drawingml/2006/main">
              <a:ext uri="{FF2B5EF4-FFF2-40B4-BE49-F238E27FC236}">
                <a16:creationId xmlns:a16="http://schemas.microsoft.com/office/drawing/2014/main" id="{5137C7DE-679C-4D90-8EAA-7B7E3C1C0F57}"/>
              </a:ext>
            </a:extLst>
          </p:cNvPr>
          <p:cNvSpPr>
            <a:spLocks xmlns:a="http://schemas.openxmlformats.org/drawingml/2006/main" noGrp="1"/>
          </p:cNvSpPr>
          <p:nvPr/>
        </p:nvSpPr>
        <p:spPr>
          <a:xfrm xmlns:a="http://schemas.openxmlformats.org/drawingml/2006/main">
            <a:off x="838200" y="5191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水分子：H₂O（酸素1個・水素2個）</a:t>
            </a:r>
          </a:p>
        </p:txBody>
      </p:sp>
      <p:sp>
        <p:nvSpPr>
          <p:cNvPr id="26" name="">
            <a:extLst xmlns:a="http://schemas.openxmlformats.org/drawingml/2006/main">
              <a:ext uri="{FF2B5EF4-FFF2-40B4-BE49-F238E27FC236}">
                <a16:creationId xmlns:a16="http://schemas.microsoft.com/office/drawing/2014/main" id="{10E6A29C-8C86-420E-87BD-DF725EF8196B}"/>
              </a:ext>
            </a:extLst>
          </p:cNvPr>
          <p:cNvSpPr>
            <a:spLocks xmlns:a="http://schemas.openxmlformats.org/drawingml/2006/main" noGrp="1"/>
          </p:cNvSpPr>
          <p:nvPr/>
        </p:nvSpPr>
        <p:spPr>
          <a:xfrm xmlns:a="http://schemas.openxmlformats.org/drawingml/2006/main">
            <a:off x="838200" y="56388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壁のOH基と、水分子を区別する</a:t>
            </a:r>
          </a:p>
        </p:txBody>
      </p:sp>
    </p:spTree>
    <p:extLst>
      <p:ext uri="{BB962C8B-B14F-4D97-AF65-F5344CB8AC3E}">
        <p14:creationId xmlns:p14="http://schemas.microsoft.com/office/powerpoint/2010/main" val="19881443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4FE5C1D-603F-4111-833B-1089848BCD0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水素結合：OH基と水の間</a:t>
            </a:r>
          </a:p>
        </p:txBody>
      </p:sp>
      <p:sp>
        <p:nvSpPr>
          <p:cNvPr id="2" name="">
            <a:extLst xmlns:a="http://schemas.openxmlformats.org/drawingml/2006/main">
              <a:ext uri="{FF2B5EF4-FFF2-40B4-BE49-F238E27FC236}">
                <a16:creationId xmlns:a16="http://schemas.microsoft.com/office/drawing/2014/main" id="{6352015A-547B-44DA-B024-A04284DC4A3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DEDBA3B-152A-4D3F-A216-7880F1AA78F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C46CDE51-F47D-47A4-8D0C-E89BBB55187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7DA3C06F-6550-4D26-96C7-EE4CD1BBA3BB}"/>
              </a:ext>
            </a:extLst>
          </p:cNvPr>
          <p:cNvSpPr>
            <a:spLocks xmlns:a="http://schemas.openxmlformats.org/drawingml/2006/main" noGrp="1"/>
          </p:cNvSpPr>
          <p:nvPr/>
        </p:nvSpPr>
        <p:spPr>
          <a:xfrm xmlns:a="http://schemas.openxmlformats.org/drawingml/2006/main">
            <a:off x="857250" y="17430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壁の分子の一部（OH基）</a:t>
            </a:r>
          </a:p>
        </p:txBody>
      </p:sp>
      <p:sp>
        <p:nvSpPr>
          <p:cNvPr id="6" name="">
            <a:extLst xmlns:a="http://schemas.openxmlformats.org/drawingml/2006/main">
              <a:ext uri="{FF2B5EF4-FFF2-40B4-BE49-F238E27FC236}">
                <a16:creationId xmlns:a16="http://schemas.microsoft.com/office/drawing/2014/main" id="{90B632A7-58FD-4BCF-85D5-789D7C68AD2F}"/>
              </a:ext>
            </a:extLst>
          </p:cNvPr>
          <p:cNvSpPr>
            <a:spLocks xmlns:a="http://schemas.openxmlformats.org/drawingml/2006/main" noGrp="1"/>
          </p:cNvSpPr>
          <p:nvPr/>
        </p:nvSpPr>
        <p:spPr>
          <a:xfrm xmlns:a="http://schemas.openxmlformats.org/drawingml/2006/main">
            <a:off x="9620250" y="2600325"/>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buNone/>
              <a:defRPr sz="2025" b="1">
                <a:solidFill>
                  <a:srgbClr val="18364F"/>
                </a:solidFill>
                <a:latin typeface="Yu Gothic"/>
                <a:ea typeface="Yu Gothic"/>
                <a:cs typeface="Yu Gothic"/>
              </a:defRPr>
            </a:lvl1pPr>
            <a:lvl2pPr>
              <a:buNone/>
              <a:defRPr sz="2025" b="1">
                <a:solidFill>
                  <a:srgbClr val="18364F"/>
                </a:solidFill>
                <a:latin typeface="Yu Gothic"/>
                <a:ea typeface="Yu Gothic"/>
                <a:cs typeface="Yu Gothic"/>
              </a:defRPr>
            </a:lvl2pPr>
            <a:lvl3pPr>
              <a:buNone/>
              <a:defRPr sz="2025" b="1">
                <a:solidFill>
                  <a:srgbClr val="18364F"/>
                </a:solidFill>
                <a:latin typeface="Yu Gothic"/>
                <a:ea typeface="Yu Gothic"/>
                <a:cs typeface="Yu Gothic"/>
              </a:defRPr>
            </a:lvl3pPr>
            <a:lvl4pPr>
              <a:buNone/>
              <a:defRPr sz="2025" b="1">
                <a:solidFill>
                  <a:srgbClr val="18364F"/>
                </a:solidFill>
                <a:latin typeface="Yu Gothic"/>
                <a:ea typeface="Yu Gothic"/>
                <a:cs typeface="Yu Gothic"/>
              </a:defRPr>
            </a:lvl4pPr>
            <a:lvl5pPr>
              <a:buNone/>
              <a:defRPr sz="2025" b="1">
                <a:solidFill>
                  <a:srgbClr val="18364F"/>
                </a:solidFill>
                <a:latin typeface="Yu Gothic"/>
                <a:ea typeface="Yu Gothic"/>
                <a:cs typeface="Yu Gothic"/>
              </a:defRPr>
            </a:lvl5pPr>
            <a:lvl6pPr>
              <a:buNone/>
              <a:defRPr sz="2025" b="1">
                <a:solidFill>
                  <a:srgbClr val="18364F"/>
                </a:solidFill>
                <a:latin typeface="Yu Gothic"/>
                <a:ea typeface="Yu Gothic"/>
                <a:cs typeface="Yu Gothic"/>
              </a:defRPr>
            </a:lvl6pPr>
            <a:lvl7pPr>
              <a:buNone/>
              <a:defRPr sz="2025" b="1">
                <a:solidFill>
                  <a:srgbClr val="18364F"/>
                </a:solidFill>
                <a:latin typeface="Yu Gothic"/>
                <a:ea typeface="Yu Gothic"/>
                <a:cs typeface="Yu Gothic"/>
              </a:defRPr>
            </a:lvl7pPr>
            <a:lvl8pPr>
              <a:buNone/>
              <a:defRPr sz="2025" b="1">
                <a:solidFill>
                  <a:srgbClr val="18364F"/>
                </a:solidFill>
                <a:latin typeface="Yu Gothic"/>
                <a:ea typeface="Yu Gothic"/>
                <a:cs typeface="Yu Gothic"/>
              </a:defRPr>
            </a:lvl8pPr>
            <a:lvl9pPr>
              <a:buNone/>
              <a:defRPr sz="2025" b="1">
                <a:solidFill>
                  <a:srgbClr val="18364F"/>
                </a:solidFill>
                <a:latin typeface="Yu Gothic"/>
                <a:ea typeface="Yu Gothic"/>
                <a:cs typeface="Yu Gothic"/>
              </a:defRPr>
            </a:lvl9pPr>
          </a:lstStyle>
          <a:p xmlns:a="http://schemas.openxmlformats.org/drawingml/2006/main">
            <a:pP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水分子 H₂O</a:t>
            </a:r>
          </a:p>
        </p:txBody>
      </p:sp>
      <p:sp>
        <p:nvSpPr>
          <p:cNvPr id="7" name="">
            <a:extLst xmlns:a="http://schemas.openxmlformats.org/drawingml/2006/main">
              <a:ext uri="{FF2B5EF4-FFF2-40B4-BE49-F238E27FC236}">
                <a16:creationId xmlns:a16="http://schemas.microsoft.com/office/drawing/2014/main" id="{5908CFA4-20F3-495D-9368-5256C9FCA73F}"/>
              </a:ext>
            </a:extLst>
          </p:cNvPr>
          <p:cNvSpPr>
            <a:spLocks xmlns:a="http://schemas.openxmlformats.org/drawingml/2006/main" noGrp="1"/>
          </p:cNvSpPr>
          <p:nvPr/>
        </p:nvSpPr>
        <p:spPr>
          <a:xfrm xmlns:a="http://schemas.openxmlformats.org/drawingml/2006/main">
            <a:off x="1809750" y="2809875"/>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38100">
            <a:solidFill>
              <a:srgbClr val="253C4D"/>
            </a:solidFill>
          </a:ln>
        </p:spPr>
      </p:sp>
      <p:sp>
        <p:nvSpPr>
          <p:cNvPr id="8" name="">
            <a:extLst xmlns:a="http://schemas.openxmlformats.org/drawingml/2006/main">
              <a:ext uri="{FF2B5EF4-FFF2-40B4-BE49-F238E27FC236}">
                <a16:creationId xmlns:a16="http://schemas.microsoft.com/office/drawing/2014/main" id="{6D32C32C-8732-4FE6-8DD0-63CCA1352C18}"/>
              </a:ext>
            </a:extLst>
          </p:cNvPr>
          <p:cNvSpPr>
            <a:spLocks xmlns:a="http://schemas.openxmlformats.org/drawingml/2006/main" noGrp="1"/>
          </p:cNvSpPr>
          <p:nvPr/>
        </p:nvSpPr>
        <p:spPr>
          <a:xfrm xmlns:a="http://schemas.openxmlformats.org/drawingml/2006/main">
            <a:off x="3952875" y="280987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38100">
            <a:solidFill>
              <a:srgbClr val="253C4D"/>
            </a:solidFill>
          </a:ln>
        </p:spPr>
      </p:sp>
      <p:sp>
        <p:nvSpPr>
          <p:cNvPr id="9" name="">
            <a:extLst xmlns:a="http://schemas.openxmlformats.org/drawingml/2006/main">
              <a:ext uri="{FF2B5EF4-FFF2-40B4-BE49-F238E27FC236}">
                <a16:creationId xmlns:a16="http://schemas.microsoft.com/office/drawing/2014/main" id="{0F685CC7-C85C-425F-8B20-85E5826CAE37}"/>
              </a:ext>
            </a:extLst>
          </p:cNvPr>
          <p:cNvSpPr>
            <a:spLocks xmlns:a="http://schemas.openxmlformats.org/drawingml/2006/main" noGrp="1"/>
          </p:cNvSpPr>
          <p:nvPr/>
        </p:nvSpPr>
        <p:spPr>
          <a:xfrm xmlns:a="http://schemas.openxmlformats.org/drawingml/2006/main">
            <a:off x="904875" y="2600325"/>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xmlns:a="http://schemas.openxmlformats.org/drawingml/2006/main">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壁の鎖</a:t>
            </a:r>
          </a:p>
        </p:txBody>
      </p:sp>
      <p:sp>
        <p:nvSpPr>
          <p:cNvPr id="10" name="">
            <a:extLst xmlns:a="http://schemas.openxmlformats.org/drawingml/2006/main">
              <a:ext uri="{FF2B5EF4-FFF2-40B4-BE49-F238E27FC236}">
                <a16:creationId xmlns:a16="http://schemas.microsoft.com/office/drawing/2014/main" id="{D7D56610-448A-4DA1-AB4F-B1051619594E}"/>
              </a:ext>
            </a:extLst>
          </p:cNvPr>
          <p:cNvSpPr>
            <a:spLocks xmlns:a="http://schemas.openxmlformats.org/drawingml/2006/main" noGrp="1"/>
          </p:cNvSpPr>
          <p:nvPr/>
        </p:nvSpPr>
        <p:spPr>
          <a:xfrm xmlns:a="http://schemas.openxmlformats.org/drawingml/2006/main">
            <a:off x="3381375" y="2524125"/>
            <a:ext cx="571500" cy="57150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1" name="">
            <a:extLst xmlns:a="http://schemas.openxmlformats.org/drawingml/2006/main">
              <a:ext uri="{FF2B5EF4-FFF2-40B4-BE49-F238E27FC236}">
                <a16:creationId xmlns:a16="http://schemas.microsoft.com/office/drawing/2014/main" id="{A3E9D642-8C9D-4354-A25C-FE7FFAE8037A}"/>
              </a:ext>
            </a:extLst>
          </p:cNvPr>
          <p:cNvSpPr>
            <a:spLocks xmlns:a="http://schemas.openxmlformats.org/drawingml/2006/main" noGrp="1"/>
          </p:cNvSpPr>
          <p:nvPr/>
        </p:nvSpPr>
        <p:spPr>
          <a:xfrm xmlns:a="http://schemas.openxmlformats.org/drawingml/2006/main">
            <a:off x="3562350" y="2524125"/>
            <a:ext cx="28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2" name="">
            <a:extLst xmlns:a="http://schemas.openxmlformats.org/drawingml/2006/main">
              <a:ext uri="{FF2B5EF4-FFF2-40B4-BE49-F238E27FC236}">
                <a16:creationId xmlns:a16="http://schemas.microsoft.com/office/drawing/2014/main" id="{23C7AD82-CC95-4052-B1C8-78D5296C5F2D}"/>
              </a:ext>
            </a:extLst>
          </p:cNvPr>
          <p:cNvSpPr>
            <a:spLocks xmlns:a="http://schemas.openxmlformats.org/drawingml/2006/main" noGrp="1"/>
          </p:cNvSpPr>
          <p:nvPr/>
        </p:nvSpPr>
        <p:spPr>
          <a:xfrm xmlns:a="http://schemas.openxmlformats.org/drawingml/2006/main">
            <a:off x="4791075" y="25717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3" name="">
            <a:extLst xmlns:a="http://schemas.openxmlformats.org/drawingml/2006/main">
              <a:ext uri="{FF2B5EF4-FFF2-40B4-BE49-F238E27FC236}">
                <a16:creationId xmlns:a16="http://schemas.microsoft.com/office/drawing/2014/main" id="{E197E765-0745-4321-B563-DF0D645841E4}"/>
              </a:ext>
            </a:extLst>
          </p:cNvPr>
          <p:cNvSpPr>
            <a:spLocks xmlns:a="http://schemas.openxmlformats.org/drawingml/2006/main" noGrp="1"/>
          </p:cNvSpPr>
          <p:nvPr/>
        </p:nvSpPr>
        <p:spPr>
          <a:xfrm xmlns:a="http://schemas.openxmlformats.org/drawingml/2006/main">
            <a:off x="4924425" y="25717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14" name="">
            <a:extLst xmlns:a="http://schemas.openxmlformats.org/drawingml/2006/main">
              <a:ext uri="{FF2B5EF4-FFF2-40B4-BE49-F238E27FC236}">
                <a16:creationId xmlns:a16="http://schemas.microsoft.com/office/drawing/2014/main" id="{6678F034-9645-46AD-AFCB-AE5BF70EEEFC}"/>
              </a:ext>
            </a:extLst>
          </p:cNvPr>
          <p:cNvSpPr>
            <a:spLocks xmlns:a="http://schemas.openxmlformats.org/drawingml/2006/main" noGrp="1"/>
          </p:cNvSpPr>
          <p:nvPr/>
        </p:nvSpPr>
        <p:spPr>
          <a:xfrm xmlns:a="http://schemas.openxmlformats.org/drawingml/2006/main">
            <a:off x="8334375" y="2266950"/>
            <a:ext cx="657225" cy="400050"/>
          </a:xfrm>
          <a:custGeom xmlns:a="http://schemas.openxmlformats.org/drawingml/2006/main">
            <a:pathLst>
              <a:path w="657225" h="400050">
                <a:moveTo>
                  <a:pt x="0" y="400050"/>
                </a:moveTo>
                <a:lnTo>
                  <a:pt x="657225" y="0"/>
                </a:lnTo>
              </a:path>
            </a:pathLst>
          </a:custGeom>
          <a:noFill xmlns:a="http://schemas.openxmlformats.org/drawingml/2006/main"/>
          <a:ln xmlns:a="http://schemas.openxmlformats.org/drawingml/2006/main" w="38100">
            <a:solidFill>
              <a:srgbClr val="253C4D"/>
            </a:solidFill>
          </a:ln>
        </p:spPr>
      </p:sp>
      <p:sp>
        <p:nvSpPr>
          <p:cNvPr id="15" name="">
            <a:extLst xmlns:a="http://schemas.openxmlformats.org/drawingml/2006/main">
              <a:ext uri="{FF2B5EF4-FFF2-40B4-BE49-F238E27FC236}">
                <a16:creationId xmlns:a16="http://schemas.microsoft.com/office/drawing/2014/main" id="{D5F0B190-F044-48F5-9873-7CE414997CC3}"/>
              </a:ext>
            </a:extLst>
          </p:cNvPr>
          <p:cNvSpPr>
            <a:spLocks xmlns:a="http://schemas.openxmlformats.org/drawingml/2006/main" noGrp="1"/>
          </p:cNvSpPr>
          <p:nvPr/>
        </p:nvSpPr>
        <p:spPr>
          <a:xfrm xmlns:a="http://schemas.openxmlformats.org/drawingml/2006/main">
            <a:off x="8334375" y="2952750"/>
            <a:ext cx="657225" cy="400050"/>
          </a:xfrm>
          <a:custGeom xmlns:a="http://schemas.openxmlformats.org/drawingml/2006/main">
            <a:pathLst>
              <a:path w="657225" h="400050">
                <a:moveTo>
                  <a:pt x="0" y="0"/>
                </a:moveTo>
                <a:lnTo>
                  <a:pt x="657225" y="400050"/>
                </a:lnTo>
              </a:path>
            </a:pathLst>
          </a:custGeom>
          <a:noFill xmlns:a="http://schemas.openxmlformats.org/drawingml/2006/main"/>
          <a:ln xmlns:a="http://schemas.openxmlformats.org/drawingml/2006/main" w="38100">
            <a:solidFill>
              <a:srgbClr val="253C4D"/>
            </a:solidFill>
          </a:ln>
        </p:spPr>
      </p:sp>
      <p:sp>
        <p:nvSpPr>
          <p:cNvPr id="16" name="">
            <a:extLst xmlns:a="http://schemas.openxmlformats.org/drawingml/2006/main">
              <a:ext uri="{FF2B5EF4-FFF2-40B4-BE49-F238E27FC236}">
                <a16:creationId xmlns:a16="http://schemas.microsoft.com/office/drawing/2014/main" id="{DC646396-393E-46B2-B6E5-3839FD104900}"/>
              </a:ext>
            </a:extLst>
          </p:cNvPr>
          <p:cNvSpPr>
            <a:spLocks xmlns:a="http://schemas.openxmlformats.org/drawingml/2006/main" noGrp="1"/>
          </p:cNvSpPr>
          <p:nvPr/>
        </p:nvSpPr>
        <p:spPr>
          <a:xfrm xmlns:a="http://schemas.openxmlformats.org/drawingml/2006/main">
            <a:off x="7781925" y="2495550"/>
            <a:ext cx="628650" cy="62865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7" name="">
            <a:extLst xmlns:a="http://schemas.openxmlformats.org/drawingml/2006/main">
              <a:ext uri="{FF2B5EF4-FFF2-40B4-BE49-F238E27FC236}">
                <a16:creationId xmlns:a16="http://schemas.microsoft.com/office/drawing/2014/main" id="{5FA7DD66-7CC9-4F43-818B-C59480C2EED0}"/>
              </a:ext>
            </a:extLst>
          </p:cNvPr>
          <p:cNvSpPr>
            <a:spLocks xmlns:a="http://schemas.openxmlformats.org/drawingml/2006/main" noGrp="1"/>
          </p:cNvSpPr>
          <p:nvPr/>
        </p:nvSpPr>
        <p:spPr>
          <a:xfrm xmlns:a="http://schemas.openxmlformats.org/drawingml/2006/main">
            <a:off x="7991475" y="2495550"/>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C316186E-FD48-443D-9BCB-1D0AC4B116AF}"/>
              </a:ext>
            </a:extLst>
          </p:cNvPr>
          <p:cNvSpPr>
            <a:spLocks xmlns:a="http://schemas.openxmlformats.org/drawingml/2006/main" noGrp="1"/>
          </p:cNvSpPr>
          <p:nvPr/>
        </p:nvSpPr>
        <p:spPr>
          <a:xfrm xmlns:a="http://schemas.openxmlformats.org/drawingml/2006/main">
            <a:off x="9001125" y="18859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9" name="">
            <a:extLst xmlns:a="http://schemas.openxmlformats.org/drawingml/2006/main">
              <a:ext uri="{FF2B5EF4-FFF2-40B4-BE49-F238E27FC236}">
                <a16:creationId xmlns:a16="http://schemas.microsoft.com/office/drawing/2014/main" id="{CD17DAB3-56FE-4134-B1BA-0DD49026D8F6}"/>
              </a:ext>
            </a:extLst>
          </p:cNvPr>
          <p:cNvSpPr>
            <a:spLocks xmlns:a="http://schemas.openxmlformats.org/drawingml/2006/main" noGrp="1"/>
          </p:cNvSpPr>
          <p:nvPr/>
        </p:nvSpPr>
        <p:spPr>
          <a:xfrm xmlns:a="http://schemas.openxmlformats.org/drawingml/2006/main">
            <a:off x="9134475" y="18859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0" name="">
            <a:extLst xmlns:a="http://schemas.openxmlformats.org/drawingml/2006/main">
              <a:ext uri="{FF2B5EF4-FFF2-40B4-BE49-F238E27FC236}">
                <a16:creationId xmlns:a16="http://schemas.microsoft.com/office/drawing/2014/main" id="{DEDC1EF4-E3A5-4302-A738-F3B93D32776D}"/>
              </a:ext>
            </a:extLst>
          </p:cNvPr>
          <p:cNvSpPr>
            <a:spLocks xmlns:a="http://schemas.openxmlformats.org/drawingml/2006/main" noGrp="1"/>
          </p:cNvSpPr>
          <p:nvPr/>
        </p:nvSpPr>
        <p:spPr>
          <a:xfrm xmlns:a="http://schemas.openxmlformats.org/drawingml/2006/main">
            <a:off x="9001125" y="3257550"/>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21" name="">
            <a:extLst xmlns:a="http://schemas.openxmlformats.org/drawingml/2006/main">
              <a:ext uri="{FF2B5EF4-FFF2-40B4-BE49-F238E27FC236}">
                <a16:creationId xmlns:a16="http://schemas.microsoft.com/office/drawing/2014/main" id="{A107B6EC-5020-47F6-9B6C-494E93FECA25}"/>
              </a:ext>
            </a:extLst>
          </p:cNvPr>
          <p:cNvSpPr>
            <a:spLocks xmlns:a="http://schemas.openxmlformats.org/drawingml/2006/main" noGrp="1"/>
          </p:cNvSpPr>
          <p:nvPr/>
        </p:nvSpPr>
        <p:spPr>
          <a:xfrm xmlns:a="http://schemas.openxmlformats.org/drawingml/2006/main">
            <a:off x="9134475" y="325755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2" name="HydrogenBond">
            <a:extLst xmlns:a="http://schemas.openxmlformats.org/drawingml/2006/main">
              <a:ext uri="{FF2B5EF4-FFF2-40B4-BE49-F238E27FC236}">
                <a16:creationId xmlns:a16="http://schemas.microsoft.com/office/drawing/2014/main" id="{406473E4-C62C-4118-9142-F88620B20B84}"/>
              </a:ext>
            </a:extLst>
          </p:cNvPr>
          <p:cNvSpPr>
            <a:spLocks xmlns:a="http://schemas.openxmlformats.org/drawingml/2006/main" noGrp="1"/>
          </p:cNvSpPr>
          <p:nvPr/>
        </p:nvSpPr>
        <p:spPr>
          <a:xfrm xmlns:a="http://schemas.openxmlformats.org/drawingml/2006/main">
            <a:off x="54292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3" name="HydrogenBond">
            <a:extLst xmlns:a="http://schemas.openxmlformats.org/drawingml/2006/main">
              <a:ext uri="{FF2B5EF4-FFF2-40B4-BE49-F238E27FC236}">
                <a16:creationId xmlns:a16="http://schemas.microsoft.com/office/drawing/2014/main" id="{86E50604-1420-4274-9DF7-5F72C7639A43}"/>
              </a:ext>
            </a:extLst>
          </p:cNvPr>
          <p:cNvSpPr>
            <a:spLocks xmlns:a="http://schemas.openxmlformats.org/drawingml/2006/main" noGrp="1"/>
          </p:cNvSpPr>
          <p:nvPr/>
        </p:nvSpPr>
        <p:spPr>
          <a:xfrm xmlns:a="http://schemas.openxmlformats.org/drawingml/2006/main">
            <a:off x="56959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4" name="HydrogenBond">
            <a:extLst xmlns:a="http://schemas.openxmlformats.org/drawingml/2006/main">
              <a:ext uri="{FF2B5EF4-FFF2-40B4-BE49-F238E27FC236}">
                <a16:creationId xmlns:a16="http://schemas.microsoft.com/office/drawing/2014/main" id="{3D8FE346-CCAF-4D08-9016-FE190A3440F0}"/>
              </a:ext>
            </a:extLst>
          </p:cNvPr>
          <p:cNvSpPr>
            <a:spLocks xmlns:a="http://schemas.openxmlformats.org/drawingml/2006/main" noGrp="1"/>
          </p:cNvSpPr>
          <p:nvPr/>
        </p:nvSpPr>
        <p:spPr>
          <a:xfrm xmlns:a="http://schemas.openxmlformats.org/drawingml/2006/main">
            <a:off x="59626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5" name="HydrogenBond">
            <a:extLst xmlns:a="http://schemas.openxmlformats.org/drawingml/2006/main">
              <a:ext uri="{FF2B5EF4-FFF2-40B4-BE49-F238E27FC236}">
                <a16:creationId xmlns:a16="http://schemas.microsoft.com/office/drawing/2014/main" id="{7F8B9C62-2826-4040-9E54-9ACB70BC566D}"/>
              </a:ext>
            </a:extLst>
          </p:cNvPr>
          <p:cNvSpPr>
            <a:spLocks xmlns:a="http://schemas.openxmlformats.org/drawingml/2006/main" noGrp="1"/>
          </p:cNvSpPr>
          <p:nvPr/>
        </p:nvSpPr>
        <p:spPr>
          <a:xfrm xmlns:a="http://schemas.openxmlformats.org/drawingml/2006/main">
            <a:off x="62293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6" name="HydrogenBond">
            <a:extLst xmlns:a="http://schemas.openxmlformats.org/drawingml/2006/main">
              <a:ext uri="{FF2B5EF4-FFF2-40B4-BE49-F238E27FC236}">
                <a16:creationId xmlns:a16="http://schemas.microsoft.com/office/drawing/2014/main" id="{547899CA-566F-42CE-8E31-3DA384A96D45}"/>
              </a:ext>
            </a:extLst>
          </p:cNvPr>
          <p:cNvSpPr>
            <a:spLocks xmlns:a="http://schemas.openxmlformats.org/drawingml/2006/main" noGrp="1"/>
          </p:cNvSpPr>
          <p:nvPr/>
        </p:nvSpPr>
        <p:spPr>
          <a:xfrm xmlns:a="http://schemas.openxmlformats.org/drawingml/2006/main">
            <a:off x="64960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7" name="HydrogenBond">
            <a:extLst xmlns:a="http://schemas.openxmlformats.org/drawingml/2006/main">
              <a:ext uri="{FF2B5EF4-FFF2-40B4-BE49-F238E27FC236}">
                <a16:creationId xmlns:a16="http://schemas.microsoft.com/office/drawing/2014/main" id="{CF6577A3-1449-4826-8685-0619D208F7E2}"/>
              </a:ext>
            </a:extLst>
          </p:cNvPr>
          <p:cNvSpPr>
            <a:spLocks xmlns:a="http://schemas.openxmlformats.org/drawingml/2006/main" noGrp="1"/>
          </p:cNvSpPr>
          <p:nvPr/>
        </p:nvSpPr>
        <p:spPr>
          <a:xfrm xmlns:a="http://schemas.openxmlformats.org/drawingml/2006/main">
            <a:off x="67627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8" name="HydrogenBond">
            <a:extLst xmlns:a="http://schemas.openxmlformats.org/drawingml/2006/main">
              <a:ext uri="{FF2B5EF4-FFF2-40B4-BE49-F238E27FC236}">
                <a16:creationId xmlns:a16="http://schemas.microsoft.com/office/drawing/2014/main" id="{D65F2B61-FD2B-4D18-900F-1C60E0FE8C41}"/>
              </a:ext>
            </a:extLst>
          </p:cNvPr>
          <p:cNvSpPr>
            <a:spLocks xmlns:a="http://schemas.openxmlformats.org/drawingml/2006/main" noGrp="1"/>
          </p:cNvSpPr>
          <p:nvPr/>
        </p:nvSpPr>
        <p:spPr>
          <a:xfrm xmlns:a="http://schemas.openxmlformats.org/drawingml/2006/main">
            <a:off x="70294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9" name="HydrogenBond">
            <a:extLst xmlns:a="http://schemas.openxmlformats.org/drawingml/2006/main">
              <a:ext uri="{FF2B5EF4-FFF2-40B4-BE49-F238E27FC236}">
                <a16:creationId xmlns:a16="http://schemas.microsoft.com/office/drawing/2014/main" id="{0E8FD992-6F2C-44C8-AA33-2CF122556B50}"/>
              </a:ext>
            </a:extLst>
          </p:cNvPr>
          <p:cNvSpPr>
            <a:spLocks xmlns:a="http://schemas.openxmlformats.org/drawingml/2006/main" noGrp="1"/>
          </p:cNvSpPr>
          <p:nvPr/>
        </p:nvSpPr>
        <p:spPr>
          <a:xfrm xmlns:a="http://schemas.openxmlformats.org/drawingml/2006/main">
            <a:off x="72961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30" name="HydrogenBond">
            <a:extLst xmlns:a="http://schemas.openxmlformats.org/drawingml/2006/main">
              <a:ext uri="{FF2B5EF4-FFF2-40B4-BE49-F238E27FC236}">
                <a16:creationId xmlns:a16="http://schemas.microsoft.com/office/drawing/2014/main" id="{2605B708-A460-4C2C-8B64-BE1E15690B1D}"/>
              </a:ext>
            </a:extLst>
          </p:cNvPr>
          <p:cNvSpPr>
            <a:spLocks xmlns:a="http://schemas.openxmlformats.org/drawingml/2006/main" noGrp="1"/>
          </p:cNvSpPr>
          <p:nvPr/>
        </p:nvSpPr>
        <p:spPr>
          <a:xfrm xmlns:a="http://schemas.openxmlformats.org/drawingml/2006/main">
            <a:off x="7562850" y="2809875"/>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31" name="">
            <a:extLst xmlns:a="http://schemas.openxmlformats.org/drawingml/2006/main">
              <a:ext uri="{FF2B5EF4-FFF2-40B4-BE49-F238E27FC236}">
                <a16:creationId xmlns:a16="http://schemas.microsoft.com/office/drawing/2014/main" id="{71E8A049-A84B-4071-A94F-EA36DD43F0DC}"/>
              </a:ext>
            </a:extLst>
          </p:cNvPr>
          <p:cNvSpPr>
            <a:spLocks xmlns:a="http://schemas.openxmlformats.org/drawingml/2006/main" noGrp="1"/>
          </p:cNvSpPr>
          <p:nvPr/>
        </p:nvSpPr>
        <p:spPr>
          <a:xfrm xmlns:a="http://schemas.openxmlformats.org/drawingml/2006/main">
            <a:off x="5238750" y="3171825"/>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水素結合の一例</a:t>
            </a:r>
          </a:p>
        </p:txBody>
      </p:sp>
      <p:sp>
        <p:nvSpPr>
          <p:cNvPr id="32" name="">
            <a:extLst xmlns:a="http://schemas.openxmlformats.org/drawingml/2006/main">
              <a:ext uri="{FF2B5EF4-FFF2-40B4-BE49-F238E27FC236}">
                <a16:creationId xmlns:a16="http://schemas.microsoft.com/office/drawing/2014/main" id="{999C0379-EBFA-496C-BD9F-7C160EADFB22}"/>
              </a:ext>
            </a:extLst>
          </p:cNvPr>
          <p:cNvSpPr>
            <a:spLocks xmlns:a="http://schemas.openxmlformats.org/drawingml/2006/main" noGrp="1"/>
          </p:cNvSpPr>
          <p:nvPr/>
        </p:nvSpPr>
        <p:spPr>
          <a:xfrm xmlns:a="http://schemas.openxmlformats.org/drawingml/2006/main">
            <a:off x="838200" y="42957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実線：分子の中の共有結合</a:t>
            </a:r>
          </a:p>
        </p:txBody>
      </p:sp>
      <p:sp>
        <p:nvSpPr>
          <p:cNvPr id="33" name="">
            <a:extLst xmlns:a="http://schemas.openxmlformats.org/drawingml/2006/main">
              <a:ext uri="{FF2B5EF4-FFF2-40B4-BE49-F238E27FC236}">
                <a16:creationId xmlns:a16="http://schemas.microsoft.com/office/drawing/2014/main" id="{854CC2B4-A4C6-4DF2-A809-BCDDAA4900DB}"/>
              </a:ext>
            </a:extLst>
          </p:cNvPr>
          <p:cNvSpPr>
            <a:spLocks xmlns:a="http://schemas.openxmlformats.org/drawingml/2006/main" noGrp="1"/>
          </p:cNvSpPr>
          <p:nvPr/>
        </p:nvSpPr>
        <p:spPr>
          <a:xfrm xmlns:a="http://schemas.openxmlformats.org/drawingml/2006/main">
            <a:off x="838200" y="47434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点線：水素結合の一例</a:t>
            </a:r>
          </a:p>
        </p:txBody>
      </p:sp>
      <p:sp>
        <p:nvSpPr>
          <p:cNvPr id="34" name="">
            <a:extLst xmlns:a="http://schemas.openxmlformats.org/drawingml/2006/main">
              <a:ext uri="{FF2B5EF4-FFF2-40B4-BE49-F238E27FC236}">
                <a16:creationId xmlns:a16="http://schemas.microsoft.com/office/drawing/2014/main" id="{0422B81D-B30F-464D-9F92-43E859DC872D}"/>
              </a:ext>
            </a:extLst>
          </p:cNvPr>
          <p:cNvSpPr>
            <a:spLocks xmlns:a="http://schemas.openxmlformats.org/drawingml/2006/main" noGrp="1"/>
          </p:cNvSpPr>
          <p:nvPr/>
        </p:nvSpPr>
        <p:spPr>
          <a:xfrm xmlns:a="http://schemas.openxmlformats.org/drawingml/2006/main">
            <a:off x="838200" y="5191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水同士・成分同士・水と成分の間で生じる</a:t>
            </a:r>
          </a:p>
        </p:txBody>
      </p:sp>
      <p:sp>
        <p:nvSpPr>
          <p:cNvPr id="35" name="">
            <a:extLst xmlns:a="http://schemas.openxmlformats.org/drawingml/2006/main">
              <a:ext uri="{FF2B5EF4-FFF2-40B4-BE49-F238E27FC236}">
                <a16:creationId xmlns:a16="http://schemas.microsoft.com/office/drawing/2014/main" id="{C7F4A27C-ED38-474A-8788-DD2915002379}"/>
              </a:ext>
            </a:extLst>
          </p:cNvPr>
          <p:cNvSpPr>
            <a:spLocks xmlns:a="http://schemas.openxmlformats.org/drawingml/2006/main" noGrp="1"/>
          </p:cNvSpPr>
          <p:nvPr/>
        </p:nvSpPr>
        <p:spPr>
          <a:xfrm xmlns:a="http://schemas.openxmlformats.org/drawingml/2006/main">
            <a:off x="838200" y="56388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吸湿で相互作用が変わり、膨潤・変形のしやすさに関わる</a:t>
            </a:r>
          </a:p>
        </p:txBody>
      </p:sp>
    </p:spTree>
    <p:extLst>
      <p:ext uri="{BB962C8B-B14F-4D97-AF65-F5344CB8AC3E}">
        <p14:creationId xmlns:p14="http://schemas.microsoft.com/office/powerpoint/2010/main" val="16758937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834051-FDC8-4C75-B34C-F368D2A432A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635C8C9B-D09B-45C0-8077-CD049CFD1B7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5EE4B5-72EF-4B9E-9622-73C7226811E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第4回・オンデマンド</a:t>
            </a:r>
          </a:p>
        </p:txBody>
      </p:sp>
      <p:sp>
        <p:nvSpPr>
          <p:cNvPr id="4" name="">
            <a:extLst xmlns:a="http://schemas.openxmlformats.org/drawingml/2006/main">
              <a:ext uri="{FF2B5EF4-FFF2-40B4-BE49-F238E27FC236}">
                <a16:creationId xmlns:a16="http://schemas.microsoft.com/office/drawing/2014/main" id="{67502931-6C2E-4618-99B2-5D5568A5B33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C0A40973-4945-4439-B466-9607CC5A002D}"/>
              </a:ext>
            </a:extLst>
          </p:cNvPr>
          <p:cNvSpPr>
            <a:spLocks xmlns:a="http://schemas.openxmlformats.org/drawingml/2006/main" noGrp="1"/>
          </p:cNvSpPr>
          <p:nvPr/>
        </p:nvSpPr>
        <p:spPr>
          <a:xfrm xmlns:a="http://schemas.openxmlformats.org/drawingml/2006/main">
            <a:off x="838200" y="17145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999E4A12-0614-4B0B-99B2-2DA71E16211B}"/>
              </a:ext>
            </a:extLst>
          </p:cNvPr>
          <p:cNvSpPr>
            <a:spLocks xmlns:a="http://schemas.openxmlformats.org/drawingml/2006/main" noGrp="1"/>
          </p:cNvSpPr>
          <p:nvPr/>
        </p:nvSpPr>
        <p:spPr>
          <a:xfrm xmlns:a="http://schemas.openxmlformats.org/drawingml/2006/main">
            <a:off x="838200" y="27241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832A4FBC-CFF3-43A3-9F3E-CA1ACD507FA2}"/>
              </a:ext>
            </a:extLst>
          </p:cNvPr>
          <p:cNvSpPr>
            <a:spLocks xmlns:a="http://schemas.openxmlformats.org/drawingml/2006/main" noGrp="1"/>
          </p:cNvSpPr>
          <p:nvPr/>
        </p:nvSpPr>
        <p:spPr>
          <a:xfrm xmlns:a="http://schemas.openxmlformats.org/drawingml/2006/main">
            <a:off x="838200" y="37338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AD29777E-7519-4D22-9E17-58D020746C4B}"/>
              </a:ext>
            </a:extLst>
          </p:cNvPr>
          <p:cNvSpPr>
            <a:spLocks xmlns:a="http://schemas.openxmlformats.org/drawingml/2006/main" noGrp="1"/>
          </p:cNvSpPr>
          <p:nvPr/>
        </p:nvSpPr>
        <p:spPr>
          <a:xfrm xmlns:a="http://schemas.openxmlformats.org/drawingml/2006/main">
            <a:off x="838200" y="47434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再開したら：親水性と疎水性へ進みます。</a:t>
            </a:r>
          </a:p>
        </p:txBody>
      </p:sp>
    </p:spTree>
    <p:extLst>
      <p:ext uri="{BB962C8B-B14F-4D97-AF65-F5344CB8AC3E}">
        <p14:creationId xmlns:p14="http://schemas.microsoft.com/office/powerpoint/2010/main" val="14391271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22CA20-71F3-4391-B240-ED2F4AE8AD7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親水性と疎水性</a:t>
            </a:r>
          </a:p>
        </p:txBody>
      </p:sp>
      <p:sp>
        <p:nvSpPr>
          <p:cNvPr id="2" name="">
            <a:extLst xmlns:a="http://schemas.openxmlformats.org/drawingml/2006/main">
              <a:ext uri="{FF2B5EF4-FFF2-40B4-BE49-F238E27FC236}">
                <a16:creationId xmlns:a16="http://schemas.microsoft.com/office/drawing/2014/main" id="{19EBEE16-6DF2-46CD-8CE7-39DDB5C5987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24F6E7-1566-46B1-86DE-2748C3D28A7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ED688465-4E17-4575-B3CC-A4930347E56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graphicFrame>
        <p:nvGraphicFramePr>
          <p:cNvPr id="5" name="">
            <a:extLst xmlns:a="http://schemas.openxmlformats.org/drawingml/2006/main">
              <a:ext uri="{FF2B5EF4-FFF2-40B4-BE49-F238E27FC236}">
                <a16:creationId xmlns:a16="http://schemas.microsoft.com/office/drawing/2014/main" id="{53C2F01A-4AC7-4502-B794-F4625D508B49}"/>
              </a:ext>
            </a:extLst>
          </p:cNvPr>
          <p:cNvGraphicFramePr/>
          <p:nvPr/>
        </p:nvGraphicFramePr>
        <p:xfrm>
          <a:off xmlns:a="http://schemas.openxmlformats.org/drawingml/2006/main" x="838200" y="1933575"/>
          <a:ext xmlns:a="http://schemas.openxmlformats.org/drawingml/2006/main" cx="10477500" cy="2857500"/>
        </p:xfrm>
        <a:graphic xmlns:a="http://schemas.openxmlformats.org/drawingml/2006/main">
          <a:graphicData uri="http://schemas.openxmlformats.org/drawingml/2006/table">
            <a:tbl>
              <a:tblPr/>
              <a:tblGrid>
                <a:gridCol w="2000250"/>
                <a:gridCol w="4191000"/>
                <a:gridCol w="4286250"/>
              </a:tblGrid>
              <a:tr h="952500">
                <a:tc>
                  <a:txBody>
                    <a:bodyPr lIns="95250" tIns="95250" rIns="95250" bIns="95250"/>
                    <a:lstStyle/>
                    <a:p>
                      <a:r>
                        <a:rPr sz="2100" b="1">
                          <a:solidFill>
                            <a:srgbClr val="FFFFFF"/>
                          </a:solidFill>
                          <a:latin typeface="Yu Gothic"/>
                          <a:ea typeface="Yu Gothic"/>
                          <a:cs typeface="Yu Gothic"/>
                        </a:rPr>
                        <a:t>語</a:t>
                      </a:r>
                    </a:p>
                  </a:txBody>
                  <a:tcPr marL="91440" marR="91440" marT="45720" marB="45720">
                    <a:solidFill>
                      <a:srgbClr val="18364F"/>
                    </a:solidFill>
                  </a:tcPr>
                </a:tc>
                <a:tc>
                  <a:txBody>
                    <a:bodyPr lIns="95250" tIns="95250" rIns="95250" bIns="95250"/>
                    <a:lstStyle/>
                    <a:p>
                      <a:r>
                        <a:rPr sz="2100" b="1">
                          <a:solidFill>
                            <a:srgbClr val="FFFFFF"/>
                          </a:solidFill>
                          <a:latin typeface="Yu Gothic"/>
                          <a:ea typeface="Yu Gothic"/>
                          <a:cs typeface="Yu Gothic"/>
                        </a:rPr>
                        <a:t>水との関係</a:t>
                      </a:r>
                    </a:p>
                  </a:txBody>
                  <a:tcPr marL="91440" marR="91440" marT="45720" marB="45720">
                    <a:solidFill>
                      <a:srgbClr val="18364F"/>
                    </a:solidFill>
                  </a:tcPr>
                </a:tc>
                <a:tc>
                  <a:txBody>
                    <a:bodyPr lIns="95250" tIns="95250" rIns="95250" bIns="95250"/>
                    <a:lstStyle/>
                    <a:p>
                      <a:r>
                        <a:rPr sz="2100" b="1">
                          <a:solidFill>
                            <a:srgbClr val="FFFFFF"/>
                          </a:solidFill>
                          <a:latin typeface="Yu Gothic"/>
                          <a:ea typeface="Yu Gothic"/>
                          <a:cs typeface="Yu Gothic"/>
                        </a:rPr>
                        <a:t>説明するときの注意</a:t>
                      </a:r>
                    </a:p>
                  </a:txBody>
                  <a:tcPr marL="91440" marR="91440" marT="45720" marB="45720">
                    <a:solidFill>
                      <a:srgbClr val="18364F"/>
                    </a:solidFill>
                  </a:tcPr>
                </a:tc>
              </a:tr>
              <a:tr h="952500">
                <a:tc>
                  <a:txBody>
                    <a:bodyPr lIns="95250" tIns="95250" rIns="95250" bIns="95250"/>
                    <a:lstStyle/>
                    <a:p>
                      <a:r>
                        <a:rPr sz="2100" b="0">
                          <a:solidFill>
                            <a:srgbClr val="253C4D"/>
                          </a:solidFill>
                          <a:latin typeface="Yu Gothic"/>
                          <a:ea typeface="Yu Gothic"/>
                          <a:cs typeface="Yu Gothic"/>
                        </a:rPr>
                        <a:t>親水性</a:t>
                      </a:r>
                    </a:p>
                  </a:txBody>
                  <a:tcPr marL="91440" marR="91440" marT="45720" marB="45720">
                    <a:solidFill>
                      <a:srgbClr val="F1F5F7"/>
                    </a:solidFill>
                  </a:tcPr>
                </a:tc>
                <a:tc>
                  <a:txBody>
                    <a:bodyPr lIns="95250" tIns="95250" rIns="95250" bIns="95250"/>
                    <a:lstStyle/>
                    <a:p>
                      <a:r>
                        <a:rPr sz="2100" b="0">
                          <a:solidFill>
                            <a:srgbClr val="253C4D"/>
                          </a:solidFill>
                          <a:latin typeface="Yu Gothic"/>
                          <a:ea typeface="Yu Gothic"/>
                          <a:cs typeface="Yu Gothic"/>
                        </a:rPr>
                        <a:t>水と相互作用し、なじみやすい</a:t>
                      </a:r>
                    </a:p>
                  </a:txBody>
                  <a:tcPr marL="91440" marR="91440" marT="45720" marB="45720">
                    <a:solidFill>
                      <a:srgbClr val="F1F5F7"/>
                    </a:solidFill>
                  </a:tcPr>
                </a:tc>
                <a:tc>
                  <a:txBody>
                    <a:bodyPr lIns="95250" tIns="95250" rIns="95250" bIns="95250"/>
                    <a:lstStyle/>
                    <a:p>
                      <a:r>
                        <a:rPr sz="2100" b="0">
                          <a:solidFill>
                            <a:srgbClr val="253C4D"/>
                          </a:solidFill>
                          <a:latin typeface="Yu Gothic"/>
                          <a:ea typeface="Yu Gothic"/>
                          <a:cs typeface="Yu Gothic"/>
                        </a:rPr>
                        <a:t>水に溶けることとは区別</a:t>
                      </a:r>
                    </a:p>
                  </a:txBody>
                  <a:tcPr marL="91440" marR="91440" marT="45720" marB="45720">
                    <a:solidFill>
                      <a:srgbClr val="F1F5F7"/>
                    </a:solidFill>
                  </a:tcPr>
                </a:tc>
              </a:tr>
              <a:tr h="952500">
                <a:tc>
                  <a:txBody>
                    <a:bodyPr lIns="95250" tIns="95250" rIns="95250" bIns="95250"/>
                    <a:lstStyle/>
                    <a:p>
                      <a:r>
                        <a:rPr sz="2100" b="0">
                          <a:solidFill>
                            <a:srgbClr val="253C4D"/>
                          </a:solidFill>
                          <a:latin typeface="Yu Gothic"/>
                          <a:ea typeface="Yu Gothic"/>
                          <a:cs typeface="Yu Gothic"/>
                        </a:rPr>
                        <a:t>疎水性</a:t>
                      </a:r>
                    </a:p>
                  </a:txBody>
                  <a:tcPr marL="91440" marR="91440" marT="45720" marB="45720">
                    <a:solidFill>
                      <a:srgbClr val="FFFFFF"/>
                    </a:solidFill>
                  </a:tcPr>
                </a:tc>
                <a:tc>
                  <a:txBody>
                    <a:bodyPr lIns="95250" tIns="95250" rIns="95250" bIns="95250"/>
                    <a:lstStyle/>
                    <a:p>
                      <a:r>
                        <a:rPr sz="2100" b="0">
                          <a:solidFill>
                            <a:srgbClr val="253C4D"/>
                          </a:solidFill>
                          <a:latin typeface="Yu Gothic"/>
                          <a:ea typeface="Yu Gothic"/>
                          <a:cs typeface="Yu Gothic"/>
                        </a:rPr>
                        <a:t>水との親和性が比較的小さい</a:t>
                      </a:r>
                    </a:p>
                  </a:txBody>
                  <a:tcPr marL="91440" marR="91440" marT="45720" marB="45720">
                    <a:solidFill>
                      <a:srgbClr val="FFFFFF"/>
                    </a:solidFill>
                  </a:tcPr>
                </a:tc>
                <a:tc>
                  <a:txBody>
                    <a:bodyPr lIns="95250" tIns="95250" rIns="95250" bIns="95250"/>
                    <a:lstStyle/>
                    <a:p>
                      <a:r>
                        <a:rPr sz="2100" b="0">
                          <a:solidFill>
                            <a:srgbClr val="253C4D"/>
                          </a:solidFill>
                          <a:latin typeface="Yu Gothic"/>
                          <a:ea typeface="Yu Gothic"/>
                          <a:cs typeface="Yu Gothic"/>
                        </a:rPr>
                        <a:t>完全防水や吸湿ゼロを意味しない</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A62C9B8-209C-483A-BA43-A5CC14D127F8}"/>
              </a:ext>
            </a:extLst>
          </p:cNvPr>
          <p:cNvSpPr>
            <a:spLocks xmlns:a="http://schemas.openxmlformats.org/drawingml/2006/main" noGrp="1"/>
          </p:cNvSpPr>
          <p:nvPr/>
        </p:nvSpPr>
        <p:spPr>
          <a:xfrm xmlns:a="http://schemas.openxmlformats.org/drawingml/2006/main">
            <a:off x="838200" y="52673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分子の一部分 → 表面 → 材料全体：対象の範囲を確かめる</a:t>
            </a:r>
          </a:p>
        </p:txBody>
      </p:sp>
    </p:spTree>
    <p:extLst>
      <p:ext uri="{BB962C8B-B14F-4D97-AF65-F5344CB8AC3E}">
        <p14:creationId xmlns:p14="http://schemas.microsoft.com/office/powerpoint/2010/main" val="17098305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CA3076E-83BA-4ED7-9D9D-90653352163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親水性と、水への溶けやすさ</a:t>
            </a:r>
          </a:p>
        </p:txBody>
      </p:sp>
      <p:sp>
        <p:nvSpPr>
          <p:cNvPr id="2" name="">
            <a:extLst xmlns:a="http://schemas.openxmlformats.org/drawingml/2006/main">
              <a:ext uri="{FF2B5EF4-FFF2-40B4-BE49-F238E27FC236}">
                <a16:creationId xmlns:a16="http://schemas.microsoft.com/office/drawing/2014/main" id="{5CD6FACB-5777-4D90-836B-106CD2F4024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20A6BA-CD34-421B-971E-533BEE081CD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05E5DC61-B25C-404B-BB00-AFD891FB848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47CCD634-42AD-4700-A511-F9CE9669585B}"/>
              </a:ext>
            </a:extLst>
          </p:cNvPr>
          <p:cNvSpPr>
            <a:spLocks xmlns:a="http://schemas.openxmlformats.org/drawingml/2006/main" noGrp="1"/>
          </p:cNvSpPr>
          <p:nvPr/>
        </p:nvSpPr>
        <p:spPr>
          <a:xfrm xmlns:a="http://schemas.openxmlformats.org/drawingml/2006/main">
            <a:off x="1333500" y="2143125"/>
            <a:ext cx="4572000" cy="1809750"/>
          </a:xfrm>
          <a:prstGeom xmlns:a="http://schemas.openxmlformats.org/drawingml/2006/main" prst="rect">
            <a:avLst/>
          </a:prstGeom>
          <a:solidFill xmlns:a="http://schemas.openxmlformats.org/drawingml/2006/main">
            <a:srgbClr val="EFF4F8"/>
          </a:solidFill>
          <a:ln xmlns:a="http://schemas.openxmlformats.org/drawingml/2006/main" w="9525">
            <a:solidFill>
              <a:srgbClr val="2876A8"/>
            </a:solidFill>
          </a:ln>
        </p:spPr>
      </p:sp>
      <p:sp>
        <p:nvSpPr>
          <p:cNvPr id="6" name="">
            <a:extLst xmlns:a="http://schemas.openxmlformats.org/drawingml/2006/main">
              <a:ext uri="{FF2B5EF4-FFF2-40B4-BE49-F238E27FC236}">
                <a16:creationId xmlns:a16="http://schemas.microsoft.com/office/drawing/2014/main" id="{310FE330-6CCE-4A76-A489-CF58C8B75599}"/>
              </a:ext>
            </a:extLst>
          </p:cNvPr>
          <p:cNvSpPr>
            <a:spLocks xmlns:a="http://schemas.openxmlformats.org/drawingml/2006/main" noGrp="1"/>
          </p:cNvSpPr>
          <p:nvPr/>
        </p:nvSpPr>
        <p:spPr>
          <a:xfrm xmlns:a="http://schemas.openxmlformats.org/drawingml/2006/main">
            <a:off x="157162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7" name="">
            <a:extLst xmlns:a="http://schemas.openxmlformats.org/drawingml/2006/main">
              <a:ext uri="{FF2B5EF4-FFF2-40B4-BE49-F238E27FC236}">
                <a16:creationId xmlns:a16="http://schemas.microsoft.com/office/drawing/2014/main" id="{C4F26AED-D10D-4CA9-A280-111B8DBFDD47}"/>
              </a:ext>
            </a:extLst>
          </p:cNvPr>
          <p:cNvSpPr>
            <a:spLocks xmlns:a="http://schemas.openxmlformats.org/drawingml/2006/main" noGrp="1"/>
          </p:cNvSpPr>
          <p:nvPr/>
        </p:nvSpPr>
        <p:spPr>
          <a:xfrm xmlns:a="http://schemas.openxmlformats.org/drawingml/2006/main">
            <a:off x="184785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8" name="">
            <a:extLst xmlns:a="http://schemas.openxmlformats.org/drawingml/2006/main">
              <a:ext uri="{FF2B5EF4-FFF2-40B4-BE49-F238E27FC236}">
                <a16:creationId xmlns:a16="http://schemas.microsoft.com/office/drawing/2014/main" id="{33E5EE59-4C9F-4FA2-8A19-1E421F572FBB}"/>
              </a:ext>
            </a:extLst>
          </p:cNvPr>
          <p:cNvSpPr>
            <a:spLocks xmlns:a="http://schemas.openxmlformats.org/drawingml/2006/main" noGrp="1"/>
          </p:cNvSpPr>
          <p:nvPr/>
        </p:nvSpPr>
        <p:spPr>
          <a:xfrm xmlns:a="http://schemas.openxmlformats.org/drawingml/2006/main">
            <a:off x="212407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9" name="">
            <a:extLst xmlns:a="http://schemas.openxmlformats.org/drawingml/2006/main">
              <a:ext uri="{FF2B5EF4-FFF2-40B4-BE49-F238E27FC236}">
                <a16:creationId xmlns:a16="http://schemas.microsoft.com/office/drawing/2014/main" id="{15A1FF90-1310-48B2-B80C-1E924F651DFD}"/>
              </a:ext>
            </a:extLst>
          </p:cNvPr>
          <p:cNvSpPr>
            <a:spLocks xmlns:a="http://schemas.openxmlformats.org/drawingml/2006/main" noGrp="1"/>
          </p:cNvSpPr>
          <p:nvPr/>
        </p:nvSpPr>
        <p:spPr>
          <a:xfrm xmlns:a="http://schemas.openxmlformats.org/drawingml/2006/main">
            <a:off x="240030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0" name="">
            <a:extLst xmlns:a="http://schemas.openxmlformats.org/drawingml/2006/main">
              <a:ext uri="{FF2B5EF4-FFF2-40B4-BE49-F238E27FC236}">
                <a16:creationId xmlns:a16="http://schemas.microsoft.com/office/drawing/2014/main" id="{299272AD-8309-4349-9B92-441B56B89F0D}"/>
              </a:ext>
            </a:extLst>
          </p:cNvPr>
          <p:cNvSpPr>
            <a:spLocks xmlns:a="http://schemas.openxmlformats.org/drawingml/2006/main" noGrp="1"/>
          </p:cNvSpPr>
          <p:nvPr/>
        </p:nvSpPr>
        <p:spPr>
          <a:xfrm xmlns:a="http://schemas.openxmlformats.org/drawingml/2006/main">
            <a:off x="267652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1" name="">
            <a:extLst xmlns:a="http://schemas.openxmlformats.org/drawingml/2006/main">
              <a:ext uri="{FF2B5EF4-FFF2-40B4-BE49-F238E27FC236}">
                <a16:creationId xmlns:a16="http://schemas.microsoft.com/office/drawing/2014/main" id="{BBA845DC-9FEB-4683-82EF-EAC07FD66FC3}"/>
              </a:ext>
            </a:extLst>
          </p:cNvPr>
          <p:cNvSpPr>
            <a:spLocks xmlns:a="http://schemas.openxmlformats.org/drawingml/2006/main" noGrp="1"/>
          </p:cNvSpPr>
          <p:nvPr/>
        </p:nvSpPr>
        <p:spPr>
          <a:xfrm xmlns:a="http://schemas.openxmlformats.org/drawingml/2006/main">
            <a:off x="295275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2" name="">
            <a:extLst xmlns:a="http://schemas.openxmlformats.org/drawingml/2006/main">
              <a:ext uri="{FF2B5EF4-FFF2-40B4-BE49-F238E27FC236}">
                <a16:creationId xmlns:a16="http://schemas.microsoft.com/office/drawing/2014/main" id="{4FC229BC-2954-4515-B513-DAB5521D246F}"/>
              </a:ext>
            </a:extLst>
          </p:cNvPr>
          <p:cNvSpPr>
            <a:spLocks xmlns:a="http://schemas.openxmlformats.org/drawingml/2006/main" noGrp="1"/>
          </p:cNvSpPr>
          <p:nvPr/>
        </p:nvSpPr>
        <p:spPr>
          <a:xfrm xmlns:a="http://schemas.openxmlformats.org/drawingml/2006/main">
            <a:off x="322897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3" name="">
            <a:extLst xmlns:a="http://schemas.openxmlformats.org/drawingml/2006/main">
              <a:ext uri="{FF2B5EF4-FFF2-40B4-BE49-F238E27FC236}">
                <a16:creationId xmlns:a16="http://schemas.microsoft.com/office/drawing/2014/main" id="{4F781447-4F23-4DF7-917B-2DF508AC5F64}"/>
              </a:ext>
            </a:extLst>
          </p:cNvPr>
          <p:cNvSpPr>
            <a:spLocks xmlns:a="http://schemas.openxmlformats.org/drawingml/2006/main" noGrp="1"/>
          </p:cNvSpPr>
          <p:nvPr/>
        </p:nvSpPr>
        <p:spPr>
          <a:xfrm xmlns:a="http://schemas.openxmlformats.org/drawingml/2006/main">
            <a:off x="350520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4" name="">
            <a:extLst xmlns:a="http://schemas.openxmlformats.org/drawingml/2006/main">
              <a:ext uri="{FF2B5EF4-FFF2-40B4-BE49-F238E27FC236}">
                <a16:creationId xmlns:a16="http://schemas.microsoft.com/office/drawing/2014/main" id="{BD9F54BC-2F42-438F-B863-D8568E377182}"/>
              </a:ext>
            </a:extLst>
          </p:cNvPr>
          <p:cNvSpPr>
            <a:spLocks xmlns:a="http://schemas.openxmlformats.org/drawingml/2006/main" noGrp="1"/>
          </p:cNvSpPr>
          <p:nvPr/>
        </p:nvSpPr>
        <p:spPr>
          <a:xfrm xmlns:a="http://schemas.openxmlformats.org/drawingml/2006/main">
            <a:off x="378142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5" name="">
            <a:extLst xmlns:a="http://schemas.openxmlformats.org/drawingml/2006/main">
              <a:ext uri="{FF2B5EF4-FFF2-40B4-BE49-F238E27FC236}">
                <a16:creationId xmlns:a16="http://schemas.microsoft.com/office/drawing/2014/main" id="{6791366C-7F87-4DA4-AD54-72E635F5B6CA}"/>
              </a:ext>
            </a:extLst>
          </p:cNvPr>
          <p:cNvSpPr>
            <a:spLocks xmlns:a="http://schemas.openxmlformats.org/drawingml/2006/main" noGrp="1"/>
          </p:cNvSpPr>
          <p:nvPr/>
        </p:nvSpPr>
        <p:spPr>
          <a:xfrm xmlns:a="http://schemas.openxmlformats.org/drawingml/2006/main">
            <a:off x="405765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6" name="">
            <a:extLst xmlns:a="http://schemas.openxmlformats.org/drawingml/2006/main">
              <a:ext uri="{FF2B5EF4-FFF2-40B4-BE49-F238E27FC236}">
                <a16:creationId xmlns:a16="http://schemas.microsoft.com/office/drawing/2014/main" id="{19332F48-1A13-4496-BC52-2B40FDD4DECB}"/>
              </a:ext>
            </a:extLst>
          </p:cNvPr>
          <p:cNvSpPr>
            <a:spLocks xmlns:a="http://schemas.openxmlformats.org/drawingml/2006/main" noGrp="1"/>
          </p:cNvSpPr>
          <p:nvPr/>
        </p:nvSpPr>
        <p:spPr>
          <a:xfrm xmlns:a="http://schemas.openxmlformats.org/drawingml/2006/main">
            <a:off x="433387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7" name="">
            <a:extLst xmlns:a="http://schemas.openxmlformats.org/drawingml/2006/main">
              <a:ext uri="{FF2B5EF4-FFF2-40B4-BE49-F238E27FC236}">
                <a16:creationId xmlns:a16="http://schemas.microsoft.com/office/drawing/2014/main" id="{4D8EC22C-8B84-4EBC-88AA-B3637FAD6204}"/>
              </a:ext>
            </a:extLst>
          </p:cNvPr>
          <p:cNvSpPr>
            <a:spLocks xmlns:a="http://schemas.openxmlformats.org/drawingml/2006/main" noGrp="1"/>
          </p:cNvSpPr>
          <p:nvPr/>
        </p:nvSpPr>
        <p:spPr>
          <a:xfrm xmlns:a="http://schemas.openxmlformats.org/drawingml/2006/main">
            <a:off x="461010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8" name="">
            <a:extLst xmlns:a="http://schemas.openxmlformats.org/drawingml/2006/main">
              <a:ext uri="{FF2B5EF4-FFF2-40B4-BE49-F238E27FC236}">
                <a16:creationId xmlns:a16="http://schemas.microsoft.com/office/drawing/2014/main" id="{7246E122-D3EF-4B3D-97FD-A9FD1505FCAC}"/>
              </a:ext>
            </a:extLst>
          </p:cNvPr>
          <p:cNvSpPr>
            <a:spLocks xmlns:a="http://schemas.openxmlformats.org/drawingml/2006/main" noGrp="1"/>
          </p:cNvSpPr>
          <p:nvPr/>
        </p:nvSpPr>
        <p:spPr>
          <a:xfrm xmlns:a="http://schemas.openxmlformats.org/drawingml/2006/main">
            <a:off x="488632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19" name="">
            <a:extLst xmlns:a="http://schemas.openxmlformats.org/drawingml/2006/main">
              <a:ext uri="{FF2B5EF4-FFF2-40B4-BE49-F238E27FC236}">
                <a16:creationId xmlns:a16="http://schemas.microsoft.com/office/drawing/2014/main" id="{DDBE0668-FC4C-4F2F-98C1-F03737B57ED3}"/>
              </a:ext>
            </a:extLst>
          </p:cNvPr>
          <p:cNvSpPr>
            <a:spLocks xmlns:a="http://schemas.openxmlformats.org/drawingml/2006/main" noGrp="1"/>
          </p:cNvSpPr>
          <p:nvPr/>
        </p:nvSpPr>
        <p:spPr>
          <a:xfrm xmlns:a="http://schemas.openxmlformats.org/drawingml/2006/main">
            <a:off x="5162550"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20" name="">
            <a:extLst xmlns:a="http://schemas.openxmlformats.org/drawingml/2006/main">
              <a:ext uri="{FF2B5EF4-FFF2-40B4-BE49-F238E27FC236}">
                <a16:creationId xmlns:a16="http://schemas.microsoft.com/office/drawing/2014/main" id="{59A54A9E-12D3-44F5-AFF8-28183820A0C4}"/>
              </a:ext>
            </a:extLst>
          </p:cNvPr>
          <p:cNvSpPr>
            <a:spLocks xmlns:a="http://schemas.openxmlformats.org/drawingml/2006/main" noGrp="1"/>
          </p:cNvSpPr>
          <p:nvPr/>
        </p:nvSpPr>
        <p:spPr>
          <a:xfrm xmlns:a="http://schemas.openxmlformats.org/drawingml/2006/main">
            <a:off x="5438775" y="2333625"/>
            <a:ext cx="9525" cy="1400175"/>
          </a:xfrm>
          <a:custGeom xmlns:a="http://schemas.openxmlformats.org/drawingml/2006/main">
            <a:pathLst>
              <a:path w="9525" h="1400175">
                <a:moveTo>
                  <a:pt x="0" y="0"/>
                </a:moveTo>
                <a:lnTo>
                  <a:pt x="0" y="1400175"/>
                </a:lnTo>
              </a:path>
            </a:pathLst>
          </a:custGeom>
          <a:noFill xmlns:a="http://schemas.openxmlformats.org/drawingml/2006/main"/>
          <a:ln xmlns:a="http://schemas.openxmlformats.org/drawingml/2006/main" w="38100">
            <a:solidFill>
              <a:srgbClr val="2876A8"/>
            </a:solidFill>
          </a:ln>
        </p:spPr>
      </p:sp>
      <p:sp>
        <p:nvSpPr>
          <p:cNvPr id="21" name="">
            <a:extLst xmlns:a="http://schemas.openxmlformats.org/drawingml/2006/main">
              <a:ext uri="{FF2B5EF4-FFF2-40B4-BE49-F238E27FC236}">
                <a16:creationId xmlns:a16="http://schemas.microsoft.com/office/drawing/2014/main" id="{05C5D487-8C86-4D67-98C5-8461B854AEE6}"/>
              </a:ext>
            </a:extLst>
          </p:cNvPr>
          <p:cNvSpPr>
            <a:spLocks xmlns:a="http://schemas.openxmlformats.org/drawingml/2006/main" noGrp="1"/>
          </p:cNvSpPr>
          <p:nvPr/>
        </p:nvSpPr>
        <p:spPr>
          <a:xfrm xmlns:a="http://schemas.openxmlformats.org/drawingml/2006/main">
            <a:off x="1285875" y="4095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規則性の高い集合の内部</a:t>
            </a:r>
          </a:p>
        </p:txBody>
      </p:sp>
      <p:sp>
        <p:nvSpPr>
          <p:cNvPr id="22" name="">
            <a:extLst xmlns:a="http://schemas.openxmlformats.org/drawingml/2006/main">
              <a:ext uri="{FF2B5EF4-FFF2-40B4-BE49-F238E27FC236}">
                <a16:creationId xmlns:a16="http://schemas.microsoft.com/office/drawing/2014/main" id="{F09DA495-D36A-4D94-9408-AA18D809BF17}"/>
              </a:ext>
            </a:extLst>
          </p:cNvPr>
          <p:cNvSpPr>
            <a:spLocks xmlns:a="http://schemas.openxmlformats.org/drawingml/2006/main" noGrp="1"/>
          </p:cNvSpPr>
          <p:nvPr/>
        </p:nvSpPr>
        <p:spPr>
          <a:xfrm xmlns:a="http://schemas.openxmlformats.org/drawingml/2006/main">
            <a:off x="1285875" y="45434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水が入りにくい領域</a:t>
            </a:r>
          </a:p>
        </p:txBody>
      </p:sp>
      <p:sp>
        <p:nvSpPr>
          <p:cNvPr id="23" name="">
            <a:extLst xmlns:a="http://schemas.openxmlformats.org/drawingml/2006/main">
              <a:ext uri="{FF2B5EF4-FFF2-40B4-BE49-F238E27FC236}">
                <a16:creationId xmlns:a16="http://schemas.microsoft.com/office/drawing/2014/main" id="{0DEBC964-A31D-4451-9676-6682FF24CA00}"/>
              </a:ext>
            </a:extLst>
          </p:cNvPr>
          <p:cNvSpPr>
            <a:spLocks xmlns:a="http://schemas.openxmlformats.org/drawingml/2006/main" noGrp="1"/>
          </p:cNvSpPr>
          <p:nvPr/>
        </p:nvSpPr>
        <p:spPr>
          <a:xfrm xmlns:a="http://schemas.openxmlformats.org/drawingml/2006/main">
            <a:off x="809625" y="29051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水</a:t>
            </a:r>
          </a:p>
        </p:txBody>
      </p:sp>
      <p:sp>
        <p:nvSpPr>
          <p:cNvPr id="24" name="">
            <a:extLst xmlns:a="http://schemas.openxmlformats.org/drawingml/2006/main">
              <a:ext uri="{FF2B5EF4-FFF2-40B4-BE49-F238E27FC236}">
                <a16:creationId xmlns:a16="http://schemas.microsoft.com/office/drawing/2014/main" id="{447EDEE2-9381-41EE-B53C-F9414DB01EC8}"/>
              </a:ext>
            </a:extLst>
          </p:cNvPr>
          <p:cNvSpPr>
            <a:spLocks xmlns:a="http://schemas.openxmlformats.org/drawingml/2006/main" noGrp="1"/>
          </p:cNvSpPr>
          <p:nvPr/>
        </p:nvSpPr>
        <p:spPr>
          <a:xfrm xmlns:a="http://schemas.openxmlformats.org/drawingml/2006/main">
            <a:off x="1047750" y="2400300"/>
            <a:ext cx="428625" cy="361950"/>
          </a:xfrm>
          <a:custGeom xmlns:a="http://schemas.openxmlformats.org/drawingml/2006/main">
            <a:pathLst>
              <a:path w="428625" h="361950">
                <a:moveTo>
                  <a:pt x="0" y="361950"/>
                </a:moveTo>
                <a:lnTo>
                  <a:pt x="42862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DBBEF45E-D06B-45FA-BDB1-0C42799E81AB}"/>
              </a:ext>
            </a:extLst>
          </p:cNvPr>
          <p:cNvSpPr>
            <a:spLocks xmlns:a="http://schemas.openxmlformats.org/drawingml/2006/main" noGrp="1"/>
          </p:cNvSpPr>
          <p:nvPr/>
        </p:nvSpPr>
        <p:spPr>
          <a:xfrm xmlns:a="http://schemas.openxmlformats.org/drawingml/2006/main">
            <a:off x="1365664" y="2400300"/>
            <a:ext cx="110711" cy="104388"/>
          </a:xfrm>
          <a:custGeom xmlns:a="http://schemas.openxmlformats.org/drawingml/2006/main">
            <a:pathLst>
              <a:path w="110711" h="104388">
                <a:moveTo>
                  <a:pt x="64152" y="104388"/>
                </a:moveTo>
                <a:lnTo>
                  <a:pt x="110711" y="0"/>
                </a:lnTo>
                <a:lnTo>
                  <a:pt x="0" y="28418"/>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B8937810-BF5E-4C33-ABB0-C074C3D252DE}"/>
              </a:ext>
            </a:extLst>
          </p:cNvPr>
          <p:cNvSpPr>
            <a:spLocks xmlns:a="http://schemas.openxmlformats.org/drawingml/2006/main" noGrp="1"/>
          </p:cNvSpPr>
          <p:nvPr/>
        </p:nvSpPr>
        <p:spPr>
          <a:xfrm xmlns:a="http://schemas.openxmlformats.org/drawingml/2006/main">
            <a:off x="6477000" y="2047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xmlns:a="http://schemas.openxmlformats.org/drawingml/2006/main">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表面等のOH基</a:t>
            </a:r>
          </a:p>
        </p:txBody>
      </p:sp>
      <p:sp>
        <p:nvSpPr>
          <p:cNvPr id="27" name="">
            <a:extLst xmlns:a="http://schemas.openxmlformats.org/drawingml/2006/main">
              <a:ext uri="{FF2B5EF4-FFF2-40B4-BE49-F238E27FC236}">
                <a16:creationId xmlns:a16="http://schemas.microsoft.com/office/drawing/2014/main" id="{186D1F13-7110-489A-A09F-51036D55033F}"/>
              </a:ext>
            </a:extLst>
          </p:cNvPr>
          <p:cNvSpPr>
            <a:spLocks xmlns:a="http://schemas.openxmlformats.org/drawingml/2006/main" noGrp="1"/>
          </p:cNvSpPr>
          <p:nvPr/>
        </p:nvSpPr>
        <p:spPr>
          <a:xfrm xmlns:a="http://schemas.openxmlformats.org/drawingml/2006/main">
            <a:off x="6477000" y="26670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水が近付き、相互作用</a:t>
            </a:r>
          </a:p>
        </p:txBody>
      </p:sp>
      <p:sp>
        <p:nvSpPr>
          <p:cNvPr id="28" name="">
            <a:extLst xmlns:a="http://schemas.openxmlformats.org/drawingml/2006/main">
              <a:ext uri="{FF2B5EF4-FFF2-40B4-BE49-F238E27FC236}">
                <a16:creationId xmlns:a16="http://schemas.microsoft.com/office/drawing/2014/main" id="{1A71FA88-BC21-499D-A863-53A6924432CA}"/>
              </a:ext>
            </a:extLst>
          </p:cNvPr>
          <p:cNvSpPr>
            <a:spLocks xmlns:a="http://schemas.openxmlformats.org/drawingml/2006/main" noGrp="1"/>
          </p:cNvSpPr>
          <p:nvPr/>
        </p:nvSpPr>
        <p:spPr>
          <a:xfrm xmlns:a="http://schemas.openxmlformats.org/drawingml/2006/main">
            <a:off x="6477000" y="38100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OH基があっても、全てが</a:t>
            </a:r>
          </a:p>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同じように水へ開かれてはいない</a:t>
            </a:r>
          </a:p>
        </p:txBody>
      </p:sp>
      <p:sp>
        <p:nvSpPr>
          <p:cNvPr id="29" name="">
            <a:extLst xmlns:a="http://schemas.openxmlformats.org/drawingml/2006/main">
              <a:ext uri="{FF2B5EF4-FFF2-40B4-BE49-F238E27FC236}">
                <a16:creationId xmlns:a16="http://schemas.microsoft.com/office/drawing/2014/main" id="{DB46F47D-9ADB-49F9-AEE5-AE3C446A6558}"/>
              </a:ext>
            </a:extLst>
          </p:cNvPr>
          <p:cNvSpPr>
            <a:spLocks xmlns:a="http://schemas.openxmlformats.org/drawingml/2006/main" noGrp="1"/>
          </p:cNvSpPr>
          <p:nvPr/>
        </p:nvSpPr>
        <p:spPr>
          <a:xfrm xmlns:a="http://schemas.openxmlformats.org/drawingml/2006/main">
            <a:off x="838200" y="55340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親水性 ≠ 水への溶解　　吸湿には「水のアクセス」も関わる</a:t>
            </a:r>
          </a:p>
        </p:txBody>
      </p:sp>
    </p:spTree>
    <p:extLst>
      <p:ext uri="{BB962C8B-B14F-4D97-AF65-F5344CB8AC3E}">
        <p14:creationId xmlns:p14="http://schemas.microsoft.com/office/powerpoint/2010/main" val="133368422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B36C4C6-0544-48CF-BB9E-E65CE36C839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ヘミセルロースの役割</a:t>
            </a:r>
          </a:p>
        </p:txBody>
      </p:sp>
      <p:sp>
        <p:nvSpPr>
          <p:cNvPr id="2" name="">
            <a:extLst xmlns:a="http://schemas.openxmlformats.org/drawingml/2006/main">
              <a:ext uri="{FF2B5EF4-FFF2-40B4-BE49-F238E27FC236}">
                <a16:creationId xmlns:a16="http://schemas.microsoft.com/office/drawing/2014/main" id="{A10874E2-EDA6-48EA-BA02-87004199D6B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2C3745-3E07-40E2-BFCA-A0F17402A1F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4AF15798-CAE7-40CD-94BD-3682878E606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88D59DF4-CA33-43BF-B689-BADEF7EE8614}"/>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94E5D4E6-F533-40F9-9735-2E1DFB55BEB9}"/>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3A3B3AB7-00BB-49DB-953D-7D91132E0677}"/>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13A2FEFE-4B90-4FB8-A119-1FB46D63A3B9}"/>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0606B899-ACAE-41A4-93A7-F4FE3251CAD5}"/>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C5D28277-C3DA-4F42-B441-C8CAF8FAE21D}"/>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A6682CD5-B532-4C38-B0B3-D159EEFFE4FD}"/>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A79BF549-7441-4875-B6B2-5242C47F00A8}"/>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C503EB0F-9495-40F3-8F67-8FE94F075B1C}"/>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55362B55-4099-4593-ABAA-51EC14DF3022}"/>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35FFC9D6-19B1-4382-AD8F-AA158A622740}"/>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5FBA2836-361B-4B1A-9F9E-8BC9F090CB10}"/>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0DAA9FDF-51CF-4B64-8EFF-B3E334284B17}"/>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78215E67-2CC7-4302-80CA-0B86D0CE21DB}"/>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F5E38CDB-EE17-44BF-B6B1-5AF029C1B159}"/>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3E06E33E-956F-406A-9D8B-21C5E1AAB1F6}"/>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AE34359F-7A26-4CB8-BC8A-D4EF82D6CC99}"/>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6F3F58BD-A74A-4C71-8F98-269712EC7EC9}"/>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DDA1F872-D9A4-4E51-9870-8CFCA72B1E59}"/>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340A1385-7A64-4C2E-9186-4360E146B259}"/>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384999AB-E0A4-4BAF-8F8B-6CE1B1B46753}"/>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391A7D51-258A-4472-A702-9A455DC957F5}"/>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3E46DD79-2166-4B08-9B00-D4C1A90C79D2}"/>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7907EAD6-172A-4ADB-A8CE-C068334E796F}"/>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72F87D98-C4D9-41AA-94CF-58188F9CA977}"/>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93F9E000-7625-4079-8E48-3FF4ECEA6E6D}"/>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A2B725AE-8A58-44A3-A0F2-E4144E828032}"/>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824231D0-D4FF-431B-A067-6E4A905E3DEB}"/>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他の成分との相互作用を通して</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壁の構造を支える</a:t>
            </a:r>
          </a:p>
        </p:txBody>
      </p:sp>
      <p:sp>
        <p:nvSpPr>
          <p:cNvPr id="33" name="">
            <a:extLst xmlns:a="http://schemas.openxmlformats.org/drawingml/2006/main">
              <a:ext uri="{FF2B5EF4-FFF2-40B4-BE49-F238E27FC236}">
                <a16:creationId xmlns:a16="http://schemas.microsoft.com/office/drawing/2014/main" id="{056CD379-32AC-436F-87D9-E54A045F7CD6}"/>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水が近付きやすいOH基等があり</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吸放湿へ関わる</a:t>
            </a:r>
          </a:p>
        </p:txBody>
      </p:sp>
      <p:sp>
        <p:nvSpPr>
          <p:cNvPr id="34" name="">
            <a:extLst xmlns:a="http://schemas.openxmlformats.org/drawingml/2006/main">
              <a:ext uri="{FF2B5EF4-FFF2-40B4-BE49-F238E27FC236}">
                <a16:creationId xmlns:a16="http://schemas.microsoft.com/office/drawing/2014/main" id="{ADE620E0-EE17-4358-A252-E2EE7681AA0A}"/>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水分により、周囲の成分の</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動きやすさも変わる</a:t>
            </a:r>
          </a:p>
        </p:txBody>
      </p:sp>
      <p:sp>
        <p:nvSpPr>
          <p:cNvPr id="35" name="">
            <a:extLst xmlns:a="http://schemas.openxmlformats.org/drawingml/2006/main">
              <a:ext uri="{FF2B5EF4-FFF2-40B4-BE49-F238E27FC236}">
                <a16:creationId xmlns:a16="http://schemas.microsoft.com/office/drawing/2014/main" id="{9FE20CBC-D48B-4613-8BBC-B4D9B5DDBE22}"/>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吸湿を、ヘミセルロースだけの</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働きとして分けない</a:t>
            </a:r>
          </a:p>
        </p:txBody>
      </p:sp>
      <p:sp>
        <p:nvSpPr>
          <p:cNvPr id="36" name="">
            <a:extLst xmlns:a="http://schemas.openxmlformats.org/drawingml/2006/main">
              <a:ext uri="{FF2B5EF4-FFF2-40B4-BE49-F238E27FC236}">
                <a16:creationId xmlns:a16="http://schemas.microsoft.com/office/drawing/2014/main" id="{E8BBE6E2-D67F-4007-8EE4-5311AE10B3D7}"/>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16526317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B8C42A-9692-4230-892A-5366995A19E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ヘミセルロース：キシランを例に</a:t>
            </a:r>
          </a:p>
        </p:txBody>
      </p:sp>
      <p:sp>
        <p:nvSpPr>
          <p:cNvPr id="2" name="">
            <a:extLst xmlns:a="http://schemas.openxmlformats.org/drawingml/2006/main">
              <a:ext uri="{FF2B5EF4-FFF2-40B4-BE49-F238E27FC236}">
                <a16:creationId xmlns:a16="http://schemas.microsoft.com/office/drawing/2014/main" id="{E4041A8B-FDE3-447A-92C7-C37003CEEE1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DE7542-D706-4794-B4AC-7F9E8971F10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8E34E29F-F97A-4C6B-BE47-8E063B91097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pic>
        <p:nvPicPr>
          <p:cNvPr id="5" name="">
            <a:extLst xmlns:a="http://schemas.openxmlformats.org/drawingml/2006/main">
              <a:ext uri="{FF2B5EF4-FFF2-40B4-BE49-F238E27FC236}">
                <a16:creationId xmlns:a16="http://schemas.microsoft.com/office/drawing/2014/main" id="{5EF01DFF-E818-4B77-8549-1F1CB4AD250E}"/>
              </a:ext>
            </a:extLst>
          </p:cNvPr>
          <p:cNvPicPr>
            <a:picLocks xmlns:a="http://schemas.openxmlformats.org/drawingml/2006/main" noChangeAspect="1"/>
          </p:cNvPicPr>
          <p:nvPr/>
        </p:nvPicPr>
        <p:blipFill>
          <a:blip xmlns:r="http://schemas.openxmlformats.org/officeDocument/2006/relationships" xmlns:a="http://schemas.openxmlformats.org/drawingml/2006/main" r:embed="Rddf04e9ba3b441a1"/>
          <a:stretch xmlns:a="http://schemas.openxmlformats.org/drawingml/2006/main"/>
        </p:blipFill>
        <p:spPr>
          <a:xfrm xmlns:a="http://schemas.openxmlformats.org/drawingml/2006/main">
            <a:off x="2343012" y="1571625"/>
            <a:ext cx="7467877" cy="21431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6DD372D-2F52-4424-AD00-ED2178B6054F}"/>
              </a:ext>
            </a:extLst>
          </p:cNvPr>
          <p:cNvPicPr>
            <a:picLocks xmlns:a="http://schemas.openxmlformats.org/drawingml/2006/main" noChangeAspect="1"/>
          </p:cNvPicPr>
          <p:nvPr/>
        </p:nvPicPr>
        <p:blipFill>
          <a:blip xmlns:r="http://schemas.openxmlformats.org/officeDocument/2006/relationships" xmlns:a="http://schemas.openxmlformats.org/drawingml/2006/main" r:embed="R7934404766e74ca5"/>
          <a:stretch xmlns:a="http://schemas.openxmlformats.org/drawingml/2006/main"/>
        </p:blipFill>
        <p:spPr>
          <a:xfrm xmlns:a="http://schemas.openxmlformats.org/drawingml/2006/main">
            <a:off x="1362075" y="3895725"/>
            <a:ext cx="4572000" cy="2000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924D838-5E79-4AC2-BEA6-646FE3A33055}"/>
              </a:ext>
            </a:extLst>
          </p:cNvPr>
          <p:cNvSpPr>
            <a:spLocks xmlns:a="http://schemas.openxmlformats.org/drawingml/2006/main" noGrp="1"/>
          </p:cNvSpPr>
          <p:nvPr/>
        </p:nvSpPr>
        <p:spPr>
          <a:xfrm xmlns:a="http://schemas.openxmlformats.org/drawingml/2006/main">
            <a:off x="6953250" y="3876675"/>
            <a:ext cx="455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上：広葉樹キシランの例</a:t>
            </a:r>
          </a:p>
        </p:txBody>
      </p:sp>
      <p:sp>
        <p:nvSpPr>
          <p:cNvPr id="8" name="">
            <a:extLst xmlns:a="http://schemas.openxmlformats.org/drawingml/2006/main">
              <a:ext uri="{FF2B5EF4-FFF2-40B4-BE49-F238E27FC236}">
                <a16:creationId xmlns:a16="http://schemas.microsoft.com/office/drawing/2014/main" id="{F5E89247-8A73-457A-A5DF-26F22515E20B}"/>
              </a:ext>
            </a:extLst>
          </p:cNvPr>
          <p:cNvSpPr>
            <a:spLocks xmlns:a="http://schemas.openxmlformats.org/drawingml/2006/main" noGrp="1"/>
          </p:cNvSpPr>
          <p:nvPr/>
        </p:nvSpPr>
        <p:spPr>
          <a:xfrm xmlns:a="http://schemas.openxmlformats.org/drawingml/2006/main">
            <a:off x="6953250" y="4352925"/>
            <a:ext cx="455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下：主鎖3単位の立体モデル</a:t>
            </a:r>
          </a:p>
        </p:txBody>
      </p:sp>
      <p:sp>
        <p:nvSpPr>
          <p:cNvPr id="9" name="">
            <a:extLst xmlns:a="http://schemas.openxmlformats.org/drawingml/2006/main">
              <a:ext uri="{FF2B5EF4-FFF2-40B4-BE49-F238E27FC236}">
                <a16:creationId xmlns:a16="http://schemas.microsoft.com/office/drawing/2014/main" id="{BB8FE83D-A2A1-4349-B7B9-5D7832B875E7}"/>
              </a:ext>
            </a:extLst>
          </p:cNvPr>
          <p:cNvSpPr>
            <a:spLocks xmlns:a="http://schemas.openxmlformats.org/drawingml/2006/main" noGrp="1"/>
          </p:cNvSpPr>
          <p:nvPr/>
        </p:nvSpPr>
        <p:spPr>
          <a:xfrm xmlns:a="http://schemas.openxmlformats.org/drawingml/2006/main">
            <a:off x="6953250" y="4829175"/>
            <a:ext cx="455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側鎖等を省いた別のモデル</a:t>
            </a:r>
          </a:p>
        </p:txBody>
      </p:sp>
      <p:sp>
        <p:nvSpPr>
          <p:cNvPr id="10" name="">
            <a:extLst xmlns:a="http://schemas.openxmlformats.org/drawingml/2006/main">
              <a:ext uri="{FF2B5EF4-FFF2-40B4-BE49-F238E27FC236}">
                <a16:creationId xmlns:a16="http://schemas.microsoft.com/office/drawing/2014/main" id="{54FE1C26-8348-40EC-A5FB-D6A680124E67}"/>
              </a:ext>
            </a:extLst>
          </p:cNvPr>
          <p:cNvSpPr>
            <a:spLocks xmlns:a="http://schemas.openxmlformats.org/drawingml/2006/main" noGrp="1"/>
          </p:cNvSpPr>
          <p:nvPr/>
        </p:nvSpPr>
        <p:spPr>
          <a:xfrm xmlns:a="http://schemas.openxmlformats.org/drawingml/2006/main">
            <a:off x="6953250" y="5305425"/>
            <a:ext cx="455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53C4D"/>
                </a:solidFill>
                <a:latin typeface="Yu Gothic"/>
                <a:ea typeface="Yu Gothic"/>
                <a:cs typeface="Yu Gothic"/>
              </a:defRPr>
            </a:defPPr>
            <a:lvl1pPr>
              <a:buNone/>
              <a:defRPr sz="1875" b="0">
                <a:solidFill>
                  <a:srgbClr val="253C4D"/>
                </a:solidFill>
                <a:latin typeface="Yu Gothic"/>
                <a:ea typeface="Yu Gothic"/>
                <a:cs typeface="Yu Gothic"/>
              </a:defRPr>
            </a:lvl1pPr>
            <a:lvl2pPr>
              <a:buNone/>
              <a:defRPr sz="1875" b="0">
                <a:solidFill>
                  <a:srgbClr val="253C4D"/>
                </a:solidFill>
                <a:latin typeface="Yu Gothic"/>
                <a:ea typeface="Yu Gothic"/>
                <a:cs typeface="Yu Gothic"/>
              </a:defRPr>
            </a:lvl2pPr>
            <a:lvl3pPr>
              <a:buNone/>
              <a:defRPr sz="1875" b="0">
                <a:solidFill>
                  <a:srgbClr val="253C4D"/>
                </a:solidFill>
                <a:latin typeface="Yu Gothic"/>
                <a:ea typeface="Yu Gothic"/>
                <a:cs typeface="Yu Gothic"/>
              </a:defRPr>
            </a:lvl3pPr>
            <a:lvl4pPr>
              <a:buNone/>
              <a:defRPr sz="1875" b="0">
                <a:solidFill>
                  <a:srgbClr val="253C4D"/>
                </a:solidFill>
                <a:latin typeface="Yu Gothic"/>
                <a:ea typeface="Yu Gothic"/>
                <a:cs typeface="Yu Gothic"/>
              </a:defRPr>
            </a:lvl4pPr>
            <a:lvl5pPr>
              <a:buNone/>
              <a:defRPr sz="1875" b="0">
                <a:solidFill>
                  <a:srgbClr val="253C4D"/>
                </a:solidFill>
                <a:latin typeface="Yu Gothic"/>
                <a:ea typeface="Yu Gothic"/>
                <a:cs typeface="Yu Gothic"/>
              </a:defRPr>
            </a:lvl5pPr>
            <a:lvl6pPr>
              <a:buNone/>
              <a:defRPr sz="1875" b="0">
                <a:solidFill>
                  <a:srgbClr val="253C4D"/>
                </a:solidFill>
                <a:latin typeface="Yu Gothic"/>
                <a:ea typeface="Yu Gothic"/>
                <a:cs typeface="Yu Gothic"/>
              </a:defRPr>
            </a:lvl6pPr>
            <a:lvl7pPr>
              <a:buNone/>
              <a:defRPr sz="1875" b="0">
                <a:solidFill>
                  <a:srgbClr val="253C4D"/>
                </a:solidFill>
                <a:latin typeface="Yu Gothic"/>
                <a:ea typeface="Yu Gothic"/>
                <a:cs typeface="Yu Gothic"/>
              </a:defRPr>
            </a:lvl7pPr>
            <a:lvl8pPr>
              <a:buNone/>
              <a:defRPr sz="1875" b="0">
                <a:solidFill>
                  <a:srgbClr val="253C4D"/>
                </a:solidFill>
                <a:latin typeface="Yu Gothic"/>
                <a:ea typeface="Yu Gothic"/>
                <a:cs typeface="Yu Gothic"/>
              </a:defRPr>
            </a:lvl8pPr>
            <a:lvl9pPr>
              <a:buNone/>
              <a:defRPr sz="1875" b="0">
                <a:solidFill>
                  <a:srgbClr val="253C4D"/>
                </a:solidFill>
                <a:latin typeface="Yu Gothic"/>
                <a:ea typeface="Yu Gothic"/>
                <a:cs typeface="Yu Gothic"/>
              </a:defRPr>
            </a:lvl9pPr>
          </a:lstStyle>
          <a:p xmlns:a="http://schemas.openxmlformats.org/drawingml/2006/main">
            <a:pPr>
              <a:buNone/>
              <a:defRPr sz="1875" b="0">
                <a:solidFill>
                  <a:srgbClr val="253C4D"/>
                </a:solidFill>
                <a:latin typeface="Yu Gothic"/>
                <a:ea typeface="Yu Gothic"/>
                <a:cs typeface="Yu Gothic"/>
              </a:defRPr>
            </a:pPr>
            <a:r>
              <a:rPr sz="1875" b="0">
                <a:solidFill>
                  <a:srgbClr val="253C4D"/>
                </a:solidFill>
                <a:latin typeface="Yu Gothic"/>
                <a:ea typeface="Yu Gothic"/>
                <a:cs typeface="Yu Gothic"/>
              </a:rPr>
              <a:t>C 灰、O 赤、H 白</a:t>
            </a:r>
          </a:p>
        </p:txBody>
      </p:sp>
      <p:sp>
        <p:nvSpPr>
          <p:cNvPr id="11" name="">
            <a:extLst xmlns:a="http://schemas.openxmlformats.org/drawingml/2006/main">
              <a:ext uri="{FF2B5EF4-FFF2-40B4-BE49-F238E27FC236}">
                <a16:creationId xmlns:a16="http://schemas.microsoft.com/office/drawing/2014/main" id="{10AC6CB4-6ED3-4133-A653-0286DF86C264}"/>
              </a:ext>
            </a:extLst>
          </p:cNvPr>
          <p:cNvSpPr>
            <a:spLocks xmlns:a="http://schemas.openxmlformats.org/drawingml/2006/main" noGrp="1"/>
          </p:cNvSpPr>
          <p:nvPr/>
        </p:nvSpPr>
        <p:spPr>
          <a:xfrm xmlns:a="http://schemas.openxmlformats.org/drawingml/2006/main">
            <a:off x="838200" y="59626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596875"/>
                </a:solidFill>
                <a:latin typeface="Yu Gothic"/>
                <a:ea typeface="Yu Gothic"/>
                <a:cs typeface="Yu Gothic"/>
              </a:defRPr>
            </a:defPPr>
            <a:lvl1pPr>
              <a:buNone/>
              <a:defRPr sz="1350" b="0">
                <a:solidFill>
                  <a:srgbClr val="596875"/>
                </a:solidFill>
                <a:latin typeface="Yu Gothic"/>
                <a:ea typeface="Yu Gothic"/>
                <a:cs typeface="Yu Gothic"/>
              </a:defRPr>
            </a:lvl1pPr>
            <a:lvl2pPr>
              <a:buNone/>
              <a:defRPr sz="1350" b="0">
                <a:solidFill>
                  <a:srgbClr val="596875"/>
                </a:solidFill>
                <a:latin typeface="Yu Gothic"/>
                <a:ea typeface="Yu Gothic"/>
                <a:cs typeface="Yu Gothic"/>
              </a:defRPr>
            </a:lvl2pPr>
            <a:lvl3pPr>
              <a:buNone/>
              <a:defRPr sz="1350" b="0">
                <a:solidFill>
                  <a:srgbClr val="596875"/>
                </a:solidFill>
                <a:latin typeface="Yu Gothic"/>
                <a:ea typeface="Yu Gothic"/>
                <a:cs typeface="Yu Gothic"/>
              </a:defRPr>
            </a:lvl3pPr>
            <a:lvl4pPr>
              <a:buNone/>
              <a:defRPr sz="1350" b="0">
                <a:solidFill>
                  <a:srgbClr val="596875"/>
                </a:solidFill>
                <a:latin typeface="Yu Gothic"/>
                <a:ea typeface="Yu Gothic"/>
                <a:cs typeface="Yu Gothic"/>
              </a:defRPr>
            </a:lvl4pPr>
            <a:lvl5pPr>
              <a:buNone/>
              <a:defRPr sz="1350" b="0">
                <a:solidFill>
                  <a:srgbClr val="596875"/>
                </a:solidFill>
                <a:latin typeface="Yu Gothic"/>
                <a:ea typeface="Yu Gothic"/>
                <a:cs typeface="Yu Gothic"/>
              </a:defRPr>
            </a:lvl5pPr>
            <a:lvl6pPr>
              <a:buNone/>
              <a:defRPr sz="1350" b="0">
                <a:solidFill>
                  <a:srgbClr val="596875"/>
                </a:solidFill>
                <a:latin typeface="Yu Gothic"/>
                <a:ea typeface="Yu Gothic"/>
                <a:cs typeface="Yu Gothic"/>
              </a:defRPr>
            </a:lvl6pPr>
            <a:lvl7pPr>
              <a:buNone/>
              <a:defRPr sz="1350" b="0">
                <a:solidFill>
                  <a:srgbClr val="596875"/>
                </a:solidFill>
                <a:latin typeface="Yu Gothic"/>
                <a:ea typeface="Yu Gothic"/>
                <a:cs typeface="Yu Gothic"/>
              </a:defRPr>
            </a:lvl7pPr>
            <a:lvl8pPr>
              <a:buNone/>
              <a:defRPr sz="1350" b="0">
                <a:solidFill>
                  <a:srgbClr val="596875"/>
                </a:solidFill>
                <a:latin typeface="Yu Gothic"/>
                <a:ea typeface="Yu Gothic"/>
                <a:cs typeface="Yu Gothic"/>
              </a:defRPr>
            </a:lvl8pPr>
            <a:lvl9pPr>
              <a:buNone/>
              <a:defRPr sz="1350" b="0">
                <a:solidFill>
                  <a:srgbClr val="596875"/>
                </a:solidFill>
                <a:latin typeface="Yu Gothic"/>
                <a:ea typeface="Yu Gothic"/>
                <a:cs typeface="Yu Gothic"/>
              </a:defRPr>
            </a:lvl9pPr>
          </a:lstStyle>
          <a:p xmlns:a="http://schemas.openxmlformats.org/drawingml/2006/main">
            <a:pPr>
              <a:buNone/>
              <a:defRPr sz="1350" b="0">
                <a:solidFill>
                  <a:srgbClr val="596875"/>
                </a:solidFill>
                <a:latin typeface="Yu Gothic"/>
                <a:ea typeface="Yu Gothic"/>
                <a:cs typeface="Yu Gothic"/>
              </a:defRPr>
            </a:pPr>
            <a:r>
              <a:rPr sz="1350" b="0">
                <a:solidFill>
                  <a:srgbClr val="596875"/>
                </a:solidFill>
                <a:latin typeface="Yu Gothic"/>
                <a:ea typeface="Yu Gothic"/>
                <a:cs typeface="Yu Gothic"/>
                <a:hlinkClick xmlns:r="http://schemas.openxmlformats.org/officeDocument/2006/relationships" r:id="R2b0a26f4dbf24ee8"/>
              </a:rPr>
              <a:t>構造式：Yikrazuul（Public domain）／立体モデル：PubChem CID 10201852に基づく</a:t>
            </a:r>
          </a:p>
        </p:txBody>
      </p:sp>
    </p:spTree>
    <p:extLst>
      <p:ext uri="{BB962C8B-B14F-4D97-AF65-F5344CB8AC3E}">
        <p14:creationId xmlns:p14="http://schemas.microsoft.com/office/powerpoint/2010/main" val="7099678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EB3CD73-42A6-455A-BC82-F62FE0B75DB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リグニンの役割</a:t>
            </a:r>
          </a:p>
        </p:txBody>
      </p:sp>
      <p:sp>
        <p:nvSpPr>
          <p:cNvPr id="2" name="">
            <a:extLst xmlns:a="http://schemas.openxmlformats.org/drawingml/2006/main">
              <a:ext uri="{FF2B5EF4-FFF2-40B4-BE49-F238E27FC236}">
                <a16:creationId xmlns:a16="http://schemas.microsoft.com/office/drawing/2014/main" id="{7458FDD2-F327-41A3-AC92-A98284ECF77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22EA8F-FD38-4CA4-BE9B-B2C3BE82B56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549F10DD-340C-46E4-BFB3-D1217877977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1B9BBFFC-E654-4248-A821-3E1429C7684C}"/>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58AB45FB-94B8-49B7-B0A3-BD4706058252}"/>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86459E0B-F77B-4D57-87A5-7107B695B86E}"/>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A20C15E7-EE08-42AE-873E-58CDE1F6A022}"/>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F82060D5-DB22-433F-B40F-EEC25F6FC639}"/>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D68F3921-0A5A-4BC7-A257-89BB1B7AAC72}"/>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C1ACD5E9-2ED0-46A5-A328-D0391B208467}"/>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C8354F82-5FD4-469C-A3B6-7B7DDF02C8C4}"/>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B0BC12EB-13E3-493F-A46C-71398345C153}"/>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2D72CC5B-DCA5-4B3F-A2A7-26E68AEC6CD8}"/>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EB8B8A36-A49D-41CF-A59C-C23D3AD0F8CA}"/>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6BBD079A-BD5D-4BC4-A16E-438D2B9D683F}"/>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3029EAAD-38DC-40B8-86BD-9F834AB8CB6C}"/>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F81B85D0-F391-4F91-8621-5D7A7F5EB2FB}"/>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B743C733-A9AB-4510-8182-611F99689F72}"/>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03572E96-8D1D-4C55-A591-9C97BBEB7CB7}"/>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8158C61B-9B7B-47F3-BA5E-B32F3BD547A4}"/>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7635BF43-15F5-48DF-A63B-204A645AA70E}"/>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18C2E1DC-14A5-4123-8283-B300B65FD40A}"/>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F0A53F8E-78FB-48A9-8A7F-1D9092A8F7EF}"/>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E9F5E3C0-43F3-446E-B4C4-186A300C141B}"/>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A2201C69-74E2-4DCE-9261-4AAC20184DCC}"/>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76A55830-B04B-4CE8-B577-523187C1DAEF}"/>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80EA17DA-3799-4E86-B592-F8A34EF5B34D}"/>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B2F188A6-04FC-45FE-B8D4-A832E843A134}"/>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CC47B382-0688-411F-A844-0B07FFC62ED6}"/>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B028AE9C-3632-4AD1-BAAE-A981A88B284B}"/>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05915458-E25E-426E-994B-EC5729C0FCDB}"/>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細胞間の結合・壁の性質に関わる</a:t>
            </a:r>
          </a:p>
        </p:txBody>
      </p:sp>
      <p:sp>
        <p:nvSpPr>
          <p:cNvPr id="33" name="">
            <a:extLst xmlns:a="http://schemas.openxmlformats.org/drawingml/2006/main">
              <a:ext uri="{FF2B5EF4-FFF2-40B4-BE49-F238E27FC236}">
                <a16:creationId xmlns:a16="http://schemas.microsoft.com/office/drawing/2014/main" id="{17BEED8C-0D96-45A8-A459-635F810D6936}"/>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多糖類より水との親和性が</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小さい面がある</a:t>
            </a:r>
          </a:p>
        </p:txBody>
      </p:sp>
      <p:sp>
        <p:nvSpPr>
          <p:cNvPr id="34" name="">
            <a:extLst xmlns:a="http://schemas.openxmlformats.org/drawingml/2006/main">
              <a:ext uri="{FF2B5EF4-FFF2-40B4-BE49-F238E27FC236}">
                <a16:creationId xmlns:a16="http://schemas.microsoft.com/office/drawing/2014/main" id="{489F753F-A804-4DF4-8B64-BFC3441A9035}"/>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OH基等があり、水との</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相互作用はゼロではない</a:t>
            </a:r>
          </a:p>
        </p:txBody>
      </p:sp>
      <p:sp>
        <p:nvSpPr>
          <p:cNvPr id="35" name="">
            <a:extLst xmlns:a="http://schemas.openxmlformats.org/drawingml/2006/main">
              <a:ext uri="{FF2B5EF4-FFF2-40B4-BE49-F238E27FC236}">
                <a16:creationId xmlns:a16="http://schemas.microsoft.com/office/drawing/2014/main" id="{219173FD-1FCA-4852-86F9-03480820B44F}"/>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特定の一層だけに存在する</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物質ではない</a:t>
            </a:r>
          </a:p>
        </p:txBody>
      </p:sp>
      <p:sp>
        <p:nvSpPr>
          <p:cNvPr id="36" name="">
            <a:extLst xmlns:a="http://schemas.openxmlformats.org/drawingml/2006/main">
              <a:ext uri="{FF2B5EF4-FFF2-40B4-BE49-F238E27FC236}">
                <a16:creationId xmlns:a16="http://schemas.microsoft.com/office/drawing/2014/main" id="{5A28AAA0-4D2E-486D-982D-97A04D16AED8}"/>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5049727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FC2BEC-D783-4396-AD92-1FEFA0576B7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リグニン：結合の例と立体モデル</a:t>
            </a:r>
          </a:p>
        </p:txBody>
      </p:sp>
      <p:sp>
        <p:nvSpPr>
          <p:cNvPr id="2" name="">
            <a:extLst xmlns:a="http://schemas.openxmlformats.org/drawingml/2006/main">
              <a:ext uri="{FF2B5EF4-FFF2-40B4-BE49-F238E27FC236}">
                <a16:creationId xmlns:a16="http://schemas.microsoft.com/office/drawing/2014/main" id="{ACE8985B-9845-41C0-A7C0-45062016A8F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424B05-8BC1-409F-B64C-C1FDA97D515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A4E71326-8096-4CA4-97AE-545CCE6A166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0E9F8886-3F51-4BFD-91B5-5476DFCB88EE}"/>
              </a:ext>
            </a:extLst>
          </p:cNvPr>
          <p:cNvSpPr>
            <a:spLocks xmlns:a="http://schemas.openxmlformats.org/drawingml/2006/main" noGrp="1"/>
          </p:cNvSpPr>
          <p:nvPr/>
        </p:nvSpPr>
        <p:spPr>
          <a:xfrm xmlns:a="http://schemas.openxmlformats.org/drawingml/2006/main">
            <a:off x="838200" y="15430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β–O–4型の結合をもつモデル化合物</a:t>
            </a:r>
          </a:p>
        </p:txBody>
      </p:sp>
      <p:pic>
        <p:nvPicPr>
          <p:cNvPr id="6" name="">
            <a:extLst xmlns:a="http://schemas.openxmlformats.org/drawingml/2006/main">
              <a:ext uri="{FF2B5EF4-FFF2-40B4-BE49-F238E27FC236}">
                <a16:creationId xmlns:a16="http://schemas.microsoft.com/office/drawing/2014/main" id="{F51C547A-7F7E-43A0-9B39-9BBFF1F1AF8D}"/>
              </a:ext>
            </a:extLst>
          </p:cNvPr>
          <p:cNvPicPr>
            <a:picLocks xmlns:a="http://schemas.openxmlformats.org/drawingml/2006/main" noChangeAspect="1"/>
          </p:cNvPicPr>
          <p:nvPr/>
        </p:nvPicPr>
        <p:blipFill>
          <a:blip xmlns:r="http://schemas.openxmlformats.org/officeDocument/2006/relationships" xmlns:a="http://schemas.openxmlformats.org/drawingml/2006/main" r:embed="Ra0770064fc594aa3"/>
          <a:stretch xmlns:a="http://schemas.openxmlformats.org/drawingml/2006/main"/>
        </p:blipFill>
        <p:spPr>
          <a:xfrm xmlns:a="http://schemas.openxmlformats.org/drawingml/2006/main">
            <a:off x="838200" y="2330223"/>
            <a:ext cx="5143500" cy="2388054"/>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58A95313-B721-4C56-89ED-19E14937C4BF}"/>
              </a:ext>
            </a:extLst>
          </p:cNvPr>
          <p:cNvPicPr>
            <a:picLocks xmlns:a="http://schemas.openxmlformats.org/drawingml/2006/main" noChangeAspect="1"/>
          </p:cNvPicPr>
          <p:nvPr/>
        </p:nvPicPr>
        <p:blipFill>
          <a:blip xmlns:r="http://schemas.openxmlformats.org/officeDocument/2006/relationships" xmlns:a="http://schemas.openxmlformats.org/drawingml/2006/main" r:embed="R746b63b899ef4600"/>
          <a:stretch xmlns:a="http://schemas.openxmlformats.org/drawingml/2006/main"/>
        </p:blipFill>
        <p:spPr>
          <a:xfrm xmlns:a="http://schemas.openxmlformats.org/drawingml/2006/main">
            <a:off x="6191250" y="2399109"/>
            <a:ext cx="5143500" cy="225028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C0E79DE-C351-42E0-8279-150F663AB551}"/>
              </a:ext>
            </a:extLst>
          </p:cNvPr>
          <p:cNvSpPr>
            <a:spLocks xmlns:a="http://schemas.openxmlformats.org/drawingml/2006/main" noGrp="1"/>
          </p:cNvSpPr>
          <p:nvPr/>
        </p:nvSpPr>
        <p:spPr>
          <a:xfrm xmlns:a="http://schemas.openxmlformats.org/drawingml/2006/main">
            <a:off x="838200" y="50387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buNone/>
              <a:defRPr sz="2025" b="1">
                <a:solidFill>
                  <a:srgbClr val="18364F"/>
                </a:solidFill>
                <a:latin typeface="Yu Gothic"/>
                <a:ea typeface="Yu Gothic"/>
                <a:cs typeface="Yu Gothic"/>
              </a:defRPr>
            </a:lvl1pPr>
            <a:lvl2pPr>
              <a:buNone/>
              <a:defRPr sz="2025" b="1">
                <a:solidFill>
                  <a:srgbClr val="18364F"/>
                </a:solidFill>
                <a:latin typeface="Yu Gothic"/>
                <a:ea typeface="Yu Gothic"/>
                <a:cs typeface="Yu Gothic"/>
              </a:defRPr>
            </a:lvl2pPr>
            <a:lvl3pPr>
              <a:buNone/>
              <a:defRPr sz="2025" b="1">
                <a:solidFill>
                  <a:srgbClr val="18364F"/>
                </a:solidFill>
                <a:latin typeface="Yu Gothic"/>
                <a:ea typeface="Yu Gothic"/>
                <a:cs typeface="Yu Gothic"/>
              </a:defRPr>
            </a:lvl3pPr>
            <a:lvl4pPr>
              <a:buNone/>
              <a:defRPr sz="2025" b="1">
                <a:solidFill>
                  <a:srgbClr val="18364F"/>
                </a:solidFill>
                <a:latin typeface="Yu Gothic"/>
                <a:ea typeface="Yu Gothic"/>
                <a:cs typeface="Yu Gothic"/>
              </a:defRPr>
            </a:lvl4pPr>
            <a:lvl5pPr>
              <a:buNone/>
              <a:defRPr sz="2025" b="1">
                <a:solidFill>
                  <a:srgbClr val="18364F"/>
                </a:solidFill>
                <a:latin typeface="Yu Gothic"/>
                <a:ea typeface="Yu Gothic"/>
                <a:cs typeface="Yu Gothic"/>
              </a:defRPr>
            </a:lvl5pPr>
            <a:lvl6pPr>
              <a:buNone/>
              <a:defRPr sz="2025" b="1">
                <a:solidFill>
                  <a:srgbClr val="18364F"/>
                </a:solidFill>
                <a:latin typeface="Yu Gothic"/>
                <a:ea typeface="Yu Gothic"/>
                <a:cs typeface="Yu Gothic"/>
              </a:defRPr>
            </a:lvl6pPr>
            <a:lvl7pPr>
              <a:buNone/>
              <a:defRPr sz="2025" b="1">
                <a:solidFill>
                  <a:srgbClr val="18364F"/>
                </a:solidFill>
                <a:latin typeface="Yu Gothic"/>
                <a:ea typeface="Yu Gothic"/>
                <a:cs typeface="Yu Gothic"/>
              </a:defRPr>
            </a:lvl7pPr>
            <a:lvl8pPr>
              <a:buNone/>
              <a:defRPr sz="2025" b="1">
                <a:solidFill>
                  <a:srgbClr val="18364F"/>
                </a:solidFill>
                <a:latin typeface="Yu Gothic"/>
                <a:ea typeface="Yu Gothic"/>
                <a:cs typeface="Yu Gothic"/>
              </a:defRPr>
            </a:lvl8pPr>
            <a:lvl9pPr>
              <a:buNone/>
              <a:defRPr sz="2025" b="1">
                <a:solidFill>
                  <a:srgbClr val="18364F"/>
                </a:solidFill>
                <a:latin typeface="Yu Gothic"/>
                <a:ea typeface="Yu Gothic"/>
                <a:cs typeface="Yu Gothic"/>
              </a:defRPr>
            </a:lvl9pPr>
          </a:lstStyle>
          <a:p xmlns:a="http://schemas.openxmlformats.org/drawingml/2006/main">
            <a:pP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構造式：結合・配置を読む</a:t>
            </a:r>
          </a:p>
        </p:txBody>
      </p:sp>
      <p:sp>
        <p:nvSpPr>
          <p:cNvPr id="9" name="">
            <a:extLst xmlns:a="http://schemas.openxmlformats.org/drawingml/2006/main">
              <a:ext uri="{FF2B5EF4-FFF2-40B4-BE49-F238E27FC236}">
                <a16:creationId xmlns:a16="http://schemas.microsoft.com/office/drawing/2014/main" id="{D04523DF-5A44-429F-BBFA-1D98FC77C744}"/>
              </a:ext>
            </a:extLst>
          </p:cNvPr>
          <p:cNvSpPr>
            <a:spLocks xmlns:a="http://schemas.openxmlformats.org/drawingml/2006/main" noGrp="1"/>
          </p:cNvSpPr>
          <p:nvPr/>
        </p:nvSpPr>
        <p:spPr>
          <a:xfrm xmlns:a="http://schemas.openxmlformats.org/drawingml/2006/main">
            <a:off x="6191250" y="50387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buNone/>
              <a:defRPr sz="2025" b="1">
                <a:solidFill>
                  <a:srgbClr val="18364F"/>
                </a:solidFill>
                <a:latin typeface="Yu Gothic"/>
                <a:ea typeface="Yu Gothic"/>
                <a:cs typeface="Yu Gothic"/>
              </a:defRPr>
            </a:lvl1pPr>
            <a:lvl2pPr>
              <a:buNone/>
              <a:defRPr sz="2025" b="1">
                <a:solidFill>
                  <a:srgbClr val="18364F"/>
                </a:solidFill>
                <a:latin typeface="Yu Gothic"/>
                <a:ea typeface="Yu Gothic"/>
                <a:cs typeface="Yu Gothic"/>
              </a:defRPr>
            </a:lvl2pPr>
            <a:lvl3pPr>
              <a:buNone/>
              <a:defRPr sz="2025" b="1">
                <a:solidFill>
                  <a:srgbClr val="18364F"/>
                </a:solidFill>
                <a:latin typeface="Yu Gothic"/>
                <a:ea typeface="Yu Gothic"/>
                <a:cs typeface="Yu Gothic"/>
              </a:defRPr>
            </a:lvl3pPr>
            <a:lvl4pPr>
              <a:buNone/>
              <a:defRPr sz="2025" b="1">
                <a:solidFill>
                  <a:srgbClr val="18364F"/>
                </a:solidFill>
                <a:latin typeface="Yu Gothic"/>
                <a:ea typeface="Yu Gothic"/>
                <a:cs typeface="Yu Gothic"/>
              </a:defRPr>
            </a:lvl4pPr>
            <a:lvl5pPr>
              <a:buNone/>
              <a:defRPr sz="2025" b="1">
                <a:solidFill>
                  <a:srgbClr val="18364F"/>
                </a:solidFill>
                <a:latin typeface="Yu Gothic"/>
                <a:ea typeface="Yu Gothic"/>
                <a:cs typeface="Yu Gothic"/>
              </a:defRPr>
            </a:lvl5pPr>
            <a:lvl6pPr>
              <a:buNone/>
              <a:defRPr sz="2025" b="1">
                <a:solidFill>
                  <a:srgbClr val="18364F"/>
                </a:solidFill>
                <a:latin typeface="Yu Gothic"/>
                <a:ea typeface="Yu Gothic"/>
                <a:cs typeface="Yu Gothic"/>
              </a:defRPr>
            </a:lvl6pPr>
            <a:lvl7pPr>
              <a:buNone/>
              <a:defRPr sz="2025" b="1">
                <a:solidFill>
                  <a:srgbClr val="18364F"/>
                </a:solidFill>
                <a:latin typeface="Yu Gothic"/>
                <a:ea typeface="Yu Gothic"/>
                <a:cs typeface="Yu Gothic"/>
              </a:defRPr>
            </a:lvl7pPr>
            <a:lvl8pPr>
              <a:buNone/>
              <a:defRPr sz="2025" b="1">
                <a:solidFill>
                  <a:srgbClr val="18364F"/>
                </a:solidFill>
                <a:latin typeface="Yu Gothic"/>
                <a:ea typeface="Yu Gothic"/>
                <a:cs typeface="Yu Gothic"/>
              </a:defRPr>
            </a:lvl8pPr>
            <a:lvl9pPr>
              <a:buNone/>
              <a:defRPr sz="2025" b="1">
                <a:solidFill>
                  <a:srgbClr val="18364F"/>
                </a:solidFill>
                <a:latin typeface="Yu Gothic"/>
                <a:ea typeface="Yu Gothic"/>
                <a:cs typeface="Yu Gothic"/>
              </a:defRPr>
            </a:lvl9pPr>
          </a:lstStyle>
          <a:p xmlns:a="http://schemas.openxmlformats.org/drawingml/2006/main">
            <a:pP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立体モデル：同じ化合物の一例</a:t>
            </a:r>
          </a:p>
        </p:txBody>
      </p:sp>
      <p:sp>
        <p:nvSpPr>
          <p:cNvPr id="10" name="">
            <a:extLst xmlns:a="http://schemas.openxmlformats.org/drawingml/2006/main">
              <a:ext uri="{FF2B5EF4-FFF2-40B4-BE49-F238E27FC236}">
                <a16:creationId xmlns:a16="http://schemas.microsoft.com/office/drawing/2014/main" id="{B409F2C9-2DA5-4F61-8768-A7D72EC381CE}"/>
              </a:ext>
            </a:extLst>
          </p:cNvPr>
          <p:cNvSpPr>
            <a:spLocks xmlns:a="http://schemas.openxmlformats.org/drawingml/2006/main" noGrp="1"/>
          </p:cNvSpPr>
          <p:nvPr/>
        </p:nvSpPr>
        <p:spPr>
          <a:xfrm xmlns:a="http://schemas.openxmlformats.org/drawingml/2006/main">
            <a:off x="838200" y="55530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天然リグニン全体の確定構造ではない。C 灰、O 赤、H 白。</a:t>
            </a:r>
          </a:p>
        </p:txBody>
      </p:sp>
      <p:sp>
        <p:nvSpPr>
          <p:cNvPr id="11" name="">
            <a:extLst xmlns:a="http://schemas.openxmlformats.org/drawingml/2006/main">
              <a:ext uri="{FF2B5EF4-FFF2-40B4-BE49-F238E27FC236}">
                <a16:creationId xmlns:a16="http://schemas.microsoft.com/office/drawing/2014/main" id="{E25DA6ED-F177-4BDB-A410-60C3B3955960}"/>
              </a:ext>
            </a:extLst>
          </p:cNvPr>
          <p:cNvSpPr>
            <a:spLocks xmlns:a="http://schemas.openxmlformats.org/drawingml/2006/main" noGrp="1"/>
          </p:cNvSpPr>
          <p:nvPr/>
        </p:nvSpPr>
        <p:spPr>
          <a:xfrm xmlns:a="http://schemas.openxmlformats.org/drawingml/2006/main">
            <a:off x="838200" y="59626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350" b="0">
                <a:solidFill>
                  <a:srgbClr val="596875"/>
                </a:solidFill>
                <a:latin typeface="Yu Gothic"/>
                <a:ea typeface="Yu Gothic"/>
                <a:cs typeface="Yu Gothic"/>
              </a:defRPr>
            </a:defPPr>
            <a:lvl1pPr>
              <a:buNone/>
              <a:defRPr sz="1350" b="0">
                <a:solidFill>
                  <a:srgbClr val="596875"/>
                </a:solidFill>
                <a:latin typeface="Yu Gothic"/>
                <a:ea typeface="Yu Gothic"/>
                <a:cs typeface="Yu Gothic"/>
              </a:defRPr>
            </a:lvl1pPr>
            <a:lvl2pPr>
              <a:buNone/>
              <a:defRPr sz="1350" b="0">
                <a:solidFill>
                  <a:srgbClr val="596875"/>
                </a:solidFill>
                <a:latin typeface="Yu Gothic"/>
                <a:ea typeface="Yu Gothic"/>
                <a:cs typeface="Yu Gothic"/>
              </a:defRPr>
            </a:lvl2pPr>
            <a:lvl3pPr>
              <a:buNone/>
              <a:defRPr sz="1350" b="0">
                <a:solidFill>
                  <a:srgbClr val="596875"/>
                </a:solidFill>
                <a:latin typeface="Yu Gothic"/>
                <a:ea typeface="Yu Gothic"/>
                <a:cs typeface="Yu Gothic"/>
              </a:defRPr>
            </a:lvl3pPr>
            <a:lvl4pPr>
              <a:buNone/>
              <a:defRPr sz="1350" b="0">
                <a:solidFill>
                  <a:srgbClr val="596875"/>
                </a:solidFill>
                <a:latin typeface="Yu Gothic"/>
                <a:ea typeface="Yu Gothic"/>
                <a:cs typeface="Yu Gothic"/>
              </a:defRPr>
            </a:lvl4pPr>
            <a:lvl5pPr>
              <a:buNone/>
              <a:defRPr sz="1350" b="0">
                <a:solidFill>
                  <a:srgbClr val="596875"/>
                </a:solidFill>
                <a:latin typeface="Yu Gothic"/>
                <a:ea typeface="Yu Gothic"/>
                <a:cs typeface="Yu Gothic"/>
              </a:defRPr>
            </a:lvl5pPr>
            <a:lvl6pPr>
              <a:buNone/>
              <a:defRPr sz="1350" b="0">
                <a:solidFill>
                  <a:srgbClr val="596875"/>
                </a:solidFill>
                <a:latin typeface="Yu Gothic"/>
                <a:ea typeface="Yu Gothic"/>
                <a:cs typeface="Yu Gothic"/>
              </a:defRPr>
            </a:lvl6pPr>
            <a:lvl7pPr>
              <a:buNone/>
              <a:defRPr sz="1350" b="0">
                <a:solidFill>
                  <a:srgbClr val="596875"/>
                </a:solidFill>
                <a:latin typeface="Yu Gothic"/>
                <a:ea typeface="Yu Gothic"/>
                <a:cs typeface="Yu Gothic"/>
              </a:defRPr>
            </a:lvl7pPr>
            <a:lvl8pPr>
              <a:buNone/>
              <a:defRPr sz="1350" b="0">
                <a:solidFill>
                  <a:srgbClr val="596875"/>
                </a:solidFill>
                <a:latin typeface="Yu Gothic"/>
                <a:ea typeface="Yu Gothic"/>
                <a:cs typeface="Yu Gothic"/>
              </a:defRPr>
            </a:lvl8pPr>
            <a:lvl9pPr>
              <a:buNone/>
              <a:defRPr sz="1350" b="0">
                <a:solidFill>
                  <a:srgbClr val="596875"/>
                </a:solidFill>
                <a:latin typeface="Yu Gothic"/>
                <a:ea typeface="Yu Gothic"/>
                <a:cs typeface="Yu Gothic"/>
              </a:defRPr>
            </a:lvl9pPr>
          </a:lstStyle>
          <a:p xmlns:a="http://schemas.openxmlformats.org/drawingml/2006/main">
            <a:pPr>
              <a:buNone/>
              <a:defRPr sz="1350" b="0">
                <a:solidFill>
                  <a:srgbClr val="596875"/>
                </a:solidFill>
                <a:latin typeface="Yu Gothic"/>
                <a:ea typeface="Yu Gothic"/>
                <a:cs typeface="Yu Gothic"/>
              </a:defRPr>
            </a:pPr>
            <a:r>
              <a:rPr sz="1350" b="0">
                <a:solidFill>
                  <a:srgbClr val="596875"/>
                </a:solidFill>
                <a:latin typeface="Yu Gothic"/>
                <a:ea typeface="Yu Gothic"/>
                <a:cs typeface="Yu Gothic"/>
                <a:hlinkClick xmlns:r="http://schemas.openxmlformats.org/officeDocument/2006/relationships" r:id="R43e5b061096649be"/>
              </a:rPr>
              <a:t>PubChem CID 6424189の結合情報に基づく。立体配置・配座はモデルの一例。</a:t>
            </a:r>
          </a:p>
        </p:txBody>
      </p:sp>
    </p:spTree>
    <p:extLst>
      <p:ext uri="{BB962C8B-B14F-4D97-AF65-F5344CB8AC3E}">
        <p14:creationId xmlns:p14="http://schemas.microsoft.com/office/powerpoint/2010/main" val="19299334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1280E8-90DE-4401-9CA9-75C0C7115E3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構造と水への関わりの整理</a:t>
            </a:r>
          </a:p>
        </p:txBody>
      </p:sp>
      <p:sp>
        <p:nvSpPr>
          <p:cNvPr id="2" name="">
            <a:extLst xmlns:a="http://schemas.openxmlformats.org/drawingml/2006/main">
              <a:ext uri="{FF2B5EF4-FFF2-40B4-BE49-F238E27FC236}">
                <a16:creationId xmlns:a16="http://schemas.microsoft.com/office/drawing/2014/main" id="{B4611A15-862F-46A5-AE48-1406B2715C2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AB5D11-9925-443F-85F6-E9A8B647017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39D50BFA-CC59-410F-A4D8-91CA414F7C8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graphicFrame>
        <p:nvGraphicFramePr>
          <p:cNvPr id="5" name="">
            <a:extLst xmlns:a="http://schemas.openxmlformats.org/drawingml/2006/main">
              <a:ext uri="{FF2B5EF4-FFF2-40B4-BE49-F238E27FC236}">
                <a16:creationId xmlns:a16="http://schemas.microsoft.com/office/drawing/2014/main" id="{30FEBFF4-6D8B-4461-BA25-6D9E55E5AAFA}"/>
              </a:ext>
            </a:extLst>
          </p:cNvPr>
          <p:cNvGraphicFramePr/>
          <p:nvPr/>
        </p:nvGraphicFramePr>
        <p:xfrm>
          <a:off xmlns:a="http://schemas.openxmlformats.org/drawingml/2006/main" x="838200" y="1752600"/>
          <a:ext xmlns:a="http://schemas.openxmlformats.org/drawingml/2006/main" cx="10477500" cy="3752850"/>
        </p:xfrm>
        <a:graphic xmlns:a="http://schemas.openxmlformats.org/drawingml/2006/main">
          <a:graphicData uri="http://schemas.openxmlformats.org/drawingml/2006/table">
            <a:tbl>
              <a:tblPr/>
              <a:tblGrid>
                <a:gridCol w="2143125"/>
                <a:gridCol w="3810000"/>
                <a:gridCol w="4524375"/>
              </a:tblGrid>
              <a:tr h="938213">
                <a:tc>
                  <a:txBody>
                    <a:bodyPr lIns="95250" tIns="95250" rIns="95250" bIns="95250"/>
                    <a:lstStyle/>
                    <a:p>
                      <a:r>
                        <a:rPr sz="1875" b="1">
                          <a:solidFill>
                            <a:srgbClr val="FFFFFF"/>
                          </a:solidFill>
                          <a:latin typeface="Yu Gothic"/>
                          <a:ea typeface="Yu Gothic"/>
                          <a:cs typeface="Yu Gothic"/>
                        </a:rPr>
                        <a:t>成分</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構造・力への関わり</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水への関わり</a:t>
                      </a:r>
                    </a:p>
                  </a:txBody>
                  <a:tcPr marL="91440" marR="91440" marT="45720" marB="45720">
                    <a:solidFill>
                      <a:srgbClr val="18364F"/>
                    </a:solidFill>
                  </a:tcPr>
                </a:tc>
              </a:tr>
              <a:tr h="938213">
                <a:tc>
                  <a:txBody>
                    <a:bodyPr lIns="95250" tIns="95250" rIns="95250" bIns="95250"/>
                    <a:lstStyle/>
                    <a:p>
                      <a:r>
                        <a:rPr sz="1875" b="0">
                          <a:solidFill>
                            <a:srgbClr val="253C4D"/>
                          </a:solidFill>
                          <a:latin typeface="Yu Gothic"/>
                          <a:ea typeface="Yu Gothic"/>
                          <a:cs typeface="Yu Gothic"/>
                        </a:rPr>
                        <a:t>セルロース</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鎖の集合・配向と引張抵抗</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OH基あり。集合内部はアクセスが限られる</a:t>
                      </a:r>
                    </a:p>
                  </a:txBody>
                  <a:tcPr marL="91440" marR="91440" marT="45720" marB="45720">
                    <a:solidFill>
                      <a:srgbClr val="F1F5F7"/>
                    </a:solidFill>
                  </a:tcPr>
                </a:tc>
              </a:tr>
              <a:tr h="938213">
                <a:tc>
                  <a:txBody>
                    <a:bodyPr lIns="95250" tIns="95250" rIns="95250" bIns="95250"/>
                    <a:lstStyle/>
                    <a:p>
                      <a:r>
                        <a:rPr sz="1875" b="0">
                          <a:solidFill>
                            <a:srgbClr val="253C4D"/>
                          </a:solidFill>
                          <a:latin typeface="Yu Gothic"/>
                          <a:ea typeface="Yu Gothic"/>
                          <a:cs typeface="Yu Gothic"/>
                        </a:rPr>
                        <a:t>ヘミセルロース</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周囲の成分と相互作用</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水が近付きやすい部分が多い</a:t>
                      </a:r>
                    </a:p>
                  </a:txBody>
                  <a:tcPr marL="91440" marR="91440" marT="45720" marB="45720">
                    <a:solidFill>
                      <a:srgbClr val="FFFFFF"/>
                    </a:solidFill>
                  </a:tcPr>
                </a:tc>
              </a:tr>
              <a:tr h="938213">
                <a:tc>
                  <a:txBody>
                    <a:bodyPr lIns="95250" tIns="95250" rIns="95250" bIns="95250"/>
                    <a:lstStyle/>
                    <a:p>
                      <a:r>
                        <a:rPr sz="1875" b="0">
                          <a:solidFill>
                            <a:srgbClr val="253C4D"/>
                          </a:solidFill>
                          <a:latin typeface="Yu Gothic"/>
                          <a:ea typeface="Yu Gothic"/>
                          <a:cs typeface="Yu Gothic"/>
                        </a:rPr>
                        <a:t>リグニン</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壁や細胞間の複合体の性質</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多糖類より親和性が小さい面。ゼロではない</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0AAC8E71-A0A6-42BA-A36A-8D1868F0164C}"/>
              </a:ext>
            </a:extLst>
          </p:cNvPr>
          <p:cNvSpPr>
            <a:spLocks xmlns:a="http://schemas.openxmlformats.org/drawingml/2006/main" noGrp="1"/>
          </p:cNvSpPr>
          <p:nvPr/>
        </p:nvSpPr>
        <p:spPr>
          <a:xfrm xmlns:a="http://schemas.openxmlformats.org/drawingml/2006/main">
            <a:off x="83820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087E8B"/>
                </a:solidFill>
                <a:latin typeface="Yu Gothic"/>
                <a:ea typeface="Yu Gothic"/>
                <a:cs typeface="Yu Gothic"/>
              </a:defRPr>
            </a:defPPr>
            <a:lvl1pPr>
              <a:buNone/>
              <a:defRPr sz="1950" b="1">
                <a:solidFill>
                  <a:srgbClr val="087E8B"/>
                </a:solidFill>
                <a:latin typeface="Yu Gothic"/>
                <a:ea typeface="Yu Gothic"/>
                <a:cs typeface="Yu Gothic"/>
              </a:defRPr>
            </a:lvl1pPr>
            <a:lvl2pPr>
              <a:buNone/>
              <a:defRPr sz="1950" b="1">
                <a:solidFill>
                  <a:srgbClr val="087E8B"/>
                </a:solidFill>
                <a:latin typeface="Yu Gothic"/>
                <a:ea typeface="Yu Gothic"/>
                <a:cs typeface="Yu Gothic"/>
              </a:defRPr>
            </a:lvl2pPr>
            <a:lvl3pPr>
              <a:buNone/>
              <a:defRPr sz="1950" b="1">
                <a:solidFill>
                  <a:srgbClr val="087E8B"/>
                </a:solidFill>
                <a:latin typeface="Yu Gothic"/>
                <a:ea typeface="Yu Gothic"/>
                <a:cs typeface="Yu Gothic"/>
              </a:defRPr>
            </a:lvl3pPr>
            <a:lvl4pPr>
              <a:buNone/>
              <a:defRPr sz="1950" b="1">
                <a:solidFill>
                  <a:srgbClr val="087E8B"/>
                </a:solidFill>
                <a:latin typeface="Yu Gothic"/>
                <a:ea typeface="Yu Gothic"/>
                <a:cs typeface="Yu Gothic"/>
              </a:defRPr>
            </a:lvl4pPr>
            <a:lvl5pPr>
              <a:buNone/>
              <a:defRPr sz="1950" b="1">
                <a:solidFill>
                  <a:srgbClr val="087E8B"/>
                </a:solidFill>
                <a:latin typeface="Yu Gothic"/>
                <a:ea typeface="Yu Gothic"/>
                <a:cs typeface="Yu Gothic"/>
              </a:defRPr>
            </a:lvl5pPr>
            <a:lvl6pPr>
              <a:buNone/>
              <a:defRPr sz="1950" b="1">
                <a:solidFill>
                  <a:srgbClr val="087E8B"/>
                </a:solidFill>
                <a:latin typeface="Yu Gothic"/>
                <a:ea typeface="Yu Gothic"/>
                <a:cs typeface="Yu Gothic"/>
              </a:defRPr>
            </a:lvl6pPr>
            <a:lvl7pPr>
              <a:buNone/>
              <a:defRPr sz="1950" b="1">
                <a:solidFill>
                  <a:srgbClr val="087E8B"/>
                </a:solidFill>
                <a:latin typeface="Yu Gothic"/>
                <a:ea typeface="Yu Gothic"/>
                <a:cs typeface="Yu Gothic"/>
              </a:defRPr>
            </a:lvl7pPr>
            <a:lvl8pPr>
              <a:buNone/>
              <a:defRPr sz="1950" b="1">
                <a:solidFill>
                  <a:srgbClr val="087E8B"/>
                </a:solidFill>
                <a:latin typeface="Yu Gothic"/>
                <a:ea typeface="Yu Gothic"/>
                <a:cs typeface="Yu Gothic"/>
              </a:defRPr>
            </a:lvl8pPr>
            <a:lvl9pPr>
              <a:buNone/>
              <a:defRPr sz="1950" b="1">
                <a:solidFill>
                  <a:srgbClr val="087E8B"/>
                </a:solidFill>
                <a:latin typeface="Yu Gothic"/>
                <a:ea typeface="Yu Gothic"/>
                <a:cs typeface="Yu Gothic"/>
              </a:defRPr>
            </a:lvl9pPr>
          </a:lstStyle>
          <a:p xmlns:a="http://schemas.openxmlformats.org/drawingml/2006/main">
            <a:pPr>
              <a:buNone/>
              <a:defRPr sz="1950" b="1">
                <a:solidFill>
                  <a:srgbClr val="087E8B"/>
                </a:solidFill>
                <a:latin typeface="Yu Gothic"/>
                <a:ea typeface="Yu Gothic"/>
                <a:cs typeface="Yu Gothic"/>
              </a:defRPr>
            </a:pPr>
            <a:r>
              <a:rPr sz="1950" b="1">
                <a:solidFill>
                  <a:srgbClr val="087E8B"/>
                </a:solidFill>
                <a:latin typeface="Yu Gothic"/>
                <a:ea typeface="Yu Gothic"/>
                <a:cs typeface="Yu Gothic"/>
              </a:rPr>
              <a:t>役割は重なり合う。量・配向・水分・測定条件も合わせて読む。</a:t>
            </a:r>
          </a:p>
        </p:txBody>
      </p:sp>
    </p:spTree>
    <p:extLst>
      <p:ext uri="{BB962C8B-B14F-4D97-AF65-F5344CB8AC3E}">
        <p14:creationId xmlns:p14="http://schemas.microsoft.com/office/powerpoint/2010/main" val="9279676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907671D-FA9B-4DDF-BDC0-77F7E83861D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質量百分率と、今回の計算の基準</a:t>
            </a:r>
          </a:p>
        </p:txBody>
      </p:sp>
      <p:sp>
        <p:nvSpPr>
          <p:cNvPr id="2" name="">
            <a:extLst xmlns:a="http://schemas.openxmlformats.org/drawingml/2006/main">
              <a:ext uri="{FF2B5EF4-FFF2-40B4-BE49-F238E27FC236}">
                <a16:creationId xmlns:a16="http://schemas.microsoft.com/office/drawing/2014/main" id="{04ADE7C5-A1CA-4B43-AD7A-C56A577C586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913E31-B0BB-4873-B695-61242D1A59C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CEAA2EAC-249F-4C00-A1BE-98502765C87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B664F6D0-3D7C-47B9-BBB1-C761A5F55958}"/>
              </a:ext>
            </a:extLst>
          </p:cNvPr>
          <p:cNvSpPr>
            <a:spLocks xmlns:a="http://schemas.openxmlformats.org/drawingml/2006/main" noGrp="1"/>
          </p:cNvSpPr>
          <p:nvPr/>
        </p:nvSpPr>
        <p:spPr>
          <a:xfrm xmlns:a="http://schemas.openxmlformats.org/drawingml/2006/main">
            <a:off x="838200" y="15906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xmlns:a="http://schemas.openxmlformats.org/drawingml/2006/main">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質量百分率（一般名称）</a:t>
            </a:r>
          </a:p>
        </p:txBody>
      </p:sp>
      <p:sp>
        <p:nvSpPr>
          <p:cNvPr id="6" name="">
            <a:extLst xmlns:a="http://schemas.openxmlformats.org/drawingml/2006/main">
              <a:ext uri="{FF2B5EF4-FFF2-40B4-BE49-F238E27FC236}">
                <a16:creationId xmlns:a16="http://schemas.microsoft.com/office/drawing/2014/main" id="{5AE80A7F-DAEB-439F-B0C7-5B58F0EC7E90}"/>
              </a:ext>
            </a:extLst>
          </p:cNvPr>
          <p:cNvSpPr>
            <a:spLocks xmlns:a="http://schemas.openxmlformats.org/drawingml/2006/main" noGrp="1"/>
          </p:cNvSpPr>
          <p:nvPr/>
        </p:nvSpPr>
        <p:spPr>
          <a:xfrm xmlns:a="http://schemas.openxmlformats.org/drawingml/2006/main">
            <a:off x="2857500" y="2362200"/>
            <a:ext cx="38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xmlns:a="http://schemas.openxmlformats.org/drawingml/2006/main">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022DCBC8-77D9-4128-9596-3D149D8D4D0D}"/>
              </a:ext>
            </a:extLst>
          </p:cNvPr>
          <p:cNvSpPr>
            <a:spLocks xmlns:a="http://schemas.openxmlformats.org/drawingml/2006/main" noGrp="1"/>
          </p:cNvSpPr>
          <p:nvPr/>
        </p:nvSpPr>
        <p:spPr>
          <a:xfrm xmlns:a="http://schemas.openxmlformats.org/drawingml/2006/main">
            <a:off x="4000500" y="21145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18364F"/>
                </a:solidFill>
                <a:latin typeface="Yu Gothic"/>
                <a:ea typeface="Yu Gothic"/>
                <a:cs typeface="Yu Gothic"/>
              </a:defRPr>
            </a:defPPr>
            <a:lvl1pPr>
              <a:buNone/>
              <a:defRPr sz="2550" b="1">
                <a:solidFill>
                  <a:srgbClr val="18364F"/>
                </a:solidFill>
                <a:latin typeface="Yu Gothic"/>
                <a:ea typeface="Yu Gothic"/>
                <a:cs typeface="Yu Gothic"/>
              </a:defRPr>
            </a:lvl1pPr>
            <a:lvl2pPr>
              <a:buNone/>
              <a:defRPr sz="2550" b="1">
                <a:solidFill>
                  <a:srgbClr val="18364F"/>
                </a:solidFill>
                <a:latin typeface="Yu Gothic"/>
                <a:ea typeface="Yu Gothic"/>
                <a:cs typeface="Yu Gothic"/>
              </a:defRPr>
            </a:lvl2pPr>
            <a:lvl3pPr>
              <a:buNone/>
              <a:defRPr sz="2550" b="1">
                <a:solidFill>
                  <a:srgbClr val="18364F"/>
                </a:solidFill>
                <a:latin typeface="Yu Gothic"/>
                <a:ea typeface="Yu Gothic"/>
                <a:cs typeface="Yu Gothic"/>
              </a:defRPr>
            </a:lvl3pPr>
            <a:lvl4pPr>
              <a:buNone/>
              <a:defRPr sz="2550" b="1">
                <a:solidFill>
                  <a:srgbClr val="18364F"/>
                </a:solidFill>
                <a:latin typeface="Yu Gothic"/>
                <a:ea typeface="Yu Gothic"/>
                <a:cs typeface="Yu Gothic"/>
              </a:defRPr>
            </a:lvl4pPr>
            <a:lvl5pPr>
              <a:buNone/>
              <a:defRPr sz="2550" b="1">
                <a:solidFill>
                  <a:srgbClr val="18364F"/>
                </a:solidFill>
                <a:latin typeface="Yu Gothic"/>
                <a:ea typeface="Yu Gothic"/>
                <a:cs typeface="Yu Gothic"/>
              </a:defRPr>
            </a:lvl5pPr>
            <a:lvl6pPr>
              <a:buNone/>
              <a:defRPr sz="2550" b="1">
                <a:solidFill>
                  <a:srgbClr val="18364F"/>
                </a:solidFill>
                <a:latin typeface="Yu Gothic"/>
                <a:ea typeface="Yu Gothic"/>
                <a:cs typeface="Yu Gothic"/>
              </a:defRPr>
            </a:lvl6pPr>
            <a:lvl7pPr>
              <a:buNone/>
              <a:defRPr sz="2550" b="1">
                <a:solidFill>
                  <a:srgbClr val="18364F"/>
                </a:solidFill>
                <a:latin typeface="Yu Gothic"/>
                <a:ea typeface="Yu Gothic"/>
                <a:cs typeface="Yu Gothic"/>
              </a:defRPr>
            </a:lvl7pPr>
            <a:lvl8pPr>
              <a:buNone/>
              <a:defRPr sz="2550" b="1">
                <a:solidFill>
                  <a:srgbClr val="18364F"/>
                </a:solidFill>
                <a:latin typeface="Yu Gothic"/>
                <a:ea typeface="Yu Gothic"/>
                <a:cs typeface="Yu Gothic"/>
              </a:defRPr>
            </a:lvl8pPr>
            <a:lvl9pPr>
              <a:buNone/>
              <a:defRPr sz="2550" b="1">
                <a:solidFill>
                  <a:srgbClr val="18364F"/>
                </a:solidFill>
                <a:latin typeface="Yu Gothic"/>
                <a:ea typeface="Yu Gothic"/>
                <a:cs typeface="Yu Gothic"/>
              </a:defRPr>
            </a:lvl9pPr>
          </a:lstStyle>
          <a:p xmlns:a="http://schemas.openxmlformats.org/drawingml/2006/main">
            <a:pPr>
              <a:buNone/>
              <a:defRPr sz="2550" b="1">
                <a:solidFill>
                  <a:srgbClr val="18364F"/>
                </a:solidFill>
                <a:latin typeface="Yu Gothic"/>
                <a:ea typeface="Yu Gothic"/>
                <a:cs typeface="Yu Gothic"/>
              </a:defRPr>
            </a:pPr>
            <a:r>
              <a:rPr sz="2550" b="1">
                <a:solidFill>
                  <a:srgbClr val="18364F"/>
                </a:solidFill>
                <a:latin typeface="Yu Gothic"/>
                <a:ea typeface="Yu Gothic"/>
                <a:cs typeface="Yu Gothic"/>
              </a:rPr>
              <a:t>対象成分の質量</a:t>
            </a:r>
          </a:p>
        </p:txBody>
      </p:sp>
      <p:sp>
        <p:nvSpPr>
          <p:cNvPr id="8" name="">
            <a:extLst xmlns:a="http://schemas.openxmlformats.org/drawingml/2006/main">
              <a:ext uri="{FF2B5EF4-FFF2-40B4-BE49-F238E27FC236}">
                <a16:creationId xmlns:a16="http://schemas.microsoft.com/office/drawing/2014/main" id="{94459FC3-CBBD-42FA-B2C3-95A07DD9D27E}"/>
              </a:ext>
            </a:extLst>
          </p:cNvPr>
          <p:cNvSpPr>
            <a:spLocks xmlns:a="http://schemas.openxmlformats.org/drawingml/2006/main" noGrp="1"/>
          </p:cNvSpPr>
          <p:nvPr/>
        </p:nvSpPr>
        <p:spPr>
          <a:xfrm xmlns:a="http://schemas.openxmlformats.org/drawingml/2006/main">
            <a:off x="3476625" y="2609850"/>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19050">
            <a:solidFill>
              <a:srgbClr val="18364F"/>
            </a:solidFill>
          </a:ln>
        </p:spPr>
      </p:sp>
      <p:sp>
        <p:nvSpPr>
          <p:cNvPr id="9" name="">
            <a:extLst xmlns:a="http://schemas.openxmlformats.org/drawingml/2006/main">
              <a:ext uri="{FF2B5EF4-FFF2-40B4-BE49-F238E27FC236}">
                <a16:creationId xmlns:a16="http://schemas.microsoft.com/office/drawing/2014/main" id="{6353C79A-B774-4780-B9CB-A54C253C0342}"/>
              </a:ext>
            </a:extLst>
          </p:cNvPr>
          <p:cNvSpPr>
            <a:spLocks xmlns:a="http://schemas.openxmlformats.org/drawingml/2006/main" noGrp="1"/>
          </p:cNvSpPr>
          <p:nvPr/>
        </p:nvSpPr>
        <p:spPr>
          <a:xfrm xmlns:a="http://schemas.openxmlformats.org/drawingml/2006/main">
            <a:off x="4000500" y="27241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18364F"/>
                </a:solidFill>
                <a:latin typeface="Yu Gothic"/>
                <a:ea typeface="Yu Gothic"/>
                <a:cs typeface="Yu Gothic"/>
              </a:defRPr>
            </a:defPPr>
            <a:lvl1pPr>
              <a:buNone/>
              <a:defRPr sz="2550" b="1">
                <a:solidFill>
                  <a:srgbClr val="18364F"/>
                </a:solidFill>
                <a:latin typeface="Yu Gothic"/>
                <a:ea typeface="Yu Gothic"/>
                <a:cs typeface="Yu Gothic"/>
              </a:defRPr>
            </a:lvl1pPr>
            <a:lvl2pPr>
              <a:buNone/>
              <a:defRPr sz="2550" b="1">
                <a:solidFill>
                  <a:srgbClr val="18364F"/>
                </a:solidFill>
                <a:latin typeface="Yu Gothic"/>
                <a:ea typeface="Yu Gothic"/>
                <a:cs typeface="Yu Gothic"/>
              </a:defRPr>
            </a:lvl2pPr>
            <a:lvl3pPr>
              <a:buNone/>
              <a:defRPr sz="2550" b="1">
                <a:solidFill>
                  <a:srgbClr val="18364F"/>
                </a:solidFill>
                <a:latin typeface="Yu Gothic"/>
                <a:ea typeface="Yu Gothic"/>
                <a:cs typeface="Yu Gothic"/>
              </a:defRPr>
            </a:lvl3pPr>
            <a:lvl4pPr>
              <a:buNone/>
              <a:defRPr sz="2550" b="1">
                <a:solidFill>
                  <a:srgbClr val="18364F"/>
                </a:solidFill>
                <a:latin typeface="Yu Gothic"/>
                <a:ea typeface="Yu Gothic"/>
                <a:cs typeface="Yu Gothic"/>
              </a:defRPr>
            </a:lvl4pPr>
            <a:lvl5pPr>
              <a:buNone/>
              <a:defRPr sz="2550" b="1">
                <a:solidFill>
                  <a:srgbClr val="18364F"/>
                </a:solidFill>
                <a:latin typeface="Yu Gothic"/>
                <a:ea typeface="Yu Gothic"/>
                <a:cs typeface="Yu Gothic"/>
              </a:defRPr>
            </a:lvl5pPr>
            <a:lvl6pPr>
              <a:buNone/>
              <a:defRPr sz="2550" b="1">
                <a:solidFill>
                  <a:srgbClr val="18364F"/>
                </a:solidFill>
                <a:latin typeface="Yu Gothic"/>
                <a:ea typeface="Yu Gothic"/>
                <a:cs typeface="Yu Gothic"/>
              </a:defRPr>
            </a:lvl6pPr>
            <a:lvl7pPr>
              <a:buNone/>
              <a:defRPr sz="2550" b="1">
                <a:solidFill>
                  <a:srgbClr val="18364F"/>
                </a:solidFill>
                <a:latin typeface="Yu Gothic"/>
                <a:ea typeface="Yu Gothic"/>
                <a:cs typeface="Yu Gothic"/>
              </a:defRPr>
            </a:lvl7pPr>
            <a:lvl8pPr>
              <a:buNone/>
              <a:defRPr sz="2550" b="1">
                <a:solidFill>
                  <a:srgbClr val="18364F"/>
                </a:solidFill>
                <a:latin typeface="Yu Gothic"/>
                <a:ea typeface="Yu Gothic"/>
                <a:cs typeface="Yu Gothic"/>
              </a:defRPr>
            </a:lvl8pPr>
            <a:lvl9pPr>
              <a:buNone/>
              <a:defRPr sz="2550" b="1">
                <a:solidFill>
                  <a:srgbClr val="18364F"/>
                </a:solidFill>
                <a:latin typeface="Yu Gothic"/>
                <a:ea typeface="Yu Gothic"/>
                <a:cs typeface="Yu Gothic"/>
              </a:defRPr>
            </a:lvl9pPr>
          </a:lstStyle>
          <a:p xmlns:a="http://schemas.openxmlformats.org/drawingml/2006/main">
            <a:pPr>
              <a:buNone/>
              <a:defRPr sz="2550" b="1">
                <a:solidFill>
                  <a:srgbClr val="18364F"/>
                </a:solidFill>
                <a:latin typeface="Yu Gothic"/>
                <a:ea typeface="Yu Gothic"/>
                <a:cs typeface="Yu Gothic"/>
              </a:defRPr>
            </a:pPr>
            <a:r>
              <a:rPr sz="2550" b="1">
                <a:solidFill>
                  <a:srgbClr val="18364F"/>
                </a:solidFill>
                <a:latin typeface="Yu Gothic"/>
                <a:ea typeface="Yu Gothic"/>
                <a:cs typeface="Yu Gothic"/>
              </a:rPr>
              <a:t>全体の質量</a:t>
            </a:r>
          </a:p>
        </p:txBody>
      </p:sp>
      <p:sp>
        <p:nvSpPr>
          <p:cNvPr id="10" name="">
            <a:extLst xmlns:a="http://schemas.openxmlformats.org/drawingml/2006/main">
              <a:ext uri="{FF2B5EF4-FFF2-40B4-BE49-F238E27FC236}">
                <a16:creationId xmlns:a16="http://schemas.microsoft.com/office/drawing/2014/main" id="{F74DFFC0-0321-4360-BC38-8FB627C36B31}"/>
              </a:ext>
            </a:extLst>
          </p:cNvPr>
          <p:cNvSpPr>
            <a:spLocks xmlns:a="http://schemas.openxmlformats.org/drawingml/2006/main" noGrp="1"/>
          </p:cNvSpPr>
          <p:nvPr/>
        </p:nvSpPr>
        <p:spPr>
          <a:xfrm xmlns:a="http://schemas.openxmlformats.org/drawingml/2006/main">
            <a:off x="9477375" y="2381250"/>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xmlns:a="http://schemas.openxmlformats.org/drawingml/2006/main">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 100</a:t>
            </a:r>
          </a:p>
        </p:txBody>
      </p:sp>
      <p:sp>
        <p:nvSpPr>
          <p:cNvPr id="11" name="">
            <a:extLst xmlns:a="http://schemas.openxmlformats.org/drawingml/2006/main">
              <a:ext uri="{FF2B5EF4-FFF2-40B4-BE49-F238E27FC236}">
                <a16:creationId xmlns:a16="http://schemas.microsoft.com/office/drawing/2014/main" id="{68A76187-8632-476E-A0B7-68739FB9B00B}"/>
              </a:ext>
            </a:extLst>
          </p:cNvPr>
          <p:cNvSpPr>
            <a:spLocks xmlns:a="http://schemas.openxmlformats.org/drawingml/2006/main" noGrp="1"/>
          </p:cNvSpPr>
          <p:nvPr/>
        </p:nvSpPr>
        <p:spPr>
          <a:xfrm xmlns:a="http://schemas.openxmlformats.org/drawingml/2006/main">
            <a:off x="838200" y="35909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今回：全乾木材全体を分母に、各成分の割合を計算</a:t>
            </a:r>
          </a:p>
        </p:txBody>
      </p:sp>
      <p:sp>
        <p:nvSpPr>
          <p:cNvPr id="12" name="">
            <a:extLst xmlns:a="http://schemas.openxmlformats.org/drawingml/2006/main">
              <a:ext uri="{FF2B5EF4-FFF2-40B4-BE49-F238E27FC236}">
                <a16:creationId xmlns:a16="http://schemas.microsoft.com/office/drawing/2014/main" id="{861F74DA-B93C-4563-8A9D-8718152C61B7}"/>
              </a:ext>
            </a:extLst>
          </p:cNvPr>
          <p:cNvSpPr>
            <a:spLocks xmlns:a="http://schemas.openxmlformats.org/drawingml/2006/main" noGrp="1"/>
          </p:cNvSpPr>
          <p:nvPr/>
        </p:nvSpPr>
        <p:spPr>
          <a:xfrm xmlns:a="http://schemas.openxmlformats.org/drawingml/2006/main">
            <a:off x="838200" y="42291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水の量を示す含水率（MC）は、第8回で扱う</a:t>
            </a:r>
          </a:p>
        </p:txBody>
      </p:sp>
      <p:sp>
        <p:nvSpPr>
          <p:cNvPr id="13" name="">
            <a:extLst xmlns:a="http://schemas.openxmlformats.org/drawingml/2006/main">
              <a:ext uri="{FF2B5EF4-FFF2-40B4-BE49-F238E27FC236}">
                <a16:creationId xmlns:a16="http://schemas.microsoft.com/office/drawing/2014/main" id="{319A8BBE-CA74-4DCA-B843-0C8ADF0CF3A7}"/>
              </a:ext>
            </a:extLst>
          </p:cNvPr>
          <p:cNvSpPr>
            <a:spLocks xmlns:a="http://schemas.openxmlformats.org/drawingml/2006/main" noGrp="1"/>
          </p:cNvSpPr>
          <p:nvPr/>
        </p:nvSpPr>
        <p:spPr>
          <a:xfrm xmlns:a="http://schemas.openxmlformats.org/drawingml/2006/main">
            <a:off x="838200" y="48672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木材の含水率は「水を含む全体に占める割合」と分母が違う</a:t>
            </a:r>
          </a:p>
        </p:txBody>
      </p:sp>
      <p:sp>
        <p:nvSpPr>
          <p:cNvPr id="14" name="">
            <a:extLst xmlns:a="http://schemas.openxmlformats.org/drawingml/2006/main">
              <a:ext uri="{FF2B5EF4-FFF2-40B4-BE49-F238E27FC236}">
                <a16:creationId xmlns:a16="http://schemas.microsoft.com/office/drawing/2014/main" id="{553B1DB8-DB21-4482-AD28-9F302AD8E095}"/>
              </a:ext>
            </a:extLst>
          </p:cNvPr>
          <p:cNvSpPr>
            <a:spLocks xmlns:a="http://schemas.openxmlformats.org/drawingml/2006/main" noGrp="1"/>
          </p:cNvSpPr>
          <p:nvPr/>
        </p:nvSpPr>
        <p:spPr>
          <a:xfrm xmlns:a="http://schemas.openxmlformats.org/drawingml/2006/main">
            <a:off x="838200" y="55054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45・25・25・5%は、計算用の仮定値</a:t>
            </a:r>
          </a:p>
        </p:txBody>
      </p:sp>
    </p:spTree>
    <p:extLst>
      <p:ext uri="{BB962C8B-B14F-4D97-AF65-F5344CB8AC3E}">
        <p14:creationId xmlns:p14="http://schemas.microsoft.com/office/powerpoint/2010/main" val="152530438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214290-C219-4BE2-B12E-6D1FB3973A7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B558781F-C92F-4171-8C2C-33BF25CB235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6D7EBB-D569-4865-803F-D7D63B037D3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第4回・オンデマンド</a:t>
            </a:r>
          </a:p>
        </p:txBody>
      </p:sp>
      <p:sp>
        <p:nvSpPr>
          <p:cNvPr id="4" name="">
            <a:extLst xmlns:a="http://schemas.openxmlformats.org/drawingml/2006/main">
              <a:ext uri="{FF2B5EF4-FFF2-40B4-BE49-F238E27FC236}">
                <a16:creationId xmlns:a16="http://schemas.microsoft.com/office/drawing/2014/main" id="{9101E559-2C2B-483A-9924-A9D5C41D5FD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9A117373-FD5F-446A-8AA8-B19F9AC6C662}"/>
              </a:ext>
            </a:extLst>
          </p:cNvPr>
          <p:cNvSpPr>
            <a:spLocks xmlns:a="http://schemas.openxmlformats.org/drawingml/2006/main" noGrp="1"/>
          </p:cNvSpPr>
          <p:nvPr/>
        </p:nvSpPr>
        <p:spPr>
          <a:xfrm xmlns:a="http://schemas.openxmlformats.org/drawingml/2006/main">
            <a:off x="838200" y="17145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58C1B9D1-0FF1-425E-9236-18EC45A25DDA}"/>
              </a:ext>
            </a:extLst>
          </p:cNvPr>
          <p:cNvSpPr>
            <a:spLocks xmlns:a="http://schemas.openxmlformats.org/drawingml/2006/main" noGrp="1"/>
          </p:cNvSpPr>
          <p:nvPr/>
        </p:nvSpPr>
        <p:spPr>
          <a:xfrm xmlns:a="http://schemas.openxmlformats.org/drawingml/2006/main">
            <a:off x="838200" y="27241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6A3D5719-58BD-4952-A71E-E741DAFFA9C7}"/>
              </a:ext>
            </a:extLst>
          </p:cNvPr>
          <p:cNvSpPr>
            <a:spLocks xmlns:a="http://schemas.openxmlformats.org/drawingml/2006/main" noGrp="1"/>
          </p:cNvSpPr>
          <p:nvPr/>
        </p:nvSpPr>
        <p:spPr>
          <a:xfrm xmlns:a="http://schemas.openxmlformats.org/drawingml/2006/main">
            <a:off x="838200" y="37338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7D479EE0-3994-43C7-B82B-2C8C944FEB40}"/>
              </a:ext>
            </a:extLst>
          </p:cNvPr>
          <p:cNvSpPr>
            <a:spLocks xmlns:a="http://schemas.openxmlformats.org/drawingml/2006/main" noGrp="1"/>
          </p:cNvSpPr>
          <p:nvPr/>
        </p:nvSpPr>
        <p:spPr>
          <a:xfrm xmlns:a="http://schemas.openxmlformats.org/drawingml/2006/main">
            <a:off x="838200" y="47434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再開したら：演習1　成分の質量割合へ進みます。</a:t>
            </a:r>
          </a:p>
        </p:txBody>
      </p:sp>
    </p:spTree>
    <p:extLst>
      <p:ext uri="{BB962C8B-B14F-4D97-AF65-F5344CB8AC3E}">
        <p14:creationId xmlns:p14="http://schemas.microsoft.com/office/powerpoint/2010/main" val="944918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A1817F-870D-47C3-9EEB-6F4F3ECDA6E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　成分の質量割合</a:t>
            </a:r>
          </a:p>
        </p:txBody>
      </p:sp>
      <p:sp>
        <p:nvSpPr>
          <p:cNvPr id="2" name="">
            <a:extLst xmlns:a="http://schemas.openxmlformats.org/drawingml/2006/main">
              <a:ext uri="{FF2B5EF4-FFF2-40B4-BE49-F238E27FC236}">
                <a16:creationId xmlns:a16="http://schemas.microsoft.com/office/drawing/2014/main" id="{14161964-A6AA-447D-ACF2-14588528F8B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DFA411-59B9-4477-9EB3-C0E5A28AC54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BAFCD42E-5EF8-4E30-8785-1F923863102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graphicFrame>
        <p:nvGraphicFramePr>
          <p:cNvPr id="5" name="">
            <a:extLst xmlns:a="http://schemas.openxmlformats.org/drawingml/2006/main">
              <a:ext uri="{FF2B5EF4-FFF2-40B4-BE49-F238E27FC236}">
                <a16:creationId xmlns:a16="http://schemas.microsoft.com/office/drawing/2014/main" id="{9B250963-2809-4581-839C-7DDF7D72B792}"/>
              </a:ext>
            </a:extLst>
          </p:cNvPr>
          <p:cNvGraphicFramePr/>
          <p:nvPr/>
        </p:nvGraphicFramePr>
        <p:xfrm>
          <a:off xmlns:a="http://schemas.openxmlformats.org/drawingml/2006/main" x="838200" y="1657350"/>
          <a:ext xmlns:a="http://schemas.openxmlformats.org/drawingml/2006/main" cx="10477500" cy="1333500"/>
        </p:xfrm>
        <a:graphic xmlns:a="http://schemas.openxmlformats.org/drawingml/2006/main">
          <a:graphicData uri="http://schemas.openxmlformats.org/drawingml/2006/table">
            <a:tbl>
              <a:tblPr/>
              <a:tblGrid>
                <a:gridCol w="2571750"/>
                <a:gridCol w="1952625"/>
                <a:gridCol w="2238375"/>
                <a:gridCol w="1857375"/>
                <a:gridCol w="1857375"/>
              </a:tblGrid>
              <a:tr h="666750">
                <a:tc>
                  <a:txBody>
                    <a:bodyPr lIns="95250" tIns="95250" rIns="95250" bIns="95250"/>
                    <a:lstStyle/>
                    <a:p>
                      <a:r>
                        <a:rPr sz="1950" b="1">
                          <a:solidFill>
                            <a:srgbClr val="FFFFFF"/>
                          </a:solidFill>
                          <a:latin typeface="Yu Gothic"/>
                          <a:ea typeface="Yu Gothic"/>
                          <a:cs typeface="Yu Gothic"/>
                        </a:rPr>
                        <a:t>全乾100 g中</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セルロース</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ヘミセルロース</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リグニン</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その他</a:t>
                      </a:r>
                    </a:p>
                  </a:txBody>
                  <a:tcPr marL="91440" marR="91440" marT="45720" marB="45720">
                    <a:solidFill>
                      <a:srgbClr val="18364F"/>
                    </a:solidFill>
                  </a:tcPr>
                </a:tc>
              </a:tr>
              <a:tr h="666750">
                <a:tc>
                  <a:txBody>
                    <a:bodyPr lIns="95250" tIns="95250" rIns="95250" bIns="95250"/>
                    <a:lstStyle/>
                    <a:p>
                      <a:r>
                        <a:rPr sz="1950" b="0">
                          <a:solidFill>
                            <a:srgbClr val="253C4D"/>
                          </a:solidFill>
                          <a:latin typeface="Yu Gothic"/>
                          <a:ea typeface="Yu Gothic"/>
                          <a:cs typeface="Yu Gothic"/>
                        </a:rPr>
                        <a:t>質量 / g</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45</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25</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25</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5</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3A32840B-D3A1-4331-838E-08EA0E4749F2}"/>
              </a:ext>
            </a:extLst>
          </p:cNvPr>
          <p:cNvSpPr>
            <a:spLocks xmlns:a="http://schemas.openxmlformats.org/drawingml/2006/main" noGrp="1"/>
          </p:cNvSpPr>
          <p:nvPr/>
        </p:nvSpPr>
        <p:spPr>
          <a:xfrm xmlns:a="http://schemas.openxmlformats.org/drawingml/2006/main">
            <a:off x="838200" y="32766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① 各成分と主要三成分合計の質量百分率を求める</a:t>
            </a:r>
          </a:p>
        </p:txBody>
      </p:sp>
      <p:sp>
        <p:nvSpPr>
          <p:cNvPr id="7" name="">
            <a:extLst xmlns:a="http://schemas.openxmlformats.org/drawingml/2006/main">
              <a:ext uri="{FF2B5EF4-FFF2-40B4-BE49-F238E27FC236}">
                <a16:creationId xmlns:a16="http://schemas.microsoft.com/office/drawing/2014/main" id="{9C8C13F7-F432-44DE-8739-6684ED0B2133}"/>
              </a:ext>
            </a:extLst>
          </p:cNvPr>
          <p:cNvSpPr>
            <a:spLocks xmlns:a="http://schemas.openxmlformats.org/drawingml/2006/main" noGrp="1"/>
          </p:cNvSpPr>
          <p:nvPr/>
        </p:nvSpPr>
        <p:spPr>
          <a:xfrm xmlns:a="http://schemas.openxmlformats.org/drawingml/2006/main">
            <a:off x="838200" y="406717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② 同じ組成の全乾240 gに、セルロースは何 g か</a:t>
            </a:r>
          </a:p>
        </p:txBody>
      </p:sp>
      <p:sp>
        <p:nvSpPr>
          <p:cNvPr id="8" name="">
            <a:extLst xmlns:a="http://schemas.openxmlformats.org/drawingml/2006/main">
              <a:ext uri="{FF2B5EF4-FFF2-40B4-BE49-F238E27FC236}">
                <a16:creationId xmlns:a16="http://schemas.microsoft.com/office/drawing/2014/main" id="{01A39C20-F66A-4E9E-BE42-B465F96189D5}"/>
              </a:ext>
            </a:extLst>
          </p:cNvPr>
          <p:cNvSpPr>
            <a:spLocks xmlns:a="http://schemas.openxmlformats.org/drawingml/2006/main" noGrp="1"/>
          </p:cNvSpPr>
          <p:nvPr/>
        </p:nvSpPr>
        <p:spPr>
          <a:xfrm xmlns:a="http://schemas.openxmlformats.org/drawingml/2006/main">
            <a:off x="838200" y="4857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③ その他には、どのような成分が考えられるか</a:t>
            </a:r>
          </a:p>
        </p:txBody>
      </p:sp>
      <p:sp>
        <p:nvSpPr>
          <p:cNvPr id="9" name="">
            <a:extLst xmlns:a="http://schemas.openxmlformats.org/drawingml/2006/main">
              <a:ext uri="{FF2B5EF4-FFF2-40B4-BE49-F238E27FC236}">
                <a16:creationId xmlns:a16="http://schemas.microsoft.com/office/drawing/2014/main" id="{113C398F-0D1D-430F-9B24-4DFBAE7F6EA4}"/>
              </a:ext>
            </a:extLst>
          </p:cNvPr>
          <p:cNvSpPr>
            <a:spLocks xmlns:a="http://schemas.openxmlformats.org/drawingml/2006/main" noGrp="1"/>
          </p:cNvSpPr>
          <p:nvPr/>
        </p:nvSpPr>
        <p:spPr>
          <a:xfrm xmlns:a="http://schemas.openxmlformats.org/drawingml/2006/main">
            <a:off x="838200" y="59340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buNone/>
              <a:defRPr sz="1650" b="0">
                <a:solidFill>
                  <a:srgbClr val="596875"/>
                </a:solidFill>
                <a:latin typeface="Yu Gothic"/>
                <a:ea typeface="Yu Gothic"/>
                <a:cs typeface="Yu Gothic"/>
              </a:defRPr>
            </a:lvl1pPr>
            <a:lvl2pPr>
              <a:buNone/>
              <a:defRPr sz="1650" b="0">
                <a:solidFill>
                  <a:srgbClr val="596875"/>
                </a:solidFill>
                <a:latin typeface="Yu Gothic"/>
                <a:ea typeface="Yu Gothic"/>
                <a:cs typeface="Yu Gothic"/>
              </a:defRPr>
            </a:lvl2pPr>
            <a:lvl3pPr>
              <a:buNone/>
              <a:defRPr sz="1650" b="0">
                <a:solidFill>
                  <a:srgbClr val="596875"/>
                </a:solidFill>
                <a:latin typeface="Yu Gothic"/>
                <a:ea typeface="Yu Gothic"/>
                <a:cs typeface="Yu Gothic"/>
              </a:defRPr>
            </a:lvl3pPr>
            <a:lvl4pPr>
              <a:buNone/>
              <a:defRPr sz="1650" b="0">
                <a:solidFill>
                  <a:srgbClr val="596875"/>
                </a:solidFill>
                <a:latin typeface="Yu Gothic"/>
                <a:ea typeface="Yu Gothic"/>
                <a:cs typeface="Yu Gothic"/>
              </a:defRPr>
            </a:lvl4pPr>
            <a:lvl5pPr>
              <a:buNone/>
              <a:defRPr sz="1650" b="0">
                <a:solidFill>
                  <a:srgbClr val="596875"/>
                </a:solidFill>
                <a:latin typeface="Yu Gothic"/>
                <a:ea typeface="Yu Gothic"/>
                <a:cs typeface="Yu Gothic"/>
              </a:defRPr>
            </a:lvl5pPr>
            <a:lvl6pPr>
              <a:buNone/>
              <a:defRPr sz="1650" b="0">
                <a:solidFill>
                  <a:srgbClr val="596875"/>
                </a:solidFill>
                <a:latin typeface="Yu Gothic"/>
                <a:ea typeface="Yu Gothic"/>
                <a:cs typeface="Yu Gothic"/>
              </a:defRPr>
            </a:lvl6pPr>
            <a:lvl7pPr>
              <a:buNone/>
              <a:defRPr sz="1650" b="0">
                <a:solidFill>
                  <a:srgbClr val="596875"/>
                </a:solidFill>
                <a:latin typeface="Yu Gothic"/>
                <a:ea typeface="Yu Gothic"/>
                <a:cs typeface="Yu Gothic"/>
              </a:defRPr>
            </a:lvl7pPr>
            <a:lvl8pPr>
              <a:buNone/>
              <a:defRPr sz="1650" b="0">
                <a:solidFill>
                  <a:srgbClr val="596875"/>
                </a:solidFill>
                <a:latin typeface="Yu Gothic"/>
                <a:ea typeface="Yu Gothic"/>
                <a:cs typeface="Yu Gothic"/>
              </a:defRPr>
            </a:lvl8pPr>
            <a:lvl9pPr>
              <a:buNone/>
              <a:defRPr sz="1650" b="0">
                <a:solidFill>
                  <a:srgbClr val="596875"/>
                </a:solidFill>
                <a:latin typeface="Yu Gothic"/>
                <a:ea typeface="Yu Gothic"/>
                <a:cs typeface="Yu Gothic"/>
              </a:defRPr>
            </a:lvl9pPr>
          </a:lstStyle>
          <a:p xmlns:a="http://schemas.openxmlformats.org/drawingml/2006/main">
            <a:pPr>
              <a:buNone/>
              <a:defRPr sz="1650" b="0">
                <a:solidFill>
                  <a:srgbClr val="596875"/>
                </a:solidFill>
                <a:latin typeface="Yu Gothic"/>
                <a:ea typeface="Yu Gothic"/>
                <a:cs typeface="Yu Gothic"/>
              </a:defRPr>
            </a:pPr>
            <a:r>
              <a:rPr sz="1650" b="0">
                <a:solidFill>
                  <a:srgbClr val="596875"/>
                </a:solidFill>
                <a:latin typeface="Yu Gothic"/>
                <a:ea typeface="Yu Gothic"/>
                <a:cs typeface="Yu Gothic"/>
              </a:rPr>
              <a:t>仮定値（樹種一般の標準値ではない）。式・分母・単位も記録。</a:t>
            </a:r>
          </a:p>
        </p:txBody>
      </p:sp>
    </p:spTree>
    <p:extLst>
      <p:ext uri="{BB962C8B-B14F-4D97-AF65-F5344CB8AC3E}">
        <p14:creationId xmlns:p14="http://schemas.microsoft.com/office/powerpoint/2010/main" val="135631183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14EF6B-E9FB-4DEB-A506-4DA5CF8272A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演習1の解説</a:t>
            </a:r>
          </a:p>
        </p:txBody>
      </p:sp>
      <p:sp>
        <p:nvSpPr>
          <p:cNvPr id="2" name="">
            <a:extLst xmlns:a="http://schemas.openxmlformats.org/drawingml/2006/main">
              <a:ext uri="{FF2B5EF4-FFF2-40B4-BE49-F238E27FC236}">
                <a16:creationId xmlns:a16="http://schemas.microsoft.com/office/drawing/2014/main" id="{C1C14C3D-2BD7-40E1-89AD-554D560DC5B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01E111-E07B-41C3-86D1-8A526397B46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EE4BD6CA-A83A-4D63-8B14-8DBF4F95C37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graphicFrame>
        <p:nvGraphicFramePr>
          <p:cNvPr id="5" name="">
            <a:extLst xmlns:a="http://schemas.openxmlformats.org/drawingml/2006/main">
              <a:ext uri="{FF2B5EF4-FFF2-40B4-BE49-F238E27FC236}">
                <a16:creationId xmlns:a16="http://schemas.microsoft.com/office/drawing/2014/main" id="{2D295AB0-541E-4B23-BA7F-3D5A731A9C0C}"/>
              </a:ext>
            </a:extLst>
          </p:cNvPr>
          <p:cNvGraphicFramePr/>
          <p:nvPr/>
        </p:nvGraphicFramePr>
        <p:xfrm>
          <a:off xmlns:a="http://schemas.openxmlformats.org/drawingml/2006/main" x="838200" y="1657350"/>
          <a:ext xmlns:a="http://schemas.openxmlformats.org/drawingml/2006/main" cx="10477500" cy="3267075"/>
        </p:xfrm>
        <a:graphic xmlns:a="http://schemas.openxmlformats.org/drawingml/2006/main">
          <a:graphicData uri="http://schemas.openxmlformats.org/drawingml/2006/table">
            <a:tbl>
              <a:tblPr/>
              <a:tblGrid>
                <a:gridCol w="2476500"/>
                <a:gridCol w="2857500"/>
                <a:gridCol w="2286000"/>
                <a:gridCol w="2857500"/>
              </a:tblGrid>
              <a:tr h="653415">
                <a:tc>
                  <a:txBody>
                    <a:bodyPr lIns="95250" tIns="95250" rIns="95250" bIns="95250"/>
                    <a:lstStyle/>
                    <a:p>
                      <a:r>
                        <a:rPr sz="1875" b="1">
                          <a:solidFill>
                            <a:srgbClr val="FFFFFF"/>
                          </a:solidFill>
                          <a:latin typeface="Yu Gothic"/>
                          <a:ea typeface="Yu Gothic"/>
                          <a:cs typeface="Yu Gothic"/>
                        </a:rPr>
                        <a:t>成分</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全乾100 gでの質量</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質量百分率</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全乾240 gでは</a:t>
                      </a:r>
                    </a:p>
                  </a:txBody>
                  <a:tcPr marL="91440" marR="91440" marT="45720" marB="45720">
                    <a:solidFill>
                      <a:srgbClr val="18364F"/>
                    </a:solidFill>
                  </a:tcPr>
                </a:tc>
              </a:tr>
              <a:tr h="653415">
                <a:tc>
                  <a:txBody>
                    <a:bodyPr lIns="95250" tIns="95250" rIns="95250" bIns="95250"/>
                    <a:lstStyle/>
                    <a:p>
                      <a:r>
                        <a:rPr sz="1875" b="0">
                          <a:solidFill>
                            <a:srgbClr val="253C4D"/>
                          </a:solidFill>
                          <a:latin typeface="Yu Gothic"/>
                          <a:ea typeface="Yu Gothic"/>
                          <a:cs typeface="Yu Gothic"/>
                        </a:rPr>
                        <a:t>セルロース</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45 g</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45%</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108 g</a:t>
                      </a:r>
                    </a:p>
                  </a:txBody>
                  <a:tcPr marL="91440" marR="91440" marT="45720" marB="45720">
                    <a:solidFill>
                      <a:srgbClr val="F1F5F7"/>
                    </a:solidFill>
                  </a:tcPr>
                </a:tc>
              </a:tr>
              <a:tr h="653415">
                <a:tc>
                  <a:txBody>
                    <a:bodyPr lIns="95250" tIns="95250" rIns="95250" bIns="95250"/>
                    <a:lstStyle/>
                    <a:p>
                      <a:r>
                        <a:rPr sz="1875" b="0">
                          <a:solidFill>
                            <a:srgbClr val="253C4D"/>
                          </a:solidFill>
                          <a:latin typeface="Yu Gothic"/>
                          <a:ea typeface="Yu Gothic"/>
                          <a:cs typeface="Yu Gothic"/>
                        </a:rPr>
                        <a:t>ヘミセルロース</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25 g</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25%</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60 g</a:t>
                      </a:r>
                    </a:p>
                  </a:txBody>
                  <a:tcPr marL="91440" marR="91440" marT="45720" marB="45720">
                    <a:solidFill>
                      <a:srgbClr val="FFFFFF"/>
                    </a:solidFill>
                  </a:tcPr>
                </a:tc>
              </a:tr>
              <a:tr h="653415">
                <a:tc>
                  <a:txBody>
                    <a:bodyPr lIns="95250" tIns="95250" rIns="95250" bIns="95250"/>
                    <a:lstStyle/>
                    <a:p>
                      <a:r>
                        <a:rPr sz="1875" b="0">
                          <a:solidFill>
                            <a:srgbClr val="253C4D"/>
                          </a:solidFill>
                          <a:latin typeface="Yu Gothic"/>
                          <a:ea typeface="Yu Gothic"/>
                          <a:cs typeface="Yu Gothic"/>
                        </a:rPr>
                        <a:t>リグニン</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25 g</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25%</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60 g</a:t>
                      </a:r>
                    </a:p>
                  </a:txBody>
                  <a:tcPr marL="91440" marR="91440" marT="45720" marB="45720">
                    <a:solidFill>
                      <a:srgbClr val="F1F5F7"/>
                    </a:solidFill>
                  </a:tcPr>
                </a:tc>
              </a:tr>
              <a:tr h="653415">
                <a:tc>
                  <a:txBody>
                    <a:bodyPr lIns="95250" tIns="95250" rIns="95250" bIns="95250"/>
                    <a:lstStyle/>
                    <a:p>
                      <a:r>
                        <a:rPr sz="1875" b="0">
                          <a:solidFill>
                            <a:srgbClr val="253C4D"/>
                          </a:solidFill>
                          <a:latin typeface="Yu Gothic"/>
                          <a:ea typeface="Yu Gothic"/>
                          <a:cs typeface="Yu Gothic"/>
                        </a:rPr>
                        <a:t>その他</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5 g</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5%</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12 g</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6CD99B4-CC2E-40E4-87B6-FB230D2F681F}"/>
              </a:ext>
            </a:extLst>
          </p:cNvPr>
          <p:cNvSpPr>
            <a:spLocks xmlns:a="http://schemas.openxmlformats.org/drawingml/2006/main" noGrp="1"/>
          </p:cNvSpPr>
          <p:nvPr/>
        </p:nvSpPr>
        <p:spPr>
          <a:xfrm xmlns:a="http://schemas.openxmlformats.org/drawingml/2006/main">
            <a:off x="838200" y="5172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主要三成分：95 g / 100 g × 100 = 95%</a:t>
            </a:r>
          </a:p>
        </p:txBody>
      </p:sp>
      <p:sp>
        <p:nvSpPr>
          <p:cNvPr id="7" name="">
            <a:extLst xmlns:a="http://schemas.openxmlformats.org/drawingml/2006/main">
              <a:ext uri="{FF2B5EF4-FFF2-40B4-BE49-F238E27FC236}">
                <a16:creationId xmlns:a16="http://schemas.microsoft.com/office/drawing/2014/main" id="{F5AF2A54-FFE5-4458-9F8F-AEC9F5D5C5D8}"/>
              </a:ext>
            </a:extLst>
          </p:cNvPr>
          <p:cNvSpPr>
            <a:spLocks xmlns:a="http://schemas.openxmlformats.org/drawingml/2006/main" noGrp="1"/>
          </p:cNvSpPr>
          <p:nvPr/>
        </p:nvSpPr>
        <p:spPr>
          <a:xfrm xmlns:a="http://schemas.openxmlformats.org/drawingml/2006/main">
            <a:off x="838200" y="5791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xmlns:a="http://schemas.openxmlformats.org/drawingml/2006/main">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その他：抽出成分・無機成分等。仮定された組成に対する計算。</a:t>
            </a:r>
          </a:p>
        </p:txBody>
      </p:sp>
    </p:spTree>
    <p:extLst>
      <p:ext uri="{BB962C8B-B14F-4D97-AF65-F5344CB8AC3E}">
        <p14:creationId xmlns:p14="http://schemas.microsoft.com/office/powerpoint/2010/main" val="14206328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6960F26-72B2-46BB-9DC2-E0CC723A4C2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第8回への導入：木材の含水率 MC</a:t>
            </a:r>
          </a:p>
        </p:txBody>
      </p:sp>
      <p:sp>
        <p:nvSpPr>
          <p:cNvPr id="2" name="">
            <a:extLst xmlns:a="http://schemas.openxmlformats.org/drawingml/2006/main">
              <a:ext uri="{FF2B5EF4-FFF2-40B4-BE49-F238E27FC236}">
                <a16:creationId xmlns:a16="http://schemas.microsoft.com/office/drawing/2014/main" id="{2C082D32-3DE0-4F6C-A2F2-B68D0477F6A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0BAED5-AAEC-4BBF-8618-9BEBD94619E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F98886C5-E49B-4719-83CA-218B395DA25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038091FB-4CED-4219-9DA5-A0A07444276C}"/>
              </a:ext>
            </a:extLst>
          </p:cNvPr>
          <p:cNvSpPr>
            <a:spLocks xmlns:a="http://schemas.openxmlformats.org/drawingml/2006/main" noGrp="1"/>
          </p:cNvSpPr>
          <p:nvPr/>
        </p:nvSpPr>
        <p:spPr>
          <a:xfrm xmlns:a="http://schemas.openxmlformats.org/drawingml/2006/main">
            <a:off x="838200" y="16097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xmlns:a="http://schemas.openxmlformats.org/drawingml/2006/main">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M：水を含む試料の質量　M₀：全乾木材の質量</a:t>
            </a:r>
          </a:p>
        </p:txBody>
      </p:sp>
      <p:sp>
        <p:nvSpPr>
          <p:cNvPr id="6" name="">
            <a:extLst xmlns:a="http://schemas.openxmlformats.org/drawingml/2006/main">
              <a:ext uri="{FF2B5EF4-FFF2-40B4-BE49-F238E27FC236}">
                <a16:creationId xmlns:a16="http://schemas.microsoft.com/office/drawing/2014/main" id="{F1B77FE3-EF75-4633-ADA9-534C341CFF66}"/>
              </a:ext>
            </a:extLst>
          </p:cNvPr>
          <p:cNvSpPr>
            <a:spLocks xmlns:a="http://schemas.openxmlformats.org/drawingml/2006/main" noGrp="1"/>
          </p:cNvSpPr>
          <p:nvPr/>
        </p:nvSpPr>
        <p:spPr>
          <a:xfrm xmlns:a="http://schemas.openxmlformats.org/drawingml/2006/main">
            <a:off x="838200"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xmlns:a="http://schemas.openxmlformats.org/drawingml/2006/main">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M = M₀ + 水の質量　したがって M − M₀ = 水の質量</a:t>
            </a:r>
          </a:p>
        </p:txBody>
      </p:sp>
      <p:sp>
        <p:nvSpPr>
          <p:cNvPr id="7" name="">
            <a:extLst xmlns:a="http://schemas.openxmlformats.org/drawingml/2006/main">
              <a:ext uri="{FF2B5EF4-FFF2-40B4-BE49-F238E27FC236}">
                <a16:creationId xmlns:a16="http://schemas.microsoft.com/office/drawing/2014/main" id="{AACDA594-6622-4AB3-912A-EEC47689939E}"/>
              </a:ext>
            </a:extLst>
          </p:cNvPr>
          <p:cNvSpPr>
            <a:spLocks xmlns:a="http://schemas.openxmlformats.org/drawingml/2006/main" noGrp="1"/>
          </p:cNvSpPr>
          <p:nvPr/>
        </p:nvSpPr>
        <p:spPr>
          <a:xfrm xmlns:a="http://schemas.openxmlformats.org/drawingml/2006/main">
            <a:off x="838200" y="33528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xmlns:a="http://schemas.openxmlformats.org/drawingml/2006/main">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MC</a:t>
            </a:r>
          </a:p>
        </p:txBody>
      </p:sp>
      <p:sp>
        <p:nvSpPr>
          <p:cNvPr id="8" name="">
            <a:extLst xmlns:a="http://schemas.openxmlformats.org/drawingml/2006/main">
              <a:ext uri="{FF2B5EF4-FFF2-40B4-BE49-F238E27FC236}">
                <a16:creationId xmlns:a16="http://schemas.microsoft.com/office/drawing/2014/main" id="{95117875-AD59-4986-8009-53D9AE796A3D}"/>
              </a:ext>
            </a:extLst>
          </p:cNvPr>
          <p:cNvSpPr>
            <a:spLocks xmlns:a="http://schemas.openxmlformats.org/drawingml/2006/main" noGrp="1"/>
          </p:cNvSpPr>
          <p:nvPr/>
        </p:nvSpPr>
        <p:spPr>
          <a:xfrm xmlns:a="http://schemas.openxmlformats.org/drawingml/2006/main">
            <a:off x="1428750" y="3505200"/>
            <a:ext cx="28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w</a:t>
            </a:r>
          </a:p>
        </p:txBody>
      </p:sp>
      <p:sp>
        <p:nvSpPr>
          <p:cNvPr id="9" name="">
            <a:extLst xmlns:a="http://schemas.openxmlformats.org/drawingml/2006/main">
              <a:ext uri="{FF2B5EF4-FFF2-40B4-BE49-F238E27FC236}">
                <a16:creationId xmlns:a16="http://schemas.microsoft.com/office/drawing/2014/main" id="{6841E724-612D-437B-9388-2A0AABE72CBE}"/>
              </a:ext>
            </a:extLst>
          </p:cNvPr>
          <p:cNvSpPr>
            <a:spLocks xmlns:a="http://schemas.openxmlformats.org/drawingml/2006/main" noGrp="1"/>
          </p:cNvSpPr>
          <p:nvPr/>
        </p:nvSpPr>
        <p:spPr>
          <a:xfrm xmlns:a="http://schemas.openxmlformats.org/drawingml/2006/main">
            <a:off x="1685925" y="335280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xmlns:a="http://schemas.openxmlformats.org/drawingml/2006/main">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D47C217E-92F4-45A1-9B96-89971869787A}"/>
              </a:ext>
            </a:extLst>
          </p:cNvPr>
          <p:cNvSpPr>
            <a:spLocks xmlns:a="http://schemas.openxmlformats.org/drawingml/2006/main" noGrp="1"/>
          </p:cNvSpPr>
          <p:nvPr/>
        </p:nvSpPr>
        <p:spPr>
          <a:xfrm xmlns:a="http://schemas.openxmlformats.org/drawingml/2006/main">
            <a:off x="3190875" y="3000375"/>
            <a:ext cx="652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水の質量（M − M₀）</a:t>
            </a:r>
          </a:p>
        </p:txBody>
      </p:sp>
      <p:sp>
        <p:nvSpPr>
          <p:cNvPr id="11" name="">
            <a:extLst xmlns:a="http://schemas.openxmlformats.org/drawingml/2006/main">
              <a:ext uri="{FF2B5EF4-FFF2-40B4-BE49-F238E27FC236}">
                <a16:creationId xmlns:a16="http://schemas.microsoft.com/office/drawing/2014/main" id="{ED385F3F-4650-42C9-ACCE-CACB9DF5CE10}"/>
              </a:ext>
            </a:extLst>
          </p:cNvPr>
          <p:cNvSpPr>
            <a:spLocks xmlns:a="http://schemas.openxmlformats.org/drawingml/2006/main" noGrp="1"/>
          </p:cNvSpPr>
          <p:nvPr/>
        </p:nvSpPr>
        <p:spPr>
          <a:xfrm xmlns:a="http://schemas.openxmlformats.org/drawingml/2006/main">
            <a:off x="3190875" y="3581400"/>
            <a:ext cx="652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全乾木材の質量 M₀</a:t>
            </a:r>
          </a:p>
        </p:txBody>
      </p:sp>
      <p:sp>
        <p:nvSpPr>
          <p:cNvPr id="12" name="">
            <a:extLst xmlns:a="http://schemas.openxmlformats.org/drawingml/2006/main">
              <a:ext uri="{FF2B5EF4-FFF2-40B4-BE49-F238E27FC236}">
                <a16:creationId xmlns:a16="http://schemas.microsoft.com/office/drawing/2014/main" id="{049A9ADF-8F6D-495A-9550-410DC865FCC4}"/>
              </a:ext>
            </a:extLst>
          </p:cNvPr>
          <p:cNvSpPr>
            <a:spLocks xmlns:a="http://schemas.openxmlformats.org/drawingml/2006/main" noGrp="1"/>
          </p:cNvSpPr>
          <p:nvPr/>
        </p:nvSpPr>
        <p:spPr>
          <a:xfrm xmlns:a="http://schemas.openxmlformats.org/drawingml/2006/main">
            <a:off x="3190875" y="3505200"/>
            <a:ext cx="6524625" cy="9525"/>
          </a:xfrm>
          <a:custGeom xmlns:a="http://schemas.openxmlformats.org/drawingml/2006/main">
            <a:pathLst>
              <a:path w="6524625" h="9525">
                <a:moveTo>
                  <a:pt x="0" y="0"/>
                </a:moveTo>
                <a:lnTo>
                  <a:pt x="6524625" y="0"/>
                </a:lnTo>
              </a:path>
            </a:pathLst>
          </a:custGeom>
          <a:noFill xmlns:a="http://schemas.openxmlformats.org/drawingml/2006/main"/>
          <a:ln xmlns:a="http://schemas.openxmlformats.org/drawingml/2006/main" w="19050">
            <a:solidFill>
              <a:srgbClr val="18364F"/>
            </a:solidFill>
          </a:ln>
        </p:spPr>
      </p:sp>
      <p:sp>
        <p:nvSpPr>
          <p:cNvPr id="13" name="">
            <a:extLst xmlns:a="http://schemas.openxmlformats.org/drawingml/2006/main">
              <a:ext uri="{FF2B5EF4-FFF2-40B4-BE49-F238E27FC236}">
                <a16:creationId xmlns:a16="http://schemas.microsoft.com/office/drawing/2014/main" id="{B8C192A2-8085-49F2-9F59-7F18FC6ED1C4}"/>
              </a:ext>
            </a:extLst>
          </p:cNvPr>
          <p:cNvSpPr>
            <a:spLocks xmlns:a="http://schemas.openxmlformats.org/drawingml/2006/main" noGrp="1"/>
          </p:cNvSpPr>
          <p:nvPr/>
        </p:nvSpPr>
        <p:spPr>
          <a:xfrm xmlns:a="http://schemas.openxmlformats.org/drawingml/2006/main">
            <a:off x="10001250" y="3343275"/>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 100</a:t>
            </a:r>
          </a:p>
        </p:txBody>
      </p:sp>
      <p:sp>
        <p:nvSpPr>
          <p:cNvPr id="14" name="">
            <a:extLst xmlns:a="http://schemas.openxmlformats.org/drawingml/2006/main">
              <a:ext uri="{FF2B5EF4-FFF2-40B4-BE49-F238E27FC236}">
                <a16:creationId xmlns:a16="http://schemas.microsoft.com/office/drawing/2014/main" id="{D137132E-1AF4-4D56-8457-4AFF85B179EA}"/>
              </a:ext>
            </a:extLst>
          </p:cNvPr>
          <p:cNvSpPr>
            <a:spLocks xmlns:a="http://schemas.openxmlformats.org/drawingml/2006/main" noGrp="1"/>
          </p:cNvSpPr>
          <p:nvPr/>
        </p:nvSpPr>
        <p:spPr>
          <a:xfrm xmlns:a="http://schemas.openxmlformats.org/drawingml/2006/main">
            <a:off x="838200" y="4629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全乾100 g + 水20 g： (120 − 100) / 100 × 100 = 20%</a:t>
            </a:r>
          </a:p>
        </p:txBody>
      </p:sp>
      <p:sp>
        <p:nvSpPr>
          <p:cNvPr id="15" name="">
            <a:extLst xmlns:a="http://schemas.openxmlformats.org/drawingml/2006/main">
              <a:ext uri="{FF2B5EF4-FFF2-40B4-BE49-F238E27FC236}">
                <a16:creationId xmlns:a16="http://schemas.microsoft.com/office/drawing/2014/main" id="{A736A91B-DAD3-4FE9-9DB3-D62390DC17C2}"/>
              </a:ext>
            </a:extLst>
          </p:cNvPr>
          <p:cNvSpPr>
            <a:spLocks xmlns:a="http://schemas.openxmlformats.org/drawingml/2006/main" noGrp="1"/>
          </p:cNvSpPr>
          <p:nvPr/>
        </p:nvSpPr>
        <p:spPr>
          <a:xfrm xmlns:a="http://schemas.openxmlformats.org/drawingml/2006/main">
            <a:off x="838200" y="55626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596875"/>
                </a:solidFill>
                <a:latin typeface="Yu Gothic"/>
                <a:ea typeface="Yu Gothic"/>
                <a:cs typeface="Yu Gothic"/>
              </a:defRPr>
            </a:defPPr>
            <a:lvl1pPr>
              <a:buNone/>
              <a:defRPr sz="1950" b="0">
                <a:solidFill>
                  <a:srgbClr val="596875"/>
                </a:solidFill>
                <a:latin typeface="Yu Gothic"/>
                <a:ea typeface="Yu Gothic"/>
                <a:cs typeface="Yu Gothic"/>
              </a:defRPr>
            </a:lvl1pPr>
            <a:lvl2pPr>
              <a:buNone/>
              <a:defRPr sz="1950" b="0">
                <a:solidFill>
                  <a:srgbClr val="596875"/>
                </a:solidFill>
                <a:latin typeface="Yu Gothic"/>
                <a:ea typeface="Yu Gothic"/>
                <a:cs typeface="Yu Gothic"/>
              </a:defRPr>
            </a:lvl2pPr>
            <a:lvl3pPr>
              <a:buNone/>
              <a:defRPr sz="1950" b="0">
                <a:solidFill>
                  <a:srgbClr val="596875"/>
                </a:solidFill>
                <a:latin typeface="Yu Gothic"/>
                <a:ea typeface="Yu Gothic"/>
                <a:cs typeface="Yu Gothic"/>
              </a:defRPr>
            </a:lvl3pPr>
            <a:lvl4pPr>
              <a:buNone/>
              <a:defRPr sz="1950" b="0">
                <a:solidFill>
                  <a:srgbClr val="596875"/>
                </a:solidFill>
                <a:latin typeface="Yu Gothic"/>
                <a:ea typeface="Yu Gothic"/>
                <a:cs typeface="Yu Gothic"/>
              </a:defRPr>
            </a:lvl4pPr>
            <a:lvl5pPr>
              <a:buNone/>
              <a:defRPr sz="1950" b="0">
                <a:solidFill>
                  <a:srgbClr val="596875"/>
                </a:solidFill>
                <a:latin typeface="Yu Gothic"/>
                <a:ea typeface="Yu Gothic"/>
                <a:cs typeface="Yu Gothic"/>
              </a:defRPr>
            </a:lvl5pPr>
            <a:lvl6pPr>
              <a:buNone/>
              <a:defRPr sz="1950" b="0">
                <a:solidFill>
                  <a:srgbClr val="596875"/>
                </a:solidFill>
                <a:latin typeface="Yu Gothic"/>
                <a:ea typeface="Yu Gothic"/>
                <a:cs typeface="Yu Gothic"/>
              </a:defRPr>
            </a:lvl6pPr>
            <a:lvl7pPr>
              <a:buNone/>
              <a:defRPr sz="1950" b="0">
                <a:solidFill>
                  <a:srgbClr val="596875"/>
                </a:solidFill>
                <a:latin typeface="Yu Gothic"/>
                <a:ea typeface="Yu Gothic"/>
                <a:cs typeface="Yu Gothic"/>
              </a:defRPr>
            </a:lvl7pPr>
            <a:lvl8pPr>
              <a:buNone/>
              <a:defRPr sz="1950" b="0">
                <a:solidFill>
                  <a:srgbClr val="596875"/>
                </a:solidFill>
                <a:latin typeface="Yu Gothic"/>
                <a:ea typeface="Yu Gothic"/>
                <a:cs typeface="Yu Gothic"/>
              </a:defRPr>
            </a:lvl8pPr>
            <a:lvl9pPr>
              <a:buNone/>
              <a:defRPr sz="1950" b="0">
                <a:solidFill>
                  <a:srgbClr val="596875"/>
                </a:solidFill>
                <a:latin typeface="Yu Gothic"/>
                <a:ea typeface="Yu Gothic"/>
                <a:cs typeface="Yu Gothic"/>
              </a:defRPr>
            </a:lvl9pPr>
          </a:lstStyle>
          <a:p xmlns:a="http://schemas.openxmlformats.org/drawingml/2006/main">
            <a:pPr>
              <a:buNone/>
              <a:defRPr sz="1950" b="0">
                <a:solidFill>
                  <a:srgbClr val="596875"/>
                </a:solidFill>
                <a:latin typeface="Yu Gothic"/>
                <a:ea typeface="Yu Gothic"/>
                <a:cs typeface="Yu Gothic"/>
              </a:defRPr>
            </a:pPr>
            <a:r>
              <a:rPr sz="1950" b="0">
                <a:solidFill>
                  <a:srgbClr val="596875"/>
                </a:solidFill>
                <a:latin typeface="Yu Gothic"/>
                <a:ea typeface="Yu Gothic"/>
                <a:cs typeface="Yu Gothic"/>
              </a:rPr>
              <a:t>Moisture content（含水率）の詳細と、食品・農産物との比較は第8回へ</a:t>
            </a:r>
          </a:p>
        </p:txBody>
      </p:sp>
    </p:spTree>
    <p:extLst>
      <p:ext uri="{BB962C8B-B14F-4D97-AF65-F5344CB8AC3E}">
        <p14:creationId xmlns:p14="http://schemas.microsoft.com/office/powerpoint/2010/main" val="6858955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8785459-0896-47D0-B281-786834C4294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水の場所：内腔と細胞壁</a:t>
            </a:r>
          </a:p>
        </p:txBody>
      </p:sp>
      <p:sp>
        <p:nvSpPr>
          <p:cNvPr id="2" name="">
            <a:extLst xmlns:a="http://schemas.openxmlformats.org/drawingml/2006/main">
              <a:ext uri="{FF2B5EF4-FFF2-40B4-BE49-F238E27FC236}">
                <a16:creationId xmlns:a16="http://schemas.microsoft.com/office/drawing/2014/main" id="{949B92ED-9053-43C2-9431-784748971DF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8AE5C6-3301-48CA-BFBD-85C59F470CD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2874287A-5D7F-4FC0-A097-4D6A8622555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5FB52E09-738C-4018-BA5C-2E2B87033C96}"/>
              </a:ext>
            </a:extLst>
          </p:cNvPr>
          <p:cNvSpPr>
            <a:spLocks xmlns:a="http://schemas.openxmlformats.org/drawingml/2006/main" noGrp="1"/>
          </p:cNvSpPr>
          <p:nvPr/>
        </p:nvSpPr>
        <p:spPr>
          <a:xfrm xmlns:a="http://schemas.openxmlformats.org/drawingml/2006/main">
            <a:off x="904875" y="1866900"/>
            <a:ext cx="4857750" cy="2476500"/>
          </a:xfrm>
          <a:prstGeom xmlns:a="http://schemas.openxmlformats.org/drawingml/2006/main" prst="rect">
            <a:avLst/>
          </a:prstGeom>
          <a:solidFill xmlns:a="http://schemas.openxmlformats.org/drawingml/2006/main">
            <a:srgbClr val="DAE8D9"/>
          </a:solidFill>
          <a:ln xmlns:a="http://schemas.openxmlformats.org/drawingml/2006/main" w="19050">
            <a:solidFill>
              <a:srgbClr val="087E8B"/>
            </a:solidFill>
          </a:ln>
        </p:spPr>
      </p:sp>
      <p:sp>
        <p:nvSpPr>
          <p:cNvPr id="6" name="">
            <a:extLst xmlns:a="http://schemas.openxmlformats.org/drawingml/2006/main">
              <a:ext uri="{FF2B5EF4-FFF2-40B4-BE49-F238E27FC236}">
                <a16:creationId xmlns:a16="http://schemas.microsoft.com/office/drawing/2014/main" id="{2B0EA68D-7316-4E16-BF7D-32A6E0F9D205}"/>
              </a:ext>
            </a:extLst>
          </p:cNvPr>
          <p:cNvSpPr>
            <a:spLocks xmlns:a="http://schemas.openxmlformats.org/drawingml/2006/main" noGrp="1"/>
          </p:cNvSpPr>
          <p:nvPr/>
        </p:nvSpPr>
        <p:spPr>
          <a:xfrm xmlns:a="http://schemas.openxmlformats.org/drawingml/2006/main">
            <a:off x="1428750" y="2390775"/>
            <a:ext cx="38100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7" name="">
            <a:extLst xmlns:a="http://schemas.openxmlformats.org/drawingml/2006/main">
              <a:ext uri="{FF2B5EF4-FFF2-40B4-BE49-F238E27FC236}">
                <a16:creationId xmlns:a16="http://schemas.microsoft.com/office/drawing/2014/main" id="{AC941104-7D56-4703-8E94-426011ABEA21}"/>
              </a:ext>
            </a:extLst>
          </p:cNvPr>
          <p:cNvSpPr>
            <a:spLocks xmlns:a="http://schemas.openxmlformats.org/drawingml/2006/main" noGrp="1"/>
          </p:cNvSpPr>
          <p:nvPr/>
        </p:nvSpPr>
        <p:spPr>
          <a:xfrm xmlns:a="http://schemas.openxmlformats.org/drawingml/2006/main">
            <a:off x="981075" y="1943100"/>
            <a:ext cx="123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buNone/>
              <a:defRPr sz="1800" b="1">
                <a:solidFill>
                  <a:srgbClr val="18364F"/>
                </a:solidFill>
                <a:latin typeface="Yu Gothic"/>
                <a:ea typeface="Yu Gothic"/>
                <a:cs typeface="Yu Gothic"/>
              </a:defRPr>
            </a:lvl1pPr>
            <a:lvl2pPr>
              <a:buNone/>
              <a:defRPr sz="1800" b="1">
                <a:solidFill>
                  <a:srgbClr val="18364F"/>
                </a:solidFill>
                <a:latin typeface="Yu Gothic"/>
                <a:ea typeface="Yu Gothic"/>
                <a:cs typeface="Yu Gothic"/>
              </a:defRPr>
            </a:lvl2pPr>
            <a:lvl3pPr>
              <a:buNone/>
              <a:defRPr sz="1800" b="1">
                <a:solidFill>
                  <a:srgbClr val="18364F"/>
                </a:solidFill>
                <a:latin typeface="Yu Gothic"/>
                <a:ea typeface="Yu Gothic"/>
                <a:cs typeface="Yu Gothic"/>
              </a:defRPr>
            </a:lvl3pPr>
            <a:lvl4pPr>
              <a:buNone/>
              <a:defRPr sz="1800" b="1">
                <a:solidFill>
                  <a:srgbClr val="18364F"/>
                </a:solidFill>
                <a:latin typeface="Yu Gothic"/>
                <a:ea typeface="Yu Gothic"/>
                <a:cs typeface="Yu Gothic"/>
              </a:defRPr>
            </a:lvl4pPr>
            <a:lvl5pPr>
              <a:buNone/>
              <a:defRPr sz="1800" b="1">
                <a:solidFill>
                  <a:srgbClr val="18364F"/>
                </a:solidFill>
                <a:latin typeface="Yu Gothic"/>
                <a:ea typeface="Yu Gothic"/>
                <a:cs typeface="Yu Gothic"/>
              </a:defRPr>
            </a:lvl5pPr>
            <a:lvl6pPr>
              <a:buNone/>
              <a:defRPr sz="1800" b="1">
                <a:solidFill>
                  <a:srgbClr val="18364F"/>
                </a:solidFill>
                <a:latin typeface="Yu Gothic"/>
                <a:ea typeface="Yu Gothic"/>
                <a:cs typeface="Yu Gothic"/>
              </a:defRPr>
            </a:lvl6pPr>
            <a:lvl7pPr>
              <a:buNone/>
              <a:defRPr sz="1800" b="1">
                <a:solidFill>
                  <a:srgbClr val="18364F"/>
                </a:solidFill>
                <a:latin typeface="Yu Gothic"/>
                <a:ea typeface="Yu Gothic"/>
                <a:cs typeface="Yu Gothic"/>
              </a:defRPr>
            </a:lvl7pPr>
            <a:lvl8pPr>
              <a:buNone/>
              <a:defRPr sz="1800" b="1">
                <a:solidFill>
                  <a:srgbClr val="18364F"/>
                </a:solidFill>
                <a:latin typeface="Yu Gothic"/>
                <a:ea typeface="Yu Gothic"/>
                <a:cs typeface="Yu Gothic"/>
              </a:defRPr>
            </a:lvl8pPr>
            <a:lvl9pPr>
              <a:buNone/>
              <a:defRPr sz="1800" b="1">
                <a:solidFill>
                  <a:srgbClr val="18364F"/>
                </a:solidFill>
                <a:latin typeface="Yu Gothic"/>
                <a:ea typeface="Yu Gothic"/>
                <a:cs typeface="Yu Gothic"/>
              </a:defRPr>
            </a:lvl9pPr>
          </a:lstStyle>
          <a:p xmlns:a="http://schemas.openxmlformats.org/drawingml/2006/main">
            <a:pPr>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細胞壁</a:t>
            </a:r>
          </a:p>
        </p:txBody>
      </p:sp>
      <p:sp>
        <p:nvSpPr>
          <p:cNvPr id="8" name="">
            <a:extLst xmlns:a="http://schemas.openxmlformats.org/drawingml/2006/main">
              <a:ext uri="{FF2B5EF4-FFF2-40B4-BE49-F238E27FC236}">
                <a16:creationId xmlns:a16="http://schemas.microsoft.com/office/drawing/2014/main" id="{86C38C43-EAA8-4A55-BD3B-4192E34E2412}"/>
              </a:ext>
            </a:extLst>
          </p:cNvPr>
          <p:cNvSpPr>
            <a:spLocks xmlns:a="http://schemas.openxmlformats.org/drawingml/2006/main" noGrp="1"/>
          </p:cNvSpPr>
          <p:nvPr/>
        </p:nvSpPr>
        <p:spPr>
          <a:xfrm xmlns:a="http://schemas.openxmlformats.org/drawingml/2006/main">
            <a:off x="2905125" y="291465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内腔</a:t>
            </a:r>
          </a:p>
        </p:txBody>
      </p:sp>
      <p:sp>
        <p:nvSpPr>
          <p:cNvPr id="9" name="">
            <a:extLst xmlns:a="http://schemas.openxmlformats.org/drawingml/2006/main">
              <a:ext uri="{FF2B5EF4-FFF2-40B4-BE49-F238E27FC236}">
                <a16:creationId xmlns:a16="http://schemas.microsoft.com/office/drawing/2014/main" id="{067D67F2-908E-4785-B3BE-441F3A840749}"/>
              </a:ext>
            </a:extLst>
          </p:cNvPr>
          <p:cNvSpPr>
            <a:spLocks xmlns:a="http://schemas.openxmlformats.org/drawingml/2006/main" noGrp="1"/>
          </p:cNvSpPr>
          <p:nvPr/>
        </p:nvSpPr>
        <p:spPr>
          <a:xfrm xmlns:a="http://schemas.openxmlformats.org/drawingml/2006/main">
            <a:off x="1047750" y="27241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0" name="">
            <a:extLst xmlns:a="http://schemas.openxmlformats.org/drawingml/2006/main">
              <a:ext uri="{FF2B5EF4-FFF2-40B4-BE49-F238E27FC236}">
                <a16:creationId xmlns:a16="http://schemas.microsoft.com/office/drawing/2014/main" id="{9837876A-1A41-4CC8-BB6F-16AC4706AA2B}"/>
              </a:ext>
            </a:extLst>
          </p:cNvPr>
          <p:cNvSpPr>
            <a:spLocks xmlns:a="http://schemas.openxmlformats.org/drawingml/2006/main" noGrp="1"/>
          </p:cNvSpPr>
          <p:nvPr/>
        </p:nvSpPr>
        <p:spPr>
          <a:xfrm xmlns:a="http://schemas.openxmlformats.org/drawingml/2006/main">
            <a:off x="5353050" y="31813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1" name="">
            <a:extLst xmlns:a="http://schemas.openxmlformats.org/drawingml/2006/main">
              <a:ext uri="{FF2B5EF4-FFF2-40B4-BE49-F238E27FC236}">
                <a16:creationId xmlns:a16="http://schemas.microsoft.com/office/drawing/2014/main" id="{58F9A6A1-3342-4A6B-9F45-114FE261A9E9}"/>
              </a:ext>
            </a:extLst>
          </p:cNvPr>
          <p:cNvSpPr>
            <a:spLocks xmlns:a="http://schemas.openxmlformats.org/drawingml/2006/main" noGrp="1"/>
          </p:cNvSpPr>
          <p:nvPr/>
        </p:nvSpPr>
        <p:spPr>
          <a:xfrm xmlns:a="http://schemas.openxmlformats.org/drawingml/2006/main">
            <a:off x="2571750" y="39147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2" name="">
            <a:extLst xmlns:a="http://schemas.openxmlformats.org/drawingml/2006/main">
              <a:ext uri="{FF2B5EF4-FFF2-40B4-BE49-F238E27FC236}">
                <a16:creationId xmlns:a16="http://schemas.microsoft.com/office/drawing/2014/main" id="{8B9612D6-3ED7-49B6-A786-49AC59713CCC}"/>
              </a:ext>
            </a:extLst>
          </p:cNvPr>
          <p:cNvSpPr>
            <a:spLocks xmlns:a="http://schemas.openxmlformats.org/drawingml/2006/main" noGrp="1"/>
          </p:cNvSpPr>
          <p:nvPr/>
        </p:nvSpPr>
        <p:spPr>
          <a:xfrm xmlns:a="http://schemas.openxmlformats.org/drawingml/2006/main">
            <a:off x="4572000" y="20002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3" name="">
            <a:extLst xmlns:a="http://schemas.openxmlformats.org/drawingml/2006/main">
              <a:ext uri="{FF2B5EF4-FFF2-40B4-BE49-F238E27FC236}">
                <a16:creationId xmlns:a16="http://schemas.microsoft.com/office/drawing/2014/main" id="{68F55882-938E-4A03-961A-B172B8699F4C}"/>
              </a:ext>
            </a:extLst>
          </p:cNvPr>
          <p:cNvSpPr>
            <a:spLocks xmlns:a="http://schemas.openxmlformats.org/drawingml/2006/main" noGrp="1"/>
          </p:cNvSpPr>
          <p:nvPr/>
        </p:nvSpPr>
        <p:spPr>
          <a:xfrm xmlns:a="http://schemas.openxmlformats.org/drawingml/2006/main">
            <a:off x="2047875" y="2847975"/>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4" name="">
            <a:extLst xmlns:a="http://schemas.openxmlformats.org/drawingml/2006/main">
              <a:ext uri="{FF2B5EF4-FFF2-40B4-BE49-F238E27FC236}">
                <a16:creationId xmlns:a16="http://schemas.microsoft.com/office/drawing/2014/main" id="{5B2B04D2-E503-45B7-AE51-F07E59587A56}"/>
              </a:ext>
            </a:extLst>
          </p:cNvPr>
          <p:cNvSpPr>
            <a:spLocks xmlns:a="http://schemas.openxmlformats.org/drawingml/2006/main" noGrp="1"/>
          </p:cNvSpPr>
          <p:nvPr/>
        </p:nvSpPr>
        <p:spPr>
          <a:xfrm xmlns:a="http://schemas.openxmlformats.org/drawingml/2006/main">
            <a:off x="4143375" y="3000375"/>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5" name="">
            <a:extLst xmlns:a="http://schemas.openxmlformats.org/drawingml/2006/main">
              <a:ext uri="{FF2B5EF4-FFF2-40B4-BE49-F238E27FC236}">
                <a16:creationId xmlns:a16="http://schemas.microsoft.com/office/drawing/2014/main" id="{4FCFA86E-570B-4314-8CF6-860A67C7F55C}"/>
              </a:ext>
            </a:extLst>
          </p:cNvPr>
          <p:cNvSpPr>
            <a:spLocks xmlns:a="http://schemas.openxmlformats.org/drawingml/2006/main" noGrp="1"/>
          </p:cNvSpPr>
          <p:nvPr/>
        </p:nvSpPr>
        <p:spPr>
          <a:xfrm xmlns:a="http://schemas.openxmlformats.org/drawingml/2006/main">
            <a:off x="6286500" y="167640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内腔等の空間にある水</a:t>
            </a:r>
          </a:p>
        </p:txBody>
      </p:sp>
      <p:sp>
        <p:nvSpPr>
          <p:cNvPr id="16" name="">
            <a:extLst xmlns:a="http://schemas.openxmlformats.org/drawingml/2006/main">
              <a:ext uri="{FF2B5EF4-FFF2-40B4-BE49-F238E27FC236}">
                <a16:creationId xmlns:a16="http://schemas.microsoft.com/office/drawing/2014/main" id="{2F26CDF9-C6EA-4E05-90DD-1DC856E9E64E}"/>
              </a:ext>
            </a:extLst>
          </p:cNvPr>
          <p:cNvSpPr>
            <a:spLocks xmlns:a="http://schemas.openxmlformats.org/drawingml/2006/main" noGrp="1"/>
          </p:cNvSpPr>
          <p:nvPr/>
        </p:nvSpPr>
        <p:spPr>
          <a:xfrm xmlns:a="http://schemas.openxmlformats.org/drawingml/2006/main">
            <a:off x="6286500" y="262890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壁の成分と相互作用する</a:t>
            </a:r>
          </a:p>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細胞壁内の水</a:t>
            </a:r>
          </a:p>
        </p:txBody>
      </p:sp>
      <p:sp>
        <p:nvSpPr>
          <p:cNvPr id="17" name="">
            <a:extLst xmlns:a="http://schemas.openxmlformats.org/drawingml/2006/main">
              <a:ext uri="{FF2B5EF4-FFF2-40B4-BE49-F238E27FC236}">
                <a16:creationId xmlns:a16="http://schemas.microsoft.com/office/drawing/2014/main" id="{78D9810D-D796-4D0B-B96B-F7488444DD3C}"/>
              </a:ext>
            </a:extLst>
          </p:cNvPr>
          <p:cNvSpPr>
            <a:spLocks xmlns:a="http://schemas.openxmlformats.org/drawingml/2006/main" noGrp="1"/>
          </p:cNvSpPr>
          <p:nvPr/>
        </p:nvSpPr>
        <p:spPr>
          <a:xfrm xmlns:a="http://schemas.openxmlformats.org/drawingml/2006/main">
            <a:off x="6286500" y="358140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水の場所によって</a:t>
            </a:r>
          </a:p>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寸法変化への関わりが違う</a:t>
            </a:r>
          </a:p>
        </p:txBody>
      </p:sp>
      <p:sp>
        <p:nvSpPr>
          <p:cNvPr id="18" name="">
            <a:extLst xmlns:a="http://schemas.openxmlformats.org/drawingml/2006/main">
              <a:ext uri="{FF2B5EF4-FFF2-40B4-BE49-F238E27FC236}">
                <a16:creationId xmlns:a16="http://schemas.microsoft.com/office/drawing/2014/main" id="{963878A7-BA8E-4519-B2D7-D3D7363A7761}"/>
              </a:ext>
            </a:extLst>
          </p:cNvPr>
          <p:cNvSpPr>
            <a:spLocks xmlns:a="http://schemas.openxmlformats.org/drawingml/2006/main" noGrp="1"/>
          </p:cNvSpPr>
          <p:nvPr/>
        </p:nvSpPr>
        <p:spPr>
          <a:xfrm xmlns:a="http://schemas.openxmlformats.org/drawingml/2006/main">
            <a:off x="6286500" y="453390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結合水・自由水の詳細は</a:t>
            </a:r>
          </a:p>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水分の回へ</a:t>
            </a:r>
          </a:p>
        </p:txBody>
      </p:sp>
      <p:sp>
        <p:nvSpPr>
          <p:cNvPr id="19" name="">
            <a:extLst xmlns:a="http://schemas.openxmlformats.org/drawingml/2006/main">
              <a:ext uri="{FF2B5EF4-FFF2-40B4-BE49-F238E27FC236}">
                <a16:creationId xmlns:a16="http://schemas.microsoft.com/office/drawing/2014/main" id="{6B57C649-A2C1-4C68-84EF-D60F3AA7B665}"/>
              </a:ext>
            </a:extLst>
          </p:cNvPr>
          <p:cNvSpPr>
            <a:spLocks xmlns:a="http://schemas.openxmlformats.org/drawingml/2006/main" noGrp="1"/>
          </p:cNvSpPr>
          <p:nvPr/>
        </p:nvSpPr>
        <p:spPr>
          <a:xfrm xmlns:a="http://schemas.openxmlformats.org/drawingml/2006/main">
            <a:off x="838200" y="56102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xmlns:a="http://schemas.openxmlformats.org/drawingml/2006/main">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色は場所を区別する模式図。水分子の寸法・量は再現していない。</a:t>
            </a:r>
          </a:p>
        </p:txBody>
      </p:sp>
    </p:spTree>
    <p:extLst>
      <p:ext uri="{BB962C8B-B14F-4D97-AF65-F5344CB8AC3E}">
        <p14:creationId xmlns:p14="http://schemas.microsoft.com/office/powerpoint/2010/main" val="184051331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742266-B4B1-46E4-846C-8C4A3F0960C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吸湿・膨潤と、木材の方向</a:t>
            </a:r>
          </a:p>
        </p:txBody>
      </p:sp>
      <p:sp>
        <p:nvSpPr>
          <p:cNvPr id="2" name="">
            <a:extLst xmlns:a="http://schemas.openxmlformats.org/drawingml/2006/main">
              <a:ext uri="{FF2B5EF4-FFF2-40B4-BE49-F238E27FC236}">
                <a16:creationId xmlns:a16="http://schemas.microsoft.com/office/drawing/2014/main" id="{107EF17F-AC4E-4D3F-A4A0-B8092C28B85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F20230-F53B-43F0-907A-BF15D9E13F7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673000D9-CAA2-40C6-8D34-206C00B9EF8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4BB52CFB-577D-4091-BCA9-BF1C549A06E9}"/>
              </a:ext>
            </a:extLst>
          </p:cNvPr>
          <p:cNvSpPr>
            <a:spLocks xmlns:a="http://schemas.openxmlformats.org/drawingml/2006/main" noGrp="1"/>
          </p:cNvSpPr>
          <p:nvPr/>
        </p:nvSpPr>
        <p:spPr>
          <a:xfrm xmlns:a="http://schemas.openxmlformats.org/drawingml/2006/main">
            <a:off x="904875" y="2095500"/>
            <a:ext cx="4286250" cy="2047875"/>
          </a:xfrm>
          <a:prstGeom xmlns:a="http://schemas.openxmlformats.org/drawingml/2006/main" prst="rect">
            <a:avLst/>
          </a:prstGeom>
          <a:solidFill xmlns:a="http://schemas.openxmlformats.org/drawingml/2006/main">
            <a:srgbClr val="DAE8D9"/>
          </a:solidFill>
          <a:ln xmlns:a="http://schemas.openxmlformats.org/drawingml/2006/main" w="19050">
            <a:solidFill>
              <a:srgbClr val="087E8B"/>
            </a:solidFill>
          </a:ln>
        </p:spPr>
      </p:sp>
      <p:sp>
        <p:nvSpPr>
          <p:cNvPr id="6" name="">
            <a:extLst xmlns:a="http://schemas.openxmlformats.org/drawingml/2006/main">
              <a:ext uri="{FF2B5EF4-FFF2-40B4-BE49-F238E27FC236}">
                <a16:creationId xmlns:a16="http://schemas.microsoft.com/office/drawing/2014/main" id="{14D71FAE-D93E-400E-A958-008908B6800E}"/>
              </a:ext>
            </a:extLst>
          </p:cNvPr>
          <p:cNvSpPr>
            <a:spLocks xmlns:a="http://schemas.openxmlformats.org/drawingml/2006/main" noGrp="1"/>
          </p:cNvSpPr>
          <p:nvPr/>
        </p:nvSpPr>
        <p:spPr>
          <a:xfrm xmlns:a="http://schemas.openxmlformats.org/drawingml/2006/main">
            <a:off x="1304925" y="2495550"/>
            <a:ext cx="3486150" cy="12477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7" name="">
            <a:extLst xmlns:a="http://schemas.openxmlformats.org/drawingml/2006/main">
              <a:ext uri="{FF2B5EF4-FFF2-40B4-BE49-F238E27FC236}">
                <a16:creationId xmlns:a16="http://schemas.microsoft.com/office/drawing/2014/main" id="{F1C599FA-86CB-4F5A-AD55-3BB71A89E5CC}"/>
              </a:ext>
            </a:extLst>
          </p:cNvPr>
          <p:cNvSpPr>
            <a:spLocks xmlns:a="http://schemas.openxmlformats.org/drawingml/2006/main" noGrp="1"/>
          </p:cNvSpPr>
          <p:nvPr/>
        </p:nvSpPr>
        <p:spPr>
          <a:xfrm xmlns:a="http://schemas.openxmlformats.org/drawingml/2006/main">
            <a:off x="981075" y="2171700"/>
            <a:ext cx="123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buNone/>
              <a:defRPr sz="1800" b="1">
                <a:solidFill>
                  <a:srgbClr val="18364F"/>
                </a:solidFill>
                <a:latin typeface="Yu Gothic"/>
                <a:ea typeface="Yu Gothic"/>
                <a:cs typeface="Yu Gothic"/>
              </a:defRPr>
            </a:lvl1pPr>
            <a:lvl2pPr>
              <a:buNone/>
              <a:defRPr sz="1800" b="1">
                <a:solidFill>
                  <a:srgbClr val="18364F"/>
                </a:solidFill>
                <a:latin typeface="Yu Gothic"/>
                <a:ea typeface="Yu Gothic"/>
                <a:cs typeface="Yu Gothic"/>
              </a:defRPr>
            </a:lvl2pPr>
            <a:lvl3pPr>
              <a:buNone/>
              <a:defRPr sz="1800" b="1">
                <a:solidFill>
                  <a:srgbClr val="18364F"/>
                </a:solidFill>
                <a:latin typeface="Yu Gothic"/>
                <a:ea typeface="Yu Gothic"/>
                <a:cs typeface="Yu Gothic"/>
              </a:defRPr>
            </a:lvl3pPr>
            <a:lvl4pPr>
              <a:buNone/>
              <a:defRPr sz="1800" b="1">
                <a:solidFill>
                  <a:srgbClr val="18364F"/>
                </a:solidFill>
                <a:latin typeface="Yu Gothic"/>
                <a:ea typeface="Yu Gothic"/>
                <a:cs typeface="Yu Gothic"/>
              </a:defRPr>
            </a:lvl4pPr>
            <a:lvl5pPr>
              <a:buNone/>
              <a:defRPr sz="1800" b="1">
                <a:solidFill>
                  <a:srgbClr val="18364F"/>
                </a:solidFill>
                <a:latin typeface="Yu Gothic"/>
                <a:ea typeface="Yu Gothic"/>
                <a:cs typeface="Yu Gothic"/>
              </a:defRPr>
            </a:lvl5pPr>
            <a:lvl6pPr>
              <a:buNone/>
              <a:defRPr sz="1800" b="1">
                <a:solidFill>
                  <a:srgbClr val="18364F"/>
                </a:solidFill>
                <a:latin typeface="Yu Gothic"/>
                <a:ea typeface="Yu Gothic"/>
                <a:cs typeface="Yu Gothic"/>
              </a:defRPr>
            </a:lvl6pPr>
            <a:lvl7pPr>
              <a:buNone/>
              <a:defRPr sz="1800" b="1">
                <a:solidFill>
                  <a:srgbClr val="18364F"/>
                </a:solidFill>
                <a:latin typeface="Yu Gothic"/>
                <a:ea typeface="Yu Gothic"/>
                <a:cs typeface="Yu Gothic"/>
              </a:defRPr>
            </a:lvl7pPr>
            <a:lvl8pPr>
              <a:buNone/>
              <a:defRPr sz="1800" b="1">
                <a:solidFill>
                  <a:srgbClr val="18364F"/>
                </a:solidFill>
                <a:latin typeface="Yu Gothic"/>
                <a:ea typeface="Yu Gothic"/>
                <a:cs typeface="Yu Gothic"/>
              </a:defRPr>
            </a:lvl8pPr>
            <a:lvl9pPr>
              <a:buNone/>
              <a:defRPr sz="1800" b="1">
                <a:solidFill>
                  <a:srgbClr val="18364F"/>
                </a:solidFill>
                <a:latin typeface="Yu Gothic"/>
                <a:ea typeface="Yu Gothic"/>
                <a:cs typeface="Yu Gothic"/>
              </a:defRPr>
            </a:lvl9pPr>
          </a:lstStyle>
          <a:p xmlns:a="http://schemas.openxmlformats.org/drawingml/2006/main">
            <a:pPr>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細胞壁</a:t>
            </a:r>
          </a:p>
        </p:txBody>
      </p:sp>
      <p:sp>
        <p:nvSpPr>
          <p:cNvPr id="8" name="">
            <a:extLst xmlns:a="http://schemas.openxmlformats.org/drawingml/2006/main">
              <a:ext uri="{FF2B5EF4-FFF2-40B4-BE49-F238E27FC236}">
                <a16:creationId xmlns:a16="http://schemas.microsoft.com/office/drawing/2014/main" id="{A0ABB447-3790-41AE-8FD0-9D13E43F5F62}"/>
              </a:ext>
            </a:extLst>
          </p:cNvPr>
          <p:cNvSpPr>
            <a:spLocks xmlns:a="http://schemas.openxmlformats.org/drawingml/2006/main" noGrp="1"/>
          </p:cNvSpPr>
          <p:nvPr/>
        </p:nvSpPr>
        <p:spPr>
          <a:xfrm xmlns:a="http://schemas.openxmlformats.org/drawingml/2006/main">
            <a:off x="2619375" y="2928938"/>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内腔</a:t>
            </a:r>
          </a:p>
        </p:txBody>
      </p:sp>
      <p:sp>
        <p:nvSpPr>
          <p:cNvPr id="9" name="">
            <a:extLst xmlns:a="http://schemas.openxmlformats.org/drawingml/2006/main">
              <a:ext uri="{FF2B5EF4-FFF2-40B4-BE49-F238E27FC236}">
                <a16:creationId xmlns:a16="http://schemas.microsoft.com/office/drawing/2014/main" id="{1596BED3-2980-45CE-A649-F5B15D3114FA}"/>
              </a:ext>
            </a:extLst>
          </p:cNvPr>
          <p:cNvSpPr>
            <a:spLocks xmlns:a="http://schemas.openxmlformats.org/drawingml/2006/main" noGrp="1"/>
          </p:cNvSpPr>
          <p:nvPr/>
        </p:nvSpPr>
        <p:spPr>
          <a:xfrm xmlns:a="http://schemas.openxmlformats.org/drawingml/2006/main">
            <a:off x="5524500" y="3048000"/>
            <a:ext cx="1000125" cy="9525"/>
          </a:xfrm>
          <a:custGeom xmlns:a="http://schemas.openxmlformats.org/drawingml/2006/main">
            <a:pathLst>
              <a:path w="1000125" h="9525">
                <a:moveTo>
                  <a:pt x="0" y="0"/>
                </a:moveTo>
                <a:lnTo>
                  <a:pt x="1000125" y="0"/>
                </a:lnTo>
              </a:path>
            </a:pathLst>
          </a:custGeom>
          <a:noFill xmlns:a="http://schemas.openxmlformats.org/drawingml/2006/main"/>
          <a:ln xmlns:a="http://schemas.openxmlformats.org/drawingml/2006/main" w="28575">
            <a:solidFill>
              <a:srgbClr val="087E8B"/>
            </a:solidFill>
          </a:ln>
        </p:spPr>
      </p:sp>
      <p:sp>
        <p:nvSpPr>
          <p:cNvPr id="10" name="">
            <a:extLst xmlns:a="http://schemas.openxmlformats.org/drawingml/2006/main">
              <a:ext uri="{FF2B5EF4-FFF2-40B4-BE49-F238E27FC236}">
                <a16:creationId xmlns:a16="http://schemas.microsoft.com/office/drawing/2014/main" id="{DFA70478-C018-4045-8BC6-9D937859D58F}"/>
              </a:ext>
            </a:extLst>
          </p:cNvPr>
          <p:cNvSpPr>
            <a:spLocks xmlns:a="http://schemas.openxmlformats.org/drawingml/2006/main" noGrp="1"/>
          </p:cNvSpPr>
          <p:nvPr/>
        </p:nvSpPr>
        <p:spPr>
          <a:xfrm xmlns:a="http://schemas.openxmlformats.org/drawingml/2006/main">
            <a:off x="6421704" y="2998283"/>
            <a:ext cx="102921" cy="99433"/>
          </a:xfrm>
          <a:custGeom xmlns:a="http://schemas.openxmlformats.org/drawingml/2006/main">
            <a:pathLst>
              <a:path w="102921" h="99433">
                <a:moveTo>
                  <a:pt x="0" y="99433"/>
                </a:moveTo>
                <a:lnTo>
                  <a:pt x="102921" y="49717"/>
                </a:lnTo>
                <a:lnTo>
                  <a:pt x="0" y="0"/>
                </a:lnTo>
              </a:path>
            </a:pathLst>
          </a:custGeom>
          <a:noFill xmlns:a="http://schemas.openxmlformats.org/drawingml/2006/main"/>
          <a:ln xmlns:a="http://schemas.openxmlformats.org/drawingml/2006/main" w="28575">
            <a:solidFill>
              <a:srgbClr val="087E8B"/>
            </a:solidFill>
          </a:ln>
        </p:spPr>
      </p:sp>
      <p:sp>
        <p:nvSpPr>
          <p:cNvPr id="11" name="">
            <a:extLst xmlns:a="http://schemas.openxmlformats.org/drawingml/2006/main">
              <a:ext uri="{FF2B5EF4-FFF2-40B4-BE49-F238E27FC236}">
                <a16:creationId xmlns:a16="http://schemas.microsoft.com/office/drawing/2014/main" id="{6D4F53FD-C52B-4BAF-884B-59799F8AD09D}"/>
              </a:ext>
            </a:extLst>
          </p:cNvPr>
          <p:cNvSpPr>
            <a:spLocks xmlns:a="http://schemas.openxmlformats.org/drawingml/2006/main" noGrp="1"/>
          </p:cNvSpPr>
          <p:nvPr/>
        </p:nvSpPr>
        <p:spPr>
          <a:xfrm xmlns:a="http://schemas.openxmlformats.org/drawingml/2006/main">
            <a:off x="7000875" y="1809750"/>
            <a:ext cx="4286250" cy="2428875"/>
          </a:xfrm>
          <a:prstGeom xmlns:a="http://schemas.openxmlformats.org/drawingml/2006/main" prst="rect">
            <a:avLst/>
          </a:prstGeom>
          <a:solidFill xmlns:a="http://schemas.openxmlformats.org/drawingml/2006/main">
            <a:srgbClr val="DAE8D9"/>
          </a:solidFill>
          <a:ln xmlns:a="http://schemas.openxmlformats.org/drawingml/2006/main" w="19050">
            <a:solidFill>
              <a:srgbClr val="087E8B"/>
            </a:solidFill>
          </a:ln>
        </p:spPr>
      </p:sp>
      <p:sp>
        <p:nvSpPr>
          <p:cNvPr id="12" name="">
            <a:extLst xmlns:a="http://schemas.openxmlformats.org/drawingml/2006/main">
              <a:ext uri="{FF2B5EF4-FFF2-40B4-BE49-F238E27FC236}">
                <a16:creationId xmlns:a16="http://schemas.microsoft.com/office/drawing/2014/main" id="{41431DD2-3B5C-4D9C-AB75-4569CCC36E88}"/>
              </a:ext>
            </a:extLst>
          </p:cNvPr>
          <p:cNvSpPr>
            <a:spLocks xmlns:a="http://schemas.openxmlformats.org/drawingml/2006/main" noGrp="1"/>
          </p:cNvSpPr>
          <p:nvPr/>
        </p:nvSpPr>
        <p:spPr>
          <a:xfrm xmlns:a="http://schemas.openxmlformats.org/drawingml/2006/main">
            <a:off x="7610475" y="2419350"/>
            <a:ext cx="3067050" cy="1209675"/>
          </a:xfrm>
          <a:prstGeom xmlns:a="http://schemas.openxmlformats.org/drawingml/2006/main" prst="rect">
            <a:avLst/>
          </a:prstGeom>
          <a:solidFill xmlns:a="http://schemas.openxmlformats.org/drawingml/2006/main">
            <a:srgbClr val="FFFFFF"/>
          </a:solidFill>
          <a:ln xmlns:a="http://schemas.openxmlformats.org/drawingml/2006/main" w="9525">
            <a:solidFill>
              <a:srgbClr val="596875"/>
            </a:solidFill>
          </a:ln>
        </p:spPr>
      </p:sp>
      <p:sp>
        <p:nvSpPr>
          <p:cNvPr id="13" name="">
            <a:extLst xmlns:a="http://schemas.openxmlformats.org/drawingml/2006/main">
              <a:ext uri="{FF2B5EF4-FFF2-40B4-BE49-F238E27FC236}">
                <a16:creationId xmlns:a16="http://schemas.microsoft.com/office/drawing/2014/main" id="{179A4DF3-EEFE-4ABC-A8BE-E0D13D6AAE89}"/>
              </a:ext>
            </a:extLst>
          </p:cNvPr>
          <p:cNvSpPr>
            <a:spLocks xmlns:a="http://schemas.openxmlformats.org/drawingml/2006/main" noGrp="1"/>
          </p:cNvSpPr>
          <p:nvPr/>
        </p:nvSpPr>
        <p:spPr>
          <a:xfrm xmlns:a="http://schemas.openxmlformats.org/drawingml/2006/main">
            <a:off x="7077075" y="1885950"/>
            <a:ext cx="123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8364F"/>
                </a:solidFill>
                <a:latin typeface="Yu Gothic"/>
                <a:ea typeface="Yu Gothic"/>
                <a:cs typeface="Yu Gothic"/>
              </a:defRPr>
            </a:defPPr>
            <a:lvl1pPr>
              <a:buNone/>
              <a:defRPr sz="1800" b="1">
                <a:solidFill>
                  <a:srgbClr val="18364F"/>
                </a:solidFill>
                <a:latin typeface="Yu Gothic"/>
                <a:ea typeface="Yu Gothic"/>
                <a:cs typeface="Yu Gothic"/>
              </a:defRPr>
            </a:lvl1pPr>
            <a:lvl2pPr>
              <a:buNone/>
              <a:defRPr sz="1800" b="1">
                <a:solidFill>
                  <a:srgbClr val="18364F"/>
                </a:solidFill>
                <a:latin typeface="Yu Gothic"/>
                <a:ea typeface="Yu Gothic"/>
                <a:cs typeface="Yu Gothic"/>
              </a:defRPr>
            </a:lvl2pPr>
            <a:lvl3pPr>
              <a:buNone/>
              <a:defRPr sz="1800" b="1">
                <a:solidFill>
                  <a:srgbClr val="18364F"/>
                </a:solidFill>
                <a:latin typeface="Yu Gothic"/>
                <a:ea typeface="Yu Gothic"/>
                <a:cs typeface="Yu Gothic"/>
              </a:defRPr>
            </a:lvl3pPr>
            <a:lvl4pPr>
              <a:buNone/>
              <a:defRPr sz="1800" b="1">
                <a:solidFill>
                  <a:srgbClr val="18364F"/>
                </a:solidFill>
                <a:latin typeface="Yu Gothic"/>
                <a:ea typeface="Yu Gothic"/>
                <a:cs typeface="Yu Gothic"/>
              </a:defRPr>
            </a:lvl4pPr>
            <a:lvl5pPr>
              <a:buNone/>
              <a:defRPr sz="1800" b="1">
                <a:solidFill>
                  <a:srgbClr val="18364F"/>
                </a:solidFill>
                <a:latin typeface="Yu Gothic"/>
                <a:ea typeface="Yu Gothic"/>
                <a:cs typeface="Yu Gothic"/>
              </a:defRPr>
            </a:lvl5pPr>
            <a:lvl6pPr>
              <a:buNone/>
              <a:defRPr sz="1800" b="1">
                <a:solidFill>
                  <a:srgbClr val="18364F"/>
                </a:solidFill>
                <a:latin typeface="Yu Gothic"/>
                <a:ea typeface="Yu Gothic"/>
                <a:cs typeface="Yu Gothic"/>
              </a:defRPr>
            </a:lvl6pPr>
            <a:lvl7pPr>
              <a:buNone/>
              <a:defRPr sz="1800" b="1">
                <a:solidFill>
                  <a:srgbClr val="18364F"/>
                </a:solidFill>
                <a:latin typeface="Yu Gothic"/>
                <a:ea typeface="Yu Gothic"/>
                <a:cs typeface="Yu Gothic"/>
              </a:defRPr>
            </a:lvl7pPr>
            <a:lvl8pPr>
              <a:buNone/>
              <a:defRPr sz="1800" b="1">
                <a:solidFill>
                  <a:srgbClr val="18364F"/>
                </a:solidFill>
                <a:latin typeface="Yu Gothic"/>
                <a:ea typeface="Yu Gothic"/>
                <a:cs typeface="Yu Gothic"/>
              </a:defRPr>
            </a:lvl8pPr>
            <a:lvl9pPr>
              <a:buNone/>
              <a:defRPr sz="1800" b="1">
                <a:solidFill>
                  <a:srgbClr val="18364F"/>
                </a:solidFill>
                <a:latin typeface="Yu Gothic"/>
                <a:ea typeface="Yu Gothic"/>
                <a:cs typeface="Yu Gothic"/>
              </a:defRPr>
            </a:lvl9pPr>
          </a:lstStyle>
          <a:p xmlns:a="http://schemas.openxmlformats.org/drawingml/2006/main">
            <a:pPr>
              <a:buNone/>
              <a:defRPr sz="1800" b="1">
                <a:solidFill>
                  <a:srgbClr val="18364F"/>
                </a:solidFill>
                <a:latin typeface="Yu Gothic"/>
                <a:ea typeface="Yu Gothic"/>
                <a:cs typeface="Yu Gothic"/>
              </a:defRPr>
            </a:pPr>
            <a:r>
              <a:rPr sz="1800" b="1">
                <a:solidFill>
                  <a:srgbClr val="18364F"/>
                </a:solidFill>
                <a:latin typeface="Yu Gothic"/>
                <a:ea typeface="Yu Gothic"/>
                <a:cs typeface="Yu Gothic"/>
              </a:rPr>
              <a:t>細胞壁</a:t>
            </a:r>
          </a:p>
        </p:txBody>
      </p:sp>
      <p:sp>
        <p:nvSpPr>
          <p:cNvPr id="14" name="">
            <a:extLst xmlns:a="http://schemas.openxmlformats.org/drawingml/2006/main">
              <a:ext uri="{FF2B5EF4-FFF2-40B4-BE49-F238E27FC236}">
                <a16:creationId xmlns:a16="http://schemas.microsoft.com/office/drawing/2014/main" id="{D9BBE6C9-374E-4A33-86E9-13DB410FA3F4}"/>
              </a:ext>
            </a:extLst>
          </p:cNvPr>
          <p:cNvSpPr>
            <a:spLocks xmlns:a="http://schemas.openxmlformats.org/drawingml/2006/main" noGrp="1"/>
          </p:cNvSpPr>
          <p:nvPr/>
        </p:nvSpPr>
        <p:spPr>
          <a:xfrm xmlns:a="http://schemas.openxmlformats.org/drawingml/2006/main">
            <a:off x="8715375" y="2833688"/>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内腔</a:t>
            </a:r>
          </a:p>
        </p:txBody>
      </p:sp>
      <p:sp>
        <p:nvSpPr>
          <p:cNvPr id="15" name="">
            <a:extLst xmlns:a="http://schemas.openxmlformats.org/drawingml/2006/main">
              <a:ext uri="{FF2B5EF4-FFF2-40B4-BE49-F238E27FC236}">
                <a16:creationId xmlns:a16="http://schemas.microsoft.com/office/drawing/2014/main" id="{1C80968B-C653-4ED7-B0BD-D5AC9B85213F}"/>
              </a:ext>
            </a:extLst>
          </p:cNvPr>
          <p:cNvSpPr>
            <a:spLocks xmlns:a="http://schemas.openxmlformats.org/drawingml/2006/main" noGrp="1"/>
          </p:cNvSpPr>
          <p:nvPr/>
        </p:nvSpPr>
        <p:spPr>
          <a:xfrm xmlns:a="http://schemas.openxmlformats.org/drawingml/2006/main">
            <a:off x="7143750" y="26670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6" name="">
            <a:extLst xmlns:a="http://schemas.openxmlformats.org/drawingml/2006/main">
              <a:ext uri="{FF2B5EF4-FFF2-40B4-BE49-F238E27FC236}">
                <a16:creationId xmlns:a16="http://schemas.microsoft.com/office/drawing/2014/main" id="{7BEAEA43-166B-4054-8613-FCC9B105B764}"/>
              </a:ext>
            </a:extLst>
          </p:cNvPr>
          <p:cNvSpPr>
            <a:spLocks xmlns:a="http://schemas.openxmlformats.org/drawingml/2006/main" noGrp="1"/>
          </p:cNvSpPr>
          <p:nvPr/>
        </p:nvSpPr>
        <p:spPr>
          <a:xfrm xmlns:a="http://schemas.openxmlformats.org/drawingml/2006/main">
            <a:off x="10877550" y="31242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7" name="">
            <a:extLst xmlns:a="http://schemas.openxmlformats.org/drawingml/2006/main">
              <a:ext uri="{FF2B5EF4-FFF2-40B4-BE49-F238E27FC236}">
                <a16:creationId xmlns:a16="http://schemas.microsoft.com/office/drawing/2014/main" id="{6CC20D64-A9A3-431F-8DF2-2D5CED86E165}"/>
              </a:ext>
            </a:extLst>
          </p:cNvPr>
          <p:cNvSpPr>
            <a:spLocks xmlns:a="http://schemas.openxmlformats.org/drawingml/2006/main" noGrp="1"/>
          </p:cNvSpPr>
          <p:nvPr/>
        </p:nvSpPr>
        <p:spPr>
          <a:xfrm xmlns:a="http://schemas.openxmlformats.org/drawingml/2006/main">
            <a:off x="8667750" y="38100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8" name="">
            <a:extLst xmlns:a="http://schemas.openxmlformats.org/drawingml/2006/main">
              <a:ext uri="{FF2B5EF4-FFF2-40B4-BE49-F238E27FC236}">
                <a16:creationId xmlns:a16="http://schemas.microsoft.com/office/drawing/2014/main" id="{ED5B592F-7411-44C0-BD43-A14D5732A3F0}"/>
              </a:ext>
            </a:extLst>
          </p:cNvPr>
          <p:cNvSpPr>
            <a:spLocks xmlns:a="http://schemas.openxmlformats.org/drawingml/2006/main" noGrp="1"/>
          </p:cNvSpPr>
          <p:nvPr/>
        </p:nvSpPr>
        <p:spPr>
          <a:xfrm xmlns:a="http://schemas.openxmlformats.org/drawingml/2006/main">
            <a:off x="10096500" y="19431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水</a:t>
            </a:r>
          </a:p>
        </p:txBody>
      </p:sp>
      <p:sp>
        <p:nvSpPr>
          <p:cNvPr id="19" name="">
            <a:extLst xmlns:a="http://schemas.openxmlformats.org/drawingml/2006/main">
              <a:ext uri="{FF2B5EF4-FFF2-40B4-BE49-F238E27FC236}">
                <a16:creationId xmlns:a16="http://schemas.microsoft.com/office/drawing/2014/main" id="{9DA52224-500D-419C-8A7B-4D7531417886}"/>
              </a:ext>
            </a:extLst>
          </p:cNvPr>
          <p:cNvSpPr>
            <a:spLocks xmlns:a="http://schemas.openxmlformats.org/drawingml/2006/main" noGrp="1"/>
          </p:cNvSpPr>
          <p:nvPr/>
        </p:nvSpPr>
        <p:spPr>
          <a:xfrm xmlns:a="http://schemas.openxmlformats.org/drawingml/2006/main">
            <a:off x="904875" y="44386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18364F"/>
                </a:solidFill>
                <a:latin typeface="Yu Gothic"/>
                <a:ea typeface="Yu Gothic"/>
                <a:cs typeface="Yu Gothic"/>
              </a:defRPr>
            </a:defPPr>
            <a:lvl1pPr>
              <a:buNone/>
              <a:defRPr sz="2100" b="1">
                <a:solidFill>
                  <a:srgbClr val="18364F"/>
                </a:solidFill>
                <a:latin typeface="Yu Gothic"/>
                <a:ea typeface="Yu Gothic"/>
                <a:cs typeface="Yu Gothic"/>
              </a:defRPr>
            </a:lvl1pPr>
            <a:lvl2pPr>
              <a:buNone/>
              <a:defRPr sz="2100" b="1">
                <a:solidFill>
                  <a:srgbClr val="18364F"/>
                </a:solidFill>
                <a:latin typeface="Yu Gothic"/>
                <a:ea typeface="Yu Gothic"/>
                <a:cs typeface="Yu Gothic"/>
              </a:defRPr>
            </a:lvl2pPr>
            <a:lvl3pPr>
              <a:buNone/>
              <a:defRPr sz="2100" b="1">
                <a:solidFill>
                  <a:srgbClr val="18364F"/>
                </a:solidFill>
                <a:latin typeface="Yu Gothic"/>
                <a:ea typeface="Yu Gothic"/>
                <a:cs typeface="Yu Gothic"/>
              </a:defRPr>
            </a:lvl3pPr>
            <a:lvl4pPr>
              <a:buNone/>
              <a:defRPr sz="2100" b="1">
                <a:solidFill>
                  <a:srgbClr val="18364F"/>
                </a:solidFill>
                <a:latin typeface="Yu Gothic"/>
                <a:ea typeface="Yu Gothic"/>
                <a:cs typeface="Yu Gothic"/>
              </a:defRPr>
            </a:lvl4pPr>
            <a:lvl5pPr>
              <a:buNone/>
              <a:defRPr sz="2100" b="1">
                <a:solidFill>
                  <a:srgbClr val="18364F"/>
                </a:solidFill>
                <a:latin typeface="Yu Gothic"/>
                <a:ea typeface="Yu Gothic"/>
                <a:cs typeface="Yu Gothic"/>
              </a:defRPr>
            </a:lvl5pPr>
            <a:lvl6pPr>
              <a:buNone/>
              <a:defRPr sz="2100" b="1">
                <a:solidFill>
                  <a:srgbClr val="18364F"/>
                </a:solidFill>
                <a:latin typeface="Yu Gothic"/>
                <a:ea typeface="Yu Gothic"/>
                <a:cs typeface="Yu Gothic"/>
              </a:defRPr>
            </a:lvl6pPr>
            <a:lvl7pPr>
              <a:buNone/>
              <a:defRPr sz="2100" b="1">
                <a:solidFill>
                  <a:srgbClr val="18364F"/>
                </a:solidFill>
                <a:latin typeface="Yu Gothic"/>
                <a:ea typeface="Yu Gothic"/>
                <a:cs typeface="Yu Gothic"/>
              </a:defRPr>
            </a:lvl7pPr>
            <a:lvl8pPr>
              <a:buNone/>
              <a:defRPr sz="2100" b="1">
                <a:solidFill>
                  <a:srgbClr val="18364F"/>
                </a:solidFill>
                <a:latin typeface="Yu Gothic"/>
                <a:ea typeface="Yu Gothic"/>
                <a:cs typeface="Yu Gothic"/>
              </a:defRPr>
            </a:lvl8pPr>
            <a:lvl9pPr>
              <a:buNone/>
              <a:defRPr sz="2100" b="1">
                <a:solidFill>
                  <a:srgbClr val="18364F"/>
                </a:solidFill>
                <a:latin typeface="Yu Gothic"/>
                <a:ea typeface="Yu Gothic"/>
                <a:cs typeface="Yu Gothic"/>
              </a:defRPr>
            </a:lvl9pPr>
          </a:lstStyle>
          <a:p xmlns:a="http://schemas.openxmlformats.org/drawingml/2006/main">
            <a:pPr>
              <a:buNone/>
              <a:defRPr sz="2100" b="1">
                <a:solidFill>
                  <a:srgbClr val="18364F"/>
                </a:solidFill>
                <a:latin typeface="Yu Gothic"/>
                <a:ea typeface="Yu Gothic"/>
                <a:cs typeface="Yu Gothic"/>
              </a:defRPr>
            </a:pPr>
            <a:r>
              <a:rPr sz="2100" b="1">
                <a:solidFill>
                  <a:srgbClr val="18364F"/>
                </a:solidFill>
                <a:latin typeface="Yu Gothic"/>
                <a:ea typeface="Yu Gothic"/>
                <a:cs typeface="Yu Gothic"/>
              </a:rPr>
              <a:t>壁内の水が少ない状態</a:t>
            </a:r>
          </a:p>
        </p:txBody>
      </p:sp>
      <p:sp>
        <p:nvSpPr>
          <p:cNvPr id="20" name="">
            <a:extLst xmlns:a="http://schemas.openxmlformats.org/drawingml/2006/main">
              <a:ext uri="{FF2B5EF4-FFF2-40B4-BE49-F238E27FC236}">
                <a16:creationId xmlns:a16="http://schemas.microsoft.com/office/drawing/2014/main" id="{F5F234C2-E128-4A19-9209-5AC026C644C5}"/>
              </a:ext>
            </a:extLst>
          </p:cNvPr>
          <p:cNvSpPr>
            <a:spLocks xmlns:a="http://schemas.openxmlformats.org/drawingml/2006/main" noGrp="1"/>
          </p:cNvSpPr>
          <p:nvPr/>
        </p:nvSpPr>
        <p:spPr>
          <a:xfrm xmlns:a="http://schemas.openxmlformats.org/drawingml/2006/main">
            <a:off x="6715125"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壁が水を取り込み、膨潤</a:t>
            </a:r>
          </a:p>
        </p:txBody>
      </p:sp>
      <p:sp>
        <p:nvSpPr>
          <p:cNvPr id="21" name="">
            <a:extLst xmlns:a="http://schemas.openxmlformats.org/drawingml/2006/main">
              <a:ext uri="{FF2B5EF4-FFF2-40B4-BE49-F238E27FC236}">
                <a16:creationId xmlns:a16="http://schemas.microsoft.com/office/drawing/2014/main" id="{4F46F2FC-083D-4CEE-B458-E6D02AB58336}"/>
              </a:ext>
            </a:extLst>
          </p:cNvPr>
          <p:cNvSpPr>
            <a:spLocks xmlns:a="http://schemas.openxmlformats.org/drawingml/2006/main" noGrp="1"/>
          </p:cNvSpPr>
          <p:nvPr/>
        </p:nvSpPr>
        <p:spPr>
          <a:xfrm xmlns:a="http://schemas.openxmlformats.org/drawingml/2006/main">
            <a:off x="838200" y="52197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L・R・Tで寸法変化が異なる。板幅がどの方向かも確認する。</a:t>
            </a:r>
          </a:p>
        </p:txBody>
      </p:sp>
      <p:sp>
        <p:nvSpPr>
          <p:cNvPr id="22" name="">
            <a:extLst xmlns:a="http://schemas.openxmlformats.org/drawingml/2006/main">
              <a:ext uri="{FF2B5EF4-FFF2-40B4-BE49-F238E27FC236}">
                <a16:creationId xmlns:a16="http://schemas.microsoft.com/office/drawing/2014/main" id="{0F7ADA77-7F9B-4B96-AB56-F2E1A4F586E3}"/>
              </a:ext>
            </a:extLst>
          </p:cNvPr>
          <p:cNvSpPr>
            <a:spLocks xmlns:a="http://schemas.openxmlformats.org/drawingml/2006/main" noGrp="1"/>
          </p:cNvSpPr>
          <p:nvPr/>
        </p:nvSpPr>
        <p:spPr>
          <a:xfrm xmlns:a="http://schemas.openxmlformats.org/drawingml/2006/main">
            <a:off x="838200" y="6019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00" b="0">
                <a:solidFill>
                  <a:srgbClr val="596875"/>
                </a:solidFill>
                <a:latin typeface="Yu Gothic"/>
                <a:ea typeface="Yu Gothic"/>
                <a:cs typeface="Yu Gothic"/>
              </a:defRPr>
            </a:defPPr>
            <a:lvl1pPr>
              <a:buNone/>
              <a:defRPr sz="1500" b="0">
                <a:solidFill>
                  <a:srgbClr val="596875"/>
                </a:solidFill>
                <a:latin typeface="Yu Gothic"/>
                <a:ea typeface="Yu Gothic"/>
                <a:cs typeface="Yu Gothic"/>
              </a:defRPr>
            </a:lvl1pPr>
            <a:lvl2pPr>
              <a:buNone/>
              <a:defRPr sz="1500" b="0">
                <a:solidFill>
                  <a:srgbClr val="596875"/>
                </a:solidFill>
                <a:latin typeface="Yu Gothic"/>
                <a:ea typeface="Yu Gothic"/>
                <a:cs typeface="Yu Gothic"/>
              </a:defRPr>
            </a:lvl2pPr>
            <a:lvl3pPr>
              <a:buNone/>
              <a:defRPr sz="1500" b="0">
                <a:solidFill>
                  <a:srgbClr val="596875"/>
                </a:solidFill>
                <a:latin typeface="Yu Gothic"/>
                <a:ea typeface="Yu Gothic"/>
                <a:cs typeface="Yu Gothic"/>
              </a:defRPr>
            </a:lvl3pPr>
            <a:lvl4pPr>
              <a:buNone/>
              <a:defRPr sz="1500" b="0">
                <a:solidFill>
                  <a:srgbClr val="596875"/>
                </a:solidFill>
                <a:latin typeface="Yu Gothic"/>
                <a:ea typeface="Yu Gothic"/>
                <a:cs typeface="Yu Gothic"/>
              </a:defRPr>
            </a:lvl4pPr>
            <a:lvl5pPr>
              <a:buNone/>
              <a:defRPr sz="1500" b="0">
                <a:solidFill>
                  <a:srgbClr val="596875"/>
                </a:solidFill>
                <a:latin typeface="Yu Gothic"/>
                <a:ea typeface="Yu Gothic"/>
                <a:cs typeface="Yu Gothic"/>
              </a:defRPr>
            </a:lvl5pPr>
            <a:lvl6pPr>
              <a:buNone/>
              <a:defRPr sz="1500" b="0">
                <a:solidFill>
                  <a:srgbClr val="596875"/>
                </a:solidFill>
                <a:latin typeface="Yu Gothic"/>
                <a:ea typeface="Yu Gothic"/>
                <a:cs typeface="Yu Gothic"/>
              </a:defRPr>
            </a:lvl6pPr>
            <a:lvl7pPr>
              <a:buNone/>
              <a:defRPr sz="1500" b="0">
                <a:solidFill>
                  <a:srgbClr val="596875"/>
                </a:solidFill>
                <a:latin typeface="Yu Gothic"/>
                <a:ea typeface="Yu Gothic"/>
                <a:cs typeface="Yu Gothic"/>
              </a:defRPr>
            </a:lvl7pPr>
            <a:lvl8pPr>
              <a:buNone/>
              <a:defRPr sz="1500" b="0">
                <a:solidFill>
                  <a:srgbClr val="596875"/>
                </a:solidFill>
                <a:latin typeface="Yu Gothic"/>
                <a:ea typeface="Yu Gothic"/>
                <a:cs typeface="Yu Gothic"/>
              </a:defRPr>
            </a:lvl8pPr>
            <a:lvl9pPr>
              <a:buNone/>
              <a:defRPr sz="1500" b="0">
                <a:solidFill>
                  <a:srgbClr val="596875"/>
                </a:solidFill>
                <a:latin typeface="Yu Gothic"/>
                <a:ea typeface="Yu Gothic"/>
                <a:cs typeface="Yu Gothic"/>
              </a:defRPr>
            </a:lvl9pPr>
          </a:lstStyle>
          <a:p xmlns:a="http://schemas.openxmlformats.org/drawingml/2006/main">
            <a:pPr>
              <a:buNone/>
              <a:defRPr sz="1500" b="0">
                <a:solidFill>
                  <a:srgbClr val="596875"/>
                </a:solidFill>
                <a:latin typeface="Yu Gothic"/>
                <a:ea typeface="Yu Gothic"/>
                <a:cs typeface="Yu Gothic"/>
              </a:defRPr>
            </a:pPr>
            <a:r>
              <a:rPr sz="1500" b="0">
                <a:solidFill>
                  <a:srgbClr val="596875"/>
                </a:solidFill>
                <a:latin typeface="Yu Gothic"/>
                <a:ea typeface="Yu Gothic"/>
                <a:cs typeface="Yu Gothic"/>
              </a:rPr>
              <a:t>変化を強調した概念図。変形量・比率・内腔の形の予測図ではない。</a:t>
            </a:r>
          </a:p>
        </p:txBody>
      </p:sp>
    </p:spTree>
    <p:extLst>
      <p:ext uri="{BB962C8B-B14F-4D97-AF65-F5344CB8AC3E}">
        <p14:creationId xmlns:p14="http://schemas.microsoft.com/office/powerpoint/2010/main" val="119476582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531231-AF53-43A8-982C-FFC08A21CE5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表面で水をはじくことと、吸湿</a:t>
            </a:r>
          </a:p>
        </p:txBody>
      </p:sp>
      <p:sp>
        <p:nvSpPr>
          <p:cNvPr id="2" name="">
            <a:extLst xmlns:a="http://schemas.openxmlformats.org/drawingml/2006/main">
              <a:ext uri="{FF2B5EF4-FFF2-40B4-BE49-F238E27FC236}">
                <a16:creationId xmlns:a16="http://schemas.microsoft.com/office/drawing/2014/main" id="{F10F3865-B166-41D1-8B5A-BAF2FD6DBC0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F6E7CE-37E5-4877-A552-400D50D4E74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754A4EE4-11D3-44B2-8308-5F19ABD0583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graphicFrame>
        <p:nvGraphicFramePr>
          <p:cNvPr id="5" name="">
            <a:extLst xmlns:a="http://schemas.openxmlformats.org/drawingml/2006/main">
              <a:ext uri="{FF2B5EF4-FFF2-40B4-BE49-F238E27FC236}">
                <a16:creationId xmlns:a16="http://schemas.microsoft.com/office/drawing/2014/main" id="{A116A7F0-8781-4C22-A40B-FDAF5443169C}"/>
              </a:ext>
            </a:extLst>
          </p:cNvPr>
          <p:cNvGraphicFramePr/>
          <p:nvPr/>
        </p:nvGraphicFramePr>
        <p:xfrm>
          <a:off xmlns:a="http://schemas.openxmlformats.org/drawingml/2006/main" x="838200" y="1809750"/>
          <a:ext xmlns:a="http://schemas.openxmlformats.org/drawingml/2006/main" cx="10477500" cy="3248025"/>
        </p:xfrm>
        <a:graphic xmlns:a="http://schemas.openxmlformats.org/drawingml/2006/main">
          <a:graphicData uri="http://schemas.openxmlformats.org/drawingml/2006/table">
            <a:tbl>
              <a:tblPr/>
              <a:tblGrid>
                <a:gridCol w="3143250"/>
                <a:gridCol w="7334250"/>
              </a:tblGrid>
              <a:tr h="812006">
                <a:tc>
                  <a:txBody>
                    <a:bodyPr lIns="95250" tIns="95250" rIns="95250" bIns="95250"/>
                    <a:lstStyle/>
                    <a:p>
                      <a:r>
                        <a:rPr sz="2025" b="1">
                          <a:solidFill>
                            <a:srgbClr val="FFFFFF"/>
                          </a:solidFill>
                          <a:latin typeface="Yu Gothic"/>
                          <a:ea typeface="Yu Gothic"/>
                          <a:cs typeface="Yu Gothic"/>
                        </a:rPr>
                        <a:t>観察する現象</a:t>
                      </a:r>
                    </a:p>
                  </a:txBody>
                  <a:tcPr marL="91440" marR="91440" marT="45720" marB="45720">
                    <a:solidFill>
                      <a:srgbClr val="18364F"/>
                    </a:solidFill>
                  </a:tcPr>
                </a:tc>
                <a:tc>
                  <a:txBody>
                    <a:bodyPr lIns="95250" tIns="95250" rIns="95250" bIns="95250"/>
                    <a:lstStyle/>
                    <a:p>
                      <a:r>
                        <a:rPr sz="2025" b="1">
                          <a:solidFill>
                            <a:srgbClr val="FFFFFF"/>
                          </a:solidFill>
                          <a:latin typeface="Yu Gothic"/>
                          <a:ea typeface="Yu Gothic"/>
                          <a:cs typeface="Yu Gothic"/>
                        </a:rPr>
                        <a:t>何を確かめるか</a:t>
                      </a:r>
                    </a:p>
                  </a:txBody>
                  <a:tcPr marL="91440" marR="91440" marT="45720" marB="45720">
                    <a:solidFill>
                      <a:srgbClr val="18364F"/>
                    </a:solidFill>
                  </a:tcPr>
                </a:tc>
              </a:tr>
              <a:tr h="812006">
                <a:tc>
                  <a:txBody>
                    <a:bodyPr lIns="95250" tIns="95250" rIns="95250" bIns="95250"/>
                    <a:lstStyle/>
                    <a:p>
                      <a:r>
                        <a:rPr sz="2025" b="0">
                          <a:solidFill>
                            <a:srgbClr val="253C4D"/>
                          </a:solidFill>
                          <a:latin typeface="Yu Gothic"/>
                          <a:ea typeface="Yu Gothic"/>
                          <a:cs typeface="Yu Gothic"/>
                        </a:rPr>
                        <a:t>表面の水滴の形</a:t>
                      </a:r>
                    </a:p>
                  </a:txBody>
                  <a:tcPr marL="91440" marR="91440" marT="45720" marB="45720">
                    <a:solidFill>
                      <a:srgbClr val="F1F5F7"/>
                    </a:solidFill>
                  </a:tcPr>
                </a:tc>
                <a:tc>
                  <a:txBody>
                    <a:bodyPr lIns="95250" tIns="95250" rIns="95250" bIns="95250"/>
                    <a:lstStyle/>
                    <a:p>
                      <a:r>
                        <a:rPr sz="2025" b="0">
                          <a:solidFill>
                            <a:srgbClr val="253C4D"/>
                          </a:solidFill>
                          <a:latin typeface="Yu Gothic"/>
                          <a:ea typeface="Yu Gothic"/>
                          <a:cs typeface="Yu Gothic"/>
                        </a:rPr>
                        <a:t>その面のぬれ方。面・滴の量・経過時間を確認</a:t>
                      </a:r>
                    </a:p>
                  </a:txBody>
                  <a:tcPr marL="91440" marR="91440" marT="45720" marB="45720">
                    <a:solidFill>
                      <a:srgbClr val="F1F5F7"/>
                    </a:solidFill>
                  </a:tcPr>
                </a:tc>
              </a:tr>
              <a:tr h="812006">
                <a:tc>
                  <a:txBody>
                    <a:bodyPr lIns="95250" tIns="95250" rIns="95250" bIns="95250"/>
                    <a:lstStyle/>
                    <a:p>
                      <a:r>
                        <a:rPr sz="2025" b="0">
                          <a:solidFill>
                            <a:srgbClr val="253C4D"/>
                          </a:solidFill>
                          <a:latin typeface="Yu Gothic"/>
                          <a:ea typeface="Yu Gothic"/>
                          <a:cs typeface="Yu Gothic"/>
                        </a:rPr>
                        <a:t>空気中での質量変化</a:t>
                      </a:r>
                    </a:p>
                  </a:txBody>
                  <a:tcPr marL="91440" marR="91440" marT="45720" marB="45720">
                    <a:solidFill>
                      <a:srgbClr val="FFFFFF"/>
                    </a:solidFill>
                  </a:tcPr>
                </a:tc>
                <a:tc>
                  <a:txBody>
                    <a:bodyPr lIns="95250" tIns="95250" rIns="95250" bIns="95250"/>
                    <a:lstStyle/>
                    <a:p>
                      <a:r>
                        <a:rPr sz="2025" b="0">
                          <a:solidFill>
                            <a:srgbClr val="253C4D"/>
                          </a:solidFill>
                          <a:latin typeface="Yu Gothic"/>
                          <a:ea typeface="Yu Gothic"/>
                          <a:cs typeface="Yu Gothic"/>
                        </a:rPr>
                        <a:t>吸湿・放湿。温度・湿度・時間・初期状態を記録</a:t>
                      </a:r>
                    </a:p>
                  </a:txBody>
                  <a:tcPr marL="91440" marR="91440" marT="45720" marB="45720">
                    <a:solidFill>
                      <a:srgbClr val="FFFFFF"/>
                    </a:solidFill>
                  </a:tcPr>
                </a:tc>
              </a:tr>
              <a:tr h="812006">
                <a:tc>
                  <a:txBody>
                    <a:bodyPr lIns="95250" tIns="95250" rIns="95250" bIns="95250"/>
                    <a:lstStyle/>
                    <a:p>
                      <a:r>
                        <a:rPr sz="2025" b="0">
                          <a:solidFill>
                            <a:srgbClr val="253C4D"/>
                          </a:solidFill>
                          <a:latin typeface="Yu Gothic"/>
                          <a:ea typeface="Yu Gothic"/>
                          <a:cs typeface="Yu Gothic"/>
                        </a:rPr>
                        <a:t>寸法の変化</a:t>
                      </a:r>
                    </a:p>
                  </a:txBody>
                  <a:tcPr marL="91440" marR="91440" marT="45720" marB="45720">
                    <a:solidFill>
                      <a:srgbClr val="F1F5F7"/>
                    </a:solidFill>
                  </a:tcPr>
                </a:tc>
                <a:tc>
                  <a:txBody>
                    <a:bodyPr lIns="95250" tIns="95250" rIns="95250" bIns="95250"/>
                    <a:lstStyle/>
                    <a:p>
                      <a:r>
                        <a:rPr sz="2025" b="0">
                          <a:solidFill>
                            <a:srgbClr val="253C4D"/>
                          </a:solidFill>
                          <a:latin typeface="Yu Gothic"/>
                          <a:ea typeface="Yu Gothic"/>
                          <a:cs typeface="Yu Gothic"/>
                        </a:rPr>
                        <a:t>方向ごとの収縮・膨潤。方向と測り方を記録</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1FE2885D-D8C0-49BF-BB11-853E765C0205}"/>
              </a:ext>
            </a:extLst>
          </p:cNvPr>
          <p:cNvSpPr>
            <a:spLocks xmlns:a="http://schemas.openxmlformats.org/drawingml/2006/main" noGrp="1"/>
          </p:cNvSpPr>
          <p:nvPr/>
        </p:nvSpPr>
        <p:spPr>
          <a:xfrm xmlns:a="http://schemas.openxmlformats.org/drawingml/2006/main">
            <a:off x="838200" y="5467350"/>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水滴をはじく見え方だけで、内部の吸湿ゼロとは判断できない。</a:t>
            </a:r>
          </a:p>
        </p:txBody>
      </p:sp>
    </p:spTree>
    <p:extLst>
      <p:ext uri="{BB962C8B-B14F-4D97-AF65-F5344CB8AC3E}">
        <p14:creationId xmlns:p14="http://schemas.microsoft.com/office/powerpoint/2010/main" val="121991264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04A31E-4F35-4D56-9BCF-72CF29BEBEF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抽出成分と、生物劣化への接続</a:t>
            </a:r>
          </a:p>
        </p:txBody>
      </p:sp>
      <p:sp>
        <p:nvSpPr>
          <p:cNvPr id="2" name="">
            <a:extLst xmlns:a="http://schemas.openxmlformats.org/drawingml/2006/main">
              <a:ext uri="{FF2B5EF4-FFF2-40B4-BE49-F238E27FC236}">
                <a16:creationId xmlns:a16="http://schemas.microsoft.com/office/drawing/2014/main" id="{FF6378D6-80B1-436E-A44D-BC56AF047C6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D9C725-9816-4621-A67C-2B44825E4EA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EB2D7623-592E-436F-A823-0D9118DCBEC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D0A3A5A3-ECDE-43C3-AE77-A762FB51D41F}"/>
              </a:ext>
            </a:extLst>
          </p:cNvPr>
          <p:cNvSpPr>
            <a:spLocks xmlns:a="http://schemas.openxmlformats.org/drawingml/2006/main" noGrp="1"/>
          </p:cNvSpPr>
          <p:nvPr/>
        </p:nvSpPr>
        <p:spPr>
          <a:xfrm xmlns:a="http://schemas.openxmlformats.org/drawingml/2006/main">
            <a:off x="838200" y="16668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抽出成分・無機成分も含まれる</a:t>
            </a:r>
          </a:p>
        </p:txBody>
      </p:sp>
      <p:sp>
        <p:nvSpPr>
          <p:cNvPr id="6" name="">
            <a:extLst xmlns:a="http://schemas.openxmlformats.org/drawingml/2006/main">
              <a:ext uri="{FF2B5EF4-FFF2-40B4-BE49-F238E27FC236}">
                <a16:creationId xmlns:a16="http://schemas.microsoft.com/office/drawing/2014/main" id="{F134FFCC-D140-4EA9-9840-AB6A339E74F3}"/>
              </a:ext>
            </a:extLst>
          </p:cNvPr>
          <p:cNvSpPr>
            <a:spLocks xmlns:a="http://schemas.openxmlformats.org/drawingml/2006/main" noGrp="1"/>
          </p:cNvSpPr>
          <p:nvPr/>
        </p:nvSpPr>
        <p:spPr>
          <a:xfrm xmlns:a="http://schemas.openxmlformats.org/drawingml/2006/main">
            <a:off x="838200" y="26955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色・におい・耐朽性等への関わりは、成分で異なる</a:t>
            </a:r>
          </a:p>
        </p:txBody>
      </p:sp>
      <p:sp>
        <p:nvSpPr>
          <p:cNvPr id="7" name="">
            <a:extLst xmlns:a="http://schemas.openxmlformats.org/drawingml/2006/main">
              <a:ext uri="{FF2B5EF4-FFF2-40B4-BE49-F238E27FC236}">
                <a16:creationId xmlns:a16="http://schemas.microsoft.com/office/drawing/2014/main" id="{7EB8D38B-309A-4824-928B-73B058631DF9}"/>
              </a:ext>
            </a:extLst>
          </p:cNvPr>
          <p:cNvSpPr>
            <a:spLocks xmlns:a="http://schemas.openxmlformats.org/drawingml/2006/main" noGrp="1"/>
          </p:cNvSpPr>
          <p:nvPr/>
        </p:nvSpPr>
        <p:spPr>
          <a:xfrm xmlns:a="http://schemas.openxmlformats.org/drawingml/2006/main">
            <a:off x="838200" y="37242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腐朽による壁成分の分解は、機能を変える</a:t>
            </a:r>
          </a:p>
        </p:txBody>
      </p:sp>
      <p:sp>
        <p:nvSpPr>
          <p:cNvPr id="8" name="">
            <a:extLst xmlns:a="http://schemas.openxmlformats.org/drawingml/2006/main">
              <a:ext uri="{FF2B5EF4-FFF2-40B4-BE49-F238E27FC236}">
                <a16:creationId xmlns:a16="http://schemas.microsoft.com/office/drawing/2014/main" id="{C5C0C44F-8312-42C1-846E-BB4BA4081CD5}"/>
              </a:ext>
            </a:extLst>
          </p:cNvPr>
          <p:cNvSpPr>
            <a:spLocks xmlns:a="http://schemas.openxmlformats.org/drawingml/2006/main" noGrp="1"/>
          </p:cNvSpPr>
          <p:nvPr/>
        </p:nvSpPr>
        <p:spPr>
          <a:xfrm xmlns:a="http://schemas.openxmlformats.org/drawingml/2006/main">
            <a:off x="838200" y="475297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buNone/>
              <a:defRPr sz="2325" b="0">
                <a:solidFill>
                  <a:srgbClr val="253C4D"/>
                </a:solidFill>
                <a:latin typeface="Yu Gothic"/>
                <a:ea typeface="Yu Gothic"/>
                <a:cs typeface="Yu Gothic"/>
              </a:defRPr>
            </a:lvl1pPr>
            <a:lvl2pPr>
              <a:buNone/>
              <a:defRPr sz="2325" b="0">
                <a:solidFill>
                  <a:srgbClr val="253C4D"/>
                </a:solidFill>
                <a:latin typeface="Yu Gothic"/>
                <a:ea typeface="Yu Gothic"/>
                <a:cs typeface="Yu Gothic"/>
              </a:defRPr>
            </a:lvl2pPr>
            <a:lvl3pPr>
              <a:buNone/>
              <a:defRPr sz="2325" b="0">
                <a:solidFill>
                  <a:srgbClr val="253C4D"/>
                </a:solidFill>
                <a:latin typeface="Yu Gothic"/>
                <a:ea typeface="Yu Gothic"/>
                <a:cs typeface="Yu Gothic"/>
              </a:defRPr>
            </a:lvl3pPr>
            <a:lvl4pPr>
              <a:buNone/>
              <a:defRPr sz="2325" b="0">
                <a:solidFill>
                  <a:srgbClr val="253C4D"/>
                </a:solidFill>
                <a:latin typeface="Yu Gothic"/>
                <a:ea typeface="Yu Gothic"/>
                <a:cs typeface="Yu Gothic"/>
              </a:defRPr>
            </a:lvl4pPr>
            <a:lvl5pPr>
              <a:buNone/>
              <a:defRPr sz="2325" b="0">
                <a:solidFill>
                  <a:srgbClr val="253C4D"/>
                </a:solidFill>
                <a:latin typeface="Yu Gothic"/>
                <a:ea typeface="Yu Gothic"/>
                <a:cs typeface="Yu Gothic"/>
              </a:defRPr>
            </a:lvl5pPr>
            <a:lvl6pPr>
              <a:buNone/>
              <a:defRPr sz="2325" b="0">
                <a:solidFill>
                  <a:srgbClr val="253C4D"/>
                </a:solidFill>
                <a:latin typeface="Yu Gothic"/>
                <a:ea typeface="Yu Gothic"/>
                <a:cs typeface="Yu Gothic"/>
              </a:defRPr>
            </a:lvl6pPr>
            <a:lvl7pPr>
              <a:buNone/>
              <a:defRPr sz="2325" b="0">
                <a:solidFill>
                  <a:srgbClr val="253C4D"/>
                </a:solidFill>
                <a:latin typeface="Yu Gothic"/>
                <a:ea typeface="Yu Gothic"/>
                <a:cs typeface="Yu Gothic"/>
              </a:defRPr>
            </a:lvl7pPr>
            <a:lvl8pPr>
              <a:buNone/>
              <a:defRPr sz="2325" b="0">
                <a:solidFill>
                  <a:srgbClr val="253C4D"/>
                </a:solidFill>
                <a:latin typeface="Yu Gothic"/>
                <a:ea typeface="Yu Gothic"/>
                <a:cs typeface="Yu Gothic"/>
              </a:defRPr>
            </a:lvl8pPr>
            <a:lvl9pPr>
              <a:buNone/>
              <a:defRPr sz="2325" b="0">
                <a:solidFill>
                  <a:srgbClr val="253C4D"/>
                </a:solidFill>
                <a:latin typeface="Yu Gothic"/>
                <a:ea typeface="Yu Gothic"/>
                <a:cs typeface="Yu Gothic"/>
              </a:defRPr>
            </a:lvl9pPr>
          </a:lstStyle>
          <a:p xmlns:a="http://schemas.openxmlformats.org/drawingml/2006/main">
            <a:pPr>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成分だけで決めず、生物・水分・使用環境も考える</a:t>
            </a:r>
          </a:p>
        </p:txBody>
      </p:sp>
    </p:spTree>
    <p:extLst>
      <p:ext uri="{BB962C8B-B14F-4D97-AF65-F5344CB8AC3E}">
        <p14:creationId xmlns:p14="http://schemas.microsoft.com/office/powerpoint/2010/main" val="148341393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7C671A2-B40F-45F1-8BE5-31E89D3FD87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比喩を使って壁を説明</a:t>
            </a:r>
          </a:p>
        </p:txBody>
      </p:sp>
      <p:sp>
        <p:nvSpPr>
          <p:cNvPr id="2" name="">
            <a:extLst xmlns:a="http://schemas.openxmlformats.org/drawingml/2006/main">
              <a:ext uri="{FF2B5EF4-FFF2-40B4-BE49-F238E27FC236}">
                <a16:creationId xmlns:a16="http://schemas.microsoft.com/office/drawing/2014/main" id="{CDCF9B60-6D54-44C7-9878-522B9AD321B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C40BF9-AD25-4EBD-8C7D-EE622DA0EB5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9B0C75F6-0674-456F-9881-D546F5BE03E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0024A584-DE1F-4527-A8F4-30758D7D409D}"/>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00C6506C-71A7-4EDC-A40A-8B47FB61F1D0}"/>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E6E14C68-BDC3-4DF6-BF41-F8A193991C5A}"/>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BEB28DFD-5ADC-4C0D-BAB8-41040E9C58AA}"/>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5E8D231F-A724-42DF-8F2F-FC0A899F8593}"/>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FFE4EF8E-7DFA-4900-AF19-95D149CB9BF5}"/>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DD92F797-3918-49B8-B958-A021149CE16F}"/>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EB22D29D-416F-4C9C-8CA0-C7BD64B9C431}"/>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8A782B13-3FE8-452A-B638-EDD71357EFAD}"/>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9FA6028A-2B39-4E40-ADC5-DEE2544E0F2D}"/>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EE68EAF1-72CD-410B-A294-214ECC9ED2F6}"/>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848B656B-8E82-4C97-B954-472761642177}"/>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169F5032-E95B-44D7-A42F-3B1847757222}"/>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0E1EC0AA-55B9-4B36-9654-426A0BEF06A3}"/>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772F6C76-B9CF-464F-A2EF-F6EC2642F0E9}"/>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A37D71DE-EEBE-4B46-8B89-B17A3FA57C5A}"/>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A0BC859D-51B6-470D-AE03-6F06F4291420}"/>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1B40F109-F0EB-4DD9-B548-F024B662758C}"/>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FE7B1E5B-A1F5-4DF8-824B-5A7011F4DDA2}"/>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9B3345DC-5A5D-4A02-8B4A-CEB1E98A6B03}"/>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AB96C717-58AD-4F5F-BA5B-FF121F5A352A}"/>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3F144356-E753-4850-95EA-457AFADA44A8}"/>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534A4FFD-A534-4D58-88CE-BFFC154213F4}"/>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81CF431E-E034-40F8-BE0A-82A4E95382AE}"/>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83214025-F702-4F90-A53B-F8B23B3A2BCA}"/>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6F408388-8653-4570-B7D1-EFDD7377AB6A}"/>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C9AA8CDB-4FE1-48D5-8822-344592151DE9}"/>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C60EE070-B1A4-4289-9AE1-FB876DD0F250}"/>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① 細長い集合と周囲の成分を</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図で対応させる</a:t>
            </a:r>
          </a:p>
        </p:txBody>
      </p:sp>
      <p:sp>
        <p:nvSpPr>
          <p:cNvPr id="33" name="">
            <a:extLst xmlns:a="http://schemas.openxmlformats.org/drawingml/2006/main">
              <a:ext uri="{FF2B5EF4-FFF2-40B4-BE49-F238E27FC236}">
                <a16:creationId xmlns:a16="http://schemas.microsoft.com/office/drawing/2014/main" id="{6050E7B3-1171-4F2E-9DB5-1D73ACC98045}"/>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② 比喩で説明しやすい点を一つ</a:t>
            </a:r>
          </a:p>
        </p:txBody>
      </p:sp>
      <p:sp>
        <p:nvSpPr>
          <p:cNvPr id="34" name="">
            <a:extLst xmlns:a="http://schemas.openxmlformats.org/drawingml/2006/main">
              <a:ext uri="{FF2B5EF4-FFF2-40B4-BE49-F238E27FC236}">
                <a16:creationId xmlns:a16="http://schemas.microsoft.com/office/drawing/2014/main" id="{1871028F-A922-4B57-832C-52D4AB27643D}"/>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③ 説明し切れない点を一つ</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（水との関係など）</a:t>
            </a:r>
          </a:p>
        </p:txBody>
      </p:sp>
      <p:sp>
        <p:nvSpPr>
          <p:cNvPr id="35" name="">
            <a:extLst xmlns:a="http://schemas.openxmlformats.org/drawingml/2006/main">
              <a:ext uri="{FF2B5EF4-FFF2-40B4-BE49-F238E27FC236}">
                <a16:creationId xmlns:a16="http://schemas.microsoft.com/office/drawing/2014/main" id="{7F02E0EE-7069-4FAE-B912-62CE4C059B10}"/>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④ 中学生向けの説明文を書く</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（比喩を使わなくても可）</a:t>
            </a:r>
          </a:p>
        </p:txBody>
      </p:sp>
      <p:sp>
        <p:nvSpPr>
          <p:cNvPr id="36" name="">
            <a:extLst xmlns:a="http://schemas.openxmlformats.org/drawingml/2006/main">
              <a:ext uri="{FF2B5EF4-FFF2-40B4-BE49-F238E27FC236}">
                <a16:creationId xmlns:a16="http://schemas.microsoft.com/office/drawing/2014/main" id="{DD3508EF-37CC-455C-B8BB-0817CC093C86}"/>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173504919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9E6E45-6CB2-42D4-B882-889EC5B18BA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演習2の解説：対応と限界</a:t>
            </a:r>
          </a:p>
        </p:txBody>
      </p:sp>
      <p:sp>
        <p:nvSpPr>
          <p:cNvPr id="2" name="">
            <a:extLst xmlns:a="http://schemas.openxmlformats.org/drawingml/2006/main">
              <a:ext uri="{FF2B5EF4-FFF2-40B4-BE49-F238E27FC236}">
                <a16:creationId xmlns:a16="http://schemas.microsoft.com/office/drawing/2014/main" id="{98F02E68-BDD1-4D93-B39A-FDB96567F5A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3CFC1E-C5D3-45A4-B4BA-44E6032BAA0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DEB34BD8-51BB-4772-A6F6-D227EEA904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graphicFrame>
        <p:nvGraphicFramePr>
          <p:cNvPr id="5" name="">
            <a:extLst xmlns:a="http://schemas.openxmlformats.org/drawingml/2006/main">
              <a:ext uri="{FF2B5EF4-FFF2-40B4-BE49-F238E27FC236}">
                <a16:creationId xmlns:a16="http://schemas.microsoft.com/office/drawing/2014/main" id="{DF707280-5CDB-45E2-959B-78F8B10979B7}"/>
              </a:ext>
            </a:extLst>
          </p:cNvPr>
          <p:cNvGraphicFramePr/>
          <p:nvPr/>
        </p:nvGraphicFramePr>
        <p:xfrm>
          <a:off xmlns:a="http://schemas.openxmlformats.org/drawingml/2006/main" x="838200" y="1752600"/>
          <a:ext xmlns:a="http://schemas.openxmlformats.org/drawingml/2006/main" cx="10477500" cy="3857625"/>
        </p:xfrm>
        <a:graphic xmlns:a="http://schemas.openxmlformats.org/drawingml/2006/main">
          <a:graphicData uri="http://schemas.openxmlformats.org/drawingml/2006/table">
            <a:tbl>
              <a:tblPr/>
              <a:tblGrid>
                <a:gridCol w="2952750"/>
                <a:gridCol w="7524750"/>
              </a:tblGrid>
              <a:tr h="771525">
                <a:tc>
                  <a:txBody>
                    <a:bodyPr lIns="95250" tIns="95250" rIns="95250" bIns="95250"/>
                    <a:lstStyle/>
                    <a:p>
                      <a:r>
                        <a:rPr sz="1950" b="1">
                          <a:solidFill>
                            <a:srgbClr val="FFFFFF"/>
                          </a:solidFill>
                          <a:latin typeface="Yu Gothic"/>
                          <a:ea typeface="Yu Gothic"/>
                          <a:cs typeface="Yu Gothic"/>
                        </a:rPr>
                        <a:t>説明する関係</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比喩で示せること・限界</a:t>
                      </a:r>
                    </a:p>
                  </a:txBody>
                  <a:tcPr marL="91440" marR="91440" marT="45720" marB="45720">
                    <a:solidFill>
                      <a:srgbClr val="18364F"/>
                    </a:solidFill>
                  </a:tcPr>
                </a:tc>
              </a:tr>
              <a:tr h="771525">
                <a:tc>
                  <a:txBody>
                    <a:bodyPr lIns="95250" tIns="95250" rIns="95250" bIns="95250"/>
                    <a:lstStyle/>
                    <a:p>
                      <a:r>
                        <a:rPr sz="1950" b="0">
                          <a:solidFill>
                            <a:srgbClr val="253C4D"/>
                          </a:solidFill>
                          <a:latin typeface="Yu Gothic"/>
                          <a:ea typeface="Yu Gothic"/>
                          <a:cs typeface="Yu Gothic"/>
                        </a:rPr>
                        <a:t>細長い集合と周囲</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セルロースの集合と、ヘミセルロース・リグニン等</a:t>
                      </a:r>
                    </a:p>
                  </a:txBody>
                  <a:tcPr marL="91440" marR="91440" marT="45720" marB="45720">
                    <a:solidFill>
                      <a:srgbClr val="F1F5F7"/>
                    </a:solidFill>
                  </a:tcPr>
                </a:tc>
              </a:tr>
              <a:tr h="771525">
                <a:tc>
                  <a:txBody>
                    <a:bodyPr lIns="95250" tIns="95250" rIns="95250" bIns="95250"/>
                    <a:lstStyle/>
                    <a:p>
                      <a:r>
                        <a:rPr sz="1950" b="0">
                          <a:solidFill>
                            <a:srgbClr val="253C4D"/>
                          </a:solidFill>
                          <a:latin typeface="Yu Gothic"/>
                          <a:ea typeface="Yu Gothic"/>
                          <a:cs typeface="Yu Gothic"/>
                        </a:rPr>
                        <a:t>役立つ点</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複数の構成が組み合わさって性質を生む</a:t>
                      </a:r>
                    </a:p>
                  </a:txBody>
                  <a:tcPr marL="91440" marR="91440" marT="45720" marB="45720">
                    <a:solidFill>
                      <a:srgbClr val="FFFFFF"/>
                    </a:solidFill>
                  </a:tcPr>
                </a:tc>
              </a:tr>
              <a:tr h="771525">
                <a:tc>
                  <a:txBody>
                    <a:bodyPr lIns="95250" tIns="95250" rIns="95250" bIns="95250"/>
                    <a:lstStyle/>
                    <a:p>
                      <a:r>
                        <a:rPr sz="1950" b="0">
                          <a:solidFill>
                            <a:srgbClr val="253C4D"/>
                          </a:solidFill>
                          <a:latin typeface="Yu Gothic"/>
                          <a:ea typeface="Yu Gothic"/>
                          <a:cs typeface="Yu Gothic"/>
                        </a:rPr>
                        <a:t>限界</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分子のつながり、層構造、水との関係を全ては再現しない</a:t>
                      </a:r>
                    </a:p>
                  </a:txBody>
                  <a:tcPr marL="91440" marR="91440" marT="45720" marB="45720">
                    <a:solidFill>
                      <a:srgbClr val="F1F5F7"/>
                    </a:solidFill>
                  </a:tcPr>
                </a:tc>
              </a:tr>
              <a:tr h="771525">
                <a:tc>
                  <a:txBody>
                    <a:bodyPr lIns="95250" tIns="95250" rIns="95250" bIns="95250"/>
                    <a:lstStyle/>
                    <a:p>
                      <a:r>
                        <a:rPr sz="1950" b="0">
                          <a:solidFill>
                            <a:srgbClr val="253C4D"/>
                          </a:solidFill>
                          <a:latin typeface="Yu Gothic"/>
                          <a:ea typeface="Yu Gothic"/>
                          <a:cs typeface="Yu Gothic"/>
                        </a:rPr>
                        <a:t>中学生への説明</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壁の図を添え、どこを何に対応させたかを言う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E6AF4B6-480D-40EF-B2D8-13F0D7913167}"/>
              </a:ext>
            </a:extLst>
          </p:cNvPr>
          <p:cNvSpPr>
            <a:spLocks xmlns:a="http://schemas.openxmlformats.org/drawingml/2006/main" noGrp="1"/>
          </p:cNvSpPr>
          <p:nvPr/>
        </p:nvSpPr>
        <p:spPr>
          <a:xfrm xmlns:a="http://schemas.openxmlformats.org/drawingml/2006/main">
            <a:off x="838200" y="58197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596875"/>
                </a:solidFill>
                <a:latin typeface="Yu Gothic"/>
                <a:ea typeface="Yu Gothic"/>
                <a:cs typeface="Yu Gothic"/>
              </a:defRPr>
            </a:defPPr>
            <a:lvl1pPr>
              <a:buNone/>
              <a:defRPr sz="1800" b="0">
                <a:solidFill>
                  <a:srgbClr val="596875"/>
                </a:solidFill>
                <a:latin typeface="Yu Gothic"/>
                <a:ea typeface="Yu Gothic"/>
                <a:cs typeface="Yu Gothic"/>
              </a:defRPr>
            </a:lvl1pPr>
            <a:lvl2pPr>
              <a:buNone/>
              <a:defRPr sz="1800" b="0">
                <a:solidFill>
                  <a:srgbClr val="596875"/>
                </a:solidFill>
                <a:latin typeface="Yu Gothic"/>
                <a:ea typeface="Yu Gothic"/>
                <a:cs typeface="Yu Gothic"/>
              </a:defRPr>
            </a:lvl2pPr>
            <a:lvl3pPr>
              <a:buNone/>
              <a:defRPr sz="1800" b="0">
                <a:solidFill>
                  <a:srgbClr val="596875"/>
                </a:solidFill>
                <a:latin typeface="Yu Gothic"/>
                <a:ea typeface="Yu Gothic"/>
                <a:cs typeface="Yu Gothic"/>
              </a:defRPr>
            </a:lvl3pPr>
            <a:lvl4pPr>
              <a:buNone/>
              <a:defRPr sz="1800" b="0">
                <a:solidFill>
                  <a:srgbClr val="596875"/>
                </a:solidFill>
                <a:latin typeface="Yu Gothic"/>
                <a:ea typeface="Yu Gothic"/>
                <a:cs typeface="Yu Gothic"/>
              </a:defRPr>
            </a:lvl4pPr>
            <a:lvl5pPr>
              <a:buNone/>
              <a:defRPr sz="1800" b="0">
                <a:solidFill>
                  <a:srgbClr val="596875"/>
                </a:solidFill>
                <a:latin typeface="Yu Gothic"/>
                <a:ea typeface="Yu Gothic"/>
                <a:cs typeface="Yu Gothic"/>
              </a:defRPr>
            </a:lvl5pPr>
            <a:lvl6pPr>
              <a:buNone/>
              <a:defRPr sz="1800" b="0">
                <a:solidFill>
                  <a:srgbClr val="596875"/>
                </a:solidFill>
                <a:latin typeface="Yu Gothic"/>
                <a:ea typeface="Yu Gothic"/>
                <a:cs typeface="Yu Gothic"/>
              </a:defRPr>
            </a:lvl6pPr>
            <a:lvl7pPr>
              <a:buNone/>
              <a:defRPr sz="1800" b="0">
                <a:solidFill>
                  <a:srgbClr val="596875"/>
                </a:solidFill>
                <a:latin typeface="Yu Gothic"/>
                <a:ea typeface="Yu Gothic"/>
                <a:cs typeface="Yu Gothic"/>
              </a:defRPr>
            </a:lvl7pPr>
            <a:lvl8pPr>
              <a:buNone/>
              <a:defRPr sz="1800" b="0">
                <a:solidFill>
                  <a:srgbClr val="596875"/>
                </a:solidFill>
                <a:latin typeface="Yu Gothic"/>
                <a:ea typeface="Yu Gothic"/>
                <a:cs typeface="Yu Gothic"/>
              </a:defRPr>
            </a:lvl8pPr>
            <a:lvl9pPr>
              <a:buNone/>
              <a:defRPr sz="1800" b="0">
                <a:solidFill>
                  <a:srgbClr val="596875"/>
                </a:solidFill>
                <a:latin typeface="Yu Gothic"/>
                <a:ea typeface="Yu Gothic"/>
                <a:cs typeface="Yu Gothic"/>
              </a:defRPr>
            </a:lvl9pPr>
          </a:lstStyle>
          <a:p xmlns:a="http://schemas.openxmlformats.org/drawingml/2006/main">
            <a:pPr>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比喩の名称を知らない場合は、色分けした壁の模式図を使ってよい。</a:t>
            </a:r>
          </a:p>
        </p:txBody>
      </p:sp>
    </p:spTree>
    <p:extLst>
      <p:ext uri="{BB962C8B-B14F-4D97-AF65-F5344CB8AC3E}">
        <p14:creationId xmlns:p14="http://schemas.microsoft.com/office/powerpoint/2010/main" val="97770036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22F866-E50E-410A-88AB-D3C056530B3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462E0C59-C470-40B9-84F3-EAF39787999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0AFBD86-4330-40F9-B1D4-4E532A1137E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第4回・オンデマンド</a:t>
            </a:r>
          </a:p>
        </p:txBody>
      </p:sp>
      <p:sp>
        <p:nvSpPr>
          <p:cNvPr id="4" name="">
            <a:extLst xmlns:a="http://schemas.openxmlformats.org/drawingml/2006/main">
              <a:ext uri="{FF2B5EF4-FFF2-40B4-BE49-F238E27FC236}">
                <a16:creationId xmlns:a16="http://schemas.microsoft.com/office/drawing/2014/main" id="{26B3B14E-4102-4F32-9C10-DEA00F6FAE6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休憩</a:t>
            </a:r>
          </a:p>
        </p:txBody>
      </p:sp>
      <p:sp>
        <p:nvSpPr>
          <p:cNvPr id="5" name="">
            <a:extLst xmlns:a="http://schemas.openxmlformats.org/drawingml/2006/main">
              <a:ext uri="{FF2B5EF4-FFF2-40B4-BE49-F238E27FC236}">
                <a16:creationId xmlns:a16="http://schemas.microsoft.com/office/drawing/2014/main" id="{51652E6E-4853-4C21-8325-7237B83773EB}"/>
              </a:ext>
            </a:extLst>
          </p:cNvPr>
          <p:cNvSpPr>
            <a:spLocks xmlns:a="http://schemas.openxmlformats.org/drawingml/2006/main" noGrp="1"/>
          </p:cNvSpPr>
          <p:nvPr/>
        </p:nvSpPr>
        <p:spPr>
          <a:xfrm xmlns:a="http://schemas.openxmlformats.org/drawingml/2006/main">
            <a:off x="838200" y="17145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A2F6D7B9-E721-4659-905D-AD891D9D2025}"/>
              </a:ext>
            </a:extLst>
          </p:cNvPr>
          <p:cNvSpPr>
            <a:spLocks xmlns:a="http://schemas.openxmlformats.org/drawingml/2006/main" noGrp="1"/>
          </p:cNvSpPr>
          <p:nvPr/>
        </p:nvSpPr>
        <p:spPr>
          <a:xfrm xmlns:a="http://schemas.openxmlformats.org/drawingml/2006/main">
            <a:off x="838200" y="27241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47CBA5A8-194F-478C-9A15-DE05AF374F37}"/>
              </a:ext>
            </a:extLst>
          </p:cNvPr>
          <p:cNvSpPr>
            <a:spLocks xmlns:a="http://schemas.openxmlformats.org/drawingml/2006/main" noGrp="1"/>
          </p:cNvSpPr>
          <p:nvPr/>
        </p:nvSpPr>
        <p:spPr>
          <a:xfrm xmlns:a="http://schemas.openxmlformats.org/drawingml/2006/main">
            <a:off x="838200" y="37338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146A2869-EF16-47FE-A1DB-AC73C0A3C62F}"/>
              </a:ext>
            </a:extLst>
          </p:cNvPr>
          <p:cNvSpPr>
            <a:spLocks xmlns:a="http://schemas.openxmlformats.org/drawingml/2006/main" noGrp="1"/>
          </p:cNvSpPr>
          <p:nvPr/>
        </p:nvSpPr>
        <p:spPr>
          <a:xfrm xmlns:a="http://schemas.openxmlformats.org/drawingml/2006/main">
            <a:off x="838200" y="474345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再開したら：演習3　水との関係を図で説明へ進みます。</a:t>
            </a:r>
          </a:p>
        </p:txBody>
      </p:sp>
    </p:spTree>
    <p:extLst>
      <p:ext uri="{BB962C8B-B14F-4D97-AF65-F5344CB8AC3E}">
        <p14:creationId xmlns:p14="http://schemas.microsoft.com/office/powerpoint/2010/main" val="10050137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9D2A11A-4C67-4841-8A5E-75D062DD526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演習3　水との関係を図で説明</a:t>
            </a:r>
          </a:p>
        </p:txBody>
      </p:sp>
      <p:sp>
        <p:nvSpPr>
          <p:cNvPr id="2" name="">
            <a:extLst xmlns:a="http://schemas.openxmlformats.org/drawingml/2006/main">
              <a:ext uri="{FF2B5EF4-FFF2-40B4-BE49-F238E27FC236}">
                <a16:creationId xmlns:a16="http://schemas.microsoft.com/office/drawing/2014/main" id="{9C8D63F7-DDDA-4562-93A3-685E875181A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A558C8-1C87-4067-868C-7960DF7631D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4518CC58-67C0-45B4-8F47-55F46278DE3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56E19C0D-F944-4D7E-A2CA-C90D163266B0}"/>
              </a:ext>
            </a:extLst>
          </p:cNvPr>
          <p:cNvSpPr>
            <a:spLocks xmlns:a="http://schemas.openxmlformats.org/drawingml/2006/main" noGrp="1"/>
          </p:cNvSpPr>
          <p:nvPr/>
        </p:nvSpPr>
        <p:spPr>
          <a:xfrm xmlns:a="http://schemas.openxmlformats.org/drawingml/2006/main">
            <a:off x="857250" y="13906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壁の分子の一部（OH基）</a:t>
            </a:r>
          </a:p>
        </p:txBody>
      </p:sp>
      <p:sp>
        <p:nvSpPr>
          <p:cNvPr id="6" name="">
            <a:extLst xmlns:a="http://schemas.openxmlformats.org/drawingml/2006/main">
              <a:ext uri="{FF2B5EF4-FFF2-40B4-BE49-F238E27FC236}">
                <a16:creationId xmlns:a16="http://schemas.microsoft.com/office/drawing/2014/main" id="{CEBC75BE-E3A6-42E0-B7BA-6D3344B362D0}"/>
              </a:ext>
            </a:extLst>
          </p:cNvPr>
          <p:cNvSpPr>
            <a:spLocks xmlns:a="http://schemas.openxmlformats.org/drawingml/2006/main" noGrp="1"/>
          </p:cNvSpPr>
          <p:nvPr/>
        </p:nvSpPr>
        <p:spPr>
          <a:xfrm xmlns:a="http://schemas.openxmlformats.org/drawingml/2006/main">
            <a:off x="9620250" y="2247900"/>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buNone/>
              <a:defRPr sz="2025" b="1">
                <a:solidFill>
                  <a:srgbClr val="18364F"/>
                </a:solidFill>
                <a:latin typeface="Yu Gothic"/>
                <a:ea typeface="Yu Gothic"/>
                <a:cs typeface="Yu Gothic"/>
              </a:defRPr>
            </a:lvl1pPr>
            <a:lvl2pPr>
              <a:buNone/>
              <a:defRPr sz="2025" b="1">
                <a:solidFill>
                  <a:srgbClr val="18364F"/>
                </a:solidFill>
                <a:latin typeface="Yu Gothic"/>
                <a:ea typeface="Yu Gothic"/>
                <a:cs typeface="Yu Gothic"/>
              </a:defRPr>
            </a:lvl2pPr>
            <a:lvl3pPr>
              <a:buNone/>
              <a:defRPr sz="2025" b="1">
                <a:solidFill>
                  <a:srgbClr val="18364F"/>
                </a:solidFill>
                <a:latin typeface="Yu Gothic"/>
                <a:ea typeface="Yu Gothic"/>
                <a:cs typeface="Yu Gothic"/>
              </a:defRPr>
            </a:lvl3pPr>
            <a:lvl4pPr>
              <a:buNone/>
              <a:defRPr sz="2025" b="1">
                <a:solidFill>
                  <a:srgbClr val="18364F"/>
                </a:solidFill>
                <a:latin typeface="Yu Gothic"/>
                <a:ea typeface="Yu Gothic"/>
                <a:cs typeface="Yu Gothic"/>
              </a:defRPr>
            </a:lvl4pPr>
            <a:lvl5pPr>
              <a:buNone/>
              <a:defRPr sz="2025" b="1">
                <a:solidFill>
                  <a:srgbClr val="18364F"/>
                </a:solidFill>
                <a:latin typeface="Yu Gothic"/>
                <a:ea typeface="Yu Gothic"/>
                <a:cs typeface="Yu Gothic"/>
              </a:defRPr>
            </a:lvl5pPr>
            <a:lvl6pPr>
              <a:buNone/>
              <a:defRPr sz="2025" b="1">
                <a:solidFill>
                  <a:srgbClr val="18364F"/>
                </a:solidFill>
                <a:latin typeface="Yu Gothic"/>
                <a:ea typeface="Yu Gothic"/>
                <a:cs typeface="Yu Gothic"/>
              </a:defRPr>
            </a:lvl6pPr>
            <a:lvl7pPr>
              <a:buNone/>
              <a:defRPr sz="2025" b="1">
                <a:solidFill>
                  <a:srgbClr val="18364F"/>
                </a:solidFill>
                <a:latin typeface="Yu Gothic"/>
                <a:ea typeface="Yu Gothic"/>
                <a:cs typeface="Yu Gothic"/>
              </a:defRPr>
            </a:lvl7pPr>
            <a:lvl8pPr>
              <a:buNone/>
              <a:defRPr sz="2025" b="1">
                <a:solidFill>
                  <a:srgbClr val="18364F"/>
                </a:solidFill>
                <a:latin typeface="Yu Gothic"/>
                <a:ea typeface="Yu Gothic"/>
                <a:cs typeface="Yu Gothic"/>
              </a:defRPr>
            </a:lvl8pPr>
            <a:lvl9pPr>
              <a:buNone/>
              <a:defRPr sz="2025" b="1">
                <a:solidFill>
                  <a:srgbClr val="18364F"/>
                </a:solidFill>
                <a:latin typeface="Yu Gothic"/>
                <a:ea typeface="Yu Gothic"/>
                <a:cs typeface="Yu Gothic"/>
              </a:defRPr>
            </a:lvl9pPr>
          </a:lstStyle>
          <a:p xmlns:a="http://schemas.openxmlformats.org/drawingml/2006/main">
            <a:pP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水分子 H₂O</a:t>
            </a:r>
          </a:p>
        </p:txBody>
      </p:sp>
      <p:sp>
        <p:nvSpPr>
          <p:cNvPr id="7" name="">
            <a:extLst xmlns:a="http://schemas.openxmlformats.org/drawingml/2006/main">
              <a:ext uri="{FF2B5EF4-FFF2-40B4-BE49-F238E27FC236}">
                <a16:creationId xmlns:a16="http://schemas.microsoft.com/office/drawing/2014/main" id="{1F108DC3-D3FB-491B-9FBF-5F4AFAEC6FF0}"/>
              </a:ext>
            </a:extLst>
          </p:cNvPr>
          <p:cNvSpPr>
            <a:spLocks xmlns:a="http://schemas.openxmlformats.org/drawingml/2006/main" noGrp="1"/>
          </p:cNvSpPr>
          <p:nvPr/>
        </p:nvSpPr>
        <p:spPr>
          <a:xfrm xmlns:a="http://schemas.openxmlformats.org/drawingml/2006/main">
            <a:off x="1809750" y="2457450"/>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38100">
            <a:solidFill>
              <a:srgbClr val="253C4D"/>
            </a:solidFill>
          </a:ln>
        </p:spPr>
      </p:sp>
      <p:sp>
        <p:nvSpPr>
          <p:cNvPr id="8" name="">
            <a:extLst xmlns:a="http://schemas.openxmlformats.org/drawingml/2006/main">
              <a:ext uri="{FF2B5EF4-FFF2-40B4-BE49-F238E27FC236}">
                <a16:creationId xmlns:a16="http://schemas.microsoft.com/office/drawing/2014/main" id="{BA2BCD76-61FD-4844-8C75-740895AA4CC6}"/>
              </a:ext>
            </a:extLst>
          </p:cNvPr>
          <p:cNvSpPr>
            <a:spLocks xmlns:a="http://schemas.openxmlformats.org/drawingml/2006/main" noGrp="1"/>
          </p:cNvSpPr>
          <p:nvPr/>
        </p:nvSpPr>
        <p:spPr>
          <a:xfrm xmlns:a="http://schemas.openxmlformats.org/drawingml/2006/main">
            <a:off x="3952875" y="2457450"/>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38100">
            <a:solidFill>
              <a:srgbClr val="253C4D"/>
            </a:solidFill>
          </a:ln>
        </p:spPr>
      </p:sp>
      <p:sp>
        <p:nvSpPr>
          <p:cNvPr id="9" name="">
            <a:extLst xmlns:a="http://schemas.openxmlformats.org/drawingml/2006/main">
              <a:ext uri="{FF2B5EF4-FFF2-40B4-BE49-F238E27FC236}">
                <a16:creationId xmlns:a16="http://schemas.microsoft.com/office/drawing/2014/main" id="{D000EEF4-7BF9-42C9-BD15-14EEC7CCE1C8}"/>
              </a:ext>
            </a:extLst>
          </p:cNvPr>
          <p:cNvSpPr>
            <a:spLocks xmlns:a="http://schemas.openxmlformats.org/drawingml/2006/main" noGrp="1"/>
          </p:cNvSpPr>
          <p:nvPr/>
        </p:nvSpPr>
        <p:spPr>
          <a:xfrm xmlns:a="http://schemas.openxmlformats.org/drawingml/2006/main">
            <a:off x="904875" y="22479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xmlns:a="http://schemas.openxmlformats.org/drawingml/2006/main">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壁の鎖</a:t>
            </a:r>
          </a:p>
        </p:txBody>
      </p:sp>
      <p:sp>
        <p:nvSpPr>
          <p:cNvPr id="10" name="">
            <a:extLst xmlns:a="http://schemas.openxmlformats.org/drawingml/2006/main">
              <a:ext uri="{FF2B5EF4-FFF2-40B4-BE49-F238E27FC236}">
                <a16:creationId xmlns:a16="http://schemas.microsoft.com/office/drawing/2014/main" id="{6F7FAC68-0CBB-4E81-A7E7-ADC015EFD13D}"/>
              </a:ext>
            </a:extLst>
          </p:cNvPr>
          <p:cNvSpPr>
            <a:spLocks xmlns:a="http://schemas.openxmlformats.org/drawingml/2006/main" noGrp="1"/>
          </p:cNvSpPr>
          <p:nvPr/>
        </p:nvSpPr>
        <p:spPr>
          <a:xfrm xmlns:a="http://schemas.openxmlformats.org/drawingml/2006/main">
            <a:off x="3381375" y="2171700"/>
            <a:ext cx="571500" cy="57150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1" name="">
            <a:extLst xmlns:a="http://schemas.openxmlformats.org/drawingml/2006/main">
              <a:ext uri="{FF2B5EF4-FFF2-40B4-BE49-F238E27FC236}">
                <a16:creationId xmlns:a16="http://schemas.microsoft.com/office/drawing/2014/main" id="{F1D6D8A9-BC58-4117-94B2-97F62B33570E}"/>
              </a:ext>
            </a:extLst>
          </p:cNvPr>
          <p:cNvSpPr>
            <a:spLocks xmlns:a="http://schemas.openxmlformats.org/drawingml/2006/main" noGrp="1"/>
          </p:cNvSpPr>
          <p:nvPr/>
        </p:nvSpPr>
        <p:spPr>
          <a:xfrm xmlns:a="http://schemas.openxmlformats.org/drawingml/2006/main">
            <a:off x="3562350" y="2171700"/>
            <a:ext cx="28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2" name="">
            <a:extLst xmlns:a="http://schemas.openxmlformats.org/drawingml/2006/main">
              <a:ext uri="{FF2B5EF4-FFF2-40B4-BE49-F238E27FC236}">
                <a16:creationId xmlns:a16="http://schemas.microsoft.com/office/drawing/2014/main" id="{769C32B9-94B0-4416-9AFF-AF14C78F8F48}"/>
              </a:ext>
            </a:extLst>
          </p:cNvPr>
          <p:cNvSpPr>
            <a:spLocks xmlns:a="http://schemas.openxmlformats.org/drawingml/2006/main" noGrp="1"/>
          </p:cNvSpPr>
          <p:nvPr/>
        </p:nvSpPr>
        <p:spPr>
          <a:xfrm xmlns:a="http://schemas.openxmlformats.org/drawingml/2006/main">
            <a:off x="4791075" y="22193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3" name="">
            <a:extLst xmlns:a="http://schemas.openxmlformats.org/drawingml/2006/main">
              <a:ext uri="{FF2B5EF4-FFF2-40B4-BE49-F238E27FC236}">
                <a16:creationId xmlns:a16="http://schemas.microsoft.com/office/drawing/2014/main" id="{7360EC54-9DF2-4103-9C5E-844C68058F1D}"/>
              </a:ext>
            </a:extLst>
          </p:cNvPr>
          <p:cNvSpPr>
            <a:spLocks xmlns:a="http://schemas.openxmlformats.org/drawingml/2006/main" noGrp="1"/>
          </p:cNvSpPr>
          <p:nvPr/>
        </p:nvSpPr>
        <p:spPr>
          <a:xfrm xmlns:a="http://schemas.openxmlformats.org/drawingml/2006/main">
            <a:off x="4924425" y="22193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14" name="">
            <a:extLst xmlns:a="http://schemas.openxmlformats.org/drawingml/2006/main">
              <a:ext uri="{FF2B5EF4-FFF2-40B4-BE49-F238E27FC236}">
                <a16:creationId xmlns:a16="http://schemas.microsoft.com/office/drawing/2014/main" id="{FF59E7DA-5F46-4735-AB6F-BDE1A444685D}"/>
              </a:ext>
            </a:extLst>
          </p:cNvPr>
          <p:cNvSpPr>
            <a:spLocks xmlns:a="http://schemas.openxmlformats.org/drawingml/2006/main" noGrp="1"/>
          </p:cNvSpPr>
          <p:nvPr/>
        </p:nvSpPr>
        <p:spPr>
          <a:xfrm xmlns:a="http://schemas.openxmlformats.org/drawingml/2006/main">
            <a:off x="8334375" y="1914525"/>
            <a:ext cx="657225" cy="400050"/>
          </a:xfrm>
          <a:custGeom xmlns:a="http://schemas.openxmlformats.org/drawingml/2006/main">
            <a:pathLst>
              <a:path w="657225" h="400050">
                <a:moveTo>
                  <a:pt x="0" y="400050"/>
                </a:moveTo>
                <a:lnTo>
                  <a:pt x="657225" y="0"/>
                </a:lnTo>
              </a:path>
            </a:pathLst>
          </a:custGeom>
          <a:noFill xmlns:a="http://schemas.openxmlformats.org/drawingml/2006/main"/>
          <a:ln xmlns:a="http://schemas.openxmlformats.org/drawingml/2006/main" w="38100">
            <a:solidFill>
              <a:srgbClr val="253C4D"/>
            </a:solidFill>
          </a:ln>
        </p:spPr>
      </p:sp>
      <p:sp>
        <p:nvSpPr>
          <p:cNvPr id="15" name="">
            <a:extLst xmlns:a="http://schemas.openxmlformats.org/drawingml/2006/main">
              <a:ext uri="{FF2B5EF4-FFF2-40B4-BE49-F238E27FC236}">
                <a16:creationId xmlns:a16="http://schemas.microsoft.com/office/drawing/2014/main" id="{CA75A95D-6F6F-4CC2-A380-E95D3C4787C3}"/>
              </a:ext>
            </a:extLst>
          </p:cNvPr>
          <p:cNvSpPr>
            <a:spLocks xmlns:a="http://schemas.openxmlformats.org/drawingml/2006/main" noGrp="1"/>
          </p:cNvSpPr>
          <p:nvPr/>
        </p:nvSpPr>
        <p:spPr>
          <a:xfrm xmlns:a="http://schemas.openxmlformats.org/drawingml/2006/main">
            <a:off x="8334375" y="2600325"/>
            <a:ext cx="657225" cy="400050"/>
          </a:xfrm>
          <a:custGeom xmlns:a="http://schemas.openxmlformats.org/drawingml/2006/main">
            <a:pathLst>
              <a:path w="657225" h="400050">
                <a:moveTo>
                  <a:pt x="0" y="0"/>
                </a:moveTo>
                <a:lnTo>
                  <a:pt x="657225" y="400050"/>
                </a:lnTo>
              </a:path>
            </a:pathLst>
          </a:custGeom>
          <a:noFill xmlns:a="http://schemas.openxmlformats.org/drawingml/2006/main"/>
          <a:ln xmlns:a="http://schemas.openxmlformats.org/drawingml/2006/main" w="38100">
            <a:solidFill>
              <a:srgbClr val="253C4D"/>
            </a:solidFill>
          </a:ln>
        </p:spPr>
      </p:sp>
      <p:sp>
        <p:nvSpPr>
          <p:cNvPr id="16" name="">
            <a:extLst xmlns:a="http://schemas.openxmlformats.org/drawingml/2006/main">
              <a:ext uri="{FF2B5EF4-FFF2-40B4-BE49-F238E27FC236}">
                <a16:creationId xmlns:a16="http://schemas.microsoft.com/office/drawing/2014/main" id="{C6764902-C08F-450B-9893-882DDA7ED373}"/>
              </a:ext>
            </a:extLst>
          </p:cNvPr>
          <p:cNvSpPr>
            <a:spLocks xmlns:a="http://schemas.openxmlformats.org/drawingml/2006/main" noGrp="1"/>
          </p:cNvSpPr>
          <p:nvPr/>
        </p:nvSpPr>
        <p:spPr>
          <a:xfrm xmlns:a="http://schemas.openxmlformats.org/drawingml/2006/main">
            <a:off x="7781925" y="2143125"/>
            <a:ext cx="628650" cy="62865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7" name="">
            <a:extLst xmlns:a="http://schemas.openxmlformats.org/drawingml/2006/main">
              <a:ext uri="{FF2B5EF4-FFF2-40B4-BE49-F238E27FC236}">
                <a16:creationId xmlns:a16="http://schemas.microsoft.com/office/drawing/2014/main" id="{F72A7600-AA26-443B-BDB2-B525396AE050}"/>
              </a:ext>
            </a:extLst>
          </p:cNvPr>
          <p:cNvSpPr>
            <a:spLocks xmlns:a="http://schemas.openxmlformats.org/drawingml/2006/main" noGrp="1"/>
          </p:cNvSpPr>
          <p:nvPr/>
        </p:nvSpPr>
        <p:spPr>
          <a:xfrm xmlns:a="http://schemas.openxmlformats.org/drawingml/2006/main">
            <a:off x="7991475" y="2143125"/>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3D5B362C-ABCE-4E99-8B1B-A3EB5751A662}"/>
              </a:ext>
            </a:extLst>
          </p:cNvPr>
          <p:cNvSpPr>
            <a:spLocks xmlns:a="http://schemas.openxmlformats.org/drawingml/2006/main" noGrp="1"/>
          </p:cNvSpPr>
          <p:nvPr/>
        </p:nvSpPr>
        <p:spPr>
          <a:xfrm xmlns:a="http://schemas.openxmlformats.org/drawingml/2006/main">
            <a:off x="9001125" y="15335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9" name="">
            <a:extLst xmlns:a="http://schemas.openxmlformats.org/drawingml/2006/main">
              <a:ext uri="{FF2B5EF4-FFF2-40B4-BE49-F238E27FC236}">
                <a16:creationId xmlns:a16="http://schemas.microsoft.com/office/drawing/2014/main" id="{776F36BF-BDA6-4CAF-87B9-BBD2E9CEE26F}"/>
              </a:ext>
            </a:extLst>
          </p:cNvPr>
          <p:cNvSpPr>
            <a:spLocks xmlns:a="http://schemas.openxmlformats.org/drawingml/2006/main" noGrp="1"/>
          </p:cNvSpPr>
          <p:nvPr/>
        </p:nvSpPr>
        <p:spPr>
          <a:xfrm xmlns:a="http://schemas.openxmlformats.org/drawingml/2006/main">
            <a:off x="9134475" y="15335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0" name="">
            <a:extLst xmlns:a="http://schemas.openxmlformats.org/drawingml/2006/main">
              <a:ext uri="{FF2B5EF4-FFF2-40B4-BE49-F238E27FC236}">
                <a16:creationId xmlns:a16="http://schemas.microsoft.com/office/drawing/2014/main" id="{ECE9E65B-47D4-445E-A246-EA53B77D714A}"/>
              </a:ext>
            </a:extLst>
          </p:cNvPr>
          <p:cNvSpPr>
            <a:spLocks xmlns:a="http://schemas.openxmlformats.org/drawingml/2006/main" noGrp="1"/>
          </p:cNvSpPr>
          <p:nvPr/>
        </p:nvSpPr>
        <p:spPr>
          <a:xfrm xmlns:a="http://schemas.openxmlformats.org/drawingml/2006/main">
            <a:off x="9001125" y="29051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21" name="">
            <a:extLst xmlns:a="http://schemas.openxmlformats.org/drawingml/2006/main">
              <a:ext uri="{FF2B5EF4-FFF2-40B4-BE49-F238E27FC236}">
                <a16:creationId xmlns:a16="http://schemas.microsoft.com/office/drawing/2014/main" id="{F15DCD9A-73B7-4822-BDB7-7BFD3B624005}"/>
              </a:ext>
            </a:extLst>
          </p:cNvPr>
          <p:cNvSpPr>
            <a:spLocks xmlns:a="http://schemas.openxmlformats.org/drawingml/2006/main" noGrp="1"/>
          </p:cNvSpPr>
          <p:nvPr/>
        </p:nvSpPr>
        <p:spPr>
          <a:xfrm xmlns:a="http://schemas.openxmlformats.org/drawingml/2006/main">
            <a:off x="9134475" y="29051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2" name="">
            <a:extLst xmlns:a="http://schemas.openxmlformats.org/drawingml/2006/main">
              <a:ext uri="{FF2B5EF4-FFF2-40B4-BE49-F238E27FC236}">
                <a16:creationId xmlns:a16="http://schemas.microsoft.com/office/drawing/2014/main" id="{692559C8-328C-480C-97F3-AF06BBEA7AF9}"/>
              </a:ext>
            </a:extLst>
          </p:cNvPr>
          <p:cNvSpPr>
            <a:spLocks xmlns:a="http://schemas.openxmlformats.org/drawingml/2006/main" noGrp="1"/>
          </p:cNvSpPr>
          <p:nvPr/>
        </p:nvSpPr>
        <p:spPr>
          <a:xfrm xmlns:a="http://schemas.openxmlformats.org/drawingml/2006/main">
            <a:off x="5238750" y="281940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点線をどこへ入れる？</a:t>
            </a:r>
          </a:p>
        </p:txBody>
      </p:sp>
      <p:sp>
        <p:nvSpPr>
          <p:cNvPr id="23" name="">
            <a:extLst xmlns:a="http://schemas.openxmlformats.org/drawingml/2006/main">
              <a:ext uri="{FF2B5EF4-FFF2-40B4-BE49-F238E27FC236}">
                <a16:creationId xmlns:a16="http://schemas.microsoft.com/office/drawing/2014/main" id="{7BD6D636-6BD2-46AF-84F4-840CE1337539}"/>
              </a:ext>
            </a:extLst>
          </p:cNvPr>
          <p:cNvSpPr>
            <a:spLocks xmlns:a="http://schemas.openxmlformats.org/drawingml/2006/main" noGrp="1"/>
          </p:cNvSpPr>
          <p:nvPr/>
        </p:nvSpPr>
        <p:spPr>
          <a:xfrm xmlns:a="http://schemas.openxmlformats.org/drawingml/2006/main">
            <a:off x="838200" y="40386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① OH基と水分子の間に、水素結合の点線を入れる</a:t>
            </a:r>
          </a:p>
        </p:txBody>
      </p:sp>
      <p:sp>
        <p:nvSpPr>
          <p:cNvPr id="24" name="">
            <a:extLst xmlns:a="http://schemas.openxmlformats.org/drawingml/2006/main">
              <a:ext uri="{FF2B5EF4-FFF2-40B4-BE49-F238E27FC236}">
                <a16:creationId xmlns:a16="http://schemas.microsoft.com/office/drawing/2014/main" id="{312EF7A9-B7D2-420A-91BB-9BA8B8F756CC}"/>
              </a:ext>
            </a:extLst>
          </p:cNvPr>
          <p:cNvSpPr>
            <a:spLocks xmlns:a="http://schemas.openxmlformats.org/drawingml/2006/main" noGrp="1"/>
          </p:cNvSpPr>
          <p:nvPr/>
        </p:nvSpPr>
        <p:spPr>
          <a:xfrm xmlns:a="http://schemas.openxmlformats.org/drawingml/2006/main">
            <a:off x="838200" y="45624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② 内腔の水と壁内の水を図示し、膨潤との関係を説明</a:t>
            </a:r>
          </a:p>
        </p:txBody>
      </p:sp>
      <p:sp>
        <p:nvSpPr>
          <p:cNvPr id="25" name="">
            <a:extLst xmlns:a="http://schemas.openxmlformats.org/drawingml/2006/main">
              <a:ext uri="{FF2B5EF4-FFF2-40B4-BE49-F238E27FC236}">
                <a16:creationId xmlns:a16="http://schemas.microsoft.com/office/drawing/2014/main" id="{3E8E4565-58D2-4C43-AAF5-F293812669D5}"/>
              </a:ext>
            </a:extLst>
          </p:cNvPr>
          <p:cNvSpPr>
            <a:spLocks xmlns:a="http://schemas.openxmlformats.org/drawingml/2006/main" noGrp="1"/>
          </p:cNvSpPr>
          <p:nvPr/>
        </p:nvSpPr>
        <p:spPr>
          <a:xfrm xmlns:a="http://schemas.openxmlformats.org/drawingml/2006/main">
            <a:off x="838200" y="50863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③ 水滴の形から「吸湿しない」とした説明を修正</a:t>
            </a:r>
          </a:p>
        </p:txBody>
      </p:sp>
      <p:sp>
        <p:nvSpPr>
          <p:cNvPr id="26" name="">
            <a:extLst xmlns:a="http://schemas.openxmlformats.org/drawingml/2006/main">
              <a:ext uri="{FF2B5EF4-FFF2-40B4-BE49-F238E27FC236}">
                <a16:creationId xmlns:a16="http://schemas.microsoft.com/office/drawing/2014/main" id="{E2214670-3551-4FCD-BDFB-28C35D3A547B}"/>
              </a:ext>
            </a:extLst>
          </p:cNvPr>
          <p:cNvSpPr>
            <a:spLocks xmlns:a="http://schemas.openxmlformats.org/drawingml/2006/main" noGrp="1"/>
          </p:cNvSpPr>
          <p:nvPr/>
        </p:nvSpPr>
        <p:spPr>
          <a:xfrm xmlns:a="http://schemas.openxmlformats.org/drawingml/2006/main">
            <a:off x="838200" y="56102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図と説明文を手元に残し、次頁の解説と照合。必要なら一時停止。</a:t>
            </a:r>
          </a:p>
        </p:txBody>
      </p:sp>
    </p:spTree>
    <p:extLst>
      <p:ext uri="{BB962C8B-B14F-4D97-AF65-F5344CB8AC3E}">
        <p14:creationId xmlns:p14="http://schemas.microsoft.com/office/powerpoint/2010/main" val="82147773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8A5C9C3-38F9-456C-8ACD-8322170FAB3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演習3の解説</a:t>
            </a:r>
          </a:p>
        </p:txBody>
      </p:sp>
      <p:sp>
        <p:nvSpPr>
          <p:cNvPr id="2" name="">
            <a:extLst xmlns:a="http://schemas.openxmlformats.org/drawingml/2006/main">
              <a:ext uri="{FF2B5EF4-FFF2-40B4-BE49-F238E27FC236}">
                <a16:creationId xmlns:a16="http://schemas.microsoft.com/office/drawing/2014/main" id="{5FAA5D6C-DA59-4BA4-88AF-C5C98FDE594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45DCEA-8384-4CA6-A6EF-88124EB0D7C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A63BB4A2-C7E6-4A86-A8F9-DBDFE40C987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D81084BB-BD3B-4E43-B2EC-8F427BEDA39D}"/>
              </a:ext>
            </a:extLst>
          </p:cNvPr>
          <p:cNvSpPr>
            <a:spLocks xmlns:a="http://schemas.openxmlformats.org/drawingml/2006/main" noGrp="1"/>
          </p:cNvSpPr>
          <p:nvPr/>
        </p:nvSpPr>
        <p:spPr>
          <a:xfrm xmlns:a="http://schemas.openxmlformats.org/drawingml/2006/main">
            <a:off x="857250" y="13906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壁の分子の一部（OH基）</a:t>
            </a:r>
          </a:p>
        </p:txBody>
      </p:sp>
      <p:sp>
        <p:nvSpPr>
          <p:cNvPr id="6" name="">
            <a:extLst xmlns:a="http://schemas.openxmlformats.org/drawingml/2006/main">
              <a:ext uri="{FF2B5EF4-FFF2-40B4-BE49-F238E27FC236}">
                <a16:creationId xmlns:a16="http://schemas.microsoft.com/office/drawing/2014/main" id="{85066995-53B3-4C65-B9F2-C348F4E2C0A7}"/>
              </a:ext>
            </a:extLst>
          </p:cNvPr>
          <p:cNvSpPr>
            <a:spLocks xmlns:a="http://schemas.openxmlformats.org/drawingml/2006/main" noGrp="1"/>
          </p:cNvSpPr>
          <p:nvPr/>
        </p:nvSpPr>
        <p:spPr>
          <a:xfrm xmlns:a="http://schemas.openxmlformats.org/drawingml/2006/main">
            <a:off x="9620250" y="2247900"/>
            <a:ext cx="185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18364F"/>
                </a:solidFill>
                <a:latin typeface="Yu Gothic"/>
                <a:ea typeface="Yu Gothic"/>
                <a:cs typeface="Yu Gothic"/>
              </a:defRPr>
            </a:defPPr>
            <a:lvl1pPr>
              <a:buNone/>
              <a:defRPr sz="2025" b="1">
                <a:solidFill>
                  <a:srgbClr val="18364F"/>
                </a:solidFill>
                <a:latin typeface="Yu Gothic"/>
                <a:ea typeface="Yu Gothic"/>
                <a:cs typeface="Yu Gothic"/>
              </a:defRPr>
            </a:lvl1pPr>
            <a:lvl2pPr>
              <a:buNone/>
              <a:defRPr sz="2025" b="1">
                <a:solidFill>
                  <a:srgbClr val="18364F"/>
                </a:solidFill>
                <a:latin typeface="Yu Gothic"/>
                <a:ea typeface="Yu Gothic"/>
                <a:cs typeface="Yu Gothic"/>
              </a:defRPr>
            </a:lvl2pPr>
            <a:lvl3pPr>
              <a:buNone/>
              <a:defRPr sz="2025" b="1">
                <a:solidFill>
                  <a:srgbClr val="18364F"/>
                </a:solidFill>
                <a:latin typeface="Yu Gothic"/>
                <a:ea typeface="Yu Gothic"/>
                <a:cs typeface="Yu Gothic"/>
              </a:defRPr>
            </a:lvl3pPr>
            <a:lvl4pPr>
              <a:buNone/>
              <a:defRPr sz="2025" b="1">
                <a:solidFill>
                  <a:srgbClr val="18364F"/>
                </a:solidFill>
                <a:latin typeface="Yu Gothic"/>
                <a:ea typeface="Yu Gothic"/>
                <a:cs typeface="Yu Gothic"/>
              </a:defRPr>
            </a:lvl4pPr>
            <a:lvl5pPr>
              <a:buNone/>
              <a:defRPr sz="2025" b="1">
                <a:solidFill>
                  <a:srgbClr val="18364F"/>
                </a:solidFill>
                <a:latin typeface="Yu Gothic"/>
                <a:ea typeface="Yu Gothic"/>
                <a:cs typeface="Yu Gothic"/>
              </a:defRPr>
            </a:lvl5pPr>
            <a:lvl6pPr>
              <a:buNone/>
              <a:defRPr sz="2025" b="1">
                <a:solidFill>
                  <a:srgbClr val="18364F"/>
                </a:solidFill>
                <a:latin typeface="Yu Gothic"/>
                <a:ea typeface="Yu Gothic"/>
                <a:cs typeface="Yu Gothic"/>
              </a:defRPr>
            </a:lvl6pPr>
            <a:lvl7pPr>
              <a:buNone/>
              <a:defRPr sz="2025" b="1">
                <a:solidFill>
                  <a:srgbClr val="18364F"/>
                </a:solidFill>
                <a:latin typeface="Yu Gothic"/>
                <a:ea typeface="Yu Gothic"/>
                <a:cs typeface="Yu Gothic"/>
              </a:defRPr>
            </a:lvl7pPr>
            <a:lvl8pPr>
              <a:buNone/>
              <a:defRPr sz="2025" b="1">
                <a:solidFill>
                  <a:srgbClr val="18364F"/>
                </a:solidFill>
                <a:latin typeface="Yu Gothic"/>
                <a:ea typeface="Yu Gothic"/>
                <a:cs typeface="Yu Gothic"/>
              </a:defRPr>
            </a:lvl8pPr>
            <a:lvl9pPr>
              <a:buNone/>
              <a:defRPr sz="2025" b="1">
                <a:solidFill>
                  <a:srgbClr val="18364F"/>
                </a:solidFill>
                <a:latin typeface="Yu Gothic"/>
                <a:ea typeface="Yu Gothic"/>
                <a:cs typeface="Yu Gothic"/>
              </a:defRPr>
            </a:lvl9pPr>
          </a:lstStyle>
          <a:p xmlns:a="http://schemas.openxmlformats.org/drawingml/2006/main">
            <a:pP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水分子 H₂O</a:t>
            </a:r>
          </a:p>
        </p:txBody>
      </p:sp>
      <p:sp>
        <p:nvSpPr>
          <p:cNvPr id="7" name="">
            <a:extLst xmlns:a="http://schemas.openxmlformats.org/drawingml/2006/main">
              <a:ext uri="{FF2B5EF4-FFF2-40B4-BE49-F238E27FC236}">
                <a16:creationId xmlns:a16="http://schemas.microsoft.com/office/drawing/2014/main" id="{8FDBF56F-AE15-4EAE-9876-B0C5D3C70B93}"/>
              </a:ext>
            </a:extLst>
          </p:cNvPr>
          <p:cNvSpPr>
            <a:spLocks xmlns:a="http://schemas.openxmlformats.org/drawingml/2006/main" noGrp="1"/>
          </p:cNvSpPr>
          <p:nvPr/>
        </p:nvSpPr>
        <p:spPr>
          <a:xfrm xmlns:a="http://schemas.openxmlformats.org/drawingml/2006/main">
            <a:off x="1809750" y="2457450"/>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38100">
            <a:solidFill>
              <a:srgbClr val="253C4D"/>
            </a:solidFill>
          </a:ln>
        </p:spPr>
      </p:sp>
      <p:sp>
        <p:nvSpPr>
          <p:cNvPr id="8" name="">
            <a:extLst xmlns:a="http://schemas.openxmlformats.org/drawingml/2006/main">
              <a:ext uri="{FF2B5EF4-FFF2-40B4-BE49-F238E27FC236}">
                <a16:creationId xmlns:a16="http://schemas.microsoft.com/office/drawing/2014/main" id="{4FCA59FA-C709-40E9-B209-1D9297CBA18A}"/>
              </a:ext>
            </a:extLst>
          </p:cNvPr>
          <p:cNvSpPr>
            <a:spLocks xmlns:a="http://schemas.openxmlformats.org/drawingml/2006/main" noGrp="1"/>
          </p:cNvSpPr>
          <p:nvPr/>
        </p:nvSpPr>
        <p:spPr>
          <a:xfrm xmlns:a="http://schemas.openxmlformats.org/drawingml/2006/main">
            <a:off x="3952875" y="2457450"/>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38100">
            <a:solidFill>
              <a:srgbClr val="253C4D"/>
            </a:solidFill>
          </a:ln>
        </p:spPr>
      </p:sp>
      <p:sp>
        <p:nvSpPr>
          <p:cNvPr id="9" name="">
            <a:extLst xmlns:a="http://schemas.openxmlformats.org/drawingml/2006/main">
              <a:ext uri="{FF2B5EF4-FFF2-40B4-BE49-F238E27FC236}">
                <a16:creationId xmlns:a16="http://schemas.microsoft.com/office/drawing/2014/main" id="{F3C84940-366D-4E2E-8DFA-53672D0C06E9}"/>
              </a:ext>
            </a:extLst>
          </p:cNvPr>
          <p:cNvSpPr>
            <a:spLocks xmlns:a="http://schemas.openxmlformats.org/drawingml/2006/main" noGrp="1"/>
          </p:cNvSpPr>
          <p:nvPr/>
        </p:nvSpPr>
        <p:spPr>
          <a:xfrm xmlns:a="http://schemas.openxmlformats.org/drawingml/2006/main">
            <a:off x="904875" y="22479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53C4D"/>
                </a:solidFill>
                <a:latin typeface="Yu Gothic"/>
                <a:ea typeface="Yu Gothic"/>
                <a:cs typeface="Yu Gothic"/>
              </a:defRPr>
            </a:defPPr>
            <a:lvl1pPr>
              <a:buNone/>
              <a:defRPr sz="2025" b="1">
                <a:solidFill>
                  <a:srgbClr val="253C4D"/>
                </a:solidFill>
                <a:latin typeface="Yu Gothic"/>
                <a:ea typeface="Yu Gothic"/>
                <a:cs typeface="Yu Gothic"/>
              </a:defRPr>
            </a:lvl1pPr>
            <a:lvl2pPr>
              <a:buNone/>
              <a:defRPr sz="2025" b="1">
                <a:solidFill>
                  <a:srgbClr val="253C4D"/>
                </a:solidFill>
                <a:latin typeface="Yu Gothic"/>
                <a:ea typeface="Yu Gothic"/>
                <a:cs typeface="Yu Gothic"/>
              </a:defRPr>
            </a:lvl2pPr>
            <a:lvl3pPr>
              <a:buNone/>
              <a:defRPr sz="2025" b="1">
                <a:solidFill>
                  <a:srgbClr val="253C4D"/>
                </a:solidFill>
                <a:latin typeface="Yu Gothic"/>
                <a:ea typeface="Yu Gothic"/>
                <a:cs typeface="Yu Gothic"/>
              </a:defRPr>
            </a:lvl3pPr>
            <a:lvl4pPr>
              <a:buNone/>
              <a:defRPr sz="2025" b="1">
                <a:solidFill>
                  <a:srgbClr val="253C4D"/>
                </a:solidFill>
                <a:latin typeface="Yu Gothic"/>
                <a:ea typeface="Yu Gothic"/>
                <a:cs typeface="Yu Gothic"/>
              </a:defRPr>
            </a:lvl4pPr>
            <a:lvl5pPr>
              <a:buNone/>
              <a:defRPr sz="2025" b="1">
                <a:solidFill>
                  <a:srgbClr val="253C4D"/>
                </a:solidFill>
                <a:latin typeface="Yu Gothic"/>
                <a:ea typeface="Yu Gothic"/>
                <a:cs typeface="Yu Gothic"/>
              </a:defRPr>
            </a:lvl5pPr>
            <a:lvl6pPr>
              <a:buNone/>
              <a:defRPr sz="2025" b="1">
                <a:solidFill>
                  <a:srgbClr val="253C4D"/>
                </a:solidFill>
                <a:latin typeface="Yu Gothic"/>
                <a:ea typeface="Yu Gothic"/>
                <a:cs typeface="Yu Gothic"/>
              </a:defRPr>
            </a:lvl6pPr>
            <a:lvl7pPr>
              <a:buNone/>
              <a:defRPr sz="2025" b="1">
                <a:solidFill>
                  <a:srgbClr val="253C4D"/>
                </a:solidFill>
                <a:latin typeface="Yu Gothic"/>
                <a:ea typeface="Yu Gothic"/>
                <a:cs typeface="Yu Gothic"/>
              </a:defRPr>
            </a:lvl7pPr>
            <a:lvl8pPr>
              <a:buNone/>
              <a:defRPr sz="2025" b="1">
                <a:solidFill>
                  <a:srgbClr val="253C4D"/>
                </a:solidFill>
                <a:latin typeface="Yu Gothic"/>
                <a:ea typeface="Yu Gothic"/>
                <a:cs typeface="Yu Gothic"/>
              </a:defRPr>
            </a:lvl8pPr>
            <a:lvl9pPr>
              <a:buNone/>
              <a:defRPr sz="2025" b="1">
                <a:solidFill>
                  <a:srgbClr val="253C4D"/>
                </a:solidFill>
                <a:latin typeface="Yu Gothic"/>
                <a:ea typeface="Yu Gothic"/>
                <a:cs typeface="Yu Gothic"/>
              </a:defRPr>
            </a:lvl9pPr>
          </a:lstStyle>
          <a:p xmlns:a="http://schemas.openxmlformats.org/drawingml/2006/main">
            <a:pPr>
              <a:buNone/>
              <a:defRPr sz="2025" b="1">
                <a:solidFill>
                  <a:srgbClr val="253C4D"/>
                </a:solidFill>
                <a:latin typeface="Yu Gothic"/>
                <a:ea typeface="Yu Gothic"/>
                <a:cs typeface="Yu Gothic"/>
              </a:defRPr>
            </a:pPr>
            <a:r>
              <a:rPr sz="2025" b="1">
                <a:solidFill>
                  <a:srgbClr val="253C4D"/>
                </a:solidFill>
                <a:latin typeface="Yu Gothic"/>
                <a:ea typeface="Yu Gothic"/>
                <a:cs typeface="Yu Gothic"/>
              </a:rPr>
              <a:t>壁の鎖</a:t>
            </a:r>
          </a:p>
        </p:txBody>
      </p:sp>
      <p:sp>
        <p:nvSpPr>
          <p:cNvPr id="10" name="">
            <a:extLst xmlns:a="http://schemas.openxmlformats.org/drawingml/2006/main">
              <a:ext uri="{FF2B5EF4-FFF2-40B4-BE49-F238E27FC236}">
                <a16:creationId xmlns:a16="http://schemas.microsoft.com/office/drawing/2014/main" id="{C5BF8F10-05C7-425A-8443-FE7565811728}"/>
              </a:ext>
            </a:extLst>
          </p:cNvPr>
          <p:cNvSpPr>
            <a:spLocks xmlns:a="http://schemas.openxmlformats.org/drawingml/2006/main" noGrp="1"/>
          </p:cNvSpPr>
          <p:nvPr/>
        </p:nvSpPr>
        <p:spPr>
          <a:xfrm xmlns:a="http://schemas.openxmlformats.org/drawingml/2006/main">
            <a:off x="3381375" y="2171700"/>
            <a:ext cx="571500" cy="57150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1" name="">
            <a:extLst xmlns:a="http://schemas.openxmlformats.org/drawingml/2006/main">
              <a:ext uri="{FF2B5EF4-FFF2-40B4-BE49-F238E27FC236}">
                <a16:creationId xmlns:a16="http://schemas.microsoft.com/office/drawing/2014/main" id="{F2D312CA-05D8-4988-AE54-148D7A6E5D48}"/>
              </a:ext>
            </a:extLst>
          </p:cNvPr>
          <p:cNvSpPr>
            <a:spLocks xmlns:a="http://schemas.openxmlformats.org/drawingml/2006/main" noGrp="1"/>
          </p:cNvSpPr>
          <p:nvPr/>
        </p:nvSpPr>
        <p:spPr>
          <a:xfrm xmlns:a="http://schemas.openxmlformats.org/drawingml/2006/main">
            <a:off x="3562350" y="2171700"/>
            <a:ext cx="28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2" name="">
            <a:extLst xmlns:a="http://schemas.openxmlformats.org/drawingml/2006/main">
              <a:ext uri="{FF2B5EF4-FFF2-40B4-BE49-F238E27FC236}">
                <a16:creationId xmlns:a16="http://schemas.microsoft.com/office/drawing/2014/main" id="{40858725-4999-43A0-8E26-3BE1809D0B1D}"/>
              </a:ext>
            </a:extLst>
          </p:cNvPr>
          <p:cNvSpPr>
            <a:spLocks xmlns:a="http://schemas.openxmlformats.org/drawingml/2006/main" noGrp="1"/>
          </p:cNvSpPr>
          <p:nvPr/>
        </p:nvSpPr>
        <p:spPr>
          <a:xfrm xmlns:a="http://schemas.openxmlformats.org/drawingml/2006/main">
            <a:off x="4791075" y="22193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3" name="">
            <a:extLst xmlns:a="http://schemas.openxmlformats.org/drawingml/2006/main">
              <a:ext uri="{FF2B5EF4-FFF2-40B4-BE49-F238E27FC236}">
                <a16:creationId xmlns:a16="http://schemas.microsoft.com/office/drawing/2014/main" id="{ABD2E2E8-316D-4235-A043-089A6B8E22BA}"/>
              </a:ext>
            </a:extLst>
          </p:cNvPr>
          <p:cNvSpPr>
            <a:spLocks xmlns:a="http://schemas.openxmlformats.org/drawingml/2006/main" noGrp="1"/>
          </p:cNvSpPr>
          <p:nvPr/>
        </p:nvSpPr>
        <p:spPr>
          <a:xfrm xmlns:a="http://schemas.openxmlformats.org/drawingml/2006/main">
            <a:off x="4924425" y="22193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14" name="">
            <a:extLst xmlns:a="http://schemas.openxmlformats.org/drawingml/2006/main">
              <a:ext uri="{FF2B5EF4-FFF2-40B4-BE49-F238E27FC236}">
                <a16:creationId xmlns:a16="http://schemas.microsoft.com/office/drawing/2014/main" id="{8A18E54B-2C39-4EEF-87C1-72E41FE27F43}"/>
              </a:ext>
            </a:extLst>
          </p:cNvPr>
          <p:cNvSpPr>
            <a:spLocks xmlns:a="http://schemas.openxmlformats.org/drawingml/2006/main" noGrp="1"/>
          </p:cNvSpPr>
          <p:nvPr/>
        </p:nvSpPr>
        <p:spPr>
          <a:xfrm xmlns:a="http://schemas.openxmlformats.org/drawingml/2006/main">
            <a:off x="8334375" y="1914525"/>
            <a:ext cx="657225" cy="400050"/>
          </a:xfrm>
          <a:custGeom xmlns:a="http://schemas.openxmlformats.org/drawingml/2006/main">
            <a:pathLst>
              <a:path w="657225" h="400050">
                <a:moveTo>
                  <a:pt x="0" y="400050"/>
                </a:moveTo>
                <a:lnTo>
                  <a:pt x="657225" y="0"/>
                </a:lnTo>
              </a:path>
            </a:pathLst>
          </a:custGeom>
          <a:noFill xmlns:a="http://schemas.openxmlformats.org/drawingml/2006/main"/>
          <a:ln xmlns:a="http://schemas.openxmlformats.org/drawingml/2006/main" w="38100">
            <a:solidFill>
              <a:srgbClr val="253C4D"/>
            </a:solidFill>
          </a:ln>
        </p:spPr>
      </p:sp>
      <p:sp>
        <p:nvSpPr>
          <p:cNvPr id="15" name="">
            <a:extLst xmlns:a="http://schemas.openxmlformats.org/drawingml/2006/main">
              <a:ext uri="{FF2B5EF4-FFF2-40B4-BE49-F238E27FC236}">
                <a16:creationId xmlns:a16="http://schemas.microsoft.com/office/drawing/2014/main" id="{746560BC-8D28-4235-B8F5-EB3A75809549}"/>
              </a:ext>
            </a:extLst>
          </p:cNvPr>
          <p:cNvSpPr>
            <a:spLocks xmlns:a="http://schemas.openxmlformats.org/drawingml/2006/main" noGrp="1"/>
          </p:cNvSpPr>
          <p:nvPr/>
        </p:nvSpPr>
        <p:spPr>
          <a:xfrm xmlns:a="http://schemas.openxmlformats.org/drawingml/2006/main">
            <a:off x="8334375" y="2600325"/>
            <a:ext cx="657225" cy="400050"/>
          </a:xfrm>
          <a:custGeom xmlns:a="http://schemas.openxmlformats.org/drawingml/2006/main">
            <a:pathLst>
              <a:path w="657225" h="400050">
                <a:moveTo>
                  <a:pt x="0" y="0"/>
                </a:moveTo>
                <a:lnTo>
                  <a:pt x="657225" y="400050"/>
                </a:lnTo>
              </a:path>
            </a:pathLst>
          </a:custGeom>
          <a:noFill xmlns:a="http://schemas.openxmlformats.org/drawingml/2006/main"/>
          <a:ln xmlns:a="http://schemas.openxmlformats.org/drawingml/2006/main" w="38100">
            <a:solidFill>
              <a:srgbClr val="253C4D"/>
            </a:solidFill>
          </a:ln>
        </p:spPr>
      </p:sp>
      <p:sp>
        <p:nvSpPr>
          <p:cNvPr id="16" name="">
            <a:extLst xmlns:a="http://schemas.openxmlformats.org/drawingml/2006/main">
              <a:ext uri="{FF2B5EF4-FFF2-40B4-BE49-F238E27FC236}">
                <a16:creationId xmlns:a16="http://schemas.microsoft.com/office/drawing/2014/main" id="{5E30A8C6-2AD7-47C3-B89C-FD2C4B35E68F}"/>
              </a:ext>
            </a:extLst>
          </p:cNvPr>
          <p:cNvSpPr>
            <a:spLocks xmlns:a="http://schemas.openxmlformats.org/drawingml/2006/main" noGrp="1"/>
          </p:cNvSpPr>
          <p:nvPr/>
        </p:nvSpPr>
        <p:spPr>
          <a:xfrm xmlns:a="http://schemas.openxmlformats.org/drawingml/2006/main">
            <a:off x="7781925" y="2143125"/>
            <a:ext cx="628650" cy="628650"/>
          </a:xfrm>
          <a:prstGeom xmlns:a="http://schemas.openxmlformats.org/drawingml/2006/main" prst="ellipse">
            <a:avLst/>
          </a:prstGeom>
          <a:solidFill xmlns:a="http://schemas.openxmlformats.org/drawingml/2006/main">
            <a:srgbClr val="C4483C"/>
          </a:solidFill>
          <a:ln xmlns:a="http://schemas.openxmlformats.org/drawingml/2006/main" w="9525">
            <a:solidFill>
              <a:srgbClr val="C4483C"/>
            </a:solidFill>
          </a:ln>
        </p:spPr>
      </p:sp>
      <p:sp>
        <p:nvSpPr>
          <p:cNvPr id="17" name="">
            <a:extLst xmlns:a="http://schemas.openxmlformats.org/drawingml/2006/main">
              <a:ext uri="{FF2B5EF4-FFF2-40B4-BE49-F238E27FC236}">
                <a16:creationId xmlns:a16="http://schemas.microsoft.com/office/drawing/2014/main" id="{BCB05322-BCFE-410C-8DBA-8CC5DA78F768}"/>
              </a:ext>
            </a:extLst>
          </p:cNvPr>
          <p:cNvSpPr>
            <a:spLocks xmlns:a="http://schemas.openxmlformats.org/drawingml/2006/main" noGrp="1"/>
          </p:cNvSpPr>
          <p:nvPr/>
        </p:nvSpPr>
        <p:spPr>
          <a:xfrm xmlns:a="http://schemas.openxmlformats.org/drawingml/2006/main">
            <a:off x="7991475" y="2143125"/>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03A189D9-B36F-487A-A10B-56E5D8B1D5F9}"/>
              </a:ext>
            </a:extLst>
          </p:cNvPr>
          <p:cNvSpPr>
            <a:spLocks xmlns:a="http://schemas.openxmlformats.org/drawingml/2006/main" noGrp="1"/>
          </p:cNvSpPr>
          <p:nvPr/>
        </p:nvSpPr>
        <p:spPr>
          <a:xfrm xmlns:a="http://schemas.openxmlformats.org/drawingml/2006/main">
            <a:off x="9001125" y="15335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19" name="">
            <a:extLst xmlns:a="http://schemas.openxmlformats.org/drawingml/2006/main">
              <a:ext uri="{FF2B5EF4-FFF2-40B4-BE49-F238E27FC236}">
                <a16:creationId xmlns:a16="http://schemas.microsoft.com/office/drawing/2014/main" id="{5D3A7392-E329-4FE7-8AEB-70E166229627}"/>
              </a:ext>
            </a:extLst>
          </p:cNvPr>
          <p:cNvSpPr>
            <a:spLocks xmlns:a="http://schemas.openxmlformats.org/drawingml/2006/main" noGrp="1"/>
          </p:cNvSpPr>
          <p:nvPr/>
        </p:nvSpPr>
        <p:spPr>
          <a:xfrm xmlns:a="http://schemas.openxmlformats.org/drawingml/2006/main">
            <a:off x="9134475" y="15335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0" name="">
            <a:extLst xmlns:a="http://schemas.openxmlformats.org/drawingml/2006/main">
              <a:ext uri="{FF2B5EF4-FFF2-40B4-BE49-F238E27FC236}">
                <a16:creationId xmlns:a16="http://schemas.microsoft.com/office/drawing/2014/main" id="{8F0BCC6C-8739-416F-AA71-4F37162D2066}"/>
              </a:ext>
            </a:extLst>
          </p:cNvPr>
          <p:cNvSpPr>
            <a:spLocks xmlns:a="http://schemas.openxmlformats.org/drawingml/2006/main" noGrp="1"/>
          </p:cNvSpPr>
          <p:nvPr/>
        </p:nvSpPr>
        <p:spPr>
          <a:xfrm xmlns:a="http://schemas.openxmlformats.org/drawingml/2006/main">
            <a:off x="9001125" y="2905125"/>
            <a:ext cx="476250" cy="476250"/>
          </a:xfrm>
          <a:prstGeom xmlns:a="http://schemas.openxmlformats.org/drawingml/2006/main" prst="ellipse">
            <a:avLst/>
          </a:prstGeom>
          <a:solidFill xmlns:a="http://schemas.openxmlformats.org/drawingml/2006/main">
            <a:srgbClr val="2876A8"/>
          </a:solidFill>
          <a:ln xmlns:a="http://schemas.openxmlformats.org/drawingml/2006/main" w="9525">
            <a:solidFill>
              <a:srgbClr val="2876A8"/>
            </a:solidFill>
          </a:ln>
        </p:spPr>
      </p:sp>
      <p:sp>
        <p:nvSpPr>
          <p:cNvPr id="21" name="">
            <a:extLst xmlns:a="http://schemas.openxmlformats.org/drawingml/2006/main">
              <a:ext uri="{FF2B5EF4-FFF2-40B4-BE49-F238E27FC236}">
                <a16:creationId xmlns:a16="http://schemas.microsoft.com/office/drawing/2014/main" id="{055FA518-5B86-417F-A210-B9990C595C75}"/>
              </a:ext>
            </a:extLst>
          </p:cNvPr>
          <p:cNvSpPr>
            <a:spLocks xmlns:a="http://schemas.openxmlformats.org/drawingml/2006/main" noGrp="1"/>
          </p:cNvSpPr>
          <p:nvPr/>
        </p:nvSpPr>
        <p:spPr>
          <a:xfrm xmlns:a="http://schemas.openxmlformats.org/drawingml/2006/main">
            <a:off x="9134475" y="2905125"/>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FFFFFF"/>
                </a:solidFill>
                <a:latin typeface="Yu Gothic"/>
                <a:ea typeface="Yu Gothic"/>
                <a:cs typeface="Yu Gothic"/>
              </a:defRPr>
            </a:defPPr>
            <a:lvl1pPr>
              <a:buNone/>
              <a:defRPr sz="2100" b="1">
                <a:solidFill>
                  <a:srgbClr val="FFFFFF"/>
                </a:solidFill>
                <a:latin typeface="Yu Gothic"/>
                <a:ea typeface="Yu Gothic"/>
                <a:cs typeface="Yu Gothic"/>
              </a:defRPr>
            </a:lvl1pPr>
            <a:lvl2pPr>
              <a:buNone/>
              <a:defRPr sz="2100" b="1">
                <a:solidFill>
                  <a:srgbClr val="FFFFFF"/>
                </a:solidFill>
                <a:latin typeface="Yu Gothic"/>
                <a:ea typeface="Yu Gothic"/>
                <a:cs typeface="Yu Gothic"/>
              </a:defRPr>
            </a:lvl2pPr>
            <a:lvl3pPr>
              <a:buNone/>
              <a:defRPr sz="2100" b="1">
                <a:solidFill>
                  <a:srgbClr val="FFFFFF"/>
                </a:solidFill>
                <a:latin typeface="Yu Gothic"/>
                <a:ea typeface="Yu Gothic"/>
                <a:cs typeface="Yu Gothic"/>
              </a:defRPr>
            </a:lvl3pPr>
            <a:lvl4pPr>
              <a:buNone/>
              <a:defRPr sz="2100" b="1">
                <a:solidFill>
                  <a:srgbClr val="FFFFFF"/>
                </a:solidFill>
                <a:latin typeface="Yu Gothic"/>
                <a:ea typeface="Yu Gothic"/>
                <a:cs typeface="Yu Gothic"/>
              </a:defRPr>
            </a:lvl4pPr>
            <a:lvl5pPr>
              <a:buNone/>
              <a:defRPr sz="2100" b="1">
                <a:solidFill>
                  <a:srgbClr val="FFFFFF"/>
                </a:solidFill>
                <a:latin typeface="Yu Gothic"/>
                <a:ea typeface="Yu Gothic"/>
                <a:cs typeface="Yu Gothic"/>
              </a:defRPr>
            </a:lvl5pPr>
            <a:lvl6pPr>
              <a:buNone/>
              <a:defRPr sz="2100" b="1">
                <a:solidFill>
                  <a:srgbClr val="FFFFFF"/>
                </a:solidFill>
                <a:latin typeface="Yu Gothic"/>
                <a:ea typeface="Yu Gothic"/>
                <a:cs typeface="Yu Gothic"/>
              </a:defRPr>
            </a:lvl6pPr>
            <a:lvl7pPr>
              <a:buNone/>
              <a:defRPr sz="2100" b="1">
                <a:solidFill>
                  <a:srgbClr val="FFFFFF"/>
                </a:solidFill>
                <a:latin typeface="Yu Gothic"/>
                <a:ea typeface="Yu Gothic"/>
                <a:cs typeface="Yu Gothic"/>
              </a:defRPr>
            </a:lvl7pPr>
            <a:lvl8pPr>
              <a:buNone/>
              <a:defRPr sz="2100" b="1">
                <a:solidFill>
                  <a:srgbClr val="FFFFFF"/>
                </a:solidFill>
                <a:latin typeface="Yu Gothic"/>
                <a:ea typeface="Yu Gothic"/>
                <a:cs typeface="Yu Gothic"/>
              </a:defRPr>
            </a:lvl8pPr>
            <a:lvl9pPr>
              <a:buNone/>
              <a:defRPr sz="2100" b="1">
                <a:solidFill>
                  <a:srgbClr val="FFFFFF"/>
                </a:solidFill>
                <a:latin typeface="Yu Gothic"/>
                <a:ea typeface="Yu Gothic"/>
                <a:cs typeface="Yu Gothic"/>
              </a:defRPr>
            </a:lvl9pPr>
          </a:lstStyle>
          <a:p xmlns:a="http://schemas.openxmlformats.org/drawingml/2006/main">
            <a:pP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H</a:t>
            </a:r>
          </a:p>
        </p:txBody>
      </p:sp>
      <p:sp>
        <p:nvSpPr>
          <p:cNvPr id="22" name="HydrogenBond">
            <a:extLst xmlns:a="http://schemas.openxmlformats.org/drawingml/2006/main">
              <a:ext uri="{FF2B5EF4-FFF2-40B4-BE49-F238E27FC236}">
                <a16:creationId xmlns:a16="http://schemas.microsoft.com/office/drawing/2014/main" id="{E73E7CD3-5031-4202-A77F-65307534AFF8}"/>
              </a:ext>
            </a:extLst>
          </p:cNvPr>
          <p:cNvSpPr>
            <a:spLocks xmlns:a="http://schemas.openxmlformats.org/drawingml/2006/main" noGrp="1"/>
          </p:cNvSpPr>
          <p:nvPr/>
        </p:nvSpPr>
        <p:spPr>
          <a:xfrm xmlns:a="http://schemas.openxmlformats.org/drawingml/2006/main">
            <a:off x="54292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3" name="HydrogenBond">
            <a:extLst xmlns:a="http://schemas.openxmlformats.org/drawingml/2006/main">
              <a:ext uri="{FF2B5EF4-FFF2-40B4-BE49-F238E27FC236}">
                <a16:creationId xmlns:a16="http://schemas.microsoft.com/office/drawing/2014/main" id="{7DA6E8CA-D977-43ED-8976-A89C41F584BC}"/>
              </a:ext>
            </a:extLst>
          </p:cNvPr>
          <p:cNvSpPr>
            <a:spLocks xmlns:a="http://schemas.openxmlformats.org/drawingml/2006/main" noGrp="1"/>
          </p:cNvSpPr>
          <p:nvPr/>
        </p:nvSpPr>
        <p:spPr>
          <a:xfrm xmlns:a="http://schemas.openxmlformats.org/drawingml/2006/main">
            <a:off x="56959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4" name="HydrogenBond">
            <a:extLst xmlns:a="http://schemas.openxmlformats.org/drawingml/2006/main">
              <a:ext uri="{FF2B5EF4-FFF2-40B4-BE49-F238E27FC236}">
                <a16:creationId xmlns:a16="http://schemas.microsoft.com/office/drawing/2014/main" id="{44103C4C-B4A1-4965-9192-9D480F311E08}"/>
              </a:ext>
            </a:extLst>
          </p:cNvPr>
          <p:cNvSpPr>
            <a:spLocks xmlns:a="http://schemas.openxmlformats.org/drawingml/2006/main" noGrp="1"/>
          </p:cNvSpPr>
          <p:nvPr/>
        </p:nvSpPr>
        <p:spPr>
          <a:xfrm xmlns:a="http://schemas.openxmlformats.org/drawingml/2006/main">
            <a:off x="59626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5" name="HydrogenBond">
            <a:extLst xmlns:a="http://schemas.openxmlformats.org/drawingml/2006/main">
              <a:ext uri="{FF2B5EF4-FFF2-40B4-BE49-F238E27FC236}">
                <a16:creationId xmlns:a16="http://schemas.microsoft.com/office/drawing/2014/main" id="{1F7C7D13-DA3A-4148-9C06-D7A3DB259697}"/>
              </a:ext>
            </a:extLst>
          </p:cNvPr>
          <p:cNvSpPr>
            <a:spLocks xmlns:a="http://schemas.openxmlformats.org/drawingml/2006/main" noGrp="1"/>
          </p:cNvSpPr>
          <p:nvPr/>
        </p:nvSpPr>
        <p:spPr>
          <a:xfrm xmlns:a="http://schemas.openxmlformats.org/drawingml/2006/main">
            <a:off x="62293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6" name="HydrogenBond">
            <a:extLst xmlns:a="http://schemas.openxmlformats.org/drawingml/2006/main">
              <a:ext uri="{FF2B5EF4-FFF2-40B4-BE49-F238E27FC236}">
                <a16:creationId xmlns:a16="http://schemas.microsoft.com/office/drawing/2014/main" id="{8F516CC1-9FAC-4875-947D-8A746CA3095D}"/>
              </a:ext>
            </a:extLst>
          </p:cNvPr>
          <p:cNvSpPr>
            <a:spLocks xmlns:a="http://schemas.openxmlformats.org/drawingml/2006/main" noGrp="1"/>
          </p:cNvSpPr>
          <p:nvPr/>
        </p:nvSpPr>
        <p:spPr>
          <a:xfrm xmlns:a="http://schemas.openxmlformats.org/drawingml/2006/main">
            <a:off x="64960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7" name="HydrogenBond">
            <a:extLst xmlns:a="http://schemas.openxmlformats.org/drawingml/2006/main">
              <a:ext uri="{FF2B5EF4-FFF2-40B4-BE49-F238E27FC236}">
                <a16:creationId xmlns:a16="http://schemas.microsoft.com/office/drawing/2014/main" id="{C34FD372-F542-45E2-8C20-A81AF321C234}"/>
              </a:ext>
            </a:extLst>
          </p:cNvPr>
          <p:cNvSpPr>
            <a:spLocks xmlns:a="http://schemas.openxmlformats.org/drawingml/2006/main" noGrp="1"/>
          </p:cNvSpPr>
          <p:nvPr/>
        </p:nvSpPr>
        <p:spPr>
          <a:xfrm xmlns:a="http://schemas.openxmlformats.org/drawingml/2006/main">
            <a:off x="67627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8" name="HydrogenBond">
            <a:extLst xmlns:a="http://schemas.openxmlformats.org/drawingml/2006/main">
              <a:ext uri="{FF2B5EF4-FFF2-40B4-BE49-F238E27FC236}">
                <a16:creationId xmlns:a16="http://schemas.microsoft.com/office/drawing/2014/main" id="{1AEFE79C-FA1F-44FA-A10E-C18435AF1F95}"/>
              </a:ext>
            </a:extLst>
          </p:cNvPr>
          <p:cNvSpPr>
            <a:spLocks xmlns:a="http://schemas.openxmlformats.org/drawingml/2006/main" noGrp="1"/>
          </p:cNvSpPr>
          <p:nvPr/>
        </p:nvSpPr>
        <p:spPr>
          <a:xfrm xmlns:a="http://schemas.openxmlformats.org/drawingml/2006/main">
            <a:off x="70294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29" name="HydrogenBond">
            <a:extLst xmlns:a="http://schemas.openxmlformats.org/drawingml/2006/main">
              <a:ext uri="{FF2B5EF4-FFF2-40B4-BE49-F238E27FC236}">
                <a16:creationId xmlns:a16="http://schemas.microsoft.com/office/drawing/2014/main" id="{0FFB3B15-FC79-46E2-9147-1E3BCDFD3A3A}"/>
              </a:ext>
            </a:extLst>
          </p:cNvPr>
          <p:cNvSpPr>
            <a:spLocks xmlns:a="http://schemas.openxmlformats.org/drawingml/2006/main" noGrp="1"/>
          </p:cNvSpPr>
          <p:nvPr/>
        </p:nvSpPr>
        <p:spPr>
          <a:xfrm xmlns:a="http://schemas.openxmlformats.org/drawingml/2006/main">
            <a:off x="72961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30" name="HydrogenBond">
            <a:extLst xmlns:a="http://schemas.openxmlformats.org/drawingml/2006/main">
              <a:ext uri="{FF2B5EF4-FFF2-40B4-BE49-F238E27FC236}">
                <a16:creationId xmlns:a16="http://schemas.microsoft.com/office/drawing/2014/main" id="{985F519E-28DF-4065-B4D6-86AB2AC85E3E}"/>
              </a:ext>
            </a:extLst>
          </p:cNvPr>
          <p:cNvSpPr>
            <a:spLocks xmlns:a="http://schemas.openxmlformats.org/drawingml/2006/main" noGrp="1"/>
          </p:cNvSpPr>
          <p:nvPr/>
        </p:nvSpPr>
        <p:spPr>
          <a:xfrm xmlns:a="http://schemas.openxmlformats.org/drawingml/2006/main">
            <a:off x="7562850" y="2457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38100">
            <a:solidFill>
              <a:srgbClr val="087E8B"/>
            </a:solidFill>
          </a:ln>
        </p:spPr>
      </p:sp>
      <p:sp>
        <p:nvSpPr>
          <p:cNvPr id="31" name="">
            <a:extLst xmlns:a="http://schemas.openxmlformats.org/drawingml/2006/main">
              <a:ext uri="{FF2B5EF4-FFF2-40B4-BE49-F238E27FC236}">
                <a16:creationId xmlns:a16="http://schemas.microsoft.com/office/drawing/2014/main" id="{05A2E4F7-8B64-427F-AD31-86B1E90EDB4F}"/>
              </a:ext>
            </a:extLst>
          </p:cNvPr>
          <p:cNvSpPr>
            <a:spLocks xmlns:a="http://schemas.openxmlformats.org/drawingml/2006/main" noGrp="1"/>
          </p:cNvSpPr>
          <p:nvPr/>
        </p:nvSpPr>
        <p:spPr>
          <a:xfrm xmlns:a="http://schemas.openxmlformats.org/drawingml/2006/main">
            <a:off x="5238750" y="281940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水素結合の一例</a:t>
            </a:r>
          </a:p>
        </p:txBody>
      </p:sp>
      <p:sp>
        <p:nvSpPr>
          <p:cNvPr id="32" name="">
            <a:extLst xmlns:a="http://schemas.openxmlformats.org/drawingml/2006/main">
              <a:ext uri="{FF2B5EF4-FFF2-40B4-BE49-F238E27FC236}">
                <a16:creationId xmlns:a16="http://schemas.microsoft.com/office/drawing/2014/main" id="{6A5D89A7-A13A-42F2-80CD-3370FD41F9F9}"/>
              </a:ext>
            </a:extLst>
          </p:cNvPr>
          <p:cNvSpPr>
            <a:spLocks xmlns:a="http://schemas.openxmlformats.org/drawingml/2006/main" noGrp="1"/>
          </p:cNvSpPr>
          <p:nvPr/>
        </p:nvSpPr>
        <p:spPr>
          <a:xfrm xmlns:a="http://schemas.openxmlformats.org/drawingml/2006/main">
            <a:off x="838200" y="40386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① 分子内の実線と、水素結合の点線を区別</a:t>
            </a:r>
          </a:p>
        </p:txBody>
      </p:sp>
      <p:sp>
        <p:nvSpPr>
          <p:cNvPr id="33" name="">
            <a:extLst xmlns:a="http://schemas.openxmlformats.org/drawingml/2006/main">
              <a:ext uri="{FF2B5EF4-FFF2-40B4-BE49-F238E27FC236}">
                <a16:creationId xmlns:a16="http://schemas.microsoft.com/office/drawing/2014/main" id="{0E280980-66EE-4042-A328-2A4F2B13261E}"/>
              </a:ext>
            </a:extLst>
          </p:cNvPr>
          <p:cNvSpPr>
            <a:spLocks xmlns:a="http://schemas.openxmlformats.org/drawingml/2006/main" noGrp="1"/>
          </p:cNvSpPr>
          <p:nvPr/>
        </p:nvSpPr>
        <p:spPr>
          <a:xfrm xmlns:a="http://schemas.openxmlformats.org/drawingml/2006/main">
            <a:off x="838200" y="45624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② 壁の膨潤では、壁内の水と成分との相互作用に注目</a:t>
            </a:r>
          </a:p>
        </p:txBody>
      </p:sp>
      <p:sp>
        <p:nvSpPr>
          <p:cNvPr id="34" name="">
            <a:extLst xmlns:a="http://schemas.openxmlformats.org/drawingml/2006/main">
              <a:ext uri="{FF2B5EF4-FFF2-40B4-BE49-F238E27FC236}">
                <a16:creationId xmlns:a16="http://schemas.microsoft.com/office/drawing/2014/main" id="{2201184F-801B-4075-8D65-7B3A799D988D}"/>
              </a:ext>
            </a:extLst>
          </p:cNvPr>
          <p:cNvSpPr>
            <a:spLocks xmlns:a="http://schemas.openxmlformats.org/drawingml/2006/main" noGrp="1"/>
          </p:cNvSpPr>
          <p:nvPr/>
        </p:nvSpPr>
        <p:spPr>
          <a:xfrm xmlns:a="http://schemas.openxmlformats.org/drawingml/2006/main">
            <a:off x="838200" y="50863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③ 表面のぬれ方と、内部の吸湿を分けて確かめる</a:t>
            </a:r>
          </a:p>
        </p:txBody>
      </p:sp>
      <p:sp>
        <p:nvSpPr>
          <p:cNvPr id="35" name="">
            <a:extLst xmlns:a="http://schemas.openxmlformats.org/drawingml/2006/main">
              <a:ext uri="{FF2B5EF4-FFF2-40B4-BE49-F238E27FC236}">
                <a16:creationId xmlns:a16="http://schemas.microsoft.com/office/drawing/2014/main" id="{B88D32D0-575A-4766-BD95-6504F7921A18}"/>
              </a:ext>
            </a:extLst>
          </p:cNvPr>
          <p:cNvSpPr>
            <a:spLocks xmlns:a="http://schemas.openxmlformats.org/drawingml/2006/main" noGrp="1"/>
          </p:cNvSpPr>
          <p:nvPr/>
        </p:nvSpPr>
        <p:spPr>
          <a:xfrm xmlns:a="http://schemas.openxmlformats.org/drawingml/2006/main">
            <a:off x="838200" y="56102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親水性を水溶性、疎水性を完全防水と同一にしない</a:t>
            </a:r>
          </a:p>
        </p:txBody>
      </p:sp>
    </p:spTree>
    <p:extLst>
      <p:ext uri="{BB962C8B-B14F-4D97-AF65-F5344CB8AC3E}">
        <p14:creationId xmlns:p14="http://schemas.microsoft.com/office/powerpoint/2010/main" val="35604383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5C48D0-AFA1-4B69-A8A5-26C205529BA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中学生への説明と観察の設計</a:t>
            </a:r>
          </a:p>
        </p:txBody>
      </p:sp>
      <p:sp>
        <p:nvSpPr>
          <p:cNvPr id="2" name="">
            <a:extLst xmlns:a="http://schemas.openxmlformats.org/drawingml/2006/main">
              <a:ext uri="{FF2B5EF4-FFF2-40B4-BE49-F238E27FC236}">
                <a16:creationId xmlns:a16="http://schemas.microsoft.com/office/drawing/2014/main" id="{1EFEE6A3-5E8C-42B8-8BEA-F6F4C5627B0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5D9DFE-F09F-454E-B327-981B48D7966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59A85E01-4E46-49B5-866D-B4126B75D56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graphicFrame>
        <p:nvGraphicFramePr>
          <p:cNvPr id="5" name="">
            <a:extLst xmlns:a="http://schemas.openxmlformats.org/drawingml/2006/main">
              <a:ext uri="{FF2B5EF4-FFF2-40B4-BE49-F238E27FC236}">
                <a16:creationId xmlns:a16="http://schemas.microsoft.com/office/drawing/2014/main" id="{4943274E-3361-440B-BEC7-32C72F89EE10}"/>
              </a:ext>
            </a:extLst>
          </p:cNvPr>
          <p:cNvGraphicFramePr/>
          <p:nvPr/>
        </p:nvGraphicFramePr>
        <p:xfrm>
          <a:off xmlns:a="http://schemas.openxmlformats.org/drawingml/2006/main" x="838200" y="1762125"/>
          <a:ext xmlns:a="http://schemas.openxmlformats.org/drawingml/2006/main" cx="10477500" cy="3286125"/>
        </p:xfrm>
        <a:graphic xmlns:a="http://schemas.openxmlformats.org/drawingml/2006/main">
          <a:graphicData uri="http://schemas.openxmlformats.org/drawingml/2006/table">
            <a:tbl>
              <a:tblPr/>
              <a:tblGrid>
                <a:gridCol w="4191000"/>
                <a:gridCol w="6286500"/>
              </a:tblGrid>
              <a:tr h="821531">
                <a:tc>
                  <a:txBody>
                    <a:bodyPr lIns="95250" tIns="95250" rIns="95250" bIns="95250"/>
                    <a:lstStyle/>
                    <a:p>
                      <a:r>
                        <a:rPr sz="2025" b="1">
                          <a:solidFill>
                            <a:srgbClr val="FFFFFF"/>
                          </a:solidFill>
                          <a:latin typeface="Yu Gothic"/>
                          <a:ea typeface="Yu Gothic"/>
                          <a:cs typeface="Yu Gothic"/>
                        </a:rPr>
                        <a:t>学習者に示すもの</a:t>
                      </a:r>
                    </a:p>
                  </a:txBody>
                  <a:tcPr marL="91440" marR="91440" marT="45720" marB="45720">
                    <a:solidFill>
                      <a:srgbClr val="18364F"/>
                    </a:solidFill>
                  </a:tcPr>
                </a:tc>
                <a:tc>
                  <a:txBody>
                    <a:bodyPr lIns="95250" tIns="95250" rIns="95250" bIns="95250"/>
                    <a:lstStyle/>
                    <a:p>
                      <a:r>
                        <a:rPr sz="2025" b="1">
                          <a:solidFill>
                            <a:srgbClr val="FFFFFF"/>
                          </a:solidFill>
                          <a:latin typeface="Yu Gothic"/>
                          <a:ea typeface="Yu Gothic"/>
                          <a:cs typeface="Yu Gothic"/>
                        </a:rPr>
                        <a:t>教員が押さえる背景</a:t>
                      </a:r>
                    </a:p>
                  </a:txBody>
                  <a:tcPr marL="91440" marR="91440" marT="45720" marB="45720">
                    <a:solidFill>
                      <a:srgbClr val="18364F"/>
                    </a:solidFill>
                  </a:tcPr>
                </a:tc>
              </a:tr>
              <a:tr h="821531">
                <a:tc>
                  <a:txBody>
                    <a:bodyPr lIns="95250" tIns="95250" rIns="95250" bIns="95250"/>
                    <a:lstStyle/>
                    <a:p>
                      <a:r>
                        <a:rPr sz="2025" b="0">
                          <a:solidFill>
                            <a:srgbClr val="253C4D"/>
                          </a:solidFill>
                          <a:latin typeface="Yu Gothic"/>
                          <a:ea typeface="Yu Gothic"/>
                          <a:cs typeface="Yu Gothic"/>
                        </a:rPr>
                        <a:t>方向を示した木片</a:t>
                      </a:r>
                    </a:p>
                  </a:txBody>
                  <a:tcPr marL="91440" marR="91440" marT="45720" marB="45720">
                    <a:solidFill>
                      <a:srgbClr val="F1F5F7"/>
                    </a:solidFill>
                  </a:tcPr>
                </a:tc>
                <a:tc>
                  <a:txBody>
                    <a:bodyPr lIns="95250" tIns="95250" rIns="95250" bIns="95250"/>
                    <a:lstStyle/>
                    <a:p>
                      <a:r>
                        <a:rPr sz="2025" b="0">
                          <a:solidFill>
                            <a:srgbClr val="253C4D"/>
                          </a:solidFill>
                          <a:latin typeface="Yu Gothic"/>
                          <a:ea typeface="Yu Gothic"/>
                          <a:cs typeface="Yu Gothic"/>
                        </a:rPr>
                        <a:t>L・R・T、細胞の配列と壁内部の配向</a:t>
                      </a:r>
                    </a:p>
                  </a:txBody>
                  <a:tcPr marL="91440" marR="91440" marT="45720" marB="45720">
                    <a:solidFill>
                      <a:srgbClr val="F1F5F7"/>
                    </a:solidFill>
                  </a:tcPr>
                </a:tc>
              </a:tr>
              <a:tr h="821531">
                <a:tc>
                  <a:txBody>
                    <a:bodyPr lIns="95250" tIns="95250" rIns="95250" bIns="95250"/>
                    <a:lstStyle/>
                    <a:p>
                      <a:r>
                        <a:rPr sz="2025" b="0">
                          <a:solidFill>
                            <a:srgbClr val="253C4D"/>
                          </a:solidFill>
                          <a:latin typeface="Yu Gothic"/>
                          <a:ea typeface="Yu Gothic"/>
                          <a:cs typeface="Yu Gothic"/>
                        </a:rPr>
                        <a:t>壁と水の図</a:t>
                      </a:r>
                    </a:p>
                  </a:txBody>
                  <a:tcPr marL="91440" marR="91440" marT="45720" marB="45720">
                    <a:solidFill>
                      <a:srgbClr val="FFFFFF"/>
                    </a:solidFill>
                  </a:tcPr>
                </a:tc>
                <a:tc>
                  <a:txBody>
                    <a:bodyPr lIns="95250" tIns="95250" rIns="95250" bIns="95250"/>
                    <a:lstStyle/>
                    <a:p>
                      <a:r>
                        <a:rPr sz="2025" b="0">
                          <a:solidFill>
                            <a:srgbClr val="253C4D"/>
                          </a:solidFill>
                          <a:latin typeface="Yu Gothic"/>
                          <a:ea typeface="Yu Gothic"/>
                          <a:cs typeface="Yu Gothic"/>
                        </a:rPr>
                        <a:t>OH基、水素結合、水がある場所</a:t>
                      </a:r>
                    </a:p>
                  </a:txBody>
                  <a:tcPr marL="91440" marR="91440" marT="45720" marB="45720">
                    <a:solidFill>
                      <a:srgbClr val="FFFFFF"/>
                    </a:solidFill>
                  </a:tcPr>
                </a:tc>
              </a:tr>
              <a:tr h="821531">
                <a:tc>
                  <a:txBody>
                    <a:bodyPr lIns="95250" tIns="95250" rIns="95250" bIns="95250"/>
                    <a:lstStyle/>
                    <a:p>
                      <a:r>
                        <a:rPr sz="2025" b="0">
                          <a:solidFill>
                            <a:srgbClr val="253C4D"/>
                          </a:solidFill>
                          <a:latin typeface="Yu Gothic"/>
                          <a:ea typeface="Yu Gothic"/>
                          <a:cs typeface="Yu Gothic"/>
                        </a:rPr>
                        <a:t>そろえた条件での比較</a:t>
                      </a:r>
                    </a:p>
                  </a:txBody>
                  <a:tcPr marL="91440" marR="91440" marT="45720" marB="45720">
                    <a:solidFill>
                      <a:srgbClr val="F1F5F7"/>
                    </a:solidFill>
                  </a:tcPr>
                </a:tc>
                <a:tc>
                  <a:txBody>
                    <a:bodyPr lIns="95250" tIns="95250" rIns="95250" bIns="95250"/>
                    <a:lstStyle/>
                    <a:p>
                      <a:r>
                        <a:rPr sz="2025" b="0">
                          <a:solidFill>
                            <a:srgbClr val="253C4D"/>
                          </a:solidFill>
                          <a:latin typeface="Yu Gothic"/>
                          <a:ea typeface="Yu Gothic"/>
                          <a:cs typeface="Yu Gothic"/>
                        </a:rPr>
                        <a:t>表面のぬれ・質量変化・寸法変化を区別</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0DEB3408-72F9-4867-ABA0-DE7FB40019CB}"/>
              </a:ext>
            </a:extLst>
          </p:cNvPr>
          <p:cNvSpPr>
            <a:spLocks xmlns:a="http://schemas.openxmlformats.org/drawingml/2006/main" noGrp="1"/>
          </p:cNvSpPr>
          <p:nvPr/>
        </p:nvSpPr>
        <p:spPr>
          <a:xfrm xmlns:a="http://schemas.openxmlformats.org/drawingml/2006/main">
            <a:off x="838200" y="53530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指導要領解説 A(1)ア → 材料の特徴・加工等の技術</a:t>
            </a:r>
          </a:p>
        </p:txBody>
      </p:sp>
      <p:sp>
        <p:nvSpPr>
          <p:cNvPr id="7" name="">
            <a:extLst xmlns:a="http://schemas.openxmlformats.org/drawingml/2006/main">
              <a:ext uri="{FF2B5EF4-FFF2-40B4-BE49-F238E27FC236}">
                <a16:creationId xmlns:a16="http://schemas.microsoft.com/office/drawing/2014/main" id="{0EEB7882-BAB3-4E63-9061-B630222F1511}"/>
              </a:ext>
            </a:extLst>
          </p:cNvPr>
          <p:cNvSpPr>
            <a:spLocks xmlns:a="http://schemas.openxmlformats.org/drawingml/2006/main" noGrp="1"/>
          </p:cNvSpPr>
          <p:nvPr/>
        </p:nvSpPr>
        <p:spPr>
          <a:xfrm xmlns:a="http://schemas.openxmlformats.org/drawingml/2006/main">
            <a:off x="838200" y="590550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buNone/>
              <a:defRPr sz="1725" b="0">
                <a:solidFill>
                  <a:srgbClr val="596875"/>
                </a:solidFill>
                <a:latin typeface="Yu Gothic"/>
                <a:ea typeface="Yu Gothic"/>
                <a:cs typeface="Yu Gothic"/>
              </a:defRPr>
            </a:lvl1pPr>
            <a:lvl2pPr>
              <a:buNone/>
              <a:defRPr sz="1725" b="0">
                <a:solidFill>
                  <a:srgbClr val="596875"/>
                </a:solidFill>
                <a:latin typeface="Yu Gothic"/>
                <a:ea typeface="Yu Gothic"/>
                <a:cs typeface="Yu Gothic"/>
              </a:defRPr>
            </a:lvl2pPr>
            <a:lvl3pPr>
              <a:buNone/>
              <a:defRPr sz="1725" b="0">
                <a:solidFill>
                  <a:srgbClr val="596875"/>
                </a:solidFill>
                <a:latin typeface="Yu Gothic"/>
                <a:ea typeface="Yu Gothic"/>
                <a:cs typeface="Yu Gothic"/>
              </a:defRPr>
            </a:lvl3pPr>
            <a:lvl4pPr>
              <a:buNone/>
              <a:defRPr sz="1725" b="0">
                <a:solidFill>
                  <a:srgbClr val="596875"/>
                </a:solidFill>
                <a:latin typeface="Yu Gothic"/>
                <a:ea typeface="Yu Gothic"/>
                <a:cs typeface="Yu Gothic"/>
              </a:defRPr>
            </a:lvl4pPr>
            <a:lvl5pPr>
              <a:buNone/>
              <a:defRPr sz="1725" b="0">
                <a:solidFill>
                  <a:srgbClr val="596875"/>
                </a:solidFill>
                <a:latin typeface="Yu Gothic"/>
                <a:ea typeface="Yu Gothic"/>
                <a:cs typeface="Yu Gothic"/>
              </a:defRPr>
            </a:lvl5pPr>
            <a:lvl6pPr>
              <a:buNone/>
              <a:defRPr sz="1725" b="0">
                <a:solidFill>
                  <a:srgbClr val="596875"/>
                </a:solidFill>
                <a:latin typeface="Yu Gothic"/>
                <a:ea typeface="Yu Gothic"/>
                <a:cs typeface="Yu Gothic"/>
              </a:defRPr>
            </a:lvl6pPr>
            <a:lvl7pPr>
              <a:buNone/>
              <a:defRPr sz="1725" b="0">
                <a:solidFill>
                  <a:srgbClr val="596875"/>
                </a:solidFill>
                <a:latin typeface="Yu Gothic"/>
                <a:ea typeface="Yu Gothic"/>
                <a:cs typeface="Yu Gothic"/>
              </a:defRPr>
            </a:lvl7pPr>
            <a:lvl8pPr>
              <a:buNone/>
              <a:defRPr sz="1725" b="0">
                <a:solidFill>
                  <a:srgbClr val="596875"/>
                </a:solidFill>
                <a:latin typeface="Yu Gothic"/>
                <a:ea typeface="Yu Gothic"/>
                <a:cs typeface="Yu Gothic"/>
              </a:defRPr>
            </a:lvl8pPr>
            <a:lvl9pPr>
              <a:buNone/>
              <a:defRPr sz="1725" b="0">
                <a:solidFill>
                  <a:srgbClr val="596875"/>
                </a:solidFill>
                <a:latin typeface="Yu Gothic"/>
                <a:ea typeface="Yu Gothic"/>
                <a:cs typeface="Yu Gothic"/>
              </a:defRPr>
            </a:lvl9pPr>
          </a:lstStyle>
          <a:p xmlns:a="http://schemas.openxmlformats.org/drawingml/2006/main">
            <a:pPr>
              <a:buNone/>
              <a:defRPr sz="1725" b="0">
                <a:solidFill>
                  <a:srgbClr val="596875"/>
                </a:solidFill>
                <a:latin typeface="Yu Gothic"/>
                <a:ea typeface="Yu Gothic"/>
                <a:cs typeface="Yu Gothic"/>
              </a:defRPr>
            </a:pPr>
            <a:r>
              <a:rPr sz="1725" b="0">
                <a:solidFill>
                  <a:srgbClr val="596875"/>
                </a:solidFill>
                <a:latin typeface="Yu Gothic"/>
                <a:ea typeface="Yu Gothic"/>
                <a:cs typeface="Yu Gothic"/>
              </a:rPr>
              <a:t>採択教科書の本文・目次は、入手後に該当箇所と照合する。</a:t>
            </a:r>
          </a:p>
        </p:txBody>
      </p:sp>
    </p:spTree>
    <p:extLst>
      <p:ext uri="{BB962C8B-B14F-4D97-AF65-F5344CB8AC3E}">
        <p14:creationId xmlns:p14="http://schemas.microsoft.com/office/powerpoint/2010/main" val="43457906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011530-9FD8-43D0-A685-9B5F27B2E58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確認問題　説明を自分で点検</a:t>
            </a:r>
          </a:p>
        </p:txBody>
      </p:sp>
      <p:sp>
        <p:nvSpPr>
          <p:cNvPr id="2" name="">
            <a:extLst xmlns:a="http://schemas.openxmlformats.org/drawingml/2006/main">
              <a:ext uri="{FF2B5EF4-FFF2-40B4-BE49-F238E27FC236}">
                <a16:creationId xmlns:a16="http://schemas.microsoft.com/office/drawing/2014/main" id="{94689545-8E77-426A-8729-B71C7749312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B2A34B-9988-4909-9EAD-D43354C5B83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6C5C8187-59D8-466D-A026-A17656C23A8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C751DFFE-3725-454D-BB0F-6B89CB9C12E8}"/>
              </a:ext>
            </a:extLst>
          </p:cNvPr>
          <p:cNvSpPr>
            <a:spLocks xmlns:a="http://schemas.openxmlformats.org/drawingml/2006/main" noGrp="1"/>
          </p:cNvSpPr>
          <p:nvPr/>
        </p:nvSpPr>
        <p:spPr>
          <a:xfrm xmlns:a="http://schemas.openxmlformats.org/drawingml/2006/main">
            <a:off x="838200" y="166687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① ミクロフィブリルの主成分と、S1・S2・S3の区分</a:t>
            </a:r>
          </a:p>
        </p:txBody>
      </p:sp>
      <p:sp>
        <p:nvSpPr>
          <p:cNvPr id="6" name="">
            <a:extLst xmlns:a="http://schemas.openxmlformats.org/drawingml/2006/main">
              <a:ext uri="{FF2B5EF4-FFF2-40B4-BE49-F238E27FC236}">
                <a16:creationId xmlns:a16="http://schemas.microsoft.com/office/drawing/2014/main" id="{25719CE0-6E09-4F82-B3A2-940D1C991A1D}"/>
              </a:ext>
            </a:extLst>
          </p:cNvPr>
          <p:cNvSpPr>
            <a:spLocks xmlns:a="http://schemas.openxmlformats.org/drawingml/2006/main" noGrp="1"/>
          </p:cNvSpPr>
          <p:nvPr/>
        </p:nvSpPr>
        <p:spPr>
          <a:xfrm xmlns:a="http://schemas.openxmlformats.org/drawingml/2006/main">
            <a:off x="838200" y="25336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② セルロースと水：OH基と、水のアクセス</a:t>
            </a:r>
          </a:p>
        </p:txBody>
      </p:sp>
      <p:sp>
        <p:nvSpPr>
          <p:cNvPr id="7" name="">
            <a:extLst xmlns:a="http://schemas.openxmlformats.org/drawingml/2006/main">
              <a:ext uri="{FF2B5EF4-FFF2-40B4-BE49-F238E27FC236}">
                <a16:creationId xmlns:a16="http://schemas.microsoft.com/office/drawing/2014/main" id="{5A981022-6453-4D2E-B291-489F2F688B06}"/>
              </a:ext>
            </a:extLst>
          </p:cNvPr>
          <p:cNvSpPr>
            <a:spLocks xmlns:a="http://schemas.openxmlformats.org/drawingml/2006/main" noGrp="1"/>
          </p:cNvSpPr>
          <p:nvPr/>
        </p:nvSpPr>
        <p:spPr>
          <a:xfrm xmlns:a="http://schemas.openxmlformats.org/drawingml/2006/main">
            <a:off x="838200" y="34004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③ 水素結合の点線の両端は、どの部分か</a:t>
            </a:r>
          </a:p>
        </p:txBody>
      </p:sp>
      <p:sp>
        <p:nvSpPr>
          <p:cNvPr id="8" name="">
            <a:extLst xmlns:a="http://schemas.openxmlformats.org/drawingml/2006/main">
              <a:ext uri="{FF2B5EF4-FFF2-40B4-BE49-F238E27FC236}">
                <a16:creationId xmlns:a16="http://schemas.microsoft.com/office/drawing/2014/main" id="{255B1787-0E36-4E6E-A035-EB13E140F0BD}"/>
              </a:ext>
            </a:extLst>
          </p:cNvPr>
          <p:cNvSpPr>
            <a:spLocks xmlns:a="http://schemas.openxmlformats.org/drawingml/2006/main" noGrp="1"/>
          </p:cNvSpPr>
          <p:nvPr/>
        </p:nvSpPr>
        <p:spPr>
          <a:xfrm xmlns:a="http://schemas.openxmlformats.org/drawingml/2006/main">
            <a:off x="838200" y="42672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④ 表面のぬれ方と、材料内部の吸湿の違い</a:t>
            </a:r>
          </a:p>
        </p:txBody>
      </p:sp>
      <p:sp>
        <p:nvSpPr>
          <p:cNvPr id="9" name="">
            <a:extLst xmlns:a="http://schemas.openxmlformats.org/drawingml/2006/main">
              <a:ext uri="{FF2B5EF4-FFF2-40B4-BE49-F238E27FC236}">
                <a16:creationId xmlns:a16="http://schemas.microsoft.com/office/drawing/2014/main" id="{239A46AD-D76B-42B1-BC64-1F96DDDC82AA}"/>
              </a:ext>
            </a:extLst>
          </p:cNvPr>
          <p:cNvSpPr>
            <a:spLocks xmlns:a="http://schemas.openxmlformats.org/drawingml/2006/main" noGrp="1"/>
          </p:cNvSpPr>
          <p:nvPr/>
        </p:nvSpPr>
        <p:spPr>
          <a:xfrm xmlns:a="http://schemas.openxmlformats.org/drawingml/2006/main">
            <a:off x="838200" y="513397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⑤ 質量百分率を比較するときの、分母の確認</a:t>
            </a:r>
          </a:p>
        </p:txBody>
      </p:sp>
    </p:spTree>
    <p:extLst>
      <p:ext uri="{BB962C8B-B14F-4D97-AF65-F5344CB8AC3E}">
        <p14:creationId xmlns:p14="http://schemas.microsoft.com/office/powerpoint/2010/main" val="63383764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D2BC7E-C5DB-4107-A359-4F85E58B069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課題A1：構造と成分のまとめ</a:t>
            </a:r>
          </a:p>
        </p:txBody>
      </p:sp>
      <p:sp>
        <p:nvSpPr>
          <p:cNvPr id="2" name="">
            <a:extLst xmlns:a="http://schemas.openxmlformats.org/drawingml/2006/main">
              <a:ext uri="{FF2B5EF4-FFF2-40B4-BE49-F238E27FC236}">
                <a16:creationId xmlns:a16="http://schemas.microsoft.com/office/drawing/2014/main" id="{D2FB7FEB-5DDA-4E85-8AE5-4F046297BC1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12DC92-5D48-4DFA-A3B0-AA26F778CD3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CB74263A-E50D-4396-BB0C-DE712850011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14F81445-F353-4BE0-A9C4-B46FB4C9E8AC}"/>
              </a:ext>
            </a:extLst>
          </p:cNvPr>
          <p:cNvSpPr>
            <a:spLocks xmlns:a="http://schemas.openxmlformats.org/drawingml/2006/main" noGrp="1"/>
          </p:cNvSpPr>
          <p:nvPr/>
        </p:nvSpPr>
        <p:spPr>
          <a:xfrm xmlns:a="http://schemas.openxmlformats.org/drawingml/2006/main">
            <a:off x="838200" y="160972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対象：第1〜4回。既存のA1課題と回答フォームを使用</a:t>
            </a:r>
          </a:p>
        </p:txBody>
      </p:sp>
      <p:sp>
        <p:nvSpPr>
          <p:cNvPr id="6" name="">
            <a:extLst xmlns:a="http://schemas.openxmlformats.org/drawingml/2006/main">
              <a:ext uri="{FF2B5EF4-FFF2-40B4-BE49-F238E27FC236}">
                <a16:creationId xmlns:a16="http://schemas.microsoft.com/office/drawing/2014/main" id="{4EB0D102-6606-4483-B5AF-2D60C0A11ED9}"/>
              </a:ext>
            </a:extLst>
          </p:cNvPr>
          <p:cNvSpPr>
            <a:spLocks xmlns:a="http://schemas.openxmlformats.org/drawingml/2006/main" noGrp="1"/>
          </p:cNvSpPr>
          <p:nvPr/>
        </p:nvSpPr>
        <p:spPr>
          <a:xfrm xmlns:a="http://schemas.openxmlformats.org/drawingml/2006/main">
            <a:off x="838200" y="250507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回答IDを残し、途中式・単位・出典の該当箇所を書く</a:t>
            </a:r>
          </a:p>
        </p:txBody>
      </p:sp>
      <p:sp>
        <p:nvSpPr>
          <p:cNvPr id="7" name="">
            <a:extLst xmlns:a="http://schemas.openxmlformats.org/drawingml/2006/main">
              <a:ext uri="{FF2B5EF4-FFF2-40B4-BE49-F238E27FC236}">
                <a16:creationId xmlns:a16="http://schemas.microsoft.com/office/drawing/2014/main" id="{5643C9B8-C259-4493-B2AF-B3576542FA84}"/>
              </a:ext>
            </a:extLst>
          </p:cNvPr>
          <p:cNvSpPr>
            <a:spLocks xmlns:a="http://schemas.openxmlformats.org/drawingml/2006/main" noGrp="1"/>
          </p:cNvSpPr>
          <p:nvPr/>
        </p:nvSpPr>
        <p:spPr>
          <a:xfrm xmlns:a="http://schemas.openxmlformats.org/drawingml/2006/main">
            <a:off x="838200" y="340042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基本70点・発展30点。基本14欄のうち12欄の十分な達成で60点</a:t>
            </a:r>
          </a:p>
        </p:txBody>
      </p:sp>
      <p:sp>
        <p:nvSpPr>
          <p:cNvPr id="8" name="">
            <a:extLst xmlns:a="http://schemas.openxmlformats.org/drawingml/2006/main">
              <a:ext uri="{FF2B5EF4-FFF2-40B4-BE49-F238E27FC236}">
                <a16:creationId xmlns:a16="http://schemas.microsoft.com/office/drawing/2014/main" id="{62ECF87D-84A6-41AC-9409-87FB2E15AC2E}"/>
              </a:ext>
            </a:extLst>
          </p:cNvPr>
          <p:cNvSpPr>
            <a:spLocks xmlns:a="http://schemas.openxmlformats.org/drawingml/2006/main" noGrp="1"/>
          </p:cNvSpPr>
          <p:nvPr/>
        </p:nvSpPr>
        <p:spPr>
          <a:xfrm xmlns:a="http://schemas.openxmlformats.org/drawingml/2006/main">
            <a:off x="838200" y="429577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作業目安75〜100分は、動画90分とは別</a:t>
            </a:r>
          </a:p>
        </p:txBody>
      </p:sp>
      <p:sp>
        <p:nvSpPr>
          <p:cNvPr id="9" name="">
            <a:extLst xmlns:a="http://schemas.openxmlformats.org/drawingml/2006/main">
              <a:ext uri="{FF2B5EF4-FFF2-40B4-BE49-F238E27FC236}">
                <a16:creationId xmlns:a16="http://schemas.microsoft.com/office/drawing/2014/main" id="{8BCDF83E-4583-43AE-ABF5-836B72AD86D9}"/>
              </a:ext>
            </a:extLst>
          </p:cNvPr>
          <p:cNvSpPr>
            <a:spLocks xmlns:a="http://schemas.openxmlformats.org/drawingml/2006/main" noGrp="1"/>
          </p:cNvSpPr>
          <p:nvPr/>
        </p:nvSpPr>
        <p:spPr>
          <a:xfrm xmlns:a="http://schemas.openxmlformats.org/drawingml/2006/main">
            <a:off x="838200" y="5191125"/>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buNone/>
              <a:defRPr sz="2100" b="0">
                <a:solidFill>
                  <a:srgbClr val="253C4D"/>
                </a:solidFill>
                <a:latin typeface="Yu Gothic"/>
                <a:ea typeface="Yu Gothic"/>
                <a:cs typeface="Yu Gothic"/>
              </a:defRPr>
            </a:lvl1pPr>
            <a:lvl2pPr>
              <a:buNone/>
              <a:defRPr sz="2100" b="0">
                <a:solidFill>
                  <a:srgbClr val="253C4D"/>
                </a:solidFill>
                <a:latin typeface="Yu Gothic"/>
                <a:ea typeface="Yu Gothic"/>
                <a:cs typeface="Yu Gothic"/>
              </a:defRPr>
            </a:lvl2pPr>
            <a:lvl3pPr>
              <a:buNone/>
              <a:defRPr sz="2100" b="0">
                <a:solidFill>
                  <a:srgbClr val="253C4D"/>
                </a:solidFill>
                <a:latin typeface="Yu Gothic"/>
                <a:ea typeface="Yu Gothic"/>
                <a:cs typeface="Yu Gothic"/>
              </a:defRPr>
            </a:lvl3pPr>
            <a:lvl4pPr>
              <a:buNone/>
              <a:defRPr sz="2100" b="0">
                <a:solidFill>
                  <a:srgbClr val="253C4D"/>
                </a:solidFill>
                <a:latin typeface="Yu Gothic"/>
                <a:ea typeface="Yu Gothic"/>
                <a:cs typeface="Yu Gothic"/>
              </a:defRPr>
            </a:lvl4pPr>
            <a:lvl5pPr>
              <a:buNone/>
              <a:defRPr sz="2100" b="0">
                <a:solidFill>
                  <a:srgbClr val="253C4D"/>
                </a:solidFill>
                <a:latin typeface="Yu Gothic"/>
                <a:ea typeface="Yu Gothic"/>
                <a:cs typeface="Yu Gothic"/>
              </a:defRPr>
            </a:lvl5pPr>
            <a:lvl6pPr>
              <a:buNone/>
              <a:defRPr sz="2100" b="0">
                <a:solidFill>
                  <a:srgbClr val="253C4D"/>
                </a:solidFill>
                <a:latin typeface="Yu Gothic"/>
                <a:ea typeface="Yu Gothic"/>
                <a:cs typeface="Yu Gothic"/>
              </a:defRPr>
            </a:lvl6pPr>
            <a:lvl7pPr>
              <a:buNone/>
              <a:defRPr sz="2100" b="0">
                <a:solidFill>
                  <a:srgbClr val="253C4D"/>
                </a:solidFill>
                <a:latin typeface="Yu Gothic"/>
                <a:ea typeface="Yu Gothic"/>
                <a:cs typeface="Yu Gothic"/>
              </a:defRPr>
            </a:lvl7pPr>
            <a:lvl8pPr>
              <a:buNone/>
              <a:defRPr sz="2100" b="0">
                <a:solidFill>
                  <a:srgbClr val="253C4D"/>
                </a:solidFill>
                <a:latin typeface="Yu Gothic"/>
                <a:ea typeface="Yu Gothic"/>
                <a:cs typeface="Yu Gothic"/>
              </a:defRPr>
            </a:lvl8pPr>
            <a:lvl9pPr>
              <a:buNone/>
              <a:defRPr sz="2100" b="0">
                <a:solidFill>
                  <a:srgbClr val="253C4D"/>
                </a:solidFill>
                <a:latin typeface="Yu Gothic"/>
                <a:ea typeface="Yu Gothic"/>
                <a:cs typeface="Yu Gothic"/>
              </a:defRPr>
            </a:lvl9pPr>
          </a:lstStyle>
          <a:p xmlns:a="http://schemas.openxmlformats.org/drawingml/2006/main">
            <a:pPr>
              <a:buNone/>
              <a:defRPr sz="2100" b="0">
                <a:solidFill>
                  <a:srgbClr val="253C4D"/>
                </a:solidFill>
                <a:latin typeface="Yu Gothic"/>
                <a:ea typeface="Yu Gothic"/>
                <a:cs typeface="Yu Gothic"/>
              </a:defRPr>
            </a:pPr>
            <a:r>
              <a:rPr sz="2100" b="0">
                <a:solidFill>
                  <a:srgbClr val="253C4D"/>
                </a:solidFill>
                <a:latin typeface="Yu Gothic"/>
                <a:ea typeface="Yu Gothic"/>
                <a:cs typeface="Yu Gothic"/>
              </a:rPr>
              <a:t>提出期限・方法・AI利用は授業の案内に従う</a:t>
            </a:r>
          </a:p>
        </p:txBody>
      </p:sp>
    </p:spTree>
    <p:extLst>
      <p:ext uri="{BB962C8B-B14F-4D97-AF65-F5344CB8AC3E}">
        <p14:creationId xmlns:p14="http://schemas.microsoft.com/office/powerpoint/2010/main" val="35906824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ABF188F-260B-4A2D-BCA3-9BC5D3DE803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要点と次の学習</a:t>
            </a:r>
          </a:p>
        </p:txBody>
      </p:sp>
      <p:sp>
        <p:nvSpPr>
          <p:cNvPr id="2" name="">
            <a:extLst xmlns:a="http://schemas.openxmlformats.org/drawingml/2006/main">
              <a:ext uri="{FF2B5EF4-FFF2-40B4-BE49-F238E27FC236}">
                <a16:creationId xmlns:a16="http://schemas.microsoft.com/office/drawing/2014/main" id="{22B085BA-DBA4-4B44-95FB-8265DC5051B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2C247F-6AE5-4F5E-9C8F-28986F6EE77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DB91D223-5B3D-42AE-9173-0C42C8BDCC5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95351FF2-C474-4393-8A92-027C0EF98577}"/>
              </a:ext>
            </a:extLst>
          </p:cNvPr>
          <p:cNvSpPr>
            <a:spLocks xmlns:a="http://schemas.openxmlformats.org/drawingml/2006/main" noGrp="1"/>
          </p:cNvSpPr>
          <p:nvPr/>
        </p:nvSpPr>
        <p:spPr>
          <a:xfrm xmlns:a="http://schemas.openxmlformats.org/drawingml/2006/main">
            <a:off x="857250" y="2047875"/>
            <a:ext cx="5191125" cy="2286000"/>
          </a:xfrm>
          <a:prstGeom xmlns:a="http://schemas.openxmlformats.org/drawingml/2006/main" prst="rect">
            <a:avLst/>
          </a:prstGeom>
          <a:solidFill xmlns:a="http://schemas.openxmlformats.org/drawingml/2006/main">
            <a:srgbClr val="EEE3D0"/>
          </a:solidFill>
          <a:ln xmlns:a="http://schemas.openxmlformats.org/drawingml/2006/main" w="9525">
            <a:solidFill>
              <a:srgbClr val="D7B78C"/>
            </a:solidFill>
          </a:ln>
        </p:spPr>
      </p:sp>
      <p:sp>
        <p:nvSpPr>
          <p:cNvPr id="6" name="">
            <a:extLst xmlns:a="http://schemas.openxmlformats.org/drawingml/2006/main">
              <a:ext uri="{FF2B5EF4-FFF2-40B4-BE49-F238E27FC236}">
                <a16:creationId xmlns:a16="http://schemas.microsoft.com/office/drawing/2014/main" id="{969E3770-95E8-4C37-8234-01C3791C72CB}"/>
              </a:ext>
            </a:extLst>
          </p:cNvPr>
          <p:cNvSpPr>
            <a:spLocks xmlns:a="http://schemas.openxmlformats.org/drawingml/2006/main" noGrp="1"/>
          </p:cNvSpPr>
          <p:nvPr/>
        </p:nvSpPr>
        <p:spPr>
          <a:xfrm xmlns:a="http://schemas.openxmlformats.org/drawingml/2006/main">
            <a:off x="10953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7" name="">
            <a:extLst xmlns:a="http://schemas.openxmlformats.org/drawingml/2006/main">
              <a:ext uri="{FF2B5EF4-FFF2-40B4-BE49-F238E27FC236}">
                <a16:creationId xmlns:a16="http://schemas.microsoft.com/office/drawing/2014/main" id="{2F276A3B-59E9-4228-933E-0F004D343D34}"/>
              </a:ext>
            </a:extLst>
          </p:cNvPr>
          <p:cNvSpPr>
            <a:spLocks xmlns:a="http://schemas.openxmlformats.org/drawingml/2006/main" noGrp="1"/>
          </p:cNvSpPr>
          <p:nvPr/>
        </p:nvSpPr>
        <p:spPr>
          <a:xfrm xmlns:a="http://schemas.openxmlformats.org/drawingml/2006/main">
            <a:off x="11715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8" name="">
            <a:extLst xmlns:a="http://schemas.openxmlformats.org/drawingml/2006/main">
              <a:ext uri="{FF2B5EF4-FFF2-40B4-BE49-F238E27FC236}">
                <a16:creationId xmlns:a16="http://schemas.microsoft.com/office/drawing/2014/main" id="{9EEAF333-5076-401F-8B7B-DD7E7D4008D7}"/>
              </a:ext>
            </a:extLst>
          </p:cNvPr>
          <p:cNvSpPr>
            <a:spLocks xmlns:a="http://schemas.openxmlformats.org/drawingml/2006/main" noGrp="1"/>
          </p:cNvSpPr>
          <p:nvPr/>
        </p:nvSpPr>
        <p:spPr>
          <a:xfrm xmlns:a="http://schemas.openxmlformats.org/drawingml/2006/main">
            <a:off x="12477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6201B2B3-7B45-4709-9D2E-E032F0AD0004}"/>
              </a:ext>
            </a:extLst>
          </p:cNvPr>
          <p:cNvSpPr>
            <a:spLocks xmlns:a="http://schemas.openxmlformats.org/drawingml/2006/main" noGrp="1"/>
          </p:cNvSpPr>
          <p:nvPr/>
        </p:nvSpPr>
        <p:spPr>
          <a:xfrm xmlns:a="http://schemas.openxmlformats.org/drawingml/2006/main">
            <a:off x="13239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7BDC038E-C32A-4C8E-B551-B4F160CB5FE5}"/>
              </a:ext>
            </a:extLst>
          </p:cNvPr>
          <p:cNvSpPr>
            <a:spLocks xmlns:a="http://schemas.openxmlformats.org/drawingml/2006/main" noGrp="1"/>
          </p:cNvSpPr>
          <p:nvPr/>
        </p:nvSpPr>
        <p:spPr>
          <a:xfrm xmlns:a="http://schemas.openxmlformats.org/drawingml/2006/main">
            <a:off x="140017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8BA89DF3-93BB-4A43-AB6E-E9203A9066F2}"/>
              </a:ext>
            </a:extLst>
          </p:cNvPr>
          <p:cNvSpPr>
            <a:spLocks xmlns:a="http://schemas.openxmlformats.org/drawingml/2006/main" noGrp="1"/>
          </p:cNvSpPr>
          <p:nvPr/>
        </p:nvSpPr>
        <p:spPr>
          <a:xfrm xmlns:a="http://schemas.openxmlformats.org/drawingml/2006/main">
            <a:off x="27622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2" name="">
            <a:extLst xmlns:a="http://schemas.openxmlformats.org/drawingml/2006/main">
              <a:ext uri="{FF2B5EF4-FFF2-40B4-BE49-F238E27FC236}">
                <a16:creationId xmlns:a16="http://schemas.microsoft.com/office/drawing/2014/main" id="{80A77242-91F3-42F7-B99E-6468A9331923}"/>
              </a:ext>
            </a:extLst>
          </p:cNvPr>
          <p:cNvSpPr>
            <a:spLocks xmlns:a="http://schemas.openxmlformats.org/drawingml/2006/main" noGrp="1"/>
          </p:cNvSpPr>
          <p:nvPr/>
        </p:nvSpPr>
        <p:spPr>
          <a:xfrm xmlns:a="http://schemas.openxmlformats.org/drawingml/2006/main">
            <a:off x="28384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3" name="">
            <a:extLst xmlns:a="http://schemas.openxmlformats.org/drawingml/2006/main">
              <a:ext uri="{FF2B5EF4-FFF2-40B4-BE49-F238E27FC236}">
                <a16:creationId xmlns:a16="http://schemas.microsoft.com/office/drawing/2014/main" id="{AE3F22F6-1883-417A-A47D-1928EC765A48}"/>
              </a:ext>
            </a:extLst>
          </p:cNvPr>
          <p:cNvSpPr>
            <a:spLocks xmlns:a="http://schemas.openxmlformats.org/drawingml/2006/main" noGrp="1"/>
          </p:cNvSpPr>
          <p:nvPr/>
        </p:nvSpPr>
        <p:spPr>
          <a:xfrm xmlns:a="http://schemas.openxmlformats.org/drawingml/2006/main">
            <a:off x="29146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4" name="">
            <a:extLst xmlns:a="http://schemas.openxmlformats.org/drawingml/2006/main">
              <a:ext uri="{FF2B5EF4-FFF2-40B4-BE49-F238E27FC236}">
                <a16:creationId xmlns:a16="http://schemas.microsoft.com/office/drawing/2014/main" id="{3DCACA84-3217-40FB-A5D3-AF33DFF02CF8}"/>
              </a:ext>
            </a:extLst>
          </p:cNvPr>
          <p:cNvSpPr>
            <a:spLocks xmlns:a="http://schemas.openxmlformats.org/drawingml/2006/main" noGrp="1"/>
          </p:cNvSpPr>
          <p:nvPr/>
        </p:nvSpPr>
        <p:spPr>
          <a:xfrm xmlns:a="http://schemas.openxmlformats.org/drawingml/2006/main">
            <a:off x="29908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5" name="">
            <a:extLst xmlns:a="http://schemas.openxmlformats.org/drawingml/2006/main">
              <a:ext uri="{FF2B5EF4-FFF2-40B4-BE49-F238E27FC236}">
                <a16:creationId xmlns:a16="http://schemas.microsoft.com/office/drawing/2014/main" id="{35CEDC47-0BF7-48F5-8BA2-A6DAC8AE54E9}"/>
              </a:ext>
            </a:extLst>
          </p:cNvPr>
          <p:cNvSpPr>
            <a:spLocks xmlns:a="http://schemas.openxmlformats.org/drawingml/2006/main" noGrp="1"/>
          </p:cNvSpPr>
          <p:nvPr/>
        </p:nvSpPr>
        <p:spPr>
          <a:xfrm xmlns:a="http://schemas.openxmlformats.org/drawingml/2006/main">
            <a:off x="3067050"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6" name="">
            <a:extLst xmlns:a="http://schemas.openxmlformats.org/drawingml/2006/main">
              <a:ext uri="{FF2B5EF4-FFF2-40B4-BE49-F238E27FC236}">
                <a16:creationId xmlns:a16="http://schemas.microsoft.com/office/drawing/2014/main" id="{89861DBC-1C3D-41CF-BED9-B055A767175D}"/>
              </a:ext>
            </a:extLst>
          </p:cNvPr>
          <p:cNvSpPr>
            <a:spLocks xmlns:a="http://schemas.openxmlformats.org/drawingml/2006/main" noGrp="1"/>
          </p:cNvSpPr>
          <p:nvPr/>
        </p:nvSpPr>
        <p:spPr>
          <a:xfrm xmlns:a="http://schemas.openxmlformats.org/drawingml/2006/main">
            <a:off x="44291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7" name="">
            <a:extLst xmlns:a="http://schemas.openxmlformats.org/drawingml/2006/main">
              <a:ext uri="{FF2B5EF4-FFF2-40B4-BE49-F238E27FC236}">
                <a16:creationId xmlns:a16="http://schemas.microsoft.com/office/drawing/2014/main" id="{EAA83E56-DB61-4B57-A5FD-76135FB564D3}"/>
              </a:ext>
            </a:extLst>
          </p:cNvPr>
          <p:cNvSpPr>
            <a:spLocks xmlns:a="http://schemas.openxmlformats.org/drawingml/2006/main" noGrp="1"/>
          </p:cNvSpPr>
          <p:nvPr/>
        </p:nvSpPr>
        <p:spPr>
          <a:xfrm xmlns:a="http://schemas.openxmlformats.org/drawingml/2006/main">
            <a:off x="45053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8" name="">
            <a:extLst xmlns:a="http://schemas.openxmlformats.org/drawingml/2006/main">
              <a:ext uri="{FF2B5EF4-FFF2-40B4-BE49-F238E27FC236}">
                <a16:creationId xmlns:a16="http://schemas.microsoft.com/office/drawing/2014/main" id="{72F48C65-F466-49F6-9391-3B676934637B}"/>
              </a:ext>
            </a:extLst>
          </p:cNvPr>
          <p:cNvSpPr>
            <a:spLocks xmlns:a="http://schemas.openxmlformats.org/drawingml/2006/main" noGrp="1"/>
          </p:cNvSpPr>
          <p:nvPr/>
        </p:nvSpPr>
        <p:spPr>
          <a:xfrm xmlns:a="http://schemas.openxmlformats.org/drawingml/2006/main">
            <a:off x="45815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19" name="">
            <a:extLst xmlns:a="http://schemas.openxmlformats.org/drawingml/2006/main">
              <a:ext uri="{FF2B5EF4-FFF2-40B4-BE49-F238E27FC236}">
                <a16:creationId xmlns:a16="http://schemas.microsoft.com/office/drawing/2014/main" id="{63BDCF2B-3B1B-49AC-A13C-6A1BFCEAFD8D}"/>
              </a:ext>
            </a:extLst>
          </p:cNvPr>
          <p:cNvSpPr>
            <a:spLocks xmlns:a="http://schemas.openxmlformats.org/drawingml/2006/main" noGrp="1"/>
          </p:cNvSpPr>
          <p:nvPr/>
        </p:nvSpPr>
        <p:spPr>
          <a:xfrm xmlns:a="http://schemas.openxmlformats.org/drawingml/2006/main">
            <a:off x="46577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0" name="">
            <a:extLst xmlns:a="http://schemas.openxmlformats.org/drawingml/2006/main">
              <a:ext uri="{FF2B5EF4-FFF2-40B4-BE49-F238E27FC236}">
                <a16:creationId xmlns:a16="http://schemas.microsoft.com/office/drawing/2014/main" id="{0E3DA744-F294-4A78-8704-D1E98DCE66B2}"/>
              </a:ext>
            </a:extLst>
          </p:cNvPr>
          <p:cNvSpPr>
            <a:spLocks xmlns:a="http://schemas.openxmlformats.org/drawingml/2006/main" noGrp="1"/>
          </p:cNvSpPr>
          <p:nvPr/>
        </p:nvSpPr>
        <p:spPr>
          <a:xfrm xmlns:a="http://schemas.openxmlformats.org/drawingml/2006/main">
            <a:off x="4733925" y="2238375"/>
            <a:ext cx="9525" cy="1905000"/>
          </a:xfrm>
          <a:custGeom xmlns:a="http://schemas.openxmlformats.org/drawingml/2006/main">
            <a:pathLst>
              <a:path w="9525" h="1905000">
                <a:moveTo>
                  <a:pt x="0" y="0"/>
                </a:moveTo>
                <a:lnTo>
                  <a:pt x="0" y="1905000"/>
                </a:lnTo>
              </a:path>
            </a:pathLst>
          </a:custGeom>
          <a:noFill xmlns:a="http://schemas.openxmlformats.org/drawingml/2006/main"/>
          <a:ln xmlns:a="http://schemas.openxmlformats.org/drawingml/2006/main" w="47625">
            <a:solidFill>
              <a:srgbClr val="2876A8"/>
            </a:solidFill>
          </a:ln>
        </p:spPr>
      </p:sp>
      <p:sp>
        <p:nvSpPr>
          <p:cNvPr id="21" name="">
            <a:extLst xmlns:a="http://schemas.openxmlformats.org/drawingml/2006/main">
              <a:ext uri="{FF2B5EF4-FFF2-40B4-BE49-F238E27FC236}">
                <a16:creationId xmlns:a16="http://schemas.microsoft.com/office/drawing/2014/main" id="{582077B6-8ADC-4DAB-928A-5A906B343405}"/>
              </a:ext>
            </a:extLst>
          </p:cNvPr>
          <p:cNvSpPr>
            <a:spLocks xmlns:a="http://schemas.openxmlformats.org/drawingml/2006/main" noGrp="1"/>
          </p:cNvSpPr>
          <p:nvPr/>
        </p:nvSpPr>
        <p:spPr>
          <a:xfrm xmlns:a="http://schemas.openxmlformats.org/drawingml/2006/main">
            <a:off x="1123950" y="23526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2" name="">
            <a:extLst xmlns:a="http://schemas.openxmlformats.org/drawingml/2006/main">
              <a:ext uri="{FF2B5EF4-FFF2-40B4-BE49-F238E27FC236}">
                <a16:creationId xmlns:a16="http://schemas.microsoft.com/office/drawing/2014/main" id="{F35DD3A8-9200-409C-85B5-3706AC68649F}"/>
              </a:ext>
            </a:extLst>
          </p:cNvPr>
          <p:cNvSpPr>
            <a:spLocks xmlns:a="http://schemas.openxmlformats.org/drawingml/2006/main" noGrp="1"/>
          </p:cNvSpPr>
          <p:nvPr/>
        </p:nvSpPr>
        <p:spPr>
          <a:xfrm xmlns:a="http://schemas.openxmlformats.org/drawingml/2006/main">
            <a:off x="2571750" y="21621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E833D3D4-0607-4A06-9BD1-3F8072C9857A}"/>
              </a:ext>
            </a:extLst>
          </p:cNvPr>
          <p:cNvSpPr>
            <a:spLocks xmlns:a="http://schemas.openxmlformats.org/drawingml/2006/main" noGrp="1"/>
          </p:cNvSpPr>
          <p:nvPr/>
        </p:nvSpPr>
        <p:spPr>
          <a:xfrm xmlns:a="http://schemas.openxmlformats.org/drawingml/2006/main">
            <a:off x="1123950" y="28098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A28A348B-1E26-4227-B241-46C958A7B9FF}"/>
              </a:ext>
            </a:extLst>
          </p:cNvPr>
          <p:cNvSpPr>
            <a:spLocks xmlns:a="http://schemas.openxmlformats.org/drawingml/2006/main" noGrp="1"/>
          </p:cNvSpPr>
          <p:nvPr/>
        </p:nvSpPr>
        <p:spPr>
          <a:xfrm xmlns:a="http://schemas.openxmlformats.org/drawingml/2006/main">
            <a:off x="2571750" y="26193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88A1CD50-CF57-4A80-A198-761F732A3EC9}"/>
              </a:ext>
            </a:extLst>
          </p:cNvPr>
          <p:cNvSpPr>
            <a:spLocks xmlns:a="http://schemas.openxmlformats.org/drawingml/2006/main" noGrp="1"/>
          </p:cNvSpPr>
          <p:nvPr/>
        </p:nvSpPr>
        <p:spPr>
          <a:xfrm xmlns:a="http://schemas.openxmlformats.org/drawingml/2006/main">
            <a:off x="1123950" y="32670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F4DF9313-9AB9-480C-BA8C-77D3693FCEBD}"/>
              </a:ext>
            </a:extLst>
          </p:cNvPr>
          <p:cNvSpPr>
            <a:spLocks xmlns:a="http://schemas.openxmlformats.org/drawingml/2006/main" noGrp="1"/>
          </p:cNvSpPr>
          <p:nvPr/>
        </p:nvSpPr>
        <p:spPr>
          <a:xfrm xmlns:a="http://schemas.openxmlformats.org/drawingml/2006/main">
            <a:off x="2571750" y="30765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CFFDC52A-EDAD-43FB-B9A5-61F698851FFB}"/>
              </a:ext>
            </a:extLst>
          </p:cNvPr>
          <p:cNvSpPr>
            <a:spLocks xmlns:a="http://schemas.openxmlformats.org/drawingml/2006/main" noGrp="1"/>
          </p:cNvSpPr>
          <p:nvPr/>
        </p:nvSpPr>
        <p:spPr>
          <a:xfrm xmlns:a="http://schemas.openxmlformats.org/drawingml/2006/main">
            <a:off x="1123950" y="3724275"/>
            <a:ext cx="4752975" cy="219075"/>
          </a:xfrm>
          <a:custGeom xmlns:a="http://schemas.openxmlformats.org/drawingml/2006/main">
            <a:pathLst>
              <a:path w="4752975" h="219075">
                <a:moveTo>
                  <a:pt x="0" y="76200"/>
                </a:moveTo>
                <a:lnTo>
                  <a:pt x="733425" y="219075"/>
                </a:lnTo>
                <a:lnTo>
                  <a:pt x="1447800" y="0"/>
                </a:lnTo>
                <a:lnTo>
                  <a:pt x="2257425" y="209550"/>
                </a:lnTo>
                <a:lnTo>
                  <a:pt x="3067050" y="9525"/>
                </a:lnTo>
                <a:lnTo>
                  <a:pt x="3971925" y="171450"/>
                </a:lnTo>
                <a:lnTo>
                  <a:pt x="4752975" y="76200"/>
                </a:lnTo>
              </a:path>
            </a:pathLst>
          </a:custGeom>
          <a:noFill xmlns:a="http://schemas.openxmlformats.org/drawingml/2006/main"/>
          <a:ln xmlns:a="http://schemas.openxmlformats.org/drawingml/2006/main" w="28575">
            <a:solidFill>
              <a:srgbClr val="087E8B"/>
            </a:solidFill>
          </a:ln>
        </p:spPr>
      </p:sp>
      <p:sp>
        <p:nvSpPr>
          <p:cNvPr id="28" name="">
            <a:extLst xmlns:a="http://schemas.openxmlformats.org/drawingml/2006/main">
              <a:ext uri="{FF2B5EF4-FFF2-40B4-BE49-F238E27FC236}">
                <a16:creationId xmlns:a16="http://schemas.microsoft.com/office/drawing/2014/main" id="{29959644-96F2-4DC9-B2A4-F6D92FB458BC}"/>
              </a:ext>
            </a:extLst>
          </p:cNvPr>
          <p:cNvSpPr>
            <a:spLocks xmlns:a="http://schemas.openxmlformats.org/drawingml/2006/main" noGrp="1"/>
          </p:cNvSpPr>
          <p:nvPr/>
        </p:nvSpPr>
        <p:spPr>
          <a:xfrm xmlns:a="http://schemas.openxmlformats.org/drawingml/2006/main">
            <a:off x="2571750" y="3533775"/>
            <a:ext cx="142875" cy="190500"/>
          </a:xfrm>
          <a:custGeom xmlns:a="http://schemas.openxmlformats.org/drawingml/2006/main">
            <a:pathLst>
              <a:path w="142875" h="190500">
                <a:moveTo>
                  <a:pt x="0" y="190500"/>
                </a:moveTo>
                <a:lnTo>
                  <a:pt x="142875" y="0"/>
                </a:lnTo>
              </a:path>
            </a:pathLst>
          </a:custGeom>
          <a:noFill xmlns:a="http://schemas.openxmlformats.org/drawingml/2006/main"/>
          <a:ln xmlns:a="http://schemas.openxmlformats.org/drawingml/2006/main" w="28575">
            <a:solidFill>
              <a:srgbClr val="087E8B"/>
            </a:solidFill>
          </a:ln>
        </p:spPr>
      </p:sp>
      <p:sp>
        <p:nvSpPr>
          <p:cNvPr id="29" name="">
            <a:extLst xmlns:a="http://schemas.openxmlformats.org/drawingml/2006/main">
              <a:ext uri="{FF2B5EF4-FFF2-40B4-BE49-F238E27FC236}">
                <a16:creationId xmlns:a16="http://schemas.microsoft.com/office/drawing/2014/main" id="{1457F981-F918-408A-997D-A476567B9C27}"/>
              </a:ext>
            </a:extLst>
          </p:cNvPr>
          <p:cNvSpPr>
            <a:spLocks xmlns:a="http://schemas.openxmlformats.org/drawingml/2006/main" noGrp="1"/>
          </p:cNvSpPr>
          <p:nvPr/>
        </p:nvSpPr>
        <p:spPr>
          <a:xfrm xmlns:a="http://schemas.openxmlformats.org/drawingml/2006/main">
            <a:off x="857250" y="45243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876A8"/>
                </a:solidFill>
                <a:latin typeface="Yu Gothic"/>
                <a:ea typeface="Yu Gothic"/>
                <a:cs typeface="Yu Gothic"/>
              </a:defRPr>
            </a:defPPr>
            <a:lvl1pPr>
              <a:buNone/>
              <a:defRPr sz="1875" b="1">
                <a:solidFill>
                  <a:srgbClr val="2876A8"/>
                </a:solidFill>
                <a:latin typeface="Yu Gothic"/>
                <a:ea typeface="Yu Gothic"/>
                <a:cs typeface="Yu Gothic"/>
              </a:defRPr>
            </a:lvl1pPr>
            <a:lvl2pPr>
              <a:buNone/>
              <a:defRPr sz="1875" b="1">
                <a:solidFill>
                  <a:srgbClr val="2876A8"/>
                </a:solidFill>
                <a:latin typeface="Yu Gothic"/>
                <a:ea typeface="Yu Gothic"/>
                <a:cs typeface="Yu Gothic"/>
              </a:defRPr>
            </a:lvl2pPr>
            <a:lvl3pPr>
              <a:buNone/>
              <a:defRPr sz="1875" b="1">
                <a:solidFill>
                  <a:srgbClr val="2876A8"/>
                </a:solidFill>
                <a:latin typeface="Yu Gothic"/>
                <a:ea typeface="Yu Gothic"/>
                <a:cs typeface="Yu Gothic"/>
              </a:defRPr>
            </a:lvl3pPr>
            <a:lvl4pPr>
              <a:buNone/>
              <a:defRPr sz="1875" b="1">
                <a:solidFill>
                  <a:srgbClr val="2876A8"/>
                </a:solidFill>
                <a:latin typeface="Yu Gothic"/>
                <a:ea typeface="Yu Gothic"/>
                <a:cs typeface="Yu Gothic"/>
              </a:defRPr>
            </a:lvl4pPr>
            <a:lvl5pPr>
              <a:buNone/>
              <a:defRPr sz="1875" b="1">
                <a:solidFill>
                  <a:srgbClr val="2876A8"/>
                </a:solidFill>
                <a:latin typeface="Yu Gothic"/>
                <a:ea typeface="Yu Gothic"/>
                <a:cs typeface="Yu Gothic"/>
              </a:defRPr>
            </a:lvl5pPr>
            <a:lvl6pPr>
              <a:buNone/>
              <a:defRPr sz="1875" b="1">
                <a:solidFill>
                  <a:srgbClr val="2876A8"/>
                </a:solidFill>
                <a:latin typeface="Yu Gothic"/>
                <a:ea typeface="Yu Gothic"/>
                <a:cs typeface="Yu Gothic"/>
              </a:defRPr>
            </a:lvl6pPr>
            <a:lvl7pPr>
              <a:buNone/>
              <a:defRPr sz="1875" b="1">
                <a:solidFill>
                  <a:srgbClr val="2876A8"/>
                </a:solidFill>
                <a:latin typeface="Yu Gothic"/>
                <a:ea typeface="Yu Gothic"/>
                <a:cs typeface="Yu Gothic"/>
              </a:defRPr>
            </a:lvl7pPr>
            <a:lvl8pPr>
              <a:buNone/>
              <a:defRPr sz="1875" b="1">
                <a:solidFill>
                  <a:srgbClr val="2876A8"/>
                </a:solidFill>
                <a:latin typeface="Yu Gothic"/>
                <a:ea typeface="Yu Gothic"/>
                <a:cs typeface="Yu Gothic"/>
              </a:defRPr>
            </a:lvl8pPr>
            <a:lvl9pPr>
              <a:buNone/>
              <a:defRPr sz="1875" b="1">
                <a:solidFill>
                  <a:srgbClr val="2876A8"/>
                </a:solidFill>
                <a:latin typeface="Yu Gothic"/>
                <a:ea typeface="Yu Gothic"/>
                <a:cs typeface="Yu Gothic"/>
              </a:defRPr>
            </a:lvl9pPr>
          </a:lstStyle>
          <a:p xmlns:a="http://schemas.openxmlformats.org/drawingml/2006/main">
            <a:pPr>
              <a:buNone/>
              <a:defRPr sz="1875" b="1">
                <a:solidFill>
                  <a:srgbClr val="2876A8"/>
                </a:solidFill>
                <a:latin typeface="Yu Gothic"/>
                <a:ea typeface="Yu Gothic"/>
                <a:cs typeface="Yu Gothic"/>
              </a:defRPr>
            </a:pPr>
            <a:r>
              <a:rPr sz="1875" b="1">
                <a:solidFill>
                  <a:srgbClr val="2876A8"/>
                </a:solidFill>
                <a:latin typeface="Yu Gothic"/>
                <a:ea typeface="Yu Gothic"/>
                <a:cs typeface="Yu Gothic"/>
              </a:rPr>
              <a:t>青：セルロースの集合</a:t>
            </a:r>
          </a:p>
        </p:txBody>
      </p:sp>
      <p:sp>
        <p:nvSpPr>
          <p:cNvPr id="30" name="">
            <a:extLst xmlns:a="http://schemas.openxmlformats.org/drawingml/2006/main">
              <a:ext uri="{FF2B5EF4-FFF2-40B4-BE49-F238E27FC236}">
                <a16:creationId xmlns:a16="http://schemas.microsoft.com/office/drawing/2014/main" id="{6975EDF5-F596-492A-A03E-2CB1C149C480}"/>
              </a:ext>
            </a:extLst>
          </p:cNvPr>
          <p:cNvSpPr>
            <a:spLocks xmlns:a="http://schemas.openxmlformats.org/drawingml/2006/main" noGrp="1"/>
          </p:cNvSpPr>
          <p:nvPr/>
        </p:nvSpPr>
        <p:spPr>
          <a:xfrm xmlns:a="http://schemas.openxmlformats.org/drawingml/2006/main">
            <a:off x="857250" y="492442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緑：ヘミセルロースの概念</a:t>
            </a:r>
          </a:p>
        </p:txBody>
      </p:sp>
      <p:sp>
        <p:nvSpPr>
          <p:cNvPr id="31" name="">
            <a:extLst xmlns:a="http://schemas.openxmlformats.org/drawingml/2006/main">
              <a:ext uri="{FF2B5EF4-FFF2-40B4-BE49-F238E27FC236}">
                <a16:creationId xmlns:a16="http://schemas.microsoft.com/office/drawing/2014/main" id="{460D17EA-0488-4C41-9CD8-D33BCB4B9FDF}"/>
              </a:ext>
            </a:extLst>
          </p:cNvPr>
          <p:cNvSpPr>
            <a:spLocks xmlns:a="http://schemas.openxmlformats.org/drawingml/2006/main" noGrp="1"/>
          </p:cNvSpPr>
          <p:nvPr/>
        </p:nvSpPr>
        <p:spPr>
          <a:xfrm xmlns:a="http://schemas.openxmlformats.org/drawingml/2006/main">
            <a:off x="857250" y="5324475"/>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8364F"/>
                </a:solidFill>
                <a:latin typeface="Yu Gothic"/>
                <a:ea typeface="Yu Gothic"/>
                <a:cs typeface="Yu Gothic"/>
              </a:defRPr>
            </a:defPPr>
            <a:lvl1pPr>
              <a:buNone/>
              <a:defRPr sz="1875" b="1">
                <a:solidFill>
                  <a:srgbClr val="18364F"/>
                </a:solidFill>
                <a:latin typeface="Yu Gothic"/>
                <a:ea typeface="Yu Gothic"/>
                <a:cs typeface="Yu Gothic"/>
              </a:defRPr>
            </a:lvl1pPr>
            <a:lvl2pPr>
              <a:buNone/>
              <a:defRPr sz="1875" b="1">
                <a:solidFill>
                  <a:srgbClr val="18364F"/>
                </a:solidFill>
                <a:latin typeface="Yu Gothic"/>
                <a:ea typeface="Yu Gothic"/>
                <a:cs typeface="Yu Gothic"/>
              </a:defRPr>
            </a:lvl2pPr>
            <a:lvl3pPr>
              <a:buNone/>
              <a:defRPr sz="1875" b="1">
                <a:solidFill>
                  <a:srgbClr val="18364F"/>
                </a:solidFill>
                <a:latin typeface="Yu Gothic"/>
                <a:ea typeface="Yu Gothic"/>
                <a:cs typeface="Yu Gothic"/>
              </a:defRPr>
            </a:lvl3pPr>
            <a:lvl4pPr>
              <a:buNone/>
              <a:defRPr sz="1875" b="1">
                <a:solidFill>
                  <a:srgbClr val="18364F"/>
                </a:solidFill>
                <a:latin typeface="Yu Gothic"/>
                <a:ea typeface="Yu Gothic"/>
                <a:cs typeface="Yu Gothic"/>
              </a:defRPr>
            </a:lvl4pPr>
            <a:lvl5pPr>
              <a:buNone/>
              <a:defRPr sz="1875" b="1">
                <a:solidFill>
                  <a:srgbClr val="18364F"/>
                </a:solidFill>
                <a:latin typeface="Yu Gothic"/>
                <a:ea typeface="Yu Gothic"/>
                <a:cs typeface="Yu Gothic"/>
              </a:defRPr>
            </a:lvl5pPr>
            <a:lvl6pPr>
              <a:buNone/>
              <a:defRPr sz="1875" b="1">
                <a:solidFill>
                  <a:srgbClr val="18364F"/>
                </a:solidFill>
                <a:latin typeface="Yu Gothic"/>
                <a:ea typeface="Yu Gothic"/>
                <a:cs typeface="Yu Gothic"/>
              </a:defRPr>
            </a:lvl6pPr>
            <a:lvl7pPr>
              <a:buNone/>
              <a:defRPr sz="1875" b="1">
                <a:solidFill>
                  <a:srgbClr val="18364F"/>
                </a:solidFill>
                <a:latin typeface="Yu Gothic"/>
                <a:ea typeface="Yu Gothic"/>
                <a:cs typeface="Yu Gothic"/>
              </a:defRPr>
            </a:lvl7pPr>
            <a:lvl8pPr>
              <a:buNone/>
              <a:defRPr sz="1875" b="1">
                <a:solidFill>
                  <a:srgbClr val="18364F"/>
                </a:solidFill>
                <a:latin typeface="Yu Gothic"/>
                <a:ea typeface="Yu Gothic"/>
                <a:cs typeface="Yu Gothic"/>
              </a:defRPr>
            </a:lvl8pPr>
            <a:lvl9pPr>
              <a:buNone/>
              <a:defRPr sz="1875" b="1">
                <a:solidFill>
                  <a:srgbClr val="18364F"/>
                </a:solidFill>
                <a:latin typeface="Yu Gothic"/>
                <a:ea typeface="Yu Gothic"/>
                <a:cs typeface="Yu Gothic"/>
              </a:defRPr>
            </a:lvl9pPr>
          </a:lstStyle>
          <a:p xmlns:a="http://schemas.openxmlformats.org/drawingml/2006/main">
            <a:pPr>
              <a:buNone/>
              <a:defRPr sz="1875" b="1">
                <a:solidFill>
                  <a:srgbClr val="18364F"/>
                </a:solidFill>
                <a:latin typeface="Yu Gothic"/>
                <a:ea typeface="Yu Gothic"/>
                <a:cs typeface="Yu Gothic"/>
              </a:defRPr>
            </a:pPr>
            <a:r>
              <a:rPr sz="1875" b="1">
                <a:solidFill>
                  <a:srgbClr val="18364F"/>
                </a:solidFill>
                <a:latin typeface="Yu Gothic"/>
                <a:ea typeface="Yu Gothic"/>
                <a:cs typeface="Yu Gothic"/>
              </a:rPr>
              <a:t>周囲：リグニン等を含む</a:t>
            </a:r>
          </a:p>
        </p:txBody>
      </p:sp>
      <p:sp>
        <p:nvSpPr>
          <p:cNvPr id="32" name="">
            <a:extLst xmlns:a="http://schemas.openxmlformats.org/drawingml/2006/main">
              <a:ext uri="{FF2B5EF4-FFF2-40B4-BE49-F238E27FC236}">
                <a16:creationId xmlns:a16="http://schemas.microsoft.com/office/drawing/2014/main" id="{D9C3546D-878C-4C19-8A8E-7FB93F926397}"/>
              </a:ext>
            </a:extLst>
          </p:cNvPr>
          <p:cNvSpPr>
            <a:spLocks xmlns:a="http://schemas.openxmlformats.org/drawingml/2006/main" noGrp="1"/>
          </p:cNvSpPr>
          <p:nvPr/>
        </p:nvSpPr>
        <p:spPr>
          <a:xfrm xmlns:a="http://schemas.openxmlformats.org/drawingml/2006/main">
            <a:off x="6477000" y="1743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層・成分・配向を区別し</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対応させて読む</a:t>
            </a:r>
          </a:p>
        </p:txBody>
      </p:sp>
      <p:sp>
        <p:nvSpPr>
          <p:cNvPr id="33" name="">
            <a:extLst xmlns:a="http://schemas.openxmlformats.org/drawingml/2006/main">
              <a:ext uri="{FF2B5EF4-FFF2-40B4-BE49-F238E27FC236}">
                <a16:creationId xmlns:a16="http://schemas.microsoft.com/office/drawing/2014/main" id="{66B630A5-9EEF-4540-9B4D-63A443FF2222}"/>
              </a:ext>
            </a:extLst>
          </p:cNvPr>
          <p:cNvSpPr>
            <a:spLocks xmlns:a="http://schemas.openxmlformats.org/drawingml/2006/main" noGrp="1"/>
          </p:cNvSpPr>
          <p:nvPr/>
        </p:nvSpPr>
        <p:spPr>
          <a:xfrm xmlns:a="http://schemas.openxmlformats.org/drawingml/2006/main">
            <a:off x="6477000" y="2695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OH基と水素結合から</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吸湿・膨潤を考える</a:t>
            </a:r>
          </a:p>
        </p:txBody>
      </p:sp>
      <p:sp>
        <p:nvSpPr>
          <p:cNvPr id="34" name="">
            <a:extLst xmlns:a="http://schemas.openxmlformats.org/drawingml/2006/main">
              <a:ext uri="{FF2B5EF4-FFF2-40B4-BE49-F238E27FC236}">
                <a16:creationId xmlns:a16="http://schemas.microsoft.com/office/drawing/2014/main" id="{F77339CA-2B2B-46C1-8A92-F8156030D633}"/>
              </a:ext>
            </a:extLst>
          </p:cNvPr>
          <p:cNvSpPr>
            <a:spLocks xmlns:a="http://schemas.openxmlformats.org/drawingml/2006/main" noGrp="1"/>
          </p:cNvSpPr>
          <p:nvPr/>
        </p:nvSpPr>
        <p:spPr>
          <a:xfrm xmlns:a="http://schemas.openxmlformats.org/drawingml/2006/main">
            <a:off x="6477000" y="36480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親水性と水溶性、表面のぬれと</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内部の吸湿を区別</a:t>
            </a:r>
          </a:p>
        </p:txBody>
      </p:sp>
      <p:sp>
        <p:nvSpPr>
          <p:cNvPr id="35" name="">
            <a:extLst xmlns:a="http://schemas.openxmlformats.org/drawingml/2006/main">
              <a:ext uri="{FF2B5EF4-FFF2-40B4-BE49-F238E27FC236}">
                <a16:creationId xmlns:a16="http://schemas.microsoft.com/office/drawing/2014/main" id="{C9B70A10-16FF-4F57-B0D4-0189A23FAE95}"/>
              </a:ext>
            </a:extLst>
          </p:cNvPr>
          <p:cNvSpPr>
            <a:spLocks xmlns:a="http://schemas.openxmlformats.org/drawingml/2006/main" noGrp="1"/>
          </p:cNvSpPr>
          <p:nvPr/>
        </p:nvSpPr>
        <p:spPr>
          <a:xfrm xmlns:a="http://schemas.openxmlformats.org/drawingml/2006/main">
            <a:off x="6477000" y="460057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次回：Eと強度を</a:t>
            </a:r>
          </a:p>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物性値と条件から読む</a:t>
            </a:r>
          </a:p>
        </p:txBody>
      </p:sp>
      <p:sp>
        <p:nvSpPr>
          <p:cNvPr id="36" name="">
            <a:extLst xmlns:a="http://schemas.openxmlformats.org/drawingml/2006/main">
              <a:ext uri="{FF2B5EF4-FFF2-40B4-BE49-F238E27FC236}">
                <a16:creationId xmlns:a16="http://schemas.microsoft.com/office/drawing/2014/main" id="{B265AA49-5B64-43D1-AC84-7359231A26BE}"/>
              </a:ext>
            </a:extLst>
          </p:cNvPr>
          <p:cNvSpPr>
            <a:spLocks xmlns:a="http://schemas.openxmlformats.org/drawingml/2006/main" noGrp="1"/>
          </p:cNvSpPr>
          <p:nvPr/>
        </p:nvSpPr>
        <p:spPr>
          <a:xfrm xmlns:a="http://schemas.openxmlformats.org/drawingml/2006/main">
            <a:off x="838200" y="5934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rPr>
              <a:t>成分配置の概念図。層・本数・寸法比・質量割合は再現していない。</a:t>
            </a:r>
          </a:p>
        </p:txBody>
      </p:sp>
    </p:spTree>
    <p:extLst>
      <p:ext uri="{BB962C8B-B14F-4D97-AF65-F5344CB8AC3E}">
        <p14:creationId xmlns:p14="http://schemas.microsoft.com/office/powerpoint/2010/main" val="46167637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E9B3C2-8F20-486D-A2BD-E5FCE24D8A4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参考資料と読む箇所</a:t>
            </a:r>
          </a:p>
        </p:txBody>
      </p:sp>
      <p:sp>
        <p:nvSpPr>
          <p:cNvPr id="2" name="">
            <a:extLst xmlns:a="http://schemas.openxmlformats.org/drawingml/2006/main">
              <a:ext uri="{FF2B5EF4-FFF2-40B4-BE49-F238E27FC236}">
                <a16:creationId xmlns:a16="http://schemas.microsoft.com/office/drawing/2014/main" id="{A4416E82-86D5-4808-BD81-7DD2B6599A8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5F4B09-1E51-4BF2-A617-4C51F24F731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第4回</a:t>
            </a:r>
          </a:p>
        </p:txBody>
      </p:sp>
      <p:sp>
        <p:nvSpPr>
          <p:cNvPr id="4" name="">
            <a:extLst xmlns:a="http://schemas.openxmlformats.org/drawingml/2006/main">
              <a:ext uri="{FF2B5EF4-FFF2-40B4-BE49-F238E27FC236}">
                <a16:creationId xmlns:a16="http://schemas.microsoft.com/office/drawing/2014/main" id="{6355764F-40B2-4416-AB61-5E1619B94AC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5E03A7C2-8037-4137-B92C-22C17EB67487}"/>
              </a:ext>
            </a:extLst>
          </p:cNvPr>
          <p:cNvSpPr>
            <a:spLocks xmlns:a="http://schemas.openxmlformats.org/drawingml/2006/main" noGrp="1"/>
          </p:cNvSpPr>
          <p:nvPr/>
        </p:nvSpPr>
        <p:spPr>
          <a:xfrm xmlns:a="http://schemas.openxmlformats.org/drawingml/2006/main">
            <a:off x="838200" y="15811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4d46d52e16e54da1"/>
              </a:rPr>
              <a:t>USDA Wood Handbook 2021 第3章：木材化学（3–9頁）</a:t>
            </a:r>
          </a:p>
        </p:txBody>
      </p:sp>
      <p:sp>
        <p:nvSpPr>
          <p:cNvPr id="6" name="">
            <a:extLst xmlns:a="http://schemas.openxmlformats.org/drawingml/2006/main">
              <a:ext uri="{FF2B5EF4-FFF2-40B4-BE49-F238E27FC236}">
                <a16:creationId xmlns:a16="http://schemas.microsoft.com/office/drawing/2014/main" id="{C584B5CB-7403-435B-B482-6E287B914801}"/>
              </a:ext>
            </a:extLst>
          </p:cNvPr>
          <p:cNvSpPr>
            <a:spLocks xmlns:a="http://schemas.openxmlformats.org/drawingml/2006/main" noGrp="1"/>
          </p:cNvSpPr>
          <p:nvPr/>
        </p:nvSpPr>
        <p:spPr>
          <a:xfrm xmlns:a="http://schemas.openxmlformats.org/drawingml/2006/main">
            <a:off x="838200" y="24193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77c4ad08e9014bfd"/>
              </a:rPr>
              <a:t>水素結合・親水性：IUPAC Gold Book</a:t>
            </a:r>
          </a:p>
        </p:txBody>
      </p:sp>
      <p:sp>
        <p:nvSpPr>
          <p:cNvPr id="7" name="">
            <a:extLst xmlns:a="http://schemas.openxmlformats.org/drawingml/2006/main">
              <a:ext uri="{FF2B5EF4-FFF2-40B4-BE49-F238E27FC236}">
                <a16:creationId xmlns:a16="http://schemas.microsoft.com/office/drawing/2014/main" id="{0704DF26-B7D9-4305-9852-56CE45C6FCED}"/>
              </a:ext>
            </a:extLst>
          </p:cNvPr>
          <p:cNvSpPr>
            <a:spLocks xmlns:a="http://schemas.openxmlformats.org/drawingml/2006/main" noGrp="1"/>
          </p:cNvSpPr>
          <p:nvPr/>
        </p:nvSpPr>
        <p:spPr>
          <a:xfrm xmlns:a="http://schemas.openxmlformats.org/drawingml/2006/main">
            <a:off x="838200" y="32575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d0fb2c8c303f4df4"/>
              </a:rPr>
              <a:t>Thybring ほか（2022）：Water in Wood</a:t>
            </a:r>
          </a:p>
        </p:txBody>
      </p:sp>
      <p:sp>
        <p:nvSpPr>
          <p:cNvPr id="8" name="">
            <a:extLst xmlns:a="http://schemas.openxmlformats.org/drawingml/2006/main">
              <a:ext uri="{FF2B5EF4-FFF2-40B4-BE49-F238E27FC236}">
                <a16:creationId xmlns:a16="http://schemas.microsoft.com/office/drawing/2014/main" id="{C455431F-74E7-481B-98E8-D77F6FAB64CB}"/>
              </a:ext>
            </a:extLst>
          </p:cNvPr>
          <p:cNvSpPr>
            <a:spLocks xmlns:a="http://schemas.openxmlformats.org/drawingml/2006/main" noGrp="1"/>
          </p:cNvSpPr>
          <p:nvPr/>
        </p:nvSpPr>
        <p:spPr>
          <a:xfrm xmlns:a="http://schemas.openxmlformats.org/drawingml/2006/main">
            <a:off x="838200" y="4095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hlinkClick xmlns:r="http://schemas.openxmlformats.org/officeDocument/2006/relationships" r:id="R1a3c85101c0d4570"/>
              </a:rPr>
              <a:t>吸湿の研究：10.1007/s10570-022-04973-0</a:t>
            </a:r>
          </a:p>
        </p:txBody>
      </p:sp>
      <p:sp>
        <p:nvSpPr>
          <p:cNvPr id="9" name="">
            <a:extLst xmlns:a="http://schemas.openxmlformats.org/drawingml/2006/main">
              <a:ext uri="{FF2B5EF4-FFF2-40B4-BE49-F238E27FC236}">
                <a16:creationId xmlns:a16="http://schemas.microsoft.com/office/drawing/2014/main" id="{FBFC1219-F87E-4124-AE31-68FDAA7A6088}"/>
              </a:ext>
            </a:extLst>
          </p:cNvPr>
          <p:cNvSpPr>
            <a:spLocks xmlns:a="http://schemas.openxmlformats.org/drawingml/2006/main" noGrp="1"/>
          </p:cNvSpPr>
          <p:nvPr/>
        </p:nvSpPr>
        <p:spPr>
          <a:xfrm xmlns:a="http://schemas.openxmlformats.org/drawingml/2006/main">
            <a:off x="838200" y="49339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各リンクと該当箇所は、配布資料・ノートにも記載</a:t>
            </a:r>
          </a:p>
        </p:txBody>
      </p:sp>
    </p:spTree>
    <p:extLst>
      <p:ext uri="{BB962C8B-B14F-4D97-AF65-F5344CB8AC3E}">
        <p14:creationId xmlns:p14="http://schemas.microsoft.com/office/powerpoint/2010/main" val="2862024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2026-10-31T08:49:43.1900000Z</dcterms:created>
  <dcterms:modified xsi:type="dcterms:W3CDTF">2026-10-31T08:49:43.1900000Z</dcterms:modified>
</coreProperties>
</file>