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aeea3433fa47cb" /><Relationship Type="http://schemas.openxmlformats.org/officeDocument/2006/relationships/extended-properties" Target="/docProps/app.xml" Id="R89c850e8bdb04057" /><Relationship Type="http://schemas.openxmlformats.org/officeDocument/2006/relationships/officeDocument" Target="/ppt/presentation.xml" Id="Raacfc1878dd4458f" /></Relationships>
</file>

<file path=ppt/presentation.xml><?xml version="1.0" encoding="utf-8"?>
<p:presentation xmlns:p="http://schemas.openxmlformats.org/presentationml/2006/main">
  <p:sldMasterIdLst>
    <p:sldMasterId xmlns:r="http://schemas.openxmlformats.org/officeDocument/2006/relationships" id="2147483648" r:id="R77e8ff2c046e4f7b"/>
  </p:sldMasterIdLst>
  <p:notesMasterIdLst>
    <p:notesMasterId xmlns:r="http://schemas.openxmlformats.org/officeDocument/2006/relationships" r:id="R039c6c928c6e4df6"/>
  </p:notesMasterIdLst>
  <p:sldIdLst>
    <p:sldId xmlns:r="http://schemas.openxmlformats.org/officeDocument/2006/relationships" id="256" r:id="Rfb23eb1a1e6d4d43"/>
    <p:sldId xmlns:r="http://schemas.openxmlformats.org/officeDocument/2006/relationships" id="257" r:id="R86811d6862134e75"/>
    <p:sldId xmlns:r="http://schemas.openxmlformats.org/officeDocument/2006/relationships" id="258" r:id="R55cc77a5be46468a"/>
    <p:sldId xmlns:r="http://schemas.openxmlformats.org/officeDocument/2006/relationships" id="259" r:id="R47b031cfa9174b24"/>
    <p:sldId xmlns:r="http://schemas.openxmlformats.org/officeDocument/2006/relationships" id="260" r:id="R09f08da1d61a4446"/>
    <p:sldId xmlns:r="http://schemas.openxmlformats.org/officeDocument/2006/relationships" id="261" r:id="R2605a1a681924f48"/>
    <p:sldId xmlns:r="http://schemas.openxmlformats.org/officeDocument/2006/relationships" id="262" r:id="R75a26b15f4b54b32"/>
    <p:sldId xmlns:r="http://schemas.openxmlformats.org/officeDocument/2006/relationships" id="263" r:id="R4a828c6308f84b9b"/>
    <p:sldId xmlns:r="http://schemas.openxmlformats.org/officeDocument/2006/relationships" id="264" r:id="R41ad9ef0371a4796"/>
    <p:sldId xmlns:r="http://schemas.openxmlformats.org/officeDocument/2006/relationships" id="265" r:id="R22a7b791ee9349b4"/>
    <p:sldId xmlns:r="http://schemas.openxmlformats.org/officeDocument/2006/relationships" id="266" r:id="R1f22cef0069b43fe"/>
    <p:sldId xmlns:r="http://schemas.openxmlformats.org/officeDocument/2006/relationships" id="267" r:id="R9db0bafa64dd4817"/>
    <p:sldId xmlns:r="http://schemas.openxmlformats.org/officeDocument/2006/relationships" id="268" r:id="R2a991350f5e04ded"/>
    <p:sldId xmlns:r="http://schemas.openxmlformats.org/officeDocument/2006/relationships" id="269" r:id="R82b49f6d5bdf4869"/>
    <p:sldId xmlns:r="http://schemas.openxmlformats.org/officeDocument/2006/relationships" id="270" r:id="R5e6e00ac591f4a82"/>
    <p:sldId xmlns:r="http://schemas.openxmlformats.org/officeDocument/2006/relationships" id="271" r:id="R352fd9b03ecd4809"/>
    <p:sldId xmlns:r="http://schemas.openxmlformats.org/officeDocument/2006/relationships" id="272" r:id="Rb3a00642963e4fc8"/>
    <p:sldId xmlns:r="http://schemas.openxmlformats.org/officeDocument/2006/relationships" id="273" r:id="R8cb0a35270594b8d"/>
    <p:sldId xmlns:r="http://schemas.openxmlformats.org/officeDocument/2006/relationships" id="274" r:id="Rc9186ea8e41345a0"/>
    <p:sldId xmlns:r="http://schemas.openxmlformats.org/officeDocument/2006/relationships" id="275" r:id="R24391e804b554465"/>
    <p:sldId xmlns:r="http://schemas.openxmlformats.org/officeDocument/2006/relationships" id="276" r:id="Rf4017c8f39a040b2"/>
    <p:sldId xmlns:r="http://schemas.openxmlformats.org/officeDocument/2006/relationships" id="277" r:id="R13c88391e2424502"/>
    <p:sldId xmlns:r="http://schemas.openxmlformats.org/officeDocument/2006/relationships" id="278" r:id="R76b24b61e129429c"/>
    <p:sldId xmlns:r="http://schemas.openxmlformats.org/officeDocument/2006/relationships" id="279" r:id="R124b200fb00b43c5"/>
    <p:sldId xmlns:r="http://schemas.openxmlformats.org/officeDocument/2006/relationships" id="280" r:id="R87ec691ffab34991"/>
    <p:sldId xmlns:r="http://schemas.openxmlformats.org/officeDocument/2006/relationships" id="281" r:id="R5be04d22f69443c6"/>
    <p:sldId xmlns:r="http://schemas.openxmlformats.org/officeDocument/2006/relationships" id="282" r:id="R155960a8c65d4001"/>
    <p:sldId xmlns:r="http://schemas.openxmlformats.org/officeDocument/2006/relationships" id="283" r:id="Ra5cdbe47045c4e2c"/>
    <p:sldId xmlns:r="http://schemas.openxmlformats.org/officeDocument/2006/relationships" id="284" r:id="Rac635c3ff27e4310"/>
    <p:sldId xmlns:r="http://schemas.openxmlformats.org/officeDocument/2006/relationships" id="285" r:id="R3109f846abba4e61"/>
    <p:sldId xmlns:r="http://schemas.openxmlformats.org/officeDocument/2006/relationships" id="286" r:id="Rff5c64788177430e"/>
    <p:sldId xmlns:r="http://schemas.openxmlformats.org/officeDocument/2006/relationships" id="287" r:id="Rd91812b8ecbb4e4e"/>
    <p:sldId xmlns:r="http://schemas.openxmlformats.org/officeDocument/2006/relationships" id="288" r:id="Raec3c4df888a42e7"/>
    <p:sldId xmlns:r="http://schemas.openxmlformats.org/officeDocument/2006/relationships" id="289" r:id="Rd66578765f83456e"/>
    <p:sldId xmlns:r="http://schemas.openxmlformats.org/officeDocument/2006/relationships" id="290" r:id="R99bd80b7824f48f7"/>
    <p:sldId xmlns:r="http://schemas.openxmlformats.org/officeDocument/2006/relationships" id="291" r:id="R41fa60e677f14a7d"/>
    <p:sldId xmlns:r="http://schemas.openxmlformats.org/officeDocument/2006/relationships" id="292" r:id="R2fbf101be7ff4f13"/>
    <p:sldId xmlns:r="http://schemas.openxmlformats.org/officeDocument/2006/relationships" id="293" r:id="R1e52bda6d0314578"/>
    <p:sldId xmlns:r="http://schemas.openxmlformats.org/officeDocument/2006/relationships" id="294" r:id="Rb1dd0369b89548f8"/>
    <p:sldId xmlns:r="http://schemas.openxmlformats.org/officeDocument/2006/relationships" id="295" r:id="Red3b4429a9a14dcf"/>
    <p:sldId xmlns:r="http://schemas.openxmlformats.org/officeDocument/2006/relationships" id="296" r:id="Rb40f30edc08c4a57"/>
    <p:sldId xmlns:r="http://schemas.openxmlformats.org/officeDocument/2006/relationships" id="297" r:id="R3551dff035434fed"/>
    <p:sldId xmlns:r="http://schemas.openxmlformats.org/officeDocument/2006/relationships" id="298" r:id="Reb571c79239647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a03440d58843b9" /><Relationship Type="http://schemas.openxmlformats.org/officeDocument/2006/relationships/slideMaster" Target="/ppt/slideMasters/slideMaster1.xml" Id="R77e8ff2c046e4f7b" /><Relationship Type="http://schemas.openxmlformats.org/officeDocument/2006/relationships/notesMaster" Target="/ppt/notesMasters/notesMaster1.xml" Id="R039c6c928c6e4df6" /><Relationship Type="http://schemas.openxmlformats.org/officeDocument/2006/relationships/presProps" Target="/ppt/presProps.xml" Id="R90b7cf2be06e42ab" /><Relationship Type="http://schemas.openxmlformats.org/officeDocument/2006/relationships/tableStyles" Target="/ppt/tableStyles.xml" Id="R27564ef7eb514faa" /><Relationship Type="http://schemas.openxmlformats.org/officeDocument/2006/relationships/slide" Target="/ppt/slides/slide1.xml" Id="Rfb23eb1a1e6d4d43" /><Relationship Type="http://schemas.openxmlformats.org/officeDocument/2006/relationships/slide" Target="/ppt/slides/slide2.xml" Id="R86811d6862134e75" /><Relationship Type="http://schemas.openxmlformats.org/officeDocument/2006/relationships/slide" Target="/ppt/slides/slide3.xml" Id="R55cc77a5be46468a" /><Relationship Type="http://schemas.openxmlformats.org/officeDocument/2006/relationships/slide" Target="/ppt/slides/slide4.xml" Id="R47b031cfa9174b24" /><Relationship Type="http://schemas.openxmlformats.org/officeDocument/2006/relationships/slide" Target="/ppt/slides/slide5.xml" Id="R09f08da1d61a4446" /><Relationship Type="http://schemas.openxmlformats.org/officeDocument/2006/relationships/slide" Target="/ppt/slides/slide6.xml" Id="R2605a1a681924f48" /><Relationship Type="http://schemas.openxmlformats.org/officeDocument/2006/relationships/slide" Target="/ppt/slides/slide7.xml" Id="R75a26b15f4b54b32" /><Relationship Type="http://schemas.openxmlformats.org/officeDocument/2006/relationships/slide" Target="/ppt/slides/slide8.xml" Id="R4a828c6308f84b9b" /><Relationship Type="http://schemas.openxmlformats.org/officeDocument/2006/relationships/slide" Target="/ppt/slides/slide9.xml" Id="R41ad9ef0371a4796" /><Relationship Type="http://schemas.openxmlformats.org/officeDocument/2006/relationships/slide" Target="/ppt/slides/slide10.xml" Id="R22a7b791ee9349b4" /><Relationship Type="http://schemas.openxmlformats.org/officeDocument/2006/relationships/slide" Target="/ppt/slides/slide11.xml" Id="R1f22cef0069b43fe" /><Relationship Type="http://schemas.openxmlformats.org/officeDocument/2006/relationships/slide" Target="/ppt/slides/slide12.xml" Id="R9db0bafa64dd4817" /><Relationship Type="http://schemas.openxmlformats.org/officeDocument/2006/relationships/slide" Target="/ppt/slides/slide13.xml" Id="R2a991350f5e04ded" /><Relationship Type="http://schemas.openxmlformats.org/officeDocument/2006/relationships/slide" Target="/ppt/slides/slide14.xml" Id="R82b49f6d5bdf4869" /><Relationship Type="http://schemas.openxmlformats.org/officeDocument/2006/relationships/slide" Target="/ppt/slides/slide15.xml" Id="R5e6e00ac591f4a82" /><Relationship Type="http://schemas.openxmlformats.org/officeDocument/2006/relationships/slide" Target="/ppt/slides/slide16.xml" Id="R352fd9b03ecd4809" /><Relationship Type="http://schemas.openxmlformats.org/officeDocument/2006/relationships/slide" Target="/ppt/slides/slide17.xml" Id="Rb3a00642963e4fc8" /><Relationship Type="http://schemas.openxmlformats.org/officeDocument/2006/relationships/slide" Target="/ppt/slides/slide18.xml" Id="R8cb0a35270594b8d" /><Relationship Type="http://schemas.openxmlformats.org/officeDocument/2006/relationships/slide" Target="/ppt/slides/slide19.xml" Id="Rc9186ea8e41345a0" /><Relationship Type="http://schemas.openxmlformats.org/officeDocument/2006/relationships/slide" Target="/ppt/slides/slide20.xml" Id="R24391e804b554465" /><Relationship Type="http://schemas.openxmlformats.org/officeDocument/2006/relationships/slide" Target="/ppt/slides/slide21.xml" Id="Rf4017c8f39a040b2" /><Relationship Type="http://schemas.openxmlformats.org/officeDocument/2006/relationships/slide" Target="/ppt/slides/slide22.xml" Id="R13c88391e2424502" /><Relationship Type="http://schemas.openxmlformats.org/officeDocument/2006/relationships/slide" Target="/ppt/slides/slide23.xml" Id="R76b24b61e129429c" /><Relationship Type="http://schemas.openxmlformats.org/officeDocument/2006/relationships/slide" Target="/ppt/slides/slide24.xml" Id="R124b200fb00b43c5" /><Relationship Type="http://schemas.openxmlformats.org/officeDocument/2006/relationships/slide" Target="/ppt/slides/slide25.xml" Id="R87ec691ffab34991" /><Relationship Type="http://schemas.openxmlformats.org/officeDocument/2006/relationships/slide" Target="/ppt/slides/slide26.xml" Id="R5be04d22f69443c6" /><Relationship Type="http://schemas.openxmlformats.org/officeDocument/2006/relationships/slide" Target="/ppt/slides/slide27.xml" Id="R155960a8c65d4001" /><Relationship Type="http://schemas.openxmlformats.org/officeDocument/2006/relationships/slide" Target="/ppt/slides/slide28.xml" Id="Ra5cdbe47045c4e2c" /><Relationship Type="http://schemas.openxmlformats.org/officeDocument/2006/relationships/slide" Target="/ppt/slides/slide29.xml" Id="Rac635c3ff27e4310" /><Relationship Type="http://schemas.openxmlformats.org/officeDocument/2006/relationships/slide" Target="/ppt/slides/slide30.xml" Id="R3109f846abba4e61" /><Relationship Type="http://schemas.openxmlformats.org/officeDocument/2006/relationships/slide" Target="/ppt/slides/slide31.xml" Id="Rff5c64788177430e" /><Relationship Type="http://schemas.openxmlformats.org/officeDocument/2006/relationships/slide" Target="/ppt/slides/slide32.xml" Id="Rd91812b8ecbb4e4e" /><Relationship Type="http://schemas.openxmlformats.org/officeDocument/2006/relationships/slide" Target="/ppt/slides/slide33.xml" Id="Raec3c4df888a42e7" /><Relationship Type="http://schemas.openxmlformats.org/officeDocument/2006/relationships/slide" Target="/ppt/slides/slide34.xml" Id="Rd66578765f83456e" /><Relationship Type="http://schemas.openxmlformats.org/officeDocument/2006/relationships/slide" Target="/ppt/slides/slide35.xml" Id="R99bd80b7824f48f7" /><Relationship Type="http://schemas.openxmlformats.org/officeDocument/2006/relationships/slide" Target="/ppt/slides/slide36.xml" Id="R41fa60e677f14a7d" /><Relationship Type="http://schemas.openxmlformats.org/officeDocument/2006/relationships/slide" Target="/ppt/slides/slide37.xml" Id="R2fbf101be7ff4f13" /><Relationship Type="http://schemas.openxmlformats.org/officeDocument/2006/relationships/slide" Target="/ppt/slides/slide38.xml" Id="R1e52bda6d0314578" /><Relationship Type="http://schemas.openxmlformats.org/officeDocument/2006/relationships/slide" Target="/ppt/slides/slide39.xml" Id="Rb1dd0369b89548f8" /><Relationship Type="http://schemas.openxmlformats.org/officeDocument/2006/relationships/slide" Target="/ppt/slides/slide40.xml" Id="Red3b4429a9a14dcf" /><Relationship Type="http://schemas.openxmlformats.org/officeDocument/2006/relationships/slide" Target="/ppt/slides/slide41.xml" Id="Rb40f30edc08c4a57" /><Relationship Type="http://schemas.openxmlformats.org/officeDocument/2006/relationships/slide" Target="/ppt/slides/slide42.xml" Id="R3551dff035434fed" /><Relationship Type="http://schemas.openxmlformats.org/officeDocument/2006/relationships/slide" Target="/ppt/slides/slide43.xml" Id="Reb571c79239647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a02387044b41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c26b5a7d844b66" /><Relationship Type="http://schemas.openxmlformats.org/officeDocument/2006/relationships/notesMaster" Target="/ppt/notesMasters/notesMaster1.xml" Id="Rd68dd004e32e49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4da532fc0e42bd" /><Relationship Type="http://schemas.openxmlformats.org/officeDocument/2006/relationships/notesMaster" Target="/ppt/notesMasters/notesMaster1.xml" Id="R6168d020bb2840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71b3653e9f4aea" /><Relationship Type="http://schemas.openxmlformats.org/officeDocument/2006/relationships/notesMaster" Target="/ppt/notesMasters/notesMaster1.xml" Id="Rb1103018fc234e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7c3349fec344d0" /><Relationship Type="http://schemas.openxmlformats.org/officeDocument/2006/relationships/notesMaster" Target="/ppt/notesMasters/notesMaster1.xml" Id="Rf384bd38a90a4c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219bf4fc1349a9" /><Relationship Type="http://schemas.openxmlformats.org/officeDocument/2006/relationships/notesMaster" Target="/ppt/notesMasters/notesMaster1.xml" Id="Rd1b21408d1c746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3cf60bf7bf4f35" /><Relationship Type="http://schemas.openxmlformats.org/officeDocument/2006/relationships/notesMaster" Target="/ppt/notesMasters/notesMaster1.xml" Id="R3c3598fc7bbd4c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344994f038414f" /><Relationship Type="http://schemas.openxmlformats.org/officeDocument/2006/relationships/notesMaster" Target="/ppt/notesMasters/notesMaster1.xml" Id="Re46eefee6ec342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e01be532464554" /><Relationship Type="http://schemas.openxmlformats.org/officeDocument/2006/relationships/notesMaster" Target="/ppt/notesMasters/notesMaster1.xml" Id="R3ef119ba5e4b4c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8bf13793ef4538" /><Relationship Type="http://schemas.openxmlformats.org/officeDocument/2006/relationships/notesMaster" Target="/ppt/notesMasters/notesMaster1.xml" Id="R679e64aa539743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fcaba8a4194834" /><Relationship Type="http://schemas.openxmlformats.org/officeDocument/2006/relationships/notesMaster" Target="/ppt/notesMasters/notesMaster1.xml" Id="Rf9bfeb433c8b42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1a11ce4c9e4b9a" /><Relationship Type="http://schemas.openxmlformats.org/officeDocument/2006/relationships/notesMaster" Target="/ppt/notesMasters/notesMaster1.xml" Id="R4b6e14d81e4140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85bf71ce24475a" /><Relationship Type="http://schemas.openxmlformats.org/officeDocument/2006/relationships/notesMaster" Target="/ppt/notesMasters/notesMaster1.xml" Id="R2b6910934f2c4a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337e13431d4d89" /><Relationship Type="http://schemas.openxmlformats.org/officeDocument/2006/relationships/notesMaster" Target="/ppt/notesMasters/notesMaster1.xml" Id="Rd52290d244f14f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d1349e31b14032" /><Relationship Type="http://schemas.openxmlformats.org/officeDocument/2006/relationships/notesMaster" Target="/ppt/notesMasters/notesMaster1.xml" Id="R5d81a83cca6b48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05a5aec0704201" /><Relationship Type="http://schemas.openxmlformats.org/officeDocument/2006/relationships/notesMaster" Target="/ppt/notesMasters/notesMaster1.xml" Id="Re0f30a7292c5480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f953926e3f4b3a" /><Relationship Type="http://schemas.openxmlformats.org/officeDocument/2006/relationships/notesMaster" Target="/ppt/notesMasters/notesMaster1.xml" Id="Ra8e27ab84ca8478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e13cfae032462e" /><Relationship Type="http://schemas.openxmlformats.org/officeDocument/2006/relationships/notesMaster" Target="/ppt/notesMasters/notesMaster1.xml" Id="R534ee2b73b034c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e95dafa5e3847ee" /><Relationship Type="http://schemas.openxmlformats.org/officeDocument/2006/relationships/notesMaster" Target="/ppt/notesMasters/notesMaster1.xml" Id="R7c8fc9ce00b74d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813a5212a54d83" /><Relationship Type="http://schemas.openxmlformats.org/officeDocument/2006/relationships/notesMaster" Target="/ppt/notesMasters/notesMaster1.xml" Id="R7c6113712e9448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86d6783c1a14206" /><Relationship Type="http://schemas.openxmlformats.org/officeDocument/2006/relationships/notesMaster" Target="/ppt/notesMasters/notesMaster1.xml" Id="Rd6dfcfa5be8743d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eb7e14b16b649e3" /><Relationship Type="http://schemas.openxmlformats.org/officeDocument/2006/relationships/notesMaster" Target="/ppt/notesMasters/notesMaster1.xml" Id="R73a06659a3914f3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cdd9393811740b6" /><Relationship Type="http://schemas.openxmlformats.org/officeDocument/2006/relationships/notesMaster" Target="/ppt/notesMasters/notesMaster1.xml" Id="Rf65ab681910c436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467737c90b84b30" /><Relationship Type="http://schemas.openxmlformats.org/officeDocument/2006/relationships/notesMaster" Target="/ppt/notesMasters/notesMaster1.xml" Id="R1024ab56f02f440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869bfa3b71b4256" /><Relationship Type="http://schemas.openxmlformats.org/officeDocument/2006/relationships/notesMaster" Target="/ppt/notesMasters/notesMaster1.xml" Id="R5bd9c1ea0ef243d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7c86ea568614343" /><Relationship Type="http://schemas.openxmlformats.org/officeDocument/2006/relationships/notesMaster" Target="/ppt/notesMasters/notesMaster1.xml" Id="R2ddc4bac7c1c444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133071b617f446e" /><Relationship Type="http://schemas.openxmlformats.org/officeDocument/2006/relationships/notesMaster" Target="/ppt/notesMasters/notesMaster1.xml" Id="R136835c4d54548c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0734e86cd7c45cb" /><Relationship Type="http://schemas.openxmlformats.org/officeDocument/2006/relationships/notesMaster" Target="/ppt/notesMasters/notesMaster1.xml" Id="R3f1a10cec994439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9a26c2d939a44d0" /><Relationship Type="http://schemas.openxmlformats.org/officeDocument/2006/relationships/notesMaster" Target="/ppt/notesMasters/notesMaster1.xml" Id="R8596341010a9461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624b2fe50214b20" /><Relationship Type="http://schemas.openxmlformats.org/officeDocument/2006/relationships/notesMaster" Target="/ppt/notesMasters/notesMaster1.xml" Id="R68c0d5d567e8468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efe2d3e0fff477b" /><Relationship Type="http://schemas.openxmlformats.org/officeDocument/2006/relationships/notesMaster" Target="/ppt/notesMasters/notesMaster1.xml" Id="R26bfffce8d0647c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f7a63bbec814568" /><Relationship Type="http://schemas.openxmlformats.org/officeDocument/2006/relationships/notesMaster" Target="/ppt/notesMasters/notesMaster1.xml" Id="Rb3d1a2739bad4af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18f7e880a794be0" /><Relationship Type="http://schemas.openxmlformats.org/officeDocument/2006/relationships/notesMaster" Target="/ppt/notesMasters/notesMaster1.xml" Id="R18956acd4bb94e0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2339a79ed8043ba" /><Relationship Type="http://schemas.openxmlformats.org/officeDocument/2006/relationships/notesMaster" Target="/ppt/notesMasters/notesMaster1.xml" Id="Ra40e5d50f306470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78be6a8e6d648ac" /><Relationship Type="http://schemas.openxmlformats.org/officeDocument/2006/relationships/notesMaster" Target="/ppt/notesMasters/notesMaster1.xml" Id="Ra0bd3da59e1d445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17e6b696ac347b5" /><Relationship Type="http://schemas.openxmlformats.org/officeDocument/2006/relationships/notesMaster" Target="/ppt/notesMasters/notesMaster1.xml" Id="R2f5b13bccc1c448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33aeb770da94194" /><Relationship Type="http://schemas.openxmlformats.org/officeDocument/2006/relationships/notesMaster" Target="/ppt/notesMasters/notesMaster1.xml" Id="R48143f13821343f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5bf69d6c3c04d37" /><Relationship Type="http://schemas.openxmlformats.org/officeDocument/2006/relationships/notesMaster" Target="/ppt/notesMasters/notesMaster1.xml" Id="R54d191200a67405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913adfec4e8406b" /><Relationship Type="http://schemas.openxmlformats.org/officeDocument/2006/relationships/notesMaster" Target="/ppt/notesMasters/notesMaster1.xml" Id="R3030536e8c52418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06d47f351f74d6c" /><Relationship Type="http://schemas.openxmlformats.org/officeDocument/2006/relationships/notesMaster" Target="/ppt/notesMasters/notesMaster1.xml" Id="R284e309a42cc4e6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16e3c8f7e644f51" /><Relationship Type="http://schemas.openxmlformats.org/officeDocument/2006/relationships/notesMaster" Target="/ppt/notesMasters/notesMaster1.xml" Id="Racfa6038058b49b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ca07ab42db7427a" /><Relationship Type="http://schemas.openxmlformats.org/officeDocument/2006/relationships/notesMaster" Target="/ppt/notesMasters/notesMaster1.xml" Id="Ra63708acf3ab488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bac61fdecf246ae" /><Relationship Type="http://schemas.openxmlformats.org/officeDocument/2006/relationships/notesMaster" Target="/ppt/notesMasters/notesMaster1.xml" Id="Ra6218553c496476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4a1ad0b47d84888" /><Relationship Type="http://schemas.openxmlformats.org/officeDocument/2006/relationships/notesMaster" Target="/ppt/notesMasters/notesMaster1.xml" Id="Ra5d38ad518984f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は日本の木の文化を、森林管理と木造建築を中心に考えます。建物の美しい外観だけでなく、必要な木材を得ること、材を選んで組み立てること、修理しながら次へ伝えることを扱います。これは説明動画の整備初版です。今後の改訂で講義そのものを約90分へ充実させます。確認問題は少量とし、任意の資料にまとめ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樹木が育つ場所と、木材が使われる場所を結び付けて考えます。長い期間生きた樹木を伐採すれば、それで文化が終わるのでも、製品が永久にもつのでもありません。材料を使う過程には、選別、加工、維持があり、それぞれに人の判断が関わります。森林の管理、建築の利用、修理の仕事を切り離さずに見ることが、本講義の中心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指導要領解説では、材料と加工の項目で伝統的な技術と文化、建築技術の具体例を扱っています。生物育成の項目では森林の環境保全や防災の機能にも触れています。この授業で扱う森林管理や保存修理のすべてが、中学生が暗記すべき項目という意味ではありません。大学で理解を深め、中学生へ材質や加工を説明する根拠を持つために取り上げ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文部科学省（2017）技術・家庭編 解説27・28・39頁</a:t>
            </a:r>
          </a:p>
          <a:p xmlns:a="http://schemas.openxmlformats.org/drawingml/2006/main">
            <a:r>
              <a:t>https://www.mext.go.jp/component/a_menu/education/micro_detail/__icsFiles/afieldfile/2019/03/18/1387018_009.pdf</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森林管理と聞くと、木を植えて伐る手順だけを想像するかもしれません。しかし森林をどう扱うかは、目的と場所の条件によって異なります。用材を育成する森林でも、水や土壌、生物の生息環境、作業する人の安全を考える必要があります。保護することと利用することは、個々の場所でどう両立させるかを考える問題です。具体的な森林の計画を確かめず、一つの手順をすべてに適用し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 木の文化を支える森</a:t>
            </a:r>
          </a:p>
          <a:p xmlns:a="http://schemas.openxmlformats.org/drawingml/2006/main">
            <a:r>
              <a:t>https://www.rinya.maff.go.jp/j/kokuyu_rinya/kokumin_mori/katuyo/kinobunka_kojimori/kibunka.html</a:t>
            </a:r>
          </a:p>
          <a:p xmlns:a="http://schemas.openxmlformats.org/drawingml/2006/main">
            <a:r>
              <a:t/>
            </a:r>
          </a:p>
          <a:p xmlns:a="http://schemas.openxmlformats.org/drawingml/2006/main">
            <a:r>
              <a:t>伊勢神宮 永遠の森</a:t>
            </a:r>
          </a:p>
          <a:p xmlns:a="http://schemas.openxmlformats.org/drawingml/2006/main">
            <a:r>
              <a:t>https://www.isejingu.or.jp/sengu/forest.html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天然林か人工林かは重要な情報ですが、それだけで森林の現在の状態がすべてわかるわけではありません。同じ人工林でも、樹種、樹齢、密度、下層植生、手入れの履歴は異なります。天然林にも人の活動が影響している場合があります。建築に使う木材を得るという目的と、森林が持つ別の機能を確認しながら、具体的な条件で考えましょう。用語を、そのまま価値判断のラベルにしないことが大切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を得た後、その場所で次の森林がどう育つかを考えます。植栽する場合も、自然に生じる稚樹を育てる場合も、条件を確認する必要があります。苗木を植えたという事実だけで、将来の成林が保証されるわけではありません。樹木が育つ条件を整え、必要な手入れと確認を続けること、そのための費用や担い手を確保することまでが管理に関わります。これは木材利用を継続して考えるための視点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保育、間伐、収穫という語を覚えても、それだけで適切な管理が決まるわけではありません。どの段階で、何を目的として、どのように作業するかが重要です。すべての森林に同じ時期と割合で同じ作業を行う図は、簡略化の範囲を越えてしまいます。本講義では具体的な施業処方を暗記するより、条件を確かめて判断するという見方を押さえます。生物育成の技術と材料を得る技術の接点として理解してください。</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森林に木が多くあることと、必要な建築用材を得られることは同じではありません。特定の修理で必要な長さや太さ、繊維の通り、欠点の条件があるかもしれません。さらに、材がどこにあり、いつ必要で、搬出できるかが関わります。単に木の総量を増やせば、すべての用材不足が解決するとは限りません。木材の材質を学んできたことを、供給の条件へ結び付けてください。</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森林の樹木は、伐採しただけでそのまま建築部材になるわけではありません。搬出し、製材し、乾燥や選別を行い、使う位置に合わせて加工します。丸太の全体積がそのまま構造材になるわけでもありません。板や角材などの用途に分かれ、残る部分にも別の行き先があります。この経路を見ると、森林、製材、建築、修理を別々の仕事として知るだけでは足りないことがわかります。各段階が次の条件へ影響し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樹種名の木材でも、部材としての性能がすべて同じというわけではありません。節、繊維の傾き、含水率、寸法によって、使う場所や加工への配慮が変わります。見た目が美しいという条件と、荷重を安全に支えるという条件も同じではありません。建築では部材の役割を先に確かめ、その役割に適した条件を確認します。ここまで学んだ異方性や欠点の知識は、用材の選択を説明するために役立ち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ある木材を選ぶことと、将来必要な木材を育てることでは、判断する時間尺度が異なります。大きな部材や特別な材を将来も使うなら、その条件に合う樹木が育つ期間や、供給を続ける仕組みが必要になります。建物を維持する計画と森林を育てる計画を結ぶことは、文化を継承する一つの条件です。樹木の長寿を話題にした第11回とも関わりますが、単に樹齢が高いほどよい材になるという説明にはし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 木の文化を支える森</a:t>
            </a:r>
          </a:p>
          <a:p xmlns:a="http://schemas.openxmlformats.org/drawingml/2006/main">
            <a:r>
              <a:t>https://www.rinya.maff.go.jp/j/kokuyu_rinya/kokumin_mori/katuyo/kinobunka_kojimori/kibunka.html</a:t>
            </a:r>
          </a:p>
          <a:p xmlns:a="http://schemas.openxmlformats.org/drawingml/2006/main">
            <a:r>
              <a:t/>
            </a:r>
          </a:p>
          <a:p xmlns:a="http://schemas.openxmlformats.org/drawingml/2006/main">
            <a:r>
              <a:t>伊勢神宮 永遠の森</a:t>
            </a:r>
          </a:p>
          <a:p xmlns:a="http://schemas.openxmlformats.org/drawingml/2006/main">
            <a:r>
              <a:t>https://www.isejingu.or.jp/sengu/forest.html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造建築を見るとき、まず部材が何をしているかに注目します。柱や梁などの構造部材と、外からの水や日射に接する部分、室内で人が触れる部分では、求める条件が異なります。同じ木材という名称でまとめるだけでは、なぜその材をそこへ使うかを説明できません。構造、外装、内装といった位置付けと、木材の性質を対応させてみましょう。伝統建築にも現代建築にも共通する、材料を見る入口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文部科学省（2017）技術・家庭編 解説27・28・39頁</a:t>
            </a:r>
          </a:p>
          <a:p xmlns:a="http://schemas.openxmlformats.org/drawingml/2006/main">
            <a:r>
              <a:t>https://www.mext.go.jp/component/a_menu/education/micro_detail/__icsFiles/afieldfile/2019/03/18/1387018_009.pdf</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部材単独の強さだけで建物は説明できません。屋根や床が受けた荷重が、どの部材を通って、どこへ伝わるかを見ます。ここに示すのは主として鉛直荷重の簡単な模式図です。実際の建物には水平力に対する仕組みもあり、構法によって役割が異なります。接合部を飛ばして線を引いてしまうと、部材と部材の間で力がどう伝わるかという大切な部分が抜けます。材料力学の知識を建物全体へ広げる例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板を平らに置くか立てて置くかで、たわみ方が変わる例を思い出してください。建築の梁でも、材料のヤング率だけでは応答を説明できません。断面の形、向き、長さ、支持条件が関わります。ただし、簡単なはりの式を、そのままどの伝統建築にも当てはめて安全だと判定することはできません。ここでは材の向きや形に設計上の意味があることを学びます。建物そのものの設計判断には、別に詳細な条件の確認が必要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は水分に応答して寸法が変わり、その変化には方向差があります。これは建築で接合した後にも関係します。乾燥が進むことで隙間や変形が生じたり、部材間の関係が変わったりします。材の使用時の含水率、設置する環境、変化を許容する納まりを考える必要があります。水分変化を木材の欠点という一語で終わらせるより、性質を知ってどう使うかを見ると、材料と加工の技術が理解しやすくなり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仕口や継手は外観だけが特徴ではありません。力を伝える働きがあり、加工や組立ての手順、後の修理にも関わります。金物や接着も含め、どのような条件で使われるかを確かめます。伝統木造は金物を使わないという一律の説明は避けましょう。特定の建物の構法、年代、修理の履歴を見て判断する必要があります。具体的な継手の強さは、形の印象ではなく、試験や設計の条件を伴った値で扱い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使い続けることを考えると、初めに組み立てられるだけでは十分ではありません。傷んだ部分へ工具が届くか、点検で状態を確かめられるか、必要な部材をどのような手順で交換するかが関わります。もちろん交換しやすさだけで構造を決めることもできません。必要な性能を満たしながら、維持の方法を考えることが大切です。修理という観点から見ると、接合部の設計や部材の記録が、次に扱う人への情報にもなり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板の幅方向がいつも接線方向とは限りません。丸太の外側から順に板を取ると、板の幅方向と年輪に対する関係が変わります。これにより見える木目だけでなく、寸法変化の方向との関係も変わります。床板や内装材に使うときは、外観の好み、歩留まり、用途、寸法変化への配慮を合わせて考えます。柾目だから全ての用途で優れているといった順位付けにはし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が置かれる環境を制御することは、材の耐久性を考える上で重要です。雨水が入り込む場所、水がたまりやすい場所、乾きにくい場所がないかを考えます。雨仕舞や点検は、木材の材質とは別の話ではありません。材がどの条件にさらされるかを変えるからです。古い建物が残った理由を説明するときも、樹種の性質だけでなく、建築の工夫や維持管理を合わせて見る必要があり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物が古いからといって、そこにある木材の全てが創建時の部材とは限りません。修理や交換の履歴があり、異なる時期の部材が共存する場合があります。これは文化の価値を否定する話ではなく、何がどのように受け継がれたかを正確に理解するための区別です。後で炭素貯蔵を扱うときも、建物の年代と全ての炭素が固定された時期を同一視しないことが大切になり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保存修理は、傷んだ所へ新しい木を足すだけの作業ではありません。状態を調べ、記録し、何をどこまで直すかを判断します。必要な材が得られること、加工や施工の技術があること、作業を担う人がいることが、建物を次へ伝える条件になります。材料の性能だけを見ていると、これらの社会的な条件を見落としやすくなります。森林管理と建築の維持をつなぐ理由は、ここにもあり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文化庁 伝統建築工匠の技</a:t>
            </a:r>
          </a:p>
          <a:p xmlns:a="http://schemas.openxmlformats.org/drawingml/2006/main">
            <a:r>
              <a:t>https://online.bunka.go.jp/special_content/ilink4</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文化庁の伝統建築工匠の技には、木造建造物を受け継ぐための多様な技術が含まれています。建造物木工や修理だけでなく、屋根や仕上げ、材料を採取したり製作したりする技術も関係します。ここでは技能の名称を全て暗記することが目的ではありません。一棟の建物を維持するには、複数の技術が結び付き、材料と担い手の両方が必要だという構造を理解しましょう。</a:t>
            </a:r>
          </a:p>
          <a:p xmlns:a="http://schemas.openxmlformats.org/drawingml/2006/main">
            <a:r>
              <a:t/>
            </a:r>
          </a:p>
          <a:p xmlns:a="http://schemas.openxmlformats.org/drawingml/2006/main">
            <a:r>
              <a:t/>
            </a:r>
          </a:p>
          <a:p xmlns:a="http://schemas.openxmlformats.org/drawingml/2006/main">
            <a:r>
              <a:t>出典</a:t>
            </a:r>
          </a:p>
          <a:p xmlns:a="http://schemas.openxmlformats.org/drawingml/2006/main">
            <a:r>
              <a:t>文化庁 伝統建築工匠の技</a:t>
            </a:r>
          </a:p>
          <a:p xmlns:a="http://schemas.openxmlformats.org/drawingml/2006/main">
            <a:r>
              <a:t>https://online.bunka.go.jp/special_content/ilink4</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修理しながら同じ建物を維持することと、周期的に建て替えることは同じ行為ではありません。何を受け継ぐのかを、部材、形式、技能、使い方などに分けると、両者の違いが見えてきます。長く残ることの価値を話すときも、古い部材が残ることと、技術や形式が継承されることを区別します。どちらかだけが文化の継承だと決め付けず、事例ごとの目的と仕組みを確認してください。</a:t>
            </a:r>
          </a:p>
          <a:p xmlns:a="http://schemas.openxmlformats.org/drawingml/2006/main">
            <a:r>
              <a:t/>
            </a:r>
          </a:p>
          <a:p xmlns:a="http://schemas.openxmlformats.org/drawingml/2006/main">
            <a:r>
              <a:t/>
            </a:r>
          </a:p>
          <a:p xmlns:a="http://schemas.openxmlformats.org/drawingml/2006/main">
            <a:r>
              <a:t>出典</a:t>
            </a:r>
          </a:p>
          <a:p xmlns:a="http://schemas.openxmlformats.org/drawingml/2006/main">
            <a:r>
              <a:t>伊勢神宮 永遠の森</a:t>
            </a:r>
          </a:p>
          <a:p xmlns:a="http://schemas.openxmlformats.org/drawingml/2006/main">
            <a:r>
              <a:t>https://www.isejingu.or.jp/sengu/forest.html</a:t>
            </a:r>
          </a:p>
          <a:p xmlns:a="http://schemas.openxmlformats.org/drawingml/2006/main">
            <a:r>
              <a:t/>
            </a:r>
          </a:p>
          <a:p xmlns:a="http://schemas.openxmlformats.org/drawingml/2006/main">
            <a:r>
              <a:t>文化庁 伝統建築工匠の技</a:t>
            </a:r>
          </a:p>
          <a:p xmlns:a="http://schemas.openxmlformats.org/drawingml/2006/main">
            <a:r>
              <a:t>https://online.bunka.go.jp/special_content/ilink4</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伊勢神宮の公式資料は、森林経営計画と用材の調達先の変遷を説明しています。1923年からの計画に触れ、建築を更新する時間と、樹木を育てる時間が異なることを示します。伝統が続くことから、同じ場所で同じ材が途切れず供給されてきたと推測してはいけません。また、現在必要な材の全てが宮域林で自給されているかのような図にもできません。具体的な資料から、管理と利用の関係を学ぶ事例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伊勢神宮 永遠の森</a:t>
            </a:r>
          </a:p>
          <a:p xmlns:a="http://schemas.openxmlformats.org/drawingml/2006/main">
            <a:r>
              <a:t>https://www.isejingu.or.jp/sengu/forest.html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本の木が育つ時間と、建物の点検や修理の周期は異なります。図の二本の線は、この違いを考えるための概念図です。ある建物の修理に材が必要になった時、条件に合う木をそこから育て始めても間に合わないかもしれません。将来の需要と、育成や供給の見通しをつなぐことが必要です。ただし、時間軸の図だけで実際の材積の需給が証明できるわけではありません。数量や品質の情報は別に必要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林野庁の木の文化を支える森を、森林管理と文化の継承をつなぐ入口として紹介します。ここで大切なのは、文化を建物の形だけで捉えないことです。必要な材を得る条件や、森林を維持する人の仕事も関係します。個別の事例を使うときには、対象の森林、管理の目的、利用する側との関係を確かめます。制度の名称だけから、将来の供給や管理の成否が保証されるとは考え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 木の文化を支える森</a:t>
            </a:r>
          </a:p>
          <a:p xmlns:a="http://schemas.openxmlformats.org/drawingml/2006/main">
            <a:r>
              <a:t>https://www.rinya.maff.go.jp/j/kokuyu_rinya/kokumin_mori/katuyo/kinobunka_kojimori/kibunka.html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古い木造建築が残っていることは、森林の外にも、樹木が過去に大気から取り込んだ炭素が蓄えられていることを意味します。人が木材を建築に使い、維持することで、その炭素が木材として残る期間に関わっています。ただし、建物の中に二酸化炭素の気体が詰まっているという意味ではありません。木材を構成する有機物の炭素として存在します。過去の二酸化炭素に由来する炭素が、現在も建築材の中にある、と表現すると正確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 建築物の炭素貯蔵量ガイドライン</a:t>
            </a:r>
          </a:p>
          <a:p xmlns:a="http://schemas.openxmlformats.org/drawingml/2006/main">
            <a:r>
              <a:t>https://www.rinya.maff.go.jp/j/mokusan/mieruka.html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光合成によって炭素を有機物へ取り込む過程と、できた木材を利用して炭素を保持する状態を分けます。建物は森林と同じように毎年光合成して炭素を増やすわけではありません。ある時点で建物に残る炭素量は蓄積量であり、単位時間当たりの吸収量とは異なります。この区別をせずに、建物の炭素量を毎年の吸収量として足し続けると、評価を誤ります。身近な建物を考えるときも、量と期間を分けて見ることが大切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 建築物の炭素貯蔵量ガイドライン</a:t>
            </a:r>
          </a:p>
          <a:p xmlns:a="http://schemas.openxmlformats.org/drawingml/2006/main">
            <a:r>
              <a:t>https://www.rinya.maff.go.jp/j/mokusan/mieruka.html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炭素の質量を二酸化炭素の質量へ換算するとき、44を12で割った比を使います。二酸化炭素一分子では、炭素の原子量12に酸素二個分を加え、分子量が44となるためです。この換算は、どの量を表すかをそろえるための方法です。材の中にその質量の二酸化炭素気体が存在しているという説明ではありません。また、二酸化炭素換算の貯蔵量を、そのまま製造や輸送を含めた排出削減量と同一視しないようにしましょう。</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 建築物の炭素貯蔵量ガイドライン</a:t>
            </a:r>
          </a:p>
          <a:p xmlns:a="http://schemas.openxmlformats.org/drawingml/2006/main">
            <a:r>
              <a:t>https://www.rinya.maff.go.jp/j/mokusan/mieruka.html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計算は説明用の仮想例です。気乾状態の材積を10立方メートル、同じ材積に対する全乾質量の密度を一立方メートル当たり0.50トンとします。全乾質量は5トン、炭素割合を0.50とすれば炭素量は2.50トンです。これに44を12で割った値を掛けると、二酸化炭素換算で約9.17トンとなります。密度の定義が重要で、含まれている水の質量まで炭素として数えないようにします。特定の建物の実測値ではあり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 建築物の炭素貯蔵量ガイドライン</a:t>
            </a:r>
          </a:p>
          <a:p xmlns:a="http://schemas.openxmlformats.org/drawingml/2006/main">
            <a:r>
              <a:t>https://www.rinya.maff.go.jp/j/mokusan/mieruka.html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物の歴史が長くても、現存部材が全て同じ時期に生じた炭素を保持しているとは限りません。修理で交換された材もあるためです。貯蔵量を数量として扱うなら、残る木材の量、密度、炭素割合、交換の履歴を確認します。古い建物が多数あるという観察だけから、日本全体でどれほどの炭素が保持されているかを算出することはできません。文化的な価値を伝えつつ、数値を示す場合にはその根拠を添えることが大切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 建築物の炭素貯蔵量ガイドライン</a:t>
            </a:r>
          </a:p>
          <a:p xmlns:a="http://schemas.openxmlformats.org/drawingml/2006/main">
            <a:r>
              <a:t>https://www.rinya.maff.go.jp/j/mokusan/mieruka.html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に炭素が残ることは大切ですが、それだけで利用全体の環境影響が決まるわけではありません。製造、輸送、修理などで排出が生じることがあり、森林側の変化や、使用後にどう扱うかも関係します。ここでは貯蔵という量を正確に理解し、排出削減の判断は、含める範囲や比較する条件を明らかにして行うと整理します。詳しい環境評価は第14回で扱います。木を使えば無条件に環境によい、という標語へ置き換えないようにしましょう。</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 建築物の炭素貯蔵量ガイドライン</a:t>
            </a:r>
          </a:p>
          <a:p xmlns:a="http://schemas.openxmlformats.org/drawingml/2006/main">
            <a:r>
              <a:t>https://www.rinya.maff.go.jp/j/mokusan/mieruka.html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気候については、二酸化炭素の温室効果と、実際の気温に現れる変化を区別して説明します。二酸化炭素の増加は地球の放射収支を変え、温暖化を促す要因です。一方、個々の場所や短い期間の気温には、ほかの要因や自然変動も影響します。ある年やある地域の気温が低かったことだけで、温室効果を否定することはできません。同様に、ある日の高温だけで原因を二酸化炭素へ特定することもできません。作用の説明と観測の解釈を分けましょう。</a:t>
            </a:r>
          </a:p>
          <a:p xmlns:a="http://schemas.openxmlformats.org/drawingml/2006/main">
            <a:r>
              <a:t/>
            </a:r>
          </a:p>
          <a:p xmlns:a="http://schemas.openxmlformats.org/drawingml/2006/main">
            <a:r>
              <a:t/>
            </a:r>
          </a:p>
          <a:p xmlns:a="http://schemas.openxmlformats.org/drawingml/2006/main">
            <a:r>
              <a:t>出典</a:t>
            </a:r>
          </a:p>
          <a:p xmlns:a="http://schemas.openxmlformats.org/drawingml/2006/main">
            <a:r>
              <a:t>気象庁 地球温暖化について</a:t>
            </a:r>
          </a:p>
          <a:p xmlns:a="http://schemas.openxmlformats.org/drawingml/2006/main">
            <a:r>
              <a:t>https://www.jma.go.jp/jma/kishou/know/faq/faq6.html</a:t>
            </a:r>
          </a:p>
          <a:p xmlns:a="http://schemas.openxmlformats.org/drawingml/2006/main">
            <a:r>
              <a:t/>
            </a:r>
          </a:p>
          <a:p xmlns:a="http://schemas.openxmlformats.org/drawingml/2006/main">
            <a:r>
              <a:t>IPCC（2023）統合報告書 主要な知見 A.1</a:t>
            </a:r>
          </a:p>
          <a:p xmlns:a="http://schemas.openxmlformats.org/drawingml/2006/main">
            <a:r>
              <a:t>https://report.ipcc.ch/ar6syr/headline.html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PCCは、主に温室効果ガス排出を通じた人間活動が近年の地球温暖化を引き起こしたと評価しています。この科学的知見と、個々の場所や一回の気象現象の原因を判断することを混同しません。木造建築の炭素貯蔵があるからといって、その建物が気温を何度下げたと直接換算することもできません。複数の要因があるという説明は、二酸化炭素の作用が不明であるという意味ではありません。何がわかり、どこに追加の評価が必要かを区別し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気象庁 地球温暖化について</a:t>
            </a:r>
          </a:p>
          <a:p xmlns:a="http://schemas.openxmlformats.org/drawingml/2006/main">
            <a:r>
              <a:t>https://www.jma.go.jp/jma/kishou/know/faq/faq6.html</a:t>
            </a:r>
          </a:p>
          <a:p xmlns:a="http://schemas.openxmlformats.org/drawingml/2006/main">
            <a:r>
              <a:t/>
            </a:r>
          </a:p>
          <a:p xmlns:a="http://schemas.openxmlformats.org/drawingml/2006/main">
            <a:r>
              <a:t>IPCC（2023）統合報告書 主要な知見 A.1</a:t>
            </a:r>
          </a:p>
          <a:p xmlns:a="http://schemas.openxmlformats.org/drawingml/2006/main">
            <a:r>
              <a:t>https://report.ipcc.ch/ar6syr/headline.html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ご紹介いただいた林野庁の資料は、木材の利用から森林整備へ資金を還元する関係を示しています。森林と建築を結ぶのは材の移動だけではありません。育てる仕事や、次の森林をつくる費用も関わります。木材を使えば必ず自動的に森林へ資金が届くとは限らないため、経路と条件を確かめる視点が必要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林野庁（2008年公表資料）木材の材料としての特徴 3・4・6ページ</a:t>
            </a:r>
          </a:p>
          <a:p xmlns:a="http://schemas.openxmlformats.org/drawingml/2006/main">
            <a:r>
              <a:t>https://www.rinya.maff.go.jp/j/press/riyou/pdf/081009-07.pdf</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日本学術会議の2020年の提言は、森林資源と建築利用をつなぐ情報や計画、環境負荷の評価を重視しています。森林側だけ、建築側だけでは、長期の関係を捉えにくいという視点です。ここではその考え方を学び、当時の需要予測や制度をそのまま現在の事実として扱うことはしません。原資料はご提示の提言案に加え、同じ題名の正式公表版を確認してい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日本学術会議（2020年6月19日）建築分野での木材利用の促進</a:t>
            </a:r>
          </a:p>
          <a:p xmlns:a="http://schemas.openxmlformats.org/drawingml/2006/main">
            <a:r>
              <a:t>https://www.scj.go.jp/ja/info/kohyo/pdf/kohyo-24-t289-3.pdf</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林野庁の資料は、木材を段階的に利用する考え方を示しています。再使用や再資源化は、残る材をさらに使う経路です。ただし、全ての材が同じ順に使えるわけではなく、処理履歴や品質、回収の条件が関わります。燃料として利用する場合は、燃焼で炭素が大気へ戻ることと、エネルギーを得ることを分けます。段階的な利用だけで全工程の排出がゼロになるとは考え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林野庁（2008年公表資料）木材の材料としての特徴 3・4・6ページ</a:t>
            </a:r>
          </a:p>
          <a:p xmlns:a="http://schemas.openxmlformats.org/drawingml/2006/main">
            <a:r>
              <a:t>https://www.rinya.maff.go.jp/j/press/riyou/pdf/081009-07.pdf</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2008年公表の林野庁資料には、その時点の数値や国際制度の議論が含まれています。炭素が木材に残るという物理的な状態と、それをどの制度でどう計上するかは別の話です。過去の説明をそのまま現在の制度として使いません。現在の貯蔵量の計算には現行の林野庁ガイドラインを参照し、比較の条件が不明な過去の倍率を一般的な性能比として再利用しないようにし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 建築物の炭素貯蔵量ガイドライン</a:t>
            </a:r>
          </a:p>
          <a:p xmlns:a="http://schemas.openxmlformats.org/drawingml/2006/main">
            <a:r>
              <a:t>https://www.rinya.maff.go.jp/j/mokusan/mieruka.html</a:t>
            </a:r>
          </a:p>
          <a:p xmlns:a="http://schemas.openxmlformats.org/drawingml/2006/main">
            <a:r>
              <a:t/>
            </a:r>
          </a:p>
          <a:p xmlns:a="http://schemas.openxmlformats.org/drawingml/2006/main">
            <a:r>
              <a:t>林野庁（2008年公表資料）木材の材料としての特徴 3・4・6ページ</a:t>
            </a:r>
          </a:p>
          <a:p xmlns:a="http://schemas.openxmlformats.org/drawingml/2006/main">
            <a:r>
              <a:t>https://www.rinya.maff.go.jp/j/press/riyou/pdf/081009-07.pdf</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回をまとめます。木造建築を受け継ぐには、使う材の特性だけでなく、必要な材を得る森林管理、加工や接合、点検と修理、担い手の継承が関わります。材が残る期間には、過去に大気から取り込まれた炭素も森林の外で保持されます。文化の価値と科学的な量の説明を両立させ、条件と根拠を示しましょう。中学生に木材を教えるときも、その材がどこから来て、なぜその位置に使われ、どう維持されるかという説明ができ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に短く確認します。樹木の個体が長く生きること、木材製品を長く使うこと、炭素を保持することは、関連しますが同じ量ではありません。それぞれ何を見ているかを言葉にしてください。この確認のために長い作図や調査を必須とはしません。次の回では接着と要素の配向から木質材料の設計を学びます。伝統と現代という名前だけで、材料の使い方を順位付けしないことも引き続き大切になり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講義に用いた資料です。数値を再利用するときは、計算の基準や対象とする範囲も確かめてください。建築物の炭素貯蔵量と気候の評価は、異なる問いを扱う資料です。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文部科学省（2017）技術・家庭編 解説27・28・39頁</a:t>
            </a:r>
          </a:p>
          <a:p xmlns:a="http://schemas.openxmlformats.org/drawingml/2006/main">
            <a:r>
              <a:t>https://www.mext.go.jp/component/a_menu/education/micro_detail/__icsFiles/afieldfile/2019/03/18/1387018_009.pdf</a:t>
            </a:r>
          </a:p>
          <a:p xmlns:a="http://schemas.openxmlformats.org/drawingml/2006/main">
            <a:r>
              <a:t/>
            </a:r>
          </a:p>
          <a:p xmlns:a="http://schemas.openxmlformats.org/drawingml/2006/main">
            <a:r>
              <a:t>林野庁 木の文化を支える森</a:t>
            </a:r>
          </a:p>
          <a:p xmlns:a="http://schemas.openxmlformats.org/drawingml/2006/main">
            <a:r>
              <a:t>https://www.rinya.maff.go.jp/j/kokuyu_rinya/kokumin_mori/katuyo/kinobunka_kojimori/kibunka.html</a:t>
            </a:r>
          </a:p>
          <a:p xmlns:a="http://schemas.openxmlformats.org/drawingml/2006/main">
            <a:r>
              <a:t/>
            </a:r>
          </a:p>
          <a:p xmlns:a="http://schemas.openxmlformats.org/drawingml/2006/main">
            <a:r>
              <a:t>伊勢神宮 永遠の森</a:t>
            </a:r>
          </a:p>
          <a:p xmlns:a="http://schemas.openxmlformats.org/drawingml/2006/main">
            <a:r>
              <a:t>https://www.isejingu.or.jp/sengu/forest.html</a:t>
            </a:r>
          </a:p>
          <a:p xmlns:a="http://schemas.openxmlformats.org/drawingml/2006/main">
            <a:r>
              <a:t/>
            </a:r>
          </a:p>
          <a:p xmlns:a="http://schemas.openxmlformats.org/drawingml/2006/main">
            <a:r>
              <a:t>文化庁 伝統建築工匠の技</a:t>
            </a:r>
          </a:p>
          <a:p xmlns:a="http://schemas.openxmlformats.org/drawingml/2006/main">
            <a:r>
              <a:t>https://online.bunka.go.jp/special_content/ilink4</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講義に用いた資料です。数値を再利用するときは、計算の基準や対象とする範囲も確かめてください。建築物の炭素貯蔵量と気候の評価は、異なる問いを扱う資料です。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 建築物の炭素貯蔵量ガイドライン</a:t>
            </a:r>
          </a:p>
          <a:p xmlns:a="http://schemas.openxmlformats.org/drawingml/2006/main">
            <a:r>
              <a:t>https://www.rinya.maff.go.jp/j/mokusan/mieruka.html</a:t>
            </a:r>
          </a:p>
          <a:p xmlns:a="http://schemas.openxmlformats.org/drawingml/2006/main">
            <a:r>
              <a:t/>
            </a:r>
          </a:p>
          <a:p xmlns:a="http://schemas.openxmlformats.org/drawingml/2006/main">
            <a:r>
              <a:t>気象庁 地球温暖化について</a:t>
            </a:r>
          </a:p>
          <a:p xmlns:a="http://schemas.openxmlformats.org/drawingml/2006/main">
            <a:r>
              <a:t>https://www.jma.go.jp/jma/kishou/know/faq/faq6.html</a:t>
            </a:r>
          </a:p>
          <a:p xmlns:a="http://schemas.openxmlformats.org/drawingml/2006/main">
            <a:r>
              <a:t/>
            </a:r>
          </a:p>
          <a:p xmlns:a="http://schemas.openxmlformats.org/drawingml/2006/main">
            <a:r>
              <a:t>IPCC（2023）統合報告書 主要な知見 A.1</a:t>
            </a:r>
          </a:p>
          <a:p xmlns:a="http://schemas.openxmlformats.org/drawingml/2006/main">
            <a:r>
              <a:t>https://report.ipcc.ch/ar6syr/headline.html</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ご紹介いただいた資料の参照先です。日本学術会議の資料は2020年6月19日の正式公表版を使用しています。林野庁の資料の数値と制度は当時のものとして区別します。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林野庁（2008年公表資料）木材の材料としての特徴 3・4・6ページ</a:t>
            </a:r>
          </a:p>
          <a:p xmlns:a="http://schemas.openxmlformats.org/drawingml/2006/main">
            <a:r>
              <a:t>https://www.rinya.maff.go.jp/j/press/riyou/pdf/081009-07.pdf</a:t>
            </a:r>
          </a:p>
          <a:p xmlns:a="http://schemas.openxmlformats.org/drawingml/2006/main">
            <a:r>
              <a:t/>
            </a:r>
          </a:p>
          <a:p xmlns:a="http://schemas.openxmlformats.org/drawingml/2006/main">
            <a:r>
              <a:t>日本学術会議（2020年6月19日）建築分野での木材利用の促進</a:t>
            </a:r>
          </a:p>
          <a:p xmlns:a="http://schemas.openxmlformats.org/drawingml/2006/main">
            <a:r>
              <a:t>https://www.scj.go.jp/ja/info/kohyo/pdf/kohyo-24-t289-3.pdf</a:t>
            </a:r>
          </a:p>
          <a:p xmlns:a="http://schemas.openxmlformats.org/drawingml/2006/main">
            <a:r>
              <a:t/>
            </a:r>
          </a:p>
          <a:p xmlns:a="http://schemas.openxmlformats.org/drawingml/2006/main">
            <a:r>
              <a:t>講義動画約90分を目標に改訂中。活動は短い確認・任意補足とする。現在の動画の長さは実測値を別記する。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4f9ff1b2764a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fce148d5d44d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af97ddfd564c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bf57cae05744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c976fe6be564bf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002b12701843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281A16-76F1-4753-919B-FF221707AAD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6F06613-CD3A-493F-B76B-63F0165C102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9EE6C00-E908-4BC7-A61B-EB2640024DE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4D44AA-4905-4254-BA4E-61350B6B1C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B82F2B0-AFF8-44DC-9368-09BFA5EF9CA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CA3286-C761-49CF-B16B-A04A53E591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4F453F-8DC6-4153-ACF2-DC1458A8CE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1226FA-35ED-47E7-BDC9-85DC2CFFFC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ECF40E-1E8B-4EA2-BFCA-2CE6CEA7B4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0AA299-5E61-4A39-BF47-1EC0C964FA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4c864a88b44a72" /><Relationship Type="http://schemas.openxmlformats.org/officeDocument/2006/relationships/slideLayout" Target="/ppt/slideLayouts/slideLayout1.xml" Id="Ree2e02d5938c437e" /><Relationship Type="http://schemas.openxmlformats.org/officeDocument/2006/relationships/slideLayout" Target="/ppt/slideLayouts/slideLayout2.xml" Id="Ra10e7911944140ca" /><Relationship Type="http://schemas.openxmlformats.org/officeDocument/2006/relationships/slideLayout" Target="/ppt/slideLayouts/slideLayout3.xml" Id="Ra5cf5808adb34396" /><Relationship Type="http://schemas.openxmlformats.org/officeDocument/2006/relationships/slideLayout" Target="/ppt/slideLayouts/slideLayout4.xml" Id="Rd42db10d9ddb4221" /><Relationship Type="http://schemas.openxmlformats.org/officeDocument/2006/relationships/slideLayout" Target="/ppt/slideLayouts/slideLayout5.xml" Id="R386d5515ff6b4ef8" /><Relationship Type="http://schemas.openxmlformats.org/officeDocument/2006/relationships/slideLayout" Target="/ppt/slideLayouts/slideLayout6.xml" Id="R8b5cd8045a804d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2e02d5938c437e"/>
    <p:sldLayoutId xmlns:r="http://schemas.openxmlformats.org/officeDocument/2006/relationships" id="2147483650" r:id="Ra10e7911944140ca"/>
    <p:sldLayoutId xmlns:r="http://schemas.openxmlformats.org/officeDocument/2006/relationships" id="2147483651" r:id="Ra5cf5808adb34396"/>
    <p:sldLayoutId xmlns:r="http://schemas.openxmlformats.org/officeDocument/2006/relationships" id="2147483652" r:id="Rd42db10d9ddb4221"/>
    <p:sldLayoutId xmlns:r="http://schemas.openxmlformats.org/officeDocument/2006/relationships" id="2147483653" r:id="R386d5515ff6b4ef8"/>
    <p:sldLayoutId xmlns:r="http://schemas.openxmlformats.org/officeDocument/2006/relationships" id="2147483654" r:id="R8b5cd8045a804d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2423f45ed44cb3" /><Relationship Type="http://schemas.openxmlformats.org/officeDocument/2006/relationships/notesSlide" Target="/ppt/notesSlides/notesSlide1.xml" Id="R18234a0007d642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fb427a44154728" /><Relationship Type="http://schemas.openxmlformats.org/officeDocument/2006/relationships/notesSlide" Target="/ppt/notesSlides/notesSlide2.xml" Id="R118dda2060f045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6f2803f98847a0" /><Relationship Type="http://schemas.openxmlformats.org/officeDocument/2006/relationships/notesSlide" Target="/ppt/notesSlides/notesSlide3.xml" Id="R213fa915bff24c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80ce941ec624943" /><Relationship Type="http://schemas.openxmlformats.org/officeDocument/2006/relationships/notesSlide" Target="/ppt/notesSlides/notesSlide4.xml" Id="R71ab47c3c3c34f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96c40ac4304e93" /><Relationship Type="http://schemas.openxmlformats.org/officeDocument/2006/relationships/notesSlide" Target="/ppt/notesSlides/notesSlide5.xml" Id="R3d25a66844804c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29aceddbbdd4e11" /><Relationship Type="http://schemas.openxmlformats.org/officeDocument/2006/relationships/notesSlide" Target="/ppt/notesSlides/notesSlide6.xml" Id="R734280a8bbe34f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664f3df5f074ba9" /><Relationship Type="http://schemas.openxmlformats.org/officeDocument/2006/relationships/notesSlide" Target="/ppt/notesSlides/notesSlide7.xml" Id="R12f780f279884d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a2e00db4bf4f74" /><Relationship Type="http://schemas.openxmlformats.org/officeDocument/2006/relationships/notesSlide" Target="/ppt/notesSlides/notesSlide8.xml" Id="Ra1e4f92358f14d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bc00093536a4bd0" /><Relationship Type="http://schemas.openxmlformats.org/officeDocument/2006/relationships/notesSlide" Target="/ppt/notesSlides/notesSlide9.xml" Id="R03904a8ad31c43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79355c659f34496" /><Relationship Type="http://schemas.openxmlformats.org/officeDocument/2006/relationships/notesSlide" Target="/ppt/notesSlides/notesSlide10.xml" Id="Rcdfe2c3fd40a43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79b109976044aad" /><Relationship Type="http://schemas.openxmlformats.org/officeDocument/2006/relationships/notesSlide" Target="/ppt/notesSlides/notesSlide11.xml" Id="R812a8a575f2c4e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960f6d93cf48b2" /><Relationship Type="http://schemas.openxmlformats.org/officeDocument/2006/relationships/notesSlide" Target="/ppt/notesSlides/notesSlide12.xml" Id="R3572c20d9ba04c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bd44a2ac4dc40c0" /><Relationship Type="http://schemas.openxmlformats.org/officeDocument/2006/relationships/notesSlide" Target="/ppt/notesSlides/notesSlide13.xml" Id="R03f2a7e4853e46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8e480507227483f" /><Relationship Type="http://schemas.openxmlformats.org/officeDocument/2006/relationships/notesSlide" Target="/ppt/notesSlides/notesSlide14.xml" Id="R0b95ed02edb648b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a1a6f81756a4522" /><Relationship Type="http://schemas.openxmlformats.org/officeDocument/2006/relationships/notesSlide" Target="/ppt/notesSlides/notesSlide15.xml" Id="Rfe62603479ee42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e7127adec854bcc" /><Relationship Type="http://schemas.openxmlformats.org/officeDocument/2006/relationships/notesSlide" Target="/ppt/notesSlides/notesSlide16.xml" Id="R2215b44b6a3c4b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9bba18f52a64a49" /><Relationship Type="http://schemas.openxmlformats.org/officeDocument/2006/relationships/notesSlide" Target="/ppt/notesSlides/notesSlide17.xml" Id="R8866059d7578402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bec9f3f1c7a4f1f" /><Relationship Type="http://schemas.openxmlformats.org/officeDocument/2006/relationships/notesSlide" Target="/ppt/notesSlides/notesSlide18.xml" Id="Rafa7ee88499548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76b065f94d74fb6" /><Relationship Type="http://schemas.openxmlformats.org/officeDocument/2006/relationships/notesSlide" Target="/ppt/notesSlides/notesSlide19.xml" Id="R68bb23d42f334c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07fe62ba67043a9" /><Relationship Type="http://schemas.openxmlformats.org/officeDocument/2006/relationships/notesSlide" Target="/ppt/notesSlides/notesSlide20.xml" Id="R6f1d1ca6336349e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ad382e640cb42a7" /><Relationship Type="http://schemas.openxmlformats.org/officeDocument/2006/relationships/notesSlide" Target="/ppt/notesSlides/notesSlide21.xml" Id="Ra4657cb54dd04c1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609bfff5b604db3" /><Relationship Type="http://schemas.openxmlformats.org/officeDocument/2006/relationships/notesSlide" Target="/ppt/notesSlides/notesSlide22.xml" Id="Ra986052ccbba4ca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1491b72d801428d" /><Relationship Type="http://schemas.openxmlformats.org/officeDocument/2006/relationships/notesSlide" Target="/ppt/notesSlides/notesSlide23.xml" Id="Rccf181a6854a4e1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ec11cbe434d45a7" /><Relationship Type="http://schemas.openxmlformats.org/officeDocument/2006/relationships/notesSlide" Target="/ppt/notesSlides/notesSlide24.xml" Id="R709fb0b7096444e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9bd097b39434a12" /><Relationship Type="http://schemas.openxmlformats.org/officeDocument/2006/relationships/notesSlide" Target="/ppt/notesSlides/notesSlide25.xml" Id="Rea57d65e3a6946f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1b601ff816a43ad" /><Relationship Type="http://schemas.openxmlformats.org/officeDocument/2006/relationships/notesSlide" Target="/ppt/notesSlides/notesSlide26.xml" Id="R30d826b45da941c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d0700cda9904faa" /><Relationship Type="http://schemas.openxmlformats.org/officeDocument/2006/relationships/notesSlide" Target="/ppt/notesSlides/notesSlide27.xml" Id="Rfc01c9fa61ee41c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8353f97fbc940ac" /><Relationship Type="http://schemas.openxmlformats.org/officeDocument/2006/relationships/notesSlide" Target="/ppt/notesSlides/notesSlide28.xml" Id="Re50cd10040fc466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31b0b3455644cdb" /><Relationship Type="http://schemas.openxmlformats.org/officeDocument/2006/relationships/notesSlide" Target="/ppt/notesSlides/notesSlide29.xml" Id="Reea149a32d174d6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052558222d34ae9" /><Relationship Type="http://schemas.openxmlformats.org/officeDocument/2006/relationships/notesSlide" Target="/ppt/notesSlides/notesSlide30.xml" Id="R3fb07fb89dc54a9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f87b508ab084e31" /><Relationship Type="http://schemas.openxmlformats.org/officeDocument/2006/relationships/notesSlide" Target="/ppt/notesSlides/notesSlide31.xml" Id="Rb35a5f2487b443c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5eb9d07abd14bba" /><Relationship Type="http://schemas.openxmlformats.org/officeDocument/2006/relationships/notesSlide" Target="/ppt/notesSlides/notesSlide32.xml" Id="Re68c957bbd35492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a35f80ed29a45e6" /><Relationship Type="http://schemas.openxmlformats.org/officeDocument/2006/relationships/notesSlide" Target="/ppt/notesSlides/notesSlide33.xml" Id="R806c324a736c420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f96ea4360d24860" /><Relationship Type="http://schemas.openxmlformats.org/officeDocument/2006/relationships/notesSlide" Target="/ppt/notesSlides/notesSlide34.xml" Id="R422db59b3448413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afa7d0492d541c0" /><Relationship Type="http://schemas.openxmlformats.org/officeDocument/2006/relationships/notesSlide" Target="/ppt/notesSlides/notesSlide35.xml" Id="R7249c5554e884dc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6c9222e875a4de9" /><Relationship Type="http://schemas.openxmlformats.org/officeDocument/2006/relationships/notesSlide" Target="/ppt/notesSlides/notesSlide36.xml" Id="R4234fd575097404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09542b348664903" /><Relationship Type="http://schemas.openxmlformats.org/officeDocument/2006/relationships/notesSlide" Target="/ppt/notesSlides/notesSlide37.xml" Id="Rb4f54ae6b013408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18086bd7ff642b7" /><Relationship Type="http://schemas.openxmlformats.org/officeDocument/2006/relationships/notesSlide" Target="/ppt/notesSlides/notesSlide38.xml" Id="R77cbe7a74c9d401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2e148c49bcd4052" /><Relationship Type="http://schemas.openxmlformats.org/officeDocument/2006/relationships/notesSlide" Target="/ppt/notesSlides/notesSlide39.xml" Id="Rcce84604e411486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697d3a2da9d4cbd" /><Relationship Type="http://schemas.openxmlformats.org/officeDocument/2006/relationships/notesSlide" Target="/ppt/notesSlides/notesSlide40.xml" Id="R281e02d214324f0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5712c6448b1496a" /><Relationship Type="http://schemas.openxmlformats.org/officeDocument/2006/relationships/hyperlink" Target="https://www.mext.go.jp/component/a_menu/education/micro_detail/__icsFiles/afieldfile/2019/03/18/1387018_009.pdf" TargetMode="External" Id="R6cda0391fa7149c3" /><Relationship Type="http://schemas.openxmlformats.org/officeDocument/2006/relationships/hyperlink" Target="https://www.rinya.maff.go.jp/j/kokuyu_rinya/kokumin_mori/katuyo/kinobunka_kojimori/kibunka.html" TargetMode="External" Id="R8533428aaabc485f" /><Relationship Type="http://schemas.openxmlformats.org/officeDocument/2006/relationships/hyperlink" Target="https://www.isejingu.or.jp/sengu/forest.html" TargetMode="External" Id="Rd02806e2b6ea4eca" /><Relationship Type="http://schemas.openxmlformats.org/officeDocument/2006/relationships/hyperlink" Target="https://online.bunka.go.jp/special_content/ilink4" TargetMode="External" Id="Rc921290838464ea1" /><Relationship Type="http://schemas.openxmlformats.org/officeDocument/2006/relationships/notesSlide" Target="/ppt/notesSlides/notesSlide41.xml" Id="Reb493a2691ec4a0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85fd9da302a485d" /><Relationship Type="http://schemas.openxmlformats.org/officeDocument/2006/relationships/hyperlink" Target="https://www.rinya.maff.go.jp/j/mokusan/mieruka.html" TargetMode="External" Id="Reba5f48a182c4157" /><Relationship Type="http://schemas.openxmlformats.org/officeDocument/2006/relationships/hyperlink" Target="https://www.jma.go.jp/jma/kishou/know/faq/faq6.html" TargetMode="External" Id="R69336b6d85d54748" /><Relationship Type="http://schemas.openxmlformats.org/officeDocument/2006/relationships/hyperlink" Target="https://report.ipcc.ch/ar6syr/headline.html" TargetMode="External" Id="R5a528e3c95214525" /><Relationship Type="http://schemas.openxmlformats.org/officeDocument/2006/relationships/notesSlide" Target="/ppt/notesSlides/notesSlide42.xml" Id="Rcf007b171b81494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1cb84b9550764b59" /><Relationship Type="http://schemas.openxmlformats.org/officeDocument/2006/relationships/hyperlink" Target="https://www.rinya.maff.go.jp/j/press/riyou/pdf/081009-07.pdf" TargetMode="External" Id="R41ce57fc047244d9" /><Relationship Type="http://schemas.openxmlformats.org/officeDocument/2006/relationships/hyperlink" Target="https://www.scj.go.jp/ja/info/kohyo/pdf/kohyo-24-t289-3.pdf" TargetMode="External" Id="R013565a7de344fc1" /><Relationship Type="http://schemas.openxmlformats.org/officeDocument/2006/relationships/notesSlide" Target="/ppt/notesSlides/notesSlide43.xml" Id="R2c74460dc14c4c8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0B0770-99E0-4970-BC85-7D8B9A786E3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日本の木の文化 森林管理と木造建築</a:t>
            </a:r>
          </a:p>
        </p:txBody>
      </p:sp>
      <p:sp>
        <p:nvSpPr>
          <p:cNvPr id="2" name="">
            <a:extLst xmlns:a="http://schemas.openxmlformats.org/drawingml/2006/main">
              <a:ext uri="{FF2B5EF4-FFF2-40B4-BE49-F238E27FC236}">
                <a16:creationId xmlns:a16="http://schemas.microsoft.com/office/drawing/2014/main" id="{E7F68766-F8AF-4F38-A6C1-0084EB705C7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3474986-CFEF-49A4-9C72-1C490F927AB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9554807F-2029-4BCE-B364-6355F5B2CC2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a:t>
            </a:r>
          </a:p>
        </p:txBody>
      </p:sp>
      <p:sp>
        <p:nvSpPr>
          <p:cNvPr id="5" name="">
            <a:extLst xmlns:a="http://schemas.openxmlformats.org/drawingml/2006/main">
              <a:ext uri="{FF2B5EF4-FFF2-40B4-BE49-F238E27FC236}">
                <a16:creationId xmlns:a16="http://schemas.microsoft.com/office/drawing/2014/main" id="{27B93801-B8EE-43EE-AD32-41F110E581A0}"/>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新第12回　木材及び木質材料学</a:t>
            </a:r>
          </a:p>
        </p:txBody>
      </p:sp>
      <p:sp>
        <p:nvSpPr>
          <p:cNvPr id="6" name="">
            <a:extLst xmlns:a="http://schemas.openxmlformats.org/drawingml/2006/main">
              <a:ext uri="{FF2B5EF4-FFF2-40B4-BE49-F238E27FC236}">
                <a16:creationId xmlns:a16="http://schemas.microsoft.com/office/drawing/2014/main" id="{7A53D08B-C5B8-4849-8310-0D18CA3BD65A}"/>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育てる・調達する・建てる・維持する</a:t>
            </a:r>
          </a:p>
        </p:txBody>
      </p:sp>
      <p:sp>
        <p:nvSpPr>
          <p:cNvPr id="7" name="">
            <a:extLst xmlns:a="http://schemas.openxmlformats.org/drawingml/2006/main">
              <a:ext uri="{FF2B5EF4-FFF2-40B4-BE49-F238E27FC236}">
                <a16:creationId xmlns:a16="http://schemas.microsoft.com/office/drawing/2014/main" id="{D1B05EFE-0353-4A8E-8F22-962F90826852}"/>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森林の外にも残る炭素を考える</a:t>
            </a:r>
          </a:p>
        </p:txBody>
      </p:sp>
    </p:spTree>
    <p:extLst>
      <p:ext uri="{BB962C8B-B14F-4D97-AF65-F5344CB8AC3E}">
        <p14:creationId xmlns:p14="http://schemas.microsoft.com/office/powerpoint/2010/main" val="20034207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093E71-8ACD-4DEB-864E-5CD7271DDBF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木の文化を支える二つの現場</a:t>
            </a:r>
          </a:p>
        </p:txBody>
      </p:sp>
      <p:sp>
        <p:nvSpPr>
          <p:cNvPr id="2" name="">
            <a:extLst xmlns:a="http://schemas.openxmlformats.org/drawingml/2006/main">
              <a:ext uri="{FF2B5EF4-FFF2-40B4-BE49-F238E27FC236}">
                <a16:creationId xmlns:a16="http://schemas.microsoft.com/office/drawing/2014/main" id="{5BFDC248-1E80-4927-AE41-700F98700F7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F899A0-3086-4E69-85E5-96680ED75CC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D8ECE1B1-FCD9-4B02-83ED-1A7BA6F92A2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BB7A118D-6881-4A20-A5E0-C4C2545E4ADA}"/>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樹木が育つ森林</a:t>
            </a:r>
          </a:p>
        </p:txBody>
      </p:sp>
      <p:sp>
        <p:nvSpPr>
          <p:cNvPr id="6" name="">
            <a:extLst xmlns:a="http://schemas.openxmlformats.org/drawingml/2006/main">
              <a:ext uri="{FF2B5EF4-FFF2-40B4-BE49-F238E27FC236}">
                <a16:creationId xmlns:a16="http://schemas.microsoft.com/office/drawing/2014/main" id="{BB5C03A7-29AE-4C7C-9BB6-796919843535}"/>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材が使われる建築</a:t>
            </a:r>
          </a:p>
        </p:txBody>
      </p:sp>
      <p:sp>
        <p:nvSpPr>
          <p:cNvPr id="7" name="">
            <a:extLst xmlns:a="http://schemas.openxmlformats.org/drawingml/2006/main">
              <a:ext uri="{FF2B5EF4-FFF2-40B4-BE49-F238E27FC236}">
                <a16:creationId xmlns:a16="http://schemas.microsoft.com/office/drawing/2014/main" id="{72592666-6144-4C30-8134-B3C5F47BDD40}"/>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管理・加工・流通・修理の担い手</a:t>
            </a:r>
          </a:p>
        </p:txBody>
      </p:sp>
    </p:spTree>
    <p:extLst>
      <p:ext uri="{BB962C8B-B14F-4D97-AF65-F5344CB8AC3E}">
        <p14:creationId xmlns:p14="http://schemas.microsoft.com/office/powerpoint/2010/main" val="15807919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41960F-E20A-4B1D-8936-25557DB6329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技術科の材料学習との関係</a:t>
            </a:r>
          </a:p>
        </p:txBody>
      </p:sp>
      <p:sp>
        <p:nvSpPr>
          <p:cNvPr id="2" name="">
            <a:extLst xmlns:a="http://schemas.openxmlformats.org/drawingml/2006/main">
              <a:ext uri="{FF2B5EF4-FFF2-40B4-BE49-F238E27FC236}">
                <a16:creationId xmlns:a16="http://schemas.microsoft.com/office/drawing/2014/main" id="{DBBC6325-CF71-4F3B-8A44-876C793B8A4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C28E3D-4516-4968-BB89-43BCFF70C66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3A99F1ED-6684-4CE2-A275-07D8D23858F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ADDB390C-86FD-41CC-8A5F-477B008580B7}"/>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伝統的な技術と文化</a:t>
            </a:r>
          </a:p>
        </p:txBody>
      </p:sp>
      <p:sp>
        <p:nvSpPr>
          <p:cNvPr id="6" name="">
            <a:extLst xmlns:a="http://schemas.openxmlformats.org/drawingml/2006/main">
              <a:ext uri="{FF2B5EF4-FFF2-40B4-BE49-F238E27FC236}">
                <a16:creationId xmlns:a16="http://schemas.microsoft.com/office/drawing/2014/main" id="{AE4C5DCC-D704-4591-8380-304A9E9444B1}"/>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木造建築の材料・形状・構造</a:t>
            </a:r>
          </a:p>
        </p:txBody>
      </p:sp>
      <p:sp>
        <p:nvSpPr>
          <p:cNvPr id="7" name="">
            <a:extLst xmlns:a="http://schemas.openxmlformats.org/drawingml/2006/main">
              <a:ext uri="{FF2B5EF4-FFF2-40B4-BE49-F238E27FC236}">
                <a16:creationId xmlns:a16="http://schemas.microsoft.com/office/drawing/2014/main" id="{543DDB4A-ADA7-4584-BDAA-497F5ABFF75C}"/>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森林の環境保全・防災機能</a:t>
            </a:r>
          </a:p>
        </p:txBody>
      </p:sp>
      <p:sp>
        <p:nvSpPr>
          <p:cNvPr id="8" name="">
            <a:extLst xmlns:a="http://schemas.openxmlformats.org/drawingml/2006/main">
              <a:ext uri="{FF2B5EF4-FFF2-40B4-BE49-F238E27FC236}">
                <a16:creationId xmlns:a16="http://schemas.microsoft.com/office/drawing/2014/main" id="{76D484E3-CBF0-4769-B6AD-B964E314B15E}"/>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出典：[1]　末尾の参照資料へ</a:t>
            </a:r>
          </a:p>
        </p:txBody>
      </p:sp>
    </p:spTree>
    <p:extLst>
      <p:ext uri="{BB962C8B-B14F-4D97-AF65-F5344CB8AC3E}">
        <p14:creationId xmlns:p14="http://schemas.microsoft.com/office/powerpoint/2010/main" val="12524131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712508-1937-438B-9502-D911BC27DAE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森林を管理する目的</a:t>
            </a:r>
          </a:p>
        </p:txBody>
      </p:sp>
      <p:sp>
        <p:nvSpPr>
          <p:cNvPr id="2" name="">
            <a:extLst xmlns:a="http://schemas.openxmlformats.org/drawingml/2006/main">
              <a:ext uri="{FF2B5EF4-FFF2-40B4-BE49-F238E27FC236}">
                <a16:creationId xmlns:a16="http://schemas.microsoft.com/office/drawing/2014/main" id="{BEE48B64-9BED-4495-B694-12FF5A2A259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340A1A-EE6D-4EDF-9882-756A5509C4B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BA2DDE2C-7BC6-4644-BF52-4275D878C5F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98435BEF-1D1A-4BAA-A04D-7F96A0847FF8}"/>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用材の育成と供給</a:t>
            </a:r>
          </a:p>
        </p:txBody>
      </p:sp>
      <p:sp>
        <p:nvSpPr>
          <p:cNvPr id="6" name="">
            <a:extLst xmlns:a="http://schemas.openxmlformats.org/drawingml/2006/main">
              <a:ext uri="{FF2B5EF4-FFF2-40B4-BE49-F238E27FC236}">
                <a16:creationId xmlns:a16="http://schemas.microsoft.com/office/drawing/2014/main" id="{D6272521-75C9-46BF-9768-5BBDA9995CB7}"/>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生態系・水・土壌などへの配慮</a:t>
            </a:r>
          </a:p>
        </p:txBody>
      </p:sp>
      <p:sp>
        <p:nvSpPr>
          <p:cNvPr id="7" name="">
            <a:extLst xmlns:a="http://schemas.openxmlformats.org/drawingml/2006/main">
              <a:ext uri="{FF2B5EF4-FFF2-40B4-BE49-F238E27FC236}">
                <a16:creationId xmlns:a16="http://schemas.microsoft.com/office/drawing/2014/main" id="{D960FF3E-2C40-49C9-BE03-72E4C6D2ECA6}"/>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場所と目的に応じた管理</a:t>
            </a:r>
          </a:p>
        </p:txBody>
      </p:sp>
      <p:sp>
        <p:nvSpPr>
          <p:cNvPr id="8" name="">
            <a:extLst xmlns:a="http://schemas.openxmlformats.org/drawingml/2006/main">
              <a:ext uri="{FF2B5EF4-FFF2-40B4-BE49-F238E27FC236}">
                <a16:creationId xmlns:a16="http://schemas.microsoft.com/office/drawing/2014/main" id="{FD81B33B-4435-4CB7-8B2B-D9D007830D0E}"/>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出典：[2] [3]　末尾の参照資料へ</a:t>
            </a:r>
          </a:p>
        </p:txBody>
      </p:sp>
    </p:spTree>
    <p:extLst>
      <p:ext uri="{BB962C8B-B14F-4D97-AF65-F5344CB8AC3E}">
        <p14:creationId xmlns:p14="http://schemas.microsoft.com/office/powerpoint/2010/main" val="182413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40E3B0-C574-432A-9A0C-73AEE68763D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天然林と人工林を評価するとき</a:t>
            </a:r>
          </a:p>
        </p:txBody>
      </p:sp>
      <p:sp>
        <p:nvSpPr>
          <p:cNvPr id="2" name="">
            <a:extLst xmlns:a="http://schemas.openxmlformats.org/drawingml/2006/main">
              <a:ext uri="{FF2B5EF4-FFF2-40B4-BE49-F238E27FC236}">
                <a16:creationId xmlns:a16="http://schemas.microsoft.com/office/drawing/2014/main" id="{4AF6144C-1FDA-4103-848C-D0E23181442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F4A389-07EA-429C-AEFE-9264613D363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ADEB9564-CCBB-4978-A305-718574A259B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8C0460DA-E262-4A27-891F-AFB2AF966B58}"/>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成立の経緯と現在の状態を区別する</a:t>
            </a:r>
          </a:p>
        </p:txBody>
      </p:sp>
      <p:sp>
        <p:nvSpPr>
          <p:cNvPr id="6" name="">
            <a:extLst xmlns:a="http://schemas.openxmlformats.org/drawingml/2006/main">
              <a:ext uri="{FF2B5EF4-FFF2-40B4-BE49-F238E27FC236}">
                <a16:creationId xmlns:a16="http://schemas.microsoft.com/office/drawing/2014/main" id="{4D67E9F1-2A98-4685-AA17-4CAFFED05EB7}"/>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樹種、齢構成、更新、立地を確認する</a:t>
            </a:r>
          </a:p>
        </p:txBody>
      </p:sp>
      <p:sp>
        <p:nvSpPr>
          <p:cNvPr id="7" name="">
            <a:extLst xmlns:a="http://schemas.openxmlformats.org/drawingml/2006/main">
              <a:ext uri="{FF2B5EF4-FFF2-40B4-BE49-F238E27FC236}">
                <a16:creationId xmlns:a16="http://schemas.microsoft.com/office/drawing/2014/main" id="{61FC9A8F-6291-46C5-B8AE-D26C436D40F6}"/>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名称だけで良否を決めない</a:t>
            </a:r>
          </a:p>
        </p:txBody>
      </p:sp>
    </p:spTree>
    <p:extLst>
      <p:ext uri="{BB962C8B-B14F-4D97-AF65-F5344CB8AC3E}">
        <p14:creationId xmlns:p14="http://schemas.microsoft.com/office/powerpoint/2010/main" val="19293604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8F2608-9362-4658-A5C6-A7755699D12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伐採後の更新も計画に含める</a:t>
            </a:r>
          </a:p>
        </p:txBody>
      </p:sp>
      <p:sp>
        <p:nvSpPr>
          <p:cNvPr id="2" name="">
            <a:extLst xmlns:a="http://schemas.openxmlformats.org/drawingml/2006/main">
              <a:ext uri="{FF2B5EF4-FFF2-40B4-BE49-F238E27FC236}">
                <a16:creationId xmlns:a16="http://schemas.microsoft.com/office/drawing/2014/main" id="{0E0623F5-38D4-4DA7-92EF-59C4F8C1307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8AAEF7-F64E-4E67-97EB-2B0DF74884C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B697DA82-51F2-429D-83E6-6344123BD31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BFC00B58-8EBC-4DA3-8E0B-11F7756124F1}"/>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次の世代の樹木が育つ条件</a:t>
            </a:r>
          </a:p>
        </p:txBody>
      </p:sp>
      <p:sp>
        <p:nvSpPr>
          <p:cNvPr id="6" name="">
            <a:extLst xmlns:a="http://schemas.openxmlformats.org/drawingml/2006/main">
              <a:ext uri="{FF2B5EF4-FFF2-40B4-BE49-F238E27FC236}">
                <a16:creationId xmlns:a16="http://schemas.microsoft.com/office/drawing/2014/main" id="{803CC551-7290-4C3A-A650-88085572528B}"/>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植栽・天然更新・保育の選択</a:t>
            </a:r>
          </a:p>
        </p:txBody>
      </p:sp>
      <p:sp>
        <p:nvSpPr>
          <p:cNvPr id="7" name="">
            <a:extLst xmlns:a="http://schemas.openxmlformats.org/drawingml/2006/main">
              <a:ext uri="{FF2B5EF4-FFF2-40B4-BE49-F238E27FC236}">
                <a16:creationId xmlns:a16="http://schemas.microsoft.com/office/drawing/2014/main" id="{EDCAEE7A-C8B9-4C51-B14E-70D7546C6846}"/>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費用と担い手、継続的な確認</a:t>
            </a:r>
          </a:p>
        </p:txBody>
      </p:sp>
    </p:spTree>
    <p:extLst>
      <p:ext uri="{BB962C8B-B14F-4D97-AF65-F5344CB8AC3E}">
        <p14:creationId xmlns:p14="http://schemas.microsoft.com/office/powerpoint/2010/main" val="19931717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C7014C-42A5-4340-82A2-18D08608897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間伐と収穫を一つの処方にしない</a:t>
            </a:r>
          </a:p>
        </p:txBody>
      </p:sp>
      <p:sp>
        <p:nvSpPr>
          <p:cNvPr id="2" name="">
            <a:extLst xmlns:a="http://schemas.openxmlformats.org/drawingml/2006/main">
              <a:ext uri="{FF2B5EF4-FFF2-40B4-BE49-F238E27FC236}">
                <a16:creationId xmlns:a16="http://schemas.microsoft.com/office/drawing/2014/main" id="{4E8999AB-99EE-40B3-85DC-BF57892E4F1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C13EEE-067E-44F4-B95B-5C5B126FC88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7A3E3A25-F3AA-451C-8B54-51DFC7A2759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EBC840B2-7823-4626-AD27-7C1BC7662516}"/>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管理する目的と生育段階</a:t>
            </a:r>
          </a:p>
        </p:txBody>
      </p:sp>
      <p:sp>
        <p:nvSpPr>
          <p:cNvPr id="6" name="">
            <a:extLst xmlns:a="http://schemas.openxmlformats.org/drawingml/2006/main">
              <a:ext uri="{FF2B5EF4-FFF2-40B4-BE49-F238E27FC236}">
                <a16:creationId xmlns:a16="http://schemas.microsoft.com/office/drawing/2014/main" id="{A159D114-1315-4350-AD2B-29950B7487DD}"/>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立地・密度・樹種・作業条件</a:t>
            </a:r>
          </a:p>
        </p:txBody>
      </p:sp>
      <p:sp>
        <p:nvSpPr>
          <p:cNvPr id="7" name="">
            <a:extLst xmlns:a="http://schemas.openxmlformats.org/drawingml/2006/main">
              <a:ext uri="{FF2B5EF4-FFF2-40B4-BE49-F238E27FC236}">
                <a16:creationId xmlns:a16="http://schemas.microsoft.com/office/drawing/2014/main" id="{D74B89E4-1BB8-4F11-9315-C5147B897C02}"/>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目的に応じて行う判断</a:t>
            </a:r>
          </a:p>
        </p:txBody>
      </p:sp>
    </p:spTree>
    <p:extLst>
      <p:ext uri="{BB962C8B-B14F-4D97-AF65-F5344CB8AC3E}">
        <p14:creationId xmlns:p14="http://schemas.microsoft.com/office/powerpoint/2010/main" val="19748925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931C6F-6511-4598-9058-C2950AE0A23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森林の量と用材の確保は同じか</a:t>
            </a:r>
          </a:p>
        </p:txBody>
      </p:sp>
      <p:sp>
        <p:nvSpPr>
          <p:cNvPr id="2" name="">
            <a:extLst xmlns:a="http://schemas.openxmlformats.org/drawingml/2006/main">
              <a:ext uri="{FF2B5EF4-FFF2-40B4-BE49-F238E27FC236}">
                <a16:creationId xmlns:a16="http://schemas.microsoft.com/office/drawing/2014/main" id="{38820B94-B923-4365-9305-42B006C57C3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F722CE-FAD7-40BA-8D5C-5AE12031AE5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AAC25B7D-17BC-4353-9044-F7986894CF2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sp>
        <p:nvSpPr>
          <p:cNvPr id="5" name="">
            <a:extLst xmlns:a="http://schemas.openxmlformats.org/drawingml/2006/main">
              <a:ext uri="{FF2B5EF4-FFF2-40B4-BE49-F238E27FC236}">
                <a16:creationId xmlns:a16="http://schemas.microsoft.com/office/drawing/2014/main" id="{0712D987-EF8E-477E-B38D-2EA0350D3563}"/>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必要な樹種と品質</a:t>
            </a:r>
          </a:p>
        </p:txBody>
      </p:sp>
      <p:sp>
        <p:nvSpPr>
          <p:cNvPr id="6" name="">
            <a:extLst xmlns:a="http://schemas.openxmlformats.org/drawingml/2006/main">
              <a:ext uri="{FF2B5EF4-FFF2-40B4-BE49-F238E27FC236}">
                <a16:creationId xmlns:a16="http://schemas.microsoft.com/office/drawing/2014/main" id="{D246EDA2-CC1B-4BA8-9B29-11916098C205}"/>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必要な寸法と量</a:t>
            </a:r>
          </a:p>
        </p:txBody>
      </p:sp>
      <p:sp>
        <p:nvSpPr>
          <p:cNvPr id="7" name="">
            <a:extLst xmlns:a="http://schemas.openxmlformats.org/drawingml/2006/main">
              <a:ext uri="{FF2B5EF4-FFF2-40B4-BE49-F238E27FC236}">
                <a16:creationId xmlns:a16="http://schemas.microsoft.com/office/drawing/2014/main" id="{0F93B974-76C5-4606-B446-6FAC3CA2C4F3}"/>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必要な場所と時期</a:t>
            </a:r>
          </a:p>
        </p:txBody>
      </p:sp>
    </p:spTree>
    <p:extLst>
      <p:ext uri="{BB962C8B-B14F-4D97-AF65-F5344CB8AC3E}">
        <p14:creationId xmlns:p14="http://schemas.microsoft.com/office/powerpoint/2010/main" val="21338570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EEFC1A3-6432-4E44-BB11-C61ADBDD354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森林から建築までの経路</a:t>
            </a:r>
          </a:p>
        </p:txBody>
      </p:sp>
      <p:sp>
        <p:nvSpPr>
          <p:cNvPr id="2" name="">
            <a:extLst xmlns:a="http://schemas.openxmlformats.org/drawingml/2006/main">
              <a:ext uri="{FF2B5EF4-FFF2-40B4-BE49-F238E27FC236}">
                <a16:creationId xmlns:a16="http://schemas.microsoft.com/office/drawing/2014/main" id="{3414A595-7CB4-437B-B9B9-C01B02D94EB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131285-FEBA-432A-9116-61C8ED7880B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7EFADF71-5F2B-451C-9C74-2F51F6AA6F7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9F2E01AC-394E-443D-A05E-24C7F1D91172}"/>
              </a:ext>
            </a:extLst>
          </p:cNvPr>
          <p:cNvSpPr>
            <a:spLocks xmlns:a="http://schemas.openxmlformats.org/drawingml/2006/main" noGrp="1"/>
          </p:cNvSpPr>
          <p:nvPr/>
        </p:nvSpPr>
        <p:spPr>
          <a:xfrm xmlns:a="http://schemas.openxmlformats.org/drawingml/2006/main">
            <a:off x="762000" y="2381250"/>
            <a:ext cx="2381250" cy="1143000"/>
          </a:xfrm>
          <a:prstGeom xmlns:a="http://schemas.openxmlformats.org/drawingml/2006/main" prst="rect">
            <a:avLst/>
          </a:prstGeom>
          <a:solidFill xmlns:a="http://schemas.openxmlformats.org/drawingml/2006/main">
            <a:srgbClr val="EDF3F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EA54A76-6205-4055-BDC2-A66D8BC4C07B}"/>
              </a:ext>
            </a:extLst>
          </p:cNvPr>
          <p:cNvSpPr>
            <a:spLocks xmlns:a="http://schemas.openxmlformats.org/drawingml/2006/main" noGrp="1"/>
          </p:cNvSpPr>
          <p:nvPr/>
        </p:nvSpPr>
        <p:spPr>
          <a:xfrm xmlns:a="http://schemas.openxmlformats.org/drawingml/2006/main">
            <a:off x="876300" y="2619375"/>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育成・収穫</a:t>
            </a:r>
          </a:p>
        </p:txBody>
      </p:sp>
      <p:sp>
        <p:nvSpPr>
          <p:cNvPr id="7" name="">
            <a:extLst xmlns:a="http://schemas.openxmlformats.org/drawingml/2006/main">
              <a:ext uri="{FF2B5EF4-FFF2-40B4-BE49-F238E27FC236}">
                <a16:creationId xmlns:a16="http://schemas.microsoft.com/office/drawing/2014/main" id="{0DF6B21A-6CD6-4370-9226-4322A4AA11ED}"/>
              </a:ext>
            </a:extLst>
          </p:cNvPr>
          <p:cNvSpPr>
            <a:spLocks xmlns:a="http://schemas.openxmlformats.org/drawingml/2006/main" noGrp="1"/>
          </p:cNvSpPr>
          <p:nvPr/>
        </p:nvSpPr>
        <p:spPr>
          <a:xfrm xmlns:a="http://schemas.openxmlformats.org/drawingml/2006/main">
            <a:off x="3219450" y="2952750"/>
            <a:ext cx="257175" cy="9525"/>
          </a:xfrm>
          <a:custGeom xmlns:a="http://schemas.openxmlformats.org/drawingml/2006/main">
            <a:pathLst>
              <a:path w="257175" h="9525">
                <a:moveTo>
                  <a:pt x="0" y="0"/>
                </a:moveTo>
                <a:lnTo>
                  <a:pt x="257175" y="0"/>
                </a:lnTo>
              </a:path>
            </a:pathLst>
          </a:custGeom>
          <a:noFill xmlns:a="http://schemas.openxmlformats.org/drawingml/2006/main"/>
          <a:ln xmlns:a="http://schemas.openxmlformats.org/drawingml/2006/main" w="47625">
            <a:solidFill>
              <a:srgbClr val="087E8B"/>
            </a:solidFill>
          </a:ln>
        </p:spPr>
      </p:sp>
      <p:sp>
        <p:nvSpPr>
          <p:cNvPr id="8" name="">
            <a:extLst xmlns:a="http://schemas.openxmlformats.org/drawingml/2006/main">
              <a:ext uri="{FF2B5EF4-FFF2-40B4-BE49-F238E27FC236}">
                <a16:creationId xmlns:a16="http://schemas.microsoft.com/office/drawing/2014/main" id="{F3F6BE0B-475A-4E39-A62B-8753F875D636}"/>
              </a:ext>
            </a:extLst>
          </p:cNvPr>
          <p:cNvSpPr>
            <a:spLocks xmlns:a="http://schemas.openxmlformats.org/drawingml/2006/main" noGrp="1"/>
          </p:cNvSpPr>
          <p:nvPr/>
        </p:nvSpPr>
        <p:spPr>
          <a:xfrm xmlns:a="http://schemas.openxmlformats.org/drawingml/2006/main">
            <a:off x="3326163" y="2952750"/>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087E8B"/>
            </a:solidFill>
          </a:ln>
        </p:spPr>
      </p:sp>
      <p:sp>
        <p:nvSpPr>
          <p:cNvPr id="9" name="">
            <a:extLst xmlns:a="http://schemas.openxmlformats.org/drawingml/2006/main">
              <a:ext uri="{FF2B5EF4-FFF2-40B4-BE49-F238E27FC236}">
                <a16:creationId xmlns:a16="http://schemas.microsoft.com/office/drawing/2014/main" id="{AE09A1BA-D37A-4487-B466-6C64F03D4BF5}"/>
              </a:ext>
            </a:extLst>
          </p:cNvPr>
          <p:cNvSpPr>
            <a:spLocks xmlns:a="http://schemas.openxmlformats.org/drawingml/2006/main" noGrp="1"/>
          </p:cNvSpPr>
          <p:nvPr/>
        </p:nvSpPr>
        <p:spPr>
          <a:xfrm xmlns:a="http://schemas.openxmlformats.org/drawingml/2006/main">
            <a:off x="3326163" y="2870552"/>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087E8B"/>
            </a:solidFill>
          </a:ln>
        </p:spPr>
      </p:sp>
      <p:sp>
        <p:nvSpPr>
          <p:cNvPr id="10" name="">
            <a:extLst xmlns:a="http://schemas.openxmlformats.org/drawingml/2006/main">
              <a:ext uri="{FF2B5EF4-FFF2-40B4-BE49-F238E27FC236}">
                <a16:creationId xmlns:a16="http://schemas.microsoft.com/office/drawing/2014/main" id="{84577E26-2322-49FF-9E96-D8AC68B8BD8F}"/>
              </a:ext>
            </a:extLst>
          </p:cNvPr>
          <p:cNvSpPr>
            <a:spLocks xmlns:a="http://schemas.openxmlformats.org/drawingml/2006/main" noGrp="1"/>
          </p:cNvSpPr>
          <p:nvPr/>
        </p:nvSpPr>
        <p:spPr>
          <a:xfrm xmlns:a="http://schemas.openxmlformats.org/drawingml/2006/main">
            <a:off x="3619500" y="2381250"/>
            <a:ext cx="2381250" cy="1143000"/>
          </a:xfrm>
          <a:prstGeom xmlns:a="http://schemas.openxmlformats.org/drawingml/2006/main" prst="rect">
            <a:avLst/>
          </a:prstGeom>
          <a:solidFill xmlns:a="http://schemas.openxmlformats.org/drawingml/2006/main">
            <a:srgbClr val="EDF3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2C5269B-B11B-42F4-AEE1-B6A0B217FAC1}"/>
              </a:ext>
            </a:extLst>
          </p:cNvPr>
          <p:cNvSpPr>
            <a:spLocks xmlns:a="http://schemas.openxmlformats.org/drawingml/2006/main" noGrp="1"/>
          </p:cNvSpPr>
          <p:nvPr/>
        </p:nvSpPr>
        <p:spPr>
          <a:xfrm xmlns:a="http://schemas.openxmlformats.org/drawingml/2006/main">
            <a:off x="3733800" y="2619375"/>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搬出・製材</a:t>
            </a:r>
          </a:p>
        </p:txBody>
      </p:sp>
      <p:sp>
        <p:nvSpPr>
          <p:cNvPr id="12" name="">
            <a:extLst xmlns:a="http://schemas.openxmlformats.org/drawingml/2006/main">
              <a:ext uri="{FF2B5EF4-FFF2-40B4-BE49-F238E27FC236}">
                <a16:creationId xmlns:a16="http://schemas.microsoft.com/office/drawing/2014/main" id="{B3CAC47B-D2A7-4420-903D-3C38FD73EADC}"/>
              </a:ext>
            </a:extLst>
          </p:cNvPr>
          <p:cNvSpPr>
            <a:spLocks xmlns:a="http://schemas.openxmlformats.org/drawingml/2006/main" noGrp="1"/>
          </p:cNvSpPr>
          <p:nvPr/>
        </p:nvSpPr>
        <p:spPr>
          <a:xfrm xmlns:a="http://schemas.openxmlformats.org/drawingml/2006/main">
            <a:off x="6076950" y="2952750"/>
            <a:ext cx="257175" cy="9525"/>
          </a:xfrm>
          <a:custGeom xmlns:a="http://schemas.openxmlformats.org/drawingml/2006/main">
            <a:pathLst>
              <a:path w="257175" h="9525">
                <a:moveTo>
                  <a:pt x="0" y="0"/>
                </a:moveTo>
                <a:lnTo>
                  <a:pt x="257175" y="0"/>
                </a:lnTo>
              </a:path>
            </a:pathLst>
          </a:custGeom>
          <a:noFill xmlns:a="http://schemas.openxmlformats.org/drawingml/2006/main"/>
          <a:ln xmlns:a="http://schemas.openxmlformats.org/drawingml/2006/main" w="47625">
            <a:solidFill>
              <a:srgbClr val="087E8B"/>
            </a:solidFill>
          </a:ln>
        </p:spPr>
      </p:sp>
      <p:sp>
        <p:nvSpPr>
          <p:cNvPr id="13" name="">
            <a:extLst xmlns:a="http://schemas.openxmlformats.org/drawingml/2006/main">
              <a:ext uri="{FF2B5EF4-FFF2-40B4-BE49-F238E27FC236}">
                <a16:creationId xmlns:a16="http://schemas.microsoft.com/office/drawing/2014/main" id="{0226D55E-2B72-4450-BE94-58981DDA3647}"/>
              </a:ext>
            </a:extLst>
          </p:cNvPr>
          <p:cNvSpPr>
            <a:spLocks xmlns:a="http://schemas.openxmlformats.org/drawingml/2006/main" noGrp="1"/>
          </p:cNvSpPr>
          <p:nvPr/>
        </p:nvSpPr>
        <p:spPr>
          <a:xfrm xmlns:a="http://schemas.openxmlformats.org/drawingml/2006/main">
            <a:off x="6183663" y="2952750"/>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087E8B"/>
            </a:solidFill>
          </a:ln>
        </p:spPr>
      </p:sp>
      <p:sp>
        <p:nvSpPr>
          <p:cNvPr id="14" name="">
            <a:extLst xmlns:a="http://schemas.openxmlformats.org/drawingml/2006/main">
              <a:ext uri="{FF2B5EF4-FFF2-40B4-BE49-F238E27FC236}">
                <a16:creationId xmlns:a16="http://schemas.microsoft.com/office/drawing/2014/main" id="{5FA0D01A-95C8-4D3B-9C71-AD52FEA35EF7}"/>
              </a:ext>
            </a:extLst>
          </p:cNvPr>
          <p:cNvSpPr>
            <a:spLocks xmlns:a="http://schemas.openxmlformats.org/drawingml/2006/main" noGrp="1"/>
          </p:cNvSpPr>
          <p:nvPr/>
        </p:nvSpPr>
        <p:spPr>
          <a:xfrm xmlns:a="http://schemas.openxmlformats.org/drawingml/2006/main">
            <a:off x="6183663" y="2870552"/>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087E8B"/>
            </a:solidFill>
          </a:ln>
        </p:spPr>
      </p:sp>
      <p:sp>
        <p:nvSpPr>
          <p:cNvPr id="15" name="">
            <a:extLst xmlns:a="http://schemas.openxmlformats.org/drawingml/2006/main">
              <a:ext uri="{FF2B5EF4-FFF2-40B4-BE49-F238E27FC236}">
                <a16:creationId xmlns:a16="http://schemas.microsoft.com/office/drawing/2014/main" id="{62628D14-3E0D-4E16-98AA-ECDEC8E10C6C}"/>
              </a:ext>
            </a:extLst>
          </p:cNvPr>
          <p:cNvSpPr>
            <a:spLocks xmlns:a="http://schemas.openxmlformats.org/drawingml/2006/main" noGrp="1"/>
          </p:cNvSpPr>
          <p:nvPr/>
        </p:nvSpPr>
        <p:spPr>
          <a:xfrm xmlns:a="http://schemas.openxmlformats.org/drawingml/2006/main">
            <a:off x="6477000" y="2381250"/>
            <a:ext cx="2381250" cy="1143000"/>
          </a:xfrm>
          <a:prstGeom xmlns:a="http://schemas.openxmlformats.org/drawingml/2006/main" prst="rect">
            <a:avLst/>
          </a:prstGeom>
          <a:solidFill xmlns:a="http://schemas.openxmlformats.org/drawingml/2006/main">
            <a:srgbClr val="EDF3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E579C53-E715-4E2D-A46B-0CAF960808BB}"/>
              </a:ext>
            </a:extLst>
          </p:cNvPr>
          <p:cNvSpPr>
            <a:spLocks xmlns:a="http://schemas.openxmlformats.org/drawingml/2006/main" noGrp="1"/>
          </p:cNvSpPr>
          <p:nvPr/>
        </p:nvSpPr>
        <p:spPr>
          <a:xfrm xmlns:a="http://schemas.openxmlformats.org/drawingml/2006/main">
            <a:off x="6591300" y="2619375"/>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乾燥・選別</a:t>
            </a:r>
          </a:p>
        </p:txBody>
      </p:sp>
      <p:sp>
        <p:nvSpPr>
          <p:cNvPr id="17" name="">
            <a:extLst xmlns:a="http://schemas.openxmlformats.org/drawingml/2006/main">
              <a:ext uri="{FF2B5EF4-FFF2-40B4-BE49-F238E27FC236}">
                <a16:creationId xmlns:a16="http://schemas.microsoft.com/office/drawing/2014/main" id="{AE95C7A8-04D1-446C-85C1-291880684A20}"/>
              </a:ext>
            </a:extLst>
          </p:cNvPr>
          <p:cNvSpPr>
            <a:spLocks xmlns:a="http://schemas.openxmlformats.org/drawingml/2006/main" noGrp="1"/>
          </p:cNvSpPr>
          <p:nvPr/>
        </p:nvSpPr>
        <p:spPr>
          <a:xfrm xmlns:a="http://schemas.openxmlformats.org/drawingml/2006/main">
            <a:off x="8934450" y="2952750"/>
            <a:ext cx="257175" cy="9525"/>
          </a:xfrm>
          <a:custGeom xmlns:a="http://schemas.openxmlformats.org/drawingml/2006/main">
            <a:pathLst>
              <a:path w="257175" h="9525">
                <a:moveTo>
                  <a:pt x="0" y="0"/>
                </a:moveTo>
                <a:lnTo>
                  <a:pt x="257175" y="0"/>
                </a:lnTo>
              </a:path>
            </a:pathLst>
          </a:custGeom>
          <a:noFill xmlns:a="http://schemas.openxmlformats.org/drawingml/2006/main"/>
          <a:ln xmlns:a="http://schemas.openxmlformats.org/drawingml/2006/main" w="47625">
            <a:solidFill>
              <a:srgbClr val="087E8B"/>
            </a:solidFill>
          </a:ln>
        </p:spPr>
      </p:sp>
      <p:sp>
        <p:nvSpPr>
          <p:cNvPr id="18" name="">
            <a:extLst xmlns:a="http://schemas.openxmlformats.org/drawingml/2006/main">
              <a:ext uri="{FF2B5EF4-FFF2-40B4-BE49-F238E27FC236}">
                <a16:creationId xmlns:a16="http://schemas.microsoft.com/office/drawing/2014/main" id="{A756CB23-3BD0-4539-ABD1-0395A90DF9EE}"/>
              </a:ext>
            </a:extLst>
          </p:cNvPr>
          <p:cNvSpPr>
            <a:spLocks xmlns:a="http://schemas.openxmlformats.org/drawingml/2006/main" noGrp="1"/>
          </p:cNvSpPr>
          <p:nvPr/>
        </p:nvSpPr>
        <p:spPr>
          <a:xfrm xmlns:a="http://schemas.openxmlformats.org/drawingml/2006/main">
            <a:off x="9041163" y="2952750"/>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087E8B"/>
            </a:solidFill>
          </a:ln>
        </p:spPr>
      </p:sp>
      <p:sp>
        <p:nvSpPr>
          <p:cNvPr id="19" name="">
            <a:extLst xmlns:a="http://schemas.openxmlformats.org/drawingml/2006/main">
              <a:ext uri="{FF2B5EF4-FFF2-40B4-BE49-F238E27FC236}">
                <a16:creationId xmlns:a16="http://schemas.microsoft.com/office/drawing/2014/main" id="{15074C3A-59F3-44CC-AFAB-4A83646F54CC}"/>
              </a:ext>
            </a:extLst>
          </p:cNvPr>
          <p:cNvSpPr>
            <a:spLocks xmlns:a="http://schemas.openxmlformats.org/drawingml/2006/main" noGrp="1"/>
          </p:cNvSpPr>
          <p:nvPr/>
        </p:nvSpPr>
        <p:spPr>
          <a:xfrm xmlns:a="http://schemas.openxmlformats.org/drawingml/2006/main">
            <a:off x="9041163" y="2870552"/>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087E8B"/>
            </a:solidFill>
          </a:ln>
        </p:spPr>
      </p:sp>
      <p:sp>
        <p:nvSpPr>
          <p:cNvPr id="20" name="">
            <a:extLst xmlns:a="http://schemas.openxmlformats.org/drawingml/2006/main">
              <a:ext uri="{FF2B5EF4-FFF2-40B4-BE49-F238E27FC236}">
                <a16:creationId xmlns:a16="http://schemas.microsoft.com/office/drawing/2014/main" id="{6A5B50DE-C788-4C6F-8FAE-AB9B81C9F72E}"/>
              </a:ext>
            </a:extLst>
          </p:cNvPr>
          <p:cNvSpPr>
            <a:spLocks xmlns:a="http://schemas.openxmlformats.org/drawingml/2006/main" noGrp="1"/>
          </p:cNvSpPr>
          <p:nvPr/>
        </p:nvSpPr>
        <p:spPr>
          <a:xfrm xmlns:a="http://schemas.openxmlformats.org/drawingml/2006/main">
            <a:off x="9334500" y="2381250"/>
            <a:ext cx="2381250" cy="1143000"/>
          </a:xfrm>
          <a:prstGeom xmlns:a="http://schemas.openxmlformats.org/drawingml/2006/main" prst="rect">
            <a:avLst/>
          </a:prstGeom>
          <a:solidFill xmlns:a="http://schemas.openxmlformats.org/drawingml/2006/main">
            <a:srgbClr val="EDF3F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EB23D8-9262-4CF7-AB09-B944E6303A29}"/>
              </a:ext>
            </a:extLst>
          </p:cNvPr>
          <p:cNvSpPr>
            <a:spLocks xmlns:a="http://schemas.openxmlformats.org/drawingml/2006/main" noGrp="1"/>
          </p:cNvSpPr>
          <p:nvPr/>
        </p:nvSpPr>
        <p:spPr>
          <a:xfrm xmlns:a="http://schemas.openxmlformats.org/drawingml/2006/main">
            <a:off x="9448800" y="2619375"/>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建築・維持</a:t>
            </a:r>
          </a:p>
        </p:txBody>
      </p:sp>
      <p:sp>
        <p:nvSpPr>
          <p:cNvPr id="22" name="">
            <a:extLst xmlns:a="http://schemas.openxmlformats.org/drawingml/2006/main">
              <a:ext uri="{FF2B5EF4-FFF2-40B4-BE49-F238E27FC236}">
                <a16:creationId xmlns:a16="http://schemas.microsoft.com/office/drawing/2014/main" id="{FE4C6EB7-7F40-4BD4-B2D2-809DAB98DDF3}"/>
              </a:ext>
            </a:extLst>
          </p:cNvPr>
          <p:cNvSpPr>
            <a:spLocks xmlns:a="http://schemas.openxmlformats.org/drawingml/2006/main" noGrp="1"/>
          </p:cNvSpPr>
          <p:nvPr/>
        </p:nvSpPr>
        <p:spPr>
          <a:xfrm xmlns:a="http://schemas.openxmlformats.org/drawingml/2006/main">
            <a:off x="838200" y="4476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各工程で材の用途や条件が分かれる</a:t>
            </a:r>
          </a:p>
        </p:txBody>
      </p:sp>
      <p:sp>
        <p:nvSpPr>
          <p:cNvPr id="23" name="">
            <a:extLst xmlns:a="http://schemas.openxmlformats.org/drawingml/2006/main">
              <a:ext uri="{FF2B5EF4-FFF2-40B4-BE49-F238E27FC236}">
                <a16:creationId xmlns:a16="http://schemas.microsoft.com/office/drawing/2014/main" id="{9D59F139-D556-4872-B885-1FBB2D4FE878}"/>
              </a:ext>
            </a:extLst>
          </p:cNvPr>
          <p:cNvSpPr>
            <a:spLocks xmlns:a="http://schemas.openxmlformats.org/drawingml/2006/main" noGrp="1"/>
          </p:cNvSpPr>
          <p:nvPr/>
        </p:nvSpPr>
        <p:spPr>
          <a:xfrm xmlns:a="http://schemas.openxmlformats.org/drawingml/2006/main">
            <a:off x="838200" y="5238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596875"/>
                </a:solidFill>
                <a:latin typeface="Yu Gothic"/>
                <a:ea typeface="Yu Gothic"/>
                <a:cs typeface="Yu Gothic"/>
              </a:defRPr>
            </a:defPPr>
            <a:lvl1pPr>
              <a:defRPr sz="1800" b="0">
                <a:solidFill>
                  <a:srgbClr val="596875"/>
                </a:solidFill>
                <a:latin typeface="Yu Gothic"/>
                <a:ea typeface="Yu Gothic"/>
                <a:cs typeface="Yu Gothic"/>
              </a:defRPr>
            </a:lvl1pPr>
            <a:lvl2pPr>
              <a:defRPr sz="1800" b="0">
                <a:solidFill>
                  <a:srgbClr val="596875"/>
                </a:solidFill>
                <a:latin typeface="Yu Gothic"/>
                <a:ea typeface="Yu Gothic"/>
                <a:cs typeface="Yu Gothic"/>
              </a:defRPr>
            </a:lvl2pPr>
            <a:lvl3pPr>
              <a:defRPr sz="1800" b="0">
                <a:solidFill>
                  <a:srgbClr val="596875"/>
                </a:solidFill>
                <a:latin typeface="Yu Gothic"/>
                <a:ea typeface="Yu Gothic"/>
                <a:cs typeface="Yu Gothic"/>
              </a:defRPr>
            </a:lvl3pPr>
            <a:lvl4pPr>
              <a:defRPr sz="1800" b="0">
                <a:solidFill>
                  <a:srgbClr val="596875"/>
                </a:solidFill>
                <a:latin typeface="Yu Gothic"/>
                <a:ea typeface="Yu Gothic"/>
                <a:cs typeface="Yu Gothic"/>
              </a:defRPr>
            </a:lvl4pPr>
            <a:lvl5pPr>
              <a:defRPr sz="1800" b="0">
                <a:solidFill>
                  <a:srgbClr val="596875"/>
                </a:solidFill>
                <a:latin typeface="Yu Gothic"/>
                <a:ea typeface="Yu Gothic"/>
                <a:cs typeface="Yu Gothic"/>
              </a:defRPr>
            </a:lvl5pPr>
            <a:lvl6pPr>
              <a:defRPr sz="1800" b="0">
                <a:solidFill>
                  <a:srgbClr val="596875"/>
                </a:solidFill>
                <a:latin typeface="Yu Gothic"/>
                <a:ea typeface="Yu Gothic"/>
                <a:cs typeface="Yu Gothic"/>
              </a:defRPr>
            </a:lvl6pPr>
            <a:lvl7pPr>
              <a:defRPr sz="1800" b="0">
                <a:solidFill>
                  <a:srgbClr val="596875"/>
                </a:solidFill>
                <a:latin typeface="Yu Gothic"/>
                <a:ea typeface="Yu Gothic"/>
                <a:cs typeface="Yu Gothic"/>
              </a:defRPr>
            </a:lvl7pPr>
            <a:lvl8pPr>
              <a:defRPr sz="1800" b="0">
                <a:solidFill>
                  <a:srgbClr val="596875"/>
                </a:solidFill>
                <a:latin typeface="Yu Gothic"/>
                <a:ea typeface="Yu Gothic"/>
                <a:cs typeface="Yu Gothic"/>
              </a:defRPr>
            </a:lvl8pPr>
            <a:lvl9pPr>
              <a:defRPr sz="1800" b="0">
                <a:solidFill>
                  <a:srgbClr val="596875"/>
                </a:solidFill>
                <a:latin typeface="Yu Gothic"/>
                <a:ea typeface="Yu Gothic"/>
                <a:cs typeface="Yu Gothic"/>
              </a:defRPr>
            </a:lvl9pPr>
          </a:lstStyle>
          <a:p xmlns:a="http://schemas.openxmlformats.org/drawingml/2006/main">
            <a:pPr>
              <a:defRPr sz="1800" b="0">
                <a:solidFill>
                  <a:srgbClr val="596875"/>
                </a:solidFill>
                <a:latin typeface="Yu Gothic"/>
                <a:ea typeface="Yu Gothic"/>
                <a:cs typeface="Yu Gothic"/>
              </a:defRPr>
            </a:pPr>
            <a:r>
              <a:rPr sz="1800" b="0">
                <a:solidFill>
                  <a:srgbClr val="596875"/>
                </a:solidFill>
                <a:latin typeface="Yu Gothic"/>
                <a:ea typeface="Yu Gothic"/>
                <a:cs typeface="Yu Gothic"/>
              </a:rPr>
              <a:t>丸太の全量が構造材になることを示す図ではない</a:t>
            </a:r>
          </a:p>
        </p:txBody>
      </p:sp>
    </p:spTree>
    <p:extLst>
      <p:ext uri="{BB962C8B-B14F-4D97-AF65-F5344CB8AC3E}">
        <p14:creationId xmlns:p14="http://schemas.microsoft.com/office/powerpoint/2010/main" val="21103224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75A466-6045-44C2-BB83-28E9527D70E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材を選ぶときの情報</a:t>
            </a:r>
          </a:p>
        </p:txBody>
      </p:sp>
      <p:sp>
        <p:nvSpPr>
          <p:cNvPr id="2" name="">
            <a:extLst xmlns:a="http://schemas.openxmlformats.org/drawingml/2006/main">
              <a:ext uri="{FF2B5EF4-FFF2-40B4-BE49-F238E27FC236}">
                <a16:creationId xmlns:a16="http://schemas.microsoft.com/office/drawing/2014/main" id="{C390FBDF-CE43-4384-BDAF-DCDD9BBBA42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296873-0C5E-43BD-BA7D-5B3B158256C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E9D15387-647D-4C6D-AE3B-81C57386688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5114AF49-60BC-497D-A68C-9BAB5020F752}"/>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樹種名だけでは性能は決まらない</a:t>
            </a:r>
          </a:p>
        </p:txBody>
      </p:sp>
      <p:sp>
        <p:nvSpPr>
          <p:cNvPr id="6" name="">
            <a:extLst xmlns:a="http://schemas.openxmlformats.org/drawingml/2006/main">
              <a:ext uri="{FF2B5EF4-FFF2-40B4-BE49-F238E27FC236}">
                <a16:creationId xmlns:a16="http://schemas.microsoft.com/office/drawing/2014/main" id="{49228E17-EFF8-496E-A3FC-FF560ABD3686}"/>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節・繊維傾斜・含水率・寸法</a:t>
            </a:r>
          </a:p>
        </p:txBody>
      </p:sp>
      <p:sp>
        <p:nvSpPr>
          <p:cNvPr id="7" name="">
            <a:extLst xmlns:a="http://schemas.openxmlformats.org/drawingml/2006/main">
              <a:ext uri="{FF2B5EF4-FFF2-40B4-BE49-F238E27FC236}">
                <a16:creationId xmlns:a16="http://schemas.microsoft.com/office/drawing/2014/main" id="{339A49E4-BD7B-4ADE-A293-8FF4F875AEBD}"/>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使う環境と負担を受ける方向</a:t>
            </a:r>
          </a:p>
        </p:txBody>
      </p:sp>
    </p:spTree>
    <p:extLst>
      <p:ext uri="{BB962C8B-B14F-4D97-AF65-F5344CB8AC3E}">
        <p14:creationId xmlns:p14="http://schemas.microsoft.com/office/powerpoint/2010/main" val="20725084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57EB63-DF34-4A1D-B6AA-2C4419EABCE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長い材・太い材を将来も得るには</a:t>
            </a:r>
          </a:p>
        </p:txBody>
      </p:sp>
      <p:sp>
        <p:nvSpPr>
          <p:cNvPr id="2" name="">
            <a:extLst xmlns:a="http://schemas.openxmlformats.org/drawingml/2006/main">
              <a:ext uri="{FF2B5EF4-FFF2-40B4-BE49-F238E27FC236}">
                <a16:creationId xmlns:a16="http://schemas.microsoft.com/office/drawing/2014/main" id="{2CB39D90-9DBC-48F6-BF23-F94B6DABBEA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C905DF-0E90-46DE-93FC-0E316FDC62E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18A26C50-38A4-4FC3-A057-28CF788B819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BCAAB2F1-C07A-4A19-A671-499C158D4D65}"/>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森林を育てる時間</a:t>
            </a:r>
          </a:p>
        </p:txBody>
      </p:sp>
      <p:sp>
        <p:nvSpPr>
          <p:cNvPr id="6" name="">
            <a:extLst xmlns:a="http://schemas.openxmlformats.org/drawingml/2006/main">
              <a:ext uri="{FF2B5EF4-FFF2-40B4-BE49-F238E27FC236}">
                <a16:creationId xmlns:a16="http://schemas.microsoft.com/office/drawing/2014/main" id="{02F29C1E-26A3-4D59-8953-395549E011FF}"/>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建築・修理の需要の見通し</a:t>
            </a:r>
          </a:p>
        </p:txBody>
      </p:sp>
      <p:sp>
        <p:nvSpPr>
          <p:cNvPr id="7" name="">
            <a:extLst xmlns:a="http://schemas.openxmlformats.org/drawingml/2006/main">
              <a:ext uri="{FF2B5EF4-FFF2-40B4-BE49-F238E27FC236}">
                <a16:creationId xmlns:a16="http://schemas.microsoft.com/office/drawing/2014/main" id="{CE86B5EE-D792-47D7-AD4D-05DFA60060E5}"/>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所有・管理・流通をつなぐ仕組み</a:t>
            </a:r>
          </a:p>
        </p:txBody>
      </p:sp>
      <p:sp>
        <p:nvSpPr>
          <p:cNvPr id="8" name="">
            <a:extLst xmlns:a="http://schemas.openxmlformats.org/drawingml/2006/main">
              <a:ext uri="{FF2B5EF4-FFF2-40B4-BE49-F238E27FC236}">
                <a16:creationId xmlns:a16="http://schemas.microsoft.com/office/drawing/2014/main" id="{5D06E0D0-850A-4EA3-A0B6-A0D68BAD56C2}"/>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出典：[2] [3]　末尾の参照資料へ</a:t>
            </a:r>
          </a:p>
        </p:txBody>
      </p:sp>
    </p:spTree>
    <p:extLst>
      <p:ext uri="{BB962C8B-B14F-4D97-AF65-F5344CB8AC3E}">
        <p14:creationId xmlns:p14="http://schemas.microsoft.com/office/powerpoint/2010/main" val="15534698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3BA716-0004-45BE-B2B7-22E5D422F0D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木造建築の部材を見分ける</a:t>
            </a:r>
          </a:p>
        </p:txBody>
      </p:sp>
      <p:sp>
        <p:nvSpPr>
          <p:cNvPr id="2" name="">
            <a:extLst xmlns:a="http://schemas.openxmlformats.org/drawingml/2006/main">
              <a:ext uri="{FF2B5EF4-FFF2-40B4-BE49-F238E27FC236}">
                <a16:creationId xmlns:a16="http://schemas.microsoft.com/office/drawing/2014/main" id="{BB47EE3E-3E5F-4B70-BC21-83A08FC80FA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61DCAD-A963-4BE8-8E7D-5711F9F62C9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BC302B2D-F4B2-4070-AE7E-30768322B0E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40C45DBE-16C8-407A-8E36-B72532AC99B8}"/>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柱・梁など荷重を支える部分</a:t>
            </a:r>
          </a:p>
        </p:txBody>
      </p:sp>
      <p:sp>
        <p:nvSpPr>
          <p:cNvPr id="6" name="">
            <a:extLst xmlns:a="http://schemas.openxmlformats.org/drawingml/2006/main">
              <a:ext uri="{FF2B5EF4-FFF2-40B4-BE49-F238E27FC236}">
                <a16:creationId xmlns:a16="http://schemas.microsoft.com/office/drawing/2014/main" id="{2E78F463-3EA8-4F35-9869-72BA6331E375}"/>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屋根・外壁など環境に接する部分</a:t>
            </a:r>
          </a:p>
        </p:txBody>
      </p:sp>
      <p:sp>
        <p:nvSpPr>
          <p:cNvPr id="7" name="">
            <a:extLst xmlns:a="http://schemas.openxmlformats.org/drawingml/2006/main">
              <a:ext uri="{FF2B5EF4-FFF2-40B4-BE49-F238E27FC236}">
                <a16:creationId xmlns:a16="http://schemas.microsoft.com/office/drawing/2014/main" id="{A7A10701-E589-440B-A03B-6B90DC62F9E4}"/>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内装・建具など使い方に関わる部分</a:t>
            </a:r>
          </a:p>
        </p:txBody>
      </p:sp>
      <p:sp>
        <p:nvSpPr>
          <p:cNvPr id="8" name="">
            <a:extLst xmlns:a="http://schemas.openxmlformats.org/drawingml/2006/main">
              <a:ext uri="{FF2B5EF4-FFF2-40B4-BE49-F238E27FC236}">
                <a16:creationId xmlns:a16="http://schemas.microsoft.com/office/drawing/2014/main" id="{68F08F93-3538-45C8-A5F6-9C69FC2868C4}"/>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出典：[1]　末尾の参照資料へ</a:t>
            </a:r>
          </a:p>
        </p:txBody>
      </p:sp>
    </p:spTree>
    <p:extLst>
      <p:ext uri="{BB962C8B-B14F-4D97-AF65-F5344CB8AC3E}">
        <p14:creationId xmlns:p14="http://schemas.microsoft.com/office/powerpoint/2010/main" val="6995561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60FC923-0724-4069-A4F8-4B42A582BBC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建物を支える力の流れ</a:t>
            </a:r>
          </a:p>
        </p:txBody>
      </p:sp>
      <p:sp>
        <p:nvSpPr>
          <p:cNvPr id="2" name="">
            <a:extLst xmlns:a="http://schemas.openxmlformats.org/drawingml/2006/main">
              <a:ext uri="{FF2B5EF4-FFF2-40B4-BE49-F238E27FC236}">
                <a16:creationId xmlns:a16="http://schemas.microsoft.com/office/drawing/2014/main" id="{0541AC79-7056-4884-B5AE-3BFCA80DFDB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9845A8-3C36-4FC6-B6B6-DF8B961A0EF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798E779A-372D-48A1-B64A-43E36767C6C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49D764D6-708B-4F10-8773-3DA6F101C6B0}"/>
              </a:ext>
            </a:extLst>
          </p:cNvPr>
          <p:cNvSpPr>
            <a:spLocks xmlns:a="http://schemas.openxmlformats.org/drawingml/2006/main" noGrp="1"/>
          </p:cNvSpPr>
          <p:nvPr/>
        </p:nvSpPr>
        <p:spPr>
          <a:xfrm xmlns:a="http://schemas.openxmlformats.org/drawingml/2006/main">
            <a:off x="1905000" y="2381250"/>
            <a:ext cx="6858000" cy="333375"/>
          </a:xfrm>
          <a:prstGeom xmlns:a="http://schemas.openxmlformats.org/drawingml/2006/main" prst="rect">
            <a:avLst/>
          </a:prstGeom>
          <a:solidFill xmlns:a="http://schemas.openxmlformats.org/drawingml/2006/main">
            <a:srgbClr val="D7B7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63D7D9E-1962-49D3-B8F7-914A28D5E1A3}"/>
              </a:ext>
            </a:extLst>
          </p:cNvPr>
          <p:cNvSpPr>
            <a:spLocks xmlns:a="http://schemas.openxmlformats.org/drawingml/2006/main" noGrp="1"/>
          </p:cNvSpPr>
          <p:nvPr/>
        </p:nvSpPr>
        <p:spPr>
          <a:xfrm xmlns:a="http://schemas.openxmlformats.org/drawingml/2006/main">
            <a:off x="2476500" y="2714625"/>
            <a:ext cx="381000" cy="2286000"/>
          </a:xfrm>
          <a:prstGeom xmlns:a="http://schemas.openxmlformats.org/drawingml/2006/main" prst="rect">
            <a:avLst/>
          </a:prstGeom>
          <a:solidFill xmlns:a="http://schemas.openxmlformats.org/drawingml/2006/main">
            <a:srgbClr val="D7B78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C90F51-6446-4BD7-B940-A71C7D020DC8}"/>
              </a:ext>
            </a:extLst>
          </p:cNvPr>
          <p:cNvSpPr>
            <a:spLocks xmlns:a="http://schemas.openxmlformats.org/drawingml/2006/main" noGrp="1"/>
          </p:cNvSpPr>
          <p:nvPr/>
        </p:nvSpPr>
        <p:spPr>
          <a:xfrm xmlns:a="http://schemas.openxmlformats.org/drawingml/2006/main">
            <a:off x="7810500" y="2714625"/>
            <a:ext cx="381000" cy="2286000"/>
          </a:xfrm>
          <a:prstGeom xmlns:a="http://schemas.openxmlformats.org/drawingml/2006/main" prst="rect">
            <a:avLst/>
          </a:prstGeom>
          <a:solidFill xmlns:a="http://schemas.openxmlformats.org/drawingml/2006/main">
            <a:srgbClr val="D7B7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0D4BF1-4702-4C48-9BE7-794325A64DC8}"/>
              </a:ext>
            </a:extLst>
          </p:cNvPr>
          <p:cNvSpPr>
            <a:spLocks xmlns:a="http://schemas.openxmlformats.org/drawingml/2006/main" noGrp="1"/>
          </p:cNvSpPr>
          <p:nvPr/>
        </p:nvSpPr>
        <p:spPr>
          <a:xfrm xmlns:a="http://schemas.openxmlformats.org/drawingml/2006/main">
            <a:off x="1809750" y="5000625"/>
            <a:ext cx="7143750" cy="238125"/>
          </a:xfrm>
          <a:prstGeom xmlns:a="http://schemas.openxmlformats.org/drawingml/2006/main" prst="rect">
            <a:avLst/>
          </a:prstGeom>
          <a:solidFill xmlns:a="http://schemas.openxmlformats.org/drawingml/2006/main">
            <a:srgbClr val="CFD7D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2DEBAD8-CC03-493C-BB98-00BC1A3EBFF3}"/>
              </a:ext>
            </a:extLst>
          </p:cNvPr>
          <p:cNvSpPr>
            <a:spLocks xmlns:a="http://schemas.openxmlformats.org/drawingml/2006/main" noGrp="1"/>
          </p:cNvSpPr>
          <p:nvPr/>
        </p:nvSpPr>
        <p:spPr>
          <a:xfrm xmlns:a="http://schemas.openxmlformats.org/drawingml/2006/main">
            <a:off x="2667000" y="1524000"/>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47625">
            <a:solidFill>
              <a:srgbClr val="C4483C"/>
            </a:solidFill>
          </a:ln>
        </p:spPr>
      </p:sp>
      <p:sp>
        <p:nvSpPr>
          <p:cNvPr id="10" name="">
            <a:extLst xmlns:a="http://schemas.openxmlformats.org/drawingml/2006/main">
              <a:ext uri="{FF2B5EF4-FFF2-40B4-BE49-F238E27FC236}">
                <a16:creationId xmlns:a16="http://schemas.microsoft.com/office/drawing/2014/main" id="{4FD4A303-54C1-4C38-8CD6-F6DCED47EDA1}"/>
              </a:ext>
            </a:extLst>
          </p:cNvPr>
          <p:cNvSpPr>
            <a:spLocks xmlns:a="http://schemas.openxmlformats.org/drawingml/2006/main" noGrp="1"/>
          </p:cNvSpPr>
          <p:nvPr/>
        </p:nvSpPr>
        <p:spPr>
          <a:xfrm xmlns:a="http://schemas.openxmlformats.org/drawingml/2006/main">
            <a:off x="2584802" y="2087913"/>
            <a:ext cx="82198" cy="150462"/>
          </a:xfrm>
          <a:custGeom xmlns:a="http://schemas.openxmlformats.org/drawingml/2006/main">
            <a:pathLst>
              <a:path w="82198" h="150462">
                <a:moveTo>
                  <a:pt x="82198" y="150462"/>
                </a:moveTo>
                <a:lnTo>
                  <a:pt x="0" y="0"/>
                </a:lnTo>
              </a:path>
            </a:pathLst>
          </a:custGeom>
          <a:noFill xmlns:a="http://schemas.openxmlformats.org/drawingml/2006/main"/>
          <a:ln xmlns:a="http://schemas.openxmlformats.org/drawingml/2006/main" w="47625">
            <a:solidFill>
              <a:srgbClr val="C4483C"/>
            </a:solidFill>
          </a:ln>
        </p:spPr>
      </p:sp>
      <p:sp>
        <p:nvSpPr>
          <p:cNvPr id="11" name="">
            <a:extLst xmlns:a="http://schemas.openxmlformats.org/drawingml/2006/main">
              <a:ext uri="{FF2B5EF4-FFF2-40B4-BE49-F238E27FC236}">
                <a16:creationId xmlns:a16="http://schemas.microsoft.com/office/drawing/2014/main" id="{27AE58D7-18F6-4D2B-B35B-7BC3377D1CD0}"/>
              </a:ext>
            </a:extLst>
          </p:cNvPr>
          <p:cNvSpPr>
            <a:spLocks xmlns:a="http://schemas.openxmlformats.org/drawingml/2006/main" noGrp="1"/>
          </p:cNvSpPr>
          <p:nvPr/>
        </p:nvSpPr>
        <p:spPr>
          <a:xfrm xmlns:a="http://schemas.openxmlformats.org/drawingml/2006/main">
            <a:off x="2667000" y="2087913"/>
            <a:ext cx="82198" cy="150462"/>
          </a:xfrm>
          <a:custGeom xmlns:a="http://schemas.openxmlformats.org/drawingml/2006/main">
            <a:pathLst>
              <a:path w="82198" h="150462">
                <a:moveTo>
                  <a:pt x="0" y="150462"/>
                </a:moveTo>
                <a:lnTo>
                  <a:pt x="82198" y="0"/>
                </a:lnTo>
              </a:path>
            </a:pathLst>
          </a:custGeom>
          <a:noFill xmlns:a="http://schemas.openxmlformats.org/drawingml/2006/main"/>
          <a:ln xmlns:a="http://schemas.openxmlformats.org/drawingml/2006/main" w="47625">
            <a:solidFill>
              <a:srgbClr val="C4483C"/>
            </a:solidFill>
          </a:ln>
        </p:spPr>
      </p:sp>
      <p:sp>
        <p:nvSpPr>
          <p:cNvPr id="12" name="">
            <a:extLst xmlns:a="http://schemas.openxmlformats.org/drawingml/2006/main">
              <a:ext uri="{FF2B5EF4-FFF2-40B4-BE49-F238E27FC236}">
                <a16:creationId xmlns:a16="http://schemas.microsoft.com/office/drawing/2014/main" id="{658F57C1-884B-45EE-A276-912ED1DE2B01}"/>
              </a:ext>
            </a:extLst>
          </p:cNvPr>
          <p:cNvSpPr>
            <a:spLocks xmlns:a="http://schemas.openxmlformats.org/drawingml/2006/main" noGrp="1"/>
          </p:cNvSpPr>
          <p:nvPr/>
        </p:nvSpPr>
        <p:spPr>
          <a:xfrm xmlns:a="http://schemas.openxmlformats.org/drawingml/2006/main">
            <a:off x="3286125" y="2952750"/>
            <a:ext cx="9525" cy="1809750"/>
          </a:xfrm>
          <a:custGeom xmlns:a="http://schemas.openxmlformats.org/drawingml/2006/main">
            <a:pathLst>
              <a:path w="9525" h="1809750">
                <a:moveTo>
                  <a:pt x="0" y="0"/>
                </a:moveTo>
                <a:lnTo>
                  <a:pt x="0" y="180975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DDF6ACE4-A7B2-48C8-BD76-0B4719E644A4}"/>
              </a:ext>
            </a:extLst>
          </p:cNvPr>
          <p:cNvSpPr>
            <a:spLocks xmlns:a="http://schemas.openxmlformats.org/drawingml/2006/main" noGrp="1"/>
          </p:cNvSpPr>
          <p:nvPr/>
        </p:nvSpPr>
        <p:spPr>
          <a:xfrm xmlns:a="http://schemas.openxmlformats.org/drawingml/2006/main">
            <a:off x="3203927" y="4612038"/>
            <a:ext cx="82198" cy="150462"/>
          </a:xfrm>
          <a:custGeom xmlns:a="http://schemas.openxmlformats.org/drawingml/2006/main">
            <a:pathLst>
              <a:path w="82198" h="150462">
                <a:moveTo>
                  <a:pt x="82198" y="150462"/>
                </a:moveTo>
                <a:lnTo>
                  <a:pt x="0" y="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5219D905-09F7-4ABC-9202-493AACC13593}"/>
              </a:ext>
            </a:extLst>
          </p:cNvPr>
          <p:cNvSpPr>
            <a:spLocks xmlns:a="http://schemas.openxmlformats.org/drawingml/2006/main" noGrp="1"/>
          </p:cNvSpPr>
          <p:nvPr/>
        </p:nvSpPr>
        <p:spPr>
          <a:xfrm xmlns:a="http://schemas.openxmlformats.org/drawingml/2006/main">
            <a:off x="3286125" y="4612038"/>
            <a:ext cx="82198" cy="150462"/>
          </a:xfrm>
          <a:custGeom xmlns:a="http://schemas.openxmlformats.org/drawingml/2006/main">
            <a:pathLst>
              <a:path w="82198" h="150462">
                <a:moveTo>
                  <a:pt x="0" y="150462"/>
                </a:moveTo>
                <a:lnTo>
                  <a:pt x="82198" y="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51A1242C-A8C5-44F2-83F4-891D4B241BED}"/>
              </a:ext>
            </a:extLst>
          </p:cNvPr>
          <p:cNvSpPr>
            <a:spLocks xmlns:a="http://schemas.openxmlformats.org/drawingml/2006/main" noGrp="1"/>
          </p:cNvSpPr>
          <p:nvPr/>
        </p:nvSpPr>
        <p:spPr>
          <a:xfrm xmlns:a="http://schemas.openxmlformats.org/drawingml/2006/main">
            <a:off x="8001000" y="1524000"/>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47625">
            <a:solidFill>
              <a:srgbClr val="C4483C"/>
            </a:solidFill>
          </a:ln>
        </p:spPr>
      </p:sp>
      <p:sp>
        <p:nvSpPr>
          <p:cNvPr id="16" name="">
            <a:extLst xmlns:a="http://schemas.openxmlformats.org/drawingml/2006/main">
              <a:ext uri="{FF2B5EF4-FFF2-40B4-BE49-F238E27FC236}">
                <a16:creationId xmlns:a16="http://schemas.microsoft.com/office/drawing/2014/main" id="{1434987B-7704-4908-BD03-EC08CB44CEAD}"/>
              </a:ext>
            </a:extLst>
          </p:cNvPr>
          <p:cNvSpPr>
            <a:spLocks xmlns:a="http://schemas.openxmlformats.org/drawingml/2006/main" noGrp="1"/>
          </p:cNvSpPr>
          <p:nvPr/>
        </p:nvSpPr>
        <p:spPr>
          <a:xfrm xmlns:a="http://schemas.openxmlformats.org/drawingml/2006/main">
            <a:off x="7918802" y="2087913"/>
            <a:ext cx="82198" cy="150462"/>
          </a:xfrm>
          <a:custGeom xmlns:a="http://schemas.openxmlformats.org/drawingml/2006/main">
            <a:pathLst>
              <a:path w="82198" h="150462">
                <a:moveTo>
                  <a:pt x="82198" y="150462"/>
                </a:moveTo>
                <a:lnTo>
                  <a:pt x="0" y="0"/>
                </a:lnTo>
              </a:path>
            </a:pathLst>
          </a:custGeom>
          <a:noFill xmlns:a="http://schemas.openxmlformats.org/drawingml/2006/main"/>
          <a:ln xmlns:a="http://schemas.openxmlformats.org/drawingml/2006/main" w="47625">
            <a:solidFill>
              <a:srgbClr val="C4483C"/>
            </a:solidFill>
          </a:ln>
        </p:spPr>
      </p:sp>
      <p:sp>
        <p:nvSpPr>
          <p:cNvPr id="17" name="">
            <a:extLst xmlns:a="http://schemas.openxmlformats.org/drawingml/2006/main">
              <a:ext uri="{FF2B5EF4-FFF2-40B4-BE49-F238E27FC236}">
                <a16:creationId xmlns:a16="http://schemas.microsoft.com/office/drawing/2014/main" id="{37F4A471-6D36-4F42-80FD-43CF3A6EF433}"/>
              </a:ext>
            </a:extLst>
          </p:cNvPr>
          <p:cNvSpPr>
            <a:spLocks xmlns:a="http://schemas.openxmlformats.org/drawingml/2006/main" noGrp="1"/>
          </p:cNvSpPr>
          <p:nvPr/>
        </p:nvSpPr>
        <p:spPr>
          <a:xfrm xmlns:a="http://schemas.openxmlformats.org/drawingml/2006/main">
            <a:off x="8001000" y="2087913"/>
            <a:ext cx="82198" cy="150462"/>
          </a:xfrm>
          <a:custGeom xmlns:a="http://schemas.openxmlformats.org/drawingml/2006/main">
            <a:pathLst>
              <a:path w="82198" h="150462">
                <a:moveTo>
                  <a:pt x="0" y="150462"/>
                </a:moveTo>
                <a:lnTo>
                  <a:pt x="82198" y="0"/>
                </a:lnTo>
              </a:path>
            </a:pathLst>
          </a:custGeom>
          <a:noFill xmlns:a="http://schemas.openxmlformats.org/drawingml/2006/main"/>
          <a:ln xmlns:a="http://schemas.openxmlformats.org/drawingml/2006/main" w="47625">
            <a:solidFill>
              <a:srgbClr val="C4483C"/>
            </a:solidFill>
          </a:ln>
        </p:spPr>
      </p:sp>
      <p:sp>
        <p:nvSpPr>
          <p:cNvPr id="18" name="">
            <a:extLst xmlns:a="http://schemas.openxmlformats.org/drawingml/2006/main">
              <a:ext uri="{FF2B5EF4-FFF2-40B4-BE49-F238E27FC236}">
                <a16:creationId xmlns:a16="http://schemas.microsoft.com/office/drawing/2014/main" id="{9577C2A7-044D-444A-8F80-DD584D9A0560}"/>
              </a:ext>
            </a:extLst>
          </p:cNvPr>
          <p:cNvSpPr>
            <a:spLocks xmlns:a="http://schemas.openxmlformats.org/drawingml/2006/main" noGrp="1"/>
          </p:cNvSpPr>
          <p:nvPr/>
        </p:nvSpPr>
        <p:spPr>
          <a:xfrm xmlns:a="http://schemas.openxmlformats.org/drawingml/2006/main">
            <a:off x="8620125" y="2952750"/>
            <a:ext cx="9525" cy="1809750"/>
          </a:xfrm>
          <a:custGeom xmlns:a="http://schemas.openxmlformats.org/drawingml/2006/main">
            <a:pathLst>
              <a:path w="9525" h="1809750">
                <a:moveTo>
                  <a:pt x="0" y="0"/>
                </a:moveTo>
                <a:lnTo>
                  <a:pt x="0" y="180975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C9F721D0-4293-48AB-8BE1-5B54BCA22373}"/>
              </a:ext>
            </a:extLst>
          </p:cNvPr>
          <p:cNvSpPr>
            <a:spLocks xmlns:a="http://schemas.openxmlformats.org/drawingml/2006/main" noGrp="1"/>
          </p:cNvSpPr>
          <p:nvPr/>
        </p:nvSpPr>
        <p:spPr>
          <a:xfrm xmlns:a="http://schemas.openxmlformats.org/drawingml/2006/main">
            <a:off x="8537927" y="4612038"/>
            <a:ext cx="82198" cy="150462"/>
          </a:xfrm>
          <a:custGeom xmlns:a="http://schemas.openxmlformats.org/drawingml/2006/main">
            <a:pathLst>
              <a:path w="82198" h="150462">
                <a:moveTo>
                  <a:pt x="82198" y="150462"/>
                </a:moveTo>
                <a:lnTo>
                  <a:pt x="0" y="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ED5C19B0-F577-410B-91E5-8310CB78B879}"/>
              </a:ext>
            </a:extLst>
          </p:cNvPr>
          <p:cNvSpPr>
            <a:spLocks xmlns:a="http://schemas.openxmlformats.org/drawingml/2006/main" noGrp="1"/>
          </p:cNvSpPr>
          <p:nvPr/>
        </p:nvSpPr>
        <p:spPr>
          <a:xfrm xmlns:a="http://schemas.openxmlformats.org/drawingml/2006/main">
            <a:off x="8620125" y="4612038"/>
            <a:ext cx="82198" cy="150462"/>
          </a:xfrm>
          <a:custGeom xmlns:a="http://schemas.openxmlformats.org/drawingml/2006/main">
            <a:pathLst>
              <a:path w="82198" h="150462">
                <a:moveTo>
                  <a:pt x="0" y="150462"/>
                </a:moveTo>
                <a:lnTo>
                  <a:pt x="82198" y="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422E0E14-D7DA-48E3-AA7F-75FD3AA05FC6}"/>
              </a:ext>
            </a:extLst>
          </p:cNvPr>
          <p:cNvSpPr>
            <a:spLocks xmlns:a="http://schemas.openxmlformats.org/drawingml/2006/main" noGrp="1"/>
          </p:cNvSpPr>
          <p:nvPr/>
        </p:nvSpPr>
        <p:spPr>
          <a:xfrm xmlns:a="http://schemas.openxmlformats.org/drawingml/2006/main">
            <a:off x="4333875" y="15240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C4483C"/>
                </a:solidFill>
                <a:latin typeface="Yu Gothic"/>
                <a:ea typeface="Yu Gothic"/>
                <a:cs typeface="Yu Gothic"/>
              </a:defRPr>
            </a:defPPr>
            <a:lvl1pPr>
              <a:defRPr sz="2250" b="0">
                <a:solidFill>
                  <a:srgbClr val="C4483C"/>
                </a:solidFill>
                <a:latin typeface="Yu Gothic"/>
                <a:ea typeface="Yu Gothic"/>
                <a:cs typeface="Yu Gothic"/>
              </a:defRPr>
            </a:lvl1pPr>
            <a:lvl2pPr>
              <a:defRPr sz="2250" b="0">
                <a:solidFill>
                  <a:srgbClr val="C4483C"/>
                </a:solidFill>
                <a:latin typeface="Yu Gothic"/>
                <a:ea typeface="Yu Gothic"/>
                <a:cs typeface="Yu Gothic"/>
              </a:defRPr>
            </a:lvl2pPr>
            <a:lvl3pPr>
              <a:defRPr sz="2250" b="0">
                <a:solidFill>
                  <a:srgbClr val="C4483C"/>
                </a:solidFill>
                <a:latin typeface="Yu Gothic"/>
                <a:ea typeface="Yu Gothic"/>
                <a:cs typeface="Yu Gothic"/>
              </a:defRPr>
            </a:lvl3pPr>
            <a:lvl4pPr>
              <a:defRPr sz="2250" b="0">
                <a:solidFill>
                  <a:srgbClr val="C4483C"/>
                </a:solidFill>
                <a:latin typeface="Yu Gothic"/>
                <a:ea typeface="Yu Gothic"/>
                <a:cs typeface="Yu Gothic"/>
              </a:defRPr>
            </a:lvl4pPr>
            <a:lvl5pPr>
              <a:defRPr sz="2250" b="0">
                <a:solidFill>
                  <a:srgbClr val="C4483C"/>
                </a:solidFill>
                <a:latin typeface="Yu Gothic"/>
                <a:ea typeface="Yu Gothic"/>
                <a:cs typeface="Yu Gothic"/>
              </a:defRPr>
            </a:lvl5pPr>
            <a:lvl6pPr>
              <a:defRPr sz="2250" b="0">
                <a:solidFill>
                  <a:srgbClr val="C4483C"/>
                </a:solidFill>
                <a:latin typeface="Yu Gothic"/>
                <a:ea typeface="Yu Gothic"/>
                <a:cs typeface="Yu Gothic"/>
              </a:defRPr>
            </a:lvl6pPr>
            <a:lvl7pPr>
              <a:defRPr sz="2250" b="0">
                <a:solidFill>
                  <a:srgbClr val="C4483C"/>
                </a:solidFill>
                <a:latin typeface="Yu Gothic"/>
                <a:ea typeface="Yu Gothic"/>
                <a:cs typeface="Yu Gothic"/>
              </a:defRPr>
            </a:lvl7pPr>
            <a:lvl8pPr>
              <a:defRPr sz="2250" b="0">
                <a:solidFill>
                  <a:srgbClr val="C4483C"/>
                </a:solidFill>
                <a:latin typeface="Yu Gothic"/>
                <a:ea typeface="Yu Gothic"/>
                <a:cs typeface="Yu Gothic"/>
              </a:defRPr>
            </a:lvl8pPr>
            <a:lvl9pPr>
              <a:defRPr sz="2250" b="0">
                <a:solidFill>
                  <a:srgbClr val="C4483C"/>
                </a:solidFill>
                <a:latin typeface="Yu Gothic"/>
                <a:ea typeface="Yu Gothic"/>
                <a:cs typeface="Yu Gothic"/>
              </a:defRPr>
            </a:lvl9pPr>
          </a:lstStyle>
          <a:p xmlns:a="http://schemas.openxmlformats.org/drawingml/2006/main">
            <a:pPr>
              <a:defRPr sz="2250" b="0">
                <a:solidFill>
                  <a:srgbClr val="C4483C"/>
                </a:solidFill>
                <a:latin typeface="Yu Gothic"/>
                <a:ea typeface="Yu Gothic"/>
                <a:cs typeface="Yu Gothic"/>
              </a:defRPr>
            </a:pPr>
            <a:r>
              <a:rPr sz="2250" b="0">
                <a:solidFill>
                  <a:srgbClr val="C4483C"/>
                </a:solidFill>
                <a:latin typeface="Yu Gothic"/>
                <a:ea typeface="Yu Gothic"/>
                <a:cs typeface="Yu Gothic"/>
              </a:rPr>
              <a:t>荷重</a:t>
            </a:r>
          </a:p>
        </p:txBody>
      </p:sp>
      <p:sp>
        <p:nvSpPr>
          <p:cNvPr id="22" name="">
            <a:extLst xmlns:a="http://schemas.openxmlformats.org/drawingml/2006/main">
              <a:ext uri="{FF2B5EF4-FFF2-40B4-BE49-F238E27FC236}">
                <a16:creationId xmlns:a16="http://schemas.microsoft.com/office/drawing/2014/main" id="{91EFB1A7-8DBD-4DF6-A3C7-78F755E01455}"/>
              </a:ext>
            </a:extLst>
          </p:cNvPr>
          <p:cNvSpPr>
            <a:spLocks xmlns:a="http://schemas.openxmlformats.org/drawingml/2006/main" noGrp="1"/>
          </p:cNvSpPr>
          <p:nvPr/>
        </p:nvSpPr>
        <p:spPr>
          <a:xfrm xmlns:a="http://schemas.openxmlformats.org/drawingml/2006/main">
            <a:off x="9096375" y="2190750"/>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梁</a:t>
            </a:r>
          </a:p>
        </p:txBody>
      </p:sp>
      <p:sp>
        <p:nvSpPr>
          <p:cNvPr id="23" name="">
            <a:extLst xmlns:a="http://schemas.openxmlformats.org/drawingml/2006/main">
              <a:ext uri="{FF2B5EF4-FFF2-40B4-BE49-F238E27FC236}">
                <a16:creationId xmlns:a16="http://schemas.microsoft.com/office/drawing/2014/main" id="{2FFEFC8E-7059-45D0-9CBA-1F3BB1F88668}"/>
              </a:ext>
            </a:extLst>
          </p:cNvPr>
          <p:cNvSpPr>
            <a:spLocks xmlns:a="http://schemas.openxmlformats.org/drawingml/2006/main" noGrp="1"/>
          </p:cNvSpPr>
          <p:nvPr/>
        </p:nvSpPr>
        <p:spPr>
          <a:xfrm xmlns:a="http://schemas.openxmlformats.org/drawingml/2006/main">
            <a:off x="9096375" y="357187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柱</a:t>
            </a:r>
          </a:p>
        </p:txBody>
      </p:sp>
      <p:sp>
        <p:nvSpPr>
          <p:cNvPr id="24" name="">
            <a:extLst xmlns:a="http://schemas.openxmlformats.org/drawingml/2006/main">
              <a:ext uri="{FF2B5EF4-FFF2-40B4-BE49-F238E27FC236}">
                <a16:creationId xmlns:a16="http://schemas.microsoft.com/office/drawing/2014/main" id="{35508F5C-298B-474D-BA7C-66744B76F10D}"/>
              </a:ext>
            </a:extLst>
          </p:cNvPr>
          <p:cNvSpPr>
            <a:spLocks xmlns:a="http://schemas.openxmlformats.org/drawingml/2006/main" noGrp="1"/>
          </p:cNvSpPr>
          <p:nvPr/>
        </p:nvSpPr>
        <p:spPr>
          <a:xfrm xmlns:a="http://schemas.openxmlformats.org/drawingml/2006/main">
            <a:off x="9096375" y="4762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基礎・地盤</a:t>
            </a:r>
          </a:p>
        </p:txBody>
      </p:sp>
      <p:sp>
        <p:nvSpPr>
          <p:cNvPr id="25" name="">
            <a:extLst xmlns:a="http://schemas.openxmlformats.org/drawingml/2006/main">
              <a:ext uri="{FF2B5EF4-FFF2-40B4-BE49-F238E27FC236}">
                <a16:creationId xmlns:a16="http://schemas.microsoft.com/office/drawing/2014/main" id="{4F753E7D-8B5F-4BF9-809F-2E10AEC7EF28}"/>
              </a:ext>
            </a:extLst>
          </p:cNvPr>
          <p:cNvSpPr>
            <a:spLocks xmlns:a="http://schemas.openxmlformats.org/drawingml/2006/main" noGrp="1"/>
          </p:cNvSpPr>
          <p:nvPr/>
        </p:nvSpPr>
        <p:spPr>
          <a:xfrm xmlns:a="http://schemas.openxmlformats.org/drawingml/2006/main">
            <a:off x="838200" y="5619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defRPr sz="1725" b="0">
                <a:solidFill>
                  <a:srgbClr val="596875"/>
                </a:solidFill>
                <a:latin typeface="Yu Gothic"/>
                <a:ea typeface="Yu Gothic"/>
                <a:cs typeface="Yu Gothic"/>
              </a:defRPr>
            </a:lvl1pPr>
            <a:lvl2pPr>
              <a:defRPr sz="1725" b="0">
                <a:solidFill>
                  <a:srgbClr val="596875"/>
                </a:solidFill>
                <a:latin typeface="Yu Gothic"/>
                <a:ea typeface="Yu Gothic"/>
                <a:cs typeface="Yu Gothic"/>
              </a:defRPr>
            </a:lvl2pPr>
            <a:lvl3pPr>
              <a:defRPr sz="1725" b="0">
                <a:solidFill>
                  <a:srgbClr val="596875"/>
                </a:solidFill>
                <a:latin typeface="Yu Gothic"/>
                <a:ea typeface="Yu Gothic"/>
                <a:cs typeface="Yu Gothic"/>
              </a:defRPr>
            </a:lvl3pPr>
            <a:lvl4pPr>
              <a:defRPr sz="1725" b="0">
                <a:solidFill>
                  <a:srgbClr val="596875"/>
                </a:solidFill>
                <a:latin typeface="Yu Gothic"/>
                <a:ea typeface="Yu Gothic"/>
                <a:cs typeface="Yu Gothic"/>
              </a:defRPr>
            </a:lvl4pPr>
            <a:lvl5pPr>
              <a:defRPr sz="1725" b="0">
                <a:solidFill>
                  <a:srgbClr val="596875"/>
                </a:solidFill>
                <a:latin typeface="Yu Gothic"/>
                <a:ea typeface="Yu Gothic"/>
                <a:cs typeface="Yu Gothic"/>
              </a:defRPr>
            </a:lvl5pPr>
            <a:lvl6pPr>
              <a:defRPr sz="1725" b="0">
                <a:solidFill>
                  <a:srgbClr val="596875"/>
                </a:solidFill>
                <a:latin typeface="Yu Gothic"/>
                <a:ea typeface="Yu Gothic"/>
                <a:cs typeface="Yu Gothic"/>
              </a:defRPr>
            </a:lvl6pPr>
            <a:lvl7pPr>
              <a:defRPr sz="1725" b="0">
                <a:solidFill>
                  <a:srgbClr val="596875"/>
                </a:solidFill>
                <a:latin typeface="Yu Gothic"/>
                <a:ea typeface="Yu Gothic"/>
                <a:cs typeface="Yu Gothic"/>
              </a:defRPr>
            </a:lvl7pPr>
            <a:lvl8pPr>
              <a:defRPr sz="1725" b="0">
                <a:solidFill>
                  <a:srgbClr val="596875"/>
                </a:solidFill>
                <a:latin typeface="Yu Gothic"/>
                <a:ea typeface="Yu Gothic"/>
                <a:cs typeface="Yu Gothic"/>
              </a:defRPr>
            </a:lvl8pPr>
            <a:lvl9pPr>
              <a:defRPr sz="1725" b="0">
                <a:solidFill>
                  <a:srgbClr val="596875"/>
                </a:solidFill>
                <a:latin typeface="Yu Gothic"/>
                <a:ea typeface="Yu Gothic"/>
                <a:cs typeface="Yu Gothic"/>
              </a:defRPr>
            </a:lvl9pPr>
          </a:lstStyle>
          <a:p xmlns:a="http://schemas.openxmlformats.org/drawingml/2006/main">
            <a:pPr>
              <a:defRPr sz="1725" b="0">
                <a:solidFill>
                  <a:srgbClr val="596875"/>
                </a:solidFill>
                <a:latin typeface="Yu Gothic"/>
                <a:ea typeface="Yu Gothic"/>
                <a:cs typeface="Yu Gothic"/>
              </a:defRPr>
            </a:pPr>
            <a:r>
              <a:rPr sz="1725" b="0">
                <a:solidFill>
                  <a:srgbClr val="596875"/>
                </a:solidFill>
                <a:latin typeface="Yu Gothic"/>
                <a:ea typeface="Yu Gothic"/>
                <a:cs typeface="Yu Gothic"/>
              </a:rPr>
              <a:t>鉛直荷重の簡単な模式図。水平力への仕組みは別に必要。</a:t>
            </a:r>
          </a:p>
        </p:txBody>
      </p:sp>
    </p:spTree>
    <p:extLst>
      <p:ext uri="{BB962C8B-B14F-4D97-AF65-F5344CB8AC3E}">
        <p14:creationId xmlns:p14="http://schemas.microsoft.com/office/powerpoint/2010/main" val="5628919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640229-0955-4681-B08E-F455763127D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梁の向きと断面の高さ</a:t>
            </a:r>
          </a:p>
        </p:txBody>
      </p:sp>
      <p:sp>
        <p:nvSpPr>
          <p:cNvPr id="2" name="">
            <a:extLst xmlns:a="http://schemas.openxmlformats.org/drawingml/2006/main">
              <a:ext uri="{FF2B5EF4-FFF2-40B4-BE49-F238E27FC236}">
                <a16:creationId xmlns:a16="http://schemas.microsoft.com/office/drawing/2014/main" id="{0DEBA464-12F9-4B38-B7F8-261984EB0A7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1646E6F-F185-45CE-AAA8-BF785B95C0C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BBE0325C-E5D9-42EB-ADD0-4EB8238A2FA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4FE7446C-7FC5-4863-94D1-CE68BAD8B691}"/>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繊維方向と負担のかかり方</a:t>
            </a:r>
          </a:p>
        </p:txBody>
      </p:sp>
      <p:sp>
        <p:nvSpPr>
          <p:cNvPr id="6" name="">
            <a:extLst xmlns:a="http://schemas.openxmlformats.org/drawingml/2006/main">
              <a:ext uri="{FF2B5EF4-FFF2-40B4-BE49-F238E27FC236}">
                <a16:creationId xmlns:a16="http://schemas.microsoft.com/office/drawing/2014/main" id="{20999539-3A3C-47D1-9AE8-880661A8CC58}"/>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同じ断面積でも曲げへの応答は変わる</a:t>
            </a:r>
          </a:p>
        </p:txBody>
      </p:sp>
      <p:sp>
        <p:nvSpPr>
          <p:cNvPr id="7" name="">
            <a:extLst xmlns:a="http://schemas.openxmlformats.org/drawingml/2006/main">
              <a:ext uri="{FF2B5EF4-FFF2-40B4-BE49-F238E27FC236}">
                <a16:creationId xmlns:a16="http://schemas.microsoft.com/office/drawing/2014/main" id="{962CECEB-1B2E-4527-A2F4-08F2A4461643}"/>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部材寸法と接合条件を確認する</a:t>
            </a:r>
          </a:p>
        </p:txBody>
      </p:sp>
    </p:spTree>
    <p:extLst>
      <p:ext uri="{BB962C8B-B14F-4D97-AF65-F5344CB8AC3E}">
        <p14:creationId xmlns:p14="http://schemas.microsoft.com/office/powerpoint/2010/main" val="11596397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11FA83-5ADB-4244-9B1C-7E59FEFDF94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乾燥と寸法変化を建築へ結び付ける</a:t>
            </a:r>
          </a:p>
        </p:txBody>
      </p:sp>
      <p:sp>
        <p:nvSpPr>
          <p:cNvPr id="2" name="">
            <a:extLst xmlns:a="http://schemas.openxmlformats.org/drawingml/2006/main">
              <a:ext uri="{FF2B5EF4-FFF2-40B4-BE49-F238E27FC236}">
                <a16:creationId xmlns:a16="http://schemas.microsoft.com/office/drawing/2014/main" id="{6FAFF0D7-D4DC-41BF-AC1A-1B477FC123F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7052EF-E6B6-4DD4-98FC-0FF988A0AA6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7CE7A415-4BF9-4B38-A8E1-E2ED4DAE591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DEBC28C4-F347-44A0-B39E-75F0050CEDE9}"/>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乾燥後の寸法と使用環境</a:t>
            </a:r>
          </a:p>
        </p:txBody>
      </p:sp>
      <p:sp>
        <p:nvSpPr>
          <p:cNvPr id="6" name="">
            <a:extLst xmlns:a="http://schemas.openxmlformats.org/drawingml/2006/main">
              <a:ext uri="{FF2B5EF4-FFF2-40B4-BE49-F238E27FC236}">
                <a16:creationId xmlns:a16="http://schemas.microsoft.com/office/drawing/2014/main" id="{D4880E3E-8415-4DB0-9541-5D37330906B7}"/>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方向により異なる収縮</a:t>
            </a:r>
          </a:p>
        </p:txBody>
      </p:sp>
      <p:sp>
        <p:nvSpPr>
          <p:cNvPr id="7" name="">
            <a:extLst xmlns:a="http://schemas.openxmlformats.org/drawingml/2006/main">
              <a:ext uri="{FF2B5EF4-FFF2-40B4-BE49-F238E27FC236}">
                <a16:creationId xmlns:a16="http://schemas.microsoft.com/office/drawing/2014/main" id="{DDADD998-C590-45FC-95C2-BA0A8171ED98}"/>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割れ・反り・接合の納まり</a:t>
            </a:r>
          </a:p>
        </p:txBody>
      </p:sp>
    </p:spTree>
    <p:extLst>
      <p:ext uri="{BB962C8B-B14F-4D97-AF65-F5344CB8AC3E}">
        <p14:creationId xmlns:p14="http://schemas.microsoft.com/office/powerpoint/2010/main" val="15243994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49D99F-CF5A-4E26-9357-DDA924D2AAC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仕口・継手・金物・接着</a:t>
            </a:r>
          </a:p>
        </p:txBody>
      </p:sp>
      <p:sp>
        <p:nvSpPr>
          <p:cNvPr id="2" name="">
            <a:extLst xmlns:a="http://schemas.openxmlformats.org/drawingml/2006/main">
              <a:ext uri="{FF2B5EF4-FFF2-40B4-BE49-F238E27FC236}">
                <a16:creationId xmlns:a16="http://schemas.microsoft.com/office/drawing/2014/main" id="{0947275A-9EFC-43D9-8F1D-DBE3B7E374A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5121F1-074E-4E4D-B51E-F30CEA5B046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B0AB1929-1BE9-43D5-97FB-1205F7D2B08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6577AC9F-303E-49E9-A730-0A3975AE136F}"/>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力を伝えるという働き</a:t>
            </a:r>
          </a:p>
        </p:txBody>
      </p:sp>
      <p:sp>
        <p:nvSpPr>
          <p:cNvPr id="6" name="">
            <a:extLst xmlns:a="http://schemas.openxmlformats.org/drawingml/2006/main">
              <a:ext uri="{FF2B5EF4-FFF2-40B4-BE49-F238E27FC236}">
                <a16:creationId xmlns:a16="http://schemas.microsoft.com/office/drawing/2014/main" id="{54827CA4-FAE2-490F-8671-FE18E54D0986}"/>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加工・組立て・維持との関係</a:t>
            </a:r>
          </a:p>
        </p:txBody>
      </p:sp>
      <p:sp>
        <p:nvSpPr>
          <p:cNvPr id="7" name="">
            <a:extLst xmlns:a="http://schemas.openxmlformats.org/drawingml/2006/main">
              <a:ext uri="{FF2B5EF4-FFF2-40B4-BE49-F238E27FC236}">
                <a16:creationId xmlns:a16="http://schemas.microsoft.com/office/drawing/2014/main" id="{F9CAB020-03A9-4F67-8DA8-99FDFD923E12}"/>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形式と時代、事例ごとの違い</a:t>
            </a:r>
          </a:p>
        </p:txBody>
      </p:sp>
    </p:spTree>
    <p:extLst>
      <p:ext uri="{BB962C8B-B14F-4D97-AF65-F5344CB8AC3E}">
        <p14:creationId xmlns:p14="http://schemas.microsoft.com/office/powerpoint/2010/main" val="199121352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98DC0D-4E41-4990-B91B-814F5C4BC90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接合部と交換しやすさ</a:t>
            </a:r>
          </a:p>
        </p:txBody>
      </p:sp>
      <p:sp>
        <p:nvSpPr>
          <p:cNvPr id="2" name="">
            <a:extLst xmlns:a="http://schemas.openxmlformats.org/drawingml/2006/main">
              <a:ext uri="{FF2B5EF4-FFF2-40B4-BE49-F238E27FC236}">
                <a16:creationId xmlns:a16="http://schemas.microsoft.com/office/drawing/2014/main" id="{DCACFDB5-5AB5-4C6D-ADED-7C5227715A2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E8DEB2C-3A35-4A33-B499-42AE1A93E14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5ADB6070-5A97-4873-9514-55169972FDA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0363DE47-D961-4CB2-AFD1-5008181452FE}"/>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工具が届くか</a:t>
            </a:r>
          </a:p>
        </p:txBody>
      </p:sp>
      <p:sp>
        <p:nvSpPr>
          <p:cNvPr id="6" name="">
            <a:extLst xmlns:a="http://schemas.openxmlformats.org/drawingml/2006/main">
              <a:ext uri="{FF2B5EF4-FFF2-40B4-BE49-F238E27FC236}">
                <a16:creationId xmlns:a16="http://schemas.microsoft.com/office/drawing/2014/main" id="{C497A68C-6FD7-4840-96B3-B5A57089DE13}"/>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傷んだ部分を確認できるか</a:t>
            </a:r>
          </a:p>
        </p:txBody>
      </p:sp>
      <p:sp>
        <p:nvSpPr>
          <p:cNvPr id="7" name="">
            <a:extLst xmlns:a="http://schemas.openxmlformats.org/drawingml/2006/main">
              <a:ext uri="{FF2B5EF4-FFF2-40B4-BE49-F238E27FC236}">
                <a16:creationId xmlns:a16="http://schemas.microsoft.com/office/drawing/2014/main" id="{8E709A62-5E3E-4971-BF38-E0363F617978}"/>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部材を交換する手順を考えられるか</a:t>
            </a:r>
          </a:p>
        </p:txBody>
      </p:sp>
    </p:spTree>
    <p:extLst>
      <p:ext uri="{BB962C8B-B14F-4D97-AF65-F5344CB8AC3E}">
        <p14:creationId xmlns:p14="http://schemas.microsoft.com/office/powerpoint/2010/main" val="156515760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F35DF3-EB58-48EE-AE12-47DB553077A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木目と板取りは材質にも関わる</a:t>
            </a:r>
          </a:p>
        </p:txBody>
      </p:sp>
      <p:sp>
        <p:nvSpPr>
          <p:cNvPr id="2" name="">
            <a:extLst xmlns:a="http://schemas.openxmlformats.org/drawingml/2006/main">
              <a:ext uri="{FF2B5EF4-FFF2-40B4-BE49-F238E27FC236}">
                <a16:creationId xmlns:a16="http://schemas.microsoft.com/office/drawing/2014/main" id="{F5083BDA-E960-4726-9A08-5FC5A31F8EF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3E02D2-9CE5-47A4-A8DA-E6F477A04669}"/>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238E6063-166D-434F-8894-9E18EB5FAB8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05A50C75-BCAB-422F-AB97-0124E5AD0CBD}"/>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丸太内の位置で板の方向関係が変わる</a:t>
            </a:r>
          </a:p>
        </p:txBody>
      </p:sp>
      <p:sp>
        <p:nvSpPr>
          <p:cNvPr id="6" name="">
            <a:extLst xmlns:a="http://schemas.openxmlformats.org/drawingml/2006/main">
              <a:ext uri="{FF2B5EF4-FFF2-40B4-BE49-F238E27FC236}">
                <a16:creationId xmlns:a16="http://schemas.microsoft.com/office/drawing/2014/main" id="{50DAB184-738D-4014-8D62-C920A6D1F33C}"/>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板目・柾目と寸法変化を結び付ける</a:t>
            </a:r>
          </a:p>
        </p:txBody>
      </p:sp>
      <p:sp>
        <p:nvSpPr>
          <p:cNvPr id="7" name="">
            <a:extLst xmlns:a="http://schemas.openxmlformats.org/drawingml/2006/main">
              <a:ext uri="{FF2B5EF4-FFF2-40B4-BE49-F238E27FC236}">
                <a16:creationId xmlns:a16="http://schemas.microsoft.com/office/drawing/2014/main" id="{FAA35E42-8EB2-41CC-AD28-BE26BD6A354A}"/>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外観・歩留まり・用途を一緒に考える</a:t>
            </a:r>
          </a:p>
        </p:txBody>
      </p:sp>
    </p:spTree>
    <p:extLst>
      <p:ext uri="{BB962C8B-B14F-4D97-AF65-F5344CB8AC3E}">
        <p14:creationId xmlns:p14="http://schemas.microsoft.com/office/powerpoint/2010/main" val="9763571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3984AA-088C-4499-817A-C4213EA81241}"/>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雨を遠ざけ、乾きやすくする</a:t>
            </a:r>
          </a:p>
        </p:txBody>
      </p:sp>
      <p:sp>
        <p:nvSpPr>
          <p:cNvPr id="2" name="">
            <a:extLst xmlns:a="http://schemas.openxmlformats.org/drawingml/2006/main">
              <a:ext uri="{FF2B5EF4-FFF2-40B4-BE49-F238E27FC236}">
                <a16:creationId xmlns:a16="http://schemas.microsoft.com/office/drawing/2014/main" id="{157AC32A-C3B9-4066-B7D4-E1C1C47D4E7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FBCD1C-8BA8-4BC0-AEEC-9581A48F21F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E5263120-3CBC-4C07-A146-EBB65ED975E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D0980F86-574A-41CE-BB4C-3258D4C9D9AC}"/>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雨仕舞と漏水の点検</a:t>
            </a:r>
          </a:p>
        </p:txBody>
      </p:sp>
      <p:sp>
        <p:nvSpPr>
          <p:cNvPr id="6" name="">
            <a:extLst xmlns:a="http://schemas.openxmlformats.org/drawingml/2006/main">
              <a:ext uri="{FF2B5EF4-FFF2-40B4-BE49-F238E27FC236}">
                <a16:creationId xmlns:a16="http://schemas.microsoft.com/office/drawing/2014/main" id="{D11E095C-DCB6-4FC0-A2A7-F71DBEE4D94E}"/>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地面・水との接し方</a:t>
            </a:r>
          </a:p>
        </p:txBody>
      </p:sp>
      <p:sp>
        <p:nvSpPr>
          <p:cNvPr id="7" name="">
            <a:extLst xmlns:a="http://schemas.openxmlformats.org/drawingml/2006/main">
              <a:ext uri="{FF2B5EF4-FFF2-40B4-BE49-F238E27FC236}">
                <a16:creationId xmlns:a16="http://schemas.microsoft.com/office/drawing/2014/main" id="{CA3C74F6-B37A-4429-BBAD-97E37194408D}"/>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乾きやすさと使用環境</a:t>
            </a:r>
          </a:p>
        </p:txBody>
      </p:sp>
    </p:spTree>
    <p:extLst>
      <p:ext uri="{BB962C8B-B14F-4D97-AF65-F5344CB8AC3E}">
        <p14:creationId xmlns:p14="http://schemas.microsoft.com/office/powerpoint/2010/main" val="20695291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C68F68-E63F-413E-A99B-60BBBED7981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古い建物と古い部材は同じではない</a:t>
            </a:r>
          </a:p>
        </p:txBody>
      </p:sp>
      <p:sp>
        <p:nvSpPr>
          <p:cNvPr id="2" name="">
            <a:extLst xmlns:a="http://schemas.openxmlformats.org/drawingml/2006/main">
              <a:ext uri="{FF2B5EF4-FFF2-40B4-BE49-F238E27FC236}">
                <a16:creationId xmlns:a16="http://schemas.microsoft.com/office/drawing/2014/main" id="{1694A157-D6E5-4BD6-963C-007EC2746A1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5722A37-DCAF-4799-8E73-7BB5328B8D0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3861DDBF-A9DA-40DF-943C-F42B2E16CBA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AB0B1559-6997-4E13-9608-7DA7266B444E}"/>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建物の創建年代</a:t>
            </a:r>
          </a:p>
        </p:txBody>
      </p:sp>
      <p:sp>
        <p:nvSpPr>
          <p:cNvPr id="6" name="">
            <a:extLst xmlns:a="http://schemas.openxmlformats.org/drawingml/2006/main">
              <a:ext uri="{FF2B5EF4-FFF2-40B4-BE49-F238E27FC236}">
                <a16:creationId xmlns:a16="http://schemas.microsoft.com/office/drawing/2014/main" id="{D3054EA7-8B6A-43C7-93ED-7CC533346762}"/>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現存部材の年代</a:t>
            </a:r>
          </a:p>
        </p:txBody>
      </p:sp>
      <p:sp>
        <p:nvSpPr>
          <p:cNvPr id="7" name="">
            <a:extLst xmlns:a="http://schemas.openxmlformats.org/drawingml/2006/main">
              <a:ext uri="{FF2B5EF4-FFF2-40B4-BE49-F238E27FC236}">
                <a16:creationId xmlns:a16="http://schemas.microsoft.com/office/drawing/2014/main" id="{927769EB-6A8B-43F9-A0B7-35A0E02B1C12}"/>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修理・交換の履歴</a:t>
            </a:r>
          </a:p>
        </p:txBody>
      </p:sp>
    </p:spTree>
    <p:extLst>
      <p:ext uri="{BB962C8B-B14F-4D97-AF65-F5344CB8AC3E}">
        <p14:creationId xmlns:p14="http://schemas.microsoft.com/office/powerpoint/2010/main" val="107644158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CB0460-E21E-4C62-8344-0C126F3A642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保存修理は人と材料を必要とする</a:t>
            </a:r>
          </a:p>
        </p:txBody>
      </p:sp>
      <p:sp>
        <p:nvSpPr>
          <p:cNvPr id="2" name="">
            <a:extLst xmlns:a="http://schemas.openxmlformats.org/drawingml/2006/main">
              <a:ext uri="{FF2B5EF4-FFF2-40B4-BE49-F238E27FC236}">
                <a16:creationId xmlns:a16="http://schemas.microsoft.com/office/drawing/2014/main" id="{FAA5D144-46D0-414D-AF32-DC05DD811FD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979268-5D3C-4086-9F92-761EAABDFF9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B5E62244-ED12-4C79-8D9C-17043FBA020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15AD4D03-930B-4375-9974-45611D851661}"/>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調査・記録と損傷の判断</a:t>
            </a:r>
          </a:p>
        </p:txBody>
      </p:sp>
      <p:sp>
        <p:nvSpPr>
          <p:cNvPr id="6" name="">
            <a:extLst xmlns:a="http://schemas.openxmlformats.org/drawingml/2006/main">
              <a:ext uri="{FF2B5EF4-FFF2-40B4-BE49-F238E27FC236}">
                <a16:creationId xmlns:a16="http://schemas.microsoft.com/office/drawing/2014/main" id="{19D55865-6E1D-4720-ABD1-669C9F76C999}"/>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適した修理材と加工・施工</a:t>
            </a:r>
          </a:p>
        </p:txBody>
      </p:sp>
      <p:sp>
        <p:nvSpPr>
          <p:cNvPr id="7" name="">
            <a:extLst xmlns:a="http://schemas.openxmlformats.org/drawingml/2006/main">
              <a:ext uri="{FF2B5EF4-FFF2-40B4-BE49-F238E27FC236}">
                <a16:creationId xmlns:a16="http://schemas.microsoft.com/office/drawing/2014/main" id="{6297C71F-C8D2-4A61-BE6B-42C0A0A7CBFC}"/>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技術者と担い手の継続</a:t>
            </a:r>
          </a:p>
        </p:txBody>
      </p:sp>
      <p:sp>
        <p:nvSpPr>
          <p:cNvPr id="8" name="">
            <a:extLst xmlns:a="http://schemas.openxmlformats.org/drawingml/2006/main">
              <a:ext uri="{FF2B5EF4-FFF2-40B4-BE49-F238E27FC236}">
                <a16:creationId xmlns:a16="http://schemas.microsoft.com/office/drawing/2014/main" id="{7DA05D28-CF19-4F58-9D56-EAFA7C7C198A}"/>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出典：[4]　末尾の参照資料へ</a:t>
            </a:r>
          </a:p>
        </p:txBody>
      </p:sp>
    </p:spTree>
    <p:extLst>
      <p:ext uri="{BB962C8B-B14F-4D97-AF65-F5344CB8AC3E}">
        <p14:creationId xmlns:p14="http://schemas.microsoft.com/office/powerpoint/2010/main" val="19776219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173CBD-5EF6-40E0-85D0-29C83C73311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伝統建築工匠の技</a:t>
            </a:r>
          </a:p>
        </p:txBody>
      </p:sp>
      <p:sp>
        <p:nvSpPr>
          <p:cNvPr id="2" name="">
            <a:extLst xmlns:a="http://schemas.openxmlformats.org/drawingml/2006/main">
              <a:ext uri="{FF2B5EF4-FFF2-40B4-BE49-F238E27FC236}">
                <a16:creationId xmlns:a16="http://schemas.microsoft.com/office/drawing/2014/main" id="{98B2185A-B1D2-4A64-AFF5-969BF61CB1A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8F77D9-17F9-4D65-ABA7-D19000A684C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9745EC24-72B4-412D-AB47-DE935DC5CDB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12C6B1D2-E317-45FE-A183-5843BEE27E94}"/>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建造物木工・修理などの技能</a:t>
            </a:r>
          </a:p>
        </p:txBody>
      </p:sp>
      <p:sp>
        <p:nvSpPr>
          <p:cNvPr id="6" name="">
            <a:extLst xmlns:a="http://schemas.openxmlformats.org/drawingml/2006/main">
              <a:ext uri="{FF2B5EF4-FFF2-40B4-BE49-F238E27FC236}">
                <a16:creationId xmlns:a16="http://schemas.microsoft.com/office/drawing/2014/main" id="{41CE619C-F48C-4F94-88F6-8D1BA50C3E21}"/>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屋根や仕上げ、材料の採取・製作</a:t>
            </a:r>
          </a:p>
        </p:txBody>
      </p:sp>
      <p:sp>
        <p:nvSpPr>
          <p:cNvPr id="7" name="">
            <a:extLst xmlns:a="http://schemas.openxmlformats.org/drawingml/2006/main">
              <a:ext uri="{FF2B5EF4-FFF2-40B4-BE49-F238E27FC236}">
                <a16:creationId xmlns:a16="http://schemas.microsoft.com/office/drawing/2014/main" id="{7C0EA384-11C8-4999-9188-881997BFE7AC}"/>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建物を継ぐための技術のまとまり</a:t>
            </a:r>
          </a:p>
        </p:txBody>
      </p:sp>
      <p:sp>
        <p:nvSpPr>
          <p:cNvPr id="8" name="">
            <a:extLst xmlns:a="http://schemas.openxmlformats.org/drawingml/2006/main">
              <a:ext uri="{FF2B5EF4-FFF2-40B4-BE49-F238E27FC236}">
                <a16:creationId xmlns:a16="http://schemas.microsoft.com/office/drawing/2014/main" id="{B53218B2-6833-43D9-BF85-D681FDE67CB0}"/>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出典：[4]　末尾の参照資料へ</a:t>
            </a:r>
          </a:p>
        </p:txBody>
      </p:sp>
    </p:spTree>
    <p:extLst>
      <p:ext uri="{BB962C8B-B14F-4D97-AF65-F5344CB8AC3E}">
        <p14:creationId xmlns:p14="http://schemas.microsoft.com/office/powerpoint/2010/main" val="98494717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365973-6DE3-4156-89D2-015A0DE83F81}"/>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修理と周期的な建て替え</a:t>
            </a:r>
          </a:p>
        </p:txBody>
      </p:sp>
      <p:sp>
        <p:nvSpPr>
          <p:cNvPr id="2" name="">
            <a:extLst xmlns:a="http://schemas.openxmlformats.org/drawingml/2006/main">
              <a:ext uri="{FF2B5EF4-FFF2-40B4-BE49-F238E27FC236}">
                <a16:creationId xmlns:a16="http://schemas.microsoft.com/office/drawing/2014/main" id="{BB55B42E-B433-4F0C-ABFA-33F79962992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125BCC-7A23-4EAC-AB5F-79793DB82A3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702F0C12-6D60-4E7B-BEEA-43F3D0CDF4E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F89DB2B0-1BA8-4954-80F7-DC506DAECBDE}"/>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何を継承するかを具体的にする</a:t>
            </a:r>
          </a:p>
        </p:txBody>
      </p:sp>
      <p:sp>
        <p:nvSpPr>
          <p:cNvPr id="6" name="">
            <a:extLst xmlns:a="http://schemas.openxmlformats.org/drawingml/2006/main">
              <a:ext uri="{FF2B5EF4-FFF2-40B4-BE49-F238E27FC236}">
                <a16:creationId xmlns:a16="http://schemas.microsoft.com/office/drawing/2014/main" id="{B8ADAAC3-3981-494E-AF41-5B103B6B1507}"/>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部材、形式、技能、使い方の違い</a:t>
            </a:r>
          </a:p>
        </p:txBody>
      </p:sp>
      <p:sp>
        <p:nvSpPr>
          <p:cNvPr id="7" name="">
            <a:extLst xmlns:a="http://schemas.openxmlformats.org/drawingml/2006/main">
              <a:ext uri="{FF2B5EF4-FFF2-40B4-BE49-F238E27FC236}">
                <a16:creationId xmlns:a16="http://schemas.microsoft.com/office/drawing/2014/main" id="{7F925462-11E0-4A4D-8962-0CEE04FAC254}"/>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二つの行為を同一視しない</a:t>
            </a:r>
          </a:p>
        </p:txBody>
      </p:sp>
      <p:sp>
        <p:nvSpPr>
          <p:cNvPr id="8" name="">
            <a:extLst xmlns:a="http://schemas.openxmlformats.org/drawingml/2006/main">
              <a:ext uri="{FF2B5EF4-FFF2-40B4-BE49-F238E27FC236}">
                <a16:creationId xmlns:a16="http://schemas.microsoft.com/office/drawing/2014/main" id="{9EF56C90-8D29-44EA-8B20-4285A3EFBD53}"/>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出典：[3] [4]　末尾の参照資料へ</a:t>
            </a:r>
          </a:p>
        </p:txBody>
      </p:sp>
    </p:spTree>
    <p:extLst>
      <p:ext uri="{BB962C8B-B14F-4D97-AF65-F5344CB8AC3E}">
        <p14:creationId xmlns:p14="http://schemas.microsoft.com/office/powerpoint/2010/main" val="29513580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A43C1E-D22F-4ADB-A17E-2E4E9BA16E4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伊勢神宮の森林と用材</a:t>
            </a:r>
          </a:p>
        </p:txBody>
      </p:sp>
      <p:sp>
        <p:nvSpPr>
          <p:cNvPr id="2" name="">
            <a:extLst xmlns:a="http://schemas.openxmlformats.org/drawingml/2006/main">
              <a:ext uri="{FF2B5EF4-FFF2-40B4-BE49-F238E27FC236}">
                <a16:creationId xmlns:a16="http://schemas.microsoft.com/office/drawing/2014/main" id="{68F47256-E2BD-4A67-922E-36955331C00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20CBAD-ADA5-433E-A131-0C2703624E2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BCBF040E-88F3-4465-A544-C937587B63E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10E8FA4B-11BC-4EB3-AA9D-E67939135F85}"/>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森林経営計画と長い育成期間</a:t>
            </a:r>
          </a:p>
        </p:txBody>
      </p:sp>
      <p:sp>
        <p:nvSpPr>
          <p:cNvPr id="6" name="">
            <a:extLst xmlns:a="http://schemas.openxmlformats.org/drawingml/2006/main">
              <a:ext uri="{FF2B5EF4-FFF2-40B4-BE49-F238E27FC236}">
                <a16:creationId xmlns:a16="http://schemas.microsoft.com/office/drawing/2014/main" id="{085F8D63-5CD4-42F7-BE09-87C39C4106BF}"/>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用材調達先の変遷</a:t>
            </a:r>
          </a:p>
        </p:txBody>
      </p:sp>
      <p:sp>
        <p:nvSpPr>
          <p:cNvPr id="7" name="">
            <a:extLst xmlns:a="http://schemas.openxmlformats.org/drawingml/2006/main">
              <a:ext uri="{FF2B5EF4-FFF2-40B4-BE49-F238E27FC236}">
                <a16:creationId xmlns:a16="http://schemas.microsoft.com/office/drawing/2014/main" id="{8A9E8732-1737-4DD0-A12F-D011F43AB0D6}"/>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全てが自給されるという図にしない</a:t>
            </a:r>
          </a:p>
        </p:txBody>
      </p:sp>
      <p:sp>
        <p:nvSpPr>
          <p:cNvPr id="8" name="">
            <a:extLst xmlns:a="http://schemas.openxmlformats.org/drawingml/2006/main">
              <a:ext uri="{FF2B5EF4-FFF2-40B4-BE49-F238E27FC236}">
                <a16:creationId xmlns:a16="http://schemas.microsoft.com/office/drawing/2014/main" id="{74168CA7-C9CC-425E-BF93-C26C408CB561}"/>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出典：[3]　末尾の参照資料へ</a:t>
            </a:r>
          </a:p>
        </p:txBody>
      </p:sp>
    </p:spTree>
    <p:extLst>
      <p:ext uri="{BB962C8B-B14F-4D97-AF65-F5344CB8AC3E}">
        <p14:creationId xmlns:p14="http://schemas.microsoft.com/office/powerpoint/2010/main" val="6524928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0365093-B480-425D-A15B-687C57CB9F6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森林と建物では時間の尺度が違う</a:t>
            </a:r>
          </a:p>
        </p:txBody>
      </p:sp>
      <p:sp>
        <p:nvSpPr>
          <p:cNvPr id="2" name="">
            <a:extLst xmlns:a="http://schemas.openxmlformats.org/drawingml/2006/main">
              <a:ext uri="{FF2B5EF4-FFF2-40B4-BE49-F238E27FC236}">
                <a16:creationId xmlns:a16="http://schemas.microsoft.com/office/drawing/2014/main" id="{7BEBAA56-28E9-44EC-B44E-3DFAFBF8838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9FCADA-8A72-4D15-80E6-31176C8703F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DC4B6353-469F-4FC3-865B-CEEC0BCEF1D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0B5D4D7B-BF28-4781-AF5E-CDA08EB18871}"/>
              </a:ext>
            </a:extLst>
          </p:cNvPr>
          <p:cNvSpPr>
            <a:spLocks xmlns:a="http://schemas.openxmlformats.org/drawingml/2006/main" noGrp="1"/>
          </p:cNvSpPr>
          <p:nvPr/>
        </p:nvSpPr>
        <p:spPr>
          <a:xfrm xmlns:a="http://schemas.openxmlformats.org/drawingml/2006/main">
            <a:off x="838200" y="1857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森林の育成・用材の確保</a:t>
            </a:r>
          </a:p>
        </p:txBody>
      </p:sp>
      <p:sp>
        <p:nvSpPr>
          <p:cNvPr id="6" name="">
            <a:extLst xmlns:a="http://schemas.openxmlformats.org/drawingml/2006/main">
              <a:ext uri="{FF2B5EF4-FFF2-40B4-BE49-F238E27FC236}">
                <a16:creationId xmlns:a16="http://schemas.microsoft.com/office/drawing/2014/main" id="{3C9940C2-8E25-481E-B2AC-3C0B11ED7A46}"/>
              </a:ext>
            </a:extLst>
          </p:cNvPr>
          <p:cNvSpPr>
            <a:spLocks xmlns:a="http://schemas.openxmlformats.org/drawingml/2006/main" noGrp="1"/>
          </p:cNvSpPr>
          <p:nvPr/>
        </p:nvSpPr>
        <p:spPr>
          <a:xfrm xmlns:a="http://schemas.openxmlformats.org/drawingml/2006/main">
            <a:off x="857250" y="2857500"/>
            <a:ext cx="10096500" cy="9525"/>
          </a:xfrm>
          <a:custGeom xmlns:a="http://schemas.openxmlformats.org/drawingml/2006/main">
            <a:pathLst>
              <a:path w="10096500" h="9525">
                <a:moveTo>
                  <a:pt x="0" y="0"/>
                </a:moveTo>
                <a:lnTo>
                  <a:pt x="10096500" y="0"/>
                </a:lnTo>
              </a:path>
            </a:pathLst>
          </a:custGeom>
          <a:noFill xmlns:a="http://schemas.openxmlformats.org/drawingml/2006/main"/>
          <a:ln xmlns:a="http://schemas.openxmlformats.org/drawingml/2006/main" w="47625">
            <a:solidFill>
              <a:srgbClr val="087E8B"/>
            </a:solidFill>
          </a:ln>
        </p:spPr>
      </p:sp>
      <p:sp>
        <p:nvSpPr>
          <p:cNvPr id="7" name="">
            <a:extLst xmlns:a="http://schemas.openxmlformats.org/drawingml/2006/main">
              <a:ext uri="{FF2B5EF4-FFF2-40B4-BE49-F238E27FC236}">
                <a16:creationId xmlns:a16="http://schemas.microsoft.com/office/drawing/2014/main" id="{39051F77-107D-4902-8918-D1995D8E81EF}"/>
              </a:ext>
            </a:extLst>
          </p:cNvPr>
          <p:cNvSpPr>
            <a:spLocks xmlns:a="http://schemas.openxmlformats.org/drawingml/2006/main" noGrp="1"/>
          </p:cNvSpPr>
          <p:nvPr/>
        </p:nvSpPr>
        <p:spPr>
          <a:xfrm xmlns:a="http://schemas.openxmlformats.org/drawingml/2006/main">
            <a:off x="10803288" y="2857500"/>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087E8B"/>
            </a:solidFill>
          </a:ln>
        </p:spPr>
      </p:sp>
      <p:sp>
        <p:nvSpPr>
          <p:cNvPr id="8" name="">
            <a:extLst xmlns:a="http://schemas.openxmlformats.org/drawingml/2006/main">
              <a:ext uri="{FF2B5EF4-FFF2-40B4-BE49-F238E27FC236}">
                <a16:creationId xmlns:a16="http://schemas.microsoft.com/office/drawing/2014/main" id="{95BC3B47-C307-4733-9872-34880E8DFD05}"/>
              </a:ext>
            </a:extLst>
          </p:cNvPr>
          <p:cNvSpPr>
            <a:spLocks xmlns:a="http://schemas.openxmlformats.org/drawingml/2006/main" noGrp="1"/>
          </p:cNvSpPr>
          <p:nvPr/>
        </p:nvSpPr>
        <p:spPr>
          <a:xfrm xmlns:a="http://schemas.openxmlformats.org/drawingml/2006/main">
            <a:off x="10803288" y="2775302"/>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087E8B"/>
            </a:solidFill>
          </a:ln>
        </p:spPr>
      </p:sp>
      <p:sp>
        <p:nvSpPr>
          <p:cNvPr id="9" name="">
            <a:extLst xmlns:a="http://schemas.openxmlformats.org/drawingml/2006/main">
              <a:ext uri="{FF2B5EF4-FFF2-40B4-BE49-F238E27FC236}">
                <a16:creationId xmlns:a16="http://schemas.microsoft.com/office/drawing/2014/main" id="{F7DA3354-402F-468C-B1AF-4F61037F0B36}"/>
              </a:ext>
            </a:extLst>
          </p:cNvPr>
          <p:cNvSpPr>
            <a:spLocks xmlns:a="http://schemas.openxmlformats.org/drawingml/2006/main" noGrp="1"/>
          </p:cNvSpPr>
          <p:nvPr/>
        </p:nvSpPr>
        <p:spPr>
          <a:xfrm xmlns:a="http://schemas.openxmlformats.org/drawingml/2006/main">
            <a:off x="838200" y="36195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建物の点検・修理・更新</a:t>
            </a:r>
          </a:p>
        </p:txBody>
      </p:sp>
      <p:sp>
        <p:nvSpPr>
          <p:cNvPr id="10" name="">
            <a:extLst xmlns:a="http://schemas.openxmlformats.org/drawingml/2006/main">
              <a:ext uri="{FF2B5EF4-FFF2-40B4-BE49-F238E27FC236}">
                <a16:creationId xmlns:a16="http://schemas.microsoft.com/office/drawing/2014/main" id="{CF5F35D7-3E0A-4AF2-8982-E16EF9AB1FB5}"/>
              </a:ext>
            </a:extLst>
          </p:cNvPr>
          <p:cNvSpPr>
            <a:spLocks xmlns:a="http://schemas.openxmlformats.org/drawingml/2006/main" noGrp="1"/>
          </p:cNvSpPr>
          <p:nvPr/>
        </p:nvSpPr>
        <p:spPr>
          <a:xfrm xmlns:a="http://schemas.openxmlformats.org/drawingml/2006/main">
            <a:off x="952500" y="4572000"/>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092D693A-9736-4991-8C49-B3973371CFBA}"/>
              </a:ext>
            </a:extLst>
          </p:cNvPr>
          <p:cNvSpPr>
            <a:spLocks xmlns:a="http://schemas.openxmlformats.org/drawingml/2006/main" noGrp="1"/>
          </p:cNvSpPr>
          <p:nvPr/>
        </p:nvSpPr>
        <p:spPr>
          <a:xfrm xmlns:a="http://schemas.openxmlformats.org/drawingml/2006/main">
            <a:off x="2516538" y="4572000"/>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983A3CC9-4268-4B6C-902E-F4A8A2618524}"/>
              </a:ext>
            </a:extLst>
          </p:cNvPr>
          <p:cNvSpPr>
            <a:spLocks xmlns:a="http://schemas.openxmlformats.org/drawingml/2006/main" noGrp="1"/>
          </p:cNvSpPr>
          <p:nvPr/>
        </p:nvSpPr>
        <p:spPr>
          <a:xfrm xmlns:a="http://schemas.openxmlformats.org/drawingml/2006/main">
            <a:off x="2516538" y="4489802"/>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F56BF63A-178E-4BAD-AFC3-4AFF48FF3041}"/>
              </a:ext>
            </a:extLst>
          </p:cNvPr>
          <p:cNvSpPr>
            <a:spLocks xmlns:a="http://schemas.openxmlformats.org/drawingml/2006/main" noGrp="1"/>
          </p:cNvSpPr>
          <p:nvPr/>
        </p:nvSpPr>
        <p:spPr>
          <a:xfrm xmlns:a="http://schemas.openxmlformats.org/drawingml/2006/main">
            <a:off x="3238500" y="4572000"/>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13C8E496-32F4-423D-B6D5-40D231A0743B}"/>
              </a:ext>
            </a:extLst>
          </p:cNvPr>
          <p:cNvSpPr>
            <a:spLocks xmlns:a="http://schemas.openxmlformats.org/drawingml/2006/main" noGrp="1"/>
          </p:cNvSpPr>
          <p:nvPr/>
        </p:nvSpPr>
        <p:spPr>
          <a:xfrm xmlns:a="http://schemas.openxmlformats.org/drawingml/2006/main">
            <a:off x="4802538" y="4572000"/>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3B79E9C5-DEBE-4846-A67C-E8FAA028BB4B}"/>
              </a:ext>
            </a:extLst>
          </p:cNvPr>
          <p:cNvSpPr>
            <a:spLocks xmlns:a="http://schemas.openxmlformats.org/drawingml/2006/main" noGrp="1"/>
          </p:cNvSpPr>
          <p:nvPr/>
        </p:nvSpPr>
        <p:spPr>
          <a:xfrm xmlns:a="http://schemas.openxmlformats.org/drawingml/2006/main">
            <a:off x="4802538" y="4489802"/>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CFDC88D3-BD6C-4EF8-BFAC-F305CE7D9424}"/>
              </a:ext>
            </a:extLst>
          </p:cNvPr>
          <p:cNvSpPr>
            <a:spLocks xmlns:a="http://schemas.openxmlformats.org/drawingml/2006/main" noGrp="1"/>
          </p:cNvSpPr>
          <p:nvPr/>
        </p:nvSpPr>
        <p:spPr>
          <a:xfrm xmlns:a="http://schemas.openxmlformats.org/drawingml/2006/main">
            <a:off x="5524500" y="4572000"/>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69157833-75BA-4FDB-826E-F2C25E06AEC9}"/>
              </a:ext>
            </a:extLst>
          </p:cNvPr>
          <p:cNvSpPr>
            <a:spLocks xmlns:a="http://schemas.openxmlformats.org/drawingml/2006/main" noGrp="1"/>
          </p:cNvSpPr>
          <p:nvPr/>
        </p:nvSpPr>
        <p:spPr>
          <a:xfrm xmlns:a="http://schemas.openxmlformats.org/drawingml/2006/main">
            <a:off x="7088538" y="4572000"/>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34D1CF92-F912-4280-A2A2-D39BC9A49DC3}"/>
              </a:ext>
            </a:extLst>
          </p:cNvPr>
          <p:cNvSpPr>
            <a:spLocks xmlns:a="http://schemas.openxmlformats.org/drawingml/2006/main" noGrp="1"/>
          </p:cNvSpPr>
          <p:nvPr/>
        </p:nvSpPr>
        <p:spPr>
          <a:xfrm xmlns:a="http://schemas.openxmlformats.org/drawingml/2006/main">
            <a:off x="7088538" y="4489802"/>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A810789A-47E0-4E83-9FE0-FCA2347A07E4}"/>
              </a:ext>
            </a:extLst>
          </p:cNvPr>
          <p:cNvSpPr>
            <a:spLocks xmlns:a="http://schemas.openxmlformats.org/drawingml/2006/main" noGrp="1"/>
          </p:cNvSpPr>
          <p:nvPr/>
        </p:nvSpPr>
        <p:spPr>
          <a:xfrm xmlns:a="http://schemas.openxmlformats.org/drawingml/2006/main">
            <a:off x="7810500" y="4572000"/>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50371A19-AAC8-4064-84FF-5BA23906ED35}"/>
              </a:ext>
            </a:extLst>
          </p:cNvPr>
          <p:cNvSpPr>
            <a:spLocks xmlns:a="http://schemas.openxmlformats.org/drawingml/2006/main" noGrp="1"/>
          </p:cNvSpPr>
          <p:nvPr/>
        </p:nvSpPr>
        <p:spPr>
          <a:xfrm xmlns:a="http://schemas.openxmlformats.org/drawingml/2006/main">
            <a:off x="9374538" y="4572000"/>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CD6A52A0-5798-4E80-A149-B0E806539292}"/>
              </a:ext>
            </a:extLst>
          </p:cNvPr>
          <p:cNvSpPr>
            <a:spLocks xmlns:a="http://schemas.openxmlformats.org/drawingml/2006/main" noGrp="1"/>
          </p:cNvSpPr>
          <p:nvPr/>
        </p:nvSpPr>
        <p:spPr>
          <a:xfrm xmlns:a="http://schemas.openxmlformats.org/drawingml/2006/main">
            <a:off x="9374538" y="4489802"/>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2876A8"/>
            </a:solidFill>
          </a:ln>
        </p:spPr>
      </p:sp>
      <p:sp>
        <p:nvSpPr>
          <p:cNvPr id="22" name="">
            <a:extLst xmlns:a="http://schemas.openxmlformats.org/drawingml/2006/main">
              <a:ext uri="{FF2B5EF4-FFF2-40B4-BE49-F238E27FC236}">
                <a16:creationId xmlns:a16="http://schemas.microsoft.com/office/drawing/2014/main" id="{2FC09F5D-C12E-4246-BEBC-6A49BF7892BB}"/>
              </a:ext>
            </a:extLst>
          </p:cNvPr>
          <p:cNvSpPr>
            <a:spLocks xmlns:a="http://schemas.openxmlformats.org/drawingml/2006/main" noGrp="1"/>
          </p:cNvSpPr>
          <p:nvPr/>
        </p:nvSpPr>
        <p:spPr>
          <a:xfrm xmlns:a="http://schemas.openxmlformats.org/drawingml/2006/main">
            <a:off x="10096500" y="4572000"/>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47625">
            <a:solidFill>
              <a:srgbClr val="2876A8"/>
            </a:solidFill>
          </a:ln>
        </p:spPr>
      </p:sp>
      <p:sp>
        <p:nvSpPr>
          <p:cNvPr id="23" name="">
            <a:extLst xmlns:a="http://schemas.openxmlformats.org/drawingml/2006/main">
              <a:ext uri="{FF2B5EF4-FFF2-40B4-BE49-F238E27FC236}">
                <a16:creationId xmlns:a16="http://schemas.microsoft.com/office/drawing/2014/main" id="{FEEA9562-75C5-4A58-8420-C8003933CA17}"/>
              </a:ext>
            </a:extLst>
          </p:cNvPr>
          <p:cNvSpPr>
            <a:spLocks xmlns:a="http://schemas.openxmlformats.org/drawingml/2006/main" noGrp="1"/>
          </p:cNvSpPr>
          <p:nvPr/>
        </p:nvSpPr>
        <p:spPr>
          <a:xfrm xmlns:a="http://schemas.openxmlformats.org/drawingml/2006/main">
            <a:off x="11660538" y="4572000"/>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2876A8"/>
            </a:solidFill>
          </a:ln>
        </p:spPr>
      </p:sp>
      <p:sp>
        <p:nvSpPr>
          <p:cNvPr id="24" name="">
            <a:extLst xmlns:a="http://schemas.openxmlformats.org/drawingml/2006/main">
              <a:ext uri="{FF2B5EF4-FFF2-40B4-BE49-F238E27FC236}">
                <a16:creationId xmlns:a16="http://schemas.microsoft.com/office/drawing/2014/main" id="{81D8EACC-AEAA-4D00-9803-B95A3EE6E69E}"/>
              </a:ext>
            </a:extLst>
          </p:cNvPr>
          <p:cNvSpPr>
            <a:spLocks xmlns:a="http://schemas.openxmlformats.org/drawingml/2006/main" noGrp="1"/>
          </p:cNvSpPr>
          <p:nvPr/>
        </p:nvSpPr>
        <p:spPr>
          <a:xfrm xmlns:a="http://schemas.openxmlformats.org/drawingml/2006/main">
            <a:off x="11660538" y="4489802"/>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2876A8"/>
            </a:solidFill>
          </a:ln>
        </p:spPr>
      </p:sp>
      <p:sp>
        <p:nvSpPr>
          <p:cNvPr id="25" name="">
            <a:extLst xmlns:a="http://schemas.openxmlformats.org/drawingml/2006/main">
              <a:ext uri="{FF2B5EF4-FFF2-40B4-BE49-F238E27FC236}">
                <a16:creationId xmlns:a16="http://schemas.microsoft.com/office/drawing/2014/main" id="{22BD6B6D-6985-44D7-B684-6310EA96E8CB}"/>
              </a:ext>
            </a:extLst>
          </p:cNvPr>
          <p:cNvSpPr>
            <a:spLocks xmlns:a="http://schemas.openxmlformats.org/drawingml/2006/main" noGrp="1"/>
          </p:cNvSpPr>
          <p:nvPr/>
        </p:nvSpPr>
        <p:spPr>
          <a:xfrm xmlns:a="http://schemas.openxmlformats.org/drawingml/2006/main">
            <a:off x="838200" y="5476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defRPr sz="1725" b="0">
                <a:solidFill>
                  <a:srgbClr val="596875"/>
                </a:solidFill>
                <a:latin typeface="Yu Gothic"/>
                <a:ea typeface="Yu Gothic"/>
                <a:cs typeface="Yu Gothic"/>
              </a:defRPr>
            </a:lvl1pPr>
            <a:lvl2pPr>
              <a:defRPr sz="1725" b="0">
                <a:solidFill>
                  <a:srgbClr val="596875"/>
                </a:solidFill>
                <a:latin typeface="Yu Gothic"/>
                <a:ea typeface="Yu Gothic"/>
                <a:cs typeface="Yu Gothic"/>
              </a:defRPr>
            </a:lvl2pPr>
            <a:lvl3pPr>
              <a:defRPr sz="1725" b="0">
                <a:solidFill>
                  <a:srgbClr val="596875"/>
                </a:solidFill>
                <a:latin typeface="Yu Gothic"/>
                <a:ea typeface="Yu Gothic"/>
                <a:cs typeface="Yu Gothic"/>
              </a:defRPr>
            </a:lvl3pPr>
            <a:lvl4pPr>
              <a:defRPr sz="1725" b="0">
                <a:solidFill>
                  <a:srgbClr val="596875"/>
                </a:solidFill>
                <a:latin typeface="Yu Gothic"/>
                <a:ea typeface="Yu Gothic"/>
                <a:cs typeface="Yu Gothic"/>
              </a:defRPr>
            </a:lvl4pPr>
            <a:lvl5pPr>
              <a:defRPr sz="1725" b="0">
                <a:solidFill>
                  <a:srgbClr val="596875"/>
                </a:solidFill>
                <a:latin typeface="Yu Gothic"/>
                <a:ea typeface="Yu Gothic"/>
                <a:cs typeface="Yu Gothic"/>
              </a:defRPr>
            </a:lvl5pPr>
            <a:lvl6pPr>
              <a:defRPr sz="1725" b="0">
                <a:solidFill>
                  <a:srgbClr val="596875"/>
                </a:solidFill>
                <a:latin typeface="Yu Gothic"/>
                <a:ea typeface="Yu Gothic"/>
                <a:cs typeface="Yu Gothic"/>
              </a:defRPr>
            </a:lvl6pPr>
            <a:lvl7pPr>
              <a:defRPr sz="1725" b="0">
                <a:solidFill>
                  <a:srgbClr val="596875"/>
                </a:solidFill>
                <a:latin typeface="Yu Gothic"/>
                <a:ea typeface="Yu Gothic"/>
                <a:cs typeface="Yu Gothic"/>
              </a:defRPr>
            </a:lvl7pPr>
            <a:lvl8pPr>
              <a:defRPr sz="1725" b="0">
                <a:solidFill>
                  <a:srgbClr val="596875"/>
                </a:solidFill>
                <a:latin typeface="Yu Gothic"/>
                <a:ea typeface="Yu Gothic"/>
                <a:cs typeface="Yu Gothic"/>
              </a:defRPr>
            </a:lvl8pPr>
            <a:lvl9pPr>
              <a:defRPr sz="1725" b="0">
                <a:solidFill>
                  <a:srgbClr val="596875"/>
                </a:solidFill>
                <a:latin typeface="Yu Gothic"/>
                <a:ea typeface="Yu Gothic"/>
                <a:cs typeface="Yu Gothic"/>
              </a:defRPr>
            </a:lvl9pPr>
          </a:lstStyle>
          <a:p xmlns:a="http://schemas.openxmlformats.org/drawingml/2006/main">
            <a:pPr>
              <a:defRPr sz="1725" b="0">
                <a:solidFill>
                  <a:srgbClr val="596875"/>
                </a:solidFill>
                <a:latin typeface="Yu Gothic"/>
                <a:ea typeface="Yu Gothic"/>
                <a:cs typeface="Yu Gothic"/>
              </a:defRPr>
            </a:pPr>
            <a:r>
              <a:rPr sz="1725" b="0">
                <a:solidFill>
                  <a:srgbClr val="596875"/>
                </a:solidFill>
                <a:latin typeface="Yu Gothic"/>
                <a:ea typeface="Yu Gothic"/>
                <a:cs typeface="Yu Gothic"/>
              </a:rPr>
              <a:t>異なる時間尺度を持つ概念図。数量や期間の実測ではない。</a:t>
            </a:r>
          </a:p>
        </p:txBody>
      </p:sp>
    </p:spTree>
    <p:extLst>
      <p:ext uri="{BB962C8B-B14F-4D97-AF65-F5344CB8AC3E}">
        <p14:creationId xmlns:p14="http://schemas.microsoft.com/office/powerpoint/2010/main" val="141084743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593EB6-C89C-45AE-B932-D5030130619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木の文化を支える森</a:t>
            </a:r>
          </a:p>
        </p:txBody>
      </p:sp>
      <p:sp>
        <p:nvSpPr>
          <p:cNvPr id="2" name="">
            <a:extLst xmlns:a="http://schemas.openxmlformats.org/drawingml/2006/main">
              <a:ext uri="{FF2B5EF4-FFF2-40B4-BE49-F238E27FC236}">
                <a16:creationId xmlns:a16="http://schemas.microsoft.com/office/drawing/2014/main" id="{AEAAFB3B-0512-4EB3-BDAA-47F0FB467B8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CA3DDB-527D-4484-8122-217398F8594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357E1341-4D3A-4AAF-8F08-E41A3D52A55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3909D615-8066-4101-B1B6-40DC65A5548D}"/>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文化に必要な材を将来へつなぐ</a:t>
            </a:r>
          </a:p>
        </p:txBody>
      </p:sp>
      <p:sp>
        <p:nvSpPr>
          <p:cNvPr id="6" name="">
            <a:extLst xmlns:a="http://schemas.openxmlformats.org/drawingml/2006/main">
              <a:ext uri="{FF2B5EF4-FFF2-40B4-BE49-F238E27FC236}">
                <a16:creationId xmlns:a16="http://schemas.microsoft.com/office/drawing/2014/main" id="{6057CFA2-C576-499D-85B7-99C1F8A184C1}"/>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管理する森林と利用する側の関係</a:t>
            </a:r>
          </a:p>
        </p:txBody>
      </p:sp>
      <p:sp>
        <p:nvSpPr>
          <p:cNvPr id="7" name="">
            <a:extLst xmlns:a="http://schemas.openxmlformats.org/drawingml/2006/main">
              <a:ext uri="{FF2B5EF4-FFF2-40B4-BE49-F238E27FC236}">
                <a16:creationId xmlns:a16="http://schemas.microsoft.com/office/drawing/2014/main" id="{3D2C88F3-D751-4BC3-9CF8-874B4742F298}"/>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維持する技術と供給の仕組み</a:t>
            </a:r>
          </a:p>
        </p:txBody>
      </p:sp>
      <p:sp>
        <p:nvSpPr>
          <p:cNvPr id="8" name="">
            <a:extLst xmlns:a="http://schemas.openxmlformats.org/drawingml/2006/main">
              <a:ext uri="{FF2B5EF4-FFF2-40B4-BE49-F238E27FC236}">
                <a16:creationId xmlns:a16="http://schemas.microsoft.com/office/drawing/2014/main" id="{9911F028-96DB-4E8E-9557-2FBC6561745E}"/>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出典：[2]　末尾の参照資料へ</a:t>
            </a:r>
          </a:p>
        </p:txBody>
      </p:sp>
    </p:spTree>
    <p:extLst>
      <p:ext uri="{BB962C8B-B14F-4D97-AF65-F5344CB8AC3E}">
        <p14:creationId xmlns:p14="http://schemas.microsoft.com/office/powerpoint/2010/main" val="87948302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79DC7DF-B9C4-42A0-92D1-12218E53E3F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森林の外にも残る炭素</a:t>
            </a:r>
          </a:p>
        </p:txBody>
      </p:sp>
      <p:sp>
        <p:nvSpPr>
          <p:cNvPr id="2" name="">
            <a:extLst xmlns:a="http://schemas.openxmlformats.org/drawingml/2006/main">
              <a:ext uri="{FF2B5EF4-FFF2-40B4-BE49-F238E27FC236}">
                <a16:creationId xmlns:a16="http://schemas.microsoft.com/office/drawing/2014/main" id="{B0B505AC-32A5-4342-9269-6419D144702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BA48890-B95B-48EA-9CEA-5D7D0254D15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801BF9CF-2342-484D-93F0-CA3682F9F72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BC192A56-E516-409F-BEA4-298A233A62E8}"/>
              </a:ext>
            </a:extLst>
          </p:cNvPr>
          <p:cNvSpPr>
            <a:spLocks xmlns:a="http://schemas.openxmlformats.org/drawingml/2006/main" noGrp="1"/>
          </p:cNvSpPr>
          <p:nvPr/>
        </p:nvSpPr>
        <p:spPr>
          <a:xfrm xmlns:a="http://schemas.openxmlformats.org/drawingml/2006/main">
            <a:off x="857250" y="1905000"/>
            <a:ext cx="3048000" cy="1047750"/>
          </a:xfrm>
          <a:prstGeom xmlns:a="http://schemas.openxmlformats.org/drawingml/2006/main" prst="rect">
            <a:avLst/>
          </a:prstGeom>
          <a:solidFill xmlns:a="http://schemas.openxmlformats.org/drawingml/2006/main">
            <a:srgbClr val="EDF3F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93A37BF-ACE3-4C2C-8A6D-9733A8D1BCDB}"/>
              </a:ext>
            </a:extLst>
          </p:cNvPr>
          <p:cNvSpPr>
            <a:spLocks xmlns:a="http://schemas.openxmlformats.org/drawingml/2006/main" noGrp="1"/>
          </p:cNvSpPr>
          <p:nvPr/>
        </p:nvSpPr>
        <p:spPr>
          <a:xfrm xmlns:a="http://schemas.openxmlformats.org/drawingml/2006/main">
            <a:off x="1000125" y="214312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876A8"/>
                </a:solidFill>
                <a:latin typeface="Yu Gothic"/>
                <a:ea typeface="Yu Gothic"/>
                <a:cs typeface="Yu Gothic"/>
              </a:defRPr>
            </a:defPPr>
            <a:lvl1pPr>
              <a:defRPr sz="2175" b="0">
                <a:solidFill>
                  <a:srgbClr val="2876A8"/>
                </a:solidFill>
                <a:latin typeface="Yu Gothic"/>
                <a:ea typeface="Yu Gothic"/>
                <a:cs typeface="Yu Gothic"/>
              </a:defRPr>
            </a:lvl1pPr>
            <a:lvl2pPr>
              <a:defRPr sz="2175" b="0">
                <a:solidFill>
                  <a:srgbClr val="2876A8"/>
                </a:solidFill>
                <a:latin typeface="Yu Gothic"/>
                <a:ea typeface="Yu Gothic"/>
                <a:cs typeface="Yu Gothic"/>
              </a:defRPr>
            </a:lvl2pPr>
            <a:lvl3pPr>
              <a:defRPr sz="2175" b="0">
                <a:solidFill>
                  <a:srgbClr val="2876A8"/>
                </a:solidFill>
                <a:latin typeface="Yu Gothic"/>
                <a:ea typeface="Yu Gothic"/>
                <a:cs typeface="Yu Gothic"/>
              </a:defRPr>
            </a:lvl3pPr>
            <a:lvl4pPr>
              <a:defRPr sz="2175" b="0">
                <a:solidFill>
                  <a:srgbClr val="2876A8"/>
                </a:solidFill>
                <a:latin typeface="Yu Gothic"/>
                <a:ea typeface="Yu Gothic"/>
                <a:cs typeface="Yu Gothic"/>
              </a:defRPr>
            </a:lvl4pPr>
            <a:lvl5pPr>
              <a:defRPr sz="2175" b="0">
                <a:solidFill>
                  <a:srgbClr val="2876A8"/>
                </a:solidFill>
                <a:latin typeface="Yu Gothic"/>
                <a:ea typeface="Yu Gothic"/>
                <a:cs typeface="Yu Gothic"/>
              </a:defRPr>
            </a:lvl5pPr>
            <a:lvl6pPr>
              <a:defRPr sz="2175" b="0">
                <a:solidFill>
                  <a:srgbClr val="2876A8"/>
                </a:solidFill>
                <a:latin typeface="Yu Gothic"/>
                <a:ea typeface="Yu Gothic"/>
                <a:cs typeface="Yu Gothic"/>
              </a:defRPr>
            </a:lvl6pPr>
            <a:lvl7pPr>
              <a:defRPr sz="2175" b="0">
                <a:solidFill>
                  <a:srgbClr val="2876A8"/>
                </a:solidFill>
                <a:latin typeface="Yu Gothic"/>
                <a:ea typeface="Yu Gothic"/>
                <a:cs typeface="Yu Gothic"/>
              </a:defRPr>
            </a:lvl7pPr>
            <a:lvl8pPr>
              <a:defRPr sz="2175" b="0">
                <a:solidFill>
                  <a:srgbClr val="2876A8"/>
                </a:solidFill>
                <a:latin typeface="Yu Gothic"/>
                <a:ea typeface="Yu Gothic"/>
                <a:cs typeface="Yu Gothic"/>
              </a:defRPr>
            </a:lvl8pPr>
            <a:lvl9pPr>
              <a:defRPr sz="2175" b="0">
                <a:solidFill>
                  <a:srgbClr val="2876A8"/>
                </a:solidFill>
                <a:latin typeface="Yu Gothic"/>
                <a:ea typeface="Yu Gothic"/>
                <a:cs typeface="Yu Gothic"/>
              </a:defRPr>
            </a:lvl9pPr>
          </a:lstStyle>
          <a:p xmlns:a="http://schemas.openxmlformats.org/drawingml/2006/main">
            <a:pPr>
              <a:defRPr sz="2175" b="0">
                <a:solidFill>
                  <a:srgbClr val="2876A8"/>
                </a:solidFill>
                <a:latin typeface="Yu Gothic"/>
                <a:ea typeface="Yu Gothic"/>
                <a:cs typeface="Yu Gothic"/>
              </a:defRPr>
            </a:pPr>
            <a:r>
              <a:rPr sz="2175" b="0">
                <a:solidFill>
                  <a:srgbClr val="2876A8"/>
                </a:solidFill>
                <a:latin typeface="Yu Gothic"/>
                <a:ea typeface="Yu Gothic"/>
                <a:cs typeface="Yu Gothic"/>
              </a:rPr>
              <a:t>大気のCO₂</a:t>
            </a:r>
          </a:p>
        </p:txBody>
      </p:sp>
      <p:sp>
        <p:nvSpPr>
          <p:cNvPr id="7" name="">
            <a:extLst xmlns:a="http://schemas.openxmlformats.org/drawingml/2006/main">
              <a:ext uri="{FF2B5EF4-FFF2-40B4-BE49-F238E27FC236}">
                <a16:creationId xmlns:a16="http://schemas.microsoft.com/office/drawing/2014/main" id="{DD41A840-FB28-43E6-B014-5E591F5EE3B3}"/>
              </a:ext>
            </a:extLst>
          </p:cNvPr>
          <p:cNvSpPr>
            <a:spLocks xmlns:a="http://schemas.openxmlformats.org/drawingml/2006/main" noGrp="1"/>
          </p:cNvSpPr>
          <p:nvPr/>
        </p:nvSpPr>
        <p:spPr>
          <a:xfrm xmlns:a="http://schemas.openxmlformats.org/drawingml/2006/main">
            <a:off x="4572000" y="1905000"/>
            <a:ext cx="3048000" cy="1047750"/>
          </a:xfrm>
          <a:prstGeom xmlns:a="http://schemas.openxmlformats.org/drawingml/2006/main" prst="rect">
            <a:avLst/>
          </a:prstGeom>
          <a:solidFill xmlns:a="http://schemas.openxmlformats.org/drawingml/2006/main">
            <a:srgbClr val="EDF3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C0E2917-66ED-42A5-84D4-1839504BEC25}"/>
              </a:ext>
            </a:extLst>
          </p:cNvPr>
          <p:cNvSpPr>
            <a:spLocks xmlns:a="http://schemas.openxmlformats.org/drawingml/2006/main" noGrp="1"/>
          </p:cNvSpPr>
          <p:nvPr/>
        </p:nvSpPr>
        <p:spPr>
          <a:xfrm xmlns:a="http://schemas.openxmlformats.org/drawingml/2006/main">
            <a:off x="4714875" y="214312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087E8B"/>
                </a:solidFill>
                <a:latin typeface="Yu Gothic"/>
                <a:ea typeface="Yu Gothic"/>
                <a:cs typeface="Yu Gothic"/>
              </a:defRPr>
            </a:defPPr>
            <a:lvl1pPr>
              <a:defRPr sz="2175" b="0">
                <a:solidFill>
                  <a:srgbClr val="087E8B"/>
                </a:solidFill>
                <a:latin typeface="Yu Gothic"/>
                <a:ea typeface="Yu Gothic"/>
                <a:cs typeface="Yu Gothic"/>
              </a:defRPr>
            </a:lvl1pPr>
            <a:lvl2pPr>
              <a:defRPr sz="2175" b="0">
                <a:solidFill>
                  <a:srgbClr val="087E8B"/>
                </a:solidFill>
                <a:latin typeface="Yu Gothic"/>
                <a:ea typeface="Yu Gothic"/>
                <a:cs typeface="Yu Gothic"/>
              </a:defRPr>
            </a:lvl2pPr>
            <a:lvl3pPr>
              <a:defRPr sz="2175" b="0">
                <a:solidFill>
                  <a:srgbClr val="087E8B"/>
                </a:solidFill>
                <a:latin typeface="Yu Gothic"/>
                <a:ea typeface="Yu Gothic"/>
                <a:cs typeface="Yu Gothic"/>
              </a:defRPr>
            </a:lvl3pPr>
            <a:lvl4pPr>
              <a:defRPr sz="2175" b="0">
                <a:solidFill>
                  <a:srgbClr val="087E8B"/>
                </a:solidFill>
                <a:latin typeface="Yu Gothic"/>
                <a:ea typeface="Yu Gothic"/>
                <a:cs typeface="Yu Gothic"/>
              </a:defRPr>
            </a:lvl4pPr>
            <a:lvl5pPr>
              <a:defRPr sz="2175" b="0">
                <a:solidFill>
                  <a:srgbClr val="087E8B"/>
                </a:solidFill>
                <a:latin typeface="Yu Gothic"/>
                <a:ea typeface="Yu Gothic"/>
                <a:cs typeface="Yu Gothic"/>
              </a:defRPr>
            </a:lvl5pPr>
            <a:lvl6pPr>
              <a:defRPr sz="2175" b="0">
                <a:solidFill>
                  <a:srgbClr val="087E8B"/>
                </a:solidFill>
                <a:latin typeface="Yu Gothic"/>
                <a:ea typeface="Yu Gothic"/>
                <a:cs typeface="Yu Gothic"/>
              </a:defRPr>
            </a:lvl6pPr>
            <a:lvl7pPr>
              <a:defRPr sz="2175" b="0">
                <a:solidFill>
                  <a:srgbClr val="087E8B"/>
                </a:solidFill>
                <a:latin typeface="Yu Gothic"/>
                <a:ea typeface="Yu Gothic"/>
                <a:cs typeface="Yu Gothic"/>
              </a:defRPr>
            </a:lvl7pPr>
            <a:lvl8pPr>
              <a:defRPr sz="2175" b="0">
                <a:solidFill>
                  <a:srgbClr val="087E8B"/>
                </a:solidFill>
                <a:latin typeface="Yu Gothic"/>
                <a:ea typeface="Yu Gothic"/>
                <a:cs typeface="Yu Gothic"/>
              </a:defRPr>
            </a:lvl8pPr>
            <a:lvl9pPr>
              <a:defRPr sz="2175" b="0">
                <a:solidFill>
                  <a:srgbClr val="087E8B"/>
                </a:solidFill>
                <a:latin typeface="Yu Gothic"/>
                <a:ea typeface="Yu Gothic"/>
                <a:cs typeface="Yu Gothic"/>
              </a:defRPr>
            </a:lvl9pPr>
          </a:lstStyle>
          <a:p xmlns:a="http://schemas.openxmlformats.org/drawingml/2006/main">
            <a:pPr>
              <a:defRPr sz="2175" b="0">
                <a:solidFill>
                  <a:srgbClr val="087E8B"/>
                </a:solidFill>
                <a:latin typeface="Yu Gothic"/>
                <a:ea typeface="Yu Gothic"/>
                <a:cs typeface="Yu Gothic"/>
              </a:defRPr>
            </a:pPr>
            <a:r>
              <a:rPr sz="2175" b="0">
                <a:solidFill>
                  <a:srgbClr val="087E8B"/>
                </a:solidFill>
                <a:latin typeface="Yu Gothic"/>
                <a:ea typeface="Yu Gothic"/>
                <a:cs typeface="Yu Gothic"/>
              </a:rPr>
              <a:t>樹木の有機物</a:t>
            </a:r>
          </a:p>
        </p:txBody>
      </p:sp>
      <p:sp>
        <p:nvSpPr>
          <p:cNvPr id="9" name="">
            <a:extLst xmlns:a="http://schemas.openxmlformats.org/drawingml/2006/main">
              <a:ext uri="{FF2B5EF4-FFF2-40B4-BE49-F238E27FC236}">
                <a16:creationId xmlns:a16="http://schemas.microsoft.com/office/drawing/2014/main" id="{84E6F649-D7CC-4108-9A60-3465D71908C3}"/>
              </a:ext>
            </a:extLst>
          </p:cNvPr>
          <p:cNvSpPr>
            <a:spLocks xmlns:a="http://schemas.openxmlformats.org/drawingml/2006/main" noGrp="1"/>
          </p:cNvSpPr>
          <p:nvPr/>
        </p:nvSpPr>
        <p:spPr>
          <a:xfrm xmlns:a="http://schemas.openxmlformats.org/drawingml/2006/main">
            <a:off x="8096250" y="3714750"/>
            <a:ext cx="3048000" cy="1047750"/>
          </a:xfrm>
          <a:prstGeom xmlns:a="http://schemas.openxmlformats.org/drawingml/2006/main" prst="rect">
            <a:avLst/>
          </a:prstGeom>
          <a:solidFill xmlns:a="http://schemas.openxmlformats.org/drawingml/2006/main">
            <a:srgbClr val="EDF3F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51A5219-1357-4695-BA24-B308F59F5353}"/>
              </a:ext>
            </a:extLst>
          </p:cNvPr>
          <p:cNvSpPr>
            <a:spLocks xmlns:a="http://schemas.openxmlformats.org/drawingml/2006/main" noGrp="1"/>
          </p:cNvSpPr>
          <p:nvPr/>
        </p:nvSpPr>
        <p:spPr>
          <a:xfrm xmlns:a="http://schemas.openxmlformats.org/drawingml/2006/main">
            <a:off x="8239125" y="39528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18364F"/>
                </a:solidFill>
                <a:latin typeface="Yu Gothic"/>
                <a:ea typeface="Yu Gothic"/>
                <a:cs typeface="Yu Gothic"/>
              </a:defRPr>
            </a:defPPr>
            <a:lvl1pPr>
              <a:defRPr sz="2175" b="0">
                <a:solidFill>
                  <a:srgbClr val="18364F"/>
                </a:solidFill>
                <a:latin typeface="Yu Gothic"/>
                <a:ea typeface="Yu Gothic"/>
                <a:cs typeface="Yu Gothic"/>
              </a:defRPr>
            </a:lvl1pPr>
            <a:lvl2pPr>
              <a:defRPr sz="2175" b="0">
                <a:solidFill>
                  <a:srgbClr val="18364F"/>
                </a:solidFill>
                <a:latin typeface="Yu Gothic"/>
                <a:ea typeface="Yu Gothic"/>
                <a:cs typeface="Yu Gothic"/>
              </a:defRPr>
            </a:lvl2pPr>
            <a:lvl3pPr>
              <a:defRPr sz="2175" b="0">
                <a:solidFill>
                  <a:srgbClr val="18364F"/>
                </a:solidFill>
                <a:latin typeface="Yu Gothic"/>
                <a:ea typeface="Yu Gothic"/>
                <a:cs typeface="Yu Gothic"/>
              </a:defRPr>
            </a:lvl3pPr>
            <a:lvl4pPr>
              <a:defRPr sz="2175" b="0">
                <a:solidFill>
                  <a:srgbClr val="18364F"/>
                </a:solidFill>
                <a:latin typeface="Yu Gothic"/>
                <a:ea typeface="Yu Gothic"/>
                <a:cs typeface="Yu Gothic"/>
              </a:defRPr>
            </a:lvl4pPr>
            <a:lvl5pPr>
              <a:defRPr sz="2175" b="0">
                <a:solidFill>
                  <a:srgbClr val="18364F"/>
                </a:solidFill>
                <a:latin typeface="Yu Gothic"/>
                <a:ea typeface="Yu Gothic"/>
                <a:cs typeface="Yu Gothic"/>
              </a:defRPr>
            </a:lvl5pPr>
            <a:lvl6pPr>
              <a:defRPr sz="2175" b="0">
                <a:solidFill>
                  <a:srgbClr val="18364F"/>
                </a:solidFill>
                <a:latin typeface="Yu Gothic"/>
                <a:ea typeface="Yu Gothic"/>
                <a:cs typeface="Yu Gothic"/>
              </a:defRPr>
            </a:lvl6pPr>
            <a:lvl7pPr>
              <a:defRPr sz="2175" b="0">
                <a:solidFill>
                  <a:srgbClr val="18364F"/>
                </a:solidFill>
                <a:latin typeface="Yu Gothic"/>
                <a:ea typeface="Yu Gothic"/>
                <a:cs typeface="Yu Gothic"/>
              </a:defRPr>
            </a:lvl7pPr>
            <a:lvl8pPr>
              <a:defRPr sz="2175" b="0">
                <a:solidFill>
                  <a:srgbClr val="18364F"/>
                </a:solidFill>
                <a:latin typeface="Yu Gothic"/>
                <a:ea typeface="Yu Gothic"/>
                <a:cs typeface="Yu Gothic"/>
              </a:defRPr>
            </a:lvl8pPr>
            <a:lvl9pPr>
              <a:defRPr sz="2175" b="0">
                <a:solidFill>
                  <a:srgbClr val="18364F"/>
                </a:solidFill>
                <a:latin typeface="Yu Gothic"/>
                <a:ea typeface="Yu Gothic"/>
                <a:cs typeface="Yu Gothic"/>
              </a:defRPr>
            </a:lvl9pPr>
          </a:lstStyle>
          <a:p xmlns:a="http://schemas.openxmlformats.org/drawingml/2006/main">
            <a:pPr>
              <a:defRPr sz="2175" b="0">
                <a:solidFill>
                  <a:srgbClr val="18364F"/>
                </a:solidFill>
                <a:latin typeface="Yu Gothic"/>
                <a:ea typeface="Yu Gothic"/>
                <a:cs typeface="Yu Gothic"/>
              </a:defRPr>
            </a:pPr>
            <a:r>
              <a:rPr sz="2175" b="0">
                <a:solidFill>
                  <a:srgbClr val="18364F"/>
                </a:solidFill>
                <a:latin typeface="Yu Gothic"/>
                <a:ea typeface="Yu Gothic"/>
                <a:cs typeface="Yu Gothic"/>
              </a:rPr>
              <a:t>建築材の炭素</a:t>
            </a:r>
          </a:p>
        </p:txBody>
      </p:sp>
      <p:sp>
        <p:nvSpPr>
          <p:cNvPr id="11" name="">
            <a:extLst xmlns:a="http://schemas.openxmlformats.org/drawingml/2006/main">
              <a:ext uri="{FF2B5EF4-FFF2-40B4-BE49-F238E27FC236}">
                <a16:creationId xmlns:a16="http://schemas.microsoft.com/office/drawing/2014/main" id="{DD7D6775-28AD-42AD-AB2D-C4085BD5FD59}"/>
              </a:ext>
            </a:extLst>
          </p:cNvPr>
          <p:cNvSpPr>
            <a:spLocks xmlns:a="http://schemas.openxmlformats.org/drawingml/2006/main" noGrp="1"/>
          </p:cNvSpPr>
          <p:nvPr/>
        </p:nvSpPr>
        <p:spPr>
          <a:xfrm xmlns:a="http://schemas.openxmlformats.org/drawingml/2006/main">
            <a:off x="4000500" y="2428875"/>
            <a:ext cx="428625" cy="9525"/>
          </a:xfrm>
          <a:custGeom xmlns:a="http://schemas.openxmlformats.org/drawingml/2006/main">
            <a:pathLst>
              <a:path w="428625" h="9525">
                <a:moveTo>
                  <a:pt x="0" y="0"/>
                </a:moveTo>
                <a:lnTo>
                  <a:pt x="428625" y="0"/>
                </a:lnTo>
              </a:path>
            </a:pathLst>
          </a:custGeom>
          <a:noFill xmlns:a="http://schemas.openxmlformats.org/drawingml/2006/main"/>
          <a:ln xmlns:a="http://schemas.openxmlformats.org/drawingml/2006/main" w="47625">
            <a:solidFill>
              <a:srgbClr val="087E8B"/>
            </a:solidFill>
          </a:ln>
        </p:spPr>
      </p:sp>
      <p:sp>
        <p:nvSpPr>
          <p:cNvPr id="12" name="">
            <a:extLst xmlns:a="http://schemas.openxmlformats.org/drawingml/2006/main">
              <a:ext uri="{FF2B5EF4-FFF2-40B4-BE49-F238E27FC236}">
                <a16:creationId xmlns:a16="http://schemas.microsoft.com/office/drawing/2014/main" id="{4406BDC3-42B6-44EC-83B7-C5F146615EDF}"/>
              </a:ext>
            </a:extLst>
          </p:cNvPr>
          <p:cNvSpPr>
            <a:spLocks xmlns:a="http://schemas.openxmlformats.org/drawingml/2006/main" noGrp="1"/>
          </p:cNvSpPr>
          <p:nvPr/>
        </p:nvSpPr>
        <p:spPr>
          <a:xfrm xmlns:a="http://schemas.openxmlformats.org/drawingml/2006/main">
            <a:off x="4278663" y="2428875"/>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087E8B"/>
            </a:solidFill>
          </a:ln>
        </p:spPr>
      </p:sp>
      <p:sp>
        <p:nvSpPr>
          <p:cNvPr id="13" name="">
            <a:extLst xmlns:a="http://schemas.openxmlformats.org/drawingml/2006/main">
              <a:ext uri="{FF2B5EF4-FFF2-40B4-BE49-F238E27FC236}">
                <a16:creationId xmlns:a16="http://schemas.microsoft.com/office/drawing/2014/main" id="{A76BAF92-2A1E-4D3E-B51E-C49DBD3E3608}"/>
              </a:ext>
            </a:extLst>
          </p:cNvPr>
          <p:cNvSpPr>
            <a:spLocks xmlns:a="http://schemas.openxmlformats.org/drawingml/2006/main" noGrp="1"/>
          </p:cNvSpPr>
          <p:nvPr/>
        </p:nvSpPr>
        <p:spPr>
          <a:xfrm xmlns:a="http://schemas.openxmlformats.org/drawingml/2006/main">
            <a:off x="4278663" y="2346677"/>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087E8B"/>
            </a:solidFill>
          </a:ln>
        </p:spPr>
      </p:sp>
      <p:sp>
        <p:nvSpPr>
          <p:cNvPr id="14" name="">
            <a:extLst xmlns:a="http://schemas.openxmlformats.org/drawingml/2006/main">
              <a:ext uri="{FF2B5EF4-FFF2-40B4-BE49-F238E27FC236}">
                <a16:creationId xmlns:a16="http://schemas.microsoft.com/office/drawing/2014/main" id="{A85DBCFF-9C76-449E-B222-7D2360681C4E}"/>
              </a:ext>
            </a:extLst>
          </p:cNvPr>
          <p:cNvSpPr>
            <a:spLocks xmlns:a="http://schemas.openxmlformats.org/drawingml/2006/main" noGrp="1"/>
          </p:cNvSpPr>
          <p:nvPr/>
        </p:nvSpPr>
        <p:spPr>
          <a:xfrm xmlns:a="http://schemas.openxmlformats.org/drawingml/2006/main">
            <a:off x="7429500" y="3048000"/>
            <a:ext cx="1143000" cy="476250"/>
          </a:xfrm>
          <a:custGeom xmlns:a="http://schemas.openxmlformats.org/drawingml/2006/main">
            <a:pathLst>
              <a:path w="1143000" h="476250">
                <a:moveTo>
                  <a:pt x="0" y="0"/>
                </a:moveTo>
                <a:lnTo>
                  <a:pt x="1143000" y="476250"/>
                </a:lnTo>
              </a:path>
            </a:pathLst>
          </a:custGeom>
          <a:noFill xmlns:a="http://schemas.openxmlformats.org/drawingml/2006/main"/>
          <a:ln xmlns:a="http://schemas.openxmlformats.org/drawingml/2006/main" w="47625">
            <a:solidFill>
              <a:srgbClr val="18364F"/>
            </a:solidFill>
          </a:ln>
        </p:spPr>
      </p:sp>
      <p:sp>
        <p:nvSpPr>
          <p:cNvPr id="15" name="">
            <a:extLst xmlns:a="http://schemas.openxmlformats.org/drawingml/2006/main">
              <a:ext uri="{FF2B5EF4-FFF2-40B4-BE49-F238E27FC236}">
                <a16:creationId xmlns:a16="http://schemas.microsoft.com/office/drawing/2014/main" id="{DE5A4913-9DAE-4F64-B8F6-2BCC69E68C88}"/>
              </a:ext>
            </a:extLst>
          </p:cNvPr>
          <p:cNvSpPr>
            <a:spLocks xmlns:a="http://schemas.openxmlformats.org/drawingml/2006/main" noGrp="1"/>
          </p:cNvSpPr>
          <p:nvPr/>
        </p:nvSpPr>
        <p:spPr>
          <a:xfrm xmlns:a="http://schemas.openxmlformats.org/drawingml/2006/main">
            <a:off x="8401998" y="3524250"/>
            <a:ext cx="170502" cy="18005"/>
          </a:xfrm>
          <a:custGeom xmlns:a="http://schemas.openxmlformats.org/drawingml/2006/main">
            <a:pathLst>
              <a:path w="170502" h="18005">
                <a:moveTo>
                  <a:pt x="170502" y="0"/>
                </a:moveTo>
                <a:lnTo>
                  <a:pt x="0" y="18005"/>
                </a:lnTo>
              </a:path>
            </a:pathLst>
          </a:custGeom>
          <a:noFill xmlns:a="http://schemas.openxmlformats.org/drawingml/2006/main"/>
          <a:ln xmlns:a="http://schemas.openxmlformats.org/drawingml/2006/main" w="47625">
            <a:solidFill>
              <a:srgbClr val="18364F"/>
            </a:solidFill>
          </a:ln>
        </p:spPr>
      </p:sp>
      <p:sp>
        <p:nvSpPr>
          <p:cNvPr id="16" name="">
            <a:extLst xmlns:a="http://schemas.openxmlformats.org/drawingml/2006/main">
              <a:ext uri="{FF2B5EF4-FFF2-40B4-BE49-F238E27FC236}">
                <a16:creationId xmlns:a16="http://schemas.microsoft.com/office/drawing/2014/main" id="{9D68E8DB-1F75-4E18-977E-738A7A24B583}"/>
              </a:ext>
            </a:extLst>
          </p:cNvPr>
          <p:cNvSpPr>
            <a:spLocks xmlns:a="http://schemas.openxmlformats.org/drawingml/2006/main" noGrp="1"/>
          </p:cNvSpPr>
          <p:nvPr/>
        </p:nvSpPr>
        <p:spPr>
          <a:xfrm xmlns:a="http://schemas.openxmlformats.org/drawingml/2006/main">
            <a:off x="8465227" y="3390506"/>
            <a:ext cx="107273" cy="133744"/>
          </a:xfrm>
          <a:custGeom xmlns:a="http://schemas.openxmlformats.org/drawingml/2006/main">
            <a:pathLst>
              <a:path w="107273" h="133744">
                <a:moveTo>
                  <a:pt x="107273" y="133744"/>
                </a:moveTo>
                <a:lnTo>
                  <a:pt x="0" y="0"/>
                </a:lnTo>
              </a:path>
            </a:pathLst>
          </a:custGeom>
          <a:noFill xmlns:a="http://schemas.openxmlformats.org/drawingml/2006/main"/>
          <a:ln xmlns:a="http://schemas.openxmlformats.org/drawingml/2006/main" w="47625">
            <a:solidFill>
              <a:srgbClr val="18364F"/>
            </a:solidFill>
          </a:ln>
        </p:spPr>
      </p:sp>
      <p:sp>
        <p:nvSpPr>
          <p:cNvPr id="17" name="">
            <a:extLst xmlns:a="http://schemas.openxmlformats.org/drawingml/2006/main">
              <a:ext uri="{FF2B5EF4-FFF2-40B4-BE49-F238E27FC236}">
                <a16:creationId xmlns:a16="http://schemas.microsoft.com/office/drawing/2014/main" id="{F6B346BC-1C3A-4FB2-ABA2-3753A80791FB}"/>
              </a:ext>
            </a:extLst>
          </p:cNvPr>
          <p:cNvSpPr>
            <a:spLocks xmlns:a="http://schemas.openxmlformats.org/drawingml/2006/main" noGrp="1"/>
          </p:cNvSpPr>
          <p:nvPr/>
        </p:nvSpPr>
        <p:spPr>
          <a:xfrm xmlns:a="http://schemas.openxmlformats.org/drawingml/2006/main">
            <a:off x="4048125" y="12858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087E8B"/>
                </a:solidFill>
                <a:latin typeface="Yu Gothic"/>
                <a:ea typeface="Yu Gothic"/>
                <a:cs typeface="Yu Gothic"/>
              </a:defRPr>
            </a:defPPr>
            <a:lvl1pPr>
              <a:defRPr sz="2100" b="0">
                <a:solidFill>
                  <a:srgbClr val="087E8B"/>
                </a:solidFill>
                <a:latin typeface="Yu Gothic"/>
                <a:ea typeface="Yu Gothic"/>
                <a:cs typeface="Yu Gothic"/>
              </a:defRPr>
            </a:lvl1pPr>
            <a:lvl2pPr>
              <a:defRPr sz="2100" b="0">
                <a:solidFill>
                  <a:srgbClr val="087E8B"/>
                </a:solidFill>
                <a:latin typeface="Yu Gothic"/>
                <a:ea typeface="Yu Gothic"/>
                <a:cs typeface="Yu Gothic"/>
              </a:defRPr>
            </a:lvl2pPr>
            <a:lvl3pPr>
              <a:defRPr sz="2100" b="0">
                <a:solidFill>
                  <a:srgbClr val="087E8B"/>
                </a:solidFill>
                <a:latin typeface="Yu Gothic"/>
                <a:ea typeface="Yu Gothic"/>
                <a:cs typeface="Yu Gothic"/>
              </a:defRPr>
            </a:lvl3pPr>
            <a:lvl4pPr>
              <a:defRPr sz="2100" b="0">
                <a:solidFill>
                  <a:srgbClr val="087E8B"/>
                </a:solidFill>
                <a:latin typeface="Yu Gothic"/>
                <a:ea typeface="Yu Gothic"/>
                <a:cs typeface="Yu Gothic"/>
              </a:defRPr>
            </a:lvl4pPr>
            <a:lvl5pPr>
              <a:defRPr sz="2100" b="0">
                <a:solidFill>
                  <a:srgbClr val="087E8B"/>
                </a:solidFill>
                <a:latin typeface="Yu Gothic"/>
                <a:ea typeface="Yu Gothic"/>
                <a:cs typeface="Yu Gothic"/>
              </a:defRPr>
            </a:lvl5pPr>
            <a:lvl6pPr>
              <a:defRPr sz="2100" b="0">
                <a:solidFill>
                  <a:srgbClr val="087E8B"/>
                </a:solidFill>
                <a:latin typeface="Yu Gothic"/>
                <a:ea typeface="Yu Gothic"/>
                <a:cs typeface="Yu Gothic"/>
              </a:defRPr>
            </a:lvl6pPr>
            <a:lvl7pPr>
              <a:defRPr sz="2100" b="0">
                <a:solidFill>
                  <a:srgbClr val="087E8B"/>
                </a:solidFill>
                <a:latin typeface="Yu Gothic"/>
                <a:ea typeface="Yu Gothic"/>
                <a:cs typeface="Yu Gothic"/>
              </a:defRPr>
            </a:lvl7pPr>
            <a:lvl8pPr>
              <a:defRPr sz="2100" b="0">
                <a:solidFill>
                  <a:srgbClr val="087E8B"/>
                </a:solidFill>
                <a:latin typeface="Yu Gothic"/>
                <a:ea typeface="Yu Gothic"/>
                <a:cs typeface="Yu Gothic"/>
              </a:defRPr>
            </a:lvl8pPr>
            <a:lvl9pPr>
              <a:defRPr sz="2100" b="0">
                <a:solidFill>
                  <a:srgbClr val="087E8B"/>
                </a:solidFill>
                <a:latin typeface="Yu Gothic"/>
                <a:ea typeface="Yu Gothic"/>
                <a:cs typeface="Yu Gothic"/>
              </a:defRPr>
            </a:lvl9pPr>
          </a:lstStyle>
          <a:p xmlns:a="http://schemas.openxmlformats.org/drawingml/2006/main">
            <a:pPr>
              <a:defRPr sz="2100" b="0">
                <a:solidFill>
                  <a:srgbClr val="087E8B"/>
                </a:solidFill>
                <a:latin typeface="Yu Gothic"/>
                <a:ea typeface="Yu Gothic"/>
                <a:cs typeface="Yu Gothic"/>
              </a:defRPr>
            </a:pPr>
            <a:r>
              <a:rPr sz="2100" b="0">
                <a:solidFill>
                  <a:srgbClr val="087E8B"/>
                </a:solidFill>
                <a:latin typeface="Yu Gothic"/>
                <a:ea typeface="Yu Gothic"/>
                <a:cs typeface="Yu Gothic"/>
              </a:rPr>
              <a:t>光合成</a:t>
            </a:r>
          </a:p>
        </p:txBody>
      </p:sp>
      <p:sp>
        <p:nvSpPr>
          <p:cNvPr id="18" name="">
            <a:extLst xmlns:a="http://schemas.openxmlformats.org/drawingml/2006/main">
              <a:ext uri="{FF2B5EF4-FFF2-40B4-BE49-F238E27FC236}">
                <a16:creationId xmlns:a16="http://schemas.microsoft.com/office/drawing/2014/main" id="{769E196B-B094-4128-B5CE-F75259FBC9EC}"/>
              </a:ext>
            </a:extLst>
          </p:cNvPr>
          <p:cNvSpPr>
            <a:spLocks xmlns:a="http://schemas.openxmlformats.org/drawingml/2006/main" noGrp="1"/>
          </p:cNvSpPr>
          <p:nvPr/>
        </p:nvSpPr>
        <p:spPr>
          <a:xfrm xmlns:a="http://schemas.openxmlformats.org/drawingml/2006/main">
            <a:off x="6667500" y="495300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収穫・加工・利用</a:t>
            </a:r>
          </a:p>
        </p:txBody>
      </p:sp>
      <p:sp>
        <p:nvSpPr>
          <p:cNvPr id="19" name="">
            <a:extLst xmlns:a="http://schemas.openxmlformats.org/drawingml/2006/main">
              <a:ext uri="{FF2B5EF4-FFF2-40B4-BE49-F238E27FC236}">
                <a16:creationId xmlns:a16="http://schemas.microsoft.com/office/drawing/2014/main" id="{5E83C94F-865A-4187-B857-0DB91F424A79}"/>
              </a:ext>
            </a:extLst>
          </p:cNvPr>
          <p:cNvSpPr>
            <a:spLocks xmlns:a="http://schemas.openxmlformats.org/drawingml/2006/main" noGrp="1"/>
          </p:cNvSpPr>
          <p:nvPr/>
        </p:nvSpPr>
        <p:spPr>
          <a:xfrm xmlns:a="http://schemas.openxmlformats.org/drawingml/2006/main">
            <a:off x="838200" y="5476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18364F"/>
                </a:solidFill>
                <a:latin typeface="Yu Gothic"/>
                <a:ea typeface="Yu Gothic"/>
                <a:cs typeface="Yu Gothic"/>
              </a:defRPr>
            </a:defPPr>
            <a:lvl1pPr>
              <a:defRPr sz="1875" b="0">
                <a:solidFill>
                  <a:srgbClr val="18364F"/>
                </a:solidFill>
                <a:latin typeface="Yu Gothic"/>
                <a:ea typeface="Yu Gothic"/>
                <a:cs typeface="Yu Gothic"/>
              </a:defRPr>
            </a:lvl1pPr>
            <a:lvl2pPr>
              <a:defRPr sz="1875" b="0">
                <a:solidFill>
                  <a:srgbClr val="18364F"/>
                </a:solidFill>
                <a:latin typeface="Yu Gothic"/>
                <a:ea typeface="Yu Gothic"/>
                <a:cs typeface="Yu Gothic"/>
              </a:defRPr>
            </a:lvl2pPr>
            <a:lvl3pPr>
              <a:defRPr sz="1875" b="0">
                <a:solidFill>
                  <a:srgbClr val="18364F"/>
                </a:solidFill>
                <a:latin typeface="Yu Gothic"/>
                <a:ea typeface="Yu Gothic"/>
                <a:cs typeface="Yu Gothic"/>
              </a:defRPr>
            </a:lvl3pPr>
            <a:lvl4pPr>
              <a:defRPr sz="1875" b="0">
                <a:solidFill>
                  <a:srgbClr val="18364F"/>
                </a:solidFill>
                <a:latin typeface="Yu Gothic"/>
                <a:ea typeface="Yu Gothic"/>
                <a:cs typeface="Yu Gothic"/>
              </a:defRPr>
            </a:lvl4pPr>
            <a:lvl5pPr>
              <a:defRPr sz="1875" b="0">
                <a:solidFill>
                  <a:srgbClr val="18364F"/>
                </a:solidFill>
                <a:latin typeface="Yu Gothic"/>
                <a:ea typeface="Yu Gothic"/>
                <a:cs typeface="Yu Gothic"/>
              </a:defRPr>
            </a:lvl5pPr>
            <a:lvl6pPr>
              <a:defRPr sz="1875" b="0">
                <a:solidFill>
                  <a:srgbClr val="18364F"/>
                </a:solidFill>
                <a:latin typeface="Yu Gothic"/>
                <a:ea typeface="Yu Gothic"/>
                <a:cs typeface="Yu Gothic"/>
              </a:defRPr>
            </a:lvl6pPr>
            <a:lvl7pPr>
              <a:defRPr sz="1875" b="0">
                <a:solidFill>
                  <a:srgbClr val="18364F"/>
                </a:solidFill>
                <a:latin typeface="Yu Gothic"/>
                <a:ea typeface="Yu Gothic"/>
                <a:cs typeface="Yu Gothic"/>
              </a:defRPr>
            </a:lvl7pPr>
            <a:lvl8pPr>
              <a:defRPr sz="1875" b="0">
                <a:solidFill>
                  <a:srgbClr val="18364F"/>
                </a:solidFill>
                <a:latin typeface="Yu Gothic"/>
                <a:ea typeface="Yu Gothic"/>
                <a:cs typeface="Yu Gothic"/>
              </a:defRPr>
            </a:lvl8pPr>
            <a:lvl9pPr>
              <a:defRPr sz="1875" b="0">
                <a:solidFill>
                  <a:srgbClr val="18364F"/>
                </a:solidFill>
                <a:latin typeface="Yu Gothic"/>
                <a:ea typeface="Yu Gothic"/>
                <a:cs typeface="Yu Gothic"/>
              </a:defRPr>
            </a:lvl9pPr>
          </a:lstStyle>
          <a:p xmlns:a="http://schemas.openxmlformats.org/drawingml/2006/main">
            <a:pPr>
              <a:defRPr sz="1875" b="0">
                <a:solidFill>
                  <a:srgbClr val="18364F"/>
                </a:solidFill>
                <a:latin typeface="Yu Gothic"/>
                <a:ea typeface="Yu Gothic"/>
                <a:cs typeface="Yu Gothic"/>
              </a:defRPr>
            </a:pPr>
            <a:r>
              <a:rPr sz="1875" b="0">
                <a:solidFill>
                  <a:srgbClr val="18364F"/>
                </a:solidFill>
                <a:latin typeface="Yu Gothic"/>
                <a:ea typeface="Yu Gothic"/>
                <a:cs typeface="Yu Gothic"/>
              </a:rPr>
              <a:t>炭素は木材の有機物として保持される</a:t>
            </a:r>
          </a:p>
        </p:txBody>
      </p:sp>
      <p:sp>
        <p:nvSpPr>
          <p:cNvPr id="20" name="">
            <a:extLst xmlns:a="http://schemas.openxmlformats.org/drawingml/2006/main">
              <a:ext uri="{FF2B5EF4-FFF2-40B4-BE49-F238E27FC236}">
                <a16:creationId xmlns:a16="http://schemas.microsoft.com/office/drawing/2014/main" id="{E5ABE631-F8D7-4460-846F-B85D77670111}"/>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出典：[5]　末尾の参照資料へ</a:t>
            </a:r>
          </a:p>
        </p:txBody>
      </p:sp>
    </p:spTree>
    <p:extLst>
      <p:ext uri="{BB962C8B-B14F-4D97-AF65-F5344CB8AC3E}">
        <p14:creationId xmlns:p14="http://schemas.microsoft.com/office/powerpoint/2010/main" val="112449517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2679D3-F1C8-45B8-AC1B-2FF60E889EB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炭素の固定と貯蔵を分ける</a:t>
            </a:r>
          </a:p>
        </p:txBody>
      </p:sp>
      <p:sp>
        <p:nvSpPr>
          <p:cNvPr id="2" name="">
            <a:extLst xmlns:a="http://schemas.openxmlformats.org/drawingml/2006/main">
              <a:ext uri="{FF2B5EF4-FFF2-40B4-BE49-F238E27FC236}">
                <a16:creationId xmlns:a16="http://schemas.microsoft.com/office/drawing/2014/main" id="{9AD1094F-709D-4093-B3F3-FE60241258E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99C5536-9A1D-4036-879A-A65C2633168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AF065D1C-61DC-4A50-AFD9-0D35BCCC978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16DDADA7-2157-4C33-9265-086C7D862207}"/>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光合成：CO₂由来の炭素を有機物へ</a:t>
            </a:r>
          </a:p>
        </p:txBody>
      </p:sp>
      <p:sp>
        <p:nvSpPr>
          <p:cNvPr id="6" name="">
            <a:extLst xmlns:a="http://schemas.openxmlformats.org/drawingml/2006/main">
              <a:ext uri="{FF2B5EF4-FFF2-40B4-BE49-F238E27FC236}">
                <a16:creationId xmlns:a16="http://schemas.microsoft.com/office/drawing/2014/main" id="{FA1DC1F6-02A2-415B-BADC-9FB95AAEDB70}"/>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木材利用：材中の炭素を使う期間にわたり保持</a:t>
            </a:r>
          </a:p>
        </p:txBody>
      </p:sp>
      <p:sp>
        <p:nvSpPr>
          <p:cNvPr id="7" name="">
            <a:extLst xmlns:a="http://schemas.openxmlformats.org/drawingml/2006/main">
              <a:ext uri="{FF2B5EF4-FFF2-40B4-BE49-F238E27FC236}">
                <a16:creationId xmlns:a16="http://schemas.microsoft.com/office/drawing/2014/main" id="{1911B0B1-27CC-4C1B-A6E1-C3516139A0CD}"/>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建物の炭素量と毎年の吸収量は別の量</a:t>
            </a:r>
          </a:p>
        </p:txBody>
      </p:sp>
      <p:sp>
        <p:nvSpPr>
          <p:cNvPr id="8" name="">
            <a:extLst xmlns:a="http://schemas.openxmlformats.org/drawingml/2006/main">
              <a:ext uri="{FF2B5EF4-FFF2-40B4-BE49-F238E27FC236}">
                <a16:creationId xmlns:a16="http://schemas.microsoft.com/office/drawing/2014/main" id="{B3E83B4B-2215-4F0D-8779-04056E4C5234}"/>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出典：[5]　末尾の参照資料へ</a:t>
            </a:r>
          </a:p>
        </p:txBody>
      </p:sp>
    </p:spTree>
    <p:extLst>
      <p:ext uri="{BB962C8B-B14F-4D97-AF65-F5344CB8AC3E}">
        <p14:creationId xmlns:p14="http://schemas.microsoft.com/office/powerpoint/2010/main" val="21447397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13CB30-221C-46C9-9FCF-81B29BDF01F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CO₂換算は、炭素の量を表す方法</a:t>
            </a:r>
          </a:p>
        </p:txBody>
      </p:sp>
      <p:sp>
        <p:nvSpPr>
          <p:cNvPr id="2" name="">
            <a:extLst xmlns:a="http://schemas.openxmlformats.org/drawingml/2006/main">
              <a:ext uri="{FF2B5EF4-FFF2-40B4-BE49-F238E27FC236}">
                <a16:creationId xmlns:a16="http://schemas.microsoft.com/office/drawing/2014/main" id="{F13C1356-5939-493B-875D-DE27A2B7BB2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E64385-84B9-4F1C-B9E1-BE4EB6A9D6B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CFE9EF04-FBF3-420E-BEAD-DECDC8D9CC6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160843D6-2C45-4552-8E65-778271F6DD24}"/>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木材に残る炭素の質量</a:t>
            </a:r>
          </a:p>
        </p:txBody>
      </p:sp>
      <p:sp>
        <p:nvSpPr>
          <p:cNvPr id="6" name="">
            <a:extLst xmlns:a="http://schemas.openxmlformats.org/drawingml/2006/main">
              <a:ext uri="{FF2B5EF4-FFF2-40B4-BE49-F238E27FC236}">
                <a16:creationId xmlns:a16="http://schemas.microsoft.com/office/drawing/2014/main" id="{B2E5C12A-1375-431B-ADDA-875444A074F4}"/>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CO₂換算量 ＝ 炭素量 × 44 / 12</a:t>
            </a:r>
          </a:p>
        </p:txBody>
      </p:sp>
      <p:sp>
        <p:nvSpPr>
          <p:cNvPr id="7" name="">
            <a:extLst xmlns:a="http://schemas.openxmlformats.org/drawingml/2006/main">
              <a:ext uri="{FF2B5EF4-FFF2-40B4-BE49-F238E27FC236}">
                <a16:creationId xmlns:a16="http://schemas.microsoft.com/office/drawing/2014/main" id="{86F3AF71-464D-4D30-A41D-12861522D28D}"/>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分子量による換算で、気体が入っているのではない</a:t>
            </a:r>
          </a:p>
        </p:txBody>
      </p:sp>
      <p:sp>
        <p:nvSpPr>
          <p:cNvPr id="8" name="">
            <a:extLst xmlns:a="http://schemas.openxmlformats.org/drawingml/2006/main">
              <a:ext uri="{FF2B5EF4-FFF2-40B4-BE49-F238E27FC236}">
                <a16:creationId xmlns:a16="http://schemas.microsoft.com/office/drawing/2014/main" id="{5520EB05-7024-4CAB-9021-58F5F2C693B7}"/>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出典：[5]　末尾の参照資料へ</a:t>
            </a:r>
          </a:p>
        </p:txBody>
      </p:sp>
    </p:spTree>
    <p:extLst>
      <p:ext uri="{BB962C8B-B14F-4D97-AF65-F5344CB8AC3E}">
        <p14:creationId xmlns:p14="http://schemas.microsoft.com/office/powerpoint/2010/main" val="115502056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1764F28-6316-455C-908B-93C5EB5EEA3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貯蔵量の例 条件をそろえて計算する</a:t>
            </a:r>
          </a:p>
        </p:txBody>
      </p:sp>
      <p:sp>
        <p:nvSpPr>
          <p:cNvPr id="2" name="">
            <a:extLst xmlns:a="http://schemas.openxmlformats.org/drawingml/2006/main">
              <a:ext uri="{FF2B5EF4-FFF2-40B4-BE49-F238E27FC236}">
                <a16:creationId xmlns:a16="http://schemas.microsoft.com/office/drawing/2014/main" id="{B791ADF9-94AC-49E3-AF4D-313866615F5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8D71BD-A608-4EB8-9684-52DC1AE962B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61299633-08A3-4439-8BA6-4C82B8AE0AB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
            <a:extLst xmlns:a="http://schemas.openxmlformats.org/drawingml/2006/main">
              <a:ext uri="{FF2B5EF4-FFF2-40B4-BE49-F238E27FC236}">
                <a16:creationId xmlns:a16="http://schemas.microsoft.com/office/drawing/2014/main" id="{16C576B9-B3AF-463D-B99F-6935C90A1571}"/>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仮想例：材積10 m³、密度0.50 t/m³</a:t>
            </a:r>
          </a:p>
        </p:txBody>
      </p:sp>
      <p:sp>
        <p:nvSpPr>
          <p:cNvPr id="6" name="">
            <a:extLst xmlns:a="http://schemas.openxmlformats.org/drawingml/2006/main">
              <a:ext uri="{FF2B5EF4-FFF2-40B4-BE49-F238E27FC236}">
                <a16:creationId xmlns:a16="http://schemas.microsoft.com/office/drawing/2014/main" id="{19DA5F1C-2533-4FFA-9E16-FA76D9B8BE4E}"/>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炭素割合0.50：炭素量2.50 t-C</a:t>
            </a:r>
          </a:p>
        </p:txBody>
      </p:sp>
      <p:sp>
        <p:nvSpPr>
          <p:cNvPr id="7" name="">
            <a:extLst xmlns:a="http://schemas.openxmlformats.org/drawingml/2006/main">
              <a:ext uri="{FF2B5EF4-FFF2-40B4-BE49-F238E27FC236}">
                <a16:creationId xmlns:a16="http://schemas.microsoft.com/office/drawing/2014/main" id="{42680028-062F-4D87-ACB7-CB2190CA2ECA}"/>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CO₂換算：2.50 × 44 / 12 ≈ 9.17 t-CO₂</a:t>
            </a:r>
          </a:p>
        </p:txBody>
      </p:sp>
      <p:sp>
        <p:nvSpPr>
          <p:cNvPr id="8" name="">
            <a:extLst xmlns:a="http://schemas.openxmlformats.org/drawingml/2006/main">
              <a:ext uri="{FF2B5EF4-FFF2-40B4-BE49-F238E27FC236}">
                <a16:creationId xmlns:a16="http://schemas.microsoft.com/office/drawing/2014/main" id="{98A51C51-772C-4BC0-B95D-7AD6DEEFE653}"/>
              </a:ext>
            </a:extLst>
          </p:cNvPr>
          <p:cNvSpPr>
            <a:spLocks xmlns:a="http://schemas.openxmlformats.org/drawingml/2006/main" noGrp="1"/>
          </p:cNvSpPr>
          <p:nvPr/>
        </p:nvSpPr>
        <p:spPr>
          <a:xfrm xmlns:a="http://schemas.openxmlformats.org/drawingml/2006/main">
            <a:off x="838200" y="5286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defRPr sz="1725" b="0">
                <a:solidFill>
                  <a:srgbClr val="596875"/>
                </a:solidFill>
                <a:latin typeface="Yu Gothic"/>
                <a:ea typeface="Yu Gothic"/>
                <a:cs typeface="Yu Gothic"/>
              </a:defRPr>
            </a:lvl1pPr>
            <a:lvl2pPr>
              <a:defRPr sz="1725" b="0">
                <a:solidFill>
                  <a:srgbClr val="596875"/>
                </a:solidFill>
                <a:latin typeface="Yu Gothic"/>
                <a:ea typeface="Yu Gothic"/>
                <a:cs typeface="Yu Gothic"/>
              </a:defRPr>
            </a:lvl2pPr>
            <a:lvl3pPr>
              <a:defRPr sz="1725" b="0">
                <a:solidFill>
                  <a:srgbClr val="596875"/>
                </a:solidFill>
                <a:latin typeface="Yu Gothic"/>
                <a:ea typeface="Yu Gothic"/>
                <a:cs typeface="Yu Gothic"/>
              </a:defRPr>
            </a:lvl3pPr>
            <a:lvl4pPr>
              <a:defRPr sz="1725" b="0">
                <a:solidFill>
                  <a:srgbClr val="596875"/>
                </a:solidFill>
                <a:latin typeface="Yu Gothic"/>
                <a:ea typeface="Yu Gothic"/>
                <a:cs typeface="Yu Gothic"/>
              </a:defRPr>
            </a:lvl4pPr>
            <a:lvl5pPr>
              <a:defRPr sz="1725" b="0">
                <a:solidFill>
                  <a:srgbClr val="596875"/>
                </a:solidFill>
                <a:latin typeface="Yu Gothic"/>
                <a:ea typeface="Yu Gothic"/>
                <a:cs typeface="Yu Gothic"/>
              </a:defRPr>
            </a:lvl5pPr>
            <a:lvl6pPr>
              <a:defRPr sz="1725" b="0">
                <a:solidFill>
                  <a:srgbClr val="596875"/>
                </a:solidFill>
                <a:latin typeface="Yu Gothic"/>
                <a:ea typeface="Yu Gothic"/>
                <a:cs typeface="Yu Gothic"/>
              </a:defRPr>
            </a:lvl6pPr>
            <a:lvl7pPr>
              <a:defRPr sz="1725" b="0">
                <a:solidFill>
                  <a:srgbClr val="596875"/>
                </a:solidFill>
                <a:latin typeface="Yu Gothic"/>
                <a:ea typeface="Yu Gothic"/>
                <a:cs typeface="Yu Gothic"/>
              </a:defRPr>
            </a:lvl7pPr>
            <a:lvl8pPr>
              <a:defRPr sz="1725" b="0">
                <a:solidFill>
                  <a:srgbClr val="596875"/>
                </a:solidFill>
                <a:latin typeface="Yu Gothic"/>
                <a:ea typeface="Yu Gothic"/>
                <a:cs typeface="Yu Gothic"/>
              </a:defRPr>
            </a:lvl8pPr>
            <a:lvl9pPr>
              <a:defRPr sz="1725" b="0">
                <a:solidFill>
                  <a:srgbClr val="596875"/>
                </a:solidFill>
                <a:latin typeface="Yu Gothic"/>
                <a:ea typeface="Yu Gothic"/>
                <a:cs typeface="Yu Gothic"/>
              </a:defRPr>
            </a:lvl9pPr>
          </a:lstStyle>
          <a:p xmlns:a="http://schemas.openxmlformats.org/drawingml/2006/main">
            <a:pPr>
              <a:defRPr sz="1725" b="0">
                <a:solidFill>
                  <a:srgbClr val="596875"/>
                </a:solidFill>
                <a:latin typeface="Yu Gothic"/>
                <a:ea typeface="Yu Gothic"/>
                <a:cs typeface="Yu Gothic"/>
              </a:defRPr>
            </a:pPr>
            <a:r>
              <a:rPr sz="1725" b="0">
                <a:solidFill>
                  <a:srgbClr val="596875"/>
                </a:solidFill>
                <a:latin typeface="Yu Gothic"/>
                <a:ea typeface="Yu Gothic"/>
                <a:cs typeface="Yu Gothic"/>
              </a:rPr>
              <a:t>密度：気乾材積に対する全乾質量の比。説明用の仮想値。</a:t>
            </a:r>
          </a:p>
        </p:txBody>
      </p:sp>
      <p:sp>
        <p:nvSpPr>
          <p:cNvPr id="9" name="">
            <a:extLst xmlns:a="http://schemas.openxmlformats.org/drawingml/2006/main">
              <a:ext uri="{FF2B5EF4-FFF2-40B4-BE49-F238E27FC236}">
                <a16:creationId xmlns:a16="http://schemas.microsoft.com/office/drawing/2014/main" id="{A54056B6-9E0D-45A1-9A5B-E54D208FB34C}"/>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出典：[5]　末尾の参照資料へ</a:t>
            </a:r>
          </a:p>
        </p:txBody>
      </p:sp>
    </p:spTree>
    <p:extLst>
      <p:ext uri="{BB962C8B-B14F-4D97-AF65-F5344CB8AC3E}">
        <p14:creationId xmlns:p14="http://schemas.microsoft.com/office/powerpoint/2010/main" val="72317459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221978-7603-48C5-A98E-6BD4A996C38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古い建物から貯蔵量を考えるとき</a:t>
            </a:r>
          </a:p>
        </p:txBody>
      </p:sp>
      <p:sp>
        <p:nvSpPr>
          <p:cNvPr id="2" name="">
            <a:extLst xmlns:a="http://schemas.openxmlformats.org/drawingml/2006/main">
              <a:ext uri="{FF2B5EF4-FFF2-40B4-BE49-F238E27FC236}">
                <a16:creationId xmlns:a16="http://schemas.microsoft.com/office/drawing/2014/main" id="{0D9DF41D-9A68-40EB-8AD7-8EA29CA4853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E76E847-6849-456F-B0E5-37111796FE3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9FD9144D-0E73-4A6D-BB08-248AF2445F5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FEEFB0A4-D8CD-492E-92AA-6E7DA397913C}"/>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残る部材の量と交換履歴</a:t>
            </a:r>
          </a:p>
        </p:txBody>
      </p:sp>
      <p:sp>
        <p:nvSpPr>
          <p:cNvPr id="6" name="">
            <a:extLst xmlns:a="http://schemas.openxmlformats.org/drawingml/2006/main">
              <a:ext uri="{FF2B5EF4-FFF2-40B4-BE49-F238E27FC236}">
                <a16:creationId xmlns:a16="http://schemas.microsoft.com/office/drawing/2014/main" id="{B727A90B-707E-47E9-B6C5-D9BF05EF92F5}"/>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材の密度・炭素割合と測定条件</a:t>
            </a:r>
          </a:p>
        </p:txBody>
      </p:sp>
      <p:sp>
        <p:nvSpPr>
          <p:cNvPr id="7" name="">
            <a:extLst xmlns:a="http://schemas.openxmlformats.org/drawingml/2006/main">
              <a:ext uri="{FF2B5EF4-FFF2-40B4-BE49-F238E27FC236}">
                <a16:creationId xmlns:a16="http://schemas.microsoft.com/office/drawing/2014/main" id="{F6EEBD5C-E293-4FE2-B3E0-1C047D03D12A}"/>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創建年だけで炭素の時期を決めない</a:t>
            </a:r>
          </a:p>
        </p:txBody>
      </p:sp>
      <p:sp>
        <p:nvSpPr>
          <p:cNvPr id="8" name="">
            <a:extLst xmlns:a="http://schemas.openxmlformats.org/drawingml/2006/main">
              <a:ext uri="{FF2B5EF4-FFF2-40B4-BE49-F238E27FC236}">
                <a16:creationId xmlns:a16="http://schemas.microsoft.com/office/drawing/2014/main" id="{91E6C4B6-A6B0-4156-BA8E-6F105FDC24EE}"/>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出典：[5]　末尾の参照資料へ</a:t>
            </a:r>
          </a:p>
        </p:txBody>
      </p:sp>
    </p:spTree>
    <p:extLst>
      <p:ext uri="{BB962C8B-B14F-4D97-AF65-F5344CB8AC3E}">
        <p14:creationId xmlns:p14="http://schemas.microsoft.com/office/powerpoint/2010/main" val="193292549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FDB685-3FCE-4ED8-9FED-1DC594899CD1}"/>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貯蔵量と排出削減量は違う</a:t>
            </a:r>
          </a:p>
        </p:txBody>
      </p:sp>
      <p:sp>
        <p:nvSpPr>
          <p:cNvPr id="2" name="">
            <a:extLst xmlns:a="http://schemas.openxmlformats.org/drawingml/2006/main">
              <a:ext uri="{FF2B5EF4-FFF2-40B4-BE49-F238E27FC236}">
                <a16:creationId xmlns:a16="http://schemas.microsoft.com/office/drawing/2014/main" id="{E0E6A78E-4B6C-4D08-89EC-E3F6FCB831F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DCD855-9960-4492-8BA0-F4D2EBADB3A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826F45EB-3D13-4250-BB9E-2830675EDFD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AE1D0BE2-0AAB-4804-B084-FDFE5C3DDAFE}"/>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建物に今ある炭素の量</a:t>
            </a:r>
          </a:p>
        </p:txBody>
      </p:sp>
      <p:sp>
        <p:nvSpPr>
          <p:cNvPr id="6" name="">
            <a:extLst xmlns:a="http://schemas.openxmlformats.org/drawingml/2006/main">
              <a:ext uri="{FF2B5EF4-FFF2-40B4-BE49-F238E27FC236}">
                <a16:creationId xmlns:a16="http://schemas.microsoft.com/office/drawing/2014/main" id="{C157F48E-FF28-4A23-8076-9E739786739A}"/>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製造・輸送・修理などで生じる排出</a:t>
            </a:r>
          </a:p>
        </p:txBody>
      </p:sp>
      <p:sp>
        <p:nvSpPr>
          <p:cNvPr id="7" name="">
            <a:extLst xmlns:a="http://schemas.openxmlformats.org/drawingml/2006/main">
              <a:ext uri="{FF2B5EF4-FFF2-40B4-BE49-F238E27FC236}">
                <a16:creationId xmlns:a16="http://schemas.microsoft.com/office/drawing/2014/main" id="{EDA75D36-9C9F-40BB-BDB9-F2D1494BA154}"/>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森林側の変化、使用後の扱い</a:t>
            </a:r>
          </a:p>
        </p:txBody>
      </p:sp>
      <p:sp>
        <p:nvSpPr>
          <p:cNvPr id="8" name="">
            <a:extLst xmlns:a="http://schemas.openxmlformats.org/drawingml/2006/main">
              <a:ext uri="{FF2B5EF4-FFF2-40B4-BE49-F238E27FC236}">
                <a16:creationId xmlns:a16="http://schemas.microsoft.com/office/drawing/2014/main" id="{4614F0B5-3BC8-4B53-ADEC-EFCA482A5A13}"/>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出典：[5]　末尾の参照資料へ</a:t>
            </a:r>
          </a:p>
        </p:txBody>
      </p:sp>
    </p:spTree>
    <p:extLst>
      <p:ext uri="{BB962C8B-B14F-4D97-AF65-F5344CB8AC3E}">
        <p14:creationId xmlns:p14="http://schemas.microsoft.com/office/powerpoint/2010/main" val="90749180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07A1F3-22AA-4DC3-9368-68042700C15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CO₂と気候 作用と変動を区別する</a:t>
            </a:r>
          </a:p>
        </p:txBody>
      </p:sp>
      <p:sp>
        <p:nvSpPr>
          <p:cNvPr id="2" name="">
            <a:extLst xmlns:a="http://schemas.openxmlformats.org/drawingml/2006/main">
              <a:ext uri="{FF2B5EF4-FFF2-40B4-BE49-F238E27FC236}">
                <a16:creationId xmlns:a16="http://schemas.microsoft.com/office/drawing/2014/main" id="{C8A4E8C1-BD60-4282-8C8B-F9F1364D2E1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763615-649C-40C0-8F20-BBCAF21CAFC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84E7A09A-400E-409B-AF7D-65EB633141F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D633E197-DF18-4A49-8B35-669901BF135D}"/>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CO₂の増加は温暖化を促す要因</a:t>
            </a:r>
          </a:p>
        </p:txBody>
      </p:sp>
      <p:sp>
        <p:nvSpPr>
          <p:cNvPr id="6" name="">
            <a:extLst xmlns:a="http://schemas.openxmlformats.org/drawingml/2006/main">
              <a:ext uri="{FF2B5EF4-FFF2-40B4-BE49-F238E27FC236}">
                <a16:creationId xmlns:a16="http://schemas.microsoft.com/office/drawing/2014/main" id="{43595E4C-7358-438D-A50D-E8DA5186E9C5}"/>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気候には他の要因や自然変動も関わる</a:t>
            </a:r>
          </a:p>
        </p:txBody>
      </p:sp>
      <p:sp>
        <p:nvSpPr>
          <p:cNvPr id="7" name="">
            <a:extLst xmlns:a="http://schemas.openxmlformats.org/drawingml/2006/main">
              <a:ext uri="{FF2B5EF4-FFF2-40B4-BE49-F238E27FC236}">
                <a16:creationId xmlns:a16="http://schemas.microsoft.com/office/drawing/2014/main" id="{65232FD3-D591-4D23-A9BB-CAC4D68B3EBD}"/>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個々の場所・年の気温を一対一で決めない</a:t>
            </a:r>
          </a:p>
        </p:txBody>
      </p:sp>
      <p:sp>
        <p:nvSpPr>
          <p:cNvPr id="8" name="">
            <a:extLst xmlns:a="http://schemas.openxmlformats.org/drawingml/2006/main">
              <a:ext uri="{FF2B5EF4-FFF2-40B4-BE49-F238E27FC236}">
                <a16:creationId xmlns:a16="http://schemas.microsoft.com/office/drawing/2014/main" id="{3E9F24B9-6962-48AC-BAC8-C55C442CC9C4}"/>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出典：[6] [7]　末尾の参照資料へ</a:t>
            </a:r>
          </a:p>
        </p:txBody>
      </p:sp>
    </p:spTree>
    <p:extLst>
      <p:ext uri="{BB962C8B-B14F-4D97-AF65-F5344CB8AC3E}">
        <p14:creationId xmlns:p14="http://schemas.microsoft.com/office/powerpoint/2010/main" val="165083886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9F74A2-35BD-456C-8B59-E35CA0E4A66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科学的評価と個別の出来事</a:t>
            </a:r>
          </a:p>
        </p:txBody>
      </p:sp>
      <p:sp>
        <p:nvSpPr>
          <p:cNvPr id="2" name="">
            <a:extLst xmlns:a="http://schemas.openxmlformats.org/drawingml/2006/main">
              <a:ext uri="{FF2B5EF4-FFF2-40B4-BE49-F238E27FC236}">
                <a16:creationId xmlns:a16="http://schemas.microsoft.com/office/drawing/2014/main" id="{448C17FB-A253-431F-B48E-5A1D704DC3B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F3462F9-4376-4020-B710-AF7A4E885C9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6FA0F844-3E2E-4310-BFF1-3475D73D34F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34</a:t>
            </a:r>
          </a:p>
        </p:txBody>
      </p:sp>
      <p:sp>
        <p:nvSpPr>
          <p:cNvPr id="5" name="">
            <a:extLst xmlns:a="http://schemas.openxmlformats.org/drawingml/2006/main">
              <a:ext uri="{FF2B5EF4-FFF2-40B4-BE49-F238E27FC236}">
                <a16:creationId xmlns:a16="http://schemas.microsoft.com/office/drawing/2014/main" id="{B3FD252D-DBF7-483A-AE25-E1BA2B511E91}"/>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近年の温暖化への人間活動の寄与</a:t>
            </a:r>
          </a:p>
        </p:txBody>
      </p:sp>
      <p:sp>
        <p:nvSpPr>
          <p:cNvPr id="6" name="">
            <a:extLst xmlns:a="http://schemas.openxmlformats.org/drawingml/2006/main">
              <a:ext uri="{FF2B5EF4-FFF2-40B4-BE49-F238E27FC236}">
                <a16:creationId xmlns:a16="http://schemas.microsoft.com/office/drawing/2014/main" id="{774603C9-10A7-4672-B3BB-26DD5B7902EE}"/>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個別の気象現象の原因評価</a:t>
            </a:r>
          </a:p>
        </p:txBody>
      </p:sp>
      <p:sp>
        <p:nvSpPr>
          <p:cNvPr id="7" name="">
            <a:extLst xmlns:a="http://schemas.openxmlformats.org/drawingml/2006/main">
              <a:ext uri="{FF2B5EF4-FFF2-40B4-BE49-F238E27FC236}">
                <a16:creationId xmlns:a16="http://schemas.microsoft.com/office/drawing/2014/main" id="{EEDA3532-CFCA-496B-8650-F193500B99DC}"/>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貯蔵量から気温低下量へ直接換算しない</a:t>
            </a:r>
          </a:p>
        </p:txBody>
      </p:sp>
      <p:sp>
        <p:nvSpPr>
          <p:cNvPr id="8" name="">
            <a:extLst xmlns:a="http://schemas.openxmlformats.org/drawingml/2006/main">
              <a:ext uri="{FF2B5EF4-FFF2-40B4-BE49-F238E27FC236}">
                <a16:creationId xmlns:a16="http://schemas.microsoft.com/office/drawing/2014/main" id="{270C5E11-BB97-44EC-8A30-33507DB546F7}"/>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出典：[6] [7]　末尾の参照資料へ</a:t>
            </a:r>
          </a:p>
        </p:txBody>
      </p:sp>
    </p:spTree>
    <p:extLst>
      <p:ext uri="{BB962C8B-B14F-4D97-AF65-F5344CB8AC3E}">
        <p14:creationId xmlns:p14="http://schemas.microsoft.com/office/powerpoint/2010/main" val="93195795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DE8543-4A72-4828-B2AD-33E60F47286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木材利用から森林管理へ資金をつなぐ</a:t>
            </a:r>
          </a:p>
        </p:txBody>
      </p:sp>
      <p:sp>
        <p:nvSpPr>
          <p:cNvPr id="2" name="">
            <a:extLst xmlns:a="http://schemas.openxmlformats.org/drawingml/2006/main">
              <a:ext uri="{FF2B5EF4-FFF2-40B4-BE49-F238E27FC236}">
                <a16:creationId xmlns:a16="http://schemas.microsoft.com/office/drawing/2014/main" id="{F424FCF7-7B34-44A2-BA4C-2C278F3F8A1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16386EC-96D6-41AD-9845-9B0ABD9DA01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081630A0-BDD4-4517-9562-44EBCB355B0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35</a:t>
            </a:r>
          </a:p>
        </p:txBody>
      </p:sp>
      <p:sp>
        <p:nvSpPr>
          <p:cNvPr id="5" name="">
            <a:extLst xmlns:a="http://schemas.openxmlformats.org/drawingml/2006/main">
              <a:ext uri="{FF2B5EF4-FFF2-40B4-BE49-F238E27FC236}">
                <a16:creationId xmlns:a16="http://schemas.microsoft.com/office/drawing/2014/main" id="{8D2FE9F9-5415-4A09-9135-D81D6B41CA54}"/>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利用した材への対価</a:t>
            </a:r>
          </a:p>
        </p:txBody>
      </p:sp>
      <p:sp>
        <p:nvSpPr>
          <p:cNvPr id="6" name="">
            <a:extLst xmlns:a="http://schemas.openxmlformats.org/drawingml/2006/main">
              <a:ext uri="{FF2B5EF4-FFF2-40B4-BE49-F238E27FC236}">
                <a16:creationId xmlns:a16="http://schemas.microsoft.com/office/drawing/2014/main" id="{73EEE950-5667-4064-B83F-EA13218774FA}"/>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育成・収穫・再造林などの費用</a:t>
            </a:r>
          </a:p>
        </p:txBody>
      </p:sp>
      <p:sp>
        <p:nvSpPr>
          <p:cNvPr id="7" name="">
            <a:extLst xmlns:a="http://schemas.openxmlformats.org/drawingml/2006/main">
              <a:ext uri="{FF2B5EF4-FFF2-40B4-BE49-F238E27FC236}">
                <a16:creationId xmlns:a16="http://schemas.microsoft.com/office/drawing/2014/main" id="{0763357C-F477-4C3A-B8CC-0E911A8649F0}"/>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供給と維持の仕事を継続する条件</a:t>
            </a:r>
          </a:p>
        </p:txBody>
      </p:sp>
      <p:sp>
        <p:nvSpPr>
          <p:cNvPr id="8" name="">
            <a:extLst xmlns:a="http://schemas.openxmlformats.org/drawingml/2006/main">
              <a:ext uri="{FF2B5EF4-FFF2-40B4-BE49-F238E27FC236}">
                <a16:creationId xmlns:a16="http://schemas.microsoft.com/office/drawing/2014/main" id="{ED6F2545-F641-4645-8BC8-D52D4D120922}"/>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出典：[8]　末尾の参照資料へ</a:t>
            </a:r>
          </a:p>
        </p:txBody>
      </p:sp>
    </p:spTree>
    <p:extLst>
      <p:ext uri="{BB962C8B-B14F-4D97-AF65-F5344CB8AC3E}">
        <p14:creationId xmlns:p14="http://schemas.microsoft.com/office/powerpoint/2010/main" val="7554473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2C4349-4652-4394-AC87-1E82991F839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森林と建築を同じ計画で見る</a:t>
            </a:r>
          </a:p>
        </p:txBody>
      </p:sp>
      <p:sp>
        <p:nvSpPr>
          <p:cNvPr id="2" name="">
            <a:extLst xmlns:a="http://schemas.openxmlformats.org/drawingml/2006/main">
              <a:ext uri="{FF2B5EF4-FFF2-40B4-BE49-F238E27FC236}">
                <a16:creationId xmlns:a16="http://schemas.microsoft.com/office/drawing/2014/main" id="{83849DC4-8D07-4474-B76C-2081CB16E4C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A09AD7-E65C-4B56-9ED4-79721E62BEA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C4B8BDB0-93A9-41FD-B7DD-191C9B742B5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36</a:t>
            </a:r>
          </a:p>
        </p:txBody>
      </p:sp>
      <p:sp>
        <p:nvSpPr>
          <p:cNvPr id="5" name="">
            <a:extLst xmlns:a="http://schemas.openxmlformats.org/drawingml/2006/main">
              <a:ext uri="{FF2B5EF4-FFF2-40B4-BE49-F238E27FC236}">
                <a16:creationId xmlns:a16="http://schemas.microsoft.com/office/drawing/2014/main" id="{539E8622-A32F-4044-9D13-3431D12A601E}"/>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将来の用材需要と森林資源の情報</a:t>
            </a:r>
          </a:p>
        </p:txBody>
      </p:sp>
      <p:sp>
        <p:nvSpPr>
          <p:cNvPr id="6" name="">
            <a:extLst xmlns:a="http://schemas.openxmlformats.org/drawingml/2006/main">
              <a:ext uri="{FF2B5EF4-FFF2-40B4-BE49-F238E27FC236}">
                <a16:creationId xmlns:a16="http://schemas.microsoft.com/office/drawing/2014/main" id="{1F4B1A30-BEA2-4707-9BD8-99C792D6E656}"/>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生産・流通・利用の連携</a:t>
            </a:r>
          </a:p>
        </p:txBody>
      </p:sp>
      <p:sp>
        <p:nvSpPr>
          <p:cNvPr id="7" name="">
            <a:extLst xmlns:a="http://schemas.openxmlformats.org/drawingml/2006/main">
              <a:ext uri="{FF2B5EF4-FFF2-40B4-BE49-F238E27FC236}">
                <a16:creationId xmlns:a16="http://schemas.microsoft.com/office/drawing/2014/main" id="{A5E7074C-29DB-4744-8124-0912011DD51F}"/>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供給量に加え、環境負荷も確認する</a:t>
            </a:r>
          </a:p>
        </p:txBody>
      </p:sp>
      <p:sp>
        <p:nvSpPr>
          <p:cNvPr id="8" name="">
            <a:extLst xmlns:a="http://schemas.openxmlformats.org/drawingml/2006/main">
              <a:ext uri="{FF2B5EF4-FFF2-40B4-BE49-F238E27FC236}">
                <a16:creationId xmlns:a16="http://schemas.microsoft.com/office/drawing/2014/main" id="{B21823B5-AC0D-4B47-B0D1-593EF64AEA53}"/>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出典：[9]　末尾の参照資料へ</a:t>
            </a:r>
          </a:p>
        </p:txBody>
      </p:sp>
    </p:spTree>
    <p:extLst>
      <p:ext uri="{BB962C8B-B14F-4D97-AF65-F5344CB8AC3E}">
        <p14:creationId xmlns:p14="http://schemas.microsoft.com/office/powerpoint/2010/main" val="147771490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B1F7F8-FF42-4E99-9030-96AD3C0ACE6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段階的に使い、貯蔵期間を考える</a:t>
            </a:r>
          </a:p>
        </p:txBody>
      </p:sp>
      <p:sp>
        <p:nvSpPr>
          <p:cNvPr id="2" name="">
            <a:extLst xmlns:a="http://schemas.openxmlformats.org/drawingml/2006/main">
              <a:ext uri="{FF2B5EF4-FFF2-40B4-BE49-F238E27FC236}">
                <a16:creationId xmlns:a16="http://schemas.microsoft.com/office/drawing/2014/main" id="{20A94F49-5B9F-43FF-9861-A7822F040CC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7B4C491-CF97-42F0-A932-765F6F990B0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596275E3-31AF-4A40-8627-35F843C4C90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37</a:t>
            </a:r>
          </a:p>
        </p:txBody>
      </p:sp>
      <p:sp>
        <p:nvSpPr>
          <p:cNvPr id="5" name="">
            <a:extLst xmlns:a="http://schemas.openxmlformats.org/drawingml/2006/main">
              <a:ext uri="{FF2B5EF4-FFF2-40B4-BE49-F238E27FC236}">
                <a16:creationId xmlns:a16="http://schemas.microsoft.com/office/drawing/2014/main" id="{FCD82A04-B5A7-445D-A552-80DDB48C436E}"/>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製品・部材として再使用する</a:t>
            </a:r>
          </a:p>
        </p:txBody>
      </p:sp>
      <p:sp>
        <p:nvSpPr>
          <p:cNvPr id="6" name="">
            <a:extLst xmlns:a="http://schemas.openxmlformats.org/drawingml/2006/main">
              <a:ext uri="{FF2B5EF4-FFF2-40B4-BE49-F238E27FC236}">
                <a16:creationId xmlns:a16="http://schemas.microsoft.com/office/drawing/2014/main" id="{CA32BBDD-643F-4129-AFFA-45AEDC4DC613}"/>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材料として再資源化する</a:t>
            </a:r>
          </a:p>
        </p:txBody>
      </p:sp>
      <p:sp>
        <p:nvSpPr>
          <p:cNvPr id="7" name="">
            <a:extLst xmlns:a="http://schemas.openxmlformats.org/drawingml/2006/main">
              <a:ext uri="{FF2B5EF4-FFF2-40B4-BE49-F238E27FC236}">
                <a16:creationId xmlns:a16="http://schemas.microsoft.com/office/drawing/2014/main" id="{DBB20BEA-F652-4661-B25A-5B147724F215}"/>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燃料利用など使用後の経路を区別する</a:t>
            </a:r>
          </a:p>
        </p:txBody>
      </p:sp>
      <p:sp>
        <p:nvSpPr>
          <p:cNvPr id="8" name="">
            <a:extLst xmlns:a="http://schemas.openxmlformats.org/drawingml/2006/main">
              <a:ext uri="{FF2B5EF4-FFF2-40B4-BE49-F238E27FC236}">
                <a16:creationId xmlns:a16="http://schemas.microsoft.com/office/drawing/2014/main" id="{8303C938-E0B6-4658-BEDE-31ACDC7239D5}"/>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出典：[8]　末尾の参照資料へ</a:t>
            </a:r>
          </a:p>
        </p:txBody>
      </p:sp>
    </p:spTree>
    <p:extLst>
      <p:ext uri="{BB962C8B-B14F-4D97-AF65-F5344CB8AC3E}">
        <p14:creationId xmlns:p14="http://schemas.microsoft.com/office/powerpoint/2010/main" val="28951516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CA924E2-852A-44B5-9A74-236A1CC3199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古い資料を現在へ読み替えない</a:t>
            </a:r>
          </a:p>
        </p:txBody>
      </p:sp>
      <p:sp>
        <p:nvSpPr>
          <p:cNvPr id="2" name="">
            <a:extLst xmlns:a="http://schemas.openxmlformats.org/drawingml/2006/main">
              <a:ext uri="{FF2B5EF4-FFF2-40B4-BE49-F238E27FC236}">
                <a16:creationId xmlns:a16="http://schemas.microsoft.com/office/drawing/2014/main" id="{82230D2C-B460-4BBC-9070-D687C060201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E8113D-271D-4BE2-9AC0-F8E0DD1221C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8605B37E-B216-4E62-98DF-F84BA9FD7C0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38</a:t>
            </a:r>
          </a:p>
        </p:txBody>
      </p:sp>
      <p:sp>
        <p:nvSpPr>
          <p:cNvPr id="5" name="">
            <a:extLst xmlns:a="http://schemas.openxmlformats.org/drawingml/2006/main">
              <a:ext uri="{FF2B5EF4-FFF2-40B4-BE49-F238E27FC236}">
                <a16:creationId xmlns:a16="http://schemas.microsoft.com/office/drawing/2014/main" id="{CFB8480C-0222-464A-9C3B-5C10967222FD}"/>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当時の数値・比較条件・制度を確認する</a:t>
            </a:r>
          </a:p>
        </p:txBody>
      </p:sp>
      <p:sp>
        <p:nvSpPr>
          <p:cNvPr id="6" name="">
            <a:extLst xmlns:a="http://schemas.openxmlformats.org/drawingml/2006/main">
              <a:ext uri="{FF2B5EF4-FFF2-40B4-BE49-F238E27FC236}">
                <a16:creationId xmlns:a16="http://schemas.microsoft.com/office/drawing/2014/main" id="{73F327EE-4EFB-4477-8377-EE50A07EBAFA}"/>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炭素の貯蔵と、制度上の計上を分ける</a:t>
            </a:r>
          </a:p>
        </p:txBody>
      </p:sp>
      <p:sp>
        <p:nvSpPr>
          <p:cNvPr id="7" name="">
            <a:extLst xmlns:a="http://schemas.openxmlformats.org/drawingml/2006/main">
              <a:ext uri="{FF2B5EF4-FFF2-40B4-BE49-F238E27FC236}">
                <a16:creationId xmlns:a16="http://schemas.microsoft.com/office/drawing/2014/main" id="{D0BD1D0F-E6F1-4B6F-AC96-322355113B6D}"/>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現在の算定方法は現行ガイドラインへ</a:t>
            </a:r>
          </a:p>
        </p:txBody>
      </p:sp>
      <p:sp>
        <p:nvSpPr>
          <p:cNvPr id="8" name="">
            <a:extLst xmlns:a="http://schemas.openxmlformats.org/drawingml/2006/main">
              <a:ext uri="{FF2B5EF4-FFF2-40B4-BE49-F238E27FC236}">
                <a16:creationId xmlns:a16="http://schemas.microsoft.com/office/drawing/2014/main" id="{98CCC1A4-2C7B-45C4-8AAF-85334C19BAA8}"/>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出典：[5] [8]　末尾の参照資料へ</a:t>
            </a:r>
          </a:p>
        </p:txBody>
      </p:sp>
    </p:spTree>
    <p:extLst>
      <p:ext uri="{BB962C8B-B14F-4D97-AF65-F5344CB8AC3E}">
        <p14:creationId xmlns:p14="http://schemas.microsoft.com/office/powerpoint/2010/main" val="190695435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E7B996-53E4-4C7A-85D8-33C1520C16F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木の文化を伝える説明例</a:t>
            </a:r>
          </a:p>
        </p:txBody>
      </p:sp>
      <p:sp>
        <p:nvSpPr>
          <p:cNvPr id="2" name="">
            <a:extLst xmlns:a="http://schemas.openxmlformats.org/drawingml/2006/main">
              <a:ext uri="{FF2B5EF4-FFF2-40B4-BE49-F238E27FC236}">
                <a16:creationId xmlns:a16="http://schemas.microsoft.com/office/drawing/2014/main" id="{07746A87-59EF-4733-B8CE-A26A931DC20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3666C4F-B868-4469-911B-1D08D6CC29B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5EE71078-65B4-42B7-856D-A63B33272C6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39</a:t>
            </a:r>
          </a:p>
        </p:txBody>
      </p:sp>
      <p:sp>
        <p:nvSpPr>
          <p:cNvPr id="5" name="">
            <a:extLst xmlns:a="http://schemas.openxmlformats.org/drawingml/2006/main">
              <a:ext uri="{FF2B5EF4-FFF2-40B4-BE49-F238E27FC236}">
                <a16:creationId xmlns:a16="http://schemas.microsoft.com/office/drawing/2014/main" id="{F9A55A4D-F869-4629-A297-D5243A5D47B3}"/>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森林を管理して必要な材を得る</a:t>
            </a:r>
          </a:p>
        </p:txBody>
      </p:sp>
      <p:sp>
        <p:nvSpPr>
          <p:cNvPr id="6" name="">
            <a:extLst xmlns:a="http://schemas.openxmlformats.org/drawingml/2006/main">
              <a:ext uri="{FF2B5EF4-FFF2-40B4-BE49-F238E27FC236}">
                <a16:creationId xmlns:a16="http://schemas.microsoft.com/office/drawing/2014/main" id="{AE14C47E-2525-4791-985F-ED40275AD002}"/>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適材・加工・接合と維持を組み合わせる</a:t>
            </a:r>
          </a:p>
        </p:txBody>
      </p:sp>
      <p:sp>
        <p:nvSpPr>
          <p:cNvPr id="7" name="">
            <a:extLst xmlns:a="http://schemas.openxmlformats.org/drawingml/2006/main">
              <a:ext uri="{FF2B5EF4-FFF2-40B4-BE49-F238E27FC236}">
                <a16:creationId xmlns:a16="http://schemas.microsoft.com/office/drawing/2014/main" id="{33390530-7F51-468C-85B2-AF39A27CDE74}"/>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材と技能、炭素の貯蔵を次へつなぐ</a:t>
            </a:r>
          </a:p>
        </p:txBody>
      </p:sp>
    </p:spTree>
    <p:extLst>
      <p:ext uri="{BB962C8B-B14F-4D97-AF65-F5344CB8AC3E}">
        <p14:creationId xmlns:p14="http://schemas.microsoft.com/office/powerpoint/2010/main" val="197120772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D0EC9E-BAEE-497E-8841-6018223B3BF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短い確認と次の回</a:t>
            </a:r>
          </a:p>
        </p:txBody>
      </p:sp>
      <p:sp>
        <p:nvSpPr>
          <p:cNvPr id="2" name="">
            <a:extLst xmlns:a="http://schemas.openxmlformats.org/drawingml/2006/main">
              <a:ext uri="{FF2B5EF4-FFF2-40B4-BE49-F238E27FC236}">
                <a16:creationId xmlns:a16="http://schemas.microsoft.com/office/drawing/2014/main" id="{788D17DA-B3A3-401B-A1D6-3D71C829FD5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FA78CFB-F7B4-4051-AB73-62F57B8ACA1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FAC5F723-2B8D-4F97-9D27-2AE0C655B9B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40</a:t>
            </a:r>
          </a:p>
        </p:txBody>
      </p:sp>
      <p:sp>
        <p:nvSpPr>
          <p:cNvPr id="5" name="">
            <a:extLst xmlns:a="http://schemas.openxmlformats.org/drawingml/2006/main">
              <a:ext uri="{FF2B5EF4-FFF2-40B4-BE49-F238E27FC236}">
                <a16:creationId xmlns:a16="http://schemas.microsoft.com/office/drawing/2014/main" id="{AD41248A-B13C-4012-992A-91D8019C3DAC}"/>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長寿・長期使用・炭素貯蔵を分けられるか</a:t>
            </a:r>
          </a:p>
        </p:txBody>
      </p:sp>
      <p:sp>
        <p:nvSpPr>
          <p:cNvPr id="6" name="">
            <a:extLst xmlns:a="http://schemas.openxmlformats.org/drawingml/2006/main">
              <a:ext uri="{FF2B5EF4-FFF2-40B4-BE49-F238E27FC236}">
                <a16:creationId xmlns:a16="http://schemas.microsoft.com/office/drawing/2014/main" id="{8EEC29D0-AE5C-4252-A318-819252161D88}"/>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用材供給と保存修理の関係を説明できるか</a:t>
            </a:r>
          </a:p>
        </p:txBody>
      </p:sp>
      <p:sp>
        <p:nvSpPr>
          <p:cNvPr id="7" name="">
            <a:extLst xmlns:a="http://schemas.openxmlformats.org/drawingml/2006/main">
              <a:ext uri="{FF2B5EF4-FFF2-40B4-BE49-F238E27FC236}">
                <a16:creationId xmlns:a16="http://schemas.microsoft.com/office/drawing/2014/main" id="{FFBF74DD-B031-4B85-9B32-B7547F53540F}"/>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次は接着・塗装と木質材料へ</a:t>
            </a:r>
          </a:p>
        </p:txBody>
      </p:sp>
    </p:spTree>
    <p:extLst>
      <p:ext uri="{BB962C8B-B14F-4D97-AF65-F5344CB8AC3E}">
        <p14:creationId xmlns:p14="http://schemas.microsoft.com/office/powerpoint/2010/main" val="164417786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88C477-7AF7-45D6-A37A-05E156AC677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参照資料</a:t>
            </a:r>
          </a:p>
        </p:txBody>
      </p:sp>
      <p:sp>
        <p:nvSpPr>
          <p:cNvPr id="2" name="">
            <a:extLst xmlns:a="http://schemas.openxmlformats.org/drawingml/2006/main">
              <a:ext uri="{FF2B5EF4-FFF2-40B4-BE49-F238E27FC236}">
                <a16:creationId xmlns:a16="http://schemas.microsoft.com/office/drawing/2014/main" id="{A659F59B-5E62-498B-96E8-682E04F5446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2626B0-197E-497C-A0DF-9D097070456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D27D8FEE-C578-4A48-BF51-93DE33D905E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41</a:t>
            </a:r>
          </a:p>
        </p:txBody>
      </p:sp>
      <p:sp>
        <p:nvSpPr>
          <p:cNvPr id="5" name="">
            <a:extLst xmlns:a="http://schemas.openxmlformats.org/drawingml/2006/main">
              <a:ext uri="{FF2B5EF4-FFF2-40B4-BE49-F238E27FC236}">
                <a16:creationId xmlns:a16="http://schemas.microsoft.com/office/drawing/2014/main" id="{4A6CBB94-91DF-47C0-91C4-98CB34896D72}"/>
              </a:ext>
            </a:extLst>
          </p:cNvPr>
          <p:cNvSpPr>
            <a:spLocks xmlns:a="http://schemas.openxmlformats.org/drawingml/2006/main" noGrp="1"/>
          </p:cNvSpPr>
          <p:nvPr/>
        </p:nvSpPr>
        <p:spPr>
          <a:xfrm xmlns:a="http://schemas.openxmlformats.org/drawingml/2006/main">
            <a:off x="838200" y="15716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6cda0391fa7149c3"/>
              </a:rPr>
              <a:t>文部科学省（2017）技術・家庭編 解説27・28・39頁</a:t>
            </a:r>
          </a:p>
        </p:txBody>
      </p:sp>
      <p:sp>
        <p:nvSpPr>
          <p:cNvPr id="6" name="">
            <a:extLst xmlns:a="http://schemas.openxmlformats.org/drawingml/2006/main">
              <a:ext uri="{FF2B5EF4-FFF2-40B4-BE49-F238E27FC236}">
                <a16:creationId xmlns:a16="http://schemas.microsoft.com/office/drawing/2014/main" id="{54E1C03D-3B44-4F7F-AD12-80CCAED1F01B}"/>
              </a:ext>
            </a:extLst>
          </p:cNvPr>
          <p:cNvSpPr>
            <a:spLocks xmlns:a="http://schemas.openxmlformats.org/drawingml/2006/main" noGrp="1"/>
          </p:cNvSpPr>
          <p:nvPr/>
        </p:nvSpPr>
        <p:spPr>
          <a:xfrm xmlns:a="http://schemas.openxmlformats.org/drawingml/2006/main">
            <a:off x="838200" y="25717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8533428aaabc485f"/>
              </a:rPr>
              <a:t>林野庁 木の文化を支える森</a:t>
            </a:r>
          </a:p>
        </p:txBody>
      </p:sp>
      <p:sp>
        <p:nvSpPr>
          <p:cNvPr id="7" name="">
            <a:extLst xmlns:a="http://schemas.openxmlformats.org/drawingml/2006/main">
              <a:ext uri="{FF2B5EF4-FFF2-40B4-BE49-F238E27FC236}">
                <a16:creationId xmlns:a16="http://schemas.microsoft.com/office/drawing/2014/main" id="{1186A665-8E28-42E4-A9F2-49AFE7F05F67}"/>
              </a:ext>
            </a:extLst>
          </p:cNvPr>
          <p:cNvSpPr>
            <a:spLocks xmlns:a="http://schemas.openxmlformats.org/drawingml/2006/main" noGrp="1"/>
          </p:cNvSpPr>
          <p:nvPr/>
        </p:nvSpPr>
        <p:spPr>
          <a:xfrm xmlns:a="http://schemas.openxmlformats.org/drawingml/2006/main">
            <a:off x="838200" y="357187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d02806e2b6ea4eca"/>
              </a:rPr>
              <a:t>伊勢神宮 永遠の森</a:t>
            </a:r>
          </a:p>
        </p:txBody>
      </p:sp>
      <p:sp>
        <p:nvSpPr>
          <p:cNvPr id="8" name="">
            <a:extLst xmlns:a="http://schemas.openxmlformats.org/drawingml/2006/main">
              <a:ext uri="{FF2B5EF4-FFF2-40B4-BE49-F238E27FC236}">
                <a16:creationId xmlns:a16="http://schemas.microsoft.com/office/drawing/2014/main" id="{AC1E833E-AF8F-4B9E-BC34-38A2D5E91FAD}"/>
              </a:ext>
            </a:extLst>
          </p:cNvPr>
          <p:cNvSpPr>
            <a:spLocks xmlns:a="http://schemas.openxmlformats.org/drawingml/2006/main" noGrp="1"/>
          </p:cNvSpPr>
          <p:nvPr/>
        </p:nvSpPr>
        <p:spPr>
          <a:xfrm xmlns:a="http://schemas.openxmlformats.org/drawingml/2006/main">
            <a:off x="838200" y="45720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c921290838464ea1"/>
              </a:rPr>
              <a:t>文化庁 伝統建築工匠の技</a:t>
            </a:r>
          </a:p>
        </p:txBody>
      </p:sp>
    </p:spTree>
    <p:extLst>
      <p:ext uri="{BB962C8B-B14F-4D97-AF65-F5344CB8AC3E}">
        <p14:creationId xmlns:p14="http://schemas.microsoft.com/office/powerpoint/2010/main" val="78819032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65A56B-F96D-429D-AD9E-0A56A97A389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参照資料</a:t>
            </a:r>
          </a:p>
        </p:txBody>
      </p:sp>
      <p:sp>
        <p:nvSpPr>
          <p:cNvPr id="2" name="">
            <a:extLst xmlns:a="http://schemas.openxmlformats.org/drawingml/2006/main">
              <a:ext uri="{FF2B5EF4-FFF2-40B4-BE49-F238E27FC236}">
                <a16:creationId xmlns:a16="http://schemas.microsoft.com/office/drawing/2014/main" id="{54F75175-E2BD-43E9-9EA1-E89D43C29BB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E6EC94-E620-4853-8EAC-D9F7373579E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A04AEB0D-07BE-447F-816A-54F86B21D22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42</a:t>
            </a:r>
          </a:p>
        </p:txBody>
      </p:sp>
      <p:sp>
        <p:nvSpPr>
          <p:cNvPr id="5" name="">
            <a:extLst xmlns:a="http://schemas.openxmlformats.org/drawingml/2006/main">
              <a:ext uri="{FF2B5EF4-FFF2-40B4-BE49-F238E27FC236}">
                <a16:creationId xmlns:a16="http://schemas.microsoft.com/office/drawing/2014/main" id="{10A43588-452D-4A5C-BE8F-13F11D2C28B5}"/>
              </a:ext>
            </a:extLst>
          </p:cNvPr>
          <p:cNvSpPr>
            <a:spLocks xmlns:a="http://schemas.openxmlformats.org/drawingml/2006/main" noGrp="1"/>
          </p:cNvSpPr>
          <p:nvPr/>
        </p:nvSpPr>
        <p:spPr>
          <a:xfrm xmlns:a="http://schemas.openxmlformats.org/drawingml/2006/main">
            <a:off x="838200" y="15716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eba5f48a182c4157"/>
              </a:rPr>
              <a:t>林野庁 建築物の炭素貯蔵量ガイドライン</a:t>
            </a:r>
          </a:p>
        </p:txBody>
      </p:sp>
      <p:sp>
        <p:nvSpPr>
          <p:cNvPr id="6" name="">
            <a:extLst xmlns:a="http://schemas.openxmlformats.org/drawingml/2006/main">
              <a:ext uri="{FF2B5EF4-FFF2-40B4-BE49-F238E27FC236}">
                <a16:creationId xmlns:a16="http://schemas.microsoft.com/office/drawing/2014/main" id="{0C787A7C-AEF6-4395-971D-D9F930349C91}"/>
              </a:ext>
            </a:extLst>
          </p:cNvPr>
          <p:cNvSpPr>
            <a:spLocks xmlns:a="http://schemas.openxmlformats.org/drawingml/2006/main" noGrp="1"/>
          </p:cNvSpPr>
          <p:nvPr/>
        </p:nvSpPr>
        <p:spPr>
          <a:xfrm xmlns:a="http://schemas.openxmlformats.org/drawingml/2006/main">
            <a:off x="838200" y="25717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69336b6d85d54748"/>
              </a:rPr>
              <a:t>気象庁 地球温暖化について</a:t>
            </a:r>
          </a:p>
        </p:txBody>
      </p:sp>
      <p:sp>
        <p:nvSpPr>
          <p:cNvPr id="7" name="">
            <a:extLst xmlns:a="http://schemas.openxmlformats.org/drawingml/2006/main">
              <a:ext uri="{FF2B5EF4-FFF2-40B4-BE49-F238E27FC236}">
                <a16:creationId xmlns:a16="http://schemas.microsoft.com/office/drawing/2014/main" id="{A25F8D77-86C7-4E0F-A28A-82D6FDB2EBA4}"/>
              </a:ext>
            </a:extLst>
          </p:cNvPr>
          <p:cNvSpPr>
            <a:spLocks xmlns:a="http://schemas.openxmlformats.org/drawingml/2006/main" noGrp="1"/>
          </p:cNvSpPr>
          <p:nvPr/>
        </p:nvSpPr>
        <p:spPr>
          <a:xfrm xmlns:a="http://schemas.openxmlformats.org/drawingml/2006/main">
            <a:off x="838200" y="357187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5a528e3c95214525"/>
              </a:rPr>
              <a:t>IPCC（2023）統合報告書 主要な知見 A.1</a:t>
            </a:r>
          </a:p>
        </p:txBody>
      </p:sp>
    </p:spTree>
    <p:extLst>
      <p:ext uri="{BB962C8B-B14F-4D97-AF65-F5344CB8AC3E}">
        <p14:creationId xmlns:p14="http://schemas.microsoft.com/office/powerpoint/2010/main" val="14594010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6DB34D-F563-4551-AB10-DA2BA7E122A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追加の参照資料</a:t>
            </a:r>
          </a:p>
        </p:txBody>
      </p:sp>
      <p:sp>
        <p:nvSpPr>
          <p:cNvPr id="2" name="">
            <a:extLst xmlns:a="http://schemas.openxmlformats.org/drawingml/2006/main">
              <a:ext uri="{FF2B5EF4-FFF2-40B4-BE49-F238E27FC236}">
                <a16:creationId xmlns:a16="http://schemas.microsoft.com/office/drawing/2014/main" id="{56D12AEC-610D-4AD0-820E-37C81A0DEC1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7CE9C6-19F0-4F78-B3DA-2D5865E7C52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新第12回　2026年10月31日</a:t>
            </a:r>
          </a:p>
        </p:txBody>
      </p:sp>
      <p:sp>
        <p:nvSpPr>
          <p:cNvPr id="4" name="">
            <a:extLst xmlns:a="http://schemas.openxmlformats.org/drawingml/2006/main">
              <a:ext uri="{FF2B5EF4-FFF2-40B4-BE49-F238E27FC236}">
                <a16:creationId xmlns:a16="http://schemas.microsoft.com/office/drawing/2014/main" id="{5EED77FE-58C6-495A-A595-DC067823748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43</a:t>
            </a:r>
          </a:p>
        </p:txBody>
      </p:sp>
      <p:sp>
        <p:nvSpPr>
          <p:cNvPr id="5" name="">
            <a:extLst xmlns:a="http://schemas.openxmlformats.org/drawingml/2006/main">
              <a:ext uri="{FF2B5EF4-FFF2-40B4-BE49-F238E27FC236}">
                <a16:creationId xmlns:a16="http://schemas.microsoft.com/office/drawing/2014/main" id="{BD5367CC-4479-4E15-9AB1-E3BDF109138D}"/>
              </a:ext>
            </a:extLst>
          </p:cNvPr>
          <p:cNvSpPr>
            <a:spLocks xmlns:a="http://schemas.openxmlformats.org/drawingml/2006/main" noGrp="1"/>
          </p:cNvSpPr>
          <p:nvPr/>
        </p:nvSpPr>
        <p:spPr>
          <a:xfrm xmlns:a="http://schemas.openxmlformats.org/drawingml/2006/main">
            <a:off x="838200" y="15716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41ce57fc047244d9"/>
              </a:rPr>
              <a:t>林野庁（2008年公表資料）木材の材料としての特徴 3・4・6ページ</a:t>
            </a:r>
          </a:p>
        </p:txBody>
      </p:sp>
      <p:sp>
        <p:nvSpPr>
          <p:cNvPr id="6" name="">
            <a:extLst xmlns:a="http://schemas.openxmlformats.org/drawingml/2006/main">
              <a:ext uri="{FF2B5EF4-FFF2-40B4-BE49-F238E27FC236}">
                <a16:creationId xmlns:a16="http://schemas.microsoft.com/office/drawing/2014/main" id="{1C633026-4A4B-496A-857E-469C28FDD367}"/>
              </a:ext>
            </a:extLst>
          </p:cNvPr>
          <p:cNvSpPr>
            <a:spLocks xmlns:a="http://schemas.openxmlformats.org/drawingml/2006/main" noGrp="1"/>
          </p:cNvSpPr>
          <p:nvPr/>
        </p:nvSpPr>
        <p:spPr>
          <a:xfrm xmlns:a="http://schemas.openxmlformats.org/drawingml/2006/main">
            <a:off x="838200" y="25717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013565a7de344fc1"/>
              </a:rPr>
              <a:t>日本学術会議（2020年6月19日）建築分野での木材利用の促進</a:t>
            </a:r>
          </a:p>
        </p:txBody>
      </p:sp>
    </p:spTree>
    <p:extLst>
      <p:ext uri="{BB962C8B-B14F-4D97-AF65-F5344CB8AC3E}">
        <p14:creationId xmlns:p14="http://schemas.microsoft.com/office/powerpoint/2010/main" val="7773450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2026-10-31T05:04:22.3210000Z</dcterms:created>
  <dcterms:modified xsi:type="dcterms:W3CDTF">2026-10-31T05:04:22.3210000Z</dcterms:modified>
</coreProperties>
</file>