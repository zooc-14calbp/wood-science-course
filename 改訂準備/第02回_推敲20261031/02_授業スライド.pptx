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7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0af69b4bc74655" /><Relationship Type="http://schemas.openxmlformats.org/officeDocument/2006/relationships/extended-properties" Target="/docProps/app.xml" Id="R91a8441618fd4bb3" /><Relationship Type="http://schemas.openxmlformats.org/officeDocument/2006/relationships/officeDocument" Target="/ppt/presentation.xml" Id="R4ae24b41bc114d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b02266f5994115"/>
    <p:sldMasterId xmlns:r="http://schemas.openxmlformats.org/officeDocument/2006/relationships" id="2147483655" r:id="Rf62374b95d8c4ba4"/>
    <p:sldMasterId xmlns:r="http://schemas.openxmlformats.org/officeDocument/2006/relationships" id="2147483662" r:id="R0604e99b12df448b"/>
    <p:sldMasterId xmlns:r="http://schemas.openxmlformats.org/officeDocument/2006/relationships" id="2147483669" r:id="R1015729d91eb471e"/>
    <p:sldMasterId xmlns:r="http://schemas.openxmlformats.org/officeDocument/2006/relationships" id="2147483676" r:id="Rb4c1b635da5645c8"/>
  </p:sldMasterIdLst>
  <p:notesMasterIdLst>
    <p:notesMasterId xmlns:r="http://schemas.openxmlformats.org/officeDocument/2006/relationships" r:id="Rd57f752f1f5947a8"/>
  </p:notesMasterIdLst>
  <p:sldIdLst>
    <p:sldId xmlns:r="http://schemas.openxmlformats.org/officeDocument/2006/relationships" id="256" r:id="Rd790f6d5cbf34363"/>
    <p:sldId xmlns:r="http://schemas.openxmlformats.org/officeDocument/2006/relationships" id="257" r:id="R04e2b4711812440e"/>
    <p:sldId xmlns:r="http://schemas.openxmlformats.org/officeDocument/2006/relationships" id="258" r:id="R605900eabbc44788"/>
    <p:sldId xmlns:r="http://schemas.openxmlformats.org/officeDocument/2006/relationships" id="259" r:id="R9b60ac317e8c49aa"/>
    <p:sldId xmlns:r="http://schemas.openxmlformats.org/officeDocument/2006/relationships" id="260" r:id="R48c40855eb7a42e4"/>
    <p:sldId xmlns:r="http://schemas.openxmlformats.org/officeDocument/2006/relationships" id="261" r:id="R4db38fc3bfe34f3c"/>
    <p:sldId xmlns:r="http://schemas.openxmlformats.org/officeDocument/2006/relationships" id="262" r:id="Rcb0fd22fb652437f"/>
    <p:sldId xmlns:r="http://schemas.openxmlformats.org/officeDocument/2006/relationships" id="263" r:id="R58ebc84d48af4efd"/>
    <p:sldId xmlns:r="http://schemas.openxmlformats.org/officeDocument/2006/relationships" id="264" r:id="R71d584a926bd4838"/>
    <p:sldId xmlns:r="http://schemas.openxmlformats.org/officeDocument/2006/relationships" id="265" r:id="R00bda11ebada4bc0"/>
    <p:sldId xmlns:r="http://schemas.openxmlformats.org/officeDocument/2006/relationships" id="266" r:id="R86d62cedbd474312"/>
    <p:sldId xmlns:r="http://schemas.openxmlformats.org/officeDocument/2006/relationships" id="267" r:id="Rda29f75448174d30"/>
    <p:sldId xmlns:r="http://schemas.openxmlformats.org/officeDocument/2006/relationships" id="268" r:id="Raff053ab03274204"/>
    <p:sldId xmlns:r="http://schemas.openxmlformats.org/officeDocument/2006/relationships" id="269" r:id="Rfede3c5e934c4254"/>
    <p:sldId xmlns:r="http://schemas.openxmlformats.org/officeDocument/2006/relationships" id="270" r:id="Rf4a702e829614adf"/>
    <p:sldId xmlns:r="http://schemas.openxmlformats.org/officeDocument/2006/relationships" id="271" r:id="Rdb5f19e0af55435b"/>
    <p:sldId xmlns:r="http://schemas.openxmlformats.org/officeDocument/2006/relationships" id="272" r:id="Rf59fc428b2b3444c"/>
    <p:sldId xmlns:r="http://schemas.openxmlformats.org/officeDocument/2006/relationships" id="273" r:id="Rc54e285bcc2240b6"/>
    <p:sldId xmlns:r="http://schemas.openxmlformats.org/officeDocument/2006/relationships" id="274" r:id="Re7f18ae8faeb4970"/>
    <p:sldId xmlns:r="http://schemas.openxmlformats.org/officeDocument/2006/relationships" id="275" r:id="R7e3d57b18c9f4209"/>
    <p:sldId xmlns:r="http://schemas.openxmlformats.org/officeDocument/2006/relationships" id="276" r:id="Rfe68bf8092f343ae"/>
    <p:sldId xmlns:r="http://schemas.openxmlformats.org/officeDocument/2006/relationships" id="277" r:id="Ra6f3dc5916474eab"/>
    <p:sldId xmlns:r="http://schemas.openxmlformats.org/officeDocument/2006/relationships" id="278" r:id="R2de665d51c7b4760"/>
    <p:sldId xmlns:r="http://schemas.openxmlformats.org/officeDocument/2006/relationships" id="279" r:id="Rc3784a5c57694602"/>
    <p:sldId xmlns:r="http://schemas.openxmlformats.org/officeDocument/2006/relationships" id="280" r:id="R0f5a9bee0a2745c2"/>
    <p:sldId xmlns:r="http://schemas.openxmlformats.org/officeDocument/2006/relationships" id="281" r:id="R415de613bbd141b2"/>
    <p:sldId xmlns:r="http://schemas.openxmlformats.org/officeDocument/2006/relationships" id="282" r:id="R47823fad25ec46ef"/>
    <p:sldId xmlns:r="http://schemas.openxmlformats.org/officeDocument/2006/relationships" id="283" r:id="Rb380864f490c4fce"/>
    <p:sldId xmlns:r="http://schemas.openxmlformats.org/officeDocument/2006/relationships" id="284" r:id="R5fb8525ad28a4c58"/>
    <p:sldId xmlns:r="http://schemas.openxmlformats.org/officeDocument/2006/relationships" id="285" r:id="R36438270b5234070"/>
    <p:sldId xmlns:r="http://schemas.openxmlformats.org/officeDocument/2006/relationships" id="286" r:id="R6f76598146984203"/>
    <p:sldId xmlns:r="http://schemas.openxmlformats.org/officeDocument/2006/relationships" id="287" r:id="R9c597a3e3d6041ab"/>
    <p:sldId xmlns:r="http://schemas.openxmlformats.org/officeDocument/2006/relationships" id="288" r:id="Ra67be035a6294569"/>
    <p:sldId xmlns:r="http://schemas.openxmlformats.org/officeDocument/2006/relationships" id="289" r:id="R99f416ca1ab44892"/>
    <p:sldId xmlns:r="http://schemas.openxmlformats.org/officeDocument/2006/relationships" id="290" r:id="Rc366ddc2ead448e2"/>
    <p:sldId xmlns:r="http://schemas.openxmlformats.org/officeDocument/2006/relationships" id="291" r:id="Rd950dd2b552b42cf"/>
    <p:sldId xmlns:r="http://schemas.openxmlformats.org/officeDocument/2006/relationships" id="292" r:id="R1ac1d46a064244ec"/>
    <p:sldId xmlns:r="http://schemas.openxmlformats.org/officeDocument/2006/relationships" id="293" r:id="R9d2efdd9e23a48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1f19ed86c64b5d" /><Relationship Type="http://schemas.openxmlformats.org/officeDocument/2006/relationships/slideMaster" Target="/ppt/slideMasters/slideMaster1.xml" Id="Rf5b02266f5994115" /><Relationship Type="http://schemas.openxmlformats.org/officeDocument/2006/relationships/slideMaster" Target="/ppt/slideMasters/slideMaster2.xml" Id="Rf62374b95d8c4ba4" /><Relationship Type="http://schemas.openxmlformats.org/officeDocument/2006/relationships/slideMaster" Target="/ppt/slideMasters/slideMaster3.xml" Id="R0604e99b12df448b" /><Relationship Type="http://schemas.openxmlformats.org/officeDocument/2006/relationships/slideMaster" Target="/ppt/slideMasters/slideMaster4.xml" Id="R1015729d91eb471e" /><Relationship Type="http://schemas.openxmlformats.org/officeDocument/2006/relationships/slideMaster" Target="/ppt/slideMasters/slideMaster5.xml" Id="Rb4c1b635da5645c8" /><Relationship Type="http://schemas.openxmlformats.org/officeDocument/2006/relationships/notesMaster" Target="/ppt/notesMasters/notesMaster1.xml" Id="Rd57f752f1f5947a8" /><Relationship Type="http://schemas.openxmlformats.org/officeDocument/2006/relationships/presProps" Target="/ppt/presProps.xml" Id="Rd22cb381c39d4394" /><Relationship Type="http://schemas.openxmlformats.org/officeDocument/2006/relationships/tableStyles" Target="/ppt/tableStyles.xml" Id="Re5f9f252cd6b4651" /><Relationship Type="http://schemas.openxmlformats.org/officeDocument/2006/relationships/slide" Target="/ppt/slides/slide1.xml" Id="Rd790f6d5cbf34363" /><Relationship Type="http://schemas.openxmlformats.org/officeDocument/2006/relationships/slide" Target="/ppt/slides/slide2.xml" Id="R04e2b4711812440e" /><Relationship Type="http://schemas.openxmlformats.org/officeDocument/2006/relationships/slide" Target="/ppt/slides/slide3.xml" Id="R605900eabbc44788" /><Relationship Type="http://schemas.openxmlformats.org/officeDocument/2006/relationships/slide" Target="/ppt/slides/slide4.xml" Id="R9b60ac317e8c49aa" /><Relationship Type="http://schemas.openxmlformats.org/officeDocument/2006/relationships/slide" Target="/ppt/slides/slide5.xml" Id="R48c40855eb7a42e4" /><Relationship Type="http://schemas.openxmlformats.org/officeDocument/2006/relationships/slide" Target="/ppt/slides/slide6.xml" Id="R4db38fc3bfe34f3c" /><Relationship Type="http://schemas.openxmlformats.org/officeDocument/2006/relationships/slide" Target="/ppt/slides/slide7.xml" Id="Rcb0fd22fb652437f" /><Relationship Type="http://schemas.openxmlformats.org/officeDocument/2006/relationships/slide" Target="/ppt/slides/slide8.xml" Id="R58ebc84d48af4efd" /><Relationship Type="http://schemas.openxmlformats.org/officeDocument/2006/relationships/slide" Target="/ppt/slides/slide9.xml" Id="R71d584a926bd4838" /><Relationship Type="http://schemas.openxmlformats.org/officeDocument/2006/relationships/slide" Target="/ppt/slides/slide10.xml" Id="R00bda11ebada4bc0" /><Relationship Type="http://schemas.openxmlformats.org/officeDocument/2006/relationships/slide" Target="/ppt/slides/slide11.xml" Id="R86d62cedbd474312" /><Relationship Type="http://schemas.openxmlformats.org/officeDocument/2006/relationships/slide" Target="/ppt/slides/slide12.xml" Id="Rda29f75448174d30" /><Relationship Type="http://schemas.openxmlformats.org/officeDocument/2006/relationships/slide" Target="/ppt/slides/slide13.xml" Id="Raff053ab03274204" /><Relationship Type="http://schemas.openxmlformats.org/officeDocument/2006/relationships/slide" Target="/ppt/slides/slide14.xml" Id="Rfede3c5e934c4254" /><Relationship Type="http://schemas.openxmlformats.org/officeDocument/2006/relationships/slide" Target="/ppt/slides/slide15.xml" Id="Rf4a702e829614adf" /><Relationship Type="http://schemas.openxmlformats.org/officeDocument/2006/relationships/slide" Target="/ppt/slides/slide16.xml" Id="Rdb5f19e0af55435b" /><Relationship Type="http://schemas.openxmlformats.org/officeDocument/2006/relationships/slide" Target="/ppt/slides/slide17.xml" Id="Rf59fc428b2b3444c" /><Relationship Type="http://schemas.openxmlformats.org/officeDocument/2006/relationships/slide" Target="/ppt/slides/slide18.xml" Id="Rc54e285bcc2240b6" /><Relationship Type="http://schemas.openxmlformats.org/officeDocument/2006/relationships/slide" Target="/ppt/slides/slide19.xml" Id="Re7f18ae8faeb4970" /><Relationship Type="http://schemas.openxmlformats.org/officeDocument/2006/relationships/slide" Target="/ppt/slides/slide20.xml" Id="R7e3d57b18c9f4209" /><Relationship Type="http://schemas.openxmlformats.org/officeDocument/2006/relationships/slide" Target="/ppt/slides/slide21.xml" Id="Rfe68bf8092f343ae" /><Relationship Type="http://schemas.openxmlformats.org/officeDocument/2006/relationships/slide" Target="/ppt/slides/slide22.xml" Id="Ra6f3dc5916474eab" /><Relationship Type="http://schemas.openxmlformats.org/officeDocument/2006/relationships/slide" Target="/ppt/slides/slide23.xml" Id="R2de665d51c7b4760" /><Relationship Type="http://schemas.openxmlformats.org/officeDocument/2006/relationships/slide" Target="/ppt/slides/slide24.xml" Id="Rc3784a5c57694602" /><Relationship Type="http://schemas.openxmlformats.org/officeDocument/2006/relationships/slide" Target="/ppt/slides/slide25.xml" Id="R0f5a9bee0a2745c2" /><Relationship Type="http://schemas.openxmlformats.org/officeDocument/2006/relationships/slide" Target="/ppt/slides/slide26.xml" Id="R415de613bbd141b2" /><Relationship Type="http://schemas.openxmlformats.org/officeDocument/2006/relationships/slide" Target="/ppt/slides/slide27.xml" Id="R47823fad25ec46ef" /><Relationship Type="http://schemas.openxmlformats.org/officeDocument/2006/relationships/slide" Target="/ppt/slides/slide28.xml" Id="Rb380864f490c4fce" /><Relationship Type="http://schemas.openxmlformats.org/officeDocument/2006/relationships/slide" Target="/ppt/slides/slide29.xml" Id="R5fb8525ad28a4c58" /><Relationship Type="http://schemas.openxmlformats.org/officeDocument/2006/relationships/slide" Target="/ppt/slides/slide30.xml" Id="R36438270b5234070" /><Relationship Type="http://schemas.openxmlformats.org/officeDocument/2006/relationships/slide" Target="/ppt/slides/slide31.xml" Id="R6f76598146984203" /><Relationship Type="http://schemas.openxmlformats.org/officeDocument/2006/relationships/slide" Target="/ppt/slides/slide32.xml" Id="R9c597a3e3d6041ab" /><Relationship Type="http://schemas.openxmlformats.org/officeDocument/2006/relationships/slide" Target="/ppt/slides/slide33.xml" Id="Ra67be035a6294569" /><Relationship Type="http://schemas.openxmlformats.org/officeDocument/2006/relationships/slide" Target="/ppt/slides/slide34.xml" Id="R99f416ca1ab44892" /><Relationship Type="http://schemas.openxmlformats.org/officeDocument/2006/relationships/slide" Target="/ppt/slides/slide35.xml" Id="Rc366ddc2ead448e2" /><Relationship Type="http://schemas.openxmlformats.org/officeDocument/2006/relationships/slide" Target="/ppt/slides/slide36.xml" Id="Rd950dd2b552b42cf" /><Relationship Type="http://schemas.openxmlformats.org/officeDocument/2006/relationships/slide" Target="/ppt/slides/slide37.xml" Id="R1ac1d46a064244ec" /><Relationship Type="http://schemas.openxmlformats.org/officeDocument/2006/relationships/slide" Target="/ppt/slides/slide38.xml" Id="R9d2efdd9e23a48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7.xml" Id="R54197f329ee448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d438fb3b0741ef" /><Relationship Type="http://schemas.openxmlformats.org/officeDocument/2006/relationships/notesMaster" Target="/ppt/notesMasters/notesMaster1.xml" Id="Rb87e7083708148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c5938cf85b45d1" /><Relationship Type="http://schemas.openxmlformats.org/officeDocument/2006/relationships/notesMaster" Target="/ppt/notesMasters/notesMaster1.xml" Id="R1f7b18cc56d34c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1605676fc9478c" /><Relationship Type="http://schemas.openxmlformats.org/officeDocument/2006/relationships/notesMaster" Target="/ppt/notesMasters/notesMaster1.xml" Id="Rdf65dab2a49744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c17351c53c4556" /><Relationship Type="http://schemas.openxmlformats.org/officeDocument/2006/relationships/notesMaster" Target="/ppt/notesMasters/notesMaster1.xml" Id="R1449b722fce745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2705c0cf6d415e" /><Relationship Type="http://schemas.openxmlformats.org/officeDocument/2006/relationships/notesMaster" Target="/ppt/notesMasters/notesMaster1.xml" Id="R0c24439f8f774b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cbad8180ea49d0" /><Relationship Type="http://schemas.openxmlformats.org/officeDocument/2006/relationships/notesMaster" Target="/ppt/notesMasters/notesMaster1.xml" Id="R28adc21bbfca46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94cf6cfea6421d" /><Relationship Type="http://schemas.openxmlformats.org/officeDocument/2006/relationships/notesMaster" Target="/ppt/notesMasters/notesMaster1.xml" Id="R03631c13330447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acf6dd0be843fa" /><Relationship Type="http://schemas.openxmlformats.org/officeDocument/2006/relationships/notesMaster" Target="/ppt/notesMasters/notesMaster1.xml" Id="Rba1d65f0890946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404952908a4396" /><Relationship Type="http://schemas.openxmlformats.org/officeDocument/2006/relationships/notesMaster" Target="/ppt/notesMasters/notesMaster1.xml" Id="R327c435f7b5740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fced2650d24033" /><Relationship Type="http://schemas.openxmlformats.org/officeDocument/2006/relationships/notesMaster" Target="/ppt/notesMasters/notesMaster1.xml" Id="Rd2a4b7943f2c4b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095c9794b8484d" /><Relationship Type="http://schemas.openxmlformats.org/officeDocument/2006/relationships/notesMaster" Target="/ppt/notesMasters/notesMaster1.xml" Id="Raca316d98bb247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2709c3837d4afc" /><Relationship Type="http://schemas.openxmlformats.org/officeDocument/2006/relationships/notesMaster" Target="/ppt/notesMasters/notesMaster1.xml" Id="R0221d5d959974d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68d10809284e63" /><Relationship Type="http://schemas.openxmlformats.org/officeDocument/2006/relationships/notesMaster" Target="/ppt/notesMasters/notesMaster1.xml" Id="Rec92fee0221c4e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856a97b8324ef2" /><Relationship Type="http://schemas.openxmlformats.org/officeDocument/2006/relationships/notesMaster" Target="/ppt/notesMasters/notesMaster1.xml" Id="R6d468edd046443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44b7e7589e4c23" /><Relationship Type="http://schemas.openxmlformats.org/officeDocument/2006/relationships/notesMaster" Target="/ppt/notesMasters/notesMaster1.xml" Id="R4f4ecbf72d3847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50537b159ed469b" /><Relationship Type="http://schemas.openxmlformats.org/officeDocument/2006/relationships/notesMaster" Target="/ppt/notesMasters/notesMaster1.xml" Id="R453ef7d520ff49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8a7155e4654087" /><Relationship Type="http://schemas.openxmlformats.org/officeDocument/2006/relationships/notesMaster" Target="/ppt/notesMasters/notesMaster1.xml" Id="Rd3c8cd9948764a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a4d31313584fcc" /><Relationship Type="http://schemas.openxmlformats.org/officeDocument/2006/relationships/notesMaster" Target="/ppt/notesMasters/notesMaster1.xml" Id="R179682a9cf1a4be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1c158b67b664d85" /><Relationship Type="http://schemas.openxmlformats.org/officeDocument/2006/relationships/notesMaster" Target="/ppt/notesMasters/notesMaster1.xml" Id="Rbadadbc5906f47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af86d7028d4f6b" /><Relationship Type="http://schemas.openxmlformats.org/officeDocument/2006/relationships/notesMaster" Target="/ppt/notesMasters/notesMaster1.xml" Id="R0ee20e9bab1b407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0415f97063b4c5b" /><Relationship Type="http://schemas.openxmlformats.org/officeDocument/2006/relationships/notesMaster" Target="/ppt/notesMasters/notesMaster1.xml" Id="R522f5b25cc9c49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7a4682f25ab43e8" /><Relationship Type="http://schemas.openxmlformats.org/officeDocument/2006/relationships/notesMaster" Target="/ppt/notesMasters/notesMaster1.xml" Id="Raacd5c06b172461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c788897d9504ab2" /><Relationship Type="http://schemas.openxmlformats.org/officeDocument/2006/relationships/notesMaster" Target="/ppt/notesMasters/notesMaster1.xml" Id="Rddaa63b3effc4d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ef0e955a7d64baf" /><Relationship Type="http://schemas.openxmlformats.org/officeDocument/2006/relationships/notesMaster" Target="/ppt/notesMasters/notesMaster1.xml" Id="Rdb31b4100a18407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08a4d9b967b4279" /><Relationship Type="http://schemas.openxmlformats.org/officeDocument/2006/relationships/notesMaster" Target="/ppt/notesMasters/notesMaster1.xml" Id="R9dfa5242b13f418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df1f92e2833493a" /><Relationship Type="http://schemas.openxmlformats.org/officeDocument/2006/relationships/notesMaster" Target="/ppt/notesMasters/notesMaster1.xml" Id="R7741cd4f62e444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08d1530cc5e4991" /><Relationship Type="http://schemas.openxmlformats.org/officeDocument/2006/relationships/notesMaster" Target="/ppt/notesMasters/notesMaster1.xml" Id="R886c723b523b4bd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c8988b8b70e4a05" /><Relationship Type="http://schemas.openxmlformats.org/officeDocument/2006/relationships/notesMaster" Target="/ppt/notesMasters/notesMaster1.xml" Id="R126de9b6444246d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9d58a3888574219" /><Relationship Type="http://schemas.openxmlformats.org/officeDocument/2006/relationships/notesMaster" Target="/ppt/notesMasters/notesMaster1.xml" Id="R24eaf956fae9452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f84183435a843d6" /><Relationship Type="http://schemas.openxmlformats.org/officeDocument/2006/relationships/notesMaster" Target="/ppt/notesMasters/notesMaster1.xml" Id="Rf6a6b19c4451428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76977cc7bcc4393" /><Relationship Type="http://schemas.openxmlformats.org/officeDocument/2006/relationships/notesMaster" Target="/ppt/notesMasters/notesMaster1.xml" Id="Rf46713fd63a0436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f8b153aa8914b14" /><Relationship Type="http://schemas.openxmlformats.org/officeDocument/2006/relationships/notesMaster" Target="/ppt/notesMasters/notesMaster1.xml" Id="R0fa61db1c189466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8a1192fe23a4249" /><Relationship Type="http://schemas.openxmlformats.org/officeDocument/2006/relationships/notesMaster" Target="/ppt/notesMasters/notesMaster1.xml" Id="R5d4a711be5f645a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3110fa8a245469f" /><Relationship Type="http://schemas.openxmlformats.org/officeDocument/2006/relationships/notesMaster" Target="/ppt/notesMasters/notesMaster1.xml" Id="R890b54982fee47e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cc2555667364fe4" /><Relationship Type="http://schemas.openxmlformats.org/officeDocument/2006/relationships/notesMaster" Target="/ppt/notesMasters/notesMaster1.xml" Id="R69405152c50c479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80b352d21534238" /><Relationship Type="http://schemas.openxmlformats.org/officeDocument/2006/relationships/notesMaster" Target="/ppt/notesMasters/notesMaster1.xml" Id="R2766c8af413b43d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f6a895061834350" /><Relationship Type="http://schemas.openxmlformats.org/officeDocument/2006/relationships/notesMaster" Target="/ppt/notesMasters/notesMaster1.xml" Id="Rbdfc42dcf976458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ce614ed9a31431d" /><Relationship Type="http://schemas.openxmlformats.org/officeDocument/2006/relationships/notesMaster" Target="/ppt/notesMasters/notesMaster1.xml" Id="Rddd0b5e4a4f14c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科目情報は担当教員のコメント（2026年10月24日）による。シラバスURLは指定されたリンク。リンク先の個別科目の本文は未確認。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L02-S01：オンデマンド版。対面用の元スライド番号を維持。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L02-S02：オンデマンド版。対面用の元スライド番号を維持。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L02-S03：オンデマンド版。対面用の元スライド番号を維持。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L02-S04：オンデマンド版。対面用の元スライド番号を維持。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カラマツ Larix kaempferi。画像：森林総合研究所 日本産木材データベース</a:t>
            </a:r>
          </a:p>
          <a:p xmlns:a="http://schemas.openxmlformats.org/drawingml/2006/main">
            <a:r>
              <a:t>L02-S05：オンデマンド版。対面用の元スライド番号を維持。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L02-S06：オンデマンド版。対面用の元スライド番号を維持。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L02-S07：オンデマンド版。対面用の元スライド番号を維持。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スギ Cryptomeria japonica。画像：森林総合研究所 日本産木材データベース</a:t>
            </a:r>
          </a:p>
          <a:p xmlns:a="http://schemas.openxmlformats.org/drawingml/2006/main">
            <a:r>
              <a:t>L02-S08：オンデマンド版。対面用の元スライド番号を維持。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L02-S09：オンデマンド版。対面用の元スライド番号を維持。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L02-S10：オンデマンド版。対面用の元スライド番号を維持。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L02-S11：オンデマンド版。対面用の元スライド番号を維持。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L02-S12：オンデマンド版。対面用の元スライド番号を維持。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L02-R1：オンデマンド版。対面用の元スライド番号を維持。</a:t>
            </a:r>
          </a:p>
          <a:p xmlns:a="http://schemas.openxmlformats.org/drawingml/2006/main">
            <a:r>
              <a:t>ここで短い休憩を入れます。画面から目を離して、姿勢を変えましょう。肩を軽く上げて下ろす、手を開いて閉じるなど、できる範囲でかまいません。動作は任意です。再開するときには、声を掛けます。</a:t>
            </a:r>
          </a:p>
          <a:p xmlns:a="http://schemas.openxmlformats.org/drawingml/2006/main">
            <a:r>
              <a:t>それでは、再開します。組織写真の観察から、年輪の内部へ進みます。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ブナ Fagus crenata。画像：森林総合研究所 日本産木材データベース</a:t>
            </a:r>
          </a:p>
          <a:p xmlns:a="http://schemas.openxmlformats.org/drawingml/2006/main">
            <a:r>
              <a:t>L02-S13：オンデマンド版。対面用の元スライド番号を維持。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画像：森林総合研究所 日本産木材データベース。寸法の比較にはスケールを使う</a:t>
            </a:r>
          </a:p>
          <a:p xmlns:a="http://schemas.openxmlformats.org/drawingml/2006/main">
            <a:r>
              <a:t>L02-S14：オンデマンド版。対面用の元スライド番号を維持。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L02-S15：オンデマンド版。対面用の元スライド番号を維持。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L02-S16：オンデマンド版。対面用の元スライド番号を維持。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L02-S17：オンデマンド版。対面用の元スライド番号を維持。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第9章 式(9–1)・(9–2)、表9–1、図9–3 https://research.fs.usda.gov/treesearch/62251</a:t>
            </a:r>
          </a:p>
          <a:p xmlns:a="http://schemas.openxmlformats.org/drawingml/2006/main">
            <a:r>
              <a:t>森林総合研究所 日本産木材データベース https://db.ffpri.go.jp/WoodDB/</a:t>
            </a:r>
          </a:p>
          <a:p xmlns:a="http://schemas.openxmlformats.org/drawingml/2006/main">
            <a:r>
              <a:t>L02-S18：オンデマンド版。対面用の元スライド番号を維持。</a:t>
            </a:r>
          </a:p>
          <a:p xmlns:a="http://schemas.openxmlformats.org/drawingml/2006/main">
            <a:r>
              <a:t>写真は実際の針葉樹材の組織、曲線は壁割合に基づく全乾密度の説明用モデル。写真からの密度実測ではない。相対位置の横軸をmmや年へ読み替えない。参照：Wood Handbook 2021 第3・4章 https://research.fs.usda.gov/treesearch/62242 https://research.fs.usda.gov/treesearch/62243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L02-S19：オンデマンド版。対面用の元スライド番号を維持。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L02-S20：オンデマンド版。対面用の元スライド番号を維持。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L02-R2：オンデマンド版。対面用の元スライド番号を維持。</a:t>
            </a:r>
          </a:p>
          <a:p xmlns:a="http://schemas.openxmlformats.org/drawingml/2006/main">
            <a:r>
              <a:t>ここで短い休憩を入れます。画面から目を離して、姿勢を変えましょう。肩を軽く上げて下ろす、手を開いて閉じるなど、できる範囲でかまいません。動作は任意です。再開するときには、声を掛けます。</a:t>
            </a:r>
          </a:p>
          <a:p xmlns:a="http://schemas.openxmlformats.org/drawingml/2006/main">
            <a:r>
              <a:t>それでは、再開します。壁の割合と密度を、モデルで計算します。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L02-S21：オンデマンド版。対面用の元スライド番号を維持。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L02-S22：オンデマンド版。対面用の元スライド番号を維持。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L02-S23：オンデマンド版。対面用の元スライド番号を維持。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L02-S24：オンデマンド版。対面用の元スライド番号を維持。</a:t>
            </a:r>
          </a:p>
          <a:p xmlns:a="http://schemas.openxmlformats.org/drawingml/2006/main">
            <a:r>
              <a:t>計算例は早材0.285、晩材0.765 g/cm³とし、同じ幅と厚さの直線状の帯を仮定。fを体積割合とする加重平均：A0.445、B0.605、C0.381。円環全体の体積割合を半径の幅だけで計算したものではない。架空モデルで、測定した樹種の物性値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L02-S25：オンデマンド版。対面用の元スライド番号を維持。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L02-S26：オンデマンド版。対面用の元スライド番号を維持。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L02-S27：オンデマンド版。対面用の元スライド番号を維持。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L02-R3：オンデマンド版。対面用の元スライド番号を維持。</a:t>
            </a:r>
          </a:p>
          <a:p xmlns:a="http://schemas.openxmlformats.org/drawingml/2006/main">
            <a:r>
              <a:t>ここで短い休憩を入れます。画面から目を離して、姿勢を変えましょう。肩を軽く上げて下ろす、手を開いて閉じるなど、できる範囲でかまいません。動作は任意です。再開するときには、声を掛けます。</a:t>
            </a:r>
          </a:p>
          <a:p xmlns:a="http://schemas.openxmlformats.org/drawingml/2006/main">
            <a:r>
              <a:t>それでは、再開します。観察と測定を整理し、技術科の授業へつなげます。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L02-S28：オンデマンド版。対面用の元スライド番号を維持。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L02-S29：オンデマンド版。対面用の元スライド番号を維持。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L02-S30：オンデマンド版。対面用の元スライド番号を維持。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L02-S31：オンデマンド版。対面用の元スライド番号を維持。</a:t>
            </a:r>
          </a:p>
          <a:p xmlns:a="http://schemas.openxmlformats.org/drawingml/2006/main">
            <a:r>
              <a:t>オンデマンド版では宿題を自己確認の復習と表記。既存のA1～A4以外に新しい提出課題を追加しない。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L02-S32：オンデマンド版。対面用の元スライド番号を維持。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L02-S33：オンデマンド版。対面用の元スライド番号を維持。</a:t>
            </a:r>
          </a:p>
          <a:p xmlns:a="http://schemas.openxmlformats.org/drawingml/2006/main">
            <a:r>
              <a:t>v1.0：担当教員自作の城南SSH資料は学生用出典から外し、本講義を参照。第三者の図版出典は保持。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L02-S34：オンデマンド版。対面用の元スライド番号を維持。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d0693c50f40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2a7b365bd46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eda85975943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f9dd0c5a44f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16c6cc52c45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5c4a129d741b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deb0f8f60f447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4bcd4f35724e0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0219ec9c7d4ea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e396503f564be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2bc8c5e35a438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9edd359cae434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654e6ef63234ff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e5b088204454c9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97b69921008434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f844ecdf7f74ec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dbfe4f749104e4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c70851a2638472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0c7fead4133446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96693fe36664fd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84ace15abcb473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de7e29ea70940c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a60b207d530d4aec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847e280665bf41b1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484ae948d0974301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37ab9797b8764dd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8918e71f3fa94bbf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f53cce01951e4977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6d601dcc49fd433f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af0c3af1dc6846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BCF670-1BF3-4563-AF78-952B375CAC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D0311D-4874-4391-BF26-50F597896C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425824-C611-4A3E-A70C-A830B0AD3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91ECAA-54D3-4F2A-AF95-0A0EFFA2A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F28295-BEFE-4464-B0FD-8406FB6265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45EBFA-AF54-43AF-860C-6884FB3ED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1BF586-288B-43A4-BEBC-3948AA4A4C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CC4959-29B1-46CB-93F8-828EF3F53C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0981F1-24A8-445E-8B77-AC9D4313A9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615B48-E991-426A-8E0B-F664A997B1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2ECAF6-AFB3-44BA-A6E2-FFDF1F7E8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E04143-5FE6-4C02-94D3-C4D4715CAF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EAE70-3078-4577-9941-D8132BBF36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BE8F06-1DB2-4DD1-ABA5-FE5919FC0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750050-B434-4AA4-9228-718FAC83A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71DE0E-6C52-4E48-92E0-1B05894D7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82E626-1AEC-42F9-BDC7-A6BD82344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50E72C-19F3-40E3-932A-604FCCF85E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2A710F-F1F5-4B49-8146-218F557547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5D7369-AC6D-49C7-92A8-B076ACD9C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CFD956-54F1-4FF3-8F83-BFC988887F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21ADC1-9838-417A-AB57-CDC13CAFD6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12056B-B0C4-40E3-A5AB-46205F7489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A3DB8C-D2FB-42ED-99D9-85C0A916E9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2CC73D-AB79-4703-9365-558AD6EFA3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6F9C24-C0AB-4490-A0F4-82F1740258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60AA57-2788-4A58-9A0C-9A88D375D6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33A4FF-B9D4-4A18-94F7-BDE41C255B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3E91E8-E4EF-4523-B355-7ABDDAF65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197BE8-B517-4EE1-A59C-ABDAC58E66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52F467-7DDA-4BC8-83D9-5F8C1D87D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0627D6-82CE-4EB9-83C9-5AE0FE45C7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5C9FB1-0BFB-40DE-8EA9-08884802F4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3562C6-6AE3-45AE-971A-2B7B61ADD3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4782C5-9776-4C62-BB06-08E1E45071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57BCC5-409F-4DD3-9EC4-AD684E1CA1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B7B45F-A9FE-4F49-A101-ECFA5889E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C09729-126D-4273-A0DD-D8E2F9D85E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CB9975-BEA0-4C40-A015-A944973A0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2F6D6D-4FF3-4A49-A888-AA43F3BA2B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dee6c4ca1b4e81" /><Relationship Type="http://schemas.openxmlformats.org/officeDocument/2006/relationships/slideLayout" Target="/ppt/slideLayouts/slideLayout1.xml" Id="R396f306e696a4238" /><Relationship Type="http://schemas.openxmlformats.org/officeDocument/2006/relationships/slideLayout" Target="/ppt/slideLayouts/slideLayout2.xml" Id="R0f09ad278fec4b2e" /><Relationship Type="http://schemas.openxmlformats.org/officeDocument/2006/relationships/slideLayout" Target="/ppt/slideLayouts/slideLayout3.xml" Id="R23190647bba745c5" /><Relationship Type="http://schemas.openxmlformats.org/officeDocument/2006/relationships/slideLayout" Target="/ppt/slideLayouts/slideLayout4.xml" Id="Re87cbf6269574a60" /><Relationship Type="http://schemas.openxmlformats.org/officeDocument/2006/relationships/slideLayout" Target="/ppt/slideLayouts/slideLayout5.xml" Id="Re5898de18ca64597" /><Relationship Type="http://schemas.openxmlformats.org/officeDocument/2006/relationships/slideLayout" Target="/ppt/slideLayouts/slideLayout6.xml" Id="R7b234bba47eb4ae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28e45a83c524df6" /><Relationship Type="http://schemas.openxmlformats.org/officeDocument/2006/relationships/slideLayout" Target="/ppt/slideLayouts/slideLayout7.xml" Id="Rb114efde130048d5" /><Relationship Type="http://schemas.openxmlformats.org/officeDocument/2006/relationships/slideLayout" Target="/ppt/slideLayouts/slideLayout8.xml" Id="R63fa7901fe7f4428" /><Relationship Type="http://schemas.openxmlformats.org/officeDocument/2006/relationships/slideLayout" Target="/ppt/slideLayouts/slideLayout9.xml" Id="Re129b5ba22d04c78" /><Relationship Type="http://schemas.openxmlformats.org/officeDocument/2006/relationships/slideLayout" Target="/ppt/slideLayouts/slideLayout10.xml" Id="R4d903329af90464b" /><Relationship Type="http://schemas.openxmlformats.org/officeDocument/2006/relationships/slideLayout" Target="/ppt/slideLayouts/slideLayout11.xml" Id="R607e803946594ded" /><Relationship Type="http://schemas.openxmlformats.org/officeDocument/2006/relationships/slideLayout" Target="/ppt/slideLayouts/slideLayout12.xml" Id="R281d62fb5fee4be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838e8fe0e054f73" /><Relationship Type="http://schemas.openxmlformats.org/officeDocument/2006/relationships/slideLayout" Target="/ppt/slideLayouts/slideLayout13.xml" Id="R2d90c554285149a2" /><Relationship Type="http://schemas.openxmlformats.org/officeDocument/2006/relationships/slideLayout" Target="/ppt/slideLayouts/slideLayout14.xml" Id="R323141226e97477c" /><Relationship Type="http://schemas.openxmlformats.org/officeDocument/2006/relationships/slideLayout" Target="/ppt/slideLayouts/slideLayout15.xml" Id="R2080fb5407f3462c" /><Relationship Type="http://schemas.openxmlformats.org/officeDocument/2006/relationships/slideLayout" Target="/ppt/slideLayouts/slideLayout16.xml" Id="Rb1566e3bee374542" /><Relationship Type="http://schemas.openxmlformats.org/officeDocument/2006/relationships/slideLayout" Target="/ppt/slideLayouts/slideLayout17.xml" Id="Rbfd63eb8e23841db" /><Relationship Type="http://schemas.openxmlformats.org/officeDocument/2006/relationships/slideLayout" Target="/ppt/slideLayouts/slideLayout18.xml" Id="R915633e5f74f4832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d4a99afb443742e0" /><Relationship Type="http://schemas.openxmlformats.org/officeDocument/2006/relationships/slideLayout" Target="/ppt/slideLayouts/slideLayout19.xml" Id="R360f075a47234e3c" /><Relationship Type="http://schemas.openxmlformats.org/officeDocument/2006/relationships/slideLayout" Target="/ppt/slideLayouts/slideLayout20.xml" Id="Recafaed91a7442db" /><Relationship Type="http://schemas.openxmlformats.org/officeDocument/2006/relationships/slideLayout" Target="/ppt/slideLayouts/slideLayout21.xml" Id="Rf84a3498768740f2" /><Relationship Type="http://schemas.openxmlformats.org/officeDocument/2006/relationships/slideLayout" Target="/ppt/slideLayouts/slideLayout22.xml" Id="R2d62cb3d7d5c44b2" /><Relationship Type="http://schemas.openxmlformats.org/officeDocument/2006/relationships/slideLayout" Target="/ppt/slideLayouts/slideLayout23.xml" Id="R6828e00ea2fc415f" /><Relationship Type="http://schemas.openxmlformats.org/officeDocument/2006/relationships/slideLayout" Target="/ppt/slideLayouts/slideLayout24.xml" Id="Rddc367fcdc5245a8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505b9eb26a544383" /><Relationship Type="http://schemas.openxmlformats.org/officeDocument/2006/relationships/slideLayout" Target="/ppt/slideLayouts/slideLayout25.xml" Id="R8da6086032c9432f" /><Relationship Type="http://schemas.openxmlformats.org/officeDocument/2006/relationships/slideLayout" Target="/ppt/slideLayouts/slideLayout26.xml" Id="Rada6223cc95d47ec" /><Relationship Type="http://schemas.openxmlformats.org/officeDocument/2006/relationships/slideLayout" Target="/ppt/slideLayouts/slideLayout27.xml" Id="Redf7c291406e4609" /><Relationship Type="http://schemas.openxmlformats.org/officeDocument/2006/relationships/slideLayout" Target="/ppt/slideLayouts/slideLayout28.xml" Id="R962c3d1759a34f34" /><Relationship Type="http://schemas.openxmlformats.org/officeDocument/2006/relationships/slideLayout" Target="/ppt/slideLayouts/slideLayout29.xml" Id="R78106151c99340d4" /><Relationship Type="http://schemas.openxmlformats.org/officeDocument/2006/relationships/slideLayout" Target="/ppt/slideLayouts/slideLayout30.xml" Id="R52baf62f54cb4f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6f306e696a4238"/>
    <p:sldLayoutId xmlns:r="http://schemas.openxmlformats.org/officeDocument/2006/relationships" id="2147483650" r:id="R0f09ad278fec4b2e"/>
    <p:sldLayoutId xmlns:r="http://schemas.openxmlformats.org/officeDocument/2006/relationships" id="2147483651" r:id="R23190647bba745c5"/>
    <p:sldLayoutId xmlns:r="http://schemas.openxmlformats.org/officeDocument/2006/relationships" id="2147483652" r:id="Re87cbf6269574a60"/>
    <p:sldLayoutId xmlns:r="http://schemas.openxmlformats.org/officeDocument/2006/relationships" id="2147483653" r:id="Re5898de18ca64597"/>
    <p:sldLayoutId xmlns:r="http://schemas.openxmlformats.org/officeDocument/2006/relationships" id="2147483654" r:id="R7b234bba47eb4a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b114efde130048d5"/>
    <p:sldLayoutId xmlns:r="http://schemas.openxmlformats.org/officeDocument/2006/relationships" id="2147483657" r:id="R63fa7901fe7f4428"/>
    <p:sldLayoutId xmlns:r="http://schemas.openxmlformats.org/officeDocument/2006/relationships" id="2147483658" r:id="Re129b5ba22d04c78"/>
    <p:sldLayoutId xmlns:r="http://schemas.openxmlformats.org/officeDocument/2006/relationships" id="2147483659" r:id="R4d903329af90464b"/>
    <p:sldLayoutId xmlns:r="http://schemas.openxmlformats.org/officeDocument/2006/relationships" id="2147483660" r:id="R607e803946594ded"/>
    <p:sldLayoutId xmlns:r="http://schemas.openxmlformats.org/officeDocument/2006/relationships" id="2147483661" r:id="R281d62fb5fee4b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2d90c554285149a2"/>
    <p:sldLayoutId xmlns:r="http://schemas.openxmlformats.org/officeDocument/2006/relationships" id="2147483664" r:id="R323141226e97477c"/>
    <p:sldLayoutId xmlns:r="http://schemas.openxmlformats.org/officeDocument/2006/relationships" id="2147483665" r:id="R2080fb5407f3462c"/>
    <p:sldLayoutId xmlns:r="http://schemas.openxmlformats.org/officeDocument/2006/relationships" id="2147483666" r:id="Rb1566e3bee374542"/>
    <p:sldLayoutId xmlns:r="http://schemas.openxmlformats.org/officeDocument/2006/relationships" id="2147483667" r:id="Rbfd63eb8e23841db"/>
    <p:sldLayoutId xmlns:r="http://schemas.openxmlformats.org/officeDocument/2006/relationships" id="2147483668" r:id="R915633e5f74f48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360f075a47234e3c"/>
    <p:sldLayoutId xmlns:r="http://schemas.openxmlformats.org/officeDocument/2006/relationships" id="2147483671" r:id="Recafaed91a7442db"/>
    <p:sldLayoutId xmlns:r="http://schemas.openxmlformats.org/officeDocument/2006/relationships" id="2147483672" r:id="Rf84a3498768740f2"/>
    <p:sldLayoutId xmlns:r="http://schemas.openxmlformats.org/officeDocument/2006/relationships" id="2147483673" r:id="R2d62cb3d7d5c44b2"/>
    <p:sldLayoutId xmlns:r="http://schemas.openxmlformats.org/officeDocument/2006/relationships" id="2147483674" r:id="R6828e00ea2fc415f"/>
    <p:sldLayoutId xmlns:r="http://schemas.openxmlformats.org/officeDocument/2006/relationships" id="2147483675" r:id="Rddc367fcdc5245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8da6086032c9432f"/>
    <p:sldLayoutId xmlns:r="http://schemas.openxmlformats.org/officeDocument/2006/relationships" id="2147483678" r:id="Rada6223cc95d47ec"/>
    <p:sldLayoutId xmlns:r="http://schemas.openxmlformats.org/officeDocument/2006/relationships" id="2147483679" r:id="Redf7c291406e4609"/>
    <p:sldLayoutId xmlns:r="http://schemas.openxmlformats.org/officeDocument/2006/relationships" id="2147483680" r:id="R962c3d1759a34f34"/>
    <p:sldLayoutId xmlns:r="http://schemas.openxmlformats.org/officeDocument/2006/relationships" id="2147483681" r:id="R78106151c99340d4"/>
    <p:sldLayoutId xmlns:r="http://schemas.openxmlformats.org/officeDocument/2006/relationships" id="2147483682" r:id="R52baf62f54cb4f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.xml" Id="R9b21ec9166d24bd2" /><Relationship Type="http://schemas.openxmlformats.org/officeDocument/2006/relationships/notesSlide" Target="/ppt/notesSlides/notesSlide1.xml" Id="R8134fe93832c48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9d0d217ff4028" /><Relationship Type="http://schemas.openxmlformats.org/officeDocument/2006/relationships/notesSlide" Target="/ppt/notesSlides/notesSlide2.xml" Id="R0fc637d3de5c47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8de347b104e2c" /><Relationship Type="http://schemas.openxmlformats.org/officeDocument/2006/relationships/notesSlide" Target="/ppt/notesSlides/notesSlide3.xml" Id="R4268f596de7c44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6776916f4654b45" /><Relationship Type="http://schemas.openxmlformats.org/officeDocument/2006/relationships/notesSlide" Target="/ppt/notesSlides/notesSlide4.xml" Id="R67a6915949174a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53cf2818394296" /><Relationship Type="http://schemas.openxmlformats.org/officeDocument/2006/relationships/notesSlide" Target="/ppt/notesSlides/notesSlide5.xml" Id="Rb6b6e89d43fb45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d1827caafe4358" /><Relationship Type="http://schemas.openxmlformats.org/officeDocument/2006/relationships/image" Target="/ppt/media/image.jpeg" Id="R189ca3b4535d43ff" /><Relationship Type="http://schemas.openxmlformats.org/officeDocument/2006/relationships/notesSlide" Target="/ppt/notesSlides/notesSlide6.xml" Id="R44a312f20c7849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1b94900c5d24209" /><Relationship Type="http://schemas.openxmlformats.org/officeDocument/2006/relationships/notesSlide" Target="/ppt/notesSlides/notesSlide7.xml" Id="R8b0233fa8d9340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fa57477cce64ec2" /><Relationship Type="http://schemas.openxmlformats.org/officeDocument/2006/relationships/notesSlide" Target="/ppt/notesSlides/notesSlide8.xml" Id="R1cdd36462de145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95cdf6efaa4a4d" /><Relationship Type="http://schemas.openxmlformats.org/officeDocument/2006/relationships/image" Target="/ppt/media/image2.jpeg" Id="R9462127506ec4c4b" /><Relationship Type="http://schemas.openxmlformats.org/officeDocument/2006/relationships/notesSlide" Target="/ppt/notesSlides/notesSlide9.xml" Id="R0d42854995b246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de2c4d9c3204312" /><Relationship Type="http://schemas.openxmlformats.org/officeDocument/2006/relationships/notesSlide" Target="/ppt/notesSlides/notesSlide10.xml" Id="Rde074733ab6541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dd37869ce764b23" /><Relationship Type="http://schemas.openxmlformats.org/officeDocument/2006/relationships/notesSlide" Target="/ppt/notesSlides/notesSlide11.xml" Id="Rad17fa9addda47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200e26455e9421d" /><Relationship Type="http://schemas.openxmlformats.org/officeDocument/2006/relationships/notesSlide" Target="/ppt/notesSlides/notesSlide12.xml" Id="R236672b9f92d45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195559395284073" /><Relationship Type="http://schemas.openxmlformats.org/officeDocument/2006/relationships/notesSlide" Target="/ppt/notesSlides/notesSlide13.xml" Id="R1c31383eb25844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399693164beb4e18" /><Relationship Type="http://schemas.openxmlformats.org/officeDocument/2006/relationships/notesSlide" Target="/ppt/notesSlides/notesSlide14.xml" Id="Rb1201cfcfe5740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b3f826fe83492a" /><Relationship Type="http://schemas.openxmlformats.org/officeDocument/2006/relationships/image" Target="/ppt/media/image3.jpeg" Id="R1ef1530290f441c0" /><Relationship Type="http://schemas.openxmlformats.org/officeDocument/2006/relationships/notesSlide" Target="/ppt/notesSlides/notesSlide15.xml" Id="R4784f2b6fe7c4c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78e6a9ff044c50" /><Relationship Type="http://schemas.openxmlformats.org/officeDocument/2006/relationships/image" Target="/ppt/media/image4.jpeg" Id="R39b71276f2414133" /><Relationship Type="http://schemas.openxmlformats.org/officeDocument/2006/relationships/image" Target="/ppt/media/image5.jpeg" Id="R7ebc67ce075d4391" /><Relationship Type="http://schemas.openxmlformats.org/officeDocument/2006/relationships/image" Target="/ppt/media/image6.jpeg" Id="R551050885fc140d2" /><Relationship Type="http://schemas.openxmlformats.org/officeDocument/2006/relationships/notesSlide" Target="/ppt/notesSlides/notesSlide16.xml" Id="R5f2a1a8ad1144b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c0d667aa44c13" /><Relationship Type="http://schemas.openxmlformats.org/officeDocument/2006/relationships/notesSlide" Target="/ppt/notesSlides/notesSlide17.xml" Id="R04361fc3dc5d4b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9017d3b1ba4d74" /><Relationship Type="http://schemas.openxmlformats.org/officeDocument/2006/relationships/image" Target="/ppt/media/image7.jpeg" Id="Re56227da296541f9" /><Relationship Type="http://schemas.openxmlformats.org/officeDocument/2006/relationships/image" Target="/ppt/media/image8.jpeg" Id="R5c60e91b2e3d4aea" /><Relationship Type="http://schemas.openxmlformats.org/officeDocument/2006/relationships/image" Target="/ppt/media/image9.jpeg" Id="R0cbf18e0df854b6a" /><Relationship Type="http://schemas.openxmlformats.org/officeDocument/2006/relationships/notesSlide" Target="/ppt/notesSlides/notesSlide18.xml" Id="R8ed8612c4ec542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cf54ddc3c4d49fd" /><Relationship Type="http://schemas.openxmlformats.org/officeDocument/2006/relationships/image" Target="/ppt/media/image10.jpeg" Id="R4cedcea9b2514368" /><Relationship Type="http://schemas.openxmlformats.org/officeDocument/2006/relationships/notesSlide" Target="/ppt/notesSlides/notesSlide19.xml" Id="Rb6c923932f0b430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4d40d92b0c84206" /><Relationship Type="http://schemas.openxmlformats.org/officeDocument/2006/relationships/image" Target="/ppt/media/image11.jpeg" Id="R2a923d2dd76a4b6c" /><Relationship Type="http://schemas.openxmlformats.org/officeDocument/2006/relationships/chart" Target="/ppt/slides/charts/chart1.xml" Id="R944d3d7d67134a8e" /><Relationship Type="http://schemas.openxmlformats.org/officeDocument/2006/relationships/notesSlide" Target="/ppt/notesSlides/notesSlide20.xml" Id="Raa94e38515ca4ed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d9af6853fe4399" /><Relationship Type="http://schemas.openxmlformats.org/officeDocument/2006/relationships/image" Target="/ppt/media/image12.jpeg" Id="R3212d8850933451c" /><Relationship Type="http://schemas.openxmlformats.org/officeDocument/2006/relationships/image" Target="/ppt/media/image13.jpeg" Id="R93a79d2e2bb2447e" /><Relationship Type="http://schemas.openxmlformats.org/officeDocument/2006/relationships/notesSlide" Target="/ppt/notesSlides/notesSlide21.xml" Id="Ra91653131aba4e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46578f38c1947af" /><Relationship Type="http://schemas.openxmlformats.org/officeDocument/2006/relationships/notesSlide" Target="/ppt/notesSlides/notesSlide22.xml" Id="Rfee038e01f4c495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183b5a7483f54449" /><Relationship Type="http://schemas.openxmlformats.org/officeDocument/2006/relationships/notesSlide" Target="/ppt/notesSlides/notesSlide23.xml" Id="R95a3688ad6e04d7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d165362df9645da" /><Relationship Type="http://schemas.openxmlformats.org/officeDocument/2006/relationships/notesSlide" Target="/ppt/notesSlides/notesSlide24.xml" Id="R2a0ca7cd62d64ec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f8d8cd357e84684" /><Relationship Type="http://schemas.openxmlformats.org/officeDocument/2006/relationships/notesSlide" Target="/ppt/notesSlides/notesSlide25.xml" Id="R375282850ac847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243ed156eb54d57" /><Relationship Type="http://schemas.openxmlformats.org/officeDocument/2006/relationships/notesSlide" Target="/ppt/notesSlides/notesSlide26.xml" Id="R8e083a1a985349f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8904fae51c8497d" /><Relationship Type="http://schemas.openxmlformats.org/officeDocument/2006/relationships/notesSlide" Target="/ppt/notesSlides/notesSlide27.xml" Id="R2cc1a13a03a04e8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0886eeb43b74beb" /><Relationship Type="http://schemas.openxmlformats.org/officeDocument/2006/relationships/notesSlide" Target="/ppt/notesSlides/notesSlide28.xml" Id="R4209180f82e846d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cd789aefb4453" /><Relationship Type="http://schemas.openxmlformats.org/officeDocument/2006/relationships/notesSlide" Target="/ppt/notesSlides/notesSlide29.xml" Id="R7363fa8bb162439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1f9ac29b66f4abe" /><Relationship Type="http://schemas.openxmlformats.org/officeDocument/2006/relationships/notesSlide" Target="/ppt/notesSlides/notesSlide30.xml" Id="Rb1cf8ff9c1bb4ae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53b8f5e983e74b61" /><Relationship Type="http://schemas.openxmlformats.org/officeDocument/2006/relationships/notesSlide" Target="/ppt/notesSlides/notesSlide31.xml" Id="R4a24cbb449c54c8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522a98fbf6b4cee" /><Relationship Type="http://schemas.openxmlformats.org/officeDocument/2006/relationships/notesSlide" Target="/ppt/notesSlides/notesSlide32.xml" Id="R271088e0972c48b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c4ed559119b41e5" /><Relationship Type="http://schemas.openxmlformats.org/officeDocument/2006/relationships/notesSlide" Target="/ppt/notesSlides/notesSlide33.xml" Id="R79aca4840940477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2e50749054c33" /><Relationship Type="http://schemas.openxmlformats.org/officeDocument/2006/relationships/notesSlide" Target="/ppt/notesSlides/notesSlide34.xml" Id="R1ab050ebc4f64d3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d537b7f2894172" /><Relationship Type="http://schemas.openxmlformats.org/officeDocument/2006/relationships/notesSlide" Target="/ppt/notesSlides/notesSlide35.xml" Id="Rb1e099080856449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b78332073b64a25" /><Relationship Type="http://schemas.openxmlformats.org/officeDocument/2006/relationships/notesSlide" Target="/ppt/notesSlides/notesSlide36.xml" Id="Rb78150bfa65c4f5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4d518fcc6c64703" /><Relationship Type="http://schemas.openxmlformats.org/officeDocument/2006/relationships/notesSlide" Target="/ppt/notesSlides/notesSlide37.xml" Id="R8dfca762f9cf438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097a325670d4904" /><Relationship Type="http://schemas.openxmlformats.org/officeDocument/2006/relationships/notesSlide" Target="/ppt/notesSlides/notesSlide38.xml" Id="Rc86a239cea6142e7" /></Relationships>
</file>

<file path=ppt/slides/charts/_rels/chart1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6.xlsx"/></ns0: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壁割合から計算した密度モデル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Model!$A$2:$A$18</c:f>
              <c:numCache>
                <c:formatCode>General</c:formatCode>
                <c:ptCount val="17"/>
                <c:pt idx="0">
                  <c:v>0</c:v>
                </c:pt>
                <c:pt idx="1">
                  <c:v>0.1</c:v>
                </c:pt>
                <c:pt idx="2">
                  <c:v>0.18</c:v>
                </c:pt>
                <c:pt idx="3">
                  <c:v>0.24</c:v>
                </c:pt>
                <c:pt idx="4">
                  <c:v>0.3</c:v>
                </c:pt>
                <c:pt idx="5">
                  <c:v>0.36</c:v>
                </c:pt>
                <c:pt idx="6">
                  <c:v>0.4</c:v>
                </c:pt>
                <c:pt idx="7">
                  <c:v>0.405</c:v>
                </c:pt>
                <c:pt idx="8">
                  <c:v>0.5</c:v>
                </c:pt>
                <c:pt idx="9">
                  <c:v>0.6</c:v>
                </c:pt>
                <c:pt idx="10">
                  <c:v>0.7</c:v>
                </c:pt>
                <c:pt idx="11">
                  <c:v>0.76</c:v>
                </c:pt>
                <c:pt idx="12">
                  <c:v>0.82</c:v>
                </c:pt>
                <c:pt idx="13">
                  <c:v>0.88</c:v>
                </c:pt>
                <c:pt idx="14">
                  <c:v>0.92</c:v>
                </c:pt>
                <c:pt idx="15">
                  <c:v>0.925</c:v>
                </c:pt>
                <c:pt idx="16">
                  <c:v>1</c:v>
                </c:pt>
              </c:numCache>
            </c:numRef>
          </c:xVal>
          <c:yVal>
            <c:numRef>
              <c:f>Model!$B$2:$B$18</c:f>
              <c:numCache>
                <c:formatCode>0.###</c:formatCode>
                <c:ptCount val="17"/>
                <c:pt idx="0">
                  <c:v>0.285</c:v>
                </c:pt>
                <c:pt idx="1">
                  <c:v>0.3</c:v>
                </c:pt>
                <c:pt idx="2">
                  <c:v>0.36</c:v>
                </c:pt>
                <c:pt idx="3">
                  <c:v>0.45</c:v>
                </c:pt>
                <c:pt idx="4">
                  <c:v>0.6</c:v>
                </c:pt>
                <c:pt idx="5">
                  <c:v>0.72</c:v>
                </c:pt>
                <c:pt idx="6">
                  <c:v>0.765</c:v>
                </c:pt>
                <c:pt idx="7">
                  <c:v>0.285</c:v>
                </c:pt>
                <c:pt idx="8">
                  <c:v>0.3</c:v>
                </c:pt>
                <c:pt idx="9">
                  <c:v>0.34</c:v>
                </c:pt>
                <c:pt idx="10">
                  <c:v>0.4</c:v>
                </c:pt>
                <c:pt idx="11">
                  <c:v>0.5</c:v>
                </c:pt>
                <c:pt idx="12">
                  <c:v>0.63</c:v>
                </c:pt>
                <c:pt idx="13">
                  <c:v>0.72</c:v>
                </c:pt>
                <c:pt idx="14">
                  <c:v>0.765</c:v>
                </c:pt>
                <c:pt idx="15">
                  <c:v>0.285</c:v>
                </c:pt>
                <c:pt idx="16">
                  <c:v>0.3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全乾密度 / (g/cm³)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髄側から樹皮側への相対位置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0.2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xmlns:r="http://schemas.openxmlformats.org/officeDocument/2006/relationships" r:id="rIdWorkbook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27E00-3700-4B24-BAAB-BFF14D95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木材及び木質材料学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16564-8733-427B-986B-18567009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第2回　組織と年輪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711E6-0EC4-43E0-BE01-85FA1244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23AAC-09AD-4979-BB8D-0060A399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科目コード：05240200　　科目種別：講義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CB02D-0963-44C9-883F-FFA3C312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科目区分：自由選択科目　　単位区分：選択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ED8E1-1B98-47FD-9B6A-C2C947F6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標準履修年次：３年　　単位数：2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FF391-2B10-4D97-96D9-77F4C80D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シラバス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FCD98-3B43-472E-8D93-A6541E35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https://lc-nue.naruto-u.ac.jp/lcu-web/SC_06001B00_22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E7146-9E22-42AD-B99B-F3BEB15E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オンデマンド授業</a:t>
            </a:r>
          </a:p>
        </p:txBody>
      </p:sp>
    </p:spTree>
    <p:extLst>
      <p:ext uri="{BB962C8B-B14F-4D97-AF65-F5344CB8AC3E}">
        <p14:creationId xmlns:p14="http://schemas.microsoft.com/office/powerpoint/2010/main" val="7167199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CE625-157B-48E5-BE1A-37C4A5D1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第2回　組織と年輪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8C948-587F-4C59-A756-EDC76117BF7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B3A63-A366-4B11-AF24-6206495B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88CF1-496A-4923-B420-009A3837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489DE-22C5-41FB-AF71-2D59ED40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細胞の形と並びから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材質を考える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C9FD7-51FA-429D-A680-927B20F5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壁と内腔、軸方向と放射方向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123CF-6320-474D-9CA0-F94EDC3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針葉樹材・広葉樹材、早材と晩材</a:t>
            </a:r>
          </a:p>
        </p:txBody>
      </p:sp>
    </p:spTree>
    <p:extLst>
      <p:ext uri="{BB962C8B-B14F-4D97-AF65-F5344CB8AC3E}">
        <p14:creationId xmlns:p14="http://schemas.microsoft.com/office/powerpoint/2010/main" val="1233209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E2EBE-F606-43FF-9537-3ABDDF72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前回の確認　方向と面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C959C-DF67-4C64-84C8-29D27F7F3AE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B7FC3-3687-4234-8B52-A3118506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55755-2A34-479B-AA7C-6B32B175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DFC07-64CB-40F9-90F6-9CEB02631AFE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143250"/>
                <a:gridCol w="6153150"/>
              </a:tblGrid>
              <a:tr h="8572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意味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その方向を含む主な面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572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繊維方向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柾目 LR・板目 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572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放射方向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木口 RT・柾目 LR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接線方向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木口 RT・板目 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29660-A60C-4588-BF9A-C1574B82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方向の名称と、面の名称を混ぜない</a:t>
            </a:r>
          </a:p>
        </p:txBody>
      </p:sp>
    </p:spTree>
    <p:extLst>
      <p:ext uri="{BB962C8B-B14F-4D97-AF65-F5344CB8AC3E}">
        <p14:creationId xmlns:p14="http://schemas.microsoft.com/office/powerpoint/2010/main" val="533599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19FFB-CBAE-4CC7-9DD1-C4B9923B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組織を読む四つの視点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C2858-AB44-4615-97CF-CC328BD9809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D4CDC-8184-49A1-845C-0F8584C3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23EBE-D40C-4C09-8267-D20203EE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CC42F-39F9-4CAD-AE6E-08EF9DED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細胞の種類：仮道管・道管要素・木繊維・柔細胞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4571C-451E-4D20-83BC-DF09C6F8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細胞の形：長さ・直径・壁厚・内腔の大きさ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6942B-6CB4-4E52-89A6-47D0F46F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細胞の配列：軸方向の系と放射組織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FE18D-A7FC-450E-85A5-80356F5D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形成時期の違い：早材・晩材・成長輪と、密度や加工性</a:t>
            </a:r>
          </a:p>
        </p:txBody>
      </p:sp>
    </p:spTree>
    <p:extLst>
      <p:ext uri="{BB962C8B-B14F-4D97-AF65-F5344CB8AC3E}">
        <p14:creationId xmlns:p14="http://schemas.microsoft.com/office/powerpoint/2010/main" val="442603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4156E-9D16-495C-8320-7DCE3C42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形成層と、新しい木部の位置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D8F01-468E-4AC2-AFB8-04CC8C47270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B9127-C26B-4AAD-85F2-F3434D0B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E8FEB-A147-481F-96BC-53685F5D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D059F-6024-45C6-B37D-B6E6AEA1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0D656-9E3E-43B5-A9B7-A1EF9558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05125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古い木部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C20C1-93AB-4B28-B4A7-7C2707ED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91A3-8683-4315-AD93-85685D84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905125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新しい木部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84C2D-06CE-4D75-9F05-5375E0BD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86000"/>
            <a:ext cx="9048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E6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3A911-4829-4358-B68F-CC956F2F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05125"/>
            <a:ext cx="752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形成層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02064-4388-459A-AF37-F09BFBA4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044B7-086A-44F2-ACB5-A323488D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05125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師部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6D093-4FD1-4067-B57B-9B055A78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478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髄側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A2ABB-E881-4604-9E71-0BADFB15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47825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樹皮側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C95D3-2EF8-4CA4-BD5C-5ECECBC37FB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" y="4810125"/>
            <a:ext cx="9953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45C98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B1F3C-468C-4799-8948-2D4A802B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57775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R方向：髄から外側へ</a:t>
            </a:r>
          </a:p>
        </p:txBody>
      </p:sp>
    </p:spTree>
    <p:extLst>
      <p:ext uri="{BB962C8B-B14F-4D97-AF65-F5344CB8AC3E}">
        <p14:creationId xmlns:p14="http://schemas.microsoft.com/office/powerpoint/2010/main" val="1617609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76FDF-7D8F-4BDF-9246-B93B4532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木口を拡大すると、壁と内腔が見える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61AF0-7A38-494F-89DE-9E25AB78C26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EAFA2-18A6-4F2A-89D1-E58B1D3E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B81FD-1EEB-4683-AB52-BFD6F703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18BC4-EFC5-4AF2-B58B-D43D45C9AD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ca3b4535d43ff"/>
          <a:stretch xmlns:a="http://schemas.openxmlformats.org/drawingml/2006/main"/>
        </p:blipFill>
        <p:spPr>
          <a:xfrm xmlns:a="http://schemas.openxmlformats.org/drawingml/2006/main">
            <a:off x="1343025" y="1504950"/>
            <a:ext cx="3352800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E8402-5CBD-460C-A7E6-E1556B1B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0478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75EB4-C067-4A95-AAE2-C7DBD725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1476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55D09"/>
            </a:solidFill>
          </a:ln>
        </p:spPr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0BF45-09E0-4E04-BCBC-C1E9354CAFF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48650" y="21907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EFCC1-6D78-472E-93EA-411E357E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43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rPr>
              <a:t>細胞壁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856B1-6DBB-416B-9AE0-6751FC6BEC4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4250" y="30480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83F17-98DF-43FE-8321-3315C66D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内腔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B52EA-2325-4B7C-988F-940C5A43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33387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横断面の模式図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72382-0AA7-42E5-9750-028FBE00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カラマツ Larix kaempferi。画像：森林総合研究所 日本産木材データベース</a:t>
            </a:r>
          </a:p>
        </p:txBody>
      </p:sp>
    </p:spTree>
    <p:extLst>
      <p:ext uri="{BB962C8B-B14F-4D97-AF65-F5344CB8AC3E}">
        <p14:creationId xmlns:p14="http://schemas.microsoft.com/office/powerpoint/2010/main" val="1637455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D640C-5149-4E19-9E48-DCDFFC1A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針葉樹材と広葉樹材の典型的な組織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AC645-4943-4C2F-8A7A-2BB586ED26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D67F8-D66B-476E-97AE-448F51B4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B898C-7781-4174-A0FC-4CBF7906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8509F-3C8A-4D6E-84DE-75628B0F6BE0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針葉樹材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広葉樹材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通導と支持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仮道管が両方を担う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道管が主に通導、木繊維が主に支持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軸方向の主な細胞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仮道管、軸方向柔細胞など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道管要素、木繊維、柔細胞、仮道管など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放射方向の系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放射組織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放射組織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生きた柔細胞の役割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辺材で貯蔵などを担う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辺材で貯蔵・物質移動などを担う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9562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86AB3-9095-446C-9415-4A0B37F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組織の複雑さと機能分化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11E1E-B478-4146-B234-1E0FE66E071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FEBD9-0BDA-43A4-BEE0-30173D61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BB2CD-C406-4AC1-A90D-0C6923AB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BFD7A-F0BE-4B6B-8ECF-267DD2AE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針葉樹の仮道管は、通導と支持を兼ねる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D0C69-0B2E-44D5-9062-CBD8CA37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多くの広葉樹では、道管・木繊維・柔細胞が異なる役割を分担する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70F41-3BBA-4968-9842-3B7D9D55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被子植物の多様化に伴い、細胞の種類と配列にも多様性が生じた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7295E-1547-408C-AF28-D84EE76E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分業の程度や配列の違いが、通水・支持・貯蔵と材料の性質に関係する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4B106-C948-4DDD-B6E9-129D23E2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問い：針葉樹材と広葉樹材の組織構造上の違いを、役割と対応させて説明する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10142320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9DF8E-D632-4188-AD63-1E1BC771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軸方向の細胞と、放射組織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B58AB-05A6-4561-B6E4-D684911757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58F6D-2548-4A14-831B-637B8643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9D2F5-1265-4A42-8A0D-FDD3DB0A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7BF4E-ADBD-4EBD-A7BB-C812727D6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2127506ec4c4b"/>
          <a:stretch xmlns:a="http://schemas.openxmlformats.org/drawingml/2006/main"/>
        </p:blipFill>
        <p:spPr>
          <a:xfrm xmlns:a="http://schemas.openxmlformats.org/drawingml/2006/main">
            <a:off x="1200849" y="1524000"/>
            <a:ext cx="3446653" cy="4191000"/>
          </a:xfrm>
          <a:prstGeom xmlns:a="http://schemas.openxmlformats.org/drawingml/2006/main" prst="rect">
            <a:avLst/>
          </a:prstGeom>
        </p:spPr>
      </p:pic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BE40D-C7CE-4BFD-84A7-05C86E1814C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857375" y="4267200"/>
            <a:ext cx="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55D09"/>
            </a:solidFill>
            <a:tail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B8D60-7039-43DB-82C3-B49CB72B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814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rPr>
              <a:t>L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B1025-3E15-4654-8A91-20F8B5E76AF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857375" y="2200275"/>
            <a:ext cx="80010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AB157-CCF4-4139-8E25-9C3C0E2A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8383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8E506-7CCD-4F23-8020-321718C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81175"/>
            <a:ext cx="5743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軸方向の系：主にLに沿う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297EF-1092-47C6-BF2A-383AA08F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86075"/>
            <a:ext cx="5743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放射方向の系：Rに沿う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65702-091A-4AC9-9AB3-96C51BE8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90975"/>
            <a:ext cx="5743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通導・支持・貯蔵の配置を見る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62EE5-26B1-4B24-A4E0-D45657E2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スギ Cryptomeria japonica。画像：森林総合研究所 日本産木材データベース</a:t>
            </a:r>
          </a:p>
        </p:txBody>
      </p:sp>
    </p:spTree>
    <p:extLst>
      <p:ext uri="{BB962C8B-B14F-4D97-AF65-F5344CB8AC3E}">
        <p14:creationId xmlns:p14="http://schemas.microsoft.com/office/powerpoint/2010/main" val="19105593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0A20B-D448-4E18-AB14-F5862E69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針葉樹材の仮道管の大きさ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D334D-FB83-4344-AE47-19E2D3EA12B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37645-C6DE-4050-BE58-635450F0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51689-B4D0-4E7D-B6DA-D9A0E662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11BBB-F31E-498E-880A-89D7C552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軸方向仮道管は、典型的な針葉樹材の体積の90％超を占める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0FAEF-75CB-41C5-946B-826C5337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長さはおよそ1,000～10,000 µm。幅に比べ非常に長い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65C34-F66B-4960-9CBB-382B3DCA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スギ・ヒノキの放射方向径の例は約30～50 µm。早晩材や部位で変わる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B9464-E21C-4BBE-ACF7-3D78AB65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残りは放射組織、軸方向柔組織、樹種によって樹脂道など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441A7-F69B-4DC1-B2F5-42132DA0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1本の長さと径、壁厚の変化を分けると、通水と密度の違いを説明しやすい</a:t>
            </a:r>
          </a:p>
        </p:txBody>
      </p:sp>
    </p:spTree>
    <p:extLst>
      <p:ext uri="{BB962C8B-B14F-4D97-AF65-F5344CB8AC3E}">
        <p14:creationId xmlns:p14="http://schemas.microsoft.com/office/powerpoint/2010/main" val="14197473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384A2-27D4-4452-B07B-CE0EB045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広葉樹材の例　パフタン材の組織と寸法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E4329-C58D-40DD-BF49-24ADFCF912D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D29CC-7332-4F8D-8864-4BCFDC7F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9D96F-7AD8-4545-AFFE-2FF51455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1E172-CB42-482A-92DC-600DB62B9037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パフタン材の供試例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構成割合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寸法の例 µm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道管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4.6％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要素長270～450、接線径130～300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真正木繊維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76.7％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長さ580～1,250、径15～30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軸方向柔組織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4.9％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細胞長80～190、径15～30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放射組織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13.8％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細胞の集まりとしてR方向に伸びる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3120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419CB-9265-40FF-A42C-0211036D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仮道管と道管要素の連なり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D1853-CBEB-46BF-87B2-843EAF5B9A0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5BCCE-2214-48C2-8B88-6AE1F00E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16491-869A-45EA-B82A-21D98F2D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B73F4-1360-4EF0-BBA8-5A4C953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仮道管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C40F9-A8D6-4BD7-8512-34843CDE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811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道管要素の連なり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99FB1-877E-4B05-87AB-E5B380BC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7143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71753-3837-4B7D-9BD5-3189CB4D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28875"/>
            <a:ext cx="4857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802DA-AE91-4713-81DA-03809108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38375"/>
            <a:ext cx="7143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6D5DC-4F97-418A-9004-C8BBC39D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28875"/>
            <a:ext cx="4857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5D09"/>
            </a:solidFill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84EB2-B4A1-47CF-A2C4-BE4BF13708A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52625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245C98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C5041-38DC-4A07-AA97-200EF488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壁孔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C7B7F-188F-48FD-90C1-2CA309D5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A8C5C-7D17-4730-A9E9-FBDE5E10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95500"/>
            <a:ext cx="12477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365A3-EC58-413E-AF4A-64F7271C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59274-D244-4365-9DA5-53B1F83A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48000"/>
            <a:ext cx="12477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8BF2F-28B5-471F-BE94-3B77D3A3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373B2-AD71-45A0-A860-ACE743BD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00500"/>
            <a:ext cx="12477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</a:ln>
        </p:spPr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B912E4-6BD5-48F8-8B81-AB313FF15E5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981825" y="2333625"/>
            <a:ext cx="0" cy="21431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5C98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8B3F0-FF84-4169-883E-F02C4D4B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せん孔で上下に連絡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3E2E5-72B3-4DD8-AD25-9C1AC1FA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仮道管：両端が閉じた細胞。隣接細胞へ壁孔を介して水が移る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8A42F-85E7-4117-8E9E-BFDE052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道管：道管要素が縦に連なり、要素間のせん孔で内腔がつながる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04DDD-E50C-425D-8C99-BCEB3C1C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道管要素1個の長さと、連なった道管の長さを区別する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E4FCA-D973-48FC-A221-F6BF0486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広葉樹にも、道管の周りなどに周囲仮道管・道管状仮道管がある</a:t>
            </a:r>
          </a:p>
        </p:txBody>
      </p:sp>
    </p:spTree>
    <p:extLst>
      <p:ext uri="{BB962C8B-B14F-4D97-AF65-F5344CB8AC3E}">
        <p14:creationId xmlns:p14="http://schemas.microsoft.com/office/powerpoint/2010/main" val="15560723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03E88-239B-4E84-A58B-8C7276DD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軸方向と放射方向の連絡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8FD25-4892-4DB5-ABF7-B94AC20065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5B6D4-5E5D-40A3-8610-1B8042DF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771D5-B0A4-40C7-9587-1E0BB5A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3D1E6-0411-4755-85CD-42C42622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仮道管同士：有縁壁孔を介する通水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9A6FB-2993-4A57-A28F-CED451E0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道管要素同士：上下はせん孔、側面の道管相互壁孔でも連絡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A63CC-F3DA-40F0-A66C-5053A52F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軸方向の通導要素と放射組織：分野壁孔・道管放射組織間壁孔など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BAB15-5689-4AEC-9ED2-B501F958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生きた柔細胞同士：細胞壁の原形質連絡を介した物質移動もある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DBF72-244A-4BAD-8006-94FD2E19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L方向の輸送系とR方向の系がつながり、通導と貯蔵を支える</a:t>
            </a:r>
          </a:p>
        </p:txBody>
      </p:sp>
    </p:spTree>
    <p:extLst>
      <p:ext uri="{BB962C8B-B14F-4D97-AF65-F5344CB8AC3E}">
        <p14:creationId xmlns:p14="http://schemas.microsoft.com/office/powerpoint/2010/main" val="8844893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610F6-2E88-489E-A108-8FBF303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448AC-8808-42A5-B01A-63356866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458D7-66A6-4743-9B9A-556A7775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7A5CB-8229-4151-88FA-CD74DE7F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</a:t>
            </a:r>
          </a:p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手を開いて閉じる</a:t>
            </a:r>
          </a:p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A9EC5-E0BA-4178-A2CA-5FA58CD4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再開したら：組織写真の観察から、年輪の内部へ進みます。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AAA3C-C6E8-4F00-8A97-822917F8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第2回・オンデマンド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57D57-8C4A-45B9-ACC2-12C5C815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休憩 1</a:t>
            </a:r>
          </a:p>
        </p:txBody>
      </p:sp>
    </p:spTree>
    <p:extLst>
      <p:ext uri="{BB962C8B-B14F-4D97-AF65-F5344CB8AC3E}">
        <p14:creationId xmlns:p14="http://schemas.microsoft.com/office/powerpoint/2010/main" val="9557154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78455-AD68-4C71-ACFA-572D2EB1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広葉樹材では、道管と周囲の組織を見る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329C8-44C5-4455-B0B6-9C6BF4E4EB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FD366-E7C1-4E27-977A-0849A887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51140-3158-4E3E-9624-3BB04BF0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04A3A-8520-414E-B9A4-3904B1B78C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1530290f441c0"/>
          <a:stretch xmlns:a="http://schemas.openxmlformats.org/drawingml/2006/main"/>
        </p:blipFill>
        <p:spPr>
          <a:xfrm xmlns:a="http://schemas.openxmlformats.org/drawingml/2006/main">
            <a:off x="1602804" y="1504950"/>
            <a:ext cx="2785618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9EFCF-A4D4-453A-ABD7-D31C110C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857375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5C98"/>
            </a:solidFill>
          </a:ln>
        </p:spPr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B3539-650B-4131-8F43-230F3CDC2E55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2752725" y="1952625"/>
            <a:ext cx="2943225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F2A5C-92B7-4E0B-9FAF-9843336A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238500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E8B"/>
            </a:solidFill>
          </a:ln>
        </p:spPr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9AA01-80DF-4EF0-B4CC-F20586577AF8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2238375" y="3333750"/>
            <a:ext cx="345757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C8AFC-FF7A-4DBA-BC8C-AF5E323B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19275"/>
            <a:ext cx="5695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大きな内腔をもつ道管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7C162-620D-451F-9912-B32EA81E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24175"/>
            <a:ext cx="5695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放射方向へ伸びる放射組織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14E32-F7D6-44CB-A50E-00F4095E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29075"/>
            <a:ext cx="5695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周囲に木繊維や柔細胞など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A9F9E-508D-4B0A-B3DA-CF20C463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ブナ Fagus crenata。画像：森林総合研究所 日本産木材データベース</a:t>
            </a:r>
          </a:p>
        </p:txBody>
      </p:sp>
    </p:spTree>
    <p:extLst>
      <p:ext uri="{BB962C8B-B14F-4D97-AF65-F5344CB8AC3E}">
        <p14:creationId xmlns:p14="http://schemas.microsoft.com/office/powerpoint/2010/main" val="12245198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6D315-0C97-47E1-80E1-E7E45A8B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三つの木口像を、同じ観点で比較する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EAF73-70AD-4ECD-82AA-80A24B1AF7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20160-6B24-489C-BF47-50ABF0AF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10C69-539E-4C0A-AF0E-A82053A1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25898-2379-4729-87AE-27C8A475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カラマツ：針葉樹材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B50F8-50E5-4240-A9B2-CE75A09B0F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71276f2414133"/>
          <a:stretch xmlns:a="http://schemas.openxmlformats.org/drawingml/2006/main"/>
        </p:blipFill>
        <p:spPr>
          <a:xfrm xmlns:a="http://schemas.openxmlformats.org/drawingml/2006/main">
            <a:off x="849630" y="2000250"/>
            <a:ext cx="2910840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6059D-EA1E-4BDF-9F82-FCE0F7E3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573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ブナ：散孔材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64974-553A-45D7-AA64-2CA9D92F5E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c67ce075d4391"/>
          <a:stretch xmlns:a="http://schemas.openxmlformats.org/drawingml/2006/main"/>
        </p:blipFill>
        <p:spPr>
          <a:xfrm xmlns:a="http://schemas.openxmlformats.org/drawingml/2006/main">
            <a:off x="4581989" y="2000250"/>
            <a:ext cx="2418423" cy="3638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9D040-E13C-4270-9B4F-78F30E75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573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ケヤキ：環孔材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08D1E-6132-403B-BC4C-81F3522D7B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050885fc140d2"/>
          <a:stretch xmlns:a="http://schemas.openxmlformats.org/drawingml/2006/main"/>
        </p:blipFill>
        <p:spPr>
          <a:xfrm xmlns:a="http://schemas.openxmlformats.org/drawingml/2006/main">
            <a:off x="7821930" y="2000250"/>
            <a:ext cx="2910840" cy="3638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F538A-AEE2-43C5-89BD-71117EEF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画像：森林総合研究所 日本産木材データベース。寸法の比較にはスケールを使う</a:t>
            </a:r>
          </a:p>
        </p:txBody>
      </p:sp>
    </p:spTree>
    <p:extLst>
      <p:ext uri="{BB962C8B-B14F-4D97-AF65-F5344CB8AC3E}">
        <p14:creationId xmlns:p14="http://schemas.microsoft.com/office/powerpoint/2010/main" val="8399198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0D2EC-ACB8-47BB-AE35-C2538FEA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観察した事実と、材質の予想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92B5B-F308-4D70-AA2A-E1274217B3B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47AD7-810A-48C7-AB05-8CFD573B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6367D-6F09-4A36-A7B6-F7CD0B9A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91510-34A7-4604-9B06-C6B23F12D168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6765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記録すること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見えた事実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例：大きな内腔が、帯状に並ぶ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位置・形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その場所を図に丸で示す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材質の予想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例：空隙の割合と密度に関係がありそう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追加で必要な情報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例：同じ含水状態の密度測定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C9E20-79A8-4725-8568-7EAF892B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見えた構造と、測定していない物性値を区別する</a:t>
            </a:r>
          </a:p>
        </p:txBody>
      </p:sp>
    </p:spTree>
    <p:extLst>
      <p:ext uri="{BB962C8B-B14F-4D97-AF65-F5344CB8AC3E}">
        <p14:creationId xmlns:p14="http://schemas.microsoft.com/office/powerpoint/2010/main" val="9637052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1BFB0-9867-4DF3-85E3-3AC000D8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構造を示して説明する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CDD80-6A94-4BCB-A9ED-14280A279CD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13953-14DF-42D4-BFDC-55BE98CA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58B7C-1049-40FD-B2AF-81CBB7FF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115F8-D1F0-4F1E-ABD3-A9448CEF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カラマツ：針葉樹材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EB8F7-007D-415C-ADEC-5488BC6E04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227da296541f9"/>
          <a:stretch xmlns:a="http://schemas.openxmlformats.org/drawingml/2006/main"/>
        </p:blipFill>
        <p:spPr>
          <a:xfrm xmlns:a="http://schemas.openxmlformats.org/drawingml/2006/main">
            <a:off x="849630" y="2000250"/>
            <a:ext cx="2910840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1E69B-91C1-48CA-BE99-993BA0BD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573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ブナ：散孔材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88DF3-9566-4D04-B4E3-561AAF00B7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0e91b2e3d4aea"/>
          <a:stretch xmlns:a="http://schemas.openxmlformats.org/drawingml/2006/main"/>
        </p:blipFill>
        <p:spPr>
          <a:xfrm xmlns:a="http://schemas.openxmlformats.org/drawingml/2006/main">
            <a:off x="4581989" y="2000250"/>
            <a:ext cx="2418423" cy="3638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5B896-B7C9-4390-BF09-ABFB5A7B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573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ケヤキ：環孔材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B7A5F-DE71-46D9-8AC7-178207678C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f18e0df854b6a"/>
          <a:stretch xmlns:a="http://schemas.openxmlformats.org/drawingml/2006/main"/>
        </p:blipFill>
        <p:spPr>
          <a:xfrm xmlns:a="http://schemas.openxmlformats.org/drawingml/2006/main">
            <a:off x="7821930" y="2000250"/>
            <a:ext cx="2910840" cy="3638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160EA-A35D-4D73-96D5-E84923FA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同じ3画像を、分類の根拠と年輪構造を読み取るために再掲</a:t>
            </a:r>
          </a:p>
        </p:txBody>
      </p:sp>
    </p:spTree>
    <p:extLst>
      <p:ext uri="{BB962C8B-B14F-4D97-AF65-F5344CB8AC3E}">
        <p14:creationId xmlns:p14="http://schemas.microsoft.com/office/powerpoint/2010/main" val="2270988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1C993-4571-49E1-BFDD-44ADC596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成長輪と年輪と早晩材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DC722-CAB6-4FBD-A442-CEF979E550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0D443-2699-4CA7-AAEA-025384A4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8CDC8-C209-4A0D-B1FB-E3CFC580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48E33-6E0F-45A4-A7E4-5FF2233A30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dcea9b2514368"/>
          <a:stretch xmlns:a="http://schemas.openxmlformats.org/drawingml/2006/main"/>
        </p:blipFill>
        <p:spPr>
          <a:xfrm xmlns:a="http://schemas.openxmlformats.org/drawingml/2006/main">
            <a:off x="685800" y="1793081"/>
            <a:ext cx="5048250" cy="378618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B1663-8704-4246-A0E9-FA2166F3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成長輪は、形成された木部に現れる周期的な構造の帯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0405E-8C77-4030-BA81-76DF524C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622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成長輪が1年に一つできる場合に年輪という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1248B-1000-4511-AB95-48041897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針葉樹材では、早材は内腔が大きく壁が薄く、晩材は壁の割合が高い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2A1B6-B6E3-4107-9A40-DD8AC9F6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この針葉樹材の年輪界は、晩材から翌年の早材へ切り替わる境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D1760-7095-4ECC-879C-C2FCB1AD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早材の大きな内腔と、晩材の厚い壁</a:t>
            </a:r>
          </a:p>
        </p:txBody>
      </p:sp>
    </p:spTree>
    <p:extLst>
      <p:ext uri="{BB962C8B-B14F-4D97-AF65-F5344CB8AC3E}">
        <p14:creationId xmlns:p14="http://schemas.microsoft.com/office/powerpoint/2010/main" val="5931291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A835F-B15C-4358-8431-4D803DA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年輪内の組織と密度の変化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C894A-E84F-4E55-8F24-C4AE0BDD2F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29573-2ADE-4C09-AEB4-BBE313FD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E0BD4-50CF-470D-A8A6-C9995EBD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6E1D8-80FD-44BF-A5E1-7957F114E6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23d2dd76a4b6c">
            <a:alphaModFix amt="45000"/>
          </a:blip>
          <a:srcRect xmlns:a="http://schemas.openxmlformats.org/drawingml/2006/main" l="24256" t="0" r="24256" b="0"/>
          <a:stretch xmlns:a="http://schemas.openxmlformats.org/drawingml/2006/main"/>
        </p:blipFill>
        <p:spPr>
          <a:xfrm xmlns:a="http://schemas.openxmlformats.org/drawingml/2006/main" rot="5400000">
            <a:off x="3492374" y="-14033"/>
            <a:ext cx="2610865" cy="6338569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F0D90BB-DBB4-45D9-904A-CE1430E8AB00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4d3d7d67134a8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D76F5-23BA-4D92-9189-FDD62B79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476375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早材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98CC3-7CB1-4756-BD48-92FBA8AA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476375"/>
            <a:ext cx="123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B0936-B16F-4FDD-B65B-7972F1BD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76375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次の早材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9DD08-E5F4-4AAF-9C2F-CFA76393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76375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0CFF6-E1AA-4091-A28B-E720ADD0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724025"/>
            <a:ext cx="30575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早材：内腔が大きく、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壁の割合が小さい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密度は低い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379B0-B4B8-434A-9B98-8E8157C5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28950"/>
            <a:ext cx="30575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晩材：壁の割合が増す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密度は高い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97785-42DB-4762-B8B9-F3B53A1C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91000"/>
            <a:ext cx="30575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年輪界：次の早材へ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密度が急に下がる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C2FB2-7F04-446B-A4C1-28A51E54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写真：針葉樹材の木口 ©FFPRI　曲線：説明用モデル（写真の実測密度ではない）</a:t>
            </a:r>
          </a:p>
        </p:txBody>
      </p:sp>
    </p:spTree>
    <p:extLst>
      <p:ext uri="{BB962C8B-B14F-4D97-AF65-F5344CB8AC3E}">
        <p14:creationId xmlns:p14="http://schemas.microsoft.com/office/powerpoint/2010/main" val="5680570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7CD27-4B43-45D9-8DAA-4A695A22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散孔材と環孔材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EEC0A-53AF-41A7-BAED-D1F686BD96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37D00-2D97-432C-A05B-7C4BD0A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973F0-8E60-4D4B-ACCB-A2DC27E4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62516-411D-4287-A222-A592957CCB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2d8850933451c"/>
          <a:stretch xmlns:a="http://schemas.openxmlformats.org/drawingml/2006/main"/>
        </p:blipFill>
        <p:spPr>
          <a:xfrm xmlns:a="http://schemas.openxmlformats.org/drawingml/2006/main">
            <a:off x="1949494" y="1571625"/>
            <a:ext cx="2139861" cy="32194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19E35-60C4-4574-9055-19F6CD0DD6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79d2e2bb2447e"/>
          <a:stretch xmlns:a="http://schemas.openxmlformats.org/drawingml/2006/main"/>
        </p:blipFill>
        <p:spPr>
          <a:xfrm xmlns:a="http://schemas.openxmlformats.org/drawingml/2006/main">
            <a:off x="7237095" y="1571625"/>
            <a:ext cx="2575560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E053B-2428-496F-ABE9-CB4982D7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散孔材　ブナ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A3F29-00FD-4986-A11A-2C6A41F6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rPr>
              <a:t>環孔材　ケヤキ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D10A3-5327-41FA-A90D-C9F4581E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ブナは散孔材。道管が成長輪の中に広く分布する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C4DA9-000C-4C31-920C-F8D87C3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ケヤキは環孔材。早材の大きな道管が帯状に目立つ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4C6A6-F138-4E52-BF8E-B67E74FF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道管の分布と、周囲の木繊維・柔組織を併せて読む</a:t>
            </a:r>
          </a:p>
        </p:txBody>
      </p:sp>
    </p:spTree>
    <p:extLst>
      <p:ext uri="{BB962C8B-B14F-4D97-AF65-F5344CB8AC3E}">
        <p14:creationId xmlns:p14="http://schemas.microsoft.com/office/powerpoint/2010/main" val="19751784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9A2E3-8422-44EB-B3FF-722FF863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年輪幅と材質を結ぶ条件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40BE0-392A-47F5-AE37-680E2959620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12445-6F17-4A55-A0ED-4232D86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F4A74-E7D1-4C46-9CDB-FF96878F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AFBE1-D8D2-4E97-93A4-5471FFC2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針葉樹では、晩材幅の変化が小さい範囲なら、狭い年輪で晩材率が高くなる傾向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783D4-F83C-4E1A-A3E5-1C0EF53A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早晩材の密度も確認する。極端に狭い年輪まで同じ関係を当てはめない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D93A8-3588-4675-82F9-A7BE8B1C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環孔材では、年輪が広がると木繊維の多い晩材が増え、密度が上がる例が多い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160F9-7389-4912-85C6-D6EE828B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平均密度を比べるには、晩材率と早材・晩材それぞれの密度が必要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68AB9-AAB1-4EE2-8E83-DC25F1AD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気温・降水・土壌水分・競争・施業が、成長量と形成される組織を変える</a:t>
            </a:r>
          </a:p>
        </p:txBody>
      </p:sp>
    </p:spTree>
    <p:extLst>
      <p:ext uri="{BB962C8B-B14F-4D97-AF65-F5344CB8AC3E}">
        <p14:creationId xmlns:p14="http://schemas.microsoft.com/office/powerpoint/2010/main" val="7131102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E3AC5-9FBF-45AF-9665-2B9224E7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6BDAC-B2FE-4270-9932-B43F7515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C0EB8-D892-452D-B33F-DA8B1EA1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19A91-1AE2-472D-AD31-74C03410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</a:t>
            </a:r>
          </a:p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手を開いて閉じる</a:t>
            </a:r>
          </a:p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737A3-6C7D-4CDE-A6C6-D392AADA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再開したら：壁の割合と密度を、モデルで計算します。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EBC6A-1D44-46DD-BFEB-0ECEE264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第2回・オンデマンド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88471-B4E5-494F-89E2-BDEA5689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休憩 2</a:t>
            </a:r>
          </a:p>
        </p:txBody>
      </p:sp>
    </p:spTree>
    <p:extLst>
      <p:ext uri="{BB962C8B-B14F-4D97-AF65-F5344CB8AC3E}">
        <p14:creationId xmlns:p14="http://schemas.microsoft.com/office/powerpoint/2010/main" val="9398055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3548B-01A3-499C-A108-B33C1560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早材型と晩材型の仮道管モデル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26DCC-0278-4923-9467-ED5C8050B5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B2FA0-356D-402F-8D87-A3578B59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FD53E-A1F4-45E3-B338-268DFFE3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E0EF5-7C79-4BCC-818E-938278A2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47875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A202C-98D4-445B-8FCC-A9830125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81225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33720-E55C-4DFF-B653-E10A47DD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早材型　壁厚2 µm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63F8C-A8B7-4E48-A953-5E517A5D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465C0-1F0F-46F6-8B7F-6D8CCD94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47925"/>
            <a:ext cx="18669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AF888-539F-486D-8DFD-A68C9F89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339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晩材型　壁厚6 µm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C32A4-8775-4D37-A536-3C63DC26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85925"/>
            <a:ext cx="3981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外形は一辺40 µmの正方形。細胞軸に沿って同じ長さに続くと考える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170FF-086F-49A7-BBCC-6A604F15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981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早材型：壁厚2 µm、内腔は一辺36 µm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8BDE5-3638-4E7F-886C-10D848DC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3981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晩材型：壁厚6 µm、内腔は一辺28 µm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BC2BE-9236-4FC2-8CC5-57B90721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00600"/>
            <a:ext cx="3981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全乾状態。壁密度1.50 g/cm³を仮定し、内腔の空気の質量は省く</a:t>
            </a:r>
          </a:p>
        </p:txBody>
      </p:sp>
    </p:spTree>
    <p:extLst>
      <p:ext uri="{BB962C8B-B14F-4D97-AF65-F5344CB8AC3E}">
        <p14:creationId xmlns:p14="http://schemas.microsoft.com/office/powerpoint/2010/main" val="88973614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CDBBA-9564-4224-91EB-9D40F5B6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仮道管の壁厚から密度を求める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0802F-ED79-43F6-9DE5-13B9A06B4D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D6EB1-6ED1-4094-B5CE-ABC8DA26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74C21-A197-441B-A16B-E25D7795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76671-0987-46EB-A940-53A402EF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外形面積40²から内腔面積36²／28²を引き、壁の面積を求める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3867C-9BFB-4700-8349-C8912524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軸方向に断面が一定のモデルで、面積比から壁体積率φを求める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38C0A-4056-4246-9524-30971CDA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ρ＝φ×1.50として、早材型・晩材型の密度を求める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FFDBA-A0E2-4792-85B0-45D92CA5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同じ体積の早材型と晩材型は、どちらが何倍重いか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09C2C-0F0B-4515-9412-EA1E4907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⑤ 壁厚だけでは、実材の強度や加工性について何がまだ分からないか</a:t>
            </a:r>
          </a:p>
        </p:txBody>
      </p:sp>
    </p:spTree>
    <p:extLst>
      <p:ext uri="{BB962C8B-B14F-4D97-AF65-F5344CB8AC3E}">
        <p14:creationId xmlns:p14="http://schemas.microsoft.com/office/powerpoint/2010/main" val="2315896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47D07-B229-4A87-A9EE-976E9A6F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壁の割合と密度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B8B92-3B08-4BBA-809A-F901ACCDFF8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CA16B-E3D0-486C-91A0-3DAF670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236CC-23E1-4070-8C89-2246F1FD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AD8FE-3FC4-4135-8C6C-70B4BB8E59AF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計算する量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早材型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晩材型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壁面積 µm²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1,600−1,296＝304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1,600−784＝816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壁体積率 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304/1,600＝0.19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816/1,600＝0.51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全乾密度 g/cm³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0.19×1.50＝0.285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0.51×1.50＝0.765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同じ体積の質量比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0.765/0.285 ≒ 2.68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7102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134723-513C-4622-B767-E14E7C94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晩材率が違う年輪の比較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C8763-F4CC-4704-A630-D70E6495348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3554F-A83D-459E-BF40-A481B46D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50B70-1E1B-44AE-AC9A-940B918A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D990A-313D-409A-81FB-821E459C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4DB7F-D436-4DE1-A3E6-51FFE81F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2A073-9BBC-47A0-BBDE-D20A8B8E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1190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050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AA319-8F3B-465E-A471-58320A5F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097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C51CA-7D01-47D6-B03E-18C1968F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1152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6A79B-5B22-493B-B4F3-BB11130A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EAC18-B541-4EC6-BFEE-2C36729F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190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1D2D3-E4DC-4038-B05E-DF7CCA06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05125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050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26FB6-4C43-4B05-A869-C78D110F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05125"/>
            <a:ext cx="1152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5027E-9B60-48C2-9C90-2265B5F0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05125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E72A2-2C21-44A1-932B-F39E3903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71252-1700-42F0-B752-6A1D616A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23456-E5DA-43B8-9B4E-68B1520C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190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050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CB5EF-C8D1-4B50-8AD2-84C9E915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8D6E8-FD65-46B0-AE89-FC038CB8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1152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43FEA-6BF7-4350-BB95-758FE7DB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A：早材幅2 mm＋晩材幅1 mm、晩材率1/3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C9AB5-1291-4F06-8512-8888C4EA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479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B：早材幅1 mm＋晩材幅2 mm、晩材率2/3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1984D-7677-4839-9A96-07A20347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242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C：早材幅4 mm＋晩材幅1 mm、晩材率1/5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CF62A-337A-4921-8B2B-0DB909C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同じ早晩材密度なら、平均密度はB＞A＞C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A9181-4B4A-4D01-B50B-A9A78338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L・Tの寸法をそろえた帯に近似し、R方向の幅比を体積比fとする</a:t>
            </a:r>
          </a:p>
        </p:txBody>
      </p:sp>
      <p:sp>
        <p:nvSpPr>
          <p:cNvPr id="26" name="DensityResultCaption">
            <a:extLst xmlns:a="http://schemas.openxmlformats.org/drawingml/2006/main">
              <a:ext uri="{FF2B5EF4-FFF2-40B4-BE49-F238E27FC236}">
                <a16:creationId xmlns:a16="http://schemas.microsoft.com/office/drawing/2014/main" id="{CC42FFA7-0A23-4329-80F6-FF5A8222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ρ平均＝(1−f)ρ早材＋fρ晩材　　A 0.445／B 0.605／C 0.381 g/cm³</a:t>
            </a:r>
          </a:p>
        </p:txBody>
      </p:sp>
    </p:spTree>
    <p:extLst>
      <p:ext uri="{BB962C8B-B14F-4D97-AF65-F5344CB8AC3E}">
        <p14:creationId xmlns:p14="http://schemas.microsoft.com/office/powerpoint/2010/main" val="48082961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83929-42D7-4B0F-B81F-31AD2D27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フックの法則とヤング率の復習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966B6-FF88-43C9-BFFB-C7A7E50FBFA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6CDAF-E25A-465F-BB96-4B600D54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70DFA-DDC6-495C-990F-01E9A134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6E024-D213-47F1-96D1-28DC5D10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棒を引張ると、力Fに応じて長さがΔlだけ増える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4FB45-0D71-4CF7-B20F-1594EA64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応力σ＝F/A、ひずみε＝Δl/l。線形弾性の範囲ではσ＝Eε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A6616-C215-4B0A-BB78-F5B1BEA0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Eは応力とひずみの比で、単位はPaまたはMPa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87C30-6572-4566-A6B8-908F74DF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同じ応力なら、Eが大きい材料ほどひずみが小さい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8D5EC-0B20-41C6-AD91-127E55D1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この後のEの方向差は、L・R・Tにより変形しやすさが異なることを表す</a:t>
            </a:r>
          </a:p>
        </p:txBody>
      </p:sp>
    </p:spTree>
    <p:extLst>
      <p:ext uri="{BB962C8B-B14F-4D97-AF65-F5344CB8AC3E}">
        <p14:creationId xmlns:p14="http://schemas.microsoft.com/office/powerpoint/2010/main" val="101909294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3B02A-2FC9-47B1-8FD8-340F64EE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配列の方向と、材料の方向差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AA229-1CEF-49F7-B24C-3664B1223E8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D17DF-0690-4272-AD7C-98BCFBD5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81F95-F68E-495F-A106-BAC862BC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D8ACF-1416-406C-9C44-C865B59023F0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952750"/>
                <a:gridCol w="4438650"/>
              </a:tblGrid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見る構造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方向・断面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後で確かめる性質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軸方向の細胞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長軸は主にL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縦・横のEと強度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放射組織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主にRへ伸びる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RとTの違い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壁と空隙・配向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三断面で確認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収縮・水分・加工性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1E92B-D2EC-467F-9D15-AE00E918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構造から仮説を立て、方向・水分・欠点をそろえた測定で確かめる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3143035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63FB4-E8F4-4746-8B71-73B4DD64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のこぎり挽きと繊維方向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80CB0-CDB1-4429-ABAA-325B2D999DC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0BB55-68F9-43B1-9789-79287DBC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521F6-7380-44A0-88F4-EE7EFC39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C53A3-6ABF-4067-8853-25CF0FD0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457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C1AF8-0C99-4D89-96CF-3FD21BAE6D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2190750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F1BD5-F9CB-424F-AA35-1683DC8EF5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2362200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D19A1-F22F-4808-9435-C15859F877B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2533650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FED89-8B23-4EC5-B0EE-FCE5FECC56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2705100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903F6-550F-4568-B399-5B8A2922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430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縦挽き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C4265-4D01-45B7-9990-6420A3FE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57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5CD27-C38B-4D48-8B94-95EC63487AF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4143375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3AA9B-00E4-4F20-B1DC-D238F25BB8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4314825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DD843-F198-4744-842F-2C6384D425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4486275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23ED8-5100-4B55-A9A2-6D6D34CE7B3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4657725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3A52B-C69B-4E5D-9CF9-E64F8DC3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956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横挽き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E1377-CB1D-4CF0-9D66-4CA5ECD26EE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2333625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5C98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A0185-5FEA-4F6E-90C1-E9B19CEE110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3750" y="381000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53D3D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8F67C-208D-4D44-8332-92718EA3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21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縦挽き：主な繊維方向に沿って切り進む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5604E-DB89-4492-B681-CDAEA6B9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21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横挽き：繊維を横切って切り進む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C7276-4039-47B3-B5F8-C6867E5A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1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刃の形・切削方向・繊維の傾きで、切りくずや仕上げ面が変わる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3544F-16CB-41CF-9070-AAA22A29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91075"/>
            <a:ext cx="521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節や目切れの近くでは、局所的な繊維方向も確認する</a:t>
            </a:r>
          </a:p>
        </p:txBody>
      </p:sp>
    </p:spTree>
    <p:extLst>
      <p:ext uri="{BB962C8B-B14F-4D97-AF65-F5344CB8AC3E}">
        <p14:creationId xmlns:p14="http://schemas.microsoft.com/office/powerpoint/2010/main" val="37879284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7077D-0A95-44B0-8602-C2AADCA8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F607C-BF00-4C6A-AA4A-ADB404B4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0D94B-76AB-4904-A86E-903840F9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FBA22-7C4C-483B-ADA0-4483B0B4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</a:t>
            </a:r>
          </a:p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手を開いて閉じる</a:t>
            </a:r>
          </a:p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660DE-439C-409F-96AE-D303D38A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再開したら：観察と測定を整理し、技術科の授業へつなげます。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0F330-ACC8-4346-AAE5-91B18158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第2回・オンデマンド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AA4CC-8A30-4BF0-AE78-DBF33177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休憩 3</a:t>
            </a:r>
          </a:p>
        </p:txBody>
      </p:sp>
    </p:spTree>
    <p:extLst>
      <p:ext uri="{BB962C8B-B14F-4D97-AF65-F5344CB8AC3E}">
        <p14:creationId xmlns:p14="http://schemas.microsoft.com/office/powerpoint/2010/main" val="106688806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78ECE-B89D-48AC-9598-F2B77926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写真と測定で分かる材質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30C8B-E034-4769-BA31-066BA379EB0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F2F76-FF48-447D-8FA3-BA92DBAD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62C75-EC1F-47FD-B4A2-E840D22E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E98CE-3464-45DA-82C2-ABCA31D5267E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資料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読み取る内容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材質へ結び付ける情報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木口像・縦断面像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壁厚、内腔、細胞の配列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観察方向、倍率、早晩材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質量と体積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一定の含水状態の密度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全乾・気乾・飽水の状態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荷重と変形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弾性率と変形の関係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荷重方向、断面、支え方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切削面・切りくず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加工方向による違い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刃、繊維方向、水分状態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2033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52C00-D685-4206-A49A-75BC5E3E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木目と組織を結ぶ説明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C5EF1-C08A-4AD0-B2E7-A830AD3020F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DCAB2-7C59-4FB4-913D-D2F43B86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4759D-D671-40BE-B42C-850E79F0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F58A9-B634-4D3B-A618-BD91204F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木口と縦断面を、同じ組織の異なる見え方として結ぶ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44DF5-7EB4-47DB-94B2-C85D7866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内腔と細胞壁、軸方向と放射方向の系を、模型に対応させる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2494B-688A-4A20-8617-F528A6CF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中学校では、木目・年輪・繊維方向を観察し、加工や使用方向を考える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2B95B-932C-44AE-A56A-11253152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本講義では、細胞の種類と配列を根拠に、性質が違う理由を説明する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B7128-961C-49EC-B3F1-D5C171B2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接点：材料の性質と種類・木材の加工／指導要領A(1)ア</a:t>
            </a:r>
          </a:p>
        </p:txBody>
      </p:sp>
    </p:spTree>
    <p:extLst>
      <p:ext uri="{BB962C8B-B14F-4D97-AF65-F5344CB8AC3E}">
        <p14:creationId xmlns:p14="http://schemas.microsoft.com/office/powerpoint/2010/main" val="168763654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7CED0-2B72-4ADB-9687-4C535EBD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　構造から理由を述べる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3B461-B313-48F9-B523-26C9C12D995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41555-9FC1-4CDB-9CF7-21AB77FB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1E89A-B4A4-4B21-93E3-92318F6F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28917-8658-4CC7-A9B0-EB1B95EC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仮道管・道管・木繊維・柔細胞を、働きと対応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68810-7462-4967-BFE3-498465DA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針葉樹材の例で年輪界を二本描き、その間の一年分を示す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B5190-17FC-418B-9562-31DDB1D2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壁体積率40％、ρ壁1.50 g/cm³のモデルの密度は？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D86AB-2C17-4A5D-A7DD-149533BF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　　③から、その材の強度まで決められるか</a:t>
            </a:r>
          </a:p>
        </p:txBody>
      </p:sp>
    </p:spTree>
    <p:extLst>
      <p:ext uri="{BB962C8B-B14F-4D97-AF65-F5344CB8AC3E}">
        <p14:creationId xmlns:p14="http://schemas.microsoft.com/office/powerpoint/2010/main" val="2738682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23F06-01AD-4382-A7BC-24BC5535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要点と復習　細胞壁の内部へ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D1655-5018-4F90-AAD2-7569C7F5AFE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7B8D6-2576-4A06-ACC3-D9D6F372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C5092-0BFE-4658-91D6-BCA3E62B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E14F9-8AF3-48B1-AC23-E545439A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壁と内腔、細胞の種類と配列を、図で説明する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75E10-26D2-452E-A276-2CAC831A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復習1：三断面に、軸方向の細胞と放射組織を記入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FB046-2E15-4397-A40A-806E22D5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復習2：「年輪幅だけでは強さが決まらない」を150字で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100C0-F585-46B0-A845-EA17919E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発展：ρ = φρ壁 を導き、実材とモデルの違いを述べる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58867-BC9F-419F-BB54-32B45C12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次回：細胞壁の層構造とミクロフィブリル。名前と物性の関係を考える</a:t>
            </a:r>
          </a:p>
        </p:txBody>
      </p:sp>
      <p:sp>
        <p:nvSpPr>
          <p:cNvPr id="11" name="SelfCheckCaption">
            <a:extLst xmlns:a="http://schemas.openxmlformats.org/drawingml/2006/main">
              <a:ext uri="{FF2B5EF4-FFF2-40B4-BE49-F238E27FC236}">
                <a16:creationId xmlns:a16="http://schemas.microsoft.com/office/drawing/2014/main" id="{7CCEA75B-6A33-472F-AF01-BD0F810D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復習は自己確認用。提出課題は授業の案内に従う。</a:t>
            </a:r>
          </a:p>
        </p:txBody>
      </p:sp>
    </p:spTree>
    <p:extLst>
      <p:ext uri="{BB962C8B-B14F-4D97-AF65-F5344CB8AC3E}">
        <p14:creationId xmlns:p14="http://schemas.microsoft.com/office/powerpoint/2010/main" val="15917964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7999F-9081-41A4-ABB1-E9C05FD4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1B6CC-15DE-4B45-AB4F-1CD33044E5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2FBBB-6543-4212-94CD-A6726019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第3章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FB3E2-E13C-489D-BB57-097B9D48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166BA-2318-4DF8-A3DE-B48988AD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第4章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42A0C-9EB0-472A-9C2F-82A4FEBB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445A6-90C9-4DCC-9F32-CC40CECC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林試研究報告194 パフタン材の構成・細胞寸法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010EA-671D-4151-B2CF-13AFB4C5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https://www.ffpri.go.jp/pubs/bulletin/151/documents/194-7.pdf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F0500-3B43-4F38-9511-A0579793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丹下（2009）スギの年輪幅と容積密度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39B83-9731-4155-A9E6-4BE0795C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https://www.jstage.jst.go.jp/article/jjfe/51/2/51_KJ00005982751/_pdf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BE3A1-F131-46D7-931C-C7BE2057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ECD6E-9BBE-4ECC-A084-C1FAA342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92420-3030-4CA5-9E0A-51EA3251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9931897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42ED5-9114-4C6A-811B-1EF108D4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59E1D-9C75-4FC4-81C0-E684C40D55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8C534-F0F3-43A6-BD5B-30DE0F10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森林総合研究所 日本産木材データベース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FD6C4-FB90-4A57-B2B5-081A5BBF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https://db.ffpri.go.jp/WoodDB/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3F7B0-4E60-46AE-9402-D4719015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笠原ほか（2021）コウヨウザンの各種細胞長の測定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476C0-6682-49C3-BE06-B05AA00A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https://www.jstage.jst.go.jp/article/jsms/70/3/70_245/_pdf/-char/ja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E0605-8C35-4C90-9007-0F298BD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組織と年輪：本講義のPDF 5〜30ページを復習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C058E-A52C-4E3F-B864-64BBE4DB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23010-70A9-4E0C-9D8F-7E73760D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32A88-A5BB-4F2C-A420-CEABD062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6D2D1-2AB3-4E01-9E1E-01F58762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A5FC2-77B9-460F-B67C-F0DB2350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4447137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943C6-AC22-4958-8CF1-F262AD79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AA13B-F87E-487C-B2D5-6B489B8EB4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3581B-8D70-459A-8A99-1EAF4831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開隆堂 R7評価規準例 PDF1頁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18E99-45CF-4286-987F-65CA0583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https://www.kairyudo.co.jp/contents/04_shiryo/nenkei/chu/data/r7chu-gi_hyokakijun.pdf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008CE-456F-4318-8727-0F252693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E39B0-D0ED-425B-9CAC-A4747B57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F7BA3-2CCF-4B1D-ADE7-89F232D7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446479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2026-10-31T08:33:57.0040000Z</dcterms:created>
  <dcterms:modified xsi:type="dcterms:W3CDTF">2026-10-31T08:33:57.0040000Z</dcterms:modified>
</coreProperties>
</file>