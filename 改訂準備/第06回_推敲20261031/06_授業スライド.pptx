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4e1eaf157b486e" /><Relationship Type="http://schemas.openxmlformats.org/officeDocument/2006/relationships/extended-properties" Target="/docProps/app.xml" Id="Rd14f70fcf55b4673" /><Relationship Type="http://schemas.openxmlformats.org/officeDocument/2006/relationships/officeDocument" Target="/ppt/presentation.xml" Id="R3adf2c2f53cb4a85" /></Relationships>
</file>

<file path=ppt/presentation.xml><?xml version="1.0" encoding="utf-8"?>
<p:presentation xmlns:p="http://schemas.openxmlformats.org/presentationml/2006/main">
  <p:sldMasterIdLst>
    <p:sldMasterId xmlns:r="http://schemas.openxmlformats.org/officeDocument/2006/relationships" id="2147483648" r:id="Rb68a4e5be7494a5b"/>
    <p:sldMasterId xmlns:r="http://schemas.openxmlformats.org/officeDocument/2006/relationships" id="2147483655" r:id="R2161551888d44861"/>
  </p:sldMasterIdLst>
  <p:notesMasterIdLst>
    <p:notesMasterId xmlns:r="http://schemas.openxmlformats.org/officeDocument/2006/relationships" r:id="R05e8b6d918624939"/>
  </p:notesMasterIdLst>
  <p:sldIdLst>
    <p:sldId xmlns:r="http://schemas.openxmlformats.org/officeDocument/2006/relationships" id="256" r:id="Rdf97e65d7f7d409b"/>
    <p:sldId xmlns:r="http://schemas.openxmlformats.org/officeDocument/2006/relationships" id="257" r:id="Rdc5656aa873b404e"/>
    <p:sldId xmlns:r="http://schemas.openxmlformats.org/officeDocument/2006/relationships" id="258" r:id="Re2ddfe6e1b26499b"/>
    <p:sldId xmlns:r="http://schemas.openxmlformats.org/officeDocument/2006/relationships" id="259" r:id="Rd6713ff8f1634f9e"/>
    <p:sldId xmlns:r="http://schemas.openxmlformats.org/officeDocument/2006/relationships" id="260" r:id="Rdabd255e4ae84b90"/>
    <p:sldId xmlns:r="http://schemas.openxmlformats.org/officeDocument/2006/relationships" id="261" r:id="R71a909f7e36e4126"/>
    <p:sldId xmlns:r="http://schemas.openxmlformats.org/officeDocument/2006/relationships" id="262" r:id="Rc3b49fba9a3d4031"/>
    <p:sldId xmlns:r="http://schemas.openxmlformats.org/officeDocument/2006/relationships" id="263" r:id="Rb9c675cee7fa409d"/>
    <p:sldId xmlns:r="http://schemas.openxmlformats.org/officeDocument/2006/relationships" id="264" r:id="R2132a9033c2f4151"/>
    <p:sldId xmlns:r="http://schemas.openxmlformats.org/officeDocument/2006/relationships" id="265" r:id="R148792f2905043f3"/>
    <p:sldId xmlns:r="http://schemas.openxmlformats.org/officeDocument/2006/relationships" id="266" r:id="R72812bf49e984a1a"/>
    <p:sldId xmlns:r="http://schemas.openxmlformats.org/officeDocument/2006/relationships" id="267" r:id="Rb247b6e950a9433e"/>
    <p:sldId xmlns:r="http://schemas.openxmlformats.org/officeDocument/2006/relationships" id="268" r:id="R823ed3199a32405c"/>
    <p:sldId xmlns:r="http://schemas.openxmlformats.org/officeDocument/2006/relationships" id="269" r:id="R5e972632ed434941"/>
    <p:sldId xmlns:r="http://schemas.openxmlformats.org/officeDocument/2006/relationships" id="270" r:id="R2cc467af277b48d3"/>
    <p:sldId xmlns:r="http://schemas.openxmlformats.org/officeDocument/2006/relationships" id="271" r:id="R999d417f1fd64cd7"/>
    <p:sldId xmlns:r="http://schemas.openxmlformats.org/officeDocument/2006/relationships" id="272" r:id="Read157d8dd9c4f6d"/>
    <p:sldId xmlns:r="http://schemas.openxmlformats.org/officeDocument/2006/relationships" id="273" r:id="R29f5ecd1529b4780"/>
    <p:sldId xmlns:r="http://schemas.openxmlformats.org/officeDocument/2006/relationships" id="274" r:id="Rc2ee5c18bbff4407"/>
    <p:sldId xmlns:r="http://schemas.openxmlformats.org/officeDocument/2006/relationships" id="275" r:id="R2a633b7196b24bdb"/>
    <p:sldId xmlns:r="http://schemas.openxmlformats.org/officeDocument/2006/relationships" id="276" r:id="Rf2c340aea8234931"/>
    <p:sldId xmlns:r="http://schemas.openxmlformats.org/officeDocument/2006/relationships" id="277" r:id="R6f32aed7269f4d7b"/>
    <p:sldId xmlns:r="http://schemas.openxmlformats.org/officeDocument/2006/relationships" id="278" r:id="R2d29815122af44ad"/>
    <p:sldId xmlns:r="http://schemas.openxmlformats.org/officeDocument/2006/relationships" id="279" r:id="Rf88a68fbeda3481a"/>
    <p:sldId xmlns:r="http://schemas.openxmlformats.org/officeDocument/2006/relationships" id="280" r:id="R75e79b0218be4094"/>
    <p:sldId xmlns:r="http://schemas.openxmlformats.org/officeDocument/2006/relationships" id="281" r:id="R492ac34077e5496e"/>
    <p:sldId xmlns:r="http://schemas.openxmlformats.org/officeDocument/2006/relationships" id="282" r:id="R9d437dee31a74463"/>
    <p:sldId xmlns:r="http://schemas.openxmlformats.org/officeDocument/2006/relationships" id="283" r:id="R675afb2c54b04d04"/>
    <p:sldId xmlns:r="http://schemas.openxmlformats.org/officeDocument/2006/relationships" id="284" r:id="Rfb1868c884ca44eb"/>
    <p:sldId xmlns:r="http://schemas.openxmlformats.org/officeDocument/2006/relationships" id="285" r:id="R5bed251f02f24e1f"/>
    <p:sldId xmlns:r="http://schemas.openxmlformats.org/officeDocument/2006/relationships" id="286" r:id="Rf3fb4b849c7a480e"/>
    <p:sldId xmlns:r="http://schemas.openxmlformats.org/officeDocument/2006/relationships" id="287" r:id="R467c9a33c276411f"/>
    <p:sldId xmlns:r="http://schemas.openxmlformats.org/officeDocument/2006/relationships" id="288" r:id="R71c4c8b2e09c439f"/>
    <p:sldId xmlns:r="http://schemas.openxmlformats.org/officeDocument/2006/relationships" id="289" r:id="Rf1cc9fedafdf4b75"/>
    <p:sldId xmlns:r="http://schemas.openxmlformats.org/officeDocument/2006/relationships" id="290" r:id="R821a796b9c7844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465e8cf5e64c2c" /><Relationship Type="http://schemas.openxmlformats.org/officeDocument/2006/relationships/slideMaster" Target="/ppt/slideMasters/slideMaster1.xml" Id="Rb68a4e5be7494a5b" /><Relationship Type="http://schemas.openxmlformats.org/officeDocument/2006/relationships/slideMaster" Target="/ppt/slideMasters/slideMaster2.xml" Id="R2161551888d44861" /><Relationship Type="http://schemas.openxmlformats.org/officeDocument/2006/relationships/notesMaster" Target="/ppt/notesMasters/notesMaster1.xml" Id="R05e8b6d918624939" /><Relationship Type="http://schemas.openxmlformats.org/officeDocument/2006/relationships/presProps" Target="/ppt/presProps.xml" Id="R9f7c54d4c4554801" /><Relationship Type="http://schemas.openxmlformats.org/officeDocument/2006/relationships/tableStyles" Target="/ppt/tableStyles.xml" Id="R902bc5c19534436e" /><Relationship Type="http://schemas.openxmlformats.org/officeDocument/2006/relationships/slide" Target="/ppt/slides/slide1.xml" Id="Rdf97e65d7f7d409b" /><Relationship Type="http://schemas.openxmlformats.org/officeDocument/2006/relationships/slide" Target="/ppt/slides/slide2.xml" Id="Rdc5656aa873b404e" /><Relationship Type="http://schemas.openxmlformats.org/officeDocument/2006/relationships/slide" Target="/ppt/slides/slide3.xml" Id="Re2ddfe6e1b26499b" /><Relationship Type="http://schemas.openxmlformats.org/officeDocument/2006/relationships/slide" Target="/ppt/slides/slide4.xml" Id="Rd6713ff8f1634f9e" /><Relationship Type="http://schemas.openxmlformats.org/officeDocument/2006/relationships/slide" Target="/ppt/slides/slide5.xml" Id="Rdabd255e4ae84b90" /><Relationship Type="http://schemas.openxmlformats.org/officeDocument/2006/relationships/slide" Target="/ppt/slides/slide6.xml" Id="R71a909f7e36e4126" /><Relationship Type="http://schemas.openxmlformats.org/officeDocument/2006/relationships/slide" Target="/ppt/slides/slide7.xml" Id="Rc3b49fba9a3d4031" /><Relationship Type="http://schemas.openxmlformats.org/officeDocument/2006/relationships/slide" Target="/ppt/slides/slide8.xml" Id="Rb9c675cee7fa409d" /><Relationship Type="http://schemas.openxmlformats.org/officeDocument/2006/relationships/slide" Target="/ppt/slides/slide9.xml" Id="R2132a9033c2f4151" /><Relationship Type="http://schemas.openxmlformats.org/officeDocument/2006/relationships/slide" Target="/ppt/slides/slide10.xml" Id="R148792f2905043f3" /><Relationship Type="http://schemas.openxmlformats.org/officeDocument/2006/relationships/slide" Target="/ppt/slides/slide11.xml" Id="R72812bf49e984a1a" /><Relationship Type="http://schemas.openxmlformats.org/officeDocument/2006/relationships/slide" Target="/ppt/slides/slide12.xml" Id="Rb247b6e950a9433e" /><Relationship Type="http://schemas.openxmlformats.org/officeDocument/2006/relationships/slide" Target="/ppt/slides/slide13.xml" Id="R823ed3199a32405c" /><Relationship Type="http://schemas.openxmlformats.org/officeDocument/2006/relationships/slide" Target="/ppt/slides/slide14.xml" Id="R5e972632ed434941" /><Relationship Type="http://schemas.openxmlformats.org/officeDocument/2006/relationships/slide" Target="/ppt/slides/slide15.xml" Id="R2cc467af277b48d3" /><Relationship Type="http://schemas.openxmlformats.org/officeDocument/2006/relationships/slide" Target="/ppt/slides/slide16.xml" Id="R999d417f1fd64cd7" /><Relationship Type="http://schemas.openxmlformats.org/officeDocument/2006/relationships/slide" Target="/ppt/slides/slide17.xml" Id="Read157d8dd9c4f6d" /><Relationship Type="http://schemas.openxmlformats.org/officeDocument/2006/relationships/slide" Target="/ppt/slides/slide18.xml" Id="R29f5ecd1529b4780" /><Relationship Type="http://schemas.openxmlformats.org/officeDocument/2006/relationships/slide" Target="/ppt/slides/slide19.xml" Id="Rc2ee5c18bbff4407" /><Relationship Type="http://schemas.openxmlformats.org/officeDocument/2006/relationships/slide" Target="/ppt/slides/slide20.xml" Id="R2a633b7196b24bdb" /><Relationship Type="http://schemas.openxmlformats.org/officeDocument/2006/relationships/slide" Target="/ppt/slides/slide21.xml" Id="Rf2c340aea8234931" /><Relationship Type="http://schemas.openxmlformats.org/officeDocument/2006/relationships/slide" Target="/ppt/slides/slide22.xml" Id="R6f32aed7269f4d7b" /><Relationship Type="http://schemas.openxmlformats.org/officeDocument/2006/relationships/slide" Target="/ppt/slides/slide23.xml" Id="R2d29815122af44ad" /><Relationship Type="http://schemas.openxmlformats.org/officeDocument/2006/relationships/slide" Target="/ppt/slides/slide24.xml" Id="Rf88a68fbeda3481a" /><Relationship Type="http://schemas.openxmlformats.org/officeDocument/2006/relationships/slide" Target="/ppt/slides/slide25.xml" Id="R75e79b0218be4094" /><Relationship Type="http://schemas.openxmlformats.org/officeDocument/2006/relationships/slide" Target="/ppt/slides/slide26.xml" Id="R492ac34077e5496e" /><Relationship Type="http://schemas.openxmlformats.org/officeDocument/2006/relationships/slide" Target="/ppt/slides/slide27.xml" Id="R9d437dee31a74463" /><Relationship Type="http://schemas.openxmlformats.org/officeDocument/2006/relationships/slide" Target="/ppt/slides/slide28.xml" Id="R675afb2c54b04d04" /><Relationship Type="http://schemas.openxmlformats.org/officeDocument/2006/relationships/slide" Target="/ppt/slides/slide29.xml" Id="Rfb1868c884ca44eb" /><Relationship Type="http://schemas.openxmlformats.org/officeDocument/2006/relationships/slide" Target="/ppt/slides/slide30.xml" Id="R5bed251f02f24e1f" /><Relationship Type="http://schemas.openxmlformats.org/officeDocument/2006/relationships/slide" Target="/ppt/slides/slide31.xml" Id="Rf3fb4b849c7a480e" /><Relationship Type="http://schemas.openxmlformats.org/officeDocument/2006/relationships/slide" Target="/ppt/slides/slide32.xml" Id="R467c9a33c276411f" /><Relationship Type="http://schemas.openxmlformats.org/officeDocument/2006/relationships/slide" Target="/ppt/slides/slide33.xml" Id="R71c4c8b2e09c439f" /><Relationship Type="http://schemas.openxmlformats.org/officeDocument/2006/relationships/slide" Target="/ppt/slides/slide34.xml" Id="Rf1cc9fedafdf4b75" /><Relationship Type="http://schemas.openxmlformats.org/officeDocument/2006/relationships/slide" Target="/ppt/slides/slide35.xml" Id="R821a796b9c7844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b2d3215d36646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e2acaaf33540e9" /><Relationship Type="http://schemas.openxmlformats.org/officeDocument/2006/relationships/notesMaster" Target="/ppt/notesMasters/notesMaster1.xml" Id="R58c9fac30fe942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8b0353b3524f77" /><Relationship Type="http://schemas.openxmlformats.org/officeDocument/2006/relationships/notesMaster" Target="/ppt/notesMasters/notesMaster1.xml" Id="Ra23d8bf3283748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491bc086e24bbd" /><Relationship Type="http://schemas.openxmlformats.org/officeDocument/2006/relationships/notesMaster" Target="/ppt/notesMasters/notesMaster1.xml" Id="R4430e71c778249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a58721482e4e9d" /><Relationship Type="http://schemas.openxmlformats.org/officeDocument/2006/relationships/notesMaster" Target="/ppt/notesMasters/notesMaster1.xml" Id="R7d4213db45954e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2486e69ac1485a" /><Relationship Type="http://schemas.openxmlformats.org/officeDocument/2006/relationships/notesMaster" Target="/ppt/notesMasters/notesMaster1.xml" Id="Ra308946635d64f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225db83d78476a" /><Relationship Type="http://schemas.openxmlformats.org/officeDocument/2006/relationships/notesMaster" Target="/ppt/notesMasters/notesMaster1.xml" Id="R2d89864ab20241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7e93921aaf488b" /><Relationship Type="http://schemas.openxmlformats.org/officeDocument/2006/relationships/notesMaster" Target="/ppt/notesMasters/notesMaster1.xml" Id="R59dbbbe36fed4c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da3649ada54485" /><Relationship Type="http://schemas.openxmlformats.org/officeDocument/2006/relationships/notesMaster" Target="/ppt/notesMasters/notesMaster1.xml" Id="Ref8c9ed90f7443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83b0a0419d4327" /><Relationship Type="http://schemas.openxmlformats.org/officeDocument/2006/relationships/notesMaster" Target="/ppt/notesMasters/notesMaster1.xml" Id="R432f02492fbf4a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a485ecd3f14686" /><Relationship Type="http://schemas.openxmlformats.org/officeDocument/2006/relationships/notesMaster" Target="/ppt/notesMasters/notesMaster1.xml" Id="Re1b857499bfb47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a9f8f1e7d94b75" /><Relationship Type="http://schemas.openxmlformats.org/officeDocument/2006/relationships/notesMaster" Target="/ppt/notesMasters/notesMaster1.xml" Id="R48727973c51849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a8c9f6db894a83" /><Relationship Type="http://schemas.openxmlformats.org/officeDocument/2006/relationships/notesMaster" Target="/ppt/notesMasters/notesMaster1.xml" Id="R19b350aa852e46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3600baeac14461" /><Relationship Type="http://schemas.openxmlformats.org/officeDocument/2006/relationships/notesMaster" Target="/ppt/notesMasters/notesMaster1.xml" Id="Rf9a7a34b33cb44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dca07074c04096" /><Relationship Type="http://schemas.openxmlformats.org/officeDocument/2006/relationships/notesMaster" Target="/ppt/notesMasters/notesMaster1.xml" Id="Rd83bab0b8afd4f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1bfd71f3eb469d" /><Relationship Type="http://schemas.openxmlformats.org/officeDocument/2006/relationships/notesMaster" Target="/ppt/notesMasters/notesMaster1.xml" Id="R2293899d799341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3e3c56531245d1" /><Relationship Type="http://schemas.openxmlformats.org/officeDocument/2006/relationships/notesMaster" Target="/ppt/notesMasters/notesMaster1.xml" Id="R3292859771e549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382a501d2647ed" /><Relationship Type="http://schemas.openxmlformats.org/officeDocument/2006/relationships/notesMaster" Target="/ppt/notesMasters/notesMaster1.xml" Id="R567b7e55bf1f45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d8ec43436c24976" /><Relationship Type="http://schemas.openxmlformats.org/officeDocument/2006/relationships/notesMaster" Target="/ppt/notesMasters/notesMaster1.xml" Id="Ra7ae30a7c3fa48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8fd443163b483f" /><Relationship Type="http://schemas.openxmlformats.org/officeDocument/2006/relationships/notesMaster" Target="/ppt/notesMasters/notesMaster1.xml" Id="R06682d57daec418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9de13586b1423f" /><Relationship Type="http://schemas.openxmlformats.org/officeDocument/2006/relationships/notesMaster" Target="/ppt/notesMasters/notesMaster1.xml" Id="R99cf48cb978145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4ee52b17094455" /><Relationship Type="http://schemas.openxmlformats.org/officeDocument/2006/relationships/notesMaster" Target="/ppt/notesMasters/notesMaster1.xml" Id="R330f2446c929473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e65a9a214a4905" /><Relationship Type="http://schemas.openxmlformats.org/officeDocument/2006/relationships/notesMaster" Target="/ppt/notesMasters/notesMaster1.xml" Id="R6475382b6b8a4e0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44bae3216654901" /><Relationship Type="http://schemas.openxmlformats.org/officeDocument/2006/relationships/notesMaster" Target="/ppt/notesMasters/notesMaster1.xml" Id="R377b1a7cb84142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3f6fad3c9d54ffd" /><Relationship Type="http://schemas.openxmlformats.org/officeDocument/2006/relationships/notesMaster" Target="/ppt/notesMasters/notesMaster1.xml" Id="R90b36ea5a23747b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a3883861184997" /><Relationship Type="http://schemas.openxmlformats.org/officeDocument/2006/relationships/notesMaster" Target="/ppt/notesMasters/notesMaster1.xml" Id="R008acf85612145b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46c15b9b91b434d" /><Relationship Type="http://schemas.openxmlformats.org/officeDocument/2006/relationships/notesMaster" Target="/ppt/notesMasters/notesMaster1.xml" Id="R2f918be39f0f4ad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bdfb9ac55a4400" /><Relationship Type="http://schemas.openxmlformats.org/officeDocument/2006/relationships/notesMaster" Target="/ppt/notesMasters/notesMaster1.xml" Id="R03b7bc22d5af495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1d787d6f8be4550" /><Relationship Type="http://schemas.openxmlformats.org/officeDocument/2006/relationships/notesMaster" Target="/ppt/notesMasters/notesMaster1.xml" Id="Rfc29e440aea747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45ae53d661431f" /><Relationship Type="http://schemas.openxmlformats.org/officeDocument/2006/relationships/notesMaster" Target="/ppt/notesMasters/notesMaster1.xml" Id="R525a5640d64a424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448e0e10e994623" /><Relationship Type="http://schemas.openxmlformats.org/officeDocument/2006/relationships/notesMaster" Target="/ppt/notesMasters/notesMaster1.xml" Id="R9a97cdd958fc494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431c8a624e473e" /><Relationship Type="http://schemas.openxmlformats.org/officeDocument/2006/relationships/notesMaster" Target="/ppt/notesMasters/notesMaster1.xml" Id="R8ed22a50973442c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cdf4404a581413d" /><Relationship Type="http://schemas.openxmlformats.org/officeDocument/2006/relationships/notesMaster" Target="/ppt/notesMasters/notesMaster1.xml" Id="R5f150817c1b24a6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637c384ad0c4a2f" /><Relationship Type="http://schemas.openxmlformats.org/officeDocument/2006/relationships/notesMaster" Target="/ppt/notesMasters/notesMaster1.xml" Id="R73463f7d3bba44d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a2bfe5d2634b00" /><Relationship Type="http://schemas.openxmlformats.org/officeDocument/2006/relationships/notesMaster" Target="/ppt/notesMasters/notesMaster1.xml" Id="R831619c5daf64c4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a7fbfeb88e747a4" /><Relationship Type="http://schemas.openxmlformats.org/officeDocument/2006/relationships/notesMaster" Target="/ppt/notesMasters/notesMaster1.xml" Id="Rd68bdeb71d4940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6回です。今回は、異方性と欠点を扱います。前回は、ヤング率と強度を分け、実際の曲げ物性値を用いて、たわみを計算しました。今日は、同じ木材でも調べる方向が違う場合と、部材の断面の形が違う場合を分けて考えます。さらに、節や目切れ、材質のばらつきを、材料選択と結び付けます。電卓と、図や式を書けるものを用意してください。演習と三回の休憩を含む九十分です。途中で一時停止や見直しをしながら進め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板を、縦にすると強くなる、と説明することがあります。この縦とは、何を指すでしょうか。板を立てて断面の高さを大きくすることなのか、主な繊維の方向へ力を加えることなのか。二つは関係しますが、同じ操作ではありません。ここを曖昧にすると、たわみを小さくした理由が、材質の方向によるのか、断面の形によるのか分からなくなります。</a:t>
            </a:r>
          </a:p>
          <a:p xmlns:a="http://schemas.openxmlformats.org/drawingml/2006/main">
            <a:r>
              <a:t>今日の第一の目標は、材料の方向、部材の形、局所的な欠点を、比較の条件として分けることです。第二は、方向別のヤング率の比から、同じ応力を加えたときのひずみの比を導くことです。第三は、同じ断面積でも、高さと幅の配分が変わると、曲げ応力とたわみが違う倍率で変わることを確かめることです。</a:t>
            </a:r>
          </a:p>
          <a:p xmlns:a="http://schemas.openxmlformats.org/drawingml/2006/main">
            <a:r>
              <a:t>節や目切れがある板については、見た目の好き嫌いだけでなく、どこへ使い、どの向きへ力を受けるかを見ます。欠点という用語は、木として生きていたときに不要なものだったという意味ではありません。材料として特定の用途に用いるときに、性能や加工へ影響する特徴として扱います。</a:t>
            </a:r>
          </a:p>
          <a:p xmlns:a="http://schemas.openxmlformats.org/drawingml/2006/main">
            <a:r>
              <a:t/>
            </a:r>
          </a:p>
          <a:p xmlns:a="http://schemas.openxmlformats.org/drawingml/2006/main">
            <a:r>
              <a:t/>
            </a:r>
          </a:p>
          <a:p xmlns:a="http://schemas.openxmlformats.org/drawingml/2006/main">
            <a:r>
              <a:t/>
            </a:r>
          </a:p>
          <a:p xmlns:a="http://schemas.openxmlformats.org/drawingml/2006/main">
            <a:r>
              <a:t>板を持ち替えただけの比較でも、何を固定したかを図に残すと、説明は明確になります。力の向きに対して、繊維が沿っているのか横切っているのか。断面内では、どの辺を高さと呼んでいるのか。単に縦と横という二語で済ませず、図に二種類の矢印と寸法を付ける練習をしましょう。これが、材料の知識を教室の活動へ使う土台に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の復習です。ヤング率は変形のしにくさに関わる材料の量で、強度とは別です。木材では、方向や含水状態を指定して使います。部材のたわみは、ヤング率だけでなく、長さや断面、支え方で変わります。中央集中荷重の単純支持ばりでは、たわみは、荷重かける支点間距離の三乗を、四十八かけるヤング率かける断面二次モーメントで割ります。</a:t>
            </a:r>
          </a:p>
          <a:p xmlns:a="http://schemas.openxmlformats.org/drawingml/2006/main">
            <a:r>
              <a:t>この式の、ヤング率が変わる比較と、断面二次モーメントが変わる比較を、今回は分けます。材料の方向を変えるときには、形や応力の条件をそろえて、方向別のヤング率に注目します。形を変えるときには、材料の方向と状態をそろえて、断面の量に注目します。両方を同時に変えた比較から、一方だけが原因だと断定しないようにします。</a:t>
            </a:r>
          </a:p>
          <a:p xmlns:a="http://schemas.openxmlformats.org/drawingml/2006/main">
            <a:r>
              <a:t>計算の準備として、平方ミリメートル、三乗ミリメートル、四乗ミリメートルの単位を区別しておきます。同じ断面についての値でも、面積、断面係数、断面二次モーメントでは、使う式と単位が違いました。この区別を、今回も繰り返し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二枚の板を比較する前に、表の列を、材質の情報、形の情報、荷重と支持の情報、測る結果に分けてみてください。方向と水分状態は材質の条件、幅と高さは形、力と支点間距離は荷重と支持の条件です。最後の欄へ、応力とたわみなどの結果を書きます。この表を埋める段階で、まだ決まっていない条件が見付かることがあります。計算を始める前の大切な点検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関係を、構造から確認します。エル方向は、主な軸方向の細胞に沿う方向です。アール方向は年輪を半径方向へ横切り、ティー方向は年輪に接する方向です。木材の組織や細胞壁の配向により、これらの方向で、力への応答が異なります。主な細胞が長く並ぶ方向と、その並びを横から見る方向では、同じ構造を同じように引っ張っていることにはなりません。</a:t>
            </a:r>
          </a:p>
          <a:p xmlns:a="http://schemas.openxmlformats.org/drawingml/2006/main">
            <a:r>
              <a:t>節は、枝の基部が幹の木部に取り込まれた部分です。節の周りでは、繊維が回り込み、板全体の長さ方向と局所の繊維方向が一致しない場所が生じます。木材全体へ一本の方向の矢印を付けるだけでは、局所の違いまで表せない理由です。</a:t>
            </a:r>
          </a:p>
          <a:p xmlns:a="http://schemas.openxmlformats.org/drawingml/2006/main">
            <a:r>
              <a:t>さらに、同じ樹種であっても、年輪構造や密度、ミクロフィブリル傾角、水分、節などは、個体や場所で違います。表の平均的な数値から、手元の一本の性能をそのまま確定することはできません。方向、特徴、ばらつきという三つを、具体的な使い方へ結び付けて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第1回の板取りの図を思い出してください。丸太の外側から順に板を取ると、板目、追い柾、柾目へ、板幅と年輪の関係が変わります。板幅を紙面の横方向と覚えるだけでは、構造の方向が決まりません。板目板の幅はおおむねティー方向、柾目板の幅はおおむねアール方向へ対応します。実際の板では場所によって年輪が曲がるので、局所の方向を確認する必要があ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異方性とは、調べる方向により性質が異なることです。木材では、ヤング率は一般に繊維に沿うエル方向が大きく、横切るアールとティー方向では小さくなります。アールとティーの間にも差があります。エルと横方向だけの二つに分ければ全て同じ、とするのではなく、年輪に対する方向も確認します。</a:t>
            </a:r>
          </a:p>
          <a:p xmlns:a="http://schemas.openxmlformats.org/drawingml/2006/main">
            <a:r>
              <a:t>ただし、ヤング率の大きさの関係を、そのまま全ての強度の関係へ置き換えることはできません。引張り、圧縮、せん断、曲げでは、力の受け方と破壊の仕方が異なります。繊維を横切る方向の引張りは、割裂や接合部を考える上でも重要です。釘を打った板の端が割れる場合などは、力がどの方向へ伝わるかにも目を向けます。</a:t>
            </a:r>
          </a:p>
          <a:p xmlns:a="http://schemas.openxmlformats.org/drawingml/2006/main">
            <a:r>
              <a:t>密度については、同じ状態の同じ物体なら、向きを変えても質量と体積は変わりません。密度は方向別にエル密度、ティー密度と分かれる量ではありません。一方、弾性や強度は、力や変形の方向を指定して表す必要があります。多孔質という特徴と、異方性という特徴を、どの量に現れる違いかまで含めて説明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木材の性質が方向で違うことを、ただ、木目があるから、と言って終えると、何を観察すればよいかが曖昧です。細長い細胞の配列、細胞壁の層と配向、放射組織や年輪の構造を、その理由として段階的に結び付けます。ただし、図に見える配列だけから、具体的なヤング率の比を直接測ったことにはなりません。構造の説明と、試験で得た数値の情報を対応させ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方向の図を見ます。エル、アール、ティーは、木材側に付いた構造の軸です。紙面に描かれた矢印の向きを、そのまま試験機の上や横と覚えないでください。木材を持ち替えれば、紙面に対しては矢印の向きが変わっても、同じ構造に付いた方向の意味は保たれます。図は三次元の軸を紙面に投影した模式図です。</a:t>
            </a:r>
          </a:p>
          <a:p xmlns:a="http://schemas.openxmlformats.org/drawingml/2006/main">
            <a:r>
              <a:t>この図へ、加える力の方向を重ねます。繊維に沿う引張りなのか、繊維を横切る引張りなのか。試験片の長軸がエル方向なのか、アール方向なのか。図に両方を書けば、荷重と材料の関係が伝わります。同じ大きさの力でも、断面積が違えば応力が違うので、材質の比較ではそこもそろえる必要があります。</a:t>
            </a:r>
          </a:p>
          <a:p xmlns:a="http://schemas.openxmlformats.org/drawingml/2006/main">
            <a:r>
              <a:t>板の幅方向が、いつでもティー方向であるとも考えません。板取りにより、幅が年輪の半径方向に近い板もあります。実際の年輪を見て、おおむねどの方向かを確かめます。これから使う方向別の値は、この材料の軸に対応するため、試験片と荷重の図を先に置く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ノートに、小さな長方形の試験片と、力の矢印を一組描いてください。そこへ、主な繊維の線を加えます。同じ外形のまま繊維の向きだけを変えた図を隣へ描くと、材料の方向を比べる問題になります。一方、繊維は長さ方向のままで、幅と高さを入れ替えた図なら、まず断面形状の比較です。二つの図の違いを、矢印で説明してみ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短い図の演習です。二つの説明を読み、どの条件を変えた比較かを整理してください。一つ目は、同じ細長い板を、長さ方向の軸の回りに九十度回して、寝かせた向きと立てた向きで曲げる比較です。主な繊維は、どちらも板の長さに沿うとします。二つ目は、同じ断面と長さの試験片を用意し、一方は繊維に沿う方向、他方は年輪の半径方向へ、同じ小さい軸方向応力を加える比較です。</a:t>
            </a:r>
          </a:p>
          <a:p xmlns:a="http://schemas.openxmlformats.org/drawingml/2006/main">
            <a:r>
              <a:t>それぞれ、主に変わるのは断面形状の効果か、材料の方向別のヤング率かを書きます。図には、長さ、幅、高さ、繊維、力の矢印を付けてください。断面の高さをエル方向と呼ばないようにしましょう。二分、図と文章を作る時間を取ります。</a:t>
            </a:r>
          </a:p>
          <a:p xmlns:a="http://schemas.openxmlformats.org/drawingml/2006/main">
            <a:r>
              <a:t/>
            </a:r>
          </a:p>
          <a:p xmlns:a="http://schemas.openxmlformats.org/drawingml/2006/main">
            <a:r>
              <a:t>一つ目は、長さに沿う繊維方向を保って、曲げに対する断面の幅と高さが入れ替わる比較です。単純なモデルでは、まずアイとゼットの変化を考えます。二つ目は、外形と応力をそろえ、材料の軸に対する荷重方向を変えた比較です。方向別のヤング率の違いに注目します。実際にはせん断や局所の構造など追加の影響もありますが、比較の狙いをまず分けることができます。縦にすると、という言葉だけでは、この区別は伝わ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方向別の弾性率比を読みます。原典は、ウッドハンドブック二〇二一年版、第5章、表五の一です。含水率がおよそ十二パーセントの、エル方向の弾性率に対する比です。表には、ティー方向割るエル方向と、アール方向割るエル方向という順番で列が並んでいます。エル、アール、ティーの順に並んでいると思い込まず、見出しを確認してください。</a:t>
            </a:r>
          </a:p>
          <a:p xmlns:a="http://schemas.openxmlformats.org/drawingml/2006/main">
            <a:r>
              <a:t>ダグラスファーでは、ティー割るエルが〇・〇五〇、アール割るエルが〇・〇六八です。つまり、ティー方向のヤング率はエル方向の五パーセント、アール方向は六・八パーセントという比です。シトカスプルースでは、〇・〇四三と〇・〇七八です。これはヤング率の比であって、破壊強度の比ではありません。</a:t>
            </a:r>
          </a:p>
          <a:p xmlns:a="http://schemas.openxmlformats.org/drawingml/2006/main">
            <a:r>
              <a:t>前回使った表五の三エーは、曲げ試験からのヤング率です。今回の軸方向の比と、測定の扱いが同じとは限りません。原典にも、曲げの値にはせん断変形の影響があり、軸方向の値へ近似する説明があります。今回は、この二つの表を無条件に掛け合わせず、比だけを使って、同じ応力でのひずみを比較します。</a:t>
            </a:r>
          </a:p>
          <a:p xmlns:a="http://schemas.openxmlformats.org/drawingml/2006/main">
            <a:r>
              <a:t/>
            </a:r>
          </a:p>
          <a:p xmlns:a="http://schemas.openxmlformats.org/drawingml/2006/main">
            <a:r>
              <a:t/>
            </a:r>
          </a:p>
          <a:p xmlns:a="http://schemas.openxmlformats.org/drawingml/2006/main">
            <a:r>
              <a:t/>
            </a:r>
          </a:p>
          <a:p xmlns:a="http://schemas.openxmlformats.org/drawingml/2006/main">
            <a:r>
              <a:t>比は無次元ですが、何を何で割った比なのかが重要です。〇・〇五〇を見て、ティー方向へ同じ力を加えると五パーセントしか伸びない、と読んではいけません。これはヤング率の比なので、ひずみとの関係へもう一段変換する必要があります。また、同じ力と同じ応力も、断面積がそろっている場合にだけ対応します。言葉を一つずつ確かめることで、比の意味を取り違えにくく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ヤング率の比から、ひずみの比を導きます。線形域では、ひずみは応力割るヤング率です。アール方向とエル方向へ同じ軸方向応力を加えたモデルなら、二つのひずみを割ると、共通の応力は消えます。アール方向のひずみ割るエル方向のひずみは、エル方向のヤング率割るアール方向のヤング率です。ヤング率の比と逆向きになることに注目します。</a:t>
            </a:r>
          </a:p>
          <a:p xmlns:a="http://schemas.openxmlformats.org/drawingml/2006/main">
            <a:r>
              <a:t>アール方向のヤング率がエル方向の〇・〇六八倍なので、同じ応力のひずみ比は、一割る〇・〇六八で、約十四・七です。ティー方向では、一割る〇・〇五〇で二十です。応力を一定にした比較では、小さいヤング率の方向ほど、大きいひずみになります。</a:t>
            </a:r>
          </a:p>
          <a:p xmlns:a="http://schemas.openxmlformats.org/drawingml/2006/main">
            <a:r>
              <a:t>この比は、同じ小さな応力で、どちらも線形域にあることを前提にします。大きな荷重で一方が損傷してからも、ずっとこの比が保たれるわけではありません。また、長さが違えば、ひずみの比と伸び量の比が同じとは限りません。伸び量を比べたいなら、ひずみに掛ける元の長さも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まず比を文字で書き、その後で数値を入れる順序が大切です。イプシロンアール割るイプシロンエル、イコール、シグマ割るイーアールを、シグマ割るイーエルで割る、と書けば、逆数が現れる理由を追えます。数字だけを見て二十と覚えると、何を一定にした比較かを忘れやすくなります。比の式の上へ、同じ応力、線形域という条件を書き添えておき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方向別の比を、自分で確かめる演習です。ダグラスファーについて、同じ小さな軸方向応力を、エル、アール、ティーの各方向へ加えるモデルを考えます。アールとエル、ティーとエルのひずみ比を、文字の式から導いてください。値を入れる前に、どちらのひずみが大きくなると予想するかを一文で書きます。</a:t>
            </a:r>
          </a:p>
          <a:p xmlns:a="http://schemas.openxmlformats.org/drawingml/2006/main">
            <a:r>
              <a:t>続いて、シトカスプルースの二つの比でも同じ計算をしてください。アール割るエルのヤング率比は〇・〇七八、ティー割るエルは〇・〇四三です。求めたいのは、ひずみの比です。表の列の順番を確かめ、逆数を取る理由も残します。</a:t>
            </a:r>
          </a:p>
          <a:p xmlns:a="http://schemas.openxmlformats.org/drawingml/2006/main">
            <a:r>
              <a:t>最後に、これらの比を、引張強さの比と呼んでよいかを答えます。計算の結果に、何を比較した値かという名前を付ける練習です。ここでは三分、式と説明を書く時間を取ります。必要なら一時停止し、前の画面へ戻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ダグラスファーでは、アール方向のひずみはエル方向の約十四・七倍、ティー方向は二十倍です。シトカスプルースでは、アール方向が、一割る〇・〇七八で約十二・八倍、ティー方向が、一割る〇・〇四三で約二十三・三倍です。同じ応力という条件で、ヤング率の小さい方向ほどひずみが大きくなりました。</a:t>
            </a:r>
          </a:p>
          <a:p xmlns:a="http://schemas.openxmlformats.org/drawingml/2006/main">
            <a:r>
              <a:t>ただし、この数値から、アール方向の強度がエル方向の十四・七分の一である、とは言えません。ヤング率は線形域の応力とひずみの関係、強度は指定した破壊や限界の指標です。前回の、たわみにくさと壊れにくさを分ける話が、方向の比較にも当てはまります。</a:t>
            </a:r>
          </a:p>
          <a:p xmlns:a="http://schemas.openxmlformats.org/drawingml/2006/main">
            <a:r>
              <a:t>アールとティーの違いを、常に同じ比と決めることも避けます。表の値は、樹種や含水状態などの条件を持つ代表的な値です。方向が違えば性質が異なるという傾向と、特定の試料で数値を確定することは、別の段階です。構造の向き、表の条件、式の前提を一組で説明できれば、計算の意味が伝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計算の大小を点検する別の方法です。ヤング率がエル方向の一割より小さいのに、同じ応力のひずみ比が一より小さくなっていたら、逆数を忘れた可能性があります。予想と計算を照合するだけでも、写し間違いに気付きやすくなります。また、十四・七という値を百分率の十四・七パーセントと読み替えないでください。今回は元のひずみに対する倍率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同じひずみで必要な応力へ進みます。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ひずみを与える比較を考えます。これまでの方向別の演習は、同じ応力でした。今度は、ダグラスファーのエル、アール、ティー方向の試験片に、同じ小さなひずみを与えたとき、必要な応力はどの比になるかを求めます。どれも線形域のモデルとします。</a:t>
            </a:r>
          </a:p>
          <a:p xmlns:a="http://schemas.openxmlformats.org/drawingml/2006/main">
            <a:r>
              <a:t>シグマ、イコール、イーかけるイプシロンを使い、アール方向の応力をエル方向の応力で割ります。今度はひずみが共通なので、その項が消えます。ティー方向も同様です。同じ応力のときのひずみ比と、逆向きになる理由を説明してください。</a:t>
            </a:r>
          </a:p>
          <a:p xmlns:a="http://schemas.openxmlformats.org/drawingml/2006/main">
            <a:r>
              <a:t>最後に、二つの比較のどちらから、破壊強度の比を直接求めたと言えるかも書きます。三分、条件と式を並べる時間を取ります。何を同じにしたかを、必ず見出しに書いてください。</a:t>
            </a:r>
          </a:p>
          <a:p xmlns:a="http://schemas.openxmlformats.org/drawingml/2006/main">
            <a:r>
              <a:t/>
            </a:r>
          </a:p>
          <a:p xmlns:a="http://schemas.openxmlformats.org/drawingml/2006/main">
            <a:r>
              <a:t>同じひずみでは、応力の比はヤング率の比そのものです。アール方向の応力はエル方向の〇・〇六八倍、ティー方向は〇・〇五〇倍です。同じ応力でのひずみが約十四・七倍と二十倍だった比較とは、固定した量が違います。</a:t>
            </a:r>
          </a:p>
          <a:p xmlns:a="http://schemas.openxmlformats.org/drawingml/2006/main">
            <a:r>
              <a:t>どちらの演習も、線形域の応力とひずみを比べています。破壊に至る条件を与えていないため、破壊強度の比を直接求めたとは言えません。ひずみの大小、必要な応力の大小、破壊の指標という三つの情報を区別して述べ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力と同じ応力の違いを確認する演習です。ダグラスファーの仮想の二つの試験片を考えます。一方はエル方向に引張り、他方はアール方向に引張ります。アール方向の試験片の断面積は、エル方向の二倍です。両方へ同じ小さな力を加えたとき、アール方向のひずみは、エル方向の何倍になるでしょうか。ヤング率の比は、アール割るエルで〇・〇六八とします。</a:t>
            </a:r>
          </a:p>
          <a:p xmlns:a="http://schemas.openxmlformats.org/drawingml/2006/main">
            <a:r>
              <a:t>まず、力を断面積で割って、二つの応力の比を求めます。次に、ひずみは応力割るヤング率という式で比を取ります。表の逆数十四・七を、そのまま答えとする前に、応力が本当に同じかを確かめてください。</a:t>
            </a:r>
          </a:p>
          <a:p xmlns:a="http://schemas.openxmlformats.org/drawingml/2006/main">
            <a:r>
              <a:t>三分、断面積の記号を残して導く時間を取ります。試料の長さはひずみの比には直接入りませんが、伸び量を比べるなら、元の長さの情報も必要です。</a:t>
            </a:r>
          </a:p>
          <a:p xmlns:a="http://schemas.openxmlformats.org/drawingml/2006/main">
            <a:r>
              <a:t/>
            </a:r>
          </a:p>
          <a:p xmlns:a="http://schemas.openxmlformats.org/drawingml/2006/main">
            <a:r>
              <a:t>同じ力を、二倍の断面積で受けるアール方向の試験片では、応力は半分です。ひずみの比は、応力の比二分の一に、ヤング率の逆数、一割る〇・〇六八を掛けます。結果は約七・三五倍です。同じ応力の十四・七倍とは違います。</a:t>
            </a:r>
          </a:p>
          <a:p xmlns:a="http://schemas.openxmlformats.org/drawingml/2006/main">
            <a:r>
              <a:t>同じ力という説明を、同じ応力と読み替えるには、断面積もそろっている必要があります。どちらも線形域にあるという仮定も残ります。求めたひずみ比を伸びの比と呼ぶ場合は、二つの試験片の元の長さも同じか確認しなければなりません。条件を一つ変えると、式に残る項が変わることが分かります。</a:t>
            </a:r>
          </a:p>
          <a:p xmlns:a="http://schemas.openxmlformats.org/drawingml/2006/main">
            <a:r>
              <a:t/>
            </a:r>
          </a:p>
          <a:p xmlns:a="http://schemas.openxmlformats.org/drawingml/2006/main">
            <a:r>
              <a:t>実験の説明に、同じ重りを載せたので公平、とだけ書かれていた場合も、接触面積や断面積、支持や形を確認します。同じ力を加えたという事実は大切ですが、それだけで材質をそろえた比較になるとは限りません。生徒の記録を読むときに、何が共通で、何が違うかを、図と数値で確かめる理由に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の形の比較へ移ります。面積エーは、軸方向の平均応力を求めるときに使います。曲げの変形には、断面二次モーメントのアイが関わります。曲げの最大応力には、断面係数ゼットを使います。面積が同じだから、曲げの応力も変形も同じ、とは限りません。</a:t>
            </a:r>
          </a:p>
          <a:p xmlns:a="http://schemas.openxmlformats.org/drawingml/2006/main">
            <a:r>
              <a:t>同じ面積を保ちながら、高さをケー倍にする場合を考えます。面積は幅かける高さですから、高さをケー倍にしたら、幅はケー分の一にする必要があります。アイは、幅かける高さの三乗割る十二です。変更後は、幅のケー分の一と、高さのケーの三乗が掛かり、全体でケーの二乗倍になります。ゼットは高さが二乗なので、全体でケー倍です。</a:t>
            </a:r>
          </a:p>
          <a:p xmlns:a="http://schemas.openxmlformats.org/drawingml/2006/main">
            <a:r>
              <a:t>同じヤング率、荷重、支点間距離、支持条件なら、たわみはアイの逆数に比例するため、ケーの二乗分の一です。最大曲げ応力はゼットの逆数に比例するため、ケー分の一です。面積一定という条件を使って幅を変えるところが、前回の幅を固定した比較との違いです。</a:t>
            </a:r>
          </a:p>
          <a:p xmlns:a="http://schemas.openxmlformats.org/drawingml/2006/main">
            <a:r>
              <a:t/>
            </a:r>
          </a:p>
          <a:p xmlns:a="http://schemas.openxmlformats.org/drawingml/2006/main">
            <a:r>
              <a:t/>
            </a:r>
          </a:p>
          <a:p xmlns:a="http://schemas.openxmlformats.org/drawingml/2006/main">
            <a:r>
              <a:t/>
            </a:r>
          </a:p>
          <a:p xmlns:a="http://schemas.openxmlformats.org/drawingml/2006/main">
            <a:r>
              <a:t>アイの単位は四乗ミリメートル、ゼットは三乗ミリメートルです。曲げモーメントをゼットで割ると応力になり、たわみの式へアイを入れると長さが残ります。単位が分かれているのは、名前だけの区別ではありません。どの物理量へ変換するために使うかが違います。計算欄の見出しにも、アイとゼットを別々に書いておき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図を二つ並べます。エー案は幅四十、高さ十ミリメートル、ビー案は幅二十、高さ二十ミリメートルです。どちらも面積は四百平方ミリメートルです。ビー案では高さを二倍にする代わりに、幅を半分にしてあります。荷重の向きに対する高さを明記し、断面内の中心を通る水平な中立軸の位置を確かめます。</a:t>
            </a:r>
          </a:p>
          <a:p xmlns:a="http://schemas.openxmlformats.org/drawingml/2006/main">
            <a:r>
              <a:t>断面を高くすると、中立軸から遠い場所へ面積が分布します。曲げの変形に対するアイが増える理由です。ただし、中立軸から端までの距離も増えるため、最大曲げ応力に使うゼットの増え方は、アイと同じにはなりません。ビー案のアイが四倍なら、ゼットも四倍、とはなりません。</a:t>
            </a:r>
          </a:p>
          <a:p xmlns:a="http://schemas.openxmlformats.org/drawingml/2006/main">
            <a:r>
              <a:t>この図では、二つの棒の長さに沿う主な繊維方向は同じ、ヤング率も同じと仮定しています。板目と柾目の違いを同時に比べている図ではありません。材料の方向による違いをいったんそろえて、断面の形だけの効果を取り出すための比較です。</a:t>
            </a:r>
          </a:p>
          <a:p xmlns:a="http://schemas.openxmlformats.org/drawingml/2006/main">
            <a:r>
              <a:t/>
            </a:r>
          </a:p>
          <a:p xmlns:a="http://schemas.openxmlformats.org/drawingml/2006/main">
            <a:r>
              <a:t/>
            </a:r>
          </a:p>
          <a:p xmlns:a="http://schemas.openxmlformats.org/drawingml/2006/main">
            <a:r>
              <a:t/>
            </a:r>
          </a:p>
          <a:p xmlns:a="http://schemas.openxmlformats.org/drawingml/2006/main">
            <a:r>
              <a:t>同じ材料の量という説明も、何を同じにしたかを確かめます。長さと面積が同じなら、体積は同じです。同じ状態の同じ密度を仮定すれば、質量も同じとみなせます。しかし、断面形状が違うことまで消えるわけではありません。軽くしながらたわみを抑える設計では、単に材料の量を増やす以外に、どこへ配置するかという工夫があることが分か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の演習です。今の二案について、面積、アイ、ゼットを、単位を付けて求めます。次に、ビー案をエー案で割った比を求めてください。最後に、同じ荷重と支点間距離の単純支持ばりとして、ビー案のたわみと最大曲げ応力が、エー案の何倍になるかを導きます。</a:t>
            </a:r>
          </a:p>
          <a:p xmlns:a="http://schemas.openxmlformats.org/drawingml/2006/main">
            <a:r>
              <a:t>先に、高さ二倍、幅半分という比だけで予想し、その後に具体的な数値で確かめます。二通りの結果が合うかを照合してください。たわみにはアイ、応力にはゼットを使います。同じ面積だからどちらも同じ、と答える前に、断面を描いて確認してみましょう。</a:t>
            </a:r>
          </a:p>
          <a:p xmlns:a="http://schemas.openxmlformats.org/drawingml/2006/main">
            <a:r>
              <a:t>三分、途中式と単位を書く時間を取ります。計算が終わった人は、なぜ面積は同じなのに曲げの応答が違うかを、中学生にも伝わる短い文にしてみてください。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積は、四十かける十と、二十かける二十で、どちらも四百平方ミリメートルです。アイは、エー案で、四十かける十の三乗割る十二、約三千三百三十三、四乗ミリメートルです。ビー案は、二十かける二十の三乗割る十二で、約一万三千三百三十三です。ビー割るエーは、丸め前で正確に四倍です。</a:t>
            </a:r>
          </a:p>
          <a:p xmlns:a="http://schemas.openxmlformats.org/drawingml/2006/main">
            <a:r>
              <a:t>ゼットは、エー案で約六百六十七、ビー案で約千三百三十三、三乗ミリメートルです。比は二倍です。したがって、同じ曲げモーメントに対する最大応力は、ビー案で半分になります。たわみは、アイが四倍なので四分の一になります。面積、アイ、ゼットの三つの比は、一、四、二と違っています。</a:t>
            </a:r>
          </a:p>
          <a:p xmlns:a="http://schemas.openxmlformats.org/drawingml/2006/main">
            <a:r>
              <a:t>短い説明なら、同じ量の材料でも、曲げに対して断面を高く配置すると、たわみを小さくする効果がある。ただし、応力とたわみでは変わる倍率が違う、と言えます。ここで、木材自体の強度値が二倍になった、あるいはヤング率が四倍になった、と説明しないことが大切です。変わったのは、断面の量です。</a:t>
            </a:r>
          </a:p>
          <a:p xmlns:a="http://schemas.openxmlformats.org/drawingml/2006/main">
            <a:r>
              <a:t/>
            </a:r>
          </a:p>
          <a:p xmlns:a="http://schemas.openxmlformats.org/drawingml/2006/main">
            <a:r>
              <a:t/>
            </a:r>
          </a:p>
          <a:p xmlns:a="http://schemas.openxmlformats.org/drawingml/2006/main">
            <a:r>
              <a:t/>
            </a:r>
          </a:p>
          <a:p xmlns:a="http://schemas.openxmlformats.org/drawingml/2006/main">
            <a:r>
              <a:t>端数を先に丸めると、六百六十七と千三百三十三の比が、ぴったり二にならないことがあります。比較を正確にしたいときは、四十かける百割る六、という分数の形を残して比を取ります。共通の六が消え、二倍であることを確かめられます。長い小数を写すだけでなく、式の比を使う利点がここにもあ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科書の例と比べます。教育図書の公開見本には、幅をそろえて高さを二倍にすると、四倍の力に耐えられるという説明が掲載されています。これは、同じ材料、長さ、支え方で、曲げが支配的とする場合、同じ曲げ強さに達する荷重を比べる考え方です。幅を固定すると、ゼットは高さの二乗により四倍なので、同じ曲げ応力に達する曲げモーメントと荷重は四倍になります。</a:t>
            </a:r>
          </a:p>
          <a:p xmlns:a="http://schemas.openxmlformats.org/drawingml/2006/main">
            <a:r>
              <a:t>一方、アイは高さの三乗により八倍です。同じ荷重の中央たわみは八分の一です。四倍の力と、八分の一のたわみは、比較している結果が違うため、両立します。先ほどの面積一定の比較では幅を半分にしたので、アイは四倍、ゼットは二倍でした。高さ二倍という言葉だけでは、どちらの比較か決まりません。</a:t>
            </a:r>
          </a:p>
          <a:p xmlns:a="http://schemas.openxmlformats.org/drawingml/2006/main">
            <a:r>
              <a:t>教科書の簡潔な図を説明する教師には、そろえた条件と、どの現象の倍率かを区別する背景知識が必要です。ここで四倍と述べられるのは、接合部破壊や座屈など、他の壊れ方を含む全ての製品の耐力ではありません。図が扱う部材と曲げのモデルに対応させて説明します。</a:t>
            </a:r>
          </a:p>
          <a:p xmlns:a="http://schemas.openxmlformats.org/drawingml/2006/main">
            <a:r>
              <a:t/>
            </a:r>
          </a:p>
          <a:p xmlns:a="http://schemas.openxmlformats.org/drawingml/2006/main">
            <a:r>
              <a:t/>
            </a:r>
          </a:p>
          <a:p xmlns:a="http://schemas.openxmlformats.org/drawingml/2006/main">
            <a:r>
              <a:t/>
            </a:r>
          </a:p>
          <a:p xmlns:a="http://schemas.openxmlformats.org/drawingml/2006/main">
            <a:r>
              <a:t>高さを増やす工夫を、製品全体の構造を強くする工夫とも区別します。部材一本の断面と、枠組みに筋かいを入れることは、着目する構造の段階が違います。どちらも丈夫にする工夫ですが、同じアイの式だけで全てを説明できるわけではありません。部材、接合、全体の構造という尺度を行き来し、どの図にどの理由を付けるかを考え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高さk倍の式を導くへ進みます。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字式を使うまとめの演習です。高さを一般にケー倍にした場合について、二つの条件を並べます。第一は幅を固定する場合、第二は断面積を固定する場合です。それぞれ、幅の比、面積の比、アイの比、ゼットの比、同じ荷重でのたわみの比、最大曲げ応力の比を求めてください。ケーは正の倍率とします。</a:t>
            </a:r>
          </a:p>
          <a:p xmlns:a="http://schemas.openxmlformats.org/drawingml/2006/main">
            <a:r>
              <a:t>式のどの項を変えたかが分かるよう、変更後の幅と高さを最初に書きます。断面積一定の場合は、幅をビー割るケーへ置き換えます。ヤング率、荷重、支点間距離、支え方は同じという条件です。数値ケーイコール二を代入して、先ほどの二つの比較へ戻るかも確認します。</a:t>
            </a:r>
          </a:p>
          <a:p xmlns:a="http://schemas.openxmlformats.org/drawingml/2006/main">
            <a:r>
              <a:t>三分、表を埋める時間を取ります。この演習は、特定の数字を覚えるためではなく、公式の関係から、条件に合う倍率を導く練習です。</a:t>
            </a:r>
          </a:p>
          <a:p xmlns:a="http://schemas.openxmlformats.org/drawingml/2006/main">
            <a:r>
              <a:t/>
            </a:r>
          </a:p>
          <a:p xmlns:a="http://schemas.openxmlformats.org/drawingml/2006/main">
            <a:r>
              <a:t>幅一定では、幅の比が一、面積がケー、アイがケーの三乗、ゼットがケーの二乗です。たわみはケーの三乗分の一、最大曲げ応力はケーの二乗分の一です。断面積一定では、幅がケー分の一、面積が一、アイがケーの二乗、ゼットがケーです。たわみはケーの二乗分の一、応力はケー分の一です。どちらも材料のヤング率や強度値そのものを変更していません。ケーに二を入れると、幅一定はアイ八倍、面積一定はアイ四倍となり、前の例と一致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一本の板を回す場合を、数値で確かめます。幅四十ミリメートル、高さ十ミリメートル、長さは同じで、主な繊維は長さに沿う板です。長さの軸の回りに九十度回すと、荷重に対して幅十、高さ四十ミリメートルになります。面積はどちらも四百平方ミリメートルです。</a:t>
            </a:r>
          </a:p>
          <a:p xmlns:a="http://schemas.openxmlformats.org/drawingml/2006/main">
            <a:r>
              <a:t>回した後を回す前で割って、アイ、ゼット、同じ荷重でのたわみ、最大曲げ応力の比を求めます。高さが四倍、幅が四分の一です。先ほどの面積一定の文字式へ、ケーイコール四を入れる方法と、寸法を直接代入する方法の両方で確かめてください。</a:t>
            </a:r>
          </a:p>
          <a:p xmlns:a="http://schemas.openxmlformats.org/drawingml/2006/main">
            <a:r>
              <a:t>最後に、この比較を、エル方向からアール方向へ荷重方向を変えた材料試験と呼んでよいか、理由を付けて答えます。三分、図と比の式を整理する時間を取ります。</a:t>
            </a:r>
          </a:p>
          <a:p xmlns:a="http://schemas.openxmlformats.org/drawingml/2006/main">
            <a:r>
              <a:t/>
            </a:r>
          </a:p>
          <a:p xmlns:a="http://schemas.openxmlformats.org/drawingml/2006/main">
            <a:r>
              <a:t>高さ四倍で幅が四分の一なので、アイは十六倍、ゼットは四倍です。同じ荷重、支点間距離、ヤング率と支え方のモデルなら、たわみは十六分の一、最大曲げ応力は四分の一になります。高さ二倍の問題の四分の一と、数字だけで取り違えないようにします。</a:t>
            </a:r>
          </a:p>
          <a:p xmlns:a="http://schemas.openxmlformats.org/drawingml/2006/main">
            <a:r>
              <a:t>ここでは主な繊維は、どちらも板の長さに沿っています。長さに沿う材質の応答を保ち、曲げに対する断面形状を入れ替えた比較です。軸方向の応力を、エルからアールへ替えた材料試験と同じではありません。現実の木材では、断面内の異方性やせん断の影響などもありますが、まず単純モデルで、何を変えたかを明確にします。</a:t>
            </a:r>
          </a:p>
          <a:p xmlns:a="http://schemas.openxmlformats.org/drawingml/2006/main">
            <a:r>
              <a:t/>
            </a:r>
          </a:p>
          <a:p xmlns:a="http://schemas.openxmlformats.org/drawingml/2006/main">
            <a:r>
              <a:t>幅と高さが四十と十の場合、細長い四十の辺を立てると、元より高くなったと直感的には分かります。その直感を、何倍かという式へつなぎます。一方で、非常に細く高い断面の安定性や接合方法などは、別の確認が必要です。小さいたわみだけで、使い方全体の問題が解決したと考えないことも、同時に覚えておき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と目切れを、使い方へ結び付けます。節は、枝の基部が幹へ取り込まれた部分で、その周りの繊維は回り込みます。生き節、死に節、抜け節という区分は、周囲の材とのつながりや、抜けている状態などに注目したものです。見えている丸の直径だけで、全ての性能が決まるわけではありません。</a:t>
            </a:r>
          </a:p>
          <a:p xmlns:a="http://schemas.openxmlformats.org/drawingml/2006/main">
            <a:r>
              <a:t>目切れは、材の長軸に対して、主な繊維が傾いている状態です。部材の外形がまっすぐでも、繊維までまっすぐ沿っているとは限りません。力を受けたときの応答に加え、切削で繊維をどう切るかや、割れの進む向きにも関わります。</a:t>
            </a:r>
          </a:p>
          <a:p xmlns:a="http://schemas.openxmlformats.org/drawingml/2006/main">
            <a:r>
              <a:t>曲げでは、部材の一方が主に圧縮、他方が主に引張りを受けます。節がどちら側にあるか、モーメントの大きい場所か、接合部に近いかなども確認します。節があるから全て使えない、反対に節が小さく見えるから必ず安全、という判断は避けます。必要な性能と、部材内の位置、局所の繊維の向きを対応させます。</a:t>
            </a:r>
          </a:p>
          <a:p xmlns:a="http://schemas.openxmlformats.org/drawingml/2006/main">
            <a:r>
              <a:t/>
            </a:r>
          </a:p>
          <a:p xmlns:a="http://schemas.openxmlformats.org/drawingml/2006/main">
            <a:r>
              <a:t/>
            </a:r>
          </a:p>
          <a:p xmlns:a="http://schemas.openxmlformats.org/drawingml/2006/main">
            <a:r>
              <a:t/>
            </a:r>
          </a:p>
          <a:p xmlns:a="http://schemas.openxmlformats.org/drawingml/2006/main">
            <a:r>
              <a:t>生き節という言葉から、現在も生きている組織でできていると解釈しないようにします。ここで使う木材の用語は、枝と幹との成長の履歴や、周囲とのつながりを表します。木材そのものの内部では、すでに機能を終えた細胞も材料を構成しています。組織の学習と用語を結び付けると、生物としての状態と材料としての分類を混同しにくく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の周囲の繊維の流れを示した図です。線は細胞を一本ずつ写した実測図ではなく、主な繊維が節を回り込むことを示す模式図です。板の左端から右端へ向かう力を考えると、節から離れた場所では繊維がほぼ沿っていても、節の上下や斜めの位置では、力と繊維の向きの関係が変わります。</a:t>
            </a:r>
          </a:p>
          <a:p xmlns:a="http://schemas.openxmlformats.org/drawingml/2006/main">
            <a:r>
              <a:t>板全体の長さ方向に一本の矢印を引くことと、それぞれの場所の繊維に沿って矢印を付けることは違います。節に近付いたとき、矢印がどう曲がるかを、線に沿ってたどってください。直線的な繊維が続く無欠点小試験片と、節を含む部材で、同じ表の値をそのまま適用できない理由の一つです。</a:t>
            </a:r>
          </a:p>
          <a:p xmlns:a="http://schemas.openxmlformats.org/drawingml/2006/main">
            <a:r>
              <a:t>この図から、強度が何パーセント低下するかという具体的な数値は求められません。節の状態、寸法、位置、荷重の種類や向き、部材の大きさなどの追加情報が必要です。構造の違いを説明できることと、性能を数値で確定できることを区別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へ三つの場所を選んで、短い繊維方向の矢印を付けてみます。節から離れた左端、節の左上、節の右下です。場所ごとに線の接する向きへ合わせます。全部同じ水平な矢印になった場合は、板の長さと繊維の流れを取り違えていないかを確認します。方向を図示する作業は、単に用語を書くより、局所の違いを確かめやすい方法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のある部材を選ぶ場面を、紙上で考えます。同じ大きさの節が見える二本の棒があり、左右単純支持で中央に下向きの荷重を受けるとします。一方は中央付近の下面、他方は支点付近の上面に節がある、という図を描いてください。まず、中央付近で上側と下側のどちらが引張りを受けるかを記入します。</a:t>
            </a:r>
          </a:p>
          <a:p xmlns:a="http://schemas.openxmlformats.org/drawingml/2006/main">
            <a:r>
              <a:t>次に、二本について、確認したい情報を三つ挙げます。見えている節の奥行きや周囲の繊維、割れ、支持や接合の位置などが候補です。ここで求めるのは、図だけから一方を安全と断定することではありません。位置と力の関係から、何を追加で確かめる必要があるかを説明することです。</a:t>
            </a:r>
          </a:p>
          <a:p xmlns:a="http://schemas.openxmlformats.org/drawingml/2006/main">
            <a:r>
              <a:t>二分、図と確認事項を作る時間を取ります。答えは一種類に限りませんが、荷重の向きと、確認したい場所が対応するようにしてください。</a:t>
            </a:r>
          </a:p>
          <a:p xmlns:a="http://schemas.openxmlformats.org/drawingml/2006/main">
            <a:r>
              <a:t/>
            </a:r>
          </a:p>
          <a:p xmlns:a="http://schemas.openxmlformats.org/drawingml/2006/main">
            <a:r>
              <a:t>下向きの中央荷重でたわむ単純支持ばりでは、中央付近の上側が主に圧縮、下側が主に引張りです。中央付近は曲げモーメントも大きい場所です。一方、支点付近では曲げモーメントが小さくても、支点でのめり込みやせん断、接合など別の検討が残ります。節の見かけの大きさだけで順位を決めず、力の種類、節の位置と状態、繊維の流れ、割れなどを確認する説明が必要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樹種の中にも、材質と性能のばらつきがあります。年輪構造や密度、ミクロフィブリル傾角、水分、節など、成長や切り出した位置により違うためです。平均値は、その集団を代表する情報ですが、手元の一本の値を決めるものではありません。</a:t>
            </a:r>
          </a:p>
          <a:p xmlns:a="http://schemas.openxmlformats.org/drawingml/2006/main">
            <a:r>
              <a:t>構造用の製材などでは、所定の規格や方法に基づく等級区分や機械的な測定によって品質を区分します。ここで、見た目の好みと、性能に関係する観察を分けます。木目が好みであること、節が見えること、割れがあること、繊維が傾いていることは、それぞれ別の情報です。用途と力の条件を添えて、どこが重要かを判断します。</a:t>
            </a:r>
          </a:p>
          <a:p xmlns:a="http://schemas.openxmlformats.org/drawingml/2006/main">
            <a:r>
              <a:t>学校の教材でも、目切れ、割れ、節の位置を確認し、切り出しや接合の計画と対応させます。全ての特徴を欠点だから排除するというより、求める性能と使う部分を考えます。一方で、観察だけで分からないことまで保証しないようにします。材料選択では、分かっている条件と、追加確認が必要な条件を、両方言葉にす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ばらつきのある測定結果を見て、平均が同じだから二つの集団の性質も全て同じ、とは言えません。範囲や散らばりが違うことがあります。また、最低値が一つ得られたことと、全ての製品について最低性能が保証されたことも同じではありません。今回は統計的な設計値の計算法へは踏み込みませんが、平均値、個体値、等級に基づく値という情報の種類を分けて扱い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ばらつきと、測定の繰り返しを考える演習です。ここに示すたわみは、説明用に作った仮想データです。同じ一本の板を三回読み取り、一・〇、一・一、一・〇ミリメートルだった場合をエーとします。別々の三枚の板を同じ条件で測り、〇・八、一・〇、一・四ミリメートルだった場合をビーとします。</a:t>
            </a:r>
          </a:p>
          <a:p xmlns:a="http://schemas.openxmlformats.org/drawingml/2006/main">
            <a:r>
              <a:t>エーとビーは、それぞれ何を確かめるためのデータになるでしょうか。一本を繰り返して測ることと、複数の板を測ることの違いを説明します。さらに、高さの効果を調べる実験で、この二つをどう組み合わせるとよいかを提案してください。平均を計算して終わらず、試料と測定という違いを述べます。</a:t>
            </a:r>
          </a:p>
          <a:p xmlns:a="http://schemas.openxmlformats.org/drawingml/2006/main">
            <a:r>
              <a:t>二分、説明を書く時間を取ります。実際の試験で得た値ではないため、この数字から木材一般のばらつきを推定する問題ではありません。</a:t>
            </a:r>
          </a:p>
          <a:p xmlns:a="http://schemas.openxmlformats.org/drawingml/2006/main">
            <a:r>
              <a:t/>
            </a:r>
          </a:p>
          <a:p xmlns:a="http://schemas.openxmlformats.org/drawingml/2006/main">
            <a:r>
              <a:t>エーは、同じ一本を測るときの、読み取りや載せ直しなどの繰り返しの違いを確かめる材料になります。ビーは、試料間の違いと、測定の違いが重なったデータです。一回ずつでは、その二つを完全に分けられません。複数の板について、同じ手順で繰り返し測り、寸法や方向、水分、節も記録する方法が考えられます。平均だけでなく、各値と条件を残す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数値は説明用の仮想データ。実測・特定樹種の物性値ではない。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生に説明するときの言葉を整えます。縦にすると強い、という一文だけでは、断面の高さを変えたのか、繊維に沿う方向へ力を加えたのかが分かりません。高さの効果を確かめるなら、材料の方向と荷重、支持などをそろえます。繊維方向の効果を確かめるなら、断面形状や応力の条件をそろえます。</a:t>
            </a:r>
          </a:p>
          <a:p xmlns:a="http://schemas.openxmlformats.org/drawingml/2006/main">
            <a:r>
              <a:t>同じ長い板を長さの軸の回りに回した比較と、異なる木取りの試験片を同じ外形で比べた比較では、意味が違います。図の中で、材料の方向を示す矢印と、荷重を示す矢印を分け、高さと幅の寸法を付けて説明しましょう。生徒の説明が曖昧なときには、専門語の数を増やす前に、この図へ戻る方法があります。</a:t>
            </a:r>
          </a:p>
          <a:p xmlns:a="http://schemas.openxmlformats.org/drawingml/2006/main">
            <a:r>
              <a:t>指導要領解説の材料と加工の技術では、材料の特性や加工法を理解し、製作の判断へつなげることが関係します。ここで学んだ異方性や断面の式は、その理由を教師が理解する背景です。全ての専門用語を、生徒へ一度に覚えさせることを目的にはし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評価の問いも、どちらが丈夫ですか、だけでは不十分な場合があります。何をそろえて比べたか、何を測ったか、その結果から何が言えるか、という三つを問いに含めます。計算が正しい生徒にも、変えた条件を図で示してもらうと、理由を理解しているかを確かめられます。式と図と言葉が対応することを、到達の目安に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中学生への説明を修正するへ進みます。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を修正する練習です。生徒が、板を立てたらあまり曲がらなかったので、木のヤング率が大きくなった、と説明したとします。この比較では、同じ板を長さ方向の軸の回りに回し、主な繊維はどちらも長さに沿い、荷重と支点間距離は同じだったとします。</a:t>
            </a:r>
          </a:p>
          <a:p xmlns:a="http://schemas.openxmlformats.org/drawingml/2006/main">
            <a:r>
              <a:t>この説明のどこを修正し、どの図を見せるかを考えてください。生徒の観察した、曲がりにくくなったという部分まで否定せず、その理由を、断面の高さ、アイ、材料のヤング率の区別へつなぎます。短い説明を二、三文作り、理解を確認する問いを一つ付けてください。</a:t>
            </a:r>
          </a:p>
          <a:p xmlns:a="http://schemas.openxmlformats.org/drawingml/2006/main">
            <a:r>
              <a:t>三分、授業で使う説明と問いを考える時間を取ります。専門式を全部書くことより、観察と理由の対応が伝わることを目指します。</a:t>
            </a:r>
          </a:p>
          <a:p xmlns:a="http://schemas.openxmlformats.org/drawingml/2006/main">
            <a:r>
              <a:t/>
            </a:r>
          </a:p>
          <a:p xmlns:a="http://schemas.openxmlformats.org/drawingml/2006/main">
            <a:r>
              <a:t>例えば、曲がりにくくなったという観察は、その条件では確かめられたね。同じ材料でも、力に対する断面の高さが大きくなり、形の効果でたわみが小さくなる。木のヤング率そのものが変わったと決める比較ではない、と説明できます。確認の問いは、何を変え、何を同じにしたのかを断面図に示そう、などが考えられます。答えに、形と材料の方向を区別する要素があれば、説明の理解を判断しやす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問題です。一つ目、アイを二倍にしたら、木材の強度値も二倍になったと言えるでしょうか。二つ目、同じ物体を持ち替えると、密度がエル、アール、ティーの三種類に変わるでしょうか。三つ目、目切れを確認するのは、どのような理由からでしょうか。</a:t>
            </a:r>
          </a:p>
          <a:p xmlns:a="http://schemas.openxmlformats.org/drawingml/2006/main">
            <a:r>
              <a:t>それぞれ、答えと理由を一文ずつ書いてください。最初は形の量と材質の量、次は密度と異方性、最後は外形と繊維方向の違いを確かめる問題です。ここで九十秒、手元に整理してみましょう。</a:t>
            </a:r>
          </a:p>
          <a:p xmlns:a="http://schemas.openxmlformats.org/drawingml/2006/main">
            <a:r>
              <a:t/>
            </a:r>
          </a:p>
          <a:p xmlns:a="http://schemas.openxmlformats.org/drawingml/2006/main">
            <a:r>
              <a:t>一つ目は言えません。アイは断面の形と配置に関する量で、木材そのものの強度値とは別です。二つ目も変わりません。同じ状態の同じ物体なら、向きを変えても質量と体積は変わらず、密度は同じです。三つ目は、材の長軸と繊維の向きのずれが、力への応答や加工、割れの方向などに関わるからです。用語だけでなく、どの量や観察へ結び付くかを説明できたか、見直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要点です。材料の方向の違い、部材の断面形状の違い、節や目切れなど局所の特徴を分けて比較しました。方向別のヤング率が小さい場合、同じ小さな応力でのひずみは大きくなります。その倍率は、ヤング率の比の逆数から導きます。これは強度の比を求めたことではありません。</a:t>
            </a:r>
          </a:p>
          <a:p xmlns:a="http://schemas.openxmlformats.org/drawingml/2006/main">
            <a:r>
              <a:t>幅を固定して高さを二倍にしたときと、断面積を保って高さを二倍にしたときでは、アイとゼットの倍率が違います。文字の式へ幅と高さを置き換えれば、条件に合う関係を導けます。節や目切れは、力の向きや部材内の位置と合わせて観察します。表の代表値だけで、実物一本の性能を確定しないことも確認しました。</a:t>
            </a:r>
          </a:p>
          <a:p xmlns:a="http://schemas.openxmlformats.org/drawingml/2006/main">
            <a:r>
              <a:t>次回は、密度と比重を、空隙や水分の状態と関連付けて数量で扱います。同じ密度でも、方向によって弾性や強度が違い得る、という今回の区別を残しておきましょう。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5回と第6回のまとめとして、課題A2、力と変形を計算し比較する、に取り組みます。課題には、単位、同じ形の棒の曲げ、文字式から寸法の効果を導く問題、実際の物性表を読む問題、中学校での比較実験を計画する問題があります。動画内の自己確認とは別の提出課題です。</a:t>
            </a:r>
          </a:p>
          <a:p xmlns:a="http://schemas.openxmlformats.org/drawingml/2006/main">
            <a:r>
              <a:t>資料を参照して構いません。回答フォームでは設問ごとの回答アイディーを残します。計算は、途中式と単位を書きます。調べ学習では、資料名やリンクだけでなく、表番号、行、ページなど、確認した箇所を記録します。その資料に書かれている事実と、自分の判断を分けることも大切です。</a:t>
            </a:r>
          </a:p>
          <a:p xmlns:a="http://schemas.openxmlformats.org/drawingml/2006/main">
            <a:r>
              <a:t>配点は、基本七十点、発展三十点で、各欄五点です。基本欄の十二項目について、必要な要素を十分に満たせば六十点に達します。何かを書くだけで、自動的に六十点になる意味ではありません。分かるところから、式、単位、図、理由を残してください。作業の目安は九十分から百二十分で、この動画の九十分とは別です。提出期限や方法、生成エーアイの利用は、Teamsなどでの授業の案内に従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課題の仮想材料ピーとキューは、比較のために与えた値です。実在の樹種の代表値ではありません。一方、実物性表の二樹種は原典に基づく値で、条件と出典を確認する対象です。この二種類を混ぜないでください。また、文字式の問題では、具体的な数字だけを代入して答えるのでなく、共通項が消えて倍率が残る過程を示します。教師として説明するための、条件と根拠の整理を評価する課題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専門資料の読み方です。ウッドハンドブック第5章では、五の二ページの表五の一と、その前の弾性率の説明を対応させます。方向別の比の見出しと、含水率の条件を確認します。節や繊維傾斜については、同じ章の成長上の特徴と力学的性質の説明へ進みます。第3章は構造、第8章は設計上の扱いを読む際の参考です。</a:t>
            </a:r>
          </a:p>
          <a:p xmlns:a="http://schemas.openxmlformats.org/drawingml/2006/main">
            <a:r>
              <a:t>教科書の購入やスキャンが進んだ場合も、公開見本で確認した項目と、実際の採用教科書の記述を区別して照合します。資料を全部読むことより、今の問いに対応する箇所を読み、使った根拠を残すことを目指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育図書の公開内容解説資料では、製品を強くする工夫の見本として、教科書の二十八から二十九ページに対応する図が掲載されています。今回の、幅と高さを変えたときの力の比較を、その前提とともに確認できます。公開見本は、採用教科書の全内容を確認したことと同じではありません。</a:t>
            </a:r>
          </a:p>
          <a:p xmlns:a="http://schemas.openxmlformats.org/drawingml/2006/main">
            <a:r>
              <a:t>今日の図と式から、何を変えれば、どの結果がどう変わるかを説明する。その説明を、中学校での観察や比較の問いへ置き換える。さらに、結果から言える範囲と、追加で必要な情報を述べる。この順序で、専門知識を授業の判断へ使っていきましょう。第6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e51dca11fc4f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a4372dd1a849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7ca32bfaca40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4453d10ad146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73b6d6e35949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50c1283b334f2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d32629fdbdd84a4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cb0b16a54c964a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f5bf99b6eaf7439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2c9dbac42a2a4d8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82c2f9b78b12491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53dd0b474ff348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DA66FE-04A2-4FA2-845F-66F12B2AEB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6900D8-D2B2-4598-9032-5469E14732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074E23-75CE-43E1-9293-902E13EB27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C09F1C-519F-442B-AD74-87CCC43A5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4A90A0-2BD0-45E1-A8C6-EF8988D2EF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8CB2F1-53C4-4DC1-9589-AA713534C4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8C74CB-3DA3-4569-917B-B9482ED57D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D22F98-7E18-43CB-A7FF-1D99941A08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A71C68-41E4-48EB-9F1B-F1DBC7D6C0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8C9AEA-049E-4134-8360-E16C70DC5E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3dd39d112b4655" /><Relationship Type="http://schemas.openxmlformats.org/officeDocument/2006/relationships/slideLayout" Target="/ppt/slideLayouts/slideLayout1.xml" Id="Rd768e85940704b42" /><Relationship Type="http://schemas.openxmlformats.org/officeDocument/2006/relationships/slideLayout" Target="/ppt/slideLayouts/slideLayout2.xml" Id="R34047c5712db4076" /><Relationship Type="http://schemas.openxmlformats.org/officeDocument/2006/relationships/slideLayout" Target="/ppt/slideLayouts/slideLayout3.xml" Id="Rbcb7c7ad87224c3a" /><Relationship Type="http://schemas.openxmlformats.org/officeDocument/2006/relationships/slideLayout" Target="/ppt/slideLayouts/slideLayout4.xml" Id="Rf7763aa1e35c4840" /><Relationship Type="http://schemas.openxmlformats.org/officeDocument/2006/relationships/slideLayout" Target="/ppt/slideLayouts/slideLayout5.xml" Id="R490b5be9135240c1" /><Relationship Type="http://schemas.openxmlformats.org/officeDocument/2006/relationships/slideLayout" Target="/ppt/slideLayouts/slideLayout6.xml" Id="Redf67f63beea43d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b1afdc575704702" /><Relationship Type="http://schemas.openxmlformats.org/officeDocument/2006/relationships/slideLayout" Target="/ppt/slideLayouts/slideLayout7.xml" Id="Rd661a81c949747f1" /><Relationship Type="http://schemas.openxmlformats.org/officeDocument/2006/relationships/slideLayout" Target="/ppt/slideLayouts/slideLayout8.xml" Id="R28e8bd6ffaec448f" /><Relationship Type="http://schemas.openxmlformats.org/officeDocument/2006/relationships/slideLayout" Target="/ppt/slideLayouts/slideLayout9.xml" Id="R5776f5a65e8b4c5d" /><Relationship Type="http://schemas.openxmlformats.org/officeDocument/2006/relationships/slideLayout" Target="/ppt/slideLayouts/slideLayout10.xml" Id="Rcb39b31eed7a4077" /><Relationship Type="http://schemas.openxmlformats.org/officeDocument/2006/relationships/slideLayout" Target="/ppt/slideLayouts/slideLayout11.xml" Id="R3debca53fb53434c" /><Relationship Type="http://schemas.openxmlformats.org/officeDocument/2006/relationships/slideLayout" Target="/ppt/slideLayouts/slideLayout12.xml" Id="Rdb29be9a0c1b40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68e85940704b42"/>
    <p:sldLayoutId xmlns:r="http://schemas.openxmlformats.org/officeDocument/2006/relationships" id="2147483650" r:id="R34047c5712db4076"/>
    <p:sldLayoutId xmlns:r="http://schemas.openxmlformats.org/officeDocument/2006/relationships" id="2147483651" r:id="Rbcb7c7ad87224c3a"/>
    <p:sldLayoutId xmlns:r="http://schemas.openxmlformats.org/officeDocument/2006/relationships" id="2147483652" r:id="Rf7763aa1e35c4840"/>
    <p:sldLayoutId xmlns:r="http://schemas.openxmlformats.org/officeDocument/2006/relationships" id="2147483653" r:id="R490b5be9135240c1"/>
    <p:sldLayoutId xmlns:r="http://schemas.openxmlformats.org/officeDocument/2006/relationships" id="2147483654" r:id="Redf67f63beea43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d661a81c949747f1"/>
    <p:sldLayoutId xmlns:r="http://schemas.openxmlformats.org/officeDocument/2006/relationships" id="2147483657" r:id="R28e8bd6ffaec448f"/>
    <p:sldLayoutId xmlns:r="http://schemas.openxmlformats.org/officeDocument/2006/relationships" id="2147483658" r:id="R5776f5a65e8b4c5d"/>
    <p:sldLayoutId xmlns:r="http://schemas.openxmlformats.org/officeDocument/2006/relationships" id="2147483659" r:id="Rcb39b31eed7a4077"/>
    <p:sldLayoutId xmlns:r="http://schemas.openxmlformats.org/officeDocument/2006/relationships" id="2147483660" r:id="R3debca53fb53434c"/>
    <p:sldLayoutId xmlns:r="http://schemas.openxmlformats.org/officeDocument/2006/relationships" id="2147483661" r:id="Rdb29be9a0c1b40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99e69e1be34b63" /><Relationship Type="http://schemas.openxmlformats.org/officeDocument/2006/relationships/hyperlink" Target="https://lc-nue.naruto-u.ac.jp/lcu-web/SC_06001B00_22" TargetMode="External" Id="R85d6e7707f174c67" /><Relationship Type="http://schemas.openxmlformats.org/officeDocument/2006/relationships/notesSlide" Target="/ppt/notesSlides/notesSlide1.xml" Id="Rbeea84449ef446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16d82376414eff" /><Relationship Type="http://schemas.openxmlformats.org/officeDocument/2006/relationships/notesSlide" Target="/ppt/notesSlides/notesSlide2.xml" Id="Rcf13a5cf354d48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fefa113c864d8e" /><Relationship Type="http://schemas.openxmlformats.org/officeDocument/2006/relationships/notesSlide" Target="/ppt/notesSlides/notesSlide3.xml" Id="R1ad67f46608d42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2c3c7a6057c5486b" /><Relationship Type="http://schemas.openxmlformats.org/officeDocument/2006/relationships/notesSlide" Target="/ppt/notesSlides/notesSlide4.xml" Id="R486b822b984b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a9273287720948e2" /><Relationship Type="http://schemas.openxmlformats.org/officeDocument/2006/relationships/notesSlide" Target="/ppt/notesSlides/notesSlide5.xml" Id="Rf122a9af19ce4f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e66dd87ba2471e" /><Relationship Type="http://schemas.openxmlformats.org/officeDocument/2006/relationships/notesSlide" Target="/ppt/notesSlides/notesSlide6.xml" Id="R0df1d07db8aa4b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3cefc29ae634abb" /><Relationship Type="http://schemas.openxmlformats.org/officeDocument/2006/relationships/notesSlide" Target="/ppt/notesSlides/notesSlide7.xml" Id="Rdf781a8446c24b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d42dd526374520" /><Relationship Type="http://schemas.openxmlformats.org/officeDocument/2006/relationships/notesSlide" Target="/ppt/notesSlides/notesSlide8.xml" Id="Re8adf837dad747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f5af239cd74341" /><Relationship Type="http://schemas.openxmlformats.org/officeDocument/2006/relationships/notesSlide" Target="/ppt/notesSlides/notesSlide9.xml" Id="R8f64ed8953914b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ac2e1b03924085" /><Relationship Type="http://schemas.openxmlformats.org/officeDocument/2006/relationships/notesSlide" Target="/ppt/notesSlides/notesSlide10.xml" Id="R8aaed964589343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00516856f384bcd" /><Relationship Type="http://schemas.openxmlformats.org/officeDocument/2006/relationships/notesSlide" Target="/ppt/notesSlides/notesSlide11.xml" Id="Re9b18cd8fbf042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94e011d0dbd4d57" /><Relationship Type="http://schemas.openxmlformats.org/officeDocument/2006/relationships/notesSlide" Target="/ppt/notesSlides/notesSlide12.xml" Id="R49830c941d1c49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da69547b1504828" /><Relationship Type="http://schemas.openxmlformats.org/officeDocument/2006/relationships/notesSlide" Target="/ppt/notesSlides/notesSlide13.xml" Id="Rf5240ab514644c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77d346de6684e38" /><Relationship Type="http://schemas.openxmlformats.org/officeDocument/2006/relationships/notesSlide" Target="/ppt/notesSlides/notesSlide14.xml" Id="R8377cfe79b9749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0cf5a8bf9fd34608" /><Relationship Type="http://schemas.openxmlformats.org/officeDocument/2006/relationships/notesSlide" Target="/ppt/notesSlides/notesSlide15.xml" Id="Rba60deb1784b4f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97d59ef3f4348b9" /><Relationship Type="http://schemas.openxmlformats.org/officeDocument/2006/relationships/notesSlide" Target="/ppt/notesSlides/notesSlide16.xml" Id="R164ae16def924c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126ff8e9fb4673" /><Relationship Type="http://schemas.openxmlformats.org/officeDocument/2006/relationships/notesSlide" Target="/ppt/notesSlides/notesSlide17.xml" Id="Re25de476cbf446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0ad097b9bb241f8" /><Relationship Type="http://schemas.openxmlformats.org/officeDocument/2006/relationships/notesSlide" Target="/ppt/notesSlides/notesSlide18.xml" Id="R8533628896454a3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e724db4ae9b040ef" /><Relationship Type="http://schemas.openxmlformats.org/officeDocument/2006/relationships/notesSlide" Target="/ppt/notesSlides/notesSlide19.xml" Id="R618cd226acc34e8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a757aa375f84db7" /><Relationship Type="http://schemas.openxmlformats.org/officeDocument/2006/relationships/notesSlide" Target="/ppt/notesSlides/notesSlide20.xml" Id="Rbeb644970f4e4c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440ddf5ed7e4939" /><Relationship Type="http://schemas.openxmlformats.org/officeDocument/2006/relationships/notesSlide" Target="/ppt/notesSlides/notesSlide21.xml" Id="R010aa172f4c042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8d0593641974ba8" /><Relationship Type="http://schemas.openxmlformats.org/officeDocument/2006/relationships/notesSlide" Target="/ppt/notesSlides/notesSlide22.xml" Id="R7dba2058230c41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a0abef03423e4331" /><Relationship Type="http://schemas.openxmlformats.org/officeDocument/2006/relationships/notesSlide" Target="/ppt/notesSlides/notesSlide23.xml" Id="R6eb13651175a41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4229522ccdb4a48" /><Relationship Type="http://schemas.openxmlformats.org/officeDocument/2006/relationships/notesSlide" Target="/ppt/notesSlides/notesSlide24.xml" Id="R97b06ff953784a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d7c0bad210c4f71" /><Relationship Type="http://schemas.openxmlformats.org/officeDocument/2006/relationships/notesSlide" Target="/ppt/notesSlides/notesSlide25.xml" Id="Rd762c5cd2f9746e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a0df77b168af48df" /><Relationship Type="http://schemas.openxmlformats.org/officeDocument/2006/relationships/notesSlide" Target="/ppt/notesSlides/notesSlide26.xml" Id="Re4575c18672243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3727b529f2a4f96" /><Relationship Type="http://schemas.openxmlformats.org/officeDocument/2006/relationships/notesSlide" Target="/ppt/notesSlides/notesSlide27.xml" Id="R354f4fcf1f104ea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df5e8951c7e74b67" /><Relationship Type="http://schemas.openxmlformats.org/officeDocument/2006/relationships/notesSlide" Target="/ppt/notesSlides/notesSlide28.xml" Id="R9d0219c90d864c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3040e84bc7d4112" /><Relationship Type="http://schemas.openxmlformats.org/officeDocument/2006/relationships/notesSlide" Target="/ppt/notesSlides/notesSlide29.xml" Id="R576fc54ee08d47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3b24948666b45c0" /><Relationship Type="http://schemas.openxmlformats.org/officeDocument/2006/relationships/notesSlide" Target="/ppt/notesSlides/notesSlide30.xml" Id="Raf48352f6dd3455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1effb654ace46c5" /><Relationship Type="http://schemas.openxmlformats.org/officeDocument/2006/relationships/notesSlide" Target="/ppt/notesSlides/notesSlide31.xml" Id="R65a71a5a19b3464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6a0ac92f0704abc" /><Relationship Type="http://schemas.openxmlformats.org/officeDocument/2006/relationships/notesSlide" Target="/ppt/notesSlides/notesSlide32.xml" Id="Rbd3d170bbcea487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2.xml" Id="Rab7cea2176f343d3" /><Relationship Type="http://schemas.openxmlformats.org/officeDocument/2006/relationships/notesSlide" Target="/ppt/notesSlides/notesSlide33.xml" Id="Rdb6ef00d653c4e6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2.xml" Id="R2687967878224054" /><Relationship Type="http://schemas.openxmlformats.org/officeDocument/2006/relationships/notesSlide" Target="/ppt/notesSlides/notesSlide34.xml" Id="R31587d16e1e04fc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cecb98a8470746f2" /><Relationship Type="http://schemas.openxmlformats.org/officeDocument/2006/relationships/notesSlide" Target="/ppt/notesSlides/notesSlide35.xml" Id="R1217b53781e246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9F756B-C544-4CDB-B7EC-23DFD9492CC5}"/>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buNone/>
              <a:defRPr sz="4050" b="1">
                <a:solidFill>
                  <a:srgbClr val="18364F"/>
                </a:solidFill>
                <a:latin typeface="Yu Gothic"/>
                <a:ea typeface="Yu Gothic"/>
                <a:cs typeface="Yu Gothic"/>
              </a:defRPr>
            </a:lvl1pPr>
            <a:lvl2pPr>
              <a:buNone/>
              <a:defRPr sz="4050" b="1">
                <a:solidFill>
                  <a:srgbClr val="18364F"/>
                </a:solidFill>
                <a:latin typeface="Yu Gothic"/>
                <a:ea typeface="Yu Gothic"/>
                <a:cs typeface="Yu Gothic"/>
              </a:defRPr>
            </a:lvl2pPr>
            <a:lvl3pPr>
              <a:buNone/>
              <a:defRPr sz="4050" b="1">
                <a:solidFill>
                  <a:srgbClr val="18364F"/>
                </a:solidFill>
                <a:latin typeface="Yu Gothic"/>
                <a:ea typeface="Yu Gothic"/>
                <a:cs typeface="Yu Gothic"/>
              </a:defRPr>
            </a:lvl3pPr>
            <a:lvl4pPr>
              <a:buNone/>
              <a:defRPr sz="4050" b="1">
                <a:solidFill>
                  <a:srgbClr val="18364F"/>
                </a:solidFill>
                <a:latin typeface="Yu Gothic"/>
                <a:ea typeface="Yu Gothic"/>
                <a:cs typeface="Yu Gothic"/>
              </a:defRPr>
            </a:lvl4pPr>
            <a:lvl5pPr>
              <a:buNone/>
              <a:defRPr sz="4050" b="1">
                <a:solidFill>
                  <a:srgbClr val="18364F"/>
                </a:solidFill>
                <a:latin typeface="Yu Gothic"/>
                <a:ea typeface="Yu Gothic"/>
                <a:cs typeface="Yu Gothic"/>
              </a:defRPr>
            </a:lvl5pPr>
            <a:lvl6pPr>
              <a:buNone/>
              <a:defRPr sz="4050" b="1">
                <a:solidFill>
                  <a:srgbClr val="18364F"/>
                </a:solidFill>
                <a:latin typeface="Yu Gothic"/>
                <a:ea typeface="Yu Gothic"/>
                <a:cs typeface="Yu Gothic"/>
              </a:defRPr>
            </a:lvl6pPr>
            <a:lvl7pPr>
              <a:buNone/>
              <a:defRPr sz="4050" b="1">
                <a:solidFill>
                  <a:srgbClr val="18364F"/>
                </a:solidFill>
                <a:latin typeface="Yu Gothic"/>
                <a:ea typeface="Yu Gothic"/>
                <a:cs typeface="Yu Gothic"/>
              </a:defRPr>
            </a:lvl7pPr>
            <a:lvl8pPr>
              <a:buNone/>
              <a:defRPr sz="4050" b="1">
                <a:solidFill>
                  <a:srgbClr val="18364F"/>
                </a:solidFill>
                <a:latin typeface="Yu Gothic"/>
                <a:ea typeface="Yu Gothic"/>
                <a:cs typeface="Yu Gothic"/>
              </a:defRPr>
            </a:lvl8pPr>
            <a:lvl9pPr>
              <a:buNone/>
              <a:defRPr sz="4050" b="1">
                <a:solidFill>
                  <a:srgbClr val="18364F"/>
                </a:solidFill>
                <a:latin typeface="Yu Gothic"/>
                <a:ea typeface="Yu Gothic"/>
                <a:cs typeface="Yu Gothic"/>
              </a:defRPr>
            </a:lvl9pPr>
          </a:lstStyle>
          <a:p xmlns:a="http://schemas.openxmlformats.org/drawingml/2006/main">
            <a:pPr>
              <a:buNone/>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3F4EC628-C078-49D1-A7B6-2337A44F711D}"/>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buNone/>
              <a:defRPr sz="2925" b="1">
                <a:solidFill>
                  <a:srgbClr val="087E8B"/>
                </a:solidFill>
                <a:latin typeface="Yu Gothic"/>
                <a:ea typeface="Yu Gothic"/>
                <a:cs typeface="Yu Gothic"/>
              </a:defRPr>
            </a:lvl1pPr>
            <a:lvl2pPr>
              <a:buNone/>
              <a:defRPr sz="2925" b="1">
                <a:solidFill>
                  <a:srgbClr val="087E8B"/>
                </a:solidFill>
                <a:latin typeface="Yu Gothic"/>
                <a:ea typeface="Yu Gothic"/>
                <a:cs typeface="Yu Gothic"/>
              </a:defRPr>
            </a:lvl2pPr>
            <a:lvl3pPr>
              <a:buNone/>
              <a:defRPr sz="2925" b="1">
                <a:solidFill>
                  <a:srgbClr val="087E8B"/>
                </a:solidFill>
                <a:latin typeface="Yu Gothic"/>
                <a:ea typeface="Yu Gothic"/>
                <a:cs typeface="Yu Gothic"/>
              </a:defRPr>
            </a:lvl3pPr>
            <a:lvl4pPr>
              <a:buNone/>
              <a:defRPr sz="2925" b="1">
                <a:solidFill>
                  <a:srgbClr val="087E8B"/>
                </a:solidFill>
                <a:latin typeface="Yu Gothic"/>
                <a:ea typeface="Yu Gothic"/>
                <a:cs typeface="Yu Gothic"/>
              </a:defRPr>
            </a:lvl4pPr>
            <a:lvl5pPr>
              <a:buNone/>
              <a:defRPr sz="2925" b="1">
                <a:solidFill>
                  <a:srgbClr val="087E8B"/>
                </a:solidFill>
                <a:latin typeface="Yu Gothic"/>
                <a:ea typeface="Yu Gothic"/>
                <a:cs typeface="Yu Gothic"/>
              </a:defRPr>
            </a:lvl5pPr>
            <a:lvl6pPr>
              <a:buNone/>
              <a:defRPr sz="2925" b="1">
                <a:solidFill>
                  <a:srgbClr val="087E8B"/>
                </a:solidFill>
                <a:latin typeface="Yu Gothic"/>
                <a:ea typeface="Yu Gothic"/>
                <a:cs typeface="Yu Gothic"/>
              </a:defRPr>
            </a:lvl6pPr>
            <a:lvl7pPr>
              <a:buNone/>
              <a:defRPr sz="2925" b="1">
                <a:solidFill>
                  <a:srgbClr val="087E8B"/>
                </a:solidFill>
                <a:latin typeface="Yu Gothic"/>
                <a:ea typeface="Yu Gothic"/>
                <a:cs typeface="Yu Gothic"/>
              </a:defRPr>
            </a:lvl7pPr>
            <a:lvl8pPr>
              <a:buNone/>
              <a:defRPr sz="2925" b="1">
                <a:solidFill>
                  <a:srgbClr val="087E8B"/>
                </a:solidFill>
                <a:latin typeface="Yu Gothic"/>
                <a:ea typeface="Yu Gothic"/>
                <a:cs typeface="Yu Gothic"/>
              </a:defRPr>
            </a:lvl8pPr>
            <a:lvl9pPr>
              <a:buNone/>
              <a:defRPr sz="2925" b="1">
                <a:solidFill>
                  <a:srgbClr val="087E8B"/>
                </a:solidFill>
                <a:latin typeface="Yu Gothic"/>
                <a:ea typeface="Yu Gothic"/>
                <a:cs typeface="Yu Gothic"/>
              </a:defRPr>
            </a:lvl9pPr>
          </a:lstStyle>
          <a:p xmlns:a="http://schemas.openxmlformats.org/drawingml/2006/main">
            <a:pPr>
              <a:buNone/>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第6回　異方性と欠点</a:t>
            </a:r>
          </a:p>
        </p:txBody>
      </p:sp>
      <p:sp>
        <p:nvSpPr>
          <p:cNvPr id="3" name="">
            <a:extLst xmlns:a="http://schemas.openxmlformats.org/drawingml/2006/main">
              <a:ext uri="{FF2B5EF4-FFF2-40B4-BE49-F238E27FC236}">
                <a16:creationId xmlns:a16="http://schemas.microsoft.com/office/drawing/2014/main" id="{6009EA32-B4AB-4C71-BBB5-ABFEE2AD5D25}"/>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E7AD87-C008-45F4-9C03-36A890604147}"/>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19F451D3-4A62-478F-8528-2122A2BC33A5}"/>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525FDCE7-BBC8-4568-9D7F-700F3F925B40}"/>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29D0AC2B-017E-4FC1-8AB6-98F6FC4D2950}"/>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23D7D162-347E-456F-9DE1-22319D69689A}"/>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85d6e7707f174c67"/>
              </a:rPr>
              <a:t>https://lc-nue.naruto-u.ac.jp/lcu-web/SC_06001B00_22</a:t>
            </a:r>
          </a:p>
        </p:txBody>
      </p:sp>
      <p:sp>
        <p:nvSpPr>
          <p:cNvPr id="9" name="">
            <a:extLst xmlns:a="http://schemas.openxmlformats.org/drawingml/2006/main">
              <a:ext uri="{FF2B5EF4-FFF2-40B4-BE49-F238E27FC236}">
                <a16:creationId xmlns:a16="http://schemas.microsoft.com/office/drawing/2014/main" id="{91570638-113F-4350-B71A-52EB9AA2A204}"/>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9330025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3B3265-0286-4B78-8005-643914E0D46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第6回　異方性と欠点</a:t>
            </a:r>
          </a:p>
        </p:txBody>
      </p:sp>
      <p:cxnSp>
        <p:nvCxnSpPr>
          <p:cNvPr id="2" name="">
            <a:extLst xmlns:a="http://schemas.openxmlformats.org/drawingml/2006/main">
              <a:ext uri="{FF2B5EF4-FFF2-40B4-BE49-F238E27FC236}">
                <a16:creationId xmlns:a16="http://schemas.microsoft.com/office/drawing/2014/main" id="{2A651F7D-1692-4A35-8881-6C1D190ECD0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41E3B27-3E11-41BF-AD13-EAB7019780F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515CF1AF-91D2-4FFE-A839-9A3D0A7AE42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030D7BD4-9E84-4902-BB9A-4D7981569889}"/>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強度の異方性・節・ばらつき</a:t>
            </a:r>
          </a:p>
        </p:txBody>
      </p:sp>
      <p:sp>
        <p:nvSpPr>
          <p:cNvPr id="6" name="">
            <a:extLst xmlns:a="http://schemas.openxmlformats.org/drawingml/2006/main">
              <a:ext uri="{FF2B5EF4-FFF2-40B4-BE49-F238E27FC236}">
                <a16:creationId xmlns:a16="http://schemas.microsoft.com/office/drawing/2014/main" id="{1FCBF5DB-5507-4EFD-B01D-EC095CBB2227}"/>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方向・欠点・材質のばらつきと、変形・強度の関係を説明する。</a:t>
            </a:r>
          </a:p>
        </p:txBody>
      </p:sp>
    </p:spTree>
    <p:extLst>
      <p:ext uri="{BB962C8B-B14F-4D97-AF65-F5344CB8AC3E}">
        <p14:creationId xmlns:p14="http://schemas.microsoft.com/office/powerpoint/2010/main" val="8114010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C228D0-E9D3-4F7F-A663-0673379EBAA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495E5D93-97C2-4CEF-8D01-07CE02D19BE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05FABA7-09CB-42B3-BB3E-8676CD154D6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9718606-98B9-4D47-87B2-D4DFF9551D6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23717FCC-DAE0-425D-B91E-DD8C88E5072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Eと強度は別の量。方向と含水状態を指定する</a:t>
            </a:r>
          </a:p>
        </p:txBody>
      </p:sp>
      <p:sp>
        <p:nvSpPr>
          <p:cNvPr id="6" name="">
            <a:extLst xmlns:a="http://schemas.openxmlformats.org/drawingml/2006/main">
              <a:ext uri="{FF2B5EF4-FFF2-40B4-BE49-F238E27FC236}">
                <a16:creationId xmlns:a16="http://schemas.microsoft.com/office/drawing/2014/main" id="{C834ED8C-95C7-40EB-9BFC-2F8015DB50F8}"/>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同じ材料でも、断面の形でたわみは変わる</a:t>
            </a:r>
          </a:p>
        </p:txBody>
      </p:sp>
      <p:sp>
        <p:nvSpPr>
          <p:cNvPr id="7" name="">
            <a:extLst xmlns:a="http://schemas.openxmlformats.org/drawingml/2006/main">
              <a:ext uri="{FF2B5EF4-FFF2-40B4-BE49-F238E27FC236}">
                <a16:creationId xmlns:a16="http://schemas.microsoft.com/office/drawing/2014/main" id="{FD219351-C1AA-4220-8FE1-DAA177DC78FD}"/>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異方性と、断面形状の効果を分けて考える</a:t>
            </a:r>
          </a:p>
        </p:txBody>
      </p:sp>
    </p:spTree>
    <p:extLst>
      <p:ext uri="{BB962C8B-B14F-4D97-AF65-F5344CB8AC3E}">
        <p14:creationId xmlns:p14="http://schemas.microsoft.com/office/powerpoint/2010/main" val="1567629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0C5015-0A17-4AED-8988-AF3FDB1A2C6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198DD5EF-E8CE-4D62-8373-86A85933DEB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2A30B71-978C-4A94-892B-9D91537CFFA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B13B16A4-2A45-441C-A906-82EBD1FB815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431ABCEB-E87A-4F7E-98AE-B8DCC4CACC7D}"/>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L：主な軸方向細胞に沿う。R：半径方向、T：年輪の接線方向</a:t>
            </a:r>
          </a:p>
        </p:txBody>
      </p:sp>
      <p:sp>
        <p:nvSpPr>
          <p:cNvPr id="6" name="">
            <a:extLst xmlns:a="http://schemas.openxmlformats.org/drawingml/2006/main">
              <a:ext uri="{FF2B5EF4-FFF2-40B4-BE49-F238E27FC236}">
                <a16:creationId xmlns:a16="http://schemas.microsoft.com/office/drawing/2014/main" id="{4C1650E0-A132-42A7-9319-CB6F464EDA2D}"/>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節は枝の基部が幹の木部に取り込まれた部分</a:t>
            </a:r>
          </a:p>
        </p:txBody>
      </p:sp>
      <p:sp>
        <p:nvSpPr>
          <p:cNvPr id="7" name="">
            <a:extLst xmlns:a="http://schemas.openxmlformats.org/drawingml/2006/main">
              <a:ext uri="{FF2B5EF4-FFF2-40B4-BE49-F238E27FC236}">
                <a16:creationId xmlns:a16="http://schemas.microsoft.com/office/drawing/2014/main" id="{2D6626BD-1CC0-4C87-B674-5F5221E8CA1D}"/>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同じ樹種でも、年輪構造・密度・MFA・水分・節が異なる</a:t>
            </a:r>
          </a:p>
        </p:txBody>
      </p:sp>
      <p:sp>
        <p:nvSpPr>
          <p:cNvPr id="8" name="">
            <a:extLst xmlns:a="http://schemas.openxmlformats.org/drawingml/2006/main">
              <a:ext uri="{FF2B5EF4-FFF2-40B4-BE49-F238E27FC236}">
                <a16:creationId xmlns:a16="http://schemas.microsoft.com/office/drawing/2014/main" id="{2A30B2D6-3CD8-4A17-9B47-618E1A59487F}"/>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20303788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10B8DD-EE99-4FCD-9AD6-D9C4567DCCD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力の種類と木材の異方性</a:t>
            </a:r>
          </a:p>
        </p:txBody>
      </p:sp>
      <p:cxnSp>
        <p:nvCxnSpPr>
          <p:cNvPr id="2" name="">
            <a:extLst xmlns:a="http://schemas.openxmlformats.org/drawingml/2006/main">
              <a:ext uri="{FF2B5EF4-FFF2-40B4-BE49-F238E27FC236}">
                <a16:creationId xmlns:a16="http://schemas.microsoft.com/office/drawing/2014/main" id="{D839C046-78EE-4671-B442-B83989EC13C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C584AFCC-B6C5-4C93-A140-79972377437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9A3FDD02-DB54-4824-B843-F4EEFF7ECBC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ECB883A4-0586-45E4-9003-79FEDDD4598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L：主な軸方向細胞に沿う。R：半径方向、T：年輪の接線方向</a:t>
            </a:r>
          </a:p>
        </p:txBody>
      </p:sp>
      <p:sp>
        <p:nvSpPr>
          <p:cNvPr id="6" name="">
            <a:extLst xmlns:a="http://schemas.openxmlformats.org/drawingml/2006/main">
              <a:ext uri="{FF2B5EF4-FFF2-40B4-BE49-F238E27FC236}">
                <a16:creationId xmlns:a16="http://schemas.microsoft.com/office/drawing/2014/main" id="{373448C9-08D7-4883-BDA0-EB76FCA0A5B0}"/>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ヤング率は一般にL方向が大きい。RとTにも差がある</a:t>
            </a:r>
          </a:p>
        </p:txBody>
      </p:sp>
      <p:sp>
        <p:nvSpPr>
          <p:cNvPr id="7" name="">
            <a:extLst xmlns:a="http://schemas.openxmlformats.org/drawingml/2006/main">
              <a:ext uri="{FF2B5EF4-FFF2-40B4-BE49-F238E27FC236}">
                <a16:creationId xmlns:a16="http://schemas.microsoft.com/office/drawing/2014/main" id="{BF7C4DA1-B8B0-4962-8376-A4F4164A1516}"/>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引張り・圧縮・せん断・曲げでは、比較する破壊の仕方が異なる</a:t>
            </a:r>
          </a:p>
        </p:txBody>
      </p:sp>
      <p:sp>
        <p:nvSpPr>
          <p:cNvPr id="8" name="">
            <a:extLst xmlns:a="http://schemas.openxmlformats.org/drawingml/2006/main">
              <a:ext uri="{FF2B5EF4-FFF2-40B4-BE49-F238E27FC236}">
                <a16:creationId xmlns:a16="http://schemas.microsoft.com/office/drawing/2014/main" id="{AB44FD7C-C8AC-4627-AC27-5A3150A9D4B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繊維直交方向の引張りは、割裂や接合部の検討につながる</a:t>
            </a:r>
          </a:p>
        </p:txBody>
      </p:sp>
      <p:sp>
        <p:nvSpPr>
          <p:cNvPr id="9" name="">
            <a:extLst xmlns:a="http://schemas.openxmlformats.org/drawingml/2006/main">
              <a:ext uri="{FF2B5EF4-FFF2-40B4-BE49-F238E27FC236}">
                <a16:creationId xmlns:a16="http://schemas.microsoft.com/office/drawing/2014/main" id="{C55CCABD-22AB-4B9C-BA29-874E99B8F2B8}"/>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密度は同じ物体のスカラー量だが、弾性・強度は方向を指定して表す</a:t>
            </a:r>
          </a:p>
        </p:txBody>
      </p:sp>
    </p:spTree>
    <p:extLst>
      <p:ext uri="{BB962C8B-B14F-4D97-AF65-F5344CB8AC3E}">
        <p14:creationId xmlns:p14="http://schemas.microsoft.com/office/powerpoint/2010/main" val="12369979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4A3552-E9A0-4C99-A03E-6B35FFAE57D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材料の方向と力の向き</a:t>
            </a:r>
          </a:p>
        </p:txBody>
      </p:sp>
      <p:cxnSp>
        <p:nvCxnSpPr>
          <p:cNvPr id="2" name="">
            <a:extLst xmlns:a="http://schemas.openxmlformats.org/drawingml/2006/main">
              <a:ext uri="{FF2B5EF4-FFF2-40B4-BE49-F238E27FC236}">
                <a16:creationId xmlns:a16="http://schemas.microsoft.com/office/drawing/2014/main" id="{674F8CBE-67DB-4BA9-A429-2E6498BD0AD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989306F-A27E-4642-A920-31DB64C9C21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A0706AAC-9DAB-4529-8F4F-801C620063A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426FC8F9-151F-4294-9650-D2AD65321301}"/>
              </a:ext>
            </a:extLst>
          </p:cNvPr>
          <p:cNvSpPr>
            <a:spLocks xmlns:a="http://schemas.openxmlformats.org/drawingml/2006/main" noGrp="1"/>
          </p:cNvSpPr>
          <p:nvPr/>
        </p:nvSpPr>
        <p:spPr>
          <a:xfrm xmlns:a="http://schemas.openxmlformats.org/drawingml/2006/main" rot="0">
            <a:off x="1238250" y="2619375"/>
            <a:ext cx="4524375" cy="209550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cxnSp>
        <p:nvCxnSpPr>
          <p:cNvPr id="6" name="">
            <a:extLst xmlns:a="http://schemas.openxmlformats.org/drawingml/2006/main">
              <a:ext uri="{FF2B5EF4-FFF2-40B4-BE49-F238E27FC236}">
                <a16:creationId xmlns:a16="http://schemas.microsoft.com/office/drawing/2014/main" id="{C353D02D-504C-45F8-844D-37AFCE57D5DB}"/>
              </a:ext>
            </a:extLst>
          </p:cNvPr>
          <p:cNvCxnSpPr/>
          <p:nvPr/>
        </p:nvCxnSpPr>
        <p:spPr>
          <a:xfrm xmlns:a="http://schemas.openxmlformats.org/drawingml/2006/main" flipH="0" flipV="0">
            <a:off x="1619250" y="4333875"/>
            <a:ext cx="3810000" cy="0"/>
          </a:xfrm>
          <a:prstGeom xmlns:a="http://schemas.openxmlformats.org/drawingml/2006/main" prst="straightConnector1">
            <a:avLst/>
          </a:prstGeom>
          <a:ln xmlns:a="http://schemas.openxmlformats.org/drawingml/2006/main" w="38100">
            <a:solidFill>
              <a:srgbClr val="B55D09"/>
            </a:solidFill>
            <a:tailEnd type="triangle" w="med" len="med"/>
          </a:ln>
        </p:spPr>
      </p:cxnSp>
      <p:cxnSp>
        <p:nvCxnSpPr>
          <p:cNvPr id="7" name="">
            <a:extLst xmlns:a="http://schemas.openxmlformats.org/drawingml/2006/main">
              <a:ext uri="{FF2B5EF4-FFF2-40B4-BE49-F238E27FC236}">
                <a16:creationId xmlns:a16="http://schemas.microsoft.com/office/drawing/2014/main" id="{F060953C-A02A-4666-9C50-18B778D249AE}"/>
              </a:ext>
            </a:extLst>
          </p:cNvPr>
          <p:cNvCxnSpPr/>
          <p:nvPr/>
        </p:nvCxnSpPr>
        <p:spPr>
          <a:xfrm xmlns:a="http://schemas.openxmlformats.org/drawingml/2006/main" flipH="0" flipV="1">
            <a:off x="1619250" y="2857500"/>
            <a:ext cx="0" cy="1476375"/>
          </a:xfrm>
          <a:prstGeom xmlns:a="http://schemas.openxmlformats.org/drawingml/2006/main" prst="straightConnector1">
            <a:avLst/>
          </a:prstGeom>
          <a:ln xmlns:a="http://schemas.openxmlformats.org/drawingml/2006/main" w="38100">
            <a:solidFill>
              <a:srgbClr val="245C98"/>
            </a:solidFill>
            <a:tailEnd type="triangle" w="med" len="med"/>
          </a:ln>
        </p:spPr>
      </p:cxnSp>
      <p:cxnSp>
        <p:nvCxnSpPr>
          <p:cNvPr id="8" name="">
            <a:extLst xmlns:a="http://schemas.openxmlformats.org/drawingml/2006/main">
              <a:ext uri="{FF2B5EF4-FFF2-40B4-BE49-F238E27FC236}">
                <a16:creationId xmlns:a16="http://schemas.microsoft.com/office/drawing/2014/main" id="{FD3E0A30-10FD-4874-821D-5F11637E3856}"/>
              </a:ext>
            </a:extLst>
          </p:cNvPr>
          <p:cNvCxnSpPr/>
          <p:nvPr/>
        </p:nvCxnSpPr>
        <p:spPr>
          <a:xfrm xmlns:a="http://schemas.openxmlformats.org/drawingml/2006/main" flipH="0" flipV="1">
            <a:off x="1619250" y="3429000"/>
            <a:ext cx="952500" cy="904875"/>
          </a:xfrm>
          <a:prstGeom xmlns:a="http://schemas.openxmlformats.org/drawingml/2006/main" prst="straightConnector1">
            <a:avLst/>
          </a:prstGeom>
          <a:ln xmlns:a="http://schemas.openxmlformats.org/drawingml/2006/main" w="38100">
            <a:solidFill>
              <a:srgbClr val="087E8B"/>
            </a:solidFill>
            <a:tailEnd type="triangle" w="med" len="med"/>
          </a:ln>
        </p:spPr>
      </p:cxnSp>
      <p:sp>
        <p:nvSpPr>
          <p:cNvPr id="9" name="">
            <a:extLst xmlns:a="http://schemas.openxmlformats.org/drawingml/2006/main">
              <a:ext uri="{FF2B5EF4-FFF2-40B4-BE49-F238E27FC236}">
                <a16:creationId xmlns:a16="http://schemas.microsoft.com/office/drawing/2014/main" id="{FE9384F7-8DD3-489C-A174-060A625648FF}"/>
              </a:ext>
            </a:extLst>
          </p:cNvPr>
          <p:cNvSpPr>
            <a:spLocks xmlns:a="http://schemas.openxmlformats.org/drawingml/2006/main" noGrp="1"/>
          </p:cNvSpPr>
          <p:nvPr/>
        </p:nvSpPr>
        <p:spPr>
          <a:xfrm xmlns:a="http://schemas.openxmlformats.org/drawingml/2006/main">
            <a:off x="5410200" y="43053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B55D09"/>
                </a:solidFill>
                <a:latin typeface="Yu Gothic"/>
                <a:ea typeface="Yu Gothic"/>
                <a:cs typeface="Yu Gothic"/>
              </a:defRPr>
            </a:defPPr>
            <a:lvl1pPr algn="l">
              <a:buNone/>
              <a:defRPr sz="2325" b="1">
                <a:solidFill>
                  <a:srgbClr val="B55D09"/>
                </a:solidFill>
                <a:latin typeface="Yu Gothic"/>
                <a:ea typeface="Yu Gothic"/>
                <a:cs typeface="Yu Gothic"/>
              </a:defRPr>
            </a:lvl1pPr>
            <a:lvl2pPr algn="l">
              <a:buNone/>
              <a:defRPr sz="2325" b="1">
                <a:solidFill>
                  <a:srgbClr val="B55D09"/>
                </a:solidFill>
                <a:latin typeface="Yu Gothic"/>
                <a:ea typeface="Yu Gothic"/>
                <a:cs typeface="Yu Gothic"/>
              </a:defRPr>
            </a:lvl2pPr>
            <a:lvl3pPr algn="l">
              <a:buNone/>
              <a:defRPr sz="2325" b="1">
                <a:solidFill>
                  <a:srgbClr val="B55D09"/>
                </a:solidFill>
                <a:latin typeface="Yu Gothic"/>
                <a:ea typeface="Yu Gothic"/>
                <a:cs typeface="Yu Gothic"/>
              </a:defRPr>
            </a:lvl3pPr>
            <a:lvl4pPr algn="l">
              <a:buNone/>
              <a:defRPr sz="2325" b="1">
                <a:solidFill>
                  <a:srgbClr val="B55D09"/>
                </a:solidFill>
                <a:latin typeface="Yu Gothic"/>
                <a:ea typeface="Yu Gothic"/>
                <a:cs typeface="Yu Gothic"/>
              </a:defRPr>
            </a:lvl4pPr>
            <a:lvl5pPr algn="l">
              <a:buNone/>
              <a:defRPr sz="2325" b="1">
                <a:solidFill>
                  <a:srgbClr val="B55D09"/>
                </a:solidFill>
                <a:latin typeface="Yu Gothic"/>
                <a:ea typeface="Yu Gothic"/>
                <a:cs typeface="Yu Gothic"/>
              </a:defRPr>
            </a:lvl5pPr>
            <a:lvl6pPr algn="l">
              <a:buNone/>
              <a:defRPr sz="2325" b="1">
                <a:solidFill>
                  <a:srgbClr val="B55D09"/>
                </a:solidFill>
                <a:latin typeface="Yu Gothic"/>
                <a:ea typeface="Yu Gothic"/>
                <a:cs typeface="Yu Gothic"/>
              </a:defRPr>
            </a:lvl6pPr>
            <a:lvl7pPr algn="l">
              <a:buNone/>
              <a:defRPr sz="2325" b="1">
                <a:solidFill>
                  <a:srgbClr val="B55D09"/>
                </a:solidFill>
                <a:latin typeface="Yu Gothic"/>
                <a:ea typeface="Yu Gothic"/>
                <a:cs typeface="Yu Gothic"/>
              </a:defRPr>
            </a:lvl7pPr>
            <a:lvl8pPr algn="l">
              <a:buNone/>
              <a:defRPr sz="2325" b="1">
                <a:solidFill>
                  <a:srgbClr val="B55D09"/>
                </a:solidFill>
                <a:latin typeface="Yu Gothic"/>
                <a:ea typeface="Yu Gothic"/>
                <a:cs typeface="Yu Gothic"/>
              </a:defRPr>
            </a:lvl8pPr>
            <a:lvl9pPr algn="l">
              <a:buNone/>
              <a:defRPr sz="2325" b="1">
                <a:solidFill>
                  <a:srgbClr val="B55D09"/>
                </a:solidFill>
                <a:latin typeface="Yu Gothic"/>
                <a:ea typeface="Yu Gothic"/>
                <a:cs typeface="Yu Gothic"/>
              </a:defRPr>
            </a:lvl9pPr>
          </a:lstStyle>
          <a:p xmlns:a="http://schemas.openxmlformats.org/drawingml/2006/main">
            <a:pPr algn="l">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L</a:t>
            </a:r>
          </a:p>
        </p:txBody>
      </p:sp>
      <p:sp>
        <p:nvSpPr>
          <p:cNvPr id="10" name="">
            <a:extLst xmlns:a="http://schemas.openxmlformats.org/drawingml/2006/main">
              <a:ext uri="{FF2B5EF4-FFF2-40B4-BE49-F238E27FC236}">
                <a16:creationId xmlns:a16="http://schemas.microsoft.com/office/drawing/2014/main" id="{43E40255-1BDB-441D-BECC-4C9E223154AE}"/>
              </a:ext>
            </a:extLst>
          </p:cNvPr>
          <p:cNvSpPr>
            <a:spLocks xmlns:a="http://schemas.openxmlformats.org/drawingml/2006/main" noGrp="1"/>
          </p:cNvSpPr>
          <p:nvPr/>
        </p:nvSpPr>
        <p:spPr>
          <a:xfrm xmlns:a="http://schemas.openxmlformats.org/drawingml/2006/main">
            <a:off x="1352550" y="23145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245C98"/>
                </a:solidFill>
                <a:latin typeface="Yu Gothic"/>
                <a:ea typeface="Yu Gothic"/>
                <a:cs typeface="Yu Gothic"/>
              </a:defRPr>
            </a:defPPr>
            <a:lvl1pPr algn="l">
              <a:buNone/>
              <a:defRPr sz="2325" b="1">
                <a:solidFill>
                  <a:srgbClr val="245C98"/>
                </a:solidFill>
                <a:latin typeface="Yu Gothic"/>
                <a:ea typeface="Yu Gothic"/>
                <a:cs typeface="Yu Gothic"/>
              </a:defRPr>
            </a:lvl1pPr>
            <a:lvl2pPr algn="l">
              <a:buNone/>
              <a:defRPr sz="2325" b="1">
                <a:solidFill>
                  <a:srgbClr val="245C98"/>
                </a:solidFill>
                <a:latin typeface="Yu Gothic"/>
                <a:ea typeface="Yu Gothic"/>
                <a:cs typeface="Yu Gothic"/>
              </a:defRPr>
            </a:lvl2pPr>
            <a:lvl3pPr algn="l">
              <a:buNone/>
              <a:defRPr sz="2325" b="1">
                <a:solidFill>
                  <a:srgbClr val="245C98"/>
                </a:solidFill>
                <a:latin typeface="Yu Gothic"/>
                <a:ea typeface="Yu Gothic"/>
                <a:cs typeface="Yu Gothic"/>
              </a:defRPr>
            </a:lvl3pPr>
            <a:lvl4pPr algn="l">
              <a:buNone/>
              <a:defRPr sz="2325" b="1">
                <a:solidFill>
                  <a:srgbClr val="245C98"/>
                </a:solidFill>
                <a:latin typeface="Yu Gothic"/>
                <a:ea typeface="Yu Gothic"/>
                <a:cs typeface="Yu Gothic"/>
              </a:defRPr>
            </a:lvl4pPr>
            <a:lvl5pPr algn="l">
              <a:buNone/>
              <a:defRPr sz="2325" b="1">
                <a:solidFill>
                  <a:srgbClr val="245C98"/>
                </a:solidFill>
                <a:latin typeface="Yu Gothic"/>
                <a:ea typeface="Yu Gothic"/>
                <a:cs typeface="Yu Gothic"/>
              </a:defRPr>
            </a:lvl5pPr>
            <a:lvl6pPr algn="l">
              <a:buNone/>
              <a:defRPr sz="2325" b="1">
                <a:solidFill>
                  <a:srgbClr val="245C98"/>
                </a:solidFill>
                <a:latin typeface="Yu Gothic"/>
                <a:ea typeface="Yu Gothic"/>
                <a:cs typeface="Yu Gothic"/>
              </a:defRPr>
            </a:lvl6pPr>
            <a:lvl7pPr algn="l">
              <a:buNone/>
              <a:defRPr sz="2325" b="1">
                <a:solidFill>
                  <a:srgbClr val="245C98"/>
                </a:solidFill>
                <a:latin typeface="Yu Gothic"/>
                <a:ea typeface="Yu Gothic"/>
                <a:cs typeface="Yu Gothic"/>
              </a:defRPr>
            </a:lvl7pPr>
            <a:lvl8pPr algn="l">
              <a:buNone/>
              <a:defRPr sz="2325" b="1">
                <a:solidFill>
                  <a:srgbClr val="245C98"/>
                </a:solidFill>
                <a:latin typeface="Yu Gothic"/>
                <a:ea typeface="Yu Gothic"/>
                <a:cs typeface="Yu Gothic"/>
              </a:defRPr>
            </a:lvl8pPr>
            <a:lvl9pPr algn="l">
              <a:buNone/>
              <a:defRPr sz="2325" b="1">
                <a:solidFill>
                  <a:srgbClr val="245C98"/>
                </a:solidFill>
                <a:latin typeface="Yu Gothic"/>
                <a:ea typeface="Yu Gothic"/>
                <a:cs typeface="Yu Gothic"/>
              </a:defRPr>
            </a:lvl9pPr>
          </a:lstStyle>
          <a:p xmlns:a="http://schemas.openxmlformats.org/drawingml/2006/main">
            <a:pPr algn="l">
              <a:buNone/>
              <a:defRPr sz="2325" b="1">
                <a:solidFill>
                  <a:srgbClr val="245C98"/>
                </a:solidFill>
                <a:latin typeface="Yu Gothic"/>
                <a:ea typeface="Yu Gothic"/>
                <a:cs typeface="Yu Gothic"/>
              </a:defRPr>
            </a:pPr>
            <a:r>
              <a:rPr sz="2325" b="1">
                <a:solidFill>
                  <a:srgbClr val="245C98"/>
                </a:solidFill>
                <a:latin typeface="Yu Gothic"/>
                <a:ea typeface="Yu Gothic"/>
                <a:cs typeface="Yu Gothic"/>
              </a:rPr>
              <a:t>R</a:t>
            </a:r>
          </a:p>
        </p:txBody>
      </p:sp>
      <p:sp>
        <p:nvSpPr>
          <p:cNvPr id="11" name="">
            <a:extLst xmlns:a="http://schemas.openxmlformats.org/drawingml/2006/main">
              <a:ext uri="{FF2B5EF4-FFF2-40B4-BE49-F238E27FC236}">
                <a16:creationId xmlns:a16="http://schemas.microsoft.com/office/drawing/2014/main" id="{5B0C5CD6-FFBB-4ED5-869F-7C4361FE65AD}"/>
              </a:ext>
            </a:extLst>
          </p:cNvPr>
          <p:cNvSpPr>
            <a:spLocks xmlns:a="http://schemas.openxmlformats.org/drawingml/2006/main" noGrp="1"/>
          </p:cNvSpPr>
          <p:nvPr/>
        </p:nvSpPr>
        <p:spPr>
          <a:xfrm xmlns:a="http://schemas.openxmlformats.org/drawingml/2006/main">
            <a:off x="2571750" y="30765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087E8B"/>
                </a:solidFill>
                <a:latin typeface="Yu Gothic"/>
                <a:ea typeface="Yu Gothic"/>
                <a:cs typeface="Yu Gothic"/>
              </a:defRPr>
            </a:defPPr>
            <a:lvl1pPr algn="l">
              <a:buNone/>
              <a:defRPr sz="2325" b="1">
                <a:solidFill>
                  <a:srgbClr val="087E8B"/>
                </a:solidFill>
                <a:latin typeface="Yu Gothic"/>
                <a:ea typeface="Yu Gothic"/>
                <a:cs typeface="Yu Gothic"/>
              </a:defRPr>
            </a:lvl1pPr>
            <a:lvl2pPr algn="l">
              <a:buNone/>
              <a:defRPr sz="2325" b="1">
                <a:solidFill>
                  <a:srgbClr val="087E8B"/>
                </a:solidFill>
                <a:latin typeface="Yu Gothic"/>
                <a:ea typeface="Yu Gothic"/>
                <a:cs typeface="Yu Gothic"/>
              </a:defRPr>
            </a:lvl2pPr>
            <a:lvl3pPr algn="l">
              <a:buNone/>
              <a:defRPr sz="2325" b="1">
                <a:solidFill>
                  <a:srgbClr val="087E8B"/>
                </a:solidFill>
                <a:latin typeface="Yu Gothic"/>
                <a:ea typeface="Yu Gothic"/>
                <a:cs typeface="Yu Gothic"/>
              </a:defRPr>
            </a:lvl3pPr>
            <a:lvl4pPr algn="l">
              <a:buNone/>
              <a:defRPr sz="2325" b="1">
                <a:solidFill>
                  <a:srgbClr val="087E8B"/>
                </a:solidFill>
                <a:latin typeface="Yu Gothic"/>
                <a:ea typeface="Yu Gothic"/>
                <a:cs typeface="Yu Gothic"/>
              </a:defRPr>
            </a:lvl4pPr>
            <a:lvl5pPr algn="l">
              <a:buNone/>
              <a:defRPr sz="2325" b="1">
                <a:solidFill>
                  <a:srgbClr val="087E8B"/>
                </a:solidFill>
                <a:latin typeface="Yu Gothic"/>
                <a:ea typeface="Yu Gothic"/>
                <a:cs typeface="Yu Gothic"/>
              </a:defRPr>
            </a:lvl5pPr>
            <a:lvl6pPr algn="l">
              <a:buNone/>
              <a:defRPr sz="2325" b="1">
                <a:solidFill>
                  <a:srgbClr val="087E8B"/>
                </a:solidFill>
                <a:latin typeface="Yu Gothic"/>
                <a:ea typeface="Yu Gothic"/>
                <a:cs typeface="Yu Gothic"/>
              </a:defRPr>
            </a:lvl6pPr>
            <a:lvl7pPr algn="l">
              <a:buNone/>
              <a:defRPr sz="2325" b="1">
                <a:solidFill>
                  <a:srgbClr val="087E8B"/>
                </a:solidFill>
                <a:latin typeface="Yu Gothic"/>
                <a:ea typeface="Yu Gothic"/>
                <a:cs typeface="Yu Gothic"/>
              </a:defRPr>
            </a:lvl7pPr>
            <a:lvl8pPr algn="l">
              <a:buNone/>
              <a:defRPr sz="2325" b="1">
                <a:solidFill>
                  <a:srgbClr val="087E8B"/>
                </a:solidFill>
                <a:latin typeface="Yu Gothic"/>
                <a:ea typeface="Yu Gothic"/>
                <a:cs typeface="Yu Gothic"/>
              </a:defRPr>
            </a:lvl8pPr>
            <a:lvl9pPr algn="l">
              <a:buNone/>
              <a:defRPr sz="2325" b="1">
                <a:solidFill>
                  <a:srgbClr val="087E8B"/>
                </a:solidFill>
                <a:latin typeface="Yu Gothic"/>
                <a:ea typeface="Yu Gothic"/>
                <a:cs typeface="Yu Gothic"/>
              </a:defRPr>
            </a:lvl9pPr>
          </a:lstStyle>
          <a:p xmlns:a="http://schemas.openxmlformats.org/drawingml/2006/main">
            <a:pPr algn="l">
              <a:buNone/>
              <a:defRPr sz="2325" b="1">
                <a:solidFill>
                  <a:srgbClr val="087E8B"/>
                </a:solidFill>
                <a:latin typeface="Yu Gothic"/>
                <a:ea typeface="Yu Gothic"/>
                <a:cs typeface="Yu Gothic"/>
              </a:defRPr>
            </a:pPr>
            <a:r>
              <a:rPr sz="2325" b="1">
                <a:solidFill>
                  <a:srgbClr val="087E8B"/>
                </a:solidFill>
                <a:latin typeface="Yu Gothic"/>
                <a:ea typeface="Yu Gothic"/>
                <a:cs typeface="Yu Gothic"/>
              </a:rPr>
              <a:t>T</a:t>
            </a:r>
          </a:p>
        </p:txBody>
      </p:sp>
      <p:sp>
        <p:nvSpPr>
          <p:cNvPr id="12" name="">
            <a:extLst xmlns:a="http://schemas.openxmlformats.org/drawingml/2006/main">
              <a:ext uri="{FF2B5EF4-FFF2-40B4-BE49-F238E27FC236}">
                <a16:creationId xmlns:a16="http://schemas.microsoft.com/office/drawing/2014/main" id="{3276595E-BB4B-474D-9BAF-CAD4A7A06DB7}"/>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局所の三方向を区別</a:t>
            </a:r>
          </a:p>
        </p:txBody>
      </p:sp>
      <p:sp>
        <p:nvSpPr>
          <p:cNvPr id="13" name="">
            <a:extLst xmlns:a="http://schemas.openxmlformats.org/drawingml/2006/main">
              <a:ext uri="{FF2B5EF4-FFF2-40B4-BE49-F238E27FC236}">
                <a16:creationId xmlns:a16="http://schemas.microsoft.com/office/drawing/2014/main" id="{AF728EE6-6C85-47C1-B389-5B1A6E3256AF}"/>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荷重の方向を重ねる</a:t>
            </a:r>
          </a:p>
        </p:txBody>
      </p:sp>
      <p:sp>
        <p:nvSpPr>
          <p:cNvPr id="14" name="">
            <a:extLst xmlns:a="http://schemas.openxmlformats.org/drawingml/2006/main">
              <a:ext uri="{FF2B5EF4-FFF2-40B4-BE49-F238E27FC236}">
                <a16:creationId xmlns:a16="http://schemas.microsoft.com/office/drawing/2014/main" id="{B982DC86-7220-463C-A91F-EDA236345C20}"/>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試験片の向きも記録</a:t>
            </a:r>
          </a:p>
        </p:txBody>
      </p:sp>
      <p:sp>
        <p:nvSpPr>
          <p:cNvPr id="15" name="">
            <a:extLst xmlns:a="http://schemas.openxmlformats.org/drawingml/2006/main">
              <a:ext uri="{FF2B5EF4-FFF2-40B4-BE49-F238E27FC236}">
                <a16:creationId xmlns:a16="http://schemas.microsoft.com/office/drawing/2014/main" id="{CF0E2728-5E7A-45D3-8034-5F7328EEA5CA}"/>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互いに直交する3軸の投影図</a:t>
            </a:r>
          </a:p>
        </p:txBody>
      </p:sp>
    </p:spTree>
    <p:extLst>
      <p:ext uri="{BB962C8B-B14F-4D97-AF65-F5344CB8AC3E}">
        <p14:creationId xmlns:p14="http://schemas.microsoft.com/office/powerpoint/2010/main" val="19459491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7BC006-148E-45C7-B0F4-7D9BE4E7D2E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材料の向きか、断面の向きか</a:t>
            </a:r>
          </a:p>
        </p:txBody>
      </p:sp>
      <p:sp>
        <p:nvSpPr>
          <p:cNvPr id="2" name="">
            <a:extLst xmlns:a="http://schemas.openxmlformats.org/drawingml/2006/main">
              <a:ext uri="{FF2B5EF4-FFF2-40B4-BE49-F238E27FC236}">
                <a16:creationId xmlns:a16="http://schemas.microsoft.com/office/drawing/2014/main" id="{001FC431-E4F2-4049-B5FE-173647D1ED5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31A354-56CE-4079-A80C-02ED65CB94D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89CA484-4555-4A6A-9E1F-C6B2E00E04C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3846D51F-A559-4A21-AB62-E752CE6E1B90}"/>
              </a:ext>
            </a:extLst>
          </p:cNvPr>
          <p:cNvSpPr>
            <a:spLocks xmlns:a="http://schemas.openxmlformats.org/drawingml/2006/main" noGrp="1"/>
          </p:cNvSpPr>
          <p:nvPr/>
        </p:nvSpPr>
        <p:spPr>
          <a:xfrm xmlns:a="http://schemas.openxmlformats.org/drawingml/2006/main">
            <a:off x="838200" y="1524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形の効果と、材料の方向を分ける</a:t>
            </a:r>
          </a:p>
        </p:txBody>
      </p:sp>
      <p:sp>
        <p:nvSpPr>
          <p:cNvPr id="6" name="">
            <a:extLst xmlns:a="http://schemas.openxmlformats.org/drawingml/2006/main">
              <a:ext uri="{FF2B5EF4-FFF2-40B4-BE49-F238E27FC236}">
                <a16:creationId xmlns:a16="http://schemas.microsoft.com/office/drawing/2014/main" id="{532AC08C-AD1F-40E1-BCAC-58868B09881F}"/>
              </a:ext>
            </a:extLst>
          </p:cNvPr>
          <p:cNvSpPr>
            <a:spLocks xmlns:a="http://schemas.openxmlformats.org/drawingml/2006/main" noGrp="1"/>
          </p:cNvSpPr>
          <p:nvPr/>
        </p:nvSpPr>
        <p:spPr>
          <a:xfrm xmlns:a="http://schemas.openxmlformats.org/drawingml/2006/main">
            <a:off x="838200" y="24098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長さに沿う繊維を保ち、板を寝かす／立てる</a:t>
            </a:r>
          </a:p>
        </p:txBody>
      </p:sp>
      <p:sp>
        <p:nvSpPr>
          <p:cNvPr id="7" name="">
            <a:extLst xmlns:a="http://schemas.openxmlformats.org/drawingml/2006/main">
              <a:ext uri="{FF2B5EF4-FFF2-40B4-BE49-F238E27FC236}">
                <a16:creationId xmlns:a16="http://schemas.microsoft.com/office/drawing/2014/main" id="{B630F4BA-AC1C-4381-9CAC-A1477A2BE7AC}"/>
              </a:ext>
            </a:extLst>
          </p:cNvPr>
          <p:cNvSpPr>
            <a:spLocks xmlns:a="http://schemas.openxmlformats.org/drawingml/2006/main" noGrp="1"/>
          </p:cNvSpPr>
          <p:nvPr/>
        </p:nvSpPr>
        <p:spPr>
          <a:xfrm xmlns:a="http://schemas.openxmlformats.org/drawingml/2006/main">
            <a:off x="838200" y="34766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同じ形で、軸方向応力をL方向／R方向へ加える</a:t>
            </a:r>
          </a:p>
        </p:txBody>
      </p:sp>
      <p:sp>
        <p:nvSpPr>
          <p:cNvPr id="8" name="">
            <a:extLst xmlns:a="http://schemas.openxmlformats.org/drawingml/2006/main">
              <a:ext uri="{FF2B5EF4-FFF2-40B4-BE49-F238E27FC236}">
                <a16:creationId xmlns:a16="http://schemas.microsoft.com/office/drawing/2014/main" id="{1C014CF2-CD6D-4774-90B7-1CED1C8EE4CE}"/>
              </a:ext>
            </a:extLst>
          </p:cNvPr>
          <p:cNvSpPr>
            <a:spLocks xmlns:a="http://schemas.openxmlformats.org/drawingml/2006/main" noGrp="1"/>
          </p:cNvSpPr>
          <p:nvPr/>
        </p:nvSpPr>
        <p:spPr>
          <a:xfrm xmlns:a="http://schemas.openxmlformats.org/drawingml/2006/main">
            <a:off x="838200" y="45434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変えた条件と、そろえる条件を図示する</a:t>
            </a:r>
          </a:p>
        </p:txBody>
      </p:sp>
    </p:spTree>
    <p:extLst>
      <p:ext uri="{BB962C8B-B14F-4D97-AF65-F5344CB8AC3E}">
        <p14:creationId xmlns:p14="http://schemas.microsoft.com/office/powerpoint/2010/main" val="3078868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B2242E-7CE5-4AE6-9DE7-6A80304B30D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CAC29A6C-941A-4DF2-9264-CDB16959A9B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A1C62291-CA05-45A9-AECF-2C54DE7046A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A03D88C4-87F2-4DBD-89A9-6D3093A470D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8</a:t>
            </a:r>
          </a:p>
        </p:txBody>
      </p:sp>
      <p:graphicFrame>
        <p:nvGraphicFramePr>
          <p:cNvPr id="5" name="">
            <a:extLst xmlns:a="http://schemas.openxmlformats.org/drawingml/2006/main">
              <a:ext uri="{FF2B5EF4-FFF2-40B4-BE49-F238E27FC236}">
                <a16:creationId xmlns:a16="http://schemas.microsoft.com/office/drawing/2014/main" id="{EECF020D-0FCA-425E-A1AB-71A0D5095D3F}"/>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869156">
                <a:tc>
                  <a:txBody>
                    <a:bodyPr lIns="95250" tIns="95250" rIns="95250" bIns="95250"/>
                    <a:lstStyle/>
                    <a:p>
                      <a:r>
                        <a:rPr sz="1800" b="1">
                          <a:solidFill>
                            <a:srgbClr val="FFFFFF"/>
                          </a:solidFill>
                          <a:latin typeface="Yu Gothic"/>
                          <a:ea typeface="Yu Gothic"/>
                          <a:cs typeface="Yu Gothic"/>
                        </a:rPr>
                        <a:t>樹種・約12％含水率</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E_T/E_L</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E_R/E_L</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869156">
                <a:tc>
                  <a:txBody>
                    <a:bodyPr lIns="95250" tIns="95250" rIns="95250" bIns="95250"/>
                    <a:lstStyle/>
                    <a:p>
                      <a:r>
                        <a:rPr sz="1800" b="0">
                          <a:solidFill>
                            <a:srgbClr val="253C4D"/>
                          </a:solidFill>
                          <a:latin typeface="Yu Gothic"/>
                          <a:ea typeface="Yu Gothic"/>
                          <a:cs typeface="Yu Gothic"/>
                        </a:rPr>
                        <a:t>Douglas-fir</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0.050</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0.068</a:t>
                      </a:r>
                    </a:p>
                  </a:txBody>
                  <a:tcPr marL="91440" marR="91440" marT="45720" marB="45720" anchor="ctr">
                    <a:lnR w="9525">
                      <a:solidFill>
                        <a:srgbClr val="C8D3DD"/>
                      </a:solidFill>
                    </a:lnR>
                    <a:lnB w="9525">
                      <a:solidFill>
                        <a:srgbClr val="C8D3DD"/>
                      </a:solidFill>
                    </a:lnB>
                    <a:solidFill>
                      <a:srgbClr val="EDF2F6"/>
                    </a:solidFill>
                  </a:tcPr>
                </a:tc>
              </a:tr>
              <a:tr h="869156">
                <a:tc>
                  <a:txBody>
                    <a:bodyPr lIns="95250" tIns="95250" rIns="95250" bIns="95250"/>
                    <a:lstStyle/>
                    <a:p>
                      <a:r>
                        <a:rPr sz="1800" b="0">
                          <a:solidFill>
                            <a:srgbClr val="253C4D"/>
                          </a:solidFill>
                          <a:latin typeface="Yu Gothic"/>
                          <a:ea typeface="Yu Gothic"/>
                          <a:cs typeface="Yu Gothic"/>
                        </a:rPr>
                        <a:t>Sitka spruce</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0.043</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0.078</a:t>
                      </a:r>
                    </a:p>
                  </a:txBody>
                  <a:tcPr marL="91440" marR="91440" marT="45720" marB="45720" anchor="ctr">
                    <a:lnR w="9525">
                      <a:solidFill>
                        <a:srgbClr val="C8D3DD"/>
                      </a:solidFill>
                    </a:lnR>
                    <a:lnB w="9525">
                      <a:solidFill>
                        <a:srgbClr val="C8D3DD"/>
                      </a:solidFill>
                    </a:lnB>
                    <a:solidFill>
                      <a:srgbClr val="FFFFFF"/>
                    </a:solidFill>
                  </a:tcPr>
                </a:tc>
              </a:tr>
              <a:tr h="869156">
                <a:tc>
                  <a:txBody>
                    <a:bodyPr lIns="95250" tIns="95250" rIns="95250" bIns="95250"/>
                    <a:lstStyle/>
                    <a:p>
                      <a:r>
                        <a:rPr sz="1800" b="0">
                          <a:solidFill>
                            <a:srgbClr val="253C4D"/>
                          </a:solidFill>
                          <a:latin typeface="Yu Gothic"/>
                          <a:ea typeface="Yu Gothic"/>
                          <a:cs typeface="Yu Gothic"/>
                        </a:rPr>
                        <a:t>比較する量</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方向別の弾性率</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強度の比ではない</a:t>
                      </a:r>
                    </a:p>
                  </a:txBody>
                  <a:tcPr marL="91440" marR="91440" marT="45720" marB="45720" anchor="ctr">
                    <a:lnR w="9525">
                      <a:solidFill>
                        <a:srgbClr val="C8D3DD"/>
                      </a:solidFill>
                    </a:lnR>
                    <a:lnB w="9525">
                      <a:solidFill>
                        <a:srgbClr val="C8D3DD"/>
                      </a:solidFill>
                    </a:lnB>
                    <a:solidFill>
                      <a:srgbClr val="EDF2F6"/>
                    </a:solidFill>
                  </a:tcPr>
                </a:tc>
              </a:tr>
            </a:tbl>
          </a:graphicData>
        </a:graphic>
      </p:graphicFrame>
      <p:sp>
        <p:nvSpPr>
          <p:cNvPr id="6" name="">
            <a:extLst xmlns:a="http://schemas.openxmlformats.org/drawingml/2006/main">
              <a:ext uri="{FF2B5EF4-FFF2-40B4-BE49-F238E27FC236}">
                <a16:creationId xmlns:a16="http://schemas.microsoft.com/office/drawing/2014/main" id="{7C10B57C-8402-41E5-9130-98B31259D9DF}"/>
              </a:ext>
            </a:extLst>
          </p:cNvPr>
          <p:cNvSpPr>
            <a:spLocks xmlns:a="http://schemas.openxmlformats.org/drawingml/2006/main" noGrp="1"/>
          </p:cNvSpPr>
          <p:nvPr/>
        </p:nvSpPr>
        <p:spPr>
          <a:xfrm xmlns:a="http://schemas.openxmlformats.org/drawingml/2006/main">
            <a:off x="685800" y="58293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D6C78"/>
                </a:solidFill>
                <a:latin typeface="Yu Gothic"/>
                <a:ea typeface="Yu Gothic"/>
                <a:cs typeface="Yu Gothic"/>
              </a:defRPr>
            </a:defPPr>
            <a:lvl1pPr algn="l">
              <a:buNone/>
              <a:defRPr sz="1800" b="0">
                <a:solidFill>
                  <a:srgbClr val="5D6C78"/>
                </a:solidFill>
                <a:latin typeface="Yu Gothic"/>
                <a:ea typeface="Yu Gothic"/>
                <a:cs typeface="Yu Gothic"/>
              </a:defRPr>
            </a:lvl1pPr>
            <a:lvl2pPr algn="l">
              <a:buNone/>
              <a:defRPr sz="1800" b="0">
                <a:solidFill>
                  <a:srgbClr val="5D6C78"/>
                </a:solidFill>
                <a:latin typeface="Yu Gothic"/>
                <a:ea typeface="Yu Gothic"/>
                <a:cs typeface="Yu Gothic"/>
              </a:defRPr>
            </a:lvl2pPr>
            <a:lvl3pPr algn="l">
              <a:buNone/>
              <a:defRPr sz="1800" b="0">
                <a:solidFill>
                  <a:srgbClr val="5D6C78"/>
                </a:solidFill>
                <a:latin typeface="Yu Gothic"/>
                <a:ea typeface="Yu Gothic"/>
                <a:cs typeface="Yu Gothic"/>
              </a:defRPr>
            </a:lvl3pPr>
            <a:lvl4pPr algn="l">
              <a:buNone/>
              <a:defRPr sz="1800" b="0">
                <a:solidFill>
                  <a:srgbClr val="5D6C78"/>
                </a:solidFill>
                <a:latin typeface="Yu Gothic"/>
                <a:ea typeface="Yu Gothic"/>
                <a:cs typeface="Yu Gothic"/>
              </a:defRPr>
            </a:lvl4pPr>
            <a:lvl5pPr algn="l">
              <a:buNone/>
              <a:defRPr sz="1800" b="0">
                <a:solidFill>
                  <a:srgbClr val="5D6C78"/>
                </a:solidFill>
                <a:latin typeface="Yu Gothic"/>
                <a:ea typeface="Yu Gothic"/>
                <a:cs typeface="Yu Gothic"/>
              </a:defRPr>
            </a:lvl5pPr>
            <a:lvl6pPr algn="l">
              <a:buNone/>
              <a:defRPr sz="1800" b="0">
                <a:solidFill>
                  <a:srgbClr val="5D6C78"/>
                </a:solidFill>
                <a:latin typeface="Yu Gothic"/>
                <a:ea typeface="Yu Gothic"/>
                <a:cs typeface="Yu Gothic"/>
              </a:defRPr>
            </a:lvl6pPr>
            <a:lvl7pPr algn="l">
              <a:buNone/>
              <a:defRPr sz="1800" b="0">
                <a:solidFill>
                  <a:srgbClr val="5D6C78"/>
                </a:solidFill>
                <a:latin typeface="Yu Gothic"/>
                <a:ea typeface="Yu Gothic"/>
                <a:cs typeface="Yu Gothic"/>
              </a:defRPr>
            </a:lvl7pPr>
            <a:lvl8pPr algn="l">
              <a:buNone/>
              <a:defRPr sz="1800" b="0">
                <a:solidFill>
                  <a:srgbClr val="5D6C78"/>
                </a:solidFill>
                <a:latin typeface="Yu Gothic"/>
                <a:ea typeface="Yu Gothic"/>
                <a:cs typeface="Yu Gothic"/>
              </a:defRPr>
            </a:lvl8pPr>
            <a:lvl9pPr algn="l">
              <a:buNone/>
              <a:defRPr sz="1800" b="0">
                <a:solidFill>
                  <a:srgbClr val="5D6C78"/>
                </a:solidFill>
                <a:latin typeface="Yu Gothic"/>
                <a:ea typeface="Yu Gothic"/>
                <a:cs typeface="Yu Gothic"/>
              </a:defRPr>
            </a:lvl9pPr>
          </a:lstStyle>
          <a:p xmlns:a="http://schemas.openxmlformats.org/drawingml/2006/main">
            <a:pPr algn="l">
              <a:buNone/>
              <a:defRPr sz="1800" b="0">
                <a:solidFill>
                  <a:srgbClr val="5D6C78"/>
                </a:solidFill>
                <a:latin typeface="Yu Gothic"/>
                <a:ea typeface="Yu Gothic"/>
                <a:cs typeface="Yu Gothic"/>
              </a:defRPr>
            </a:pPr>
            <a:r>
              <a:rPr sz="1800" b="0">
                <a:solidFill>
                  <a:srgbClr val="5D6C78"/>
                </a:solidFill>
                <a:latin typeface="Yu Gothic"/>
                <a:ea typeface="Yu Gothic"/>
                <a:cs typeface="Yu Gothic"/>
              </a:rPr>
              <a:t>出典：Wood Handbook（2021）Table 5–1、5–2頁。含水率約12％。</a:t>
            </a:r>
          </a:p>
        </p:txBody>
      </p:sp>
    </p:spTree>
    <p:extLst>
      <p:ext uri="{BB962C8B-B14F-4D97-AF65-F5344CB8AC3E}">
        <p14:creationId xmlns:p14="http://schemas.microsoft.com/office/powerpoint/2010/main" val="16288894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80E896-09B2-4BDD-81F3-E97BDBA6B8B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同じ応力でのひずみ比</a:t>
            </a:r>
          </a:p>
        </p:txBody>
      </p:sp>
      <p:sp>
        <p:nvSpPr>
          <p:cNvPr id="2" name="">
            <a:extLst xmlns:a="http://schemas.openxmlformats.org/drawingml/2006/main">
              <a:ext uri="{FF2B5EF4-FFF2-40B4-BE49-F238E27FC236}">
                <a16:creationId xmlns:a16="http://schemas.microsoft.com/office/drawing/2014/main" id="{B6B183CE-4B44-499C-AD57-03E4E4F548B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70BDC4-CDF1-4398-AF07-078C4B01B52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FBEB823C-06B0-408B-8180-648ED27DCFF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53689EA2-37C5-427F-A04C-B15E8E3990B1}"/>
              </a:ext>
            </a:extLst>
          </p:cNvPr>
          <p:cNvSpPr>
            <a:spLocks xmlns:a="http://schemas.openxmlformats.org/drawingml/2006/main" noGrp="1"/>
          </p:cNvSpPr>
          <p:nvPr/>
        </p:nvSpPr>
        <p:spPr>
          <a:xfrm xmlns:a="http://schemas.openxmlformats.org/drawingml/2006/main">
            <a:off x="838200" y="17526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buNone/>
              <a:defRPr sz="2400" b="0">
                <a:solidFill>
                  <a:srgbClr val="253C4D"/>
                </a:solidFill>
                <a:latin typeface="Yu Gothic"/>
                <a:ea typeface="Yu Gothic"/>
                <a:cs typeface="Yu Gothic"/>
              </a:defRPr>
            </a:lvl1pPr>
            <a:lvl2pPr>
              <a:buNone/>
              <a:defRPr sz="2400" b="0">
                <a:solidFill>
                  <a:srgbClr val="253C4D"/>
                </a:solidFill>
                <a:latin typeface="Yu Gothic"/>
                <a:ea typeface="Yu Gothic"/>
                <a:cs typeface="Yu Gothic"/>
              </a:defRPr>
            </a:lvl2pPr>
            <a:lvl3pPr>
              <a:buNone/>
              <a:defRPr sz="2400" b="0">
                <a:solidFill>
                  <a:srgbClr val="253C4D"/>
                </a:solidFill>
                <a:latin typeface="Yu Gothic"/>
                <a:ea typeface="Yu Gothic"/>
                <a:cs typeface="Yu Gothic"/>
              </a:defRPr>
            </a:lvl3pPr>
            <a:lvl4pPr>
              <a:buNone/>
              <a:defRPr sz="2400" b="0">
                <a:solidFill>
                  <a:srgbClr val="253C4D"/>
                </a:solidFill>
                <a:latin typeface="Yu Gothic"/>
                <a:ea typeface="Yu Gothic"/>
                <a:cs typeface="Yu Gothic"/>
              </a:defRPr>
            </a:lvl4pPr>
            <a:lvl5pPr>
              <a:buNone/>
              <a:defRPr sz="2400" b="0">
                <a:solidFill>
                  <a:srgbClr val="253C4D"/>
                </a:solidFill>
                <a:latin typeface="Yu Gothic"/>
                <a:ea typeface="Yu Gothic"/>
                <a:cs typeface="Yu Gothic"/>
              </a:defRPr>
            </a:lvl5pPr>
            <a:lvl6pPr>
              <a:buNone/>
              <a:defRPr sz="2400" b="0">
                <a:solidFill>
                  <a:srgbClr val="253C4D"/>
                </a:solidFill>
                <a:latin typeface="Yu Gothic"/>
                <a:ea typeface="Yu Gothic"/>
                <a:cs typeface="Yu Gothic"/>
              </a:defRPr>
            </a:lvl6pPr>
            <a:lvl7pPr>
              <a:buNone/>
              <a:defRPr sz="2400" b="0">
                <a:solidFill>
                  <a:srgbClr val="253C4D"/>
                </a:solidFill>
                <a:latin typeface="Yu Gothic"/>
                <a:ea typeface="Yu Gothic"/>
                <a:cs typeface="Yu Gothic"/>
              </a:defRPr>
            </a:lvl7pPr>
            <a:lvl8pPr>
              <a:buNone/>
              <a:defRPr sz="2400" b="0">
                <a:solidFill>
                  <a:srgbClr val="253C4D"/>
                </a:solidFill>
                <a:latin typeface="Yu Gothic"/>
                <a:ea typeface="Yu Gothic"/>
                <a:cs typeface="Yu Gothic"/>
              </a:defRPr>
            </a:lvl8pPr>
            <a:lvl9pPr>
              <a:buNone/>
              <a:defRPr sz="2400" b="0">
                <a:solidFill>
                  <a:srgbClr val="253C4D"/>
                </a:solidFill>
                <a:latin typeface="Yu Gothic"/>
                <a:ea typeface="Yu Gothic"/>
                <a:cs typeface="Yu Gothic"/>
              </a:defRPr>
            </a:lvl9pPr>
          </a:lstStyle>
          <a:p xmlns:a="http://schemas.openxmlformats.org/drawingml/2006/main">
            <a:pPr>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ε_R/ε_L = (σ/E_R)/(σ/E_L) = E_L/E_R</a:t>
            </a:r>
          </a:p>
        </p:txBody>
      </p:sp>
      <p:sp>
        <p:nvSpPr>
          <p:cNvPr id="6" name="">
            <a:extLst xmlns:a="http://schemas.openxmlformats.org/drawingml/2006/main">
              <a:ext uri="{FF2B5EF4-FFF2-40B4-BE49-F238E27FC236}">
                <a16:creationId xmlns:a16="http://schemas.microsoft.com/office/drawing/2014/main" id="{7439C0CF-AEC3-46E6-839E-FEFE166FBBEF}"/>
              </a:ext>
            </a:extLst>
          </p:cNvPr>
          <p:cNvSpPr>
            <a:spLocks xmlns:a="http://schemas.openxmlformats.org/drawingml/2006/main" noGrp="1"/>
          </p:cNvSpPr>
          <p:nvPr/>
        </p:nvSpPr>
        <p:spPr>
          <a:xfrm xmlns:a="http://schemas.openxmlformats.org/drawingml/2006/main">
            <a:off x="838200" y="27241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buNone/>
              <a:defRPr sz="2400" b="0">
                <a:solidFill>
                  <a:srgbClr val="253C4D"/>
                </a:solidFill>
                <a:latin typeface="Yu Gothic"/>
                <a:ea typeface="Yu Gothic"/>
                <a:cs typeface="Yu Gothic"/>
              </a:defRPr>
            </a:lvl1pPr>
            <a:lvl2pPr>
              <a:buNone/>
              <a:defRPr sz="2400" b="0">
                <a:solidFill>
                  <a:srgbClr val="253C4D"/>
                </a:solidFill>
                <a:latin typeface="Yu Gothic"/>
                <a:ea typeface="Yu Gothic"/>
                <a:cs typeface="Yu Gothic"/>
              </a:defRPr>
            </a:lvl2pPr>
            <a:lvl3pPr>
              <a:buNone/>
              <a:defRPr sz="2400" b="0">
                <a:solidFill>
                  <a:srgbClr val="253C4D"/>
                </a:solidFill>
                <a:latin typeface="Yu Gothic"/>
                <a:ea typeface="Yu Gothic"/>
                <a:cs typeface="Yu Gothic"/>
              </a:defRPr>
            </a:lvl3pPr>
            <a:lvl4pPr>
              <a:buNone/>
              <a:defRPr sz="2400" b="0">
                <a:solidFill>
                  <a:srgbClr val="253C4D"/>
                </a:solidFill>
                <a:latin typeface="Yu Gothic"/>
                <a:ea typeface="Yu Gothic"/>
                <a:cs typeface="Yu Gothic"/>
              </a:defRPr>
            </a:lvl4pPr>
            <a:lvl5pPr>
              <a:buNone/>
              <a:defRPr sz="2400" b="0">
                <a:solidFill>
                  <a:srgbClr val="253C4D"/>
                </a:solidFill>
                <a:latin typeface="Yu Gothic"/>
                <a:ea typeface="Yu Gothic"/>
                <a:cs typeface="Yu Gothic"/>
              </a:defRPr>
            </a:lvl5pPr>
            <a:lvl6pPr>
              <a:buNone/>
              <a:defRPr sz="2400" b="0">
                <a:solidFill>
                  <a:srgbClr val="253C4D"/>
                </a:solidFill>
                <a:latin typeface="Yu Gothic"/>
                <a:ea typeface="Yu Gothic"/>
                <a:cs typeface="Yu Gothic"/>
              </a:defRPr>
            </a:lvl6pPr>
            <a:lvl7pPr>
              <a:buNone/>
              <a:defRPr sz="2400" b="0">
                <a:solidFill>
                  <a:srgbClr val="253C4D"/>
                </a:solidFill>
                <a:latin typeface="Yu Gothic"/>
                <a:ea typeface="Yu Gothic"/>
                <a:cs typeface="Yu Gothic"/>
              </a:defRPr>
            </a:lvl7pPr>
            <a:lvl8pPr>
              <a:buNone/>
              <a:defRPr sz="2400" b="0">
                <a:solidFill>
                  <a:srgbClr val="253C4D"/>
                </a:solidFill>
                <a:latin typeface="Yu Gothic"/>
                <a:ea typeface="Yu Gothic"/>
                <a:cs typeface="Yu Gothic"/>
              </a:defRPr>
            </a:lvl8pPr>
            <a:lvl9pPr>
              <a:buNone/>
              <a:defRPr sz="2400" b="0">
                <a:solidFill>
                  <a:srgbClr val="253C4D"/>
                </a:solidFill>
                <a:latin typeface="Yu Gothic"/>
                <a:ea typeface="Yu Gothic"/>
                <a:cs typeface="Yu Gothic"/>
              </a:defRPr>
            </a:lvl9pPr>
          </a:lstStyle>
          <a:p xmlns:a="http://schemas.openxmlformats.org/drawingml/2006/main">
            <a:pPr>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Douglas-fir：1/0.068 ≈ 14.7</a:t>
            </a:r>
          </a:p>
        </p:txBody>
      </p:sp>
      <p:sp>
        <p:nvSpPr>
          <p:cNvPr id="7" name="">
            <a:extLst xmlns:a="http://schemas.openxmlformats.org/drawingml/2006/main">
              <a:ext uri="{FF2B5EF4-FFF2-40B4-BE49-F238E27FC236}">
                <a16:creationId xmlns:a16="http://schemas.microsoft.com/office/drawing/2014/main" id="{621AFC9C-BD9D-4A33-BD05-B5E7FE8F14A1}"/>
              </a:ext>
            </a:extLst>
          </p:cNvPr>
          <p:cNvSpPr>
            <a:spLocks xmlns:a="http://schemas.openxmlformats.org/drawingml/2006/main" noGrp="1"/>
          </p:cNvSpPr>
          <p:nvPr/>
        </p:nvSpPr>
        <p:spPr>
          <a:xfrm xmlns:a="http://schemas.openxmlformats.org/drawingml/2006/main">
            <a:off x="838200" y="36957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buNone/>
              <a:defRPr sz="2400" b="0">
                <a:solidFill>
                  <a:srgbClr val="253C4D"/>
                </a:solidFill>
                <a:latin typeface="Yu Gothic"/>
                <a:ea typeface="Yu Gothic"/>
                <a:cs typeface="Yu Gothic"/>
              </a:defRPr>
            </a:lvl1pPr>
            <a:lvl2pPr>
              <a:buNone/>
              <a:defRPr sz="2400" b="0">
                <a:solidFill>
                  <a:srgbClr val="253C4D"/>
                </a:solidFill>
                <a:latin typeface="Yu Gothic"/>
                <a:ea typeface="Yu Gothic"/>
                <a:cs typeface="Yu Gothic"/>
              </a:defRPr>
            </a:lvl2pPr>
            <a:lvl3pPr>
              <a:buNone/>
              <a:defRPr sz="2400" b="0">
                <a:solidFill>
                  <a:srgbClr val="253C4D"/>
                </a:solidFill>
                <a:latin typeface="Yu Gothic"/>
                <a:ea typeface="Yu Gothic"/>
                <a:cs typeface="Yu Gothic"/>
              </a:defRPr>
            </a:lvl3pPr>
            <a:lvl4pPr>
              <a:buNone/>
              <a:defRPr sz="2400" b="0">
                <a:solidFill>
                  <a:srgbClr val="253C4D"/>
                </a:solidFill>
                <a:latin typeface="Yu Gothic"/>
                <a:ea typeface="Yu Gothic"/>
                <a:cs typeface="Yu Gothic"/>
              </a:defRPr>
            </a:lvl4pPr>
            <a:lvl5pPr>
              <a:buNone/>
              <a:defRPr sz="2400" b="0">
                <a:solidFill>
                  <a:srgbClr val="253C4D"/>
                </a:solidFill>
                <a:latin typeface="Yu Gothic"/>
                <a:ea typeface="Yu Gothic"/>
                <a:cs typeface="Yu Gothic"/>
              </a:defRPr>
            </a:lvl5pPr>
            <a:lvl6pPr>
              <a:buNone/>
              <a:defRPr sz="2400" b="0">
                <a:solidFill>
                  <a:srgbClr val="253C4D"/>
                </a:solidFill>
                <a:latin typeface="Yu Gothic"/>
                <a:ea typeface="Yu Gothic"/>
                <a:cs typeface="Yu Gothic"/>
              </a:defRPr>
            </a:lvl6pPr>
            <a:lvl7pPr>
              <a:buNone/>
              <a:defRPr sz="2400" b="0">
                <a:solidFill>
                  <a:srgbClr val="253C4D"/>
                </a:solidFill>
                <a:latin typeface="Yu Gothic"/>
                <a:ea typeface="Yu Gothic"/>
                <a:cs typeface="Yu Gothic"/>
              </a:defRPr>
            </a:lvl7pPr>
            <a:lvl8pPr>
              <a:buNone/>
              <a:defRPr sz="2400" b="0">
                <a:solidFill>
                  <a:srgbClr val="253C4D"/>
                </a:solidFill>
                <a:latin typeface="Yu Gothic"/>
                <a:ea typeface="Yu Gothic"/>
                <a:cs typeface="Yu Gothic"/>
              </a:defRPr>
            </a:lvl8pPr>
            <a:lvl9pPr>
              <a:buNone/>
              <a:defRPr sz="2400" b="0">
                <a:solidFill>
                  <a:srgbClr val="253C4D"/>
                </a:solidFill>
                <a:latin typeface="Yu Gothic"/>
                <a:ea typeface="Yu Gothic"/>
                <a:cs typeface="Yu Gothic"/>
              </a:defRPr>
            </a:lvl9pPr>
          </a:lstStyle>
          <a:p xmlns:a="http://schemas.openxmlformats.org/drawingml/2006/main">
            <a:pPr>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ε_T/ε_L = 1/0.050 = 20</a:t>
            </a:r>
          </a:p>
        </p:txBody>
      </p:sp>
      <p:sp>
        <p:nvSpPr>
          <p:cNvPr id="8" name="">
            <a:extLst xmlns:a="http://schemas.openxmlformats.org/drawingml/2006/main">
              <a:ext uri="{FF2B5EF4-FFF2-40B4-BE49-F238E27FC236}">
                <a16:creationId xmlns:a16="http://schemas.microsoft.com/office/drawing/2014/main" id="{5D336237-5720-4874-8D5F-28053E538DAD}"/>
              </a:ext>
            </a:extLst>
          </p:cNvPr>
          <p:cNvSpPr>
            <a:spLocks xmlns:a="http://schemas.openxmlformats.org/drawingml/2006/main" noGrp="1"/>
          </p:cNvSpPr>
          <p:nvPr/>
        </p:nvSpPr>
        <p:spPr>
          <a:xfrm xmlns:a="http://schemas.openxmlformats.org/drawingml/2006/main">
            <a:off x="838200" y="46672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buNone/>
              <a:defRPr sz="2400" b="0">
                <a:solidFill>
                  <a:srgbClr val="253C4D"/>
                </a:solidFill>
                <a:latin typeface="Yu Gothic"/>
                <a:ea typeface="Yu Gothic"/>
                <a:cs typeface="Yu Gothic"/>
              </a:defRPr>
            </a:lvl1pPr>
            <a:lvl2pPr>
              <a:buNone/>
              <a:defRPr sz="2400" b="0">
                <a:solidFill>
                  <a:srgbClr val="253C4D"/>
                </a:solidFill>
                <a:latin typeface="Yu Gothic"/>
                <a:ea typeface="Yu Gothic"/>
                <a:cs typeface="Yu Gothic"/>
              </a:defRPr>
            </a:lvl2pPr>
            <a:lvl3pPr>
              <a:buNone/>
              <a:defRPr sz="2400" b="0">
                <a:solidFill>
                  <a:srgbClr val="253C4D"/>
                </a:solidFill>
                <a:latin typeface="Yu Gothic"/>
                <a:ea typeface="Yu Gothic"/>
                <a:cs typeface="Yu Gothic"/>
              </a:defRPr>
            </a:lvl3pPr>
            <a:lvl4pPr>
              <a:buNone/>
              <a:defRPr sz="2400" b="0">
                <a:solidFill>
                  <a:srgbClr val="253C4D"/>
                </a:solidFill>
                <a:latin typeface="Yu Gothic"/>
                <a:ea typeface="Yu Gothic"/>
                <a:cs typeface="Yu Gothic"/>
              </a:defRPr>
            </a:lvl4pPr>
            <a:lvl5pPr>
              <a:buNone/>
              <a:defRPr sz="2400" b="0">
                <a:solidFill>
                  <a:srgbClr val="253C4D"/>
                </a:solidFill>
                <a:latin typeface="Yu Gothic"/>
                <a:ea typeface="Yu Gothic"/>
                <a:cs typeface="Yu Gothic"/>
              </a:defRPr>
            </a:lvl5pPr>
            <a:lvl6pPr>
              <a:buNone/>
              <a:defRPr sz="2400" b="0">
                <a:solidFill>
                  <a:srgbClr val="253C4D"/>
                </a:solidFill>
                <a:latin typeface="Yu Gothic"/>
                <a:ea typeface="Yu Gothic"/>
                <a:cs typeface="Yu Gothic"/>
              </a:defRPr>
            </a:lvl6pPr>
            <a:lvl7pPr>
              <a:buNone/>
              <a:defRPr sz="2400" b="0">
                <a:solidFill>
                  <a:srgbClr val="253C4D"/>
                </a:solidFill>
                <a:latin typeface="Yu Gothic"/>
                <a:ea typeface="Yu Gothic"/>
                <a:cs typeface="Yu Gothic"/>
              </a:defRPr>
            </a:lvl7pPr>
            <a:lvl8pPr>
              <a:buNone/>
              <a:defRPr sz="2400" b="0">
                <a:solidFill>
                  <a:srgbClr val="253C4D"/>
                </a:solidFill>
                <a:latin typeface="Yu Gothic"/>
                <a:ea typeface="Yu Gothic"/>
                <a:cs typeface="Yu Gothic"/>
              </a:defRPr>
            </a:lvl8pPr>
            <a:lvl9pPr>
              <a:buNone/>
              <a:defRPr sz="2400" b="0">
                <a:solidFill>
                  <a:srgbClr val="253C4D"/>
                </a:solidFill>
                <a:latin typeface="Yu Gothic"/>
                <a:ea typeface="Yu Gothic"/>
                <a:cs typeface="Yu Gothic"/>
              </a:defRPr>
            </a:lvl9pPr>
          </a:lstStyle>
          <a:p xmlns:a="http://schemas.openxmlformats.org/drawingml/2006/main">
            <a:pPr>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各方向とも線形弾性の範囲を保つ、同じ小さな軸方向応力</a:t>
            </a:r>
          </a:p>
        </p:txBody>
      </p:sp>
    </p:spTree>
    <p:extLst>
      <p:ext uri="{BB962C8B-B14F-4D97-AF65-F5344CB8AC3E}">
        <p14:creationId xmlns:p14="http://schemas.microsoft.com/office/powerpoint/2010/main" val="4088597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73B51B-D415-4E25-A821-A171381D3A3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方向別のひずみの比較</a:t>
            </a:r>
          </a:p>
        </p:txBody>
      </p:sp>
      <p:cxnSp>
        <p:nvCxnSpPr>
          <p:cNvPr id="2" name="">
            <a:extLst xmlns:a="http://schemas.openxmlformats.org/drawingml/2006/main">
              <a:ext uri="{FF2B5EF4-FFF2-40B4-BE49-F238E27FC236}">
                <a16:creationId xmlns:a16="http://schemas.microsoft.com/office/drawing/2014/main" id="{A7092939-613C-4AF5-9B63-A211DB5736D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A71CA82-8AD5-4BC8-A552-AF83C03412D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1ED71658-5699-4AB0-8384-664ABA21EC0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F5126347-A97B-4A1C-B677-ACC5506C526E}"/>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Douglas-firの表の比を使い、L・R・Tを比較</a:t>
            </a:r>
          </a:p>
        </p:txBody>
      </p:sp>
      <p:sp>
        <p:nvSpPr>
          <p:cNvPr id="6" name="">
            <a:extLst xmlns:a="http://schemas.openxmlformats.org/drawingml/2006/main">
              <a:ext uri="{FF2B5EF4-FFF2-40B4-BE49-F238E27FC236}">
                <a16:creationId xmlns:a16="http://schemas.microsoft.com/office/drawing/2014/main" id="{CEE5AB6B-2C6E-4AB7-9CCA-85645D617C93}"/>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同じ小さな軸方向応力を各方向へ加えるモデル</a:t>
            </a:r>
          </a:p>
        </p:txBody>
      </p:sp>
      <p:sp>
        <p:nvSpPr>
          <p:cNvPr id="7" name="">
            <a:extLst xmlns:a="http://schemas.openxmlformats.org/drawingml/2006/main">
              <a:ext uri="{FF2B5EF4-FFF2-40B4-BE49-F238E27FC236}">
                <a16:creationId xmlns:a16="http://schemas.microsoft.com/office/drawing/2014/main" id="{9D30A6B6-0B0D-471E-B4E8-DB9A7E4C557F}"/>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ε = σ/Eから、R/L・T/Lのひずみ比を求める</a:t>
            </a:r>
          </a:p>
        </p:txBody>
      </p:sp>
      <p:sp>
        <p:nvSpPr>
          <p:cNvPr id="8" name="">
            <a:extLst xmlns:a="http://schemas.openxmlformats.org/drawingml/2006/main">
              <a:ext uri="{FF2B5EF4-FFF2-40B4-BE49-F238E27FC236}">
                <a16:creationId xmlns:a16="http://schemas.microsoft.com/office/drawing/2014/main" id="{12E5D113-FCDD-4807-92C4-056FADBFB6EF}"/>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節の位置と荷重方向は、別の図でも確認する</a:t>
            </a:r>
          </a:p>
        </p:txBody>
      </p:sp>
    </p:spTree>
    <p:extLst>
      <p:ext uri="{BB962C8B-B14F-4D97-AF65-F5344CB8AC3E}">
        <p14:creationId xmlns:p14="http://schemas.microsoft.com/office/powerpoint/2010/main" val="9173098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1DC96D-735F-4212-B73E-FB92B21D798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方向別のひずみの比較</a:t>
            </a:r>
          </a:p>
        </p:txBody>
      </p:sp>
      <p:cxnSp>
        <p:nvCxnSpPr>
          <p:cNvPr id="2" name="">
            <a:extLst xmlns:a="http://schemas.openxmlformats.org/drawingml/2006/main">
              <a:ext uri="{FF2B5EF4-FFF2-40B4-BE49-F238E27FC236}">
                <a16:creationId xmlns:a16="http://schemas.microsoft.com/office/drawing/2014/main" id="{32D2DC37-BE21-43D3-A001-6092C462464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454C261C-10F6-4AB1-9BA4-98A8AE6CC2C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FA71482D-E4F8-4866-AC88-D11BCF2CDC0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282F7CA4-1FA3-475B-9676-17CE9E026CC7}"/>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同じ応力・線形弾性の範囲で、R/Lは約14.7、T/Lは20</a:t>
            </a:r>
          </a:p>
        </p:txBody>
      </p:sp>
      <p:sp>
        <p:nvSpPr>
          <p:cNvPr id="6" name="">
            <a:extLst xmlns:a="http://schemas.openxmlformats.org/drawingml/2006/main">
              <a:ext uri="{FF2B5EF4-FFF2-40B4-BE49-F238E27FC236}">
                <a16:creationId xmlns:a16="http://schemas.microsoft.com/office/drawing/2014/main" id="{3F9C929F-01D7-41FC-A53C-052004DAF9A3}"/>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配列の向きと、変形しやすさを結び付ける</a:t>
            </a:r>
          </a:p>
        </p:txBody>
      </p:sp>
      <p:sp>
        <p:nvSpPr>
          <p:cNvPr id="7" name="">
            <a:extLst xmlns:a="http://schemas.openxmlformats.org/drawingml/2006/main">
              <a:ext uri="{FF2B5EF4-FFF2-40B4-BE49-F238E27FC236}">
                <a16:creationId xmlns:a16="http://schemas.microsoft.com/office/drawing/2014/main" id="{4B3B8C90-1A1D-4D26-804A-E425A4FFAF93}"/>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Eの比を、そのまま強度の比に使わない</a:t>
            </a:r>
          </a:p>
        </p:txBody>
      </p:sp>
    </p:spTree>
    <p:extLst>
      <p:ext uri="{BB962C8B-B14F-4D97-AF65-F5344CB8AC3E}">
        <p14:creationId xmlns:p14="http://schemas.microsoft.com/office/powerpoint/2010/main" val="277456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5992D8-8D8A-42C4-B532-709A417D09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D1E34FD3-1DF6-4457-A4AE-5C4E3F292F3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4B88F5-1D59-4E00-9856-85F42BA8012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041736F8-3A3F-4278-B90E-93323B0DE86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80DC9D56-6CAC-4DD8-9380-02AB38EC35B6}"/>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8A743A66-36D6-40F0-A5B9-16F3AA552C47}"/>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2167F0A7-E3DA-4408-BF57-82478D6F8572}"/>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0F60E7E2-837A-49E9-9E93-F2D29E5A3FAE}"/>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同じひずみで必要な応力へ進みます。</a:t>
            </a:r>
          </a:p>
        </p:txBody>
      </p:sp>
    </p:spTree>
    <p:extLst>
      <p:ext uri="{BB962C8B-B14F-4D97-AF65-F5344CB8AC3E}">
        <p14:creationId xmlns:p14="http://schemas.microsoft.com/office/powerpoint/2010/main" val="6507707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EC9B33-E5B0-4F20-8F68-2090E5C6785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同じひずみで必要な応力</a:t>
            </a:r>
          </a:p>
        </p:txBody>
      </p:sp>
      <p:sp>
        <p:nvSpPr>
          <p:cNvPr id="2" name="">
            <a:extLst xmlns:a="http://schemas.openxmlformats.org/drawingml/2006/main">
              <a:ext uri="{FF2B5EF4-FFF2-40B4-BE49-F238E27FC236}">
                <a16:creationId xmlns:a16="http://schemas.microsoft.com/office/drawing/2014/main" id="{E25449ED-2F63-43A5-A245-018AC7824FE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8886C4-5EAD-4F66-A7B2-DE1EBCC9456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1239A634-F81F-4004-9B6B-1E61D1A5D5B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0D226969-015B-4396-A7B1-C3872C1DE9B3}"/>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同じ小さいεをL・R・T方向へ与える</a:t>
            </a:r>
          </a:p>
        </p:txBody>
      </p:sp>
      <p:sp>
        <p:nvSpPr>
          <p:cNvPr id="6" name="">
            <a:extLst xmlns:a="http://schemas.openxmlformats.org/drawingml/2006/main">
              <a:ext uri="{FF2B5EF4-FFF2-40B4-BE49-F238E27FC236}">
                <a16:creationId xmlns:a16="http://schemas.microsoft.com/office/drawing/2014/main" id="{AEEC40F9-2652-4DF0-856D-BA7D3F21A949}"/>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σ_R/σ_L = (E_R ε)/(E_L ε)</a:t>
            </a:r>
          </a:p>
        </p:txBody>
      </p:sp>
      <p:sp>
        <p:nvSpPr>
          <p:cNvPr id="7" name="">
            <a:extLst xmlns:a="http://schemas.openxmlformats.org/drawingml/2006/main">
              <a:ext uri="{FF2B5EF4-FFF2-40B4-BE49-F238E27FC236}">
                <a16:creationId xmlns:a16="http://schemas.microsoft.com/office/drawing/2014/main" id="{8F82EFAD-6596-4216-9A3A-73E883922545}"/>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σ_T/σ_Lも求める</a:t>
            </a:r>
          </a:p>
        </p:txBody>
      </p:sp>
      <p:sp>
        <p:nvSpPr>
          <p:cNvPr id="8" name="">
            <a:extLst xmlns:a="http://schemas.openxmlformats.org/drawingml/2006/main">
              <a:ext uri="{FF2B5EF4-FFF2-40B4-BE49-F238E27FC236}">
                <a16:creationId xmlns:a16="http://schemas.microsoft.com/office/drawing/2014/main" id="{71DBFE2C-ADED-420E-9E46-62CD353B85DB}"/>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同じ応力の比較と、何が違うか？</a:t>
            </a:r>
          </a:p>
        </p:txBody>
      </p:sp>
    </p:spTree>
    <p:extLst>
      <p:ext uri="{BB962C8B-B14F-4D97-AF65-F5344CB8AC3E}">
        <p14:creationId xmlns:p14="http://schemas.microsoft.com/office/powerpoint/2010/main" val="11640276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89BAF5-5818-49D6-A318-FD7A170772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同じ力でも応力は同じか</a:t>
            </a:r>
          </a:p>
        </p:txBody>
      </p:sp>
      <p:sp>
        <p:nvSpPr>
          <p:cNvPr id="2" name="">
            <a:extLst xmlns:a="http://schemas.openxmlformats.org/drawingml/2006/main">
              <a:ext uri="{FF2B5EF4-FFF2-40B4-BE49-F238E27FC236}">
                <a16:creationId xmlns:a16="http://schemas.microsoft.com/office/drawing/2014/main" id="{EF9A8A55-3FD1-4F93-A642-9DC50E7945C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CFEC2A-95C0-4085-A5E1-9210AD9C549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975C749-841E-420D-AFBD-8028487CAB4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7972F4BB-D88D-424A-AD29-7BAF618C8B22}"/>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L方向とR方向の試験片へ、同じ小さいF</a:t>
            </a:r>
          </a:p>
        </p:txBody>
      </p:sp>
      <p:sp>
        <p:nvSpPr>
          <p:cNvPr id="6" name="">
            <a:extLst xmlns:a="http://schemas.openxmlformats.org/drawingml/2006/main">
              <a:ext uri="{FF2B5EF4-FFF2-40B4-BE49-F238E27FC236}">
                <a16:creationId xmlns:a16="http://schemas.microsoft.com/office/drawing/2014/main" id="{C7214855-1D0A-426F-A72B-FA00E9707496}"/>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R側の断面積はL側の2倍</a:t>
            </a:r>
          </a:p>
        </p:txBody>
      </p:sp>
      <p:sp>
        <p:nvSpPr>
          <p:cNvPr id="7" name="">
            <a:extLst xmlns:a="http://schemas.openxmlformats.org/drawingml/2006/main">
              <a:ext uri="{FF2B5EF4-FFF2-40B4-BE49-F238E27FC236}">
                <a16:creationId xmlns:a16="http://schemas.microsoft.com/office/drawing/2014/main" id="{20D31BB6-0B18-4054-B787-E136B7C5A103}"/>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E_R/E_L = 0.068</a:t>
            </a:r>
          </a:p>
        </p:txBody>
      </p:sp>
      <p:sp>
        <p:nvSpPr>
          <p:cNvPr id="8" name="">
            <a:extLst xmlns:a="http://schemas.openxmlformats.org/drawingml/2006/main">
              <a:ext uri="{FF2B5EF4-FFF2-40B4-BE49-F238E27FC236}">
                <a16:creationId xmlns:a16="http://schemas.microsoft.com/office/drawing/2014/main" id="{E3F65921-20E1-4CB0-8FB1-F9E123F42FC4}"/>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ε_R/ε_Lを、F/Aとσ/Eから導く</a:t>
            </a:r>
          </a:p>
        </p:txBody>
      </p:sp>
    </p:spTree>
    <p:extLst>
      <p:ext uri="{BB962C8B-B14F-4D97-AF65-F5344CB8AC3E}">
        <p14:creationId xmlns:p14="http://schemas.microsoft.com/office/powerpoint/2010/main" val="2503249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9887E9-6FB7-47DF-BA30-BB69CAC9C98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AとIとZの使い分け</a:t>
            </a:r>
          </a:p>
        </p:txBody>
      </p:sp>
      <p:cxnSp>
        <p:nvCxnSpPr>
          <p:cNvPr id="2" name="">
            <a:extLst xmlns:a="http://schemas.openxmlformats.org/drawingml/2006/main">
              <a:ext uri="{FF2B5EF4-FFF2-40B4-BE49-F238E27FC236}">
                <a16:creationId xmlns:a16="http://schemas.microsoft.com/office/drawing/2014/main" id="{DC9D58F3-6937-4867-B4EA-46B2C6B31A0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99AF06C-907B-42C1-A224-1EED4603251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8B02593-50DB-404E-A440-C1563039DB7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80846E6E-DAA9-439E-B978-FED26DF1893B}"/>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断面積A：軸方向荷重による平均応力σ＝F/Aに使う</a:t>
            </a:r>
          </a:p>
        </p:txBody>
      </p:sp>
      <p:sp>
        <p:nvSpPr>
          <p:cNvPr id="6" name="">
            <a:extLst xmlns:a="http://schemas.openxmlformats.org/drawingml/2006/main">
              <a:ext uri="{FF2B5EF4-FFF2-40B4-BE49-F238E27FC236}">
                <a16:creationId xmlns:a16="http://schemas.microsoft.com/office/drawing/2014/main" id="{97E9716E-9E23-423D-8B9A-00CECDB10100}"/>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断面二次モーメントI：曲げの変形に関わり、長方形ではbh³/12</a:t>
            </a:r>
          </a:p>
        </p:txBody>
      </p:sp>
      <p:sp>
        <p:nvSpPr>
          <p:cNvPr id="7" name="">
            <a:extLst xmlns:a="http://schemas.openxmlformats.org/drawingml/2006/main">
              <a:ext uri="{FF2B5EF4-FFF2-40B4-BE49-F238E27FC236}">
                <a16:creationId xmlns:a16="http://schemas.microsoft.com/office/drawing/2014/main" id="{E47A3E31-AF75-479C-9EE1-D0773688E57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断面係数Z：曲げ応力に使い、長方形ではbh²/6</a:t>
            </a:r>
          </a:p>
        </p:txBody>
      </p:sp>
      <p:sp>
        <p:nvSpPr>
          <p:cNvPr id="8" name="">
            <a:extLst xmlns:a="http://schemas.openxmlformats.org/drawingml/2006/main">
              <a:ext uri="{FF2B5EF4-FFF2-40B4-BE49-F238E27FC236}">
                <a16:creationId xmlns:a16="http://schemas.microsoft.com/office/drawing/2014/main" id="{44BFC6E2-BE7E-4FD3-AB36-105EC5C3497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同じAで高さをk倍にすると、幅は1/k倍、Iはk²倍、Zはk倍</a:t>
            </a:r>
          </a:p>
        </p:txBody>
      </p:sp>
      <p:sp>
        <p:nvSpPr>
          <p:cNvPr id="9" name="">
            <a:extLst xmlns:a="http://schemas.openxmlformats.org/drawingml/2006/main">
              <a:ext uri="{FF2B5EF4-FFF2-40B4-BE49-F238E27FC236}">
                <a16:creationId xmlns:a16="http://schemas.microsoft.com/office/drawing/2014/main" id="{92E2AF89-9435-4523-96E0-16EE68749A85}"/>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同じE・荷重・支点間距離・支持方法なら、たわみは1/k²、最大応力は1/k</a:t>
            </a:r>
          </a:p>
        </p:txBody>
      </p:sp>
    </p:spTree>
    <p:extLst>
      <p:ext uri="{BB962C8B-B14F-4D97-AF65-F5344CB8AC3E}">
        <p14:creationId xmlns:p14="http://schemas.microsoft.com/office/powerpoint/2010/main" val="5790100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FA33B4F-DFFA-48F3-A291-1E5FB709FCA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同じ断面積で、高さと幅を変える</a:t>
            </a:r>
          </a:p>
        </p:txBody>
      </p:sp>
      <p:sp>
        <p:nvSpPr>
          <p:cNvPr id="2" name="">
            <a:extLst xmlns:a="http://schemas.openxmlformats.org/drawingml/2006/main">
              <a:ext uri="{FF2B5EF4-FFF2-40B4-BE49-F238E27FC236}">
                <a16:creationId xmlns:a16="http://schemas.microsoft.com/office/drawing/2014/main" id="{C2C9348E-566B-4136-B04F-C8E032FDDC4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D363A6D-5930-4189-97F1-730E9F4EE88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0179ED30-AEA0-4909-B431-56927CCB157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3207F5F8-D47A-4AF3-8C6D-77D8EBA41B9A}"/>
              </a:ext>
            </a:extLst>
          </p:cNvPr>
          <p:cNvSpPr>
            <a:spLocks xmlns:a="http://schemas.openxmlformats.org/drawingml/2006/main" noGrp="1"/>
          </p:cNvSpPr>
          <p:nvPr/>
        </p:nvSpPr>
        <p:spPr>
          <a:xfrm xmlns:a="http://schemas.openxmlformats.org/drawingml/2006/main">
            <a:off x="1333500" y="2095500"/>
            <a:ext cx="2857500" cy="714375"/>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42095C59-30DE-4EF0-A2E4-C8F3694035E8}"/>
              </a:ext>
            </a:extLst>
          </p:cNvPr>
          <p:cNvSpPr>
            <a:spLocks xmlns:a="http://schemas.openxmlformats.org/drawingml/2006/main" noGrp="1"/>
          </p:cNvSpPr>
          <p:nvPr/>
        </p:nvSpPr>
        <p:spPr>
          <a:xfrm xmlns:a="http://schemas.openxmlformats.org/drawingml/2006/main">
            <a:off x="1095375" y="2452688"/>
            <a:ext cx="3209925" cy="9525"/>
          </a:xfrm>
          <a:custGeom xmlns:a="http://schemas.openxmlformats.org/drawingml/2006/main">
            <a:pathLst>
              <a:path w="3209925" h="9525">
                <a:moveTo>
                  <a:pt x="0" y="0"/>
                </a:moveTo>
                <a:lnTo>
                  <a:pt x="3209925" y="0"/>
                </a:lnTo>
              </a:path>
            </a:pathLst>
          </a:custGeom>
          <a:noFill xmlns:a="http://schemas.openxmlformats.org/drawingml/2006/main"/>
          <a:ln xmlns:a="http://schemas.openxmlformats.org/drawingml/2006/main" w="19050">
            <a:solidFill>
              <a:srgbClr val="087E8B"/>
            </a:solidFill>
          </a:ln>
        </p:spPr>
      </p:sp>
      <p:sp>
        <p:nvSpPr>
          <p:cNvPr id="7" name="">
            <a:extLst xmlns:a="http://schemas.openxmlformats.org/drawingml/2006/main">
              <a:ext uri="{FF2B5EF4-FFF2-40B4-BE49-F238E27FC236}">
                <a16:creationId xmlns:a16="http://schemas.microsoft.com/office/drawing/2014/main" id="{78C5E8B4-C206-4FE4-A7E4-595BC360FAE6}"/>
              </a:ext>
            </a:extLst>
          </p:cNvPr>
          <p:cNvSpPr>
            <a:spLocks xmlns:a="http://schemas.openxmlformats.org/drawingml/2006/main" noGrp="1"/>
          </p:cNvSpPr>
          <p:nvPr/>
        </p:nvSpPr>
        <p:spPr>
          <a:xfrm xmlns:a="http://schemas.openxmlformats.org/drawingml/2006/main">
            <a:off x="4400550" y="2095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8" name="">
            <a:extLst xmlns:a="http://schemas.openxmlformats.org/drawingml/2006/main">
              <a:ext uri="{FF2B5EF4-FFF2-40B4-BE49-F238E27FC236}">
                <a16:creationId xmlns:a16="http://schemas.microsoft.com/office/drawing/2014/main" id="{1DFF273F-E7EB-42DD-B81C-55D366B553CA}"/>
              </a:ext>
            </a:extLst>
          </p:cNvPr>
          <p:cNvSpPr>
            <a:spLocks xmlns:a="http://schemas.openxmlformats.org/drawingml/2006/main" noGrp="1"/>
          </p:cNvSpPr>
          <p:nvPr/>
        </p:nvSpPr>
        <p:spPr>
          <a:xfrm xmlns:a="http://schemas.openxmlformats.org/drawingml/2006/main">
            <a:off x="4400550" y="28098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9" name="">
            <a:extLst xmlns:a="http://schemas.openxmlformats.org/drawingml/2006/main">
              <a:ext uri="{FF2B5EF4-FFF2-40B4-BE49-F238E27FC236}">
                <a16:creationId xmlns:a16="http://schemas.microsoft.com/office/drawing/2014/main" id="{80BC6CF1-9095-45A4-BA38-389521D82D5A}"/>
              </a:ext>
            </a:extLst>
          </p:cNvPr>
          <p:cNvSpPr>
            <a:spLocks xmlns:a="http://schemas.openxmlformats.org/drawingml/2006/main" noGrp="1"/>
          </p:cNvSpPr>
          <p:nvPr/>
        </p:nvSpPr>
        <p:spPr>
          <a:xfrm xmlns:a="http://schemas.openxmlformats.org/drawingml/2006/main">
            <a:off x="4495800" y="2095500"/>
            <a:ext cx="9525" cy="357188"/>
          </a:xfrm>
          <a:custGeom xmlns:a="http://schemas.openxmlformats.org/drawingml/2006/main">
            <a:pathLst>
              <a:path w="9525" h="357188">
                <a:moveTo>
                  <a:pt x="0" y="357188"/>
                </a:moveTo>
                <a:lnTo>
                  <a:pt x="0" y="0"/>
                </a:lnTo>
              </a:path>
            </a:pathLst>
          </a:custGeom>
          <a:noFill xmlns:a="http://schemas.openxmlformats.org/drawingml/2006/main"/>
          <a:ln xmlns:a="http://schemas.openxmlformats.org/drawingml/2006/main" w="19050">
            <a:solidFill>
              <a:srgbClr val="18364F"/>
            </a:solidFill>
          </a:ln>
        </p:spPr>
      </p:sp>
      <p:sp>
        <p:nvSpPr>
          <p:cNvPr id="10" name="">
            <a:extLst xmlns:a="http://schemas.openxmlformats.org/drawingml/2006/main">
              <a:ext uri="{FF2B5EF4-FFF2-40B4-BE49-F238E27FC236}">
                <a16:creationId xmlns:a16="http://schemas.microsoft.com/office/drawing/2014/main" id="{3ADD7895-4CB9-4BDE-B734-5A87ABD17DD9}"/>
              </a:ext>
            </a:extLst>
          </p:cNvPr>
          <p:cNvSpPr>
            <a:spLocks xmlns:a="http://schemas.openxmlformats.org/drawingml/2006/main" noGrp="1"/>
          </p:cNvSpPr>
          <p:nvPr/>
        </p:nvSpPr>
        <p:spPr>
          <a:xfrm xmlns:a="http://schemas.openxmlformats.org/drawingml/2006/main">
            <a:off x="4441940" y="20955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5BDC7BA7-726E-47D0-8EA2-F24EB78EE6EE}"/>
              </a:ext>
            </a:extLst>
          </p:cNvPr>
          <p:cNvSpPr>
            <a:spLocks xmlns:a="http://schemas.openxmlformats.org/drawingml/2006/main" noGrp="1"/>
          </p:cNvSpPr>
          <p:nvPr/>
        </p:nvSpPr>
        <p:spPr>
          <a:xfrm xmlns:a="http://schemas.openxmlformats.org/drawingml/2006/main">
            <a:off x="4495800" y="2452688"/>
            <a:ext cx="9525" cy="357188"/>
          </a:xfrm>
          <a:custGeom xmlns:a="http://schemas.openxmlformats.org/drawingml/2006/main">
            <a:pathLst>
              <a:path w="9525" h="357188">
                <a:moveTo>
                  <a:pt x="0" y="0"/>
                </a:moveTo>
                <a:lnTo>
                  <a:pt x="0" y="357188"/>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69DCA10E-5990-4DA6-BF56-ADA77731A112}"/>
              </a:ext>
            </a:extLst>
          </p:cNvPr>
          <p:cNvSpPr>
            <a:spLocks xmlns:a="http://schemas.openxmlformats.org/drawingml/2006/main" noGrp="1"/>
          </p:cNvSpPr>
          <p:nvPr/>
        </p:nvSpPr>
        <p:spPr>
          <a:xfrm xmlns:a="http://schemas.openxmlformats.org/drawingml/2006/main">
            <a:off x="4441940" y="2698377"/>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13" name="">
            <a:extLst xmlns:a="http://schemas.openxmlformats.org/drawingml/2006/main">
              <a:ext uri="{FF2B5EF4-FFF2-40B4-BE49-F238E27FC236}">
                <a16:creationId xmlns:a16="http://schemas.microsoft.com/office/drawing/2014/main" id="{494AA6AA-9D22-4B72-8149-F9C40B1C8335}"/>
              </a:ext>
            </a:extLst>
          </p:cNvPr>
          <p:cNvSpPr>
            <a:spLocks xmlns:a="http://schemas.openxmlformats.org/drawingml/2006/main" noGrp="1"/>
          </p:cNvSpPr>
          <p:nvPr/>
        </p:nvSpPr>
        <p:spPr>
          <a:xfrm xmlns:a="http://schemas.openxmlformats.org/drawingml/2006/main">
            <a:off x="1257300" y="30384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A：40 × 10 mm</a:t>
            </a:r>
          </a:p>
        </p:txBody>
      </p:sp>
      <p:sp>
        <p:nvSpPr>
          <p:cNvPr id="14" name="">
            <a:extLst xmlns:a="http://schemas.openxmlformats.org/drawingml/2006/main">
              <a:ext uri="{FF2B5EF4-FFF2-40B4-BE49-F238E27FC236}">
                <a16:creationId xmlns:a16="http://schemas.microsoft.com/office/drawing/2014/main" id="{0C9B8A7B-3B46-4519-8EAE-AED67409D02D}"/>
              </a:ext>
            </a:extLst>
          </p:cNvPr>
          <p:cNvSpPr>
            <a:spLocks xmlns:a="http://schemas.openxmlformats.org/drawingml/2006/main" noGrp="1"/>
          </p:cNvSpPr>
          <p:nvPr/>
        </p:nvSpPr>
        <p:spPr>
          <a:xfrm xmlns:a="http://schemas.openxmlformats.org/drawingml/2006/main">
            <a:off x="2667000" y="3486150"/>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25437C48-3460-49F4-A293-4EC8A3DA9924}"/>
              </a:ext>
            </a:extLst>
          </p:cNvPr>
          <p:cNvSpPr>
            <a:spLocks xmlns:a="http://schemas.openxmlformats.org/drawingml/2006/main" noGrp="1"/>
          </p:cNvSpPr>
          <p:nvPr/>
        </p:nvSpPr>
        <p:spPr>
          <a:xfrm xmlns:a="http://schemas.openxmlformats.org/drawingml/2006/main">
            <a:off x="4648200" y="2290763"/>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16" name="">
            <a:extLst xmlns:a="http://schemas.openxmlformats.org/drawingml/2006/main">
              <a:ext uri="{FF2B5EF4-FFF2-40B4-BE49-F238E27FC236}">
                <a16:creationId xmlns:a16="http://schemas.microsoft.com/office/drawing/2014/main" id="{A828C13A-DE92-46F5-B968-B0252D72EA0F}"/>
              </a:ext>
            </a:extLst>
          </p:cNvPr>
          <p:cNvSpPr>
            <a:spLocks xmlns:a="http://schemas.openxmlformats.org/drawingml/2006/main" noGrp="1"/>
          </p:cNvSpPr>
          <p:nvPr/>
        </p:nvSpPr>
        <p:spPr>
          <a:xfrm xmlns:a="http://schemas.openxmlformats.org/drawingml/2006/main">
            <a:off x="6953250" y="1905000"/>
            <a:ext cx="1428750" cy="1428750"/>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17" name="">
            <a:extLst xmlns:a="http://schemas.openxmlformats.org/drawingml/2006/main">
              <a:ext uri="{FF2B5EF4-FFF2-40B4-BE49-F238E27FC236}">
                <a16:creationId xmlns:a16="http://schemas.microsoft.com/office/drawing/2014/main" id="{AC7281FA-D790-4CD1-A7C8-7E2B0654FD5C}"/>
              </a:ext>
            </a:extLst>
          </p:cNvPr>
          <p:cNvSpPr>
            <a:spLocks xmlns:a="http://schemas.openxmlformats.org/drawingml/2006/main" noGrp="1"/>
          </p:cNvSpPr>
          <p:nvPr/>
        </p:nvSpPr>
        <p:spPr>
          <a:xfrm xmlns:a="http://schemas.openxmlformats.org/drawingml/2006/main">
            <a:off x="6715125" y="2619375"/>
            <a:ext cx="1781175" cy="9525"/>
          </a:xfrm>
          <a:custGeom xmlns:a="http://schemas.openxmlformats.org/drawingml/2006/main">
            <a:pathLst>
              <a:path w="1781175" h="9525">
                <a:moveTo>
                  <a:pt x="0" y="0"/>
                </a:moveTo>
                <a:lnTo>
                  <a:pt x="1781175" y="0"/>
                </a:lnTo>
              </a:path>
            </a:pathLst>
          </a:custGeom>
          <a:noFill xmlns:a="http://schemas.openxmlformats.org/drawingml/2006/main"/>
          <a:ln xmlns:a="http://schemas.openxmlformats.org/drawingml/2006/main" w="19050">
            <a:solidFill>
              <a:srgbClr val="087E8B"/>
            </a:solidFill>
          </a:ln>
        </p:spPr>
      </p:sp>
      <p:sp>
        <p:nvSpPr>
          <p:cNvPr id="18" name="">
            <a:extLst xmlns:a="http://schemas.openxmlformats.org/drawingml/2006/main">
              <a:ext uri="{FF2B5EF4-FFF2-40B4-BE49-F238E27FC236}">
                <a16:creationId xmlns:a16="http://schemas.microsoft.com/office/drawing/2014/main" id="{5678C695-E465-4BF6-A86E-9A2B627A543E}"/>
              </a:ext>
            </a:extLst>
          </p:cNvPr>
          <p:cNvSpPr>
            <a:spLocks xmlns:a="http://schemas.openxmlformats.org/drawingml/2006/main" noGrp="1"/>
          </p:cNvSpPr>
          <p:nvPr/>
        </p:nvSpPr>
        <p:spPr>
          <a:xfrm xmlns:a="http://schemas.openxmlformats.org/drawingml/2006/main">
            <a:off x="8591550" y="190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19" name="">
            <a:extLst xmlns:a="http://schemas.openxmlformats.org/drawingml/2006/main">
              <a:ext uri="{FF2B5EF4-FFF2-40B4-BE49-F238E27FC236}">
                <a16:creationId xmlns:a16="http://schemas.microsoft.com/office/drawing/2014/main" id="{AB24CFA5-8ABF-4FFC-B2B4-405BC154F737}"/>
              </a:ext>
            </a:extLst>
          </p:cNvPr>
          <p:cNvSpPr>
            <a:spLocks xmlns:a="http://schemas.openxmlformats.org/drawingml/2006/main" noGrp="1"/>
          </p:cNvSpPr>
          <p:nvPr/>
        </p:nvSpPr>
        <p:spPr>
          <a:xfrm xmlns:a="http://schemas.openxmlformats.org/drawingml/2006/main">
            <a:off x="8591550" y="3333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20" name="">
            <a:extLst xmlns:a="http://schemas.openxmlformats.org/drawingml/2006/main">
              <a:ext uri="{FF2B5EF4-FFF2-40B4-BE49-F238E27FC236}">
                <a16:creationId xmlns:a16="http://schemas.microsoft.com/office/drawing/2014/main" id="{F0C8848E-B055-4B31-8B35-A4D23BF9F927}"/>
              </a:ext>
            </a:extLst>
          </p:cNvPr>
          <p:cNvSpPr>
            <a:spLocks xmlns:a="http://schemas.openxmlformats.org/drawingml/2006/main" noGrp="1"/>
          </p:cNvSpPr>
          <p:nvPr/>
        </p:nvSpPr>
        <p:spPr>
          <a:xfrm xmlns:a="http://schemas.openxmlformats.org/drawingml/2006/main">
            <a:off x="8686800" y="1905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19050">
            <a:solidFill>
              <a:srgbClr val="18364F"/>
            </a:solidFill>
          </a:ln>
        </p:spPr>
      </p:sp>
      <p:sp>
        <p:nvSpPr>
          <p:cNvPr id="21" name="">
            <a:extLst xmlns:a="http://schemas.openxmlformats.org/drawingml/2006/main">
              <a:ext uri="{FF2B5EF4-FFF2-40B4-BE49-F238E27FC236}">
                <a16:creationId xmlns:a16="http://schemas.microsoft.com/office/drawing/2014/main" id="{61E95241-8292-4DD7-89E5-1E284E72ECF4}"/>
              </a:ext>
            </a:extLst>
          </p:cNvPr>
          <p:cNvSpPr>
            <a:spLocks xmlns:a="http://schemas.openxmlformats.org/drawingml/2006/main" noGrp="1"/>
          </p:cNvSpPr>
          <p:nvPr/>
        </p:nvSpPr>
        <p:spPr>
          <a:xfrm xmlns:a="http://schemas.openxmlformats.org/drawingml/2006/main">
            <a:off x="8632940" y="1905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22" name="">
            <a:extLst xmlns:a="http://schemas.openxmlformats.org/drawingml/2006/main">
              <a:ext uri="{FF2B5EF4-FFF2-40B4-BE49-F238E27FC236}">
                <a16:creationId xmlns:a16="http://schemas.microsoft.com/office/drawing/2014/main" id="{2A7FEA68-822A-4D88-8E75-787457E0CF73}"/>
              </a:ext>
            </a:extLst>
          </p:cNvPr>
          <p:cNvSpPr>
            <a:spLocks xmlns:a="http://schemas.openxmlformats.org/drawingml/2006/main" noGrp="1"/>
          </p:cNvSpPr>
          <p:nvPr/>
        </p:nvSpPr>
        <p:spPr>
          <a:xfrm xmlns:a="http://schemas.openxmlformats.org/drawingml/2006/main">
            <a:off x="8686800" y="2619375"/>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19050">
            <a:solidFill>
              <a:srgbClr val="18364F"/>
            </a:solidFill>
          </a:ln>
        </p:spPr>
      </p:sp>
      <p:sp>
        <p:nvSpPr>
          <p:cNvPr id="23" name="">
            <a:extLst xmlns:a="http://schemas.openxmlformats.org/drawingml/2006/main">
              <a:ext uri="{FF2B5EF4-FFF2-40B4-BE49-F238E27FC236}">
                <a16:creationId xmlns:a16="http://schemas.microsoft.com/office/drawing/2014/main" id="{0335916D-4704-4D39-938F-01208E34BB31}"/>
              </a:ext>
            </a:extLst>
          </p:cNvPr>
          <p:cNvSpPr>
            <a:spLocks xmlns:a="http://schemas.openxmlformats.org/drawingml/2006/main" noGrp="1"/>
          </p:cNvSpPr>
          <p:nvPr/>
        </p:nvSpPr>
        <p:spPr>
          <a:xfrm xmlns:a="http://schemas.openxmlformats.org/drawingml/2006/main">
            <a:off x="8632940" y="322225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24" name="">
            <a:extLst xmlns:a="http://schemas.openxmlformats.org/drawingml/2006/main">
              <a:ext uri="{FF2B5EF4-FFF2-40B4-BE49-F238E27FC236}">
                <a16:creationId xmlns:a16="http://schemas.microsoft.com/office/drawing/2014/main" id="{8384E113-561D-4AF3-8B0B-AEBD38C72985}"/>
              </a:ext>
            </a:extLst>
          </p:cNvPr>
          <p:cNvSpPr>
            <a:spLocks xmlns:a="http://schemas.openxmlformats.org/drawingml/2006/main" noGrp="1"/>
          </p:cNvSpPr>
          <p:nvPr/>
        </p:nvSpPr>
        <p:spPr>
          <a:xfrm xmlns:a="http://schemas.openxmlformats.org/drawingml/2006/main">
            <a:off x="6877050" y="35623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B：20 × 20 mm</a:t>
            </a:r>
          </a:p>
        </p:txBody>
      </p:sp>
      <p:sp>
        <p:nvSpPr>
          <p:cNvPr id="25" name="">
            <a:extLst xmlns:a="http://schemas.openxmlformats.org/drawingml/2006/main">
              <a:ext uri="{FF2B5EF4-FFF2-40B4-BE49-F238E27FC236}">
                <a16:creationId xmlns:a16="http://schemas.microsoft.com/office/drawing/2014/main" id="{ACF1843A-CF45-407D-8785-3D95C0B9F08A}"/>
              </a:ext>
            </a:extLst>
          </p:cNvPr>
          <p:cNvSpPr>
            <a:spLocks xmlns:a="http://schemas.openxmlformats.org/drawingml/2006/main" noGrp="1"/>
          </p:cNvSpPr>
          <p:nvPr/>
        </p:nvSpPr>
        <p:spPr>
          <a:xfrm xmlns:a="http://schemas.openxmlformats.org/drawingml/2006/main">
            <a:off x="7572375" y="401002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26" name="">
            <a:extLst xmlns:a="http://schemas.openxmlformats.org/drawingml/2006/main">
              <a:ext uri="{FF2B5EF4-FFF2-40B4-BE49-F238E27FC236}">
                <a16:creationId xmlns:a16="http://schemas.microsoft.com/office/drawing/2014/main" id="{AE2BC94B-FB6A-4382-8220-039FE7E6A809}"/>
              </a:ext>
            </a:extLst>
          </p:cNvPr>
          <p:cNvSpPr>
            <a:spLocks xmlns:a="http://schemas.openxmlformats.org/drawingml/2006/main" noGrp="1"/>
          </p:cNvSpPr>
          <p:nvPr/>
        </p:nvSpPr>
        <p:spPr>
          <a:xfrm xmlns:a="http://schemas.openxmlformats.org/drawingml/2006/main">
            <a:off x="8839200" y="24574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27" name="">
            <a:extLst xmlns:a="http://schemas.openxmlformats.org/drawingml/2006/main">
              <a:ext uri="{FF2B5EF4-FFF2-40B4-BE49-F238E27FC236}">
                <a16:creationId xmlns:a16="http://schemas.microsoft.com/office/drawing/2014/main" id="{F869C505-F257-4C17-B69D-31D38CE0DAE2}"/>
              </a:ext>
            </a:extLst>
          </p:cNvPr>
          <p:cNvSpPr>
            <a:spLocks xmlns:a="http://schemas.openxmlformats.org/drawingml/2006/main" noGrp="1"/>
          </p:cNvSpPr>
          <p:nvPr/>
        </p:nvSpPr>
        <p:spPr>
          <a:xfrm xmlns:a="http://schemas.openxmlformats.org/drawingml/2006/main">
            <a:off x="838200" y="5676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buNone/>
              <a:defRPr sz="2025" b="1">
                <a:solidFill>
                  <a:srgbClr val="087E8B"/>
                </a:solidFill>
                <a:latin typeface="Yu Gothic"/>
                <a:ea typeface="Yu Gothic"/>
                <a:cs typeface="Yu Gothic"/>
              </a:defRPr>
            </a:lvl1pPr>
            <a:lvl2pPr>
              <a:buNone/>
              <a:defRPr sz="2025" b="1">
                <a:solidFill>
                  <a:srgbClr val="087E8B"/>
                </a:solidFill>
                <a:latin typeface="Yu Gothic"/>
                <a:ea typeface="Yu Gothic"/>
                <a:cs typeface="Yu Gothic"/>
              </a:defRPr>
            </a:lvl2pPr>
            <a:lvl3pPr>
              <a:buNone/>
              <a:defRPr sz="2025" b="1">
                <a:solidFill>
                  <a:srgbClr val="087E8B"/>
                </a:solidFill>
                <a:latin typeface="Yu Gothic"/>
                <a:ea typeface="Yu Gothic"/>
                <a:cs typeface="Yu Gothic"/>
              </a:defRPr>
            </a:lvl3pPr>
            <a:lvl4pPr>
              <a:buNone/>
              <a:defRPr sz="2025" b="1">
                <a:solidFill>
                  <a:srgbClr val="087E8B"/>
                </a:solidFill>
                <a:latin typeface="Yu Gothic"/>
                <a:ea typeface="Yu Gothic"/>
                <a:cs typeface="Yu Gothic"/>
              </a:defRPr>
            </a:lvl4pPr>
            <a:lvl5pPr>
              <a:buNone/>
              <a:defRPr sz="2025" b="1">
                <a:solidFill>
                  <a:srgbClr val="087E8B"/>
                </a:solidFill>
                <a:latin typeface="Yu Gothic"/>
                <a:ea typeface="Yu Gothic"/>
                <a:cs typeface="Yu Gothic"/>
              </a:defRPr>
            </a:lvl5pPr>
            <a:lvl6pPr>
              <a:buNone/>
              <a:defRPr sz="2025" b="1">
                <a:solidFill>
                  <a:srgbClr val="087E8B"/>
                </a:solidFill>
                <a:latin typeface="Yu Gothic"/>
                <a:ea typeface="Yu Gothic"/>
                <a:cs typeface="Yu Gothic"/>
              </a:defRPr>
            </a:lvl6pPr>
            <a:lvl7pPr>
              <a:buNone/>
              <a:defRPr sz="2025" b="1">
                <a:solidFill>
                  <a:srgbClr val="087E8B"/>
                </a:solidFill>
                <a:latin typeface="Yu Gothic"/>
                <a:ea typeface="Yu Gothic"/>
                <a:cs typeface="Yu Gothic"/>
              </a:defRPr>
            </a:lvl7pPr>
            <a:lvl8pPr>
              <a:buNone/>
              <a:defRPr sz="2025" b="1">
                <a:solidFill>
                  <a:srgbClr val="087E8B"/>
                </a:solidFill>
                <a:latin typeface="Yu Gothic"/>
                <a:ea typeface="Yu Gothic"/>
                <a:cs typeface="Yu Gothic"/>
              </a:defRPr>
            </a:lvl8pPr>
            <a:lvl9pPr>
              <a:buNone/>
              <a:defRPr sz="2025" b="1">
                <a:solidFill>
                  <a:srgbClr val="087E8B"/>
                </a:solidFill>
                <a:latin typeface="Yu Gothic"/>
                <a:ea typeface="Yu Gothic"/>
                <a:cs typeface="Yu Gothic"/>
              </a:defRPr>
            </a:lvl9pPr>
          </a:lstStyle>
          <a:p xmlns:a="http://schemas.openxmlformats.org/drawingml/2006/main">
            <a:pPr>
              <a:buNone/>
              <a:defRPr sz="2025" b="1">
                <a:solidFill>
                  <a:srgbClr val="087E8B"/>
                </a:solidFill>
                <a:latin typeface="Yu Gothic"/>
                <a:ea typeface="Yu Gothic"/>
                <a:cs typeface="Yu Gothic"/>
              </a:defRPr>
            </a:pPr>
            <a:r>
              <a:rPr sz="2025" b="1">
                <a:solidFill>
                  <a:srgbClr val="087E8B"/>
                </a:solidFill>
                <a:latin typeface="Yu Gothic"/>
                <a:ea typeface="Yu Gothic"/>
                <a:cs typeface="Yu Gothic"/>
              </a:rPr>
              <a:t>同じ断面積A。主な繊維は長さに沿い、Eも同じと仮定。</a:t>
            </a:r>
          </a:p>
        </p:txBody>
      </p:sp>
    </p:spTree>
    <p:extLst>
      <p:ext uri="{BB962C8B-B14F-4D97-AF65-F5344CB8AC3E}">
        <p14:creationId xmlns:p14="http://schemas.microsoft.com/office/powerpoint/2010/main" val="6876753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171F10-18C9-437A-9C58-8211C4CB269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　同じ断面積のIとZ</a:t>
            </a:r>
          </a:p>
        </p:txBody>
      </p:sp>
      <p:cxnSp>
        <p:nvCxnSpPr>
          <p:cNvPr id="2" name="">
            <a:extLst xmlns:a="http://schemas.openxmlformats.org/drawingml/2006/main">
              <a:ext uri="{FF2B5EF4-FFF2-40B4-BE49-F238E27FC236}">
                <a16:creationId xmlns:a16="http://schemas.microsoft.com/office/drawing/2014/main" id="{71DAEEFF-2837-46D0-8303-9E532867579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7E890B4-2A66-47B2-BD39-F4EEB6127D6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FE15C44A-E5B4-489C-890E-0188F90CCCC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E0D32A94-DC8B-47C6-812B-746C5386B231}"/>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A：幅40 mm×高さ10 mm</a:t>
            </a:r>
          </a:p>
        </p:txBody>
      </p:sp>
      <p:sp>
        <p:nvSpPr>
          <p:cNvPr id="6" name="">
            <a:extLst xmlns:a="http://schemas.openxmlformats.org/drawingml/2006/main">
              <a:ext uri="{FF2B5EF4-FFF2-40B4-BE49-F238E27FC236}">
                <a16:creationId xmlns:a16="http://schemas.microsoft.com/office/drawing/2014/main" id="{1A185A69-D605-4663-AC51-B493F5113ED6}"/>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B：幅20 mm×高さ20 mm。同じ材料・同じ長さ</a:t>
            </a:r>
          </a:p>
        </p:txBody>
      </p:sp>
      <p:sp>
        <p:nvSpPr>
          <p:cNvPr id="7" name="">
            <a:extLst xmlns:a="http://schemas.openxmlformats.org/drawingml/2006/main">
              <a:ext uri="{FF2B5EF4-FFF2-40B4-BE49-F238E27FC236}">
                <a16:creationId xmlns:a16="http://schemas.microsoft.com/office/drawing/2014/main" id="{82F6A37D-CE87-4971-9E49-22512C0B647C}"/>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断面積、I、Zの比を求める</a:t>
            </a:r>
          </a:p>
        </p:txBody>
      </p:sp>
      <p:sp>
        <p:nvSpPr>
          <p:cNvPr id="8" name="">
            <a:extLst xmlns:a="http://schemas.openxmlformats.org/drawingml/2006/main">
              <a:ext uri="{FF2B5EF4-FFF2-40B4-BE49-F238E27FC236}">
                <a16:creationId xmlns:a16="http://schemas.microsoft.com/office/drawing/2014/main" id="{79590387-27FD-452D-B279-EBBD9BB70CE7}"/>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同じE・荷重・支点間・支持で、Bのたわみと応力はAの何倍か？</a:t>
            </a:r>
          </a:p>
        </p:txBody>
      </p:sp>
    </p:spTree>
    <p:extLst>
      <p:ext uri="{BB962C8B-B14F-4D97-AF65-F5344CB8AC3E}">
        <p14:creationId xmlns:p14="http://schemas.microsoft.com/office/powerpoint/2010/main" val="9348400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5ED5E5-90F5-40ED-8529-83CB4495806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演習2の解説　同じ断面積のIとZ</a:t>
            </a:r>
          </a:p>
        </p:txBody>
      </p:sp>
      <p:cxnSp>
        <p:nvCxnSpPr>
          <p:cNvPr id="2" name="">
            <a:extLst xmlns:a="http://schemas.openxmlformats.org/drawingml/2006/main">
              <a:ext uri="{FF2B5EF4-FFF2-40B4-BE49-F238E27FC236}">
                <a16:creationId xmlns:a16="http://schemas.microsoft.com/office/drawing/2014/main" id="{0B82D267-AF94-4B26-870A-246DF2DFACB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2FCBD9B-5718-4A18-91BC-F4AC02A07E5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8ACCFA7D-F2A2-42D8-B339-1A271F57C7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71FC3096-F3FE-4D68-A2FC-2A8B95A99B8C}"/>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断面積は両方400 mm²</a:t>
            </a:r>
          </a:p>
        </p:txBody>
      </p:sp>
      <p:sp>
        <p:nvSpPr>
          <p:cNvPr id="6" name="">
            <a:extLst xmlns:a="http://schemas.openxmlformats.org/drawingml/2006/main">
              <a:ext uri="{FF2B5EF4-FFF2-40B4-BE49-F238E27FC236}">
                <a16:creationId xmlns:a16="http://schemas.microsoft.com/office/drawing/2014/main" id="{C7A66853-3C43-4853-B06C-1464BC146B23}"/>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Iは約3,333／13,333 mm⁴。B/A = 4</a:t>
            </a:r>
          </a:p>
        </p:txBody>
      </p:sp>
      <p:sp>
        <p:nvSpPr>
          <p:cNvPr id="7" name="">
            <a:extLst xmlns:a="http://schemas.openxmlformats.org/drawingml/2006/main">
              <a:ext uri="{FF2B5EF4-FFF2-40B4-BE49-F238E27FC236}">
                <a16:creationId xmlns:a16="http://schemas.microsoft.com/office/drawing/2014/main" id="{1ECB17CC-E865-4B84-B436-656176DA6ED9}"/>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Zは約667／1,333 mm³。B/A = 2</a:t>
            </a:r>
          </a:p>
        </p:txBody>
      </p:sp>
      <p:sp>
        <p:nvSpPr>
          <p:cNvPr id="8" name="">
            <a:extLst xmlns:a="http://schemas.openxmlformats.org/drawingml/2006/main">
              <a:ext uri="{FF2B5EF4-FFF2-40B4-BE49-F238E27FC236}">
                <a16:creationId xmlns:a16="http://schemas.microsoft.com/office/drawing/2014/main" id="{A3D09429-70EB-4E5B-B4D2-1FBB4F5F84AF}"/>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Bのたわみは1/4、最大応力は1/2</a:t>
            </a:r>
          </a:p>
        </p:txBody>
      </p:sp>
    </p:spTree>
    <p:extLst>
      <p:ext uri="{BB962C8B-B14F-4D97-AF65-F5344CB8AC3E}">
        <p14:creationId xmlns:p14="http://schemas.microsoft.com/office/powerpoint/2010/main" val="1526959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EA21B1-F7C5-4592-BBDD-AA6D36ADF02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教師が押さえる関係：高さ2倍と曲げ</a:t>
            </a:r>
          </a:p>
        </p:txBody>
      </p:sp>
      <p:cxnSp>
        <p:nvCxnSpPr>
          <p:cNvPr id="2" name="">
            <a:extLst xmlns:a="http://schemas.openxmlformats.org/drawingml/2006/main">
              <a:ext uri="{FF2B5EF4-FFF2-40B4-BE49-F238E27FC236}">
                <a16:creationId xmlns:a16="http://schemas.microsoft.com/office/drawing/2014/main" id="{5376FDBA-D3EA-48B0-AF35-93181B96866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C80A9CE-6CA8-43C1-B756-F356BE4621F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98B7CE5-704E-4EFD-8E22-F10BD1EE2D8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DF0AA87D-0F08-46B2-8750-9CBD92136E8B}"/>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幅・長さ・材料・支持・荷重位置をそろえ、高さ2倍の曲げモデルを比較</a:t>
            </a:r>
          </a:p>
        </p:txBody>
      </p:sp>
      <p:sp>
        <p:nvSpPr>
          <p:cNvPr id="6" name="">
            <a:extLst xmlns:a="http://schemas.openxmlformats.org/drawingml/2006/main">
              <a:ext uri="{FF2B5EF4-FFF2-40B4-BE49-F238E27FC236}">
                <a16:creationId xmlns:a16="http://schemas.microsoft.com/office/drawing/2014/main" id="{F0A37FE8-D683-47F6-B95F-4B2933663C03}"/>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Z＝bh²/6は4倍。同じ曲げ強さを仮定すると、限界曲げモーメントは4倍</a:t>
            </a:r>
          </a:p>
        </p:txBody>
      </p:sp>
      <p:sp>
        <p:nvSpPr>
          <p:cNvPr id="7" name="">
            <a:extLst xmlns:a="http://schemas.openxmlformats.org/drawingml/2006/main">
              <a:ext uri="{FF2B5EF4-FFF2-40B4-BE49-F238E27FC236}">
                <a16:creationId xmlns:a16="http://schemas.microsoft.com/office/drawing/2014/main" id="{F9445DD3-FD80-40C5-9D34-78750B7AC1E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I＝bh³/12は8倍。同じ荷重でのたわみは1/8</a:t>
            </a:r>
          </a:p>
        </p:txBody>
      </p:sp>
      <p:sp>
        <p:nvSpPr>
          <p:cNvPr id="8" name="">
            <a:extLst xmlns:a="http://schemas.openxmlformats.org/drawingml/2006/main">
              <a:ext uri="{FF2B5EF4-FFF2-40B4-BE49-F238E27FC236}">
                <a16:creationId xmlns:a16="http://schemas.microsoft.com/office/drawing/2014/main" id="{1F2CBC0D-CB8B-43F6-89F4-7DF4A0A33EB8}"/>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中学生には観察で比較させ、教師は固定条件と倍率を背景として押さえる</a:t>
            </a:r>
          </a:p>
        </p:txBody>
      </p:sp>
      <p:sp>
        <p:nvSpPr>
          <p:cNvPr id="9" name="">
            <a:extLst xmlns:a="http://schemas.openxmlformats.org/drawingml/2006/main">
              <a:ext uri="{FF2B5EF4-FFF2-40B4-BE49-F238E27FC236}">
                <a16:creationId xmlns:a16="http://schemas.microsoft.com/office/drawing/2014/main" id="{DD402B56-F058-4DC5-97E8-1291A5254F3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同じ断面積で高さを変える演習では、幅も変わるので別に計算する</a:t>
            </a:r>
          </a:p>
        </p:txBody>
      </p:sp>
    </p:spTree>
    <p:extLst>
      <p:ext uri="{BB962C8B-B14F-4D97-AF65-F5344CB8AC3E}">
        <p14:creationId xmlns:p14="http://schemas.microsoft.com/office/powerpoint/2010/main" val="8549090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893BA8-C945-440E-BF82-FDDDE0C784A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D72CF325-73DA-4F27-A9EC-67434C7CDF4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2E30AB-C900-4AD6-9850-CE5F3A61009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B4C491B4-19F9-49DA-8284-F6E84DC887B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ADD00276-B7E7-4A12-8042-5269D7BC0ED3}"/>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9AB3B6D7-9D66-4C03-890F-A27C17B19259}"/>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5039A38-DA53-4569-A66E-103AD4BB0403}"/>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ED682CCA-09E3-4538-99FE-FA59B6E934D2}"/>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高さk倍の式を導くへ進みます。</a:t>
            </a:r>
          </a:p>
        </p:txBody>
      </p:sp>
    </p:spTree>
    <p:extLst>
      <p:ext uri="{BB962C8B-B14F-4D97-AF65-F5344CB8AC3E}">
        <p14:creationId xmlns:p14="http://schemas.microsoft.com/office/powerpoint/2010/main" val="97769784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283FBA-11C0-40FD-B476-C88F4A3107A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高さk倍の式を導く</a:t>
            </a:r>
          </a:p>
        </p:txBody>
      </p:sp>
      <p:sp>
        <p:nvSpPr>
          <p:cNvPr id="2" name="">
            <a:extLst xmlns:a="http://schemas.openxmlformats.org/drawingml/2006/main">
              <a:ext uri="{FF2B5EF4-FFF2-40B4-BE49-F238E27FC236}">
                <a16:creationId xmlns:a16="http://schemas.microsoft.com/office/drawing/2014/main" id="{45D8A1DC-013D-488C-9A33-C1A55EB988B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69C9F0-BC98-460E-96E4-AFA53E5C052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2243A3CB-93A6-47DB-BFA0-A7C16E9F159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00AFC79D-70C2-4839-A341-5A6AE0A46152}"/>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条件① 幅bを固定：h → kh</a:t>
            </a:r>
          </a:p>
        </p:txBody>
      </p:sp>
      <p:sp>
        <p:nvSpPr>
          <p:cNvPr id="6" name="">
            <a:extLst xmlns:a="http://schemas.openxmlformats.org/drawingml/2006/main">
              <a:ext uri="{FF2B5EF4-FFF2-40B4-BE49-F238E27FC236}">
                <a16:creationId xmlns:a16="http://schemas.microsoft.com/office/drawing/2014/main" id="{053EED43-3C41-4BC4-92D9-E6F44290519B}"/>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条件② 面積bhを固定：h → kh、b → b/k</a:t>
            </a:r>
          </a:p>
        </p:txBody>
      </p:sp>
      <p:sp>
        <p:nvSpPr>
          <p:cNvPr id="7" name="">
            <a:extLst xmlns:a="http://schemas.openxmlformats.org/drawingml/2006/main">
              <a:ext uri="{FF2B5EF4-FFF2-40B4-BE49-F238E27FC236}">
                <a16:creationId xmlns:a16="http://schemas.microsoft.com/office/drawing/2014/main" id="{9AA1D02D-E894-4616-9F09-201A4C6341B7}"/>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A・I・Z・δ・σの比を、文字で求める</a:t>
            </a:r>
          </a:p>
        </p:txBody>
      </p:sp>
      <p:sp>
        <p:nvSpPr>
          <p:cNvPr id="8" name="">
            <a:extLst xmlns:a="http://schemas.openxmlformats.org/drawingml/2006/main">
              <a:ext uri="{FF2B5EF4-FFF2-40B4-BE49-F238E27FC236}">
                <a16:creationId xmlns:a16="http://schemas.microsoft.com/office/drawing/2014/main" id="{8D2A57A0-AE9A-4905-9D90-02FE74DA2ACD}"/>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F・L・E・支持条件は同じ</a:t>
            </a:r>
          </a:p>
        </p:txBody>
      </p:sp>
    </p:spTree>
    <p:extLst>
      <p:ext uri="{BB962C8B-B14F-4D97-AF65-F5344CB8AC3E}">
        <p14:creationId xmlns:p14="http://schemas.microsoft.com/office/powerpoint/2010/main" val="77396645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627A7ED-64FC-4F45-A54C-3D044E3A38E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同じ板を90度回した比較</a:t>
            </a:r>
          </a:p>
        </p:txBody>
      </p:sp>
      <p:sp>
        <p:nvSpPr>
          <p:cNvPr id="2" name="">
            <a:extLst xmlns:a="http://schemas.openxmlformats.org/drawingml/2006/main">
              <a:ext uri="{FF2B5EF4-FFF2-40B4-BE49-F238E27FC236}">
                <a16:creationId xmlns:a16="http://schemas.microsoft.com/office/drawing/2014/main" id="{1517E3B3-4ACC-455C-927D-6AE3BA99663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AA3414-63F9-4462-92FD-39075C1E928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062C01A9-AD71-48EE-A6D1-1B8FE86329D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E452D55D-5696-42E2-88FD-D32F2F2EFA74}"/>
              </a:ext>
            </a:extLst>
          </p:cNvPr>
          <p:cNvSpPr>
            <a:spLocks xmlns:a="http://schemas.openxmlformats.org/drawingml/2006/main" noGrp="1"/>
          </p:cNvSpPr>
          <p:nvPr/>
        </p:nvSpPr>
        <p:spPr>
          <a:xfrm xmlns:a="http://schemas.openxmlformats.org/drawingml/2006/main">
            <a:off x="1333500" y="2095500"/>
            <a:ext cx="2857500" cy="714375"/>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7D69B50F-616D-4BDA-9F3F-ED4848304371}"/>
              </a:ext>
            </a:extLst>
          </p:cNvPr>
          <p:cNvSpPr>
            <a:spLocks xmlns:a="http://schemas.openxmlformats.org/drawingml/2006/main" noGrp="1"/>
          </p:cNvSpPr>
          <p:nvPr/>
        </p:nvSpPr>
        <p:spPr>
          <a:xfrm xmlns:a="http://schemas.openxmlformats.org/drawingml/2006/main">
            <a:off x="1095375" y="2452688"/>
            <a:ext cx="3209925" cy="9525"/>
          </a:xfrm>
          <a:custGeom xmlns:a="http://schemas.openxmlformats.org/drawingml/2006/main">
            <a:pathLst>
              <a:path w="3209925" h="9525">
                <a:moveTo>
                  <a:pt x="0" y="0"/>
                </a:moveTo>
                <a:lnTo>
                  <a:pt x="3209925" y="0"/>
                </a:lnTo>
              </a:path>
            </a:pathLst>
          </a:custGeom>
          <a:noFill xmlns:a="http://schemas.openxmlformats.org/drawingml/2006/main"/>
          <a:ln xmlns:a="http://schemas.openxmlformats.org/drawingml/2006/main" w="19050">
            <a:solidFill>
              <a:srgbClr val="087E8B"/>
            </a:solidFill>
          </a:ln>
        </p:spPr>
      </p:sp>
      <p:sp>
        <p:nvSpPr>
          <p:cNvPr id="7" name="">
            <a:extLst xmlns:a="http://schemas.openxmlformats.org/drawingml/2006/main">
              <a:ext uri="{FF2B5EF4-FFF2-40B4-BE49-F238E27FC236}">
                <a16:creationId xmlns:a16="http://schemas.microsoft.com/office/drawing/2014/main" id="{56DF6E31-90E8-421E-9F51-B63A2DEBCA99}"/>
              </a:ext>
            </a:extLst>
          </p:cNvPr>
          <p:cNvSpPr>
            <a:spLocks xmlns:a="http://schemas.openxmlformats.org/drawingml/2006/main" noGrp="1"/>
          </p:cNvSpPr>
          <p:nvPr/>
        </p:nvSpPr>
        <p:spPr>
          <a:xfrm xmlns:a="http://schemas.openxmlformats.org/drawingml/2006/main">
            <a:off x="4400550" y="2095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8" name="">
            <a:extLst xmlns:a="http://schemas.openxmlformats.org/drawingml/2006/main">
              <a:ext uri="{FF2B5EF4-FFF2-40B4-BE49-F238E27FC236}">
                <a16:creationId xmlns:a16="http://schemas.microsoft.com/office/drawing/2014/main" id="{6A6A139F-9F0A-4888-BEB2-AC77F6389018}"/>
              </a:ext>
            </a:extLst>
          </p:cNvPr>
          <p:cNvSpPr>
            <a:spLocks xmlns:a="http://schemas.openxmlformats.org/drawingml/2006/main" noGrp="1"/>
          </p:cNvSpPr>
          <p:nvPr/>
        </p:nvSpPr>
        <p:spPr>
          <a:xfrm xmlns:a="http://schemas.openxmlformats.org/drawingml/2006/main">
            <a:off x="4400550" y="28098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9" name="">
            <a:extLst xmlns:a="http://schemas.openxmlformats.org/drawingml/2006/main">
              <a:ext uri="{FF2B5EF4-FFF2-40B4-BE49-F238E27FC236}">
                <a16:creationId xmlns:a16="http://schemas.microsoft.com/office/drawing/2014/main" id="{1E4F77AA-2854-4029-96D6-8F3109B883B6}"/>
              </a:ext>
            </a:extLst>
          </p:cNvPr>
          <p:cNvSpPr>
            <a:spLocks xmlns:a="http://schemas.openxmlformats.org/drawingml/2006/main" noGrp="1"/>
          </p:cNvSpPr>
          <p:nvPr/>
        </p:nvSpPr>
        <p:spPr>
          <a:xfrm xmlns:a="http://schemas.openxmlformats.org/drawingml/2006/main">
            <a:off x="4495800" y="2095500"/>
            <a:ext cx="9525" cy="357188"/>
          </a:xfrm>
          <a:custGeom xmlns:a="http://schemas.openxmlformats.org/drawingml/2006/main">
            <a:pathLst>
              <a:path w="9525" h="357188">
                <a:moveTo>
                  <a:pt x="0" y="357188"/>
                </a:moveTo>
                <a:lnTo>
                  <a:pt x="0" y="0"/>
                </a:lnTo>
              </a:path>
            </a:pathLst>
          </a:custGeom>
          <a:noFill xmlns:a="http://schemas.openxmlformats.org/drawingml/2006/main"/>
          <a:ln xmlns:a="http://schemas.openxmlformats.org/drawingml/2006/main" w="19050">
            <a:solidFill>
              <a:srgbClr val="18364F"/>
            </a:solidFill>
          </a:ln>
        </p:spPr>
      </p:sp>
      <p:sp>
        <p:nvSpPr>
          <p:cNvPr id="10" name="">
            <a:extLst xmlns:a="http://schemas.openxmlformats.org/drawingml/2006/main">
              <a:ext uri="{FF2B5EF4-FFF2-40B4-BE49-F238E27FC236}">
                <a16:creationId xmlns:a16="http://schemas.microsoft.com/office/drawing/2014/main" id="{15027730-6FC6-451F-82CE-7FB04BF6307D}"/>
              </a:ext>
            </a:extLst>
          </p:cNvPr>
          <p:cNvSpPr>
            <a:spLocks xmlns:a="http://schemas.openxmlformats.org/drawingml/2006/main" noGrp="1"/>
          </p:cNvSpPr>
          <p:nvPr/>
        </p:nvSpPr>
        <p:spPr>
          <a:xfrm xmlns:a="http://schemas.openxmlformats.org/drawingml/2006/main">
            <a:off x="4441940" y="20955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92EC2C59-1D80-464D-9FC2-0483F0F351D8}"/>
              </a:ext>
            </a:extLst>
          </p:cNvPr>
          <p:cNvSpPr>
            <a:spLocks xmlns:a="http://schemas.openxmlformats.org/drawingml/2006/main" noGrp="1"/>
          </p:cNvSpPr>
          <p:nvPr/>
        </p:nvSpPr>
        <p:spPr>
          <a:xfrm xmlns:a="http://schemas.openxmlformats.org/drawingml/2006/main">
            <a:off x="4495800" y="2452688"/>
            <a:ext cx="9525" cy="357188"/>
          </a:xfrm>
          <a:custGeom xmlns:a="http://schemas.openxmlformats.org/drawingml/2006/main">
            <a:pathLst>
              <a:path w="9525" h="357188">
                <a:moveTo>
                  <a:pt x="0" y="0"/>
                </a:moveTo>
                <a:lnTo>
                  <a:pt x="0" y="357188"/>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0DE6AE1F-D99D-4BF6-93E4-89145538BC98}"/>
              </a:ext>
            </a:extLst>
          </p:cNvPr>
          <p:cNvSpPr>
            <a:spLocks xmlns:a="http://schemas.openxmlformats.org/drawingml/2006/main" noGrp="1"/>
          </p:cNvSpPr>
          <p:nvPr/>
        </p:nvSpPr>
        <p:spPr>
          <a:xfrm xmlns:a="http://schemas.openxmlformats.org/drawingml/2006/main">
            <a:off x="4441940" y="2698377"/>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13" name="">
            <a:extLst xmlns:a="http://schemas.openxmlformats.org/drawingml/2006/main">
              <a:ext uri="{FF2B5EF4-FFF2-40B4-BE49-F238E27FC236}">
                <a16:creationId xmlns:a16="http://schemas.microsoft.com/office/drawing/2014/main" id="{E075E7C6-CF90-47B9-BD3F-1E26613D78BB}"/>
              </a:ext>
            </a:extLst>
          </p:cNvPr>
          <p:cNvSpPr>
            <a:spLocks xmlns:a="http://schemas.openxmlformats.org/drawingml/2006/main" noGrp="1"/>
          </p:cNvSpPr>
          <p:nvPr/>
        </p:nvSpPr>
        <p:spPr>
          <a:xfrm xmlns:a="http://schemas.openxmlformats.org/drawingml/2006/main">
            <a:off x="1257300" y="30384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回す前：40 × 10 mm</a:t>
            </a:r>
          </a:p>
        </p:txBody>
      </p:sp>
      <p:sp>
        <p:nvSpPr>
          <p:cNvPr id="14" name="">
            <a:extLst xmlns:a="http://schemas.openxmlformats.org/drawingml/2006/main">
              <a:ext uri="{FF2B5EF4-FFF2-40B4-BE49-F238E27FC236}">
                <a16:creationId xmlns:a16="http://schemas.microsoft.com/office/drawing/2014/main" id="{41A10B15-177C-4AAA-B7DC-8C86CFDCD9FF}"/>
              </a:ext>
            </a:extLst>
          </p:cNvPr>
          <p:cNvSpPr>
            <a:spLocks xmlns:a="http://schemas.openxmlformats.org/drawingml/2006/main" noGrp="1"/>
          </p:cNvSpPr>
          <p:nvPr/>
        </p:nvSpPr>
        <p:spPr>
          <a:xfrm xmlns:a="http://schemas.openxmlformats.org/drawingml/2006/main">
            <a:off x="2667000" y="3486150"/>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3B37D47D-0D4D-491E-A051-7632722E8890}"/>
              </a:ext>
            </a:extLst>
          </p:cNvPr>
          <p:cNvSpPr>
            <a:spLocks xmlns:a="http://schemas.openxmlformats.org/drawingml/2006/main" noGrp="1"/>
          </p:cNvSpPr>
          <p:nvPr/>
        </p:nvSpPr>
        <p:spPr>
          <a:xfrm xmlns:a="http://schemas.openxmlformats.org/drawingml/2006/main">
            <a:off x="4648200" y="2290763"/>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16" name="">
            <a:extLst xmlns:a="http://schemas.openxmlformats.org/drawingml/2006/main">
              <a:ext uri="{FF2B5EF4-FFF2-40B4-BE49-F238E27FC236}">
                <a16:creationId xmlns:a16="http://schemas.microsoft.com/office/drawing/2014/main" id="{3362AF6E-18A3-4B60-BE7F-D698D3073503}"/>
              </a:ext>
            </a:extLst>
          </p:cNvPr>
          <p:cNvSpPr>
            <a:spLocks xmlns:a="http://schemas.openxmlformats.org/drawingml/2006/main" noGrp="1"/>
          </p:cNvSpPr>
          <p:nvPr/>
        </p:nvSpPr>
        <p:spPr>
          <a:xfrm xmlns:a="http://schemas.openxmlformats.org/drawingml/2006/main">
            <a:off x="6953250" y="1905000"/>
            <a:ext cx="714375" cy="2857500"/>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17" name="">
            <a:extLst xmlns:a="http://schemas.openxmlformats.org/drawingml/2006/main">
              <a:ext uri="{FF2B5EF4-FFF2-40B4-BE49-F238E27FC236}">
                <a16:creationId xmlns:a16="http://schemas.microsoft.com/office/drawing/2014/main" id="{08F5B9CC-98A5-43C3-ADB6-4155D15A7C8E}"/>
              </a:ext>
            </a:extLst>
          </p:cNvPr>
          <p:cNvSpPr>
            <a:spLocks xmlns:a="http://schemas.openxmlformats.org/drawingml/2006/main" noGrp="1"/>
          </p:cNvSpPr>
          <p:nvPr/>
        </p:nvSpPr>
        <p:spPr>
          <a:xfrm xmlns:a="http://schemas.openxmlformats.org/drawingml/2006/main">
            <a:off x="6715125" y="3333750"/>
            <a:ext cx="1066800" cy="9525"/>
          </a:xfrm>
          <a:custGeom xmlns:a="http://schemas.openxmlformats.org/drawingml/2006/main">
            <a:pathLst>
              <a:path w="1066800" h="9525">
                <a:moveTo>
                  <a:pt x="0" y="0"/>
                </a:moveTo>
                <a:lnTo>
                  <a:pt x="1066800" y="0"/>
                </a:lnTo>
              </a:path>
            </a:pathLst>
          </a:custGeom>
          <a:noFill xmlns:a="http://schemas.openxmlformats.org/drawingml/2006/main"/>
          <a:ln xmlns:a="http://schemas.openxmlformats.org/drawingml/2006/main" w="19050">
            <a:solidFill>
              <a:srgbClr val="087E8B"/>
            </a:solidFill>
          </a:ln>
        </p:spPr>
      </p:sp>
      <p:sp>
        <p:nvSpPr>
          <p:cNvPr id="18" name="">
            <a:extLst xmlns:a="http://schemas.openxmlformats.org/drawingml/2006/main">
              <a:ext uri="{FF2B5EF4-FFF2-40B4-BE49-F238E27FC236}">
                <a16:creationId xmlns:a16="http://schemas.microsoft.com/office/drawing/2014/main" id="{0A4F607F-AA37-4023-BB76-D5D08F49BD68}"/>
              </a:ext>
            </a:extLst>
          </p:cNvPr>
          <p:cNvSpPr>
            <a:spLocks xmlns:a="http://schemas.openxmlformats.org/drawingml/2006/main" noGrp="1"/>
          </p:cNvSpPr>
          <p:nvPr/>
        </p:nvSpPr>
        <p:spPr>
          <a:xfrm xmlns:a="http://schemas.openxmlformats.org/drawingml/2006/main">
            <a:off x="7877175" y="190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19" name="">
            <a:extLst xmlns:a="http://schemas.openxmlformats.org/drawingml/2006/main">
              <a:ext uri="{FF2B5EF4-FFF2-40B4-BE49-F238E27FC236}">
                <a16:creationId xmlns:a16="http://schemas.microsoft.com/office/drawing/2014/main" id="{910183CE-DC07-4708-AC77-5713CEFC8E8A}"/>
              </a:ext>
            </a:extLst>
          </p:cNvPr>
          <p:cNvSpPr>
            <a:spLocks xmlns:a="http://schemas.openxmlformats.org/drawingml/2006/main" noGrp="1"/>
          </p:cNvSpPr>
          <p:nvPr/>
        </p:nvSpPr>
        <p:spPr>
          <a:xfrm xmlns:a="http://schemas.openxmlformats.org/drawingml/2006/main">
            <a:off x="7877175" y="4762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20" name="">
            <a:extLst xmlns:a="http://schemas.openxmlformats.org/drawingml/2006/main">
              <a:ext uri="{FF2B5EF4-FFF2-40B4-BE49-F238E27FC236}">
                <a16:creationId xmlns:a16="http://schemas.microsoft.com/office/drawing/2014/main" id="{E481D6CD-BF8A-4376-AA8A-2623EBC7F46D}"/>
              </a:ext>
            </a:extLst>
          </p:cNvPr>
          <p:cNvSpPr>
            <a:spLocks xmlns:a="http://schemas.openxmlformats.org/drawingml/2006/main" noGrp="1"/>
          </p:cNvSpPr>
          <p:nvPr/>
        </p:nvSpPr>
        <p:spPr>
          <a:xfrm xmlns:a="http://schemas.openxmlformats.org/drawingml/2006/main">
            <a:off x="7972425" y="1905000"/>
            <a:ext cx="9525" cy="1428750"/>
          </a:xfrm>
          <a:custGeom xmlns:a="http://schemas.openxmlformats.org/drawingml/2006/main">
            <a:pathLst>
              <a:path w="9525" h="1428750">
                <a:moveTo>
                  <a:pt x="0" y="1428750"/>
                </a:moveTo>
                <a:lnTo>
                  <a:pt x="0" y="0"/>
                </a:lnTo>
              </a:path>
            </a:pathLst>
          </a:custGeom>
          <a:noFill xmlns:a="http://schemas.openxmlformats.org/drawingml/2006/main"/>
          <a:ln xmlns:a="http://schemas.openxmlformats.org/drawingml/2006/main" w="19050">
            <a:solidFill>
              <a:srgbClr val="18364F"/>
            </a:solidFill>
          </a:ln>
        </p:spPr>
      </p:sp>
      <p:sp>
        <p:nvSpPr>
          <p:cNvPr id="21" name="">
            <a:extLst xmlns:a="http://schemas.openxmlformats.org/drawingml/2006/main">
              <a:ext uri="{FF2B5EF4-FFF2-40B4-BE49-F238E27FC236}">
                <a16:creationId xmlns:a16="http://schemas.microsoft.com/office/drawing/2014/main" id="{14EAE8E7-521E-429A-B022-368B213476EF}"/>
              </a:ext>
            </a:extLst>
          </p:cNvPr>
          <p:cNvSpPr>
            <a:spLocks xmlns:a="http://schemas.openxmlformats.org/drawingml/2006/main" noGrp="1"/>
          </p:cNvSpPr>
          <p:nvPr/>
        </p:nvSpPr>
        <p:spPr>
          <a:xfrm xmlns:a="http://schemas.openxmlformats.org/drawingml/2006/main">
            <a:off x="7918565" y="1905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22" name="">
            <a:extLst xmlns:a="http://schemas.openxmlformats.org/drawingml/2006/main">
              <a:ext uri="{FF2B5EF4-FFF2-40B4-BE49-F238E27FC236}">
                <a16:creationId xmlns:a16="http://schemas.microsoft.com/office/drawing/2014/main" id="{B198BA27-A9E5-43E5-AA33-F90CC26DB70E}"/>
              </a:ext>
            </a:extLst>
          </p:cNvPr>
          <p:cNvSpPr>
            <a:spLocks xmlns:a="http://schemas.openxmlformats.org/drawingml/2006/main" noGrp="1"/>
          </p:cNvSpPr>
          <p:nvPr/>
        </p:nvSpPr>
        <p:spPr>
          <a:xfrm xmlns:a="http://schemas.openxmlformats.org/drawingml/2006/main">
            <a:off x="7972425" y="3333750"/>
            <a:ext cx="9525" cy="1428750"/>
          </a:xfrm>
          <a:custGeom xmlns:a="http://schemas.openxmlformats.org/drawingml/2006/main">
            <a:pathLst>
              <a:path w="9525" h="1428750">
                <a:moveTo>
                  <a:pt x="0" y="0"/>
                </a:moveTo>
                <a:lnTo>
                  <a:pt x="0" y="1428750"/>
                </a:lnTo>
              </a:path>
            </a:pathLst>
          </a:custGeom>
          <a:noFill xmlns:a="http://schemas.openxmlformats.org/drawingml/2006/main"/>
          <a:ln xmlns:a="http://schemas.openxmlformats.org/drawingml/2006/main" w="19050">
            <a:solidFill>
              <a:srgbClr val="18364F"/>
            </a:solidFill>
          </a:ln>
        </p:spPr>
      </p:sp>
      <p:sp>
        <p:nvSpPr>
          <p:cNvPr id="23" name="">
            <a:extLst xmlns:a="http://schemas.openxmlformats.org/drawingml/2006/main">
              <a:ext uri="{FF2B5EF4-FFF2-40B4-BE49-F238E27FC236}">
                <a16:creationId xmlns:a16="http://schemas.microsoft.com/office/drawing/2014/main" id="{D32C9FFC-44BA-40C2-8CD3-E3528CADB6AA}"/>
              </a:ext>
            </a:extLst>
          </p:cNvPr>
          <p:cNvSpPr>
            <a:spLocks xmlns:a="http://schemas.openxmlformats.org/drawingml/2006/main" noGrp="1"/>
          </p:cNvSpPr>
          <p:nvPr/>
        </p:nvSpPr>
        <p:spPr>
          <a:xfrm xmlns:a="http://schemas.openxmlformats.org/drawingml/2006/main">
            <a:off x="7918565" y="465100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24" name="">
            <a:extLst xmlns:a="http://schemas.openxmlformats.org/drawingml/2006/main">
              <a:ext uri="{FF2B5EF4-FFF2-40B4-BE49-F238E27FC236}">
                <a16:creationId xmlns:a16="http://schemas.microsoft.com/office/drawing/2014/main" id="{799EDEB5-E08C-433E-B482-E3C26EEFF12F}"/>
              </a:ext>
            </a:extLst>
          </p:cNvPr>
          <p:cNvSpPr>
            <a:spLocks xmlns:a="http://schemas.openxmlformats.org/drawingml/2006/main" noGrp="1"/>
          </p:cNvSpPr>
          <p:nvPr/>
        </p:nvSpPr>
        <p:spPr>
          <a:xfrm xmlns:a="http://schemas.openxmlformats.org/drawingml/2006/main">
            <a:off x="6877050" y="4991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回した後：10 × 40 mm</a:t>
            </a:r>
          </a:p>
        </p:txBody>
      </p:sp>
      <p:sp>
        <p:nvSpPr>
          <p:cNvPr id="25" name="">
            <a:extLst xmlns:a="http://schemas.openxmlformats.org/drawingml/2006/main">
              <a:ext uri="{FF2B5EF4-FFF2-40B4-BE49-F238E27FC236}">
                <a16:creationId xmlns:a16="http://schemas.microsoft.com/office/drawing/2014/main" id="{9A5C83C6-E6B6-4136-BE34-06D6480D5F3C}"/>
              </a:ext>
            </a:extLst>
          </p:cNvPr>
          <p:cNvSpPr>
            <a:spLocks xmlns:a="http://schemas.openxmlformats.org/drawingml/2006/main" noGrp="1"/>
          </p:cNvSpPr>
          <p:nvPr/>
        </p:nvSpPr>
        <p:spPr>
          <a:xfrm xmlns:a="http://schemas.openxmlformats.org/drawingml/2006/main">
            <a:off x="7215188" y="543877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26" name="">
            <a:extLst xmlns:a="http://schemas.openxmlformats.org/drawingml/2006/main">
              <a:ext uri="{FF2B5EF4-FFF2-40B4-BE49-F238E27FC236}">
                <a16:creationId xmlns:a16="http://schemas.microsoft.com/office/drawing/2014/main" id="{74E44637-5B83-449C-8C40-215F6D69A847}"/>
              </a:ext>
            </a:extLst>
          </p:cNvPr>
          <p:cNvSpPr>
            <a:spLocks xmlns:a="http://schemas.openxmlformats.org/drawingml/2006/main" noGrp="1"/>
          </p:cNvSpPr>
          <p:nvPr/>
        </p:nvSpPr>
        <p:spPr>
          <a:xfrm xmlns:a="http://schemas.openxmlformats.org/drawingml/2006/main">
            <a:off x="8124825" y="3171825"/>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27" name="">
            <a:extLst xmlns:a="http://schemas.openxmlformats.org/drawingml/2006/main">
              <a:ext uri="{FF2B5EF4-FFF2-40B4-BE49-F238E27FC236}">
                <a16:creationId xmlns:a16="http://schemas.microsoft.com/office/drawing/2014/main" id="{B1E2ED80-4275-4D9D-B7B4-9F631E41AFA1}"/>
              </a:ext>
            </a:extLst>
          </p:cNvPr>
          <p:cNvSpPr>
            <a:spLocks xmlns:a="http://schemas.openxmlformats.org/drawingml/2006/main" noGrp="1"/>
          </p:cNvSpPr>
          <p:nvPr/>
        </p:nvSpPr>
        <p:spPr>
          <a:xfrm xmlns:a="http://schemas.openxmlformats.org/drawingml/2006/main">
            <a:off x="838200" y="6048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長さの軸回りに回転。同じ断面積A・繊維方向・Eと仮定。</a:t>
            </a:r>
          </a:p>
        </p:txBody>
      </p:sp>
    </p:spTree>
    <p:extLst>
      <p:ext uri="{BB962C8B-B14F-4D97-AF65-F5344CB8AC3E}">
        <p14:creationId xmlns:p14="http://schemas.microsoft.com/office/powerpoint/2010/main" val="133797803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2FF3588-CD03-4CCB-B0E5-0DE391D336C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節と目切れの影響</a:t>
            </a:r>
          </a:p>
        </p:txBody>
      </p:sp>
      <p:cxnSp>
        <p:nvCxnSpPr>
          <p:cNvPr id="2" name="">
            <a:extLst xmlns:a="http://schemas.openxmlformats.org/drawingml/2006/main">
              <a:ext uri="{FF2B5EF4-FFF2-40B4-BE49-F238E27FC236}">
                <a16:creationId xmlns:a16="http://schemas.microsoft.com/office/drawing/2014/main" id="{02EFD12C-40A0-4580-9021-30F10A0A4A0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520B917-D071-41C3-9365-E0BAED8F93F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74D6B57-F685-420E-9736-E33285DBC96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D8715E28-4FFA-40E6-B2DD-140C198AEAEA}"/>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節は枝の基部が幹の木部に取り込まれた部分</a:t>
            </a:r>
          </a:p>
        </p:txBody>
      </p:sp>
      <p:sp>
        <p:nvSpPr>
          <p:cNvPr id="6" name="">
            <a:extLst xmlns:a="http://schemas.openxmlformats.org/drawingml/2006/main">
              <a:ext uri="{FF2B5EF4-FFF2-40B4-BE49-F238E27FC236}">
                <a16:creationId xmlns:a16="http://schemas.microsoft.com/office/drawing/2014/main" id="{880A9C2F-AB7E-4E7A-B79C-EA9F90041A4C}"/>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節の周りでは繊維が回り込み、荷重に対する局所的な向きが変わる</a:t>
            </a:r>
          </a:p>
        </p:txBody>
      </p:sp>
      <p:sp>
        <p:nvSpPr>
          <p:cNvPr id="7" name="">
            <a:extLst xmlns:a="http://schemas.openxmlformats.org/drawingml/2006/main">
              <a:ext uri="{FF2B5EF4-FFF2-40B4-BE49-F238E27FC236}">
                <a16:creationId xmlns:a16="http://schemas.microsoft.com/office/drawing/2014/main" id="{407FB817-6C7D-488A-8C06-199D7DB8131C}"/>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生き節・死に節・抜け節の状態を、材とのつながりから区別する</a:t>
            </a:r>
          </a:p>
        </p:txBody>
      </p:sp>
      <p:sp>
        <p:nvSpPr>
          <p:cNvPr id="8" name="">
            <a:extLst xmlns:a="http://schemas.openxmlformats.org/drawingml/2006/main">
              <a:ext uri="{FF2B5EF4-FFF2-40B4-BE49-F238E27FC236}">
                <a16:creationId xmlns:a16="http://schemas.microsoft.com/office/drawing/2014/main" id="{7ADD3D3D-81C6-4504-854E-1D1BDFD6031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目切れは材の長軸と繊維方向のずれ。加工面や割れにも関わる</a:t>
            </a:r>
          </a:p>
        </p:txBody>
      </p:sp>
      <p:sp>
        <p:nvSpPr>
          <p:cNvPr id="9" name="">
            <a:extLst xmlns:a="http://schemas.openxmlformats.org/drawingml/2006/main">
              <a:ext uri="{FF2B5EF4-FFF2-40B4-BE49-F238E27FC236}">
                <a16:creationId xmlns:a16="http://schemas.microsoft.com/office/drawing/2014/main" id="{2BAF6897-333D-4EF7-801E-A43B1A64599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節の寸法だけでなく、引張側か圧縮側か、部材内の位置も確認する</a:t>
            </a:r>
          </a:p>
        </p:txBody>
      </p:sp>
    </p:spTree>
    <p:extLst>
      <p:ext uri="{BB962C8B-B14F-4D97-AF65-F5344CB8AC3E}">
        <p14:creationId xmlns:p14="http://schemas.microsoft.com/office/powerpoint/2010/main" val="16750708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FF75BCE-9949-4687-BBE7-62C3EFB23B4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節の周囲の繊維配列</a:t>
            </a:r>
          </a:p>
        </p:txBody>
      </p:sp>
      <p:cxnSp>
        <p:nvCxnSpPr>
          <p:cNvPr id="2" name="">
            <a:extLst xmlns:a="http://schemas.openxmlformats.org/drawingml/2006/main">
              <a:ext uri="{FF2B5EF4-FFF2-40B4-BE49-F238E27FC236}">
                <a16:creationId xmlns:a16="http://schemas.microsoft.com/office/drawing/2014/main" id="{313710C4-4BF1-400C-B9AF-DF0089E8648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B427048-5C35-4B12-B150-D71B792F28F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E76CB3E-4BC2-4799-BA39-459D38DB8F4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8E57CBA2-4D5C-4F01-8EEB-186126B8B998}"/>
              </a:ext>
            </a:extLst>
          </p:cNvPr>
          <p:cNvSpPr>
            <a:spLocks xmlns:a="http://schemas.openxmlformats.org/drawingml/2006/main" noGrp="1"/>
          </p:cNvSpPr>
          <p:nvPr/>
        </p:nvSpPr>
        <p:spPr>
          <a:xfrm xmlns:a="http://schemas.openxmlformats.org/drawingml/2006/main" rot="0">
            <a:off x="857250" y="2238375"/>
            <a:ext cx="5334000" cy="257175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6" name="">
            <a:extLst xmlns:a="http://schemas.openxmlformats.org/drawingml/2006/main">
              <a:ext uri="{FF2B5EF4-FFF2-40B4-BE49-F238E27FC236}">
                <a16:creationId xmlns:a16="http://schemas.microsoft.com/office/drawing/2014/main" id="{1A2B37D3-0679-4656-AB14-D308036CF0AB}"/>
              </a:ext>
            </a:extLst>
          </p:cNvPr>
          <p:cNvSpPr>
            <a:spLocks xmlns:a="http://schemas.openxmlformats.org/drawingml/2006/main" noGrp="1"/>
          </p:cNvSpPr>
          <p:nvPr/>
        </p:nvSpPr>
        <p:spPr>
          <a:xfrm xmlns:a="http://schemas.openxmlformats.org/drawingml/2006/main">
            <a:off x="2952750" y="3067050"/>
            <a:ext cx="1143000" cy="885825"/>
          </a:xfrm>
          <a:prstGeom xmlns:a="http://schemas.openxmlformats.org/drawingml/2006/main" prst="ellipse">
            <a:avLst/>
          </a:prstGeom>
          <a:solidFill xmlns:a="http://schemas.openxmlformats.org/drawingml/2006/main">
            <a:srgbClr val="D7BE9C"/>
          </a:solidFill>
          <a:ln xmlns:a="http://schemas.openxmlformats.org/drawingml/2006/main" w="19050">
            <a:solidFill>
              <a:srgbClr val="B55D09"/>
            </a:solidFill>
          </a:ln>
        </p:spPr>
      </p:sp>
      <p:cxnSp>
        <p:nvCxnSpPr>
          <p:cNvPr id="7" name="">
            <a:extLst xmlns:a="http://schemas.openxmlformats.org/drawingml/2006/main">
              <a:ext uri="{FF2B5EF4-FFF2-40B4-BE49-F238E27FC236}">
                <a16:creationId xmlns:a16="http://schemas.microsoft.com/office/drawing/2014/main" id="{5CB2F643-7170-406F-83B1-221ED3507FF0}"/>
              </a:ext>
            </a:extLst>
          </p:cNvPr>
          <p:cNvCxnSpPr/>
          <p:nvPr/>
        </p:nvCxnSpPr>
        <p:spPr>
          <a:xfrm xmlns:a="http://schemas.openxmlformats.org/drawingml/2006/main" flipH="0" flipV="0">
            <a:off x="1000125" y="2476500"/>
            <a:ext cx="1381125" cy="0"/>
          </a:xfrm>
          <a:prstGeom xmlns:a="http://schemas.openxmlformats.org/drawingml/2006/main" prst="straightConnector1">
            <a:avLst/>
          </a:prstGeom>
          <a:ln xmlns:a="http://schemas.openxmlformats.org/drawingml/2006/main" w="28575">
            <a:solidFill>
              <a:srgbClr val="B55D09"/>
            </a:solidFill>
          </a:ln>
        </p:spPr>
      </p:cxnSp>
      <p:cxnSp>
        <p:nvCxnSpPr>
          <p:cNvPr id="8" name="">
            <a:extLst xmlns:a="http://schemas.openxmlformats.org/drawingml/2006/main">
              <a:ext uri="{FF2B5EF4-FFF2-40B4-BE49-F238E27FC236}">
                <a16:creationId xmlns:a16="http://schemas.microsoft.com/office/drawing/2014/main" id="{1258B443-F06F-4A75-ACB7-7F3E57A59A0B}"/>
              </a:ext>
            </a:extLst>
          </p:cNvPr>
          <p:cNvCxnSpPr/>
          <p:nvPr/>
        </p:nvCxnSpPr>
        <p:spPr>
          <a:xfrm xmlns:a="http://schemas.openxmlformats.org/drawingml/2006/main" flipH="0" flipV="1">
            <a:off x="2381250" y="23431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9" name="">
            <a:extLst xmlns:a="http://schemas.openxmlformats.org/drawingml/2006/main">
              <a:ext uri="{FF2B5EF4-FFF2-40B4-BE49-F238E27FC236}">
                <a16:creationId xmlns:a16="http://schemas.microsoft.com/office/drawing/2014/main" id="{3E910ADC-DCD8-42A8-B737-C089A7F80EE1}"/>
              </a:ext>
            </a:extLst>
          </p:cNvPr>
          <p:cNvCxnSpPr/>
          <p:nvPr/>
        </p:nvCxnSpPr>
        <p:spPr>
          <a:xfrm xmlns:a="http://schemas.openxmlformats.org/drawingml/2006/main" flipH="0" flipV="0">
            <a:off x="3048000" y="2343150"/>
            <a:ext cx="952500" cy="0"/>
          </a:xfrm>
          <a:prstGeom xmlns:a="http://schemas.openxmlformats.org/drawingml/2006/main" prst="straightConnector1">
            <a:avLst/>
          </a:prstGeom>
          <a:ln xmlns:a="http://schemas.openxmlformats.org/drawingml/2006/main" w="28575">
            <a:solidFill>
              <a:srgbClr val="B55D09"/>
            </a:solidFill>
          </a:ln>
        </p:spPr>
      </p:cxnSp>
      <p:cxnSp>
        <p:nvCxnSpPr>
          <p:cNvPr id="10" name="">
            <a:extLst xmlns:a="http://schemas.openxmlformats.org/drawingml/2006/main">
              <a:ext uri="{FF2B5EF4-FFF2-40B4-BE49-F238E27FC236}">
                <a16:creationId xmlns:a16="http://schemas.microsoft.com/office/drawing/2014/main" id="{490D98C0-B071-43AD-AD28-FB165CF337C4}"/>
              </a:ext>
            </a:extLst>
          </p:cNvPr>
          <p:cNvCxnSpPr/>
          <p:nvPr/>
        </p:nvCxnSpPr>
        <p:spPr>
          <a:xfrm xmlns:a="http://schemas.openxmlformats.org/drawingml/2006/main" flipH="0" flipV="0">
            <a:off x="4000500" y="23431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1" name="">
            <a:extLst xmlns:a="http://schemas.openxmlformats.org/drawingml/2006/main">
              <a:ext uri="{FF2B5EF4-FFF2-40B4-BE49-F238E27FC236}">
                <a16:creationId xmlns:a16="http://schemas.microsoft.com/office/drawing/2014/main" id="{D0ACAB59-D74D-4190-A072-19C63E671AE1}"/>
              </a:ext>
            </a:extLst>
          </p:cNvPr>
          <p:cNvCxnSpPr/>
          <p:nvPr/>
        </p:nvCxnSpPr>
        <p:spPr>
          <a:xfrm xmlns:a="http://schemas.openxmlformats.org/drawingml/2006/main" flipH="0" flipV="0">
            <a:off x="4667250" y="2476500"/>
            <a:ext cx="1362075" cy="0"/>
          </a:xfrm>
          <a:prstGeom xmlns:a="http://schemas.openxmlformats.org/drawingml/2006/main" prst="straightConnector1">
            <a:avLst/>
          </a:prstGeom>
          <a:ln xmlns:a="http://schemas.openxmlformats.org/drawingml/2006/main" w="28575">
            <a:solidFill>
              <a:srgbClr val="B55D09"/>
            </a:solidFill>
          </a:ln>
        </p:spPr>
      </p:cxnSp>
      <p:cxnSp>
        <p:nvCxnSpPr>
          <p:cNvPr id="12" name="">
            <a:extLst xmlns:a="http://schemas.openxmlformats.org/drawingml/2006/main">
              <a:ext uri="{FF2B5EF4-FFF2-40B4-BE49-F238E27FC236}">
                <a16:creationId xmlns:a16="http://schemas.microsoft.com/office/drawing/2014/main" id="{2D7AA525-19F1-43D1-9BB7-DA8C12628F94}"/>
              </a:ext>
            </a:extLst>
          </p:cNvPr>
          <p:cNvCxnSpPr/>
          <p:nvPr/>
        </p:nvCxnSpPr>
        <p:spPr>
          <a:xfrm xmlns:a="http://schemas.openxmlformats.org/drawingml/2006/main" flipH="0" flipV="0">
            <a:off x="1000125" y="4057650"/>
            <a:ext cx="1381125" cy="0"/>
          </a:xfrm>
          <a:prstGeom xmlns:a="http://schemas.openxmlformats.org/drawingml/2006/main" prst="straightConnector1">
            <a:avLst/>
          </a:prstGeom>
          <a:ln xmlns:a="http://schemas.openxmlformats.org/drawingml/2006/main" w="28575">
            <a:solidFill>
              <a:srgbClr val="B55D09"/>
            </a:solidFill>
          </a:ln>
        </p:spPr>
      </p:cxnSp>
      <p:cxnSp>
        <p:nvCxnSpPr>
          <p:cNvPr id="13" name="">
            <a:extLst xmlns:a="http://schemas.openxmlformats.org/drawingml/2006/main">
              <a:ext uri="{FF2B5EF4-FFF2-40B4-BE49-F238E27FC236}">
                <a16:creationId xmlns:a16="http://schemas.microsoft.com/office/drawing/2014/main" id="{AD790034-9047-4DBC-8F1B-9549AA29076C}"/>
              </a:ext>
            </a:extLst>
          </p:cNvPr>
          <p:cNvCxnSpPr/>
          <p:nvPr/>
        </p:nvCxnSpPr>
        <p:spPr>
          <a:xfrm xmlns:a="http://schemas.openxmlformats.org/drawingml/2006/main" flipH="0" flipV="0">
            <a:off x="2381250" y="40576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4" name="">
            <a:extLst xmlns:a="http://schemas.openxmlformats.org/drawingml/2006/main">
              <a:ext uri="{FF2B5EF4-FFF2-40B4-BE49-F238E27FC236}">
                <a16:creationId xmlns:a16="http://schemas.microsoft.com/office/drawing/2014/main" id="{DFBFD48C-3DDF-456C-AA40-B17235EEE57A}"/>
              </a:ext>
            </a:extLst>
          </p:cNvPr>
          <p:cNvCxnSpPr/>
          <p:nvPr/>
        </p:nvCxnSpPr>
        <p:spPr>
          <a:xfrm xmlns:a="http://schemas.openxmlformats.org/drawingml/2006/main" flipH="0" flipV="0">
            <a:off x="3048000" y="4191000"/>
            <a:ext cx="952500" cy="0"/>
          </a:xfrm>
          <a:prstGeom xmlns:a="http://schemas.openxmlformats.org/drawingml/2006/main" prst="straightConnector1">
            <a:avLst/>
          </a:prstGeom>
          <a:ln xmlns:a="http://schemas.openxmlformats.org/drawingml/2006/main" w="28575">
            <a:solidFill>
              <a:srgbClr val="B55D09"/>
            </a:solidFill>
          </a:ln>
        </p:spPr>
      </p:cxnSp>
      <p:cxnSp>
        <p:nvCxnSpPr>
          <p:cNvPr id="15" name="">
            <a:extLst xmlns:a="http://schemas.openxmlformats.org/drawingml/2006/main">
              <a:ext uri="{FF2B5EF4-FFF2-40B4-BE49-F238E27FC236}">
                <a16:creationId xmlns:a16="http://schemas.microsoft.com/office/drawing/2014/main" id="{865C3820-5EFF-495B-9023-CE036418C294}"/>
              </a:ext>
            </a:extLst>
          </p:cNvPr>
          <p:cNvCxnSpPr/>
          <p:nvPr/>
        </p:nvCxnSpPr>
        <p:spPr>
          <a:xfrm xmlns:a="http://schemas.openxmlformats.org/drawingml/2006/main" flipH="0" flipV="1">
            <a:off x="4000500" y="40576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6" name="">
            <a:extLst xmlns:a="http://schemas.openxmlformats.org/drawingml/2006/main">
              <a:ext uri="{FF2B5EF4-FFF2-40B4-BE49-F238E27FC236}">
                <a16:creationId xmlns:a16="http://schemas.microsoft.com/office/drawing/2014/main" id="{7185B409-C268-4219-BAD7-6B4F2C0FC206}"/>
              </a:ext>
            </a:extLst>
          </p:cNvPr>
          <p:cNvCxnSpPr/>
          <p:nvPr/>
        </p:nvCxnSpPr>
        <p:spPr>
          <a:xfrm xmlns:a="http://schemas.openxmlformats.org/drawingml/2006/main" flipH="0" flipV="0">
            <a:off x="4667250" y="4057650"/>
            <a:ext cx="1362075" cy="0"/>
          </a:xfrm>
          <a:prstGeom xmlns:a="http://schemas.openxmlformats.org/drawingml/2006/main" prst="straightConnector1">
            <a:avLst/>
          </a:prstGeom>
          <a:ln xmlns:a="http://schemas.openxmlformats.org/drawingml/2006/main" w="28575">
            <a:solidFill>
              <a:srgbClr val="B55D09"/>
            </a:solidFill>
          </a:ln>
        </p:spPr>
      </p:cxnSp>
      <p:cxnSp>
        <p:nvCxnSpPr>
          <p:cNvPr id="17" name="">
            <a:extLst xmlns:a="http://schemas.openxmlformats.org/drawingml/2006/main">
              <a:ext uri="{FF2B5EF4-FFF2-40B4-BE49-F238E27FC236}">
                <a16:creationId xmlns:a16="http://schemas.microsoft.com/office/drawing/2014/main" id="{16337706-3C02-4FCE-A090-6037C47302D4}"/>
              </a:ext>
            </a:extLst>
          </p:cNvPr>
          <p:cNvCxnSpPr/>
          <p:nvPr/>
        </p:nvCxnSpPr>
        <p:spPr>
          <a:xfrm xmlns:a="http://schemas.openxmlformats.org/drawingml/2006/main" flipH="0" flipV="0">
            <a:off x="1000125" y="2714625"/>
            <a:ext cx="1381125" cy="0"/>
          </a:xfrm>
          <a:prstGeom xmlns:a="http://schemas.openxmlformats.org/drawingml/2006/main" prst="straightConnector1">
            <a:avLst/>
          </a:prstGeom>
          <a:ln xmlns:a="http://schemas.openxmlformats.org/drawingml/2006/main" w="28575">
            <a:solidFill>
              <a:srgbClr val="B55D09"/>
            </a:solidFill>
          </a:ln>
        </p:spPr>
      </p:cxnSp>
      <p:cxnSp>
        <p:nvCxnSpPr>
          <p:cNvPr id="18" name="">
            <a:extLst xmlns:a="http://schemas.openxmlformats.org/drawingml/2006/main">
              <a:ext uri="{FF2B5EF4-FFF2-40B4-BE49-F238E27FC236}">
                <a16:creationId xmlns:a16="http://schemas.microsoft.com/office/drawing/2014/main" id="{03540F58-A70F-48D7-B85B-F56E07DA2DAE}"/>
              </a:ext>
            </a:extLst>
          </p:cNvPr>
          <p:cNvCxnSpPr/>
          <p:nvPr/>
        </p:nvCxnSpPr>
        <p:spPr>
          <a:xfrm xmlns:a="http://schemas.openxmlformats.org/drawingml/2006/main" flipH="0" flipV="1">
            <a:off x="2381250" y="25812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9" name="">
            <a:extLst xmlns:a="http://schemas.openxmlformats.org/drawingml/2006/main">
              <a:ext uri="{FF2B5EF4-FFF2-40B4-BE49-F238E27FC236}">
                <a16:creationId xmlns:a16="http://schemas.microsoft.com/office/drawing/2014/main" id="{B630146C-410F-42E0-83E6-21D7FA7F5AFC}"/>
              </a:ext>
            </a:extLst>
          </p:cNvPr>
          <p:cNvCxnSpPr/>
          <p:nvPr/>
        </p:nvCxnSpPr>
        <p:spPr>
          <a:xfrm xmlns:a="http://schemas.openxmlformats.org/drawingml/2006/main" flipH="0" flipV="0">
            <a:off x="3048000" y="2581275"/>
            <a:ext cx="952500" cy="0"/>
          </a:xfrm>
          <a:prstGeom xmlns:a="http://schemas.openxmlformats.org/drawingml/2006/main" prst="straightConnector1">
            <a:avLst/>
          </a:prstGeom>
          <a:ln xmlns:a="http://schemas.openxmlformats.org/drawingml/2006/main" w="28575">
            <a:solidFill>
              <a:srgbClr val="B55D09"/>
            </a:solidFill>
          </a:ln>
        </p:spPr>
      </p:cxnSp>
      <p:cxnSp>
        <p:nvCxnSpPr>
          <p:cNvPr id="20" name="">
            <a:extLst xmlns:a="http://schemas.openxmlformats.org/drawingml/2006/main">
              <a:ext uri="{FF2B5EF4-FFF2-40B4-BE49-F238E27FC236}">
                <a16:creationId xmlns:a16="http://schemas.microsoft.com/office/drawing/2014/main" id="{C3FFB20C-FC63-4A19-8A8A-3BC35B1F4917}"/>
              </a:ext>
            </a:extLst>
          </p:cNvPr>
          <p:cNvCxnSpPr/>
          <p:nvPr/>
        </p:nvCxnSpPr>
        <p:spPr>
          <a:xfrm xmlns:a="http://schemas.openxmlformats.org/drawingml/2006/main" flipH="0" flipV="0">
            <a:off x="4000500" y="25812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1" name="">
            <a:extLst xmlns:a="http://schemas.openxmlformats.org/drawingml/2006/main">
              <a:ext uri="{FF2B5EF4-FFF2-40B4-BE49-F238E27FC236}">
                <a16:creationId xmlns:a16="http://schemas.microsoft.com/office/drawing/2014/main" id="{FA3D12DB-D029-4DAE-B98F-AA4B67406B08}"/>
              </a:ext>
            </a:extLst>
          </p:cNvPr>
          <p:cNvCxnSpPr/>
          <p:nvPr/>
        </p:nvCxnSpPr>
        <p:spPr>
          <a:xfrm xmlns:a="http://schemas.openxmlformats.org/drawingml/2006/main" flipH="0" flipV="0">
            <a:off x="4667250" y="2714625"/>
            <a:ext cx="1362075" cy="0"/>
          </a:xfrm>
          <a:prstGeom xmlns:a="http://schemas.openxmlformats.org/drawingml/2006/main" prst="straightConnector1">
            <a:avLst/>
          </a:prstGeom>
          <a:ln xmlns:a="http://schemas.openxmlformats.org/drawingml/2006/main" w="28575">
            <a:solidFill>
              <a:srgbClr val="B55D09"/>
            </a:solidFill>
          </a:ln>
        </p:spPr>
      </p:cxnSp>
      <p:cxnSp>
        <p:nvCxnSpPr>
          <p:cNvPr id="22" name="">
            <a:extLst xmlns:a="http://schemas.openxmlformats.org/drawingml/2006/main">
              <a:ext uri="{FF2B5EF4-FFF2-40B4-BE49-F238E27FC236}">
                <a16:creationId xmlns:a16="http://schemas.microsoft.com/office/drawing/2014/main" id="{69AA5FFD-850D-48EB-9262-233B3DF468EA}"/>
              </a:ext>
            </a:extLst>
          </p:cNvPr>
          <p:cNvCxnSpPr/>
          <p:nvPr/>
        </p:nvCxnSpPr>
        <p:spPr>
          <a:xfrm xmlns:a="http://schemas.openxmlformats.org/drawingml/2006/main" flipH="0" flipV="0">
            <a:off x="1000125" y="4295775"/>
            <a:ext cx="1381125" cy="0"/>
          </a:xfrm>
          <a:prstGeom xmlns:a="http://schemas.openxmlformats.org/drawingml/2006/main" prst="straightConnector1">
            <a:avLst/>
          </a:prstGeom>
          <a:ln xmlns:a="http://schemas.openxmlformats.org/drawingml/2006/main" w="28575">
            <a:solidFill>
              <a:srgbClr val="B55D09"/>
            </a:solidFill>
          </a:ln>
        </p:spPr>
      </p:cxnSp>
      <p:cxnSp>
        <p:nvCxnSpPr>
          <p:cNvPr id="23" name="">
            <a:extLst xmlns:a="http://schemas.openxmlformats.org/drawingml/2006/main">
              <a:ext uri="{FF2B5EF4-FFF2-40B4-BE49-F238E27FC236}">
                <a16:creationId xmlns:a16="http://schemas.microsoft.com/office/drawing/2014/main" id="{5060F76F-B744-4D68-9A14-8B017EDC9686}"/>
              </a:ext>
            </a:extLst>
          </p:cNvPr>
          <p:cNvCxnSpPr/>
          <p:nvPr/>
        </p:nvCxnSpPr>
        <p:spPr>
          <a:xfrm xmlns:a="http://schemas.openxmlformats.org/drawingml/2006/main" flipH="0" flipV="0">
            <a:off x="2381250" y="42957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4" name="">
            <a:extLst xmlns:a="http://schemas.openxmlformats.org/drawingml/2006/main">
              <a:ext uri="{FF2B5EF4-FFF2-40B4-BE49-F238E27FC236}">
                <a16:creationId xmlns:a16="http://schemas.microsoft.com/office/drawing/2014/main" id="{49FF09B2-66DC-4940-B6B2-0790F4D721BE}"/>
              </a:ext>
            </a:extLst>
          </p:cNvPr>
          <p:cNvCxnSpPr/>
          <p:nvPr/>
        </p:nvCxnSpPr>
        <p:spPr>
          <a:xfrm xmlns:a="http://schemas.openxmlformats.org/drawingml/2006/main" flipH="0" flipV="0">
            <a:off x="3048000" y="4429125"/>
            <a:ext cx="952500" cy="0"/>
          </a:xfrm>
          <a:prstGeom xmlns:a="http://schemas.openxmlformats.org/drawingml/2006/main" prst="straightConnector1">
            <a:avLst/>
          </a:prstGeom>
          <a:ln xmlns:a="http://schemas.openxmlformats.org/drawingml/2006/main" w="28575">
            <a:solidFill>
              <a:srgbClr val="B55D09"/>
            </a:solidFill>
          </a:ln>
        </p:spPr>
      </p:cxnSp>
      <p:cxnSp>
        <p:nvCxnSpPr>
          <p:cNvPr id="25" name="">
            <a:extLst xmlns:a="http://schemas.openxmlformats.org/drawingml/2006/main">
              <a:ext uri="{FF2B5EF4-FFF2-40B4-BE49-F238E27FC236}">
                <a16:creationId xmlns:a16="http://schemas.microsoft.com/office/drawing/2014/main" id="{35662B82-BF71-4795-BA13-A4B3C0C366A5}"/>
              </a:ext>
            </a:extLst>
          </p:cNvPr>
          <p:cNvCxnSpPr/>
          <p:nvPr/>
        </p:nvCxnSpPr>
        <p:spPr>
          <a:xfrm xmlns:a="http://schemas.openxmlformats.org/drawingml/2006/main" flipH="0" flipV="1">
            <a:off x="4000500" y="42957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6" name="">
            <a:extLst xmlns:a="http://schemas.openxmlformats.org/drawingml/2006/main">
              <a:ext uri="{FF2B5EF4-FFF2-40B4-BE49-F238E27FC236}">
                <a16:creationId xmlns:a16="http://schemas.microsoft.com/office/drawing/2014/main" id="{47A8BC42-3492-4243-BCA1-68DDD64FECA7}"/>
              </a:ext>
            </a:extLst>
          </p:cNvPr>
          <p:cNvCxnSpPr/>
          <p:nvPr/>
        </p:nvCxnSpPr>
        <p:spPr>
          <a:xfrm xmlns:a="http://schemas.openxmlformats.org/drawingml/2006/main" flipH="0" flipV="0">
            <a:off x="4667250" y="4295775"/>
            <a:ext cx="1362075" cy="0"/>
          </a:xfrm>
          <a:prstGeom xmlns:a="http://schemas.openxmlformats.org/drawingml/2006/main" prst="straightConnector1">
            <a:avLst/>
          </a:prstGeom>
          <a:ln xmlns:a="http://schemas.openxmlformats.org/drawingml/2006/main" w="28575">
            <a:solidFill>
              <a:srgbClr val="B55D09"/>
            </a:solidFill>
          </a:ln>
        </p:spPr>
      </p:cxnSp>
      <p:cxnSp>
        <p:nvCxnSpPr>
          <p:cNvPr id="27" name="">
            <a:extLst xmlns:a="http://schemas.openxmlformats.org/drawingml/2006/main">
              <a:ext uri="{FF2B5EF4-FFF2-40B4-BE49-F238E27FC236}">
                <a16:creationId xmlns:a16="http://schemas.microsoft.com/office/drawing/2014/main" id="{630A28C4-9E91-4048-A85F-6ECD55730687}"/>
              </a:ext>
            </a:extLst>
          </p:cNvPr>
          <p:cNvCxnSpPr/>
          <p:nvPr/>
        </p:nvCxnSpPr>
        <p:spPr>
          <a:xfrm xmlns:a="http://schemas.openxmlformats.org/drawingml/2006/main" flipH="0" flipV="0">
            <a:off x="1000125" y="2952750"/>
            <a:ext cx="1381125" cy="0"/>
          </a:xfrm>
          <a:prstGeom xmlns:a="http://schemas.openxmlformats.org/drawingml/2006/main" prst="straightConnector1">
            <a:avLst/>
          </a:prstGeom>
          <a:ln xmlns:a="http://schemas.openxmlformats.org/drawingml/2006/main" w="28575">
            <a:solidFill>
              <a:srgbClr val="B55D09"/>
            </a:solidFill>
          </a:ln>
        </p:spPr>
      </p:cxnSp>
      <p:cxnSp>
        <p:nvCxnSpPr>
          <p:cNvPr id="28" name="">
            <a:extLst xmlns:a="http://schemas.openxmlformats.org/drawingml/2006/main">
              <a:ext uri="{FF2B5EF4-FFF2-40B4-BE49-F238E27FC236}">
                <a16:creationId xmlns:a16="http://schemas.microsoft.com/office/drawing/2014/main" id="{2AB652EE-D38F-4672-92C6-8600BFB22CE7}"/>
              </a:ext>
            </a:extLst>
          </p:cNvPr>
          <p:cNvCxnSpPr/>
          <p:nvPr/>
        </p:nvCxnSpPr>
        <p:spPr>
          <a:xfrm xmlns:a="http://schemas.openxmlformats.org/drawingml/2006/main" flipH="0" flipV="1">
            <a:off x="2381250" y="28194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9" name="">
            <a:extLst xmlns:a="http://schemas.openxmlformats.org/drawingml/2006/main">
              <a:ext uri="{FF2B5EF4-FFF2-40B4-BE49-F238E27FC236}">
                <a16:creationId xmlns:a16="http://schemas.microsoft.com/office/drawing/2014/main" id="{5D25DC83-BB6E-4952-8A73-02FEA66BD2DD}"/>
              </a:ext>
            </a:extLst>
          </p:cNvPr>
          <p:cNvCxnSpPr/>
          <p:nvPr/>
        </p:nvCxnSpPr>
        <p:spPr>
          <a:xfrm xmlns:a="http://schemas.openxmlformats.org/drawingml/2006/main" flipH="0" flipV="0">
            <a:off x="3048000" y="2819400"/>
            <a:ext cx="952500" cy="0"/>
          </a:xfrm>
          <a:prstGeom xmlns:a="http://schemas.openxmlformats.org/drawingml/2006/main" prst="straightConnector1">
            <a:avLst/>
          </a:prstGeom>
          <a:ln xmlns:a="http://schemas.openxmlformats.org/drawingml/2006/main" w="28575">
            <a:solidFill>
              <a:srgbClr val="B55D09"/>
            </a:solidFill>
          </a:ln>
        </p:spPr>
      </p:cxnSp>
      <p:cxnSp>
        <p:nvCxnSpPr>
          <p:cNvPr id="30" name="">
            <a:extLst xmlns:a="http://schemas.openxmlformats.org/drawingml/2006/main">
              <a:ext uri="{FF2B5EF4-FFF2-40B4-BE49-F238E27FC236}">
                <a16:creationId xmlns:a16="http://schemas.microsoft.com/office/drawing/2014/main" id="{A97FE6DD-EE64-4624-9D71-C6C76768AEE0}"/>
              </a:ext>
            </a:extLst>
          </p:cNvPr>
          <p:cNvCxnSpPr/>
          <p:nvPr/>
        </p:nvCxnSpPr>
        <p:spPr>
          <a:xfrm xmlns:a="http://schemas.openxmlformats.org/drawingml/2006/main" flipH="0" flipV="0">
            <a:off x="4000500" y="28194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1" name="">
            <a:extLst xmlns:a="http://schemas.openxmlformats.org/drawingml/2006/main">
              <a:ext uri="{FF2B5EF4-FFF2-40B4-BE49-F238E27FC236}">
                <a16:creationId xmlns:a16="http://schemas.microsoft.com/office/drawing/2014/main" id="{AD8EBD99-387D-4A57-9C1E-465C099D92ED}"/>
              </a:ext>
            </a:extLst>
          </p:cNvPr>
          <p:cNvCxnSpPr/>
          <p:nvPr/>
        </p:nvCxnSpPr>
        <p:spPr>
          <a:xfrm xmlns:a="http://schemas.openxmlformats.org/drawingml/2006/main" flipH="0" flipV="0">
            <a:off x="4667250" y="2952750"/>
            <a:ext cx="1362075" cy="0"/>
          </a:xfrm>
          <a:prstGeom xmlns:a="http://schemas.openxmlformats.org/drawingml/2006/main" prst="straightConnector1">
            <a:avLst/>
          </a:prstGeom>
          <a:ln xmlns:a="http://schemas.openxmlformats.org/drawingml/2006/main" w="28575">
            <a:solidFill>
              <a:srgbClr val="B55D09"/>
            </a:solidFill>
          </a:ln>
        </p:spPr>
      </p:cxnSp>
      <p:cxnSp>
        <p:nvCxnSpPr>
          <p:cNvPr id="32" name="">
            <a:extLst xmlns:a="http://schemas.openxmlformats.org/drawingml/2006/main">
              <a:ext uri="{FF2B5EF4-FFF2-40B4-BE49-F238E27FC236}">
                <a16:creationId xmlns:a16="http://schemas.microsoft.com/office/drawing/2014/main" id="{44C8A509-10DC-4DB5-9FFB-5FE75A1AFA66}"/>
              </a:ext>
            </a:extLst>
          </p:cNvPr>
          <p:cNvCxnSpPr/>
          <p:nvPr/>
        </p:nvCxnSpPr>
        <p:spPr>
          <a:xfrm xmlns:a="http://schemas.openxmlformats.org/drawingml/2006/main" flipH="0" flipV="0">
            <a:off x="1000125" y="4533900"/>
            <a:ext cx="1381125" cy="0"/>
          </a:xfrm>
          <a:prstGeom xmlns:a="http://schemas.openxmlformats.org/drawingml/2006/main" prst="straightConnector1">
            <a:avLst/>
          </a:prstGeom>
          <a:ln xmlns:a="http://schemas.openxmlformats.org/drawingml/2006/main" w="28575">
            <a:solidFill>
              <a:srgbClr val="B55D09"/>
            </a:solidFill>
          </a:ln>
        </p:spPr>
      </p:cxnSp>
      <p:cxnSp>
        <p:nvCxnSpPr>
          <p:cNvPr id="33" name="">
            <a:extLst xmlns:a="http://schemas.openxmlformats.org/drawingml/2006/main">
              <a:ext uri="{FF2B5EF4-FFF2-40B4-BE49-F238E27FC236}">
                <a16:creationId xmlns:a16="http://schemas.microsoft.com/office/drawing/2014/main" id="{03AD725C-7CD1-43DF-9C82-86FC5F26E317}"/>
              </a:ext>
            </a:extLst>
          </p:cNvPr>
          <p:cNvCxnSpPr/>
          <p:nvPr/>
        </p:nvCxnSpPr>
        <p:spPr>
          <a:xfrm xmlns:a="http://schemas.openxmlformats.org/drawingml/2006/main" flipH="0" flipV="0">
            <a:off x="2381250" y="45339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4" name="">
            <a:extLst xmlns:a="http://schemas.openxmlformats.org/drawingml/2006/main">
              <a:ext uri="{FF2B5EF4-FFF2-40B4-BE49-F238E27FC236}">
                <a16:creationId xmlns:a16="http://schemas.microsoft.com/office/drawing/2014/main" id="{EB801AB5-7FA1-4325-A136-CD33970777D0}"/>
              </a:ext>
            </a:extLst>
          </p:cNvPr>
          <p:cNvCxnSpPr/>
          <p:nvPr/>
        </p:nvCxnSpPr>
        <p:spPr>
          <a:xfrm xmlns:a="http://schemas.openxmlformats.org/drawingml/2006/main" flipH="0" flipV="0">
            <a:off x="3048000" y="4667250"/>
            <a:ext cx="952500" cy="0"/>
          </a:xfrm>
          <a:prstGeom xmlns:a="http://schemas.openxmlformats.org/drawingml/2006/main" prst="straightConnector1">
            <a:avLst/>
          </a:prstGeom>
          <a:ln xmlns:a="http://schemas.openxmlformats.org/drawingml/2006/main" w="28575">
            <a:solidFill>
              <a:srgbClr val="B55D09"/>
            </a:solidFill>
          </a:ln>
        </p:spPr>
      </p:cxnSp>
      <p:cxnSp>
        <p:nvCxnSpPr>
          <p:cNvPr id="35" name="">
            <a:extLst xmlns:a="http://schemas.openxmlformats.org/drawingml/2006/main">
              <a:ext uri="{FF2B5EF4-FFF2-40B4-BE49-F238E27FC236}">
                <a16:creationId xmlns:a16="http://schemas.microsoft.com/office/drawing/2014/main" id="{6B5832F8-EF8A-4F8B-AE2A-4618037318F5}"/>
              </a:ext>
            </a:extLst>
          </p:cNvPr>
          <p:cNvCxnSpPr/>
          <p:nvPr/>
        </p:nvCxnSpPr>
        <p:spPr>
          <a:xfrm xmlns:a="http://schemas.openxmlformats.org/drawingml/2006/main" flipH="0" flipV="1">
            <a:off x="4000500" y="45339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6" name="">
            <a:extLst xmlns:a="http://schemas.openxmlformats.org/drawingml/2006/main">
              <a:ext uri="{FF2B5EF4-FFF2-40B4-BE49-F238E27FC236}">
                <a16:creationId xmlns:a16="http://schemas.microsoft.com/office/drawing/2014/main" id="{5C2C1675-00C3-4DFB-BBB8-D33C935B7F87}"/>
              </a:ext>
            </a:extLst>
          </p:cNvPr>
          <p:cNvCxnSpPr/>
          <p:nvPr/>
        </p:nvCxnSpPr>
        <p:spPr>
          <a:xfrm xmlns:a="http://schemas.openxmlformats.org/drawingml/2006/main" flipH="0" flipV="0">
            <a:off x="4667250" y="4533900"/>
            <a:ext cx="1362075" cy="0"/>
          </a:xfrm>
          <a:prstGeom xmlns:a="http://schemas.openxmlformats.org/drawingml/2006/main" prst="straightConnector1">
            <a:avLst/>
          </a:prstGeom>
          <a:ln xmlns:a="http://schemas.openxmlformats.org/drawingml/2006/main" w="28575">
            <a:solidFill>
              <a:srgbClr val="B55D09"/>
            </a:solidFill>
          </a:ln>
        </p:spPr>
      </p:cxnSp>
      <p:sp>
        <p:nvSpPr>
          <p:cNvPr id="37" name="">
            <a:extLst xmlns:a="http://schemas.openxmlformats.org/drawingml/2006/main">
              <a:ext uri="{FF2B5EF4-FFF2-40B4-BE49-F238E27FC236}">
                <a16:creationId xmlns:a16="http://schemas.microsoft.com/office/drawing/2014/main" id="{93FC336D-18E9-4498-8D76-ADD69CE93A1B}"/>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節の周囲の繊維の乱れ</a:t>
            </a:r>
          </a:p>
        </p:txBody>
      </p:sp>
      <p:sp>
        <p:nvSpPr>
          <p:cNvPr id="38" name="">
            <a:extLst xmlns:a="http://schemas.openxmlformats.org/drawingml/2006/main">
              <a:ext uri="{FF2B5EF4-FFF2-40B4-BE49-F238E27FC236}">
                <a16:creationId xmlns:a16="http://schemas.microsoft.com/office/drawing/2014/main" id="{287FDE66-77F9-4EB2-A3A3-E769EAAB785C}"/>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節の位置・大きさ</a:t>
            </a:r>
          </a:p>
        </p:txBody>
      </p:sp>
      <p:sp>
        <p:nvSpPr>
          <p:cNvPr id="39" name="">
            <a:extLst xmlns:a="http://schemas.openxmlformats.org/drawingml/2006/main">
              <a:ext uri="{FF2B5EF4-FFF2-40B4-BE49-F238E27FC236}">
                <a16:creationId xmlns:a16="http://schemas.microsoft.com/office/drawing/2014/main" id="{30CE3389-DA0B-4D4A-AC69-F0B2B108643E}"/>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作用する力との関係</a:t>
            </a:r>
          </a:p>
        </p:txBody>
      </p:sp>
      <p:sp>
        <p:nvSpPr>
          <p:cNvPr id="40" name="">
            <a:extLst xmlns:a="http://schemas.openxmlformats.org/drawingml/2006/main">
              <a:ext uri="{FF2B5EF4-FFF2-40B4-BE49-F238E27FC236}">
                <a16:creationId xmlns:a16="http://schemas.microsoft.com/office/drawing/2014/main" id="{2FBDD5A5-2058-48F0-9304-CEF46647F23B}"/>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見た目だけで強度を即断しない</a:t>
            </a:r>
          </a:p>
        </p:txBody>
      </p:sp>
    </p:spTree>
    <p:extLst>
      <p:ext uri="{BB962C8B-B14F-4D97-AF65-F5344CB8AC3E}">
        <p14:creationId xmlns:p14="http://schemas.microsoft.com/office/powerpoint/2010/main" val="211079640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B6D562-9672-499F-88AB-F510F09A2BE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節の位置と荷重を対応させる</a:t>
            </a:r>
          </a:p>
        </p:txBody>
      </p:sp>
      <p:sp>
        <p:nvSpPr>
          <p:cNvPr id="2" name="">
            <a:extLst xmlns:a="http://schemas.openxmlformats.org/drawingml/2006/main">
              <a:ext uri="{FF2B5EF4-FFF2-40B4-BE49-F238E27FC236}">
                <a16:creationId xmlns:a16="http://schemas.microsoft.com/office/drawing/2014/main" id="{AAC99892-5246-4448-807B-4E3E723BA00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1B7C71-254B-44A8-ABAF-751228AD476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32CF772C-14DE-4BBB-852D-8E342D41C4B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A8FB8BFD-97C0-41A8-8115-FE9A646F3A70}"/>
              </a:ext>
            </a:extLst>
          </p:cNvPr>
          <p:cNvSpPr>
            <a:spLocks xmlns:a="http://schemas.openxmlformats.org/drawingml/2006/main" noGrp="1"/>
          </p:cNvSpPr>
          <p:nvPr/>
        </p:nvSpPr>
        <p:spPr>
          <a:xfrm xmlns:a="http://schemas.openxmlformats.org/drawingml/2006/main">
            <a:off x="838200" y="1704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下向きの中央集中荷重・左右単純支持の棒</a:t>
            </a:r>
          </a:p>
        </p:txBody>
      </p:sp>
      <p:sp>
        <p:nvSpPr>
          <p:cNvPr id="6" name="">
            <a:extLst xmlns:a="http://schemas.openxmlformats.org/drawingml/2006/main">
              <a:ext uri="{FF2B5EF4-FFF2-40B4-BE49-F238E27FC236}">
                <a16:creationId xmlns:a16="http://schemas.microsoft.com/office/drawing/2014/main" id="{461EF9E8-5A6F-4EF1-B806-2D9FFE741A0D}"/>
              </a:ext>
            </a:extLst>
          </p:cNvPr>
          <p:cNvSpPr>
            <a:spLocks xmlns:a="http://schemas.openxmlformats.org/drawingml/2006/main" noGrp="1"/>
          </p:cNvSpPr>
          <p:nvPr/>
        </p:nvSpPr>
        <p:spPr>
          <a:xfrm xmlns:a="http://schemas.openxmlformats.org/drawingml/2006/main">
            <a:off x="838200" y="2847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中央付近の下面に節　② 支点付近の上面に節</a:t>
            </a:r>
          </a:p>
        </p:txBody>
      </p:sp>
      <p:sp>
        <p:nvSpPr>
          <p:cNvPr id="7" name="">
            <a:extLst xmlns:a="http://schemas.openxmlformats.org/drawingml/2006/main">
              <a:ext uri="{FF2B5EF4-FFF2-40B4-BE49-F238E27FC236}">
                <a16:creationId xmlns:a16="http://schemas.microsoft.com/office/drawing/2014/main" id="{94A54473-EEEC-448E-863C-202C0F209981}"/>
              </a:ext>
            </a:extLst>
          </p:cNvPr>
          <p:cNvSpPr>
            <a:spLocks xmlns:a="http://schemas.openxmlformats.org/drawingml/2006/main" noGrp="1"/>
          </p:cNvSpPr>
          <p:nvPr/>
        </p:nvSpPr>
        <p:spPr>
          <a:xfrm xmlns:a="http://schemas.openxmlformats.org/drawingml/2006/main">
            <a:off x="838200" y="3990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引張側・圧縮側と、追加で必要な情報を書く</a:t>
            </a:r>
          </a:p>
        </p:txBody>
      </p:sp>
    </p:spTree>
    <p:extLst>
      <p:ext uri="{BB962C8B-B14F-4D97-AF65-F5344CB8AC3E}">
        <p14:creationId xmlns:p14="http://schemas.microsoft.com/office/powerpoint/2010/main" val="16589760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D88EEC-5586-4074-BAC0-6E9E9C6A76A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個体差と製品の品質</a:t>
            </a:r>
          </a:p>
        </p:txBody>
      </p:sp>
      <p:cxnSp>
        <p:nvCxnSpPr>
          <p:cNvPr id="2" name="">
            <a:extLst xmlns:a="http://schemas.openxmlformats.org/drawingml/2006/main">
              <a:ext uri="{FF2B5EF4-FFF2-40B4-BE49-F238E27FC236}">
                <a16:creationId xmlns:a16="http://schemas.microsoft.com/office/drawing/2014/main" id="{79D219BF-62EE-422F-8961-6C647782BA2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F898011-ADA2-4162-AAEE-EE10AF1B63B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D1D73DE4-9100-46A6-8DF6-E858CCA0FAC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68E446D5-0D74-43CB-9283-45839D898820}"/>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同じ樹種でも、年輪構造・密度・MFA・水分・節が異なる</a:t>
            </a:r>
          </a:p>
        </p:txBody>
      </p:sp>
      <p:sp>
        <p:nvSpPr>
          <p:cNvPr id="6" name="">
            <a:extLst xmlns:a="http://schemas.openxmlformats.org/drawingml/2006/main">
              <a:ext uri="{FF2B5EF4-FFF2-40B4-BE49-F238E27FC236}">
                <a16:creationId xmlns:a16="http://schemas.microsoft.com/office/drawing/2014/main" id="{567096B3-1844-4D4E-A8B2-70B09BFC53ED}"/>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平均値は集団の代表であり、手元の部材の値を確定するものではない</a:t>
            </a:r>
          </a:p>
        </p:txBody>
      </p:sp>
      <p:sp>
        <p:nvSpPr>
          <p:cNvPr id="7" name="">
            <a:extLst xmlns:a="http://schemas.openxmlformats.org/drawingml/2006/main">
              <a:ext uri="{FF2B5EF4-FFF2-40B4-BE49-F238E27FC236}">
                <a16:creationId xmlns:a16="http://schemas.microsoft.com/office/drawing/2014/main" id="{DFED96AA-1479-4B2B-8979-06441C4D734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構造用材では、等級や機械的な測定などで品質を区分する</a:t>
            </a:r>
          </a:p>
        </p:txBody>
      </p:sp>
      <p:sp>
        <p:nvSpPr>
          <p:cNvPr id="8" name="">
            <a:extLst xmlns:a="http://schemas.openxmlformats.org/drawingml/2006/main">
              <a:ext uri="{FF2B5EF4-FFF2-40B4-BE49-F238E27FC236}">
                <a16:creationId xmlns:a16="http://schemas.microsoft.com/office/drawing/2014/main" id="{A0ABBF20-8952-4D93-8F34-1E40E9AB9352}"/>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学校教材でも、目切れ・割れ・節の位置を用途に照らして選ぶ</a:t>
            </a:r>
          </a:p>
        </p:txBody>
      </p:sp>
      <p:sp>
        <p:nvSpPr>
          <p:cNvPr id="9" name="">
            <a:extLst xmlns:a="http://schemas.openxmlformats.org/drawingml/2006/main">
              <a:ext uri="{FF2B5EF4-FFF2-40B4-BE49-F238E27FC236}">
                <a16:creationId xmlns:a16="http://schemas.microsoft.com/office/drawing/2014/main" id="{A9CBF697-F14D-48F9-8160-C82F9F0DC95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見た目の好みと、必要な性能を満たす判断の根拠を分けて示す</a:t>
            </a:r>
          </a:p>
        </p:txBody>
      </p:sp>
    </p:spTree>
    <p:extLst>
      <p:ext uri="{BB962C8B-B14F-4D97-AF65-F5344CB8AC3E}">
        <p14:creationId xmlns:p14="http://schemas.microsoft.com/office/powerpoint/2010/main" val="46368504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BF959D-D087-4E64-9DD4-3503FA4BDF6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試料差と測定の違い</a:t>
            </a:r>
          </a:p>
        </p:txBody>
      </p:sp>
      <p:sp>
        <p:nvSpPr>
          <p:cNvPr id="2" name="">
            <a:extLst xmlns:a="http://schemas.openxmlformats.org/drawingml/2006/main">
              <a:ext uri="{FF2B5EF4-FFF2-40B4-BE49-F238E27FC236}">
                <a16:creationId xmlns:a16="http://schemas.microsoft.com/office/drawing/2014/main" id="{9229F748-7659-4B6C-8DA0-3D2A702188A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CB6F0E-1169-4582-9C81-5B9D678A7D1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31347EDD-44F5-415D-977A-F59BB823842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graphicFrame>
        <p:nvGraphicFramePr>
          <p:cNvPr id="5" name="">
            <a:extLst xmlns:a="http://schemas.openxmlformats.org/drawingml/2006/main">
              <a:ext uri="{FF2B5EF4-FFF2-40B4-BE49-F238E27FC236}">
                <a16:creationId xmlns:a16="http://schemas.microsoft.com/office/drawing/2014/main" id="{C6117674-C029-43CD-BA1E-1E9B1764FB60}"/>
              </a:ext>
            </a:extLst>
          </p:cNvPr>
          <p:cNvGraphicFramePr/>
          <p:nvPr/>
        </p:nvGraphicFramePr>
        <p:xfrm>
          <a:off xmlns:a="http://schemas.openxmlformats.org/drawingml/2006/main" x="838200" y="2047875"/>
          <a:ext xmlns:a="http://schemas.openxmlformats.org/drawingml/2006/main" cx="10477500" cy="2714625"/>
        </p:xfrm>
        <a:graphic xmlns:a="http://schemas.openxmlformats.org/drawingml/2006/main">
          <a:graphicData uri="http://schemas.openxmlformats.org/drawingml/2006/table">
            <a:tbl>
              <a:tblPr/>
              <a:tblGrid>
                <a:gridCol w="5715000"/>
                <a:gridCol w="4762500"/>
              </a:tblGrid>
              <a:tr h="904875">
                <a:tc>
                  <a:txBody>
                    <a:bodyPr lIns="114300" tIns="114300" rIns="114300" bIns="114300"/>
                    <a:lstStyle/>
                    <a:p>
                      <a:r>
                        <a:rPr sz="2175" b="1">
                          <a:solidFill>
                            <a:srgbClr val="FFFFFF"/>
                          </a:solidFill>
                          <a:latin typeface="Yu Gothic"/>
                          <a:ea typeface="Yu Gothic"/>
                          <a:cs typeface="Yu Gothic"/>
                        </a:rPr>
                        <a:t>説明用の仮想データ</a:t>
                      </a:r>
                    </a:p>
                  </a:txBody>
                  <a:tcPr marL="91440" marR="91440" marT="45720" marB="45720">
                    <a:solidFill>
                      <a:srgbClr val="18364F"/>
                    </a:solidFill>
                  </a:tcPr>
                </a:tc>
                <a:tc>
                  <a:txBody>
                    <a:bodyPr lIns="114300" tIns="114300" rIns="114300" bIns="114300"/>
                    <a:lstStyle/>
                    <a:p>
                      <a:r>
                        <a:rPr sz="2175" b="1">
                          <a:solidFill>
                            <a:srgbClr val="FFFFFF"/>
                          </a:solidFill>
                          <a:latin typeface="Yu Gothic"/>
                          <a:ea typeface="Yu Gothic"/>
                          <a:cs typeface="Yu Gothic"/>
                        </a:rPr>
                        <a:t>たわみ / mm</a:t>
                      </a:r>
                    </a:p>
                  </a:txBody>
                  <a:tcPr marL="91440" marR="91440" marT="45720" marB="45720">
                    <a:solidFill>
                      <a:srgbClr val="18364F"/>
                    </a:solidFill>
                  </a:tcPr>
                </a:tc>
              </a:tr>
              <a:tr h="904875">
                <a:tc>
                  <a:txBody>
                    <a:bodyPr lIns="114300" tIns="114300" rIns="114300" bIns="114300"/>
                    <a:lstStyle/>
                    <a:p>
                      <a:r>
                        <a:rPr sz="2175" b="0">
                          <a:solidFill>
                            <a:srgbClr val="253C4D"/>
                          </a:solidFill>
                          <a:latin typeface="Yu Gothic"/>
                          <a:ea typeface="Yu Gothic"/>
                          <a:cs typeface="Yu Gothic"/>
                        </a:rPr>
                        <a:t>同じ板を3回</a:t>
                      </a:r>
                    </a:p>
                  </a:txBody>
                  <a:tcPr marL="91440" marR="91440" marT="45720" marB="45720">
                    <a:solidFill>
                      <a:srgbClr val="F1F5F7"/>
                    </a:solidFill>
                  </a:tcPr>
                </a:tc>
                <a:tc>
                  <a:txBody>
                    <a:bodyPr lIns="114300" tIns="114300" rIns="114300" bIns="114300"/>
                    <a:lstStyle/>
                    <a:p>
                      <a:r>
                        <a:rPr sz="2175" b="0">
                          <a:solidFill>
                            <a:srgbClr val="253C4D"/>
                          </a:solidFill>
                          <a:latin typeface="Yu Gothic"/>
                          <a:ea typeface="Yu Gothic"/>
                          <a:cs typeface="Yu Gothic"/>
                        </a:rPr>
                        <a:t>1.0、1.1、1.0</a:t>
                      </a:r>
                    </a:p>
                  </a:txBody>
                  <a:tcPr marL="91440" marR="91440" marT="45720" marB="45720">
                    <a:solidFill>
                      <a:srgbClr val="F1F5F7"/>
                    </a:solidFill>
                  </a:tcPr>
                </a:tc>
              </a:tr>
              <a:tr h="904875">
                <a:tc>
                  <a:txBody>
                    <a:bodyPr lIns="114300" tIns="114300" rIns="114300" bIns="114300"/>
                    <a:lstStyle/>
                    <a:p>
                      <a:r>
                        <a:rPr sz="2175" b="0">
                          <a:solidFill>
                            <a:srgbClr val="253C4D"/>
                          </a:solidFill>
                          <a:latin typeface="Yu Gothic"/>
                          <a:ea typeface="Yu Gothic"/>
                          <a:cs typeface="Yu Gothic"/>
                        </a:rPr>
                        <a:t>別々の3枚</a:t>
                      </a:r>
                    </a:p>
                  </a:txBody>
                  <a:tcPr marL="91440" marR="91440" marT="45720" marB="45720">
                    <a:solidFill>
                      <a:srgbClr val="FFFFFF"/>
                    </a:solidFill>
                  </a:tcPr>
                </a:tc>
                <a:tc>
                  <a:txBody>
                    <a:bodyPr lIns="114300" tIns="114300" rIns="114300" bIns="114300"/>
                    <a:lstStyle/>
                    <a:p>
                      <a:r>
                        <a:rPr sz="2175" b="0">
                          <a:solidFill>
                            <a:srgbClr val="253C4D"/>
                          </a:solidFill>
                          <a:latin typeface="Yu Gothic"/>
                          <a:ea typeface="Yu Gothic"/>
                          <a:cs typeface="Yu Gothic"/>
                        </a:rPr>
                        <a:t>0.8、1.0、1.4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EFFE1AE-F4C2-4805-9AE5-10411942D1CF}"/>
              </a:ext>
            </a:extLst>
          </p:cNvPr>
          <p:cNvSpPr>
            <a:spLocks xmlns:a="http://schemas.openxmlformats.org/drawingml/2006/main" noGrp="1"/>
          </p:cNvSpPr>
          <p:nvPr/>
        </p:nvSpPr>
        <p:spPr>
          <a:xfrm xmlns:a="http://schemas.openxmlformats.org/drawingml/2006/main">
            <a:off x="838200" y="54102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別々の3枚にも測定差が重なる。各板を繰り返して確かめる。</a:t>
            </a:r>
          </a:p>
        </p:txBody>
      </p:sp>
    </p:spTree>
    <p:extLst>
      <p:ext uri="{BB962C8B-B14F-4D97-AF65-F5344CB8AC3E}">
        <p14:creationId xmlns:p14="http://schemas.microsoft.com/office/powerpoint/2010/main" val="182956121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CB4452-C538-45A3-9A4D-7DD10626ED95}"/>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断面の高さと繊維方向の説明</a:t>
            </a:r>
          </a:p>
        </p:txBody>
      </p:sp>
      <p:cxnSp>
        <p:nvCxnSpPr>
          <p:cNvPr id="2" name="">
            <a:extLst xmlns:a="http://schemas.openxmlformats.org/drawingml/2006/main">
              <a:ext uri="{FF2B5EF4-FFF2-40B4-BE49-F238E27FC236}">
                <a16:creationId xmlns:a16="http://schemas.microsoft.com/office/drawing/2014/main" id="{C7F2BD01-F3C9-4A06-908A-E5CA93B3192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DF3DBE50-8DF1-432F-B02F-A34D7DD00F4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22F0389-9C06-4D4E-90C1-28774EEE83B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7659D038-BEFD-4555-8AA8-DECDCC03A60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「縦にすると強い」の縦を、断面の高さと繊維方向に分ける</a:t>
            </a:r>
          </a:p>
        </p:txBody>
      </p:sp>
      <p:sp>
        <p:nvSpPr>
          <p:cNvPr id="6" name="">
            <a:extLst xmlns:a="http://schemas.openxmlformats.org/drawingml/2006/main">
              <a:ext uri="{FF2B5EF4-FFF2-40B4-BE49-F238E27FC236}">
                <a16:creationId xmlns:a16="http://schemas.microsoft.com/office/drawing/2014/main" id="{7C61F791-4FAF-47D9-9545-B0B6F6B1095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断面高さを変える比較では、材料の方向をそろえる</a:t>
            </a:r>
          </a:p>
        </p:txBody>
      </p:sp>
      <p:sp>
        <p:nvSpPr>
          <p:cNvPr id="7" name="">
            <a:extLst xmlns:a="http://schemas.openxmlformats.org/drawingml/2006/main">
              <a:ext uri="{FF2B5EF4-FFF2-40B4-BE49-F238E27FC236}">
                <a16:creationId xmlns:a16="http://schemas.microsoft.com/office/drawing/2014/main" id="{9EEDD46B-C8C7-41F3-86EE-FDCB73749A41}"/>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繊維方向を変える比較では、断面形状をそろえる</a:t>
            </a:r>
          </a:p>
        </p:txBody>
      </p:sp>
      <p:sp>
        <p:nvSpPr>
          <p:cNvPr id="8" name="">
            <a:extLst xmlns:a="http://schemas.openxmlformats.org/drawingml/2006/main">
              <a:ext uri="{FF2B5EF4-FFF2-40B4-BE49-F238E27FC236}">
                <a16:creationId xmlns:a16="http://schemas.microsoft.com/office/drawing/2014/main" id="{2728C230-566B-4A34-BB8A-FCC6778187C2}"/>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発問：同じ板を回した結果と、異なる木取りの板を比べた結果は同じ意味か</a:t>
            </a:r>
          </a:p>
        </p:txBody>
      </p:sp>
      <p:sp>
        <p:nvSpPr>
          <p:cNvPr id="9" name="">
            <a:extLst xmlns:a="http://schemas.openxmlformats.org/drawingml/2006/main">
              <a:ext uri="{FF2B5EF4-FFF2-40B4-BE49-F238E27FC236}">
                <a16:creationId xmlns:a16="http://schemas.microsoft.com/office/drawing/2014/main" id="{59C3B3E8-1620-40A8-AA71-585A63C9748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教科書の接点：繊維方向・節・部材の断面形状／A(1)ア</a:t>
            </a:r>
          </a:p>
        </p:txBody>
      </p:sp>
    </p:spTree>
    <p:extLst>
      <p:ext uri="{BB962C8B-B14F-4D97-AF65-F5344CB8AC3E}">
        <p14:creationId xmlns:p14="http://schemas.microsoft.com/office/powerpoint/2010/main" val="75917008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29F0F2-5EE2-4427-AD56-26E476CC92E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CF8DBD1E-2C2E-4059-A5DF-98347D434FC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2BDE56-4BC6-415D-85D5-BAA7B7617BF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8872E3A5-CBAD-464F-AC91-E0128BDD849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CEEF8358-C5B0-4F20-B794-85EA2DF3A1F1}"/>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28FCA3C4-BA7B-4ABF-80D3-788034E6E7C6}"/>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8934FD27-9155-4233-BE0F-2CAD92F710A4}"/>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4E373FE9-27DF-4A7B-8293-9AE28E8C049B}"/>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中学生への説明を修正するへ進みます。</a:t>
            </a:r>
          </a:p>
        </p:txBody>
      </p:sp>
    </p:spTree>
    <p:extLst>
      <p:ext uri="{BB962C8B-B14F-4D97-AF65-F5344CB8AC3E}">
        <p14:creationId xmlns:p14="http://schemas.microsoft.com/office/powerpoint/2010/main" val="96207524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6D56F1-5BF3-468C-AD03-9FDB0D0CF9E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中学生への説明を修正する</a:t>
            </a:r>
          </a:p>
        </p:txBody>
      </p:sp>
      <p:sp>
        <p:nvSpPr>
          <p:cNvPr id="2" name="">
            <a:extLst xmlns:a="http://schemas.openxmlformats.org/drawingml/2006/main">
              <a:ext uri="{FF2B5EF4-FFF2-40B4-BE49-F238E27FC236}">
                <a16:creationId xmlns:a16="http://schemas.microsoft.com/office/drawing/2014/main" id="{074F9696-F9EB-490D-94C9-6750B87A806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7C8BA1-A35A-4503-A65A-B6365A5A677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42B1A2F6-5617-49AD-9886-B2E6390BD77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3DD34136-9175-45AF-A490-D02D8926B2B4}"/>
              </a:ext>
            </a:extLst>
          </p:cNvPr>
          <p:cNvSpPr>
            <a:spLocks xmlns:a="http://schemas.openxmlformats.org/drawingml/2006/main" noGrp="1"/>
          </p:cNvSpPr>
          <p:nvPr/>
        </p:nvSpPr>
        <p:spPr>
          <a:xfrm xmlns:a="http://schemas.openxmlformats.org/drawingml/2006/main">
            <a:off x="838200" y="1704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生徒の説明：「立てると木のEが大きくなった」</a:t>
            </a:r>
          </a:p>
        </p:txBody>
      </p:sp>
      <p:sp>
        <p:nvSpPr>
          <p:cNvPr id="6" name="">
            <a:extLst xmlns:a="http://schemas.openxmlformats.org/drawingml/2006/main">
              <a:ext uri="{FF2B5EF4-FFF2-40B4-BE49-F238E27FC236}">
                <a16:creationId xmlns:a16="http://schemas.microsoft.com/office/drawing/2014/main" id="{D49FC6D1-DEAE-4B36-B49D-0164EB015025}"/>
              </a:ext>
            </a:extLst>
          </p:cNvPr>
          <p:cNvSpPr>
            <a:spLocks xmlns:a="http://schemas.openxmlformats.org/drawingml/2006/main" noGrp="1"/>
          </p:cNvSpPr>
          <p:nvPr/>
        </p:nvSpPr>
        <p:spPr>
          <a:xfrm xmlns:a="http://schemas.openxmlformats.org/drawingml/2006/main">
            <a:off x="838200" y="2847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同じ板・長さに沿う繊維・同じ荷重と支点間</a:t>
            </a:r>
          </a:p>
        </p:txBody>
      </p:sp>
      <p:sp>
        <p:nvSpPr>
          <p:cNvPr id="7" name="">
            <a:extLst xmlns:a="http://schemas.openxmlformats.org/drawingml/2006/main">
              <a:ext uri="{FF2B5EF4-FFF2-40B4-BE49-F238E27FC236}">
                <a16:creationId xmlns:a16="http://schemas.microsoft.com/office/drawing/2014/main" id="{860CB6D1-61FE-46E8-9614-C5125FEF9525}"/>
              </a:ext>
            </a:extLst>
          </p:cNvPr>
          <p:cNvSpPr>
            <a:spLocks xmlns:a="http://schemas.openxmlformats.org/drawingml/2006/main" noGrp="1"/>
          </p:cNvSpPr>
          <p:nvPr/>
        </p:nvSpPr>
        <p:spPr>
          <a:xfrm xmlns:a="http://schemas.openxmlformats.org/drawingml/2006/main">
            <a:off x="838200" y="3990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観察を生かし、理由を修正する文と確認の問いを作る</a:t>
            </a:r>
          </a:p>
        </p:txBody>
      </p:sp>
    </p:spTree>
    <p:extLst>
      <p:ext uri="{BB962C8B-B14F-4D97-AF65-F5344CB8AC3E}">
        <p14:creationId xmlns:p14="http://schemas.microsoft.com/office/powerpoint/2010/main" val="17474942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10D58C-D4CB-4486-81F0-78F67FC32E2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178541E3-1BAA-4479-9202-8C9038792E6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B7D3BD9-5C2B-4E1E-9AB4-032AFB9349B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19CD0496-D953-458C-B77C-1C3CB9487D7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F37A6344-97F7-4B8A-97BD-ED552DDB076B}"/>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Iを2倍にしたら、強度値も2倍になるか</a:t>
            </a:r>
          </a:p>
        </p:txBody>
      </p:sp>
      <p:sp>
        <p:nvSpPr>
          <p:cNvPr id="6" name="">
            <a:extLst xmlns:a="http://schemas.openxmlformats.org/drawingml/2006/main">
              <a:ext uri="{FF2B5EF4-FFF2-40B4-BE49-F238E27FC236}">
                <a16:creationId xmlns:a16="http://schemas.microsoft.com/office/drawing/2014/main" id="{6F57B66D-23B7-4AF2-B7A5-66A13A906FDB}"/>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密度は、測る向きでL・R・T別になるか</a:t>
            </a:r>
          </a:p>
        </p:txBody>
      </p:sp>
      <p:sp>
        <p:nvSpPr>
          <p:cNvPr id="7" name="">
            <a:extLst xmlns:a="http://schemas.openxmlformats.org/drawingml/2006/main">
              <a:ext uri="{FF2B5EF4-FFF2-40B4-BE49-F238E27FC236}">
                <a16:creationId xmlns:a16="http://schemas.microsoft.com/office/drawing/2014/main" id="{E11F7878-1E6C-412A-873B-5B5CB62311FC}"/>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目切れを確認する理由を説明する</a:t>
            </a:r>
          </a:p>
        </p:txBody>
      </p:sp>
    </p:spTree>
    <p:extLst>
      <p:ext uri="{BB962C8B-B14F-4D97-AF65-F5344CB8AC3E}">
        <p14:creationId xmlns:p14="http://schemas.microsoft.com/office/powerpoint/2010/main" val="148056423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9475EE-7F9A-4EFE-BE63-A297BF8B5F7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5FC3CDD8-8F9E-4521-AE91-C3976ED317D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4D30C07-EF6C-4F50-8A49-EB6ECEE7EE5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AB7E87A4-0572-487F-B5CA-0FB37D2951D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FDF7BBAD-0C02-42E8-9F92-952A2BE8E19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方向性・形状・欠点を分けて比較する</a:t>
            </a:r>
          </a:p>
        </p:txBody>
      </p:sp>
      <p:sp>
        <p:nvSpPr>
          <p:cNvPr id="6" name="">
            <a:extLst xmlns:a="http://schemas.openxmlformats.org/drawingml/2006/main">
              <a:ext uri="{FF2B5EF4-FFF2-40B4-BE49-F238E27FC236}">
                <a16:creationId xmlns:a16="http://schemas.microsoft.com/office/drawing/2014/main" id="{FF472ECE-6A3E-4998-A1EE-C24D5C608975}"/>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節や目切れを、力の向きと一緒に観察する</a:t>
            </a:r>
          </a:p>
        </p:txBody>
      </p:sp>
      <p:sp>
        <p:nvSpPr>
          <p:cNvPr id="7" name="">
            <a:extLst xmlns:a="http://schemas.openxmlformats.org/drawingml/2006/main">
              <a:ext uri="{FF2B5EF4-FFF2-40B4-BE49-F238E27FC236}">
                <a16:creationId xmlns:a16="http://schemas.microsoft.com/office/drawing/2014/main" id="{057C4173-54D5-4DDC-9905-121BEE848476}"/>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次は、空隙と密度を数値で扱う</a:t>
            </a:r>
          </a:p>
        </p:txBody>
      </p:sp>
    </p:spTree>
    <p:extLst>
      <p:ext uri="{BB962C8B-B14F-4D97-AF65-F5344CB8AC3E}">
        <p14:creationId xmlns:p14="http://schemas.microsoft.com/office/powerpoint/2010/main" val="130548607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ED795A-17FB-4DFD-A0F8-2E8AB62EE69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課題A2と復習の整理</a:t>
            </a:r>
          </a:p>
        </p:txBody>
      </p:sp>
      <p:cxnSp>
        <p:nvCxnSpPr>
          <p:cNvPr id="2" name="">
            <a:extLst xmlns:a="http://schemas.openxmlformats.org/drawingml/2006/main">
              <a:ext uri="{FF2B5EF4-FFF2-40B4-BE49-F238E27FC236}">
                <a16:creationId xmlns:a16="http://schemas.microsoft.com/office/drawing/2014/main" id="{016AFC1E-0EB9-49CE-BD87-F723E034016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5E73DFE-E540-4D6F-8B97-B675B2C3D46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A612F94-6C05-4292-9FBC-473A7290D9B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0E04275F-A039-431A-9453-9C29B487D608}"/>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第5～6回を、A2「力と変形を計算し比較する」で整理する</a:t>
            </a:r>
          </a:p>
        </p:txBody>
      </p:sp>
      <p:sp>
        <p:nvSpPr>
          <p:cNvPr id="6" name="">
            <a:extLst xmlns:a="http://schemas.openxmlformats.org/drawingml/2006/main">
              <a:ext uri="{FF2B5EF4-FFF2-40B4-BE49-F238E27FC236}">
                <a16:creationId xmlns:a16="http://schemas.microsoft.com/office/drawing/2014/main" id="{F772DB33-56D2-4E85-9959-E7F7A591DC44}"/>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講義資料と文献を参照し、回答IDごとに記入する</a:t>
            </a:r>
          </a:p>
        </p:txBody>
      </p:sp>
      <p:sp>
        <p:nvSpPr>
          <p:cNvPr id="7" name="">
            <a:extLst xmlns:a="http://schemas.openxmlformats.org/drawingml/2006/main">
              <a:ext uri="{FF2B5EF4-FFF2-40B4-BE49-F238E27FC236}">
                <a16:creationId xmlns:a16="http://schemas.microsoft.com/office/drawing/2014/main" id="{B382C3B3-CDB2-45EA-9278-FEA3144142DE}"/>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基本70点・発展30点。途中式、単位、根拠を残す</a:t>
            </a:r>
          </a:p>
        </p:txBody>
      </p:sp>
      <p:sp>
        <p:nvSpPr>
          <p:cNvPr id="8" name="">
            <a:extLst xmlns:a="http://schemas.openxmlformats.org/drawingml/2006/main">
              <a:ext uri="{FF2B5EF4-FFF2-40B4-BE49-F238E27FC236}">
                <a16:creationId xmlns:a16="http://schemas.microsoft.com/office/drawing/2014/main" id="{80883ECD-DD0F-4715-881D-5695AF27FA30}"/>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調べ学習では、出典の該当箇所と自分の判断を分けて記す</a:t>
            </a:r>
          </a:p>
        </p:txBody>
      </p:sp>
    </p:spTree>
    <p:extLst>
      <p:ext uri="{BB962C8B-B14F-4D97-AF65-F5344CB8AC3E}">
        <p14:creationId xmlns:p14="http://schemas.microsoft.com/office/powerpoint/2010/main" val="55078660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23C26A-A3B2-4981-94A1-596170460A0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4EAC6BE8-04DE-4B6C-AB25-2438A5AA9B6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AE088EB1-35B6-4099-8DC4-D9BB94EAB6D2}"/>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第3章 </a:t>
            </a:r>
          </a:p>
        </p:txBody>
      </p:sp>
      <p:sp>
        <p:nvSpPr>
          <p:cNvPr id="4" name="">
            <a:extLst xmlns:a="http://schemas.openxmlformats.org/drawingml/2006/main">
              <a:ext uri="{FF2B5EF4-FFF2-40B4-BE49-F238E27FC236}">
                <a16:creationId xmlns:a16="http://schemas.microsoft.com/office/drawing/2014/main" id="{F43D5463-52DB-4AF1-A60A-DA9683AEAC72}"/>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https://research.fs.usda.gov/treesearch/62242</a:t>
            </a:r>
          </a:p>
        </p:txBody>
      </p:sp>
      <p:sp>
        <p:nvSpPr>
          <p:cNvPr id="5" name="">
            <a:extLst xmlns:a="http://schemas.openxmlformats.org/drawingml/2006/main">
              <a:ext uri="{FF2B5EF4-FFF2-40B4-BE49-F238E27FC236}">
                <a16:creationId xmlns:a16="http://schemas.microsoft.com/office/drawing/2014/main" id="{A411FD9C-FB42-4741-8496-D2E9A7489F96}"/>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第5章 </a:t>
            </a:r>
          </a:p>
        </p:txBody>
      </p:sp>
      <p:sp>
        <p:nvSpPr>
          <p:cNvPr id="6" name="">
            <a:extLst xmlns:a="http://schemas.openxmlformats.org/drawingml/2006/main">
              <a:ext uri="{FF2B5EF4-FFF2-40B4-BE49-F238E27FC236}">
                <a16:creationId xmlns:a16="http://schemas.microsoft.com/office/drawing/2014/main" id="{963CE6C4-21D9-4082-8FCA-EDAACE744B80}"/>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https://research.fs.usda.gov/treesearch/62244</a:t>
            </a:r>
          </a:p>
        </p:txBody>
      </p:sp>
      <p:sp>
        <p:nvSpPr>
          <p:cNvPr id="7" name="">
            <a:extLst xmlns:a="http://schemas.openxmlformats.org/drawingml/2006/main">
              <a:ext uri="{FF2B5EF4-FFF2-40B4-BE49-F238E27FC236}">
                <a16:creationId xmlns:a16="http://schemas.microsoft.com/office/drawing/2014/main" id="{33ABD0C2-154F-4345-BE22-0808FB986517}"/>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第8章 </a:t>
            </a:r>
          </a:p>
        </p:txBody>
      </p:sp>
      <p:sp>
        <p:nvSpPr>
          <p:cNvPr id="8" name="">
            <a:extLst xmlns:a="http://schemas.openxmlformats.org/drawingml/2006/main">
              <a:ext uri="{FF2B5EF4-FFF2-40B4-BE49-F238E27FC236}">
                <a16:creationId xmlns:a16="http://schemas.microsoft.com/office/drawing/2014/main" id="{A63EC3E0-5510-41E5-8E58-1F2F666A47D5}"/>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https://research.fs.usda.gov/treesearch/62253</a:t>
            </a:r>
          </a:p>
        </p:txBody>
      </p:sp>
      <p:sp>
        <p:nvSpPr>
          <p:cNvPr id="9" name="">
            <a:extLst xmlns:a="http://schemas.openxmlformats.org/drawingml/2006/main">
              <a:ext uri="{FF2B5EF4-FFF2-40B4-BE49-F238E27FC236}">
                <a16:creationId xmlns:a16="http://schemas.microsoft.com/office/drawing/2014/main" id="{E21CF405-33E1-4063-B77A-DB6D3B472C81}"/>
              </a:ext>
            </a:extLst>
          </p:cNvPr>
          <p:cNvSpPr>
            <a:spLocks xmlns:a="http://schemas.openxmlformats.org/drawingml/2006/main" noGrp="1"/>
          </p:cNvSpPr>
          <p:nvPr/>
        </p:nvSpPr>
        <p:spPr>
          <a:xfrm xmlns:a="http://schemas.openxmlformats.org/drawingml/2006/main">
            <a:off x="685800" y="4591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10" name="">
            <a:extLst xmlns:a="http://schemas.openxmlformats.org/drawingml/2006/main">
              <a:ext uri="{FF2B5EF4-FFF2-40B4-BE49-F238E27FC236}">
                <a16:creationId xmlns:a16="http://schemas.microsoft.com/office/drawing/2014/main" id="{9D10B59A-B458-4193-B404-AF924B645B81}"/>
              </a:ext>
            </a:extLst>
          </p:cNvPr>
          <p:cNvSpPr>
            <a:spLocks xmlns:a="http://schemas.openxmlformats.org/drawingml/2006/main" noGrp="1"/>
          </p:cNvSpPr>
          <p:nvPr/>
        </p:nvSpPr>
        <p:spPr>
          <a:xfrm xmlns:a="http://schemas.openxmlformats.org/drawingml/2006/main">
            <a:off x="685800" y="50006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11" name="">
            <a:extLst xmlns:a="http://schemas.openxmlformats.org/drawingml/2006/main">
              <a:ext uri="{FF2B5EF4-FFF2-40B4-BE49-F238E27FC236}">
                <a16:creationId xmlns:a16="http://schemas.microsoft.com/office/drawing/2014/main" id="{A167502D-F8E3-40D2-8797-AC86278182A4}"/>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2" name="">
            <a:extLst xmlns:a="http://schemas.openxmlformats.org/drawingml/2006/main">
              <a:ext uri="{FF2B5EF4-FFF2-40B4-BE49-F238E27FC236}">
                <a16:creationId xmlns:a16="http://schemas.microsoft.com/office/drawing/2014/main" id="{54308C31-4A62-47F3-9973-6D4149EEEF0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13" name="">
            <a:extLst xmlns:a="http://schemas.openxmlformats.org/drawingml/2006/main">
              <a:ext uri="{FF2B5EF4-FFF2-40B4-BE49-F238E27FC236}">
                <a16:creationId xmlns:a16="http://schemas.microsoft.com/office/drawing/2014/main" id="{84B80357-70F4-4789-B916-2FA7A265860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Tree>
    <p:extLst>
      <p:ext uri="{BB962C8B-B14F-4D97-AF65-F5344CB8AC3E}">
        <p14:creationId xmlns:p14="http://schemas.microsoft.com/office/powerpoint/2010/main" val="111883280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90230A-8837-4555-97DB-95BCC1FDBD7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参考資料と調べ学習</a:t>
            </a:r>
          </a:p>
        </p:txBody>
      </p:sp>
      <p:cxnSp>
        <p:nvCxnSpPr>
          <p:cNvPr id="2" name="">
            <a:extLst xmlns:a="http://schemas.openxmlformats.org/drawingml/2006/main">
              <a:ext uri="{FF2B5EF4-FFF2-40B4-BE49-F238E27FC236}">
                <a16:creationId xmlns:a16="http://schemas.microsoft.com/office/drawing/2014/main" id="{14B3A7A9-84F0-4016-AA34-37827AED94D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C0D1A1D-D4BC-4F04-9EC8-68E883296D32}"/>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教育図書 R7内容解説 目次・掲載見本</a:t>
            </a:r>
          </a:p>
        </p:txBody>
      </p:sp>
      <p:sp>
        <p:nvSpPr>
          <p:cNvPr id="4" name="">
            <a:extLst xmlns:a="http://schemas.openxmlformats.org/drawingml/2006/main">
              <a:ext uri="{FF2B5EF4-FFF2-40B4-BE49-F238E27FC236}">
                <a16:creationId xmlns:a16="http://schemas.microsoft.com/office/drawing/2014/main" id="{27DDD69C-3768-4E74-9961-D6B1434476BC}"/>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https://www.kyoiku-tosho.co.jp/wp/wp-content/uploads/2024/04/G_R7kaisetu.pdf</a:t>
            </a:r>
          </a:p>
        </p:txBody>
      </p:sp>
      <p:sp>
        <p:nvSpPr>
          <p:cNvPr id="5" name="">
            <a:extLst xmlns:a="http://schemas.openxmlformats.org/drawingml/2006/main">
              <a:ext uri="{FF2B5EF4-FFF2-40B4-BE49-F238E27FC236}">
                <a16:creationId xmlns:a16="http://schemas.microsoft.com/office/drawing/2014/main" id="{A803A0AA-98D9-4EAA-9877-B4E08A579FEA}"/>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6" name="">
            <a:extLst xmlns:a="http://schemas.openxmlformats.org/drawingml/2006/main">
              <a:ext uri="{FF2B5EF4-FFF2-40B4-BE49-F238E27FC236}">
                <a16:creationId xmlns:a16="http://schemas.microsoft.com/office/drawing/2014/main" id="{B0B08272-83CD-48BA-AB75-64C830A43D3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7" name="">
            <a:extLst xmlns:a="http://schemas.openxmlformats.org/drawingml/2006/main">
              <a:ext uri="{FF2B5EF4-FFF2-40B4-BE49-F238E27FC236}">
                <a16:creationId xmlns:a16="http://schemas.microsoft.com/office/drawing/2014/main" id="{CBF1FE4A-6EDE-4048-92BA-EB09E8B702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Tree>
    <p:extLst>
      <p:ext uri="{BB962C8B-B14F-4D97-AF65-F5344CB8AC3E}">
        <p14:creationId xmlns:p14="http://schemas.microsoft.com/office/powerpoint/2010/main" val="632611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2026-10-31T09:04:02.3410000Z</dcterms:created>
  <dcterms:modified xsi:type="dcterms:W3CDTF">2026-10-31T09:04:02.3410000Z</dcterms:modified>
</coreProperties>
</file>