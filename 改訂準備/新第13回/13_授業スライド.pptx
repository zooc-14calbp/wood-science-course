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2.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2" r:id="rId16"/>
    <p:sldId id="273" r:id="rId17"/>
    <p:sldId id="274" r:id="rId18"/>
    <p:sldId id="276" r:id="rId19"/>
    <p:sldId id="277" r:id="rId20"/>
    <p:sldId id="279" r:id="rId21"/>
    <p:sldId id="280" r:id="rId22"/>
    <p:sldId id="281" r:id="rId23"/>
    <p:sldId id="282" r:id="rId24"/>
    <p:sldId id="283" r:id="rId25"/>
    <p:sldId id="284" r:id="rId26"/>
    <p:sldId id="262" r:id="rId27"/>
    <p:sldId id="285" r:id="rId28"/>
    <p:sldId id="286" r:id="rId29"/>
    <p:sldId id="287" r:id="rId30"/>
    <p:sldId id="278" r:id="rId31"/>
    <p:sldId id="288" r:id="rId32"/>
    <p:sldId id="289" r:id="rId33"/>
    <p:sldId id="290" r:id="rId34"/>
    <p:sldId id="291" r:id="rId35"/>
    <p:sldId id="292" r:id="rId36"/>
    <p:sldId id="293" r:id="rId37"/>
    <p:sldId id="294" r:id="rId38"/>
    <p:sldId id="295" r:id="rId39"/>
    <p:sldId id="296" r:id="rId40"/>
    <p:sldId id="297" r:id="rId41"/>
    <p:sldId id="271"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層ごとの仮想平均密度</c:v>
          </c:tx>
          <c:spPr>
            <a:solidFill>
              <a:srgbClr val="087E8B"/>
            </a:solidFill>
          </c:spPr>
          <c:invertIfNegative val="0"/>
          <c:cat>
            <c:strRef>
              <c:f>'Chart Data'!$A$2:$A$6</c:f>
              <c:strCache>
                <c:ptCount val="5"/>
                <c:pt idx="0">
                  <c:v>0–2</c:v>
                </c:pt>
                <c:pt idx="1">
                  <c:v>2–4</c:v>
                </c:pt>
                <c:pt idx="2">
                  <c:v>4–6</c:v>
                </c:pt>
                <c:pt idx="3">
                  <c:v>6–8</c:v>
                </c:pt>
                <c:pt idx="4">
                  <c:v>8–10</c:v>
                </c:pt>
              </c:strCache>
            </c:strRef>
          </c:cat>
          <c:val>
            <c:numRef>
              <c:f>'Chart Data'!$B$2:$B$6</c:f>
              <c:numCache>
                <c:formatCode>General</c:formatCode>
                <c:ptCount val="5"/>
                <c:pt idx="0">
                  <c:v>900</c:v>
                </c:pt>
                <c:pt idx="1">
                  <c:v>500</c:v>
                </c:pt>
                <c:pt idx="2">
                  <c:v>500</c:v>
                </c:pt>
                <c:pt idx="3">
                  <c:v>500</c:v>
                </c:pt>
                <c:pt idx="4">
                  <c:v>900</c:v>
                </c:pt>
              </c:numCache>
            </c:numRef>
          </c:val>
          <c:extLst>
            <c:ext xmlns:c16="http://schemas.microsoft.com/office/drawing/2014/chart" uri="{C3380CC4-5D6E-409C-BE32-E72D297353CC}">
              <c16:uniqueId val="{00000000-3201-4A93-AF7E-10720B9AAA4A}"/>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title>
          <c:tx>
            <c:rich>
              <a:bodyPr/>
              <a:lstStyle/>
              <a:p>
                <a:r>
                  <a:rPr>
                    <a:latin typeface="Yu Gothic"/>
                    <a:ea typeface="Yu Gothic"/>
                    <a:cs typeface="Yu Gothic"/>
                  </a:rPr>
                  <a:t>表面からの深さ区間（mm）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scaling>
        <c:delete val="0"/>
        <c:axPos val="l"/>
        <c:title>
          <c:tx>
            <c:rich>
              <a:bodyPr/>
              <a:lstStyle/>
              <a:p>
                <a:r>
                  <a:rPr>
                    <a:latin typeface="Yu Gothic"/>
                    <a:ea typeface="Yu Gothic"/>
                    <a:cs typeface="Yu Gothic"/>
                  </a:rPr>
                  <a:t>密度（kg/m³）</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Yu Gothic"/>
                <a:ea typeface="Yu Gothic"/>
                <a:cs typeface="Yu Gothic"/>
              </a:defRPr>
            </a:pPr>
            <a:endParaRPr lang="ja-JP"/>
          </a:p>
        </c:txPr>
        <c:crossAx val="48650112"/>
        <c:crosses val="autoZero"/>
        <c:crossBetween val="between"/>
      </c:valAx>
      <c:spPr>
        <a:solidFill>
          <a:srgbClr val="FFFFFF"/>
        </a:solidFill>
      </c:spPr>
    </c:plotArea>
    <c:legend>
      <c:legendPos val="b"/>
      <c:overlay val="0"/>
      <c:txPr>
        <a:bodyPr anchorCtr="1"/>
        <a:lstStyle/>
        <a:p>
          <a:pPr>
            <a:defRPr sz="1575">
              <a:latin typeface="Yu Gothic"/>
              <a:ea typeface="Yu Gothic"/>
              <a:cs typeface="Yu Gothic"/>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構成A</c:v>
          </c:tx>
          <c:spPr>
            <a:ln w="38100">
              <a:solidFill>
                <a:srgbClr val="2876A8"/>
              </a:solidFill>
            </a:ln>
          </c:spPr>
          <c:marker>
            <c:symbol val="circle"/>
            <c:size val="6"/>
            <c:spPr>
              <a:solidFill>
                <a:srgbClr val="2876A8"/>
              </a:solidFill>
            </c:spPr>
          </c:marker>
          <c:cat>
            <c:numRef>
              <c:f>'Chart Data'!$A$2:$A$6</c:f>
              <c:numCache>
                <c:formatCode>General</c:formatCode>
                <c:ptCount val="5"/>
                <c:pt idx="0">
                  <c:v>0</c:v>
                </c:pt>
                <c:pt idx="1">
                  <c:v>25</c:v>
                </c:pt>
                <c:pt idx="2">
                  <c:v>50</c:v>
                </c:pt>
                <c:pt idx="3">
                  <c:v>75</c:v>
                </c:pt>
                <c:pt idx="4">
                  <c:v>100</c:v>
                </c:pt>
              </c:numCache>
            </c:numRef>
          </c:cat>
          <c:val>
            <c:numRef>
              <c:f>'Chart Data'!$B$2:$B$6</c:f>
              <c:numCache>
                <c:formatCode>General</c:formatCode>
                <c:ptCount val="5"/>
                <c:pt idx="0">
                  <c:v>0</c:v>
                </c:pt>
                <c:pt idx="1">
                  <c:v>0.210307</c:v>
                </c:pt>
                <c:pt idx="2">
                  <c:v>0.420613</c:v>
                </c:pt>
                <c:pt idx="3">
                  <c:v>0.63092</c:v>
                </c:pt>
                <c:pt idx="4">
                  <c:v>0.841226</c:v>
                </c:pt>
              </c:numCache>
            </c:numRef>
          </c:val>
          <c:smooth val="1"/>
          <c:extLst>
            <c:ext xmlns:c16="http://schemas.microsoft.com/office/drawing/2014/chart" uri="{C3380CC4-5D6E-409C-BE32-E72D297353CC}">
              <c16:uniqueId val="{00000000-77AA-4AFC-B0E8-7E8B72FDAE29}"/>
            </c:ext>
          </c:extLst>
        </c:ser>
        <c:ser>
          <c:idx val="1"/>
          <c:order val="1"/>
          <c:tx>
            <c:v>構成C</c:v>
          </c:tx>
          <c:spPr>
            <a:ln w="38100">
              <a:solidFill>
                <a:srgbClr val="C4483C"/>
              </a:solidFill>
            </a:ln>
          </c:spPr>
          <c:marker>
            <c:symbol val="circle"/>
            <c:size val="6"/>
            <c:spPr>
              <a:solidFill>
                <a:srgbClr val="C4483C"/>
              </a:solidFill>
            </c:spPr>
          </c:marker>
          <c:cat>
            <c:numRef>
              <c:f>'Chart Data'!$C$2:$C$6</c:f>
              <c:numCache>
                <c:formatCode>General</c:formatCode>
                <c:ptCount val="5"/>
                <c:pt idx="0">
                  <c:v>0</c:v>
                </c:pt>
                <c:pt idx="1">
                  <c:v>25</c:v>
                </c:pt>
                <c:pt idx="2">
                  <c:v>50</c:v>
                </c:pt>
                <c:pt idx="3">
                  <c:v>75</c:v>
                </c:pt>
                <c:pt idx="4">
                  <c:v>100</c:v>
                </c:pt>
              </c:numCache>
            </c:numRef>
          </c:cat>
          <c:val>
            <c:numRef>
              <c:f>'Chart Data'!$D$2:$D$6</c:f>
              <c:numCache>
                <c:formatCode>General</c:formatCode>
                <c:ptCount val="5"/>
                <c:pt idx="0">
                  <c:v>0</c:v>
                </c:pt>
                <c:pt idx="1">
                  <c:v>0.661246</c:v>
                </c:pt>
                <c:pt idx="2">
                  <c:v>1.322492</c:v>
                </c:pt>
                <c:pt idx="3">
                  <c:v>1.983738</c:v>
                </c:pt>
                <c:pt idx="4">
                  <c:v>2.644984</c:v>
                </c:pt>
              </c:numCache>
            </c:numRef>
          </c:val>
          <c:smooth val="1"/>
          <c:extLst>
            <c:ext xmlns:c16="http://schemas.microsoft.com/office/drawing/2014/chart" uri="{C3380CC4-5D6E-409C-BE32-E72D297353CC}">
              <c16:uniqueId val="{00000001-77AA-4AFC-B0E8-7E8B72FDAE2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荷重F（N）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scaling>
        <c:delete val="0"/>
        <c:axPos val="l"/>
        <c:title>
          <c:tx>
            <c:rich>
              <a:bodyPr/>
              <a:lstStyle/>
              <a:p>
                <a:r>
                  <a:rPr>
                    <a:latin typeface="Yu Gothic"/>
                    <a:ea typeface="Yu Gothic"/>
                    <a:cs typeface="Yu Gothic"/>
                  </a:rPr>
                  <a:t>中央たわみδ（mm）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Yu Gothic"/>
                <a:ea typeface="Yu Gothic"/>
                <a:cs typeface="Yu Gothic"/>
              </a:defRPr>
            </a:pPr>
            <a:endParaRPr lang="ja-JP"/>
          </a:p>
        </c:txPr>
        <c:crossAx val="48650112"/>
        <c:crosses val="autoZero"/>
        <c:crossBetween val="between"/>
      </c:valAx>
      <c:spPr>
        <a:solidFill>
          <a:srgbClr val="FFFFFF"/>
        </a:solidFill>
      </c:spPr>
    </c:plotArea>
    <c:legend>
      <c:legendPos val="b"/>
      <c:overlay val="0"/>
      <c:txPr>
        <a:bodyPr anchorCtr="1"/>
        <a:lstStyle/>
        <a:p>
          <a:pPr>
            <a:defRPr sz="1575">
              <a:latin typeface="Yu Gothic"/>
              <a:ea typeface="Yu Gothic"/>
              <a:cs typeface="Yu Gothic"/>
            </a:defRPr>
          </a:pPr>
          <a:endParaRPr lang="ja-JP"/>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2FC6E-A356-45D7-A9F5-4EF80340E522}" type="datetimeFigureOut">
              <a:rPr kumimoji="1" lang="ja-JP" altLang="en-US" smtClean="0"/>
              <a:t>2026/10/31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667B4-7E32-4C69-8DD2-2E8CC0E2DB68}" type="slidenum">
              <a:rPr kumimoji="1" lang="ja-JP" altLang="en-US" smtClean="0"/>
              <a:t>‹#›</a:t>
            </a:fld>
            <a:endParaRPr kumimoji="1" lang="ja-JP" altLang="en-US"/>
          </a:p>
        </p:txBody>
      </p:sp>
    </p:spTree>
    <p:extLst>
      <p:ext uri="{BB962C8B-B14F-4D97-AF65-F5344CB8AC3E}">
        <p14:creationId xmlns:p14="http://schemas.microsoft.com/office/powerpoint/2010/main" val="1430079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新構成の第13回です。接着剤の名前を覚えるだけで終わらず、接着部にどのように力が伝わり、木質材料の構成や使用条件にどう関係するかを考えます。旧第11回の接着・塗装と旧第12回の木質材料を再構成しました。正式課題A1〜A4の配点や提出先は変更していません。</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91388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時を通じて一つの棚を念頭に置きます。室内という言葉だけでは、濡れ方、荷重、寸法や接合方法までは決まりません。見た目や材料名だけで順位を付けず、必要な性能を定めてから製品資料を読みます。この棚は選定を考える教材例で、部材寸法や使用荷重を保証する設計例ではありません。</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41982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第</a:t>
            </a:r>
            <a:r>
              <a:rPr lang="en-US" altLang="ja-JP"/>
              <a:t>1</a:t>
            </a:r>
            <a:r>
              <a:rPr lang="ja-JP" altLang="en-US"/>
              <a:t>～</a:t>
            </a:r>
            <a:r>
              <a:rPr lang="en-US" altLang="ja-JP"/>
              <a:t>9</a:t>
            </a:r>
            <a:r>
              <a:rPr lang="ja-JP" altLang="en-US"/>
              <a:t>回の構造・成分・水分・力を復習します。細胞の大きい空間へ入ることと、分子が接触して接着することを同じ一語で済ませません。木口では液を吸い込みやすい場合がありますが、深く入れば入るほど常に強くなるとは限りません。接着層に必要な量が不足する場合もあり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8216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接着部を二枚の木材と間の接着剤だけの絵で終わらせず、木材内部、界面付近、接着層という領域で見ます。接着剤が内部へ入った部分では木材と高分子が入り交じり、性質が連続的に変わる場合があります。図の境界線は考えるための区切りであり、原子の大きさで鋭い面が一本あると主張するものではありません。接着を保つには、接着剤そのものだけでなく、表面近くの木材も健全である必要があります。圧壊した細胞、ほこり、古い塗膜を含む弱い層が残れば、そこが力の経路の弱点になり得ます。壊れた面を観察する意味は、最大荷重の値を、力が伝わる場所の状態へ対応させることにありま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4</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41617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ぬれは液体が面へ広がって接触する性質です。水が広がる場合の観察を足場にしますが、水と全ての接着剤が同じ挙動をするわけではありません。接着を、穴に固形物を引っ掛ける効果だけに限定せず、界面の接触や相互作用も含めます。硬化の仕組みは接着剤ごとに異なり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5</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87053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ぬれは液が表面へ広がって接触する過程、浸透は空隙などへ入り込む過程、硬化は荷重を伝える接着層が形成される過程です。広がった液がすぐに消えても、強い接着が完成したとは限りません。空隙へ過度に流れ込むと接着層に必要な量が不足する場合があります。反対に、深く入ることだけを目的にして、面の合いや硬化条件を無視することもできません。水滴の広がりは表面を読む手掛かりですが、実際の接着剤の粘度、成分、温度、時間とは条件が違います。接触角一つで接着強度を予測したと扱わないようにします。観察した液滴の形、接着剤を用いた試験、硬化後の破壊面を分けて、何を確かめる情報かを整理しま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6</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91565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仮組みで面の合いを確認してから、指定された塗布量と作業可能時間、圧締、養生を管理します。圧締は接触を確保するためですが、強く締めるほどよいという一律の規則ではありません。木材の含水状態と温度も、乾燥や反応の進み方に関わります。圧締を外せる時点と、十分な強度へ達して荷重を掛けられる時点は、区別して製品資料で確認し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8</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7193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接着工程を時間軸へ置きます。塗布してから接着面を合わせるまで、組み合わせてから圧締するまで、圧締中、圧締解除後の養生という区間です。製品情報には、これらの一部を管理する時間が示されますが、名称や定義は製品により確認します。圧締を外せることは、使用時の全荷重を掛けてよいことと同じではありません。水分の移動や反応が進む間に必要な接触を保つための圧締と、その後の強度発現を分けて考えます。温度や含水状態が異なれば、同じ時計の時間でも層の状態は同じとは限りません。したがって、講義の模式図へ一律の分数を入れ、それを全製品の施工時間にしないことが大切で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9</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8891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接着試験では、最大荷重だけでなく壊れた位置を記録します。木部破壊率は破断面のうち木材側で壊れた面積の割合として評価する指標です。木部破壊が多いことは接着状態を読む手掛かりですが、その試験の木材の強さにも左右されます。一回の乾燥試験で木材が壊れたから、長期の屋外使用まで保証できるとは言えません。</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10</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196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白い木工用接着剤の代表として、コニシのボンド木工用の一般品を取り上げます。主成分と分散している水を区別し、水が減って接着層を作ることを説明します。乾燥時に木部破壊を生じ得る接着でも、水、熱、継続荷重への耐久性は別に評価します。メーカーはこの一般品を耐水性を必要とする用途には使用不可としています。変性品や架橋型まで、全て同じ性質とみなさないでください。</a:t>
            </a:r>
            <a:r>
              <a:rPr lang="en-US" altLang="ja-JP"/>
              <a:t>PVAc</a:t>
            </a:r>
            <a:r>
              <a:rPr lang="ja-JP" altLang="en-US"/>
              <a:t>は酢酸ビニル樹脂で、ポリビニルアルコールと混同しない表記にしています。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ja-JP" altLang="en-US"/>
              <a:t>コニシ ボンド木工用（一般品）</a:t>
            </a:r>
            <a:r>
              <a:rPr lang="en-US" altLang="ja-JP"/>
              <a:t>https://www.bond.co.jp/bond/detail/item/info/productcd/10006/root/1</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11</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5931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エマルジョン形の木工用接着剤では、水を含む媒体中へ高分子が分散しています。木材への水の移動や蒸発が進むと、高分子同士が接触し、連続した接着層を形成します。単に水が消えれば、どんな温度や面の状態でも十分な膜になるとは限りません。木材表面へ広がって密着することと、接着層そのものが荷重を伝えられる状態へなることの両方が必要です。一般的な非架橋の酢酸ビニル樹脂系と、耐水性を改良した製品を区別します。分散している媒体が水であることと、硬化後の層がどれだけ水へ耐えるかは異なる情報です。成分名だけを見ず、硬化機構、製品の適用環境、継続荷重や温度の条件を一組で読むと、学校の木工から工業的な接着まで同じ原理で検討できま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12</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6921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瞬間接着剤は、水を蒸発させる木工用接着剤と硬化の仕組みが異なります。表面などの微量な水分をきっかけに重合して固まります。だからといって、濡れた材へ大量に水を加えればよいという意味ではありません。木工用のアロンアルフアは、しみ込みやすい材料を考慮した高めの粘度の製品です。商品群には耐衝撃や耐水を改良したものもあるため、アロンアルフアという商標だけで性能を一つに決めません。大きい部材の構造接着を、固着の速さだけで選ばないことを確認します。</a:t>
            </a:r>
          </a:p>
          <a:p>
            <a:endParaRPr lang="ja-JP" altLang="en-US"/>
          </a:p>
          <a:p>
            <a:r>
              <a:rPr lang="ja-JP" altLang="en-US"/>
              <a:t>出典</a:t>
            </a:r>
          </a:p>
          <a:p>
            <a:r>
              <a:rPr lang="ja-JP" altLang="en-US"/>
              <a:t>東亞合成 アロンアルフア木工用 </a:t>
            </a:r>
            <a:r>
              <a:rPr lang="en-US" altLang="ja-JP"/>
              <a:t>https://www.aronalpha.com/product_search/wood/</a:t>
            </a:r>
          </a:p>
          <a:p>
            <a:r>
              <a:rPr lang="ja-JP" altLang="en-US"/>
              <a:t>東亞合成 瞬間接着剤の硬化と発熱 </a:t>
            </a:r>
            <a:r>
              <a:rPr lang="en-US" altLang="ja-JP"/>
              <a:t>https://www.aronalpha.com/hatsunetsu/</a:t>
            </a:r>
          </a:p>
          <a:p>
            <a:r>
              <a:rPr lang="ja-JP" altLang="en-US"/>
              <a:t>東亞合成 アロンアルフア製品選択 </a:t>
            </a:r>
            <a:r>
              <a:rPr lang="en-US" altLang="ja-JP"/>
              <a:t>https://www.aronalpha.com/support/49.html</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13</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78757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これは硬化の化学と学校の加工に直接関わる扱いです。シアノアクリレートは布やティッシュへ広がると、反応が急激に進み発熱することがあるとメーカーが説明しています。生徒に発熱を起こさせる実験は設定しません。接着剤ごとに表示、換気や保護の指定、養生中の置き場所を確認します。一般の木工用接着剤の使い方を、そのまま瞬間接着剤へ置き換えないことを押さえます。</a:t>
            </a:r>
          </a:p>
          <a:p>
            <a:endParaRPr lang="ja-JP" altLang="en-US"/>
          </a:p>
          <a:p>
            <a:r>
              <a:rPr lang="ja-JP" altLang="en-US"/>
              <a:t>出典</a:t>
            </a:r>
          </a:p>
          <a:p>
            <a:r>
              <a:rPr lang="ja-JP" altLang="en-US"/>
              <a:t>東亞合成 瞬間接着剤の硬化と発熱 </a:t>
            </a:r>
            <a:r>
              <a:rPr lang="en-US" altLang="ja-JP"/>
              <a:t>https://www.aronalpha.com/hatsunetsu/</a:t>
            </a:r>
          </a:p>
          <a:p>
            <a:r>
              <a:rPr lang="ja-JP" altLang="en-US"/>
              <a:t>東亞合成 アロンアルフア木工用 </a:t>
            </a:r>
            <a:r>
              <a:rPr lang="en-US" altLang="ja-JP"/>
              <a:t>https://www.aronalpha.com/product_search/wood/</a:t>
            </a:r>
          </a:p>
          <a:p>
            <a:r>
              <a:rPr lang="ja-JP" altLang="en-US"/>
              <a:t>コニシ ボンド木工用（一般品）</a:t>
            </a:r>
            <a:r>
              <a:rPr lang="en-US" altLang="ja-JP"/>
              <a:t>https://www.bond.co.jp/bond/detail/item/info/productcd/10006/root/1</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14</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5207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レゾルシノール樹脂と、フェノール・レゾルシノール系の接着剤を代表例にします。高い強度に加え、濡れや熱、長期使用の条件でも接着性能を保つことが重要です。常温で硬化できる製品があり、濃い色の接着層を示す例があります。レゾルシノールが常に全ての乾燥試験で最強という順位付けをするのではなく、耐久性と構造用途の品質管理まで含めて説明します。化学の例として二液反応と架橋を扱いますが、学生が配合を推測して混ぜる活動は設定しません。</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ja-JP" altLang="en-US"/>
              <a:t>森林総合研究所 集成材の長期使用と接着層 </a:t>
            </a:r>
            <a:r>
              <a:rPr lang="en-US" altLang="ja-JP"/>
              <a:t>https://www.ffpri.go.jp/pubs/seikasenshu/dai2ki/documents/aub.pdf</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15</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7423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エポキシ系は主剤と硬化剤の反応で硬化し、木材のほか他材料との接着や補修に用いる例があります。充填性や耐水性は配合・製品で異なり、厚い隙間を埋めれば常に高強度になるとは限りません。水性高分子－イソシアネート系、</a:t>
            </a:r>
            <a:r>
              <a:rPr lang="en-US" altLang="ja-JP"/>
              <a:t>EPI</a:t>
            </a:r>
            <a:r>
              <a:rPr lang="ja-JP" altLang="en-US"/>
              <a:t>は、エマルジョンに別の硬化剤を加える系で、集成材などの工業用途があります。水性という語だけで、普通の木工用接着剤と同じ乾燥型と考えないことが要点です。単一成分ウレタン接着剤とも同一視せず、製品と適用条件を読み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17</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77304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フェノール樹脂系は耐水・耐候性を求める合板などに使う例があります。ユリア樹脂系は乾燥した室内用途の製品に使う例で、一般に耐水性は制約になります。メラミンや、メラミンを組み合わせた系では、配合によって耐水性等を調整します。材料名だけでどの接着剤が使われていると決めず、製品の表示と使用条件を確認します。次回の合板・</a:t>
            </a:r>
            <a:r>
              <a:rPr lang="en-US" altLang="ja-JP"/>
              <a:t>LVL</a:t>
            </a:r>
            <a:r>
              <a:rPr lang="ja-JP" altLang="en-US"/>
              <a:t>・ボード類では、要素と配向に加えて接着と水分条件を読みます。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18</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20988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乾燥時の接着強さ、耐水・耐熱などの耐久性、長期荷重への抵抗は別の問いです。試験体の樹種や繊維方向、面積、継手形式、養生、試験方法も関わります。普通の木工用接着剤でも適切な乾燥条件では木材が壊れる場合があります。構造用途では、初期の最大荷重だけでなく、長い期間にわたり必要な性能を保つ根拠が求められ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19</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0491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材料力学の力と面積を復習します。重ね継手の面積で荷重を割った見かけの平均値を使います。重ね継手には曲げや端部の応力集中もあり、全ての位置が均一なせん断状態になるとは限りません。計算値をそのまま実物の許容応力や設計荷重にしないことを伝えます。単位換算は、</a:t>
            </a:r>
            <a:r>
              <a:rPr lang="en-US" altLang="ja-JP"/>
              <a:t>1 MPa</a:t>
            </a:r>
            <a:r>
              <a:rPr lang="ja-JP" altLang="en-US"/>
              <a:t>が</a:t>
            </a:r>
            <a:r>
              <a:rPr lang="en-US" altLang="ja-JP"/>
              <a:t>1 N/mm²</a:t>
            </a:r>
            <a:r>
              <a:rPr lang="ja-JP" altLang="en-US"/>
              <a:t>になる関係を確認します。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21</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21863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重ねた長さをエル、幅をビーとすると、見かけの接着面積はビー掛けるエルです。接着面が伝える力の合計をエフと置き、面全体で平均したせん断応力をエフ割る面積と定義します。この平均値を求める段階で、全ての場所の応力が同じだと仮定する必要はありません。重ね継手の端では力の入り方が変わり、曲げや剥がす作用も関わります。面積を二倍にしたから破断荷重も必ず二倍になる、という結論は、この定義式だけからは出ません。接着長さを増やすと局所の応力分布や接着の状態も変わり得るからです。計算した値が何の平均で、どの実物のどの性能を保証しないかまでを、図と言葉で対応させま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22</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76795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4</a:t>
            </a:r>
            <a:r>
              <a:rPr lang="ja-JP" altLang="en-US"/>
              <a:t>分。実測動画時間ではない。</a:t>
            </a:r>
          </a:p>
          <a:p>
            <a:endParaRPr lang="ja-JP" altLang="en-US"/>
          </a:p>
          <a:p>
            <a:r>
              <a:rPr lang="ja-JP" altLang="en-US"/>
              <a:t>表は接着剤の銘柄を示さない学習用仮想値です。いずれも接着幅</a:t>
            </a:r>
            <a:r>
              <a:rPr lang="en-US" altLang="ja-JP"/>
              <a:t>20 mm</a:t>
            </a:r>
            <a:r>
              <a:rPr lang="ja-JP" altLang="en-US"/>
              <a:t>、重ね長さ</a:t>
            </a:r>
            <a:r>
              <a:rPr lang="en-US" altLang="ja-JP"/>
              <a:t>25 mm</a:t>
            </a:r>
            <a:r>
              <a:rPr lang="ja-JP" altLang="en-US"/>
              <a:t>、同じ樹種・継手・養生・試験条件を仮定します。指定の湿潤処理後に同じ方法で試験した結果とします。①接着面積を求める。②</a:t>
            </a:r>
            <a:r>
              <a:rPr lang="en-US" altLang="ja-JP"/>
              <a:t>A</a:t>
            </a:r>
            <a:r>
              <a:rPr lang="ja-JP" altLang="en-US"/>
              <a:t>・</a:t>
            </a:r>
            <a:r>
              <a:rPr lang="en-US" altLang="ja-JP"/>
              <a:t>B</a:t>
            </a:r>
            <a:r>
              <a:rPr lang="ja-JP" altLang="en-US"/>
              <a:t>の乾燥時と湿潤処理後の見かけの平均せん断応力を求める。③湿潤処理後の荷重／乾燥時の荷重</a:t>
            </a:r>
            <a:r>
              <a:rPr lang="en-US" altLang="ja-JP"/>
              <a:t>×100</a:t>
            </a:r>
            <a:r>
              <a:rPr lang="ja-JP" altLang="en-US"/>
              <a:t>で保持率を求める。④この結果だけで構造用途へ採用できるか説明する。</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24</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20082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面積は</a:t>
            </a:r>
            <a:r>
              <a:rPr lang="en-US" altLang="ja-JP"/>
              <a:t>20×25</a:t>
            </a:r>
            <a:r>
              <a:rPr lang="ja-JP" altLang="en-US"/>
              <a:t>＝</a:t>
            </a:r>
            <a:r>
              <a:rPr lang="en-US" altLang="ja-JP"/>
              <a:t>500 mm²</a:t>
            </a:r>
            <a:r>
              <a:rPr lang="ja-JP" altLang="en-US"/>
              <a:t>です。</a:t>
            </a:r>
            <a:r>
              <a:rPr lang="en-US" altLang="ja-JP"/>
              <a:t>A</a:t>
            </a:r>
            <a:r>
              <a:rPr lang="ja-JP" altLang="en-US"/>
              <a:t>は乾燥</a:t>
            </a:r>
            <a:r>
              <a:rPr lang="en-US" altLang="ja-JP"/>
              <a:t>6.0 MPa</a:t>
            </a:r>
            <a:r>
              <a:rPr lang="ja-JP" altLang="en-US"/>
              <a:t>、湿潤処理後</a:t>
            </a:r>
            <a:r>
              <a:rPr lang="en-US" altLang="ja-JP"/>
              <a:t>1.2 MPa</a:t>
            </a:r>
            <a:r>
              <a:rPr lang="ja-JP" altLang="en-US"/>
              <a:t>、保持率</a:t>
            </a:r>
            <a:r>
              <a:rPr lang="en-US" altLang="ja-JP"/>
              <a:t>20%</a:t>
            </a:r>
            <a:r>
              <a:rPr lang="ja-JP" altLang="en-US"/>
              <a:t>。</a:t>
            </a:r>
            <a:r>
              <a:rPr lang="en-US" altLang="ja-JP"/>
              <a:t>B</a:t>
            </a:r>
            <a:r>
              <a:rPr lang="ja-JP" altLang="en-US"/>
              <a:t>は乾燥</a:t>
            </a:r>
            <a:r>
              <a:rPr lang="en-US" altLang="ja-JP"/>
              <a:t>7.0 MPa</a:t>
            </a:r>
            <a:r>
              <a:rPr lang="ja-JP" altLang="en-US"/>
              <a:t>、湿潤処理後</a:t>
            </a:r>
            <a:r>
              <a:rPr lang="en-US" altLang="ja-JP"/>
              <a:t>5.6 MPa</a:t>
            </a:r>
            <a:r>
              <a:rPr lang="ja-JP" altLang="en-US"/>
              <a:t>、保持率</a:t>
            </a:r>
            <a:r>
              <a:rPr lang="en-US" altLang="ja-JP"/>
              <a:t>80%</a:t>
            </a:r>
            <a:r>
              <a:rPr lang="ja-JP" altLang="en-US"/>
              <a:t>です。保持率が高いことと必要な絶対強度を満たすことは、両方確認します。試験数、ばらつき、木部破壊率、湿潤処理の内容、温度や長期荷重なども不明で、構造用途へそのまま採用できません。</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25</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88162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半の接着部を、単板、小片、繊維を組み合わせる材料へ広げます。接着が力を伝えることと、材料全体が用途に適することは、段階の違う判断です。接着層が耐水性を持っていても、木材要素への吸水、厚さの変化、腐朽、接合部の性能を別に調べます。ここからは、要素と配向という二つの観察軸で比べ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36852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要素は再構成する材料の単位、配向はその向きです。合板と</a:t>
            </a:r>
            <a:r>
              <a:rPr lang="en-US" altLang="ja-JP"/>
              <a:t>LVL</a:t>
            </a:r>
            <a:r>
              <a:rPr lang="ja-JP" altLang="en-US"/>
              <a:t>はどちらも単板から作りますが、向きの組合せが異なります。</a:t>
            </a:r>
            <a:r>
              <a:rPr lang="en-US" altLang="ja-JP"/>
              <a:t>PB</a:t>
            </a:r>
            <a:r>
              <a:rPr lang="ja-JP" altLang="en-US"/>
              <a:t>はパーティクルボード、小片を主な要素とします。</a:t>
            </a:r>
            <a:r>
              <a:rPr lang="en-US" altLang="ja-JP"/>
              <a:t>MDF</a:t>
            </a:r>
            <a:r>
              <a:rPr lang="ja-JP" altLang="en-US"/>
              <a:t>は中密度繊維板で、繊維状にほぐしたものを使います。</a:t>
            </a:r>
            <a:r>
              <a:rPr lang="en-US" altLang="ja-JP"/>
              <a:t>OSB</a:t>
            </a:r>
            <a:r>
              <a:rPr lang="ja-JP" altLang="en-US"/>
              <a:t>は細長いストランドを層ごとに配向させる材料です。小片やストランドも多くの細胞を含む要素であり、単一の分子や細胞壁のミクロフィブリルとは尺度が違います。図の要素寸法は、微細構造と製品構造の違いを見分けるために使います。</a:t>
            </a:r>
          </a:p>
          <a:p>
            <a:endParaRPr lang="ja-JP" altLang="en-US"/>
          </a:p>
          <a:p>
            <a:r>
              <a:rPr lang="ja-JP" altLang="en-US"/>
              <a:t>出典・計算条件</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46752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原木の寸法や欠点を、そのまま製品の制約とせず、要素へ分けて選別・配置することで調整できます。これは全ての欠点を消す操作ではなく、影響の現れ方を変える操作です。製品の性能は、原料の性質、要素の形と寸法、向き、接着、圧密、含水状態などの組合せで決まります。同じ用途で比べるときも、同じ厚さ、質量、曲げ剛性のどれをそろえたかを明らかにしましょう。</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4</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58358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ロータリー切削では、丸太を回して刃で連続した単板を得ます。単板には木材由来の方向性や欠点が残り、切削で生じる状態も接着工程へ関わります。合板では通常、隣接する単板の主な繊維方向をほぼ直交させます。層の方向だけでなく、表裏の厚さと配置を対称にする考え方も重要です。対称なら、任意の水分勾配で絶対に反らないという保証ではありません。表と裏で濡れ方や乾き方が違う条件も、別に考えま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6</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8324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色と線は各層の繊維方向を表します。この図を板の全体の向きへ対応させます。層を紙のようにただ重ねた場合と、接着してすべりを抑えた場合は同じではありません。接着は層間で力を渡し、製品として一緒に変形するために重要です。交差積層は一方向に集中していた性質を調整しますが、全方向の性能を全く等しくするとは限りません。</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7</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621878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板の表の繊維をゼロ度とし、板面へ垂直な荷重を受ける場面を考えます。二つの支える辺の間を渡る向きがスパン方向です。板を九十度回すと、その方向と各層の繊維の関係が変わります。板面の中にある二方向を比べることと、板面内へ引っ張ること、板面の外へ曲げることを区別します。実際の板が四辺で支持される場合は二方向へ力を伝えるので、この二辺支持の帯板モデルと同じ条件にはなりません。</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8</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21569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en-US" altLang="ja-JP"/>
              <a:t>LVL</a:t>
            </a:r>
            <a:r>
              <a:rPr lang="ja-JP" altLang="en-US"/>
              <a:t>も単板を使いますが、主な繊維方向をそろえて積層することが基本です。この模式図は全て平行にしたモデルであり、一部に直交単板を含む製品まで否定する図ではありません。製品の軸と、実際に使う長手方向、曲げの支点間方向をそろえて読みます。ひき板を使う集成材との違いは次回扱いま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9</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433157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前回の接着の工程を、製品全体へ適用します。工場での含水率や塗布、圧締、硬化の管理が必要です。耐水接着であっても、木材そのものが水を吸わなくなるわけではありません。厚さ変化、剥離、生物劣化は評価する現象が違います。構造に使う製品では、使用条件に対応する製品情報と等級を確認します。本講義の仮想モデルを、その代わりの設計値にしません。</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21</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54325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en-US" altLang="ja-JP"/>
              <a:t>PB</a:t>
            </a:r>
            <a:r>
              <a:rPr lang="ja-JP" altLang="en-US"/>
              <a:t>は、小片の調整、乾燥、分級、接着剤の添加、マットの成形と熱圧などを経て作ります。表層と内部の小片や密度を調整する製品があります。平均密度が高いから、あらゆる留付け条件で必ず優れる、と即断しないようにします。ねじの条件、面か端面か、厚さと端距離、接着や局所の密度も関わりま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23</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45710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表層と芯層で密度が違う板の説明モデルを示します。厚さ二ミリメートルずつの五層とし、表裏は九百、内側三層は五百キログラム毎立方メートルと仮定します。グラフは各層の平均密度を表すもので、実製品を測定した曲線ではありません。実際の密度分布では表面のすぐ内側にピークがあるなど、形は製品と工程で異なります。一つの平均密度から、どの深さにどれだけの材料があるかを復元できません。先ほどの曲げでの位置の効果ともつながりますが、密度だけから各層の</a:t>
            </a:r>
            <a:r>
              <a:rPr lang="en-US" altLang="ja-JP"/>
              <a:t>E</a:t>
            </a:r>
            <a:r>
              <a:rPr lang="ja-JP" altLang="en-US"/>
              <a:t>を一意に決めたことにはしません。</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24</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747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3</a:t>
            </a:r>
            <a:r>
              <a:rPr lang="ja-JP" altLang="en-US"/>
              <a:t>分。動画の実測時間ではない。</a:t>
            </a:r>
          </a:p>
          <a:p>
            <a:endParaRPr lang="ja-JP" altLang="en-US"/>
          </a:p>
          <a:p>
            <a:r>
              <a:rPr lang="ja-JP" altLang="en-US"/>
              <a:t>各層の体積比を重みにして、全体の質量と体積から密度を求めます。今回の板の幅と長さは各層で同じなので、重みは厚さの比に置き換えられます。単純に層の個数で平均できるのは、等しい厚さにした今回の条件だからです。次に、同じ平均密度で厚さ方向に均一な板を考え、同じ平均値なら曲げやねじ保持も必ず同じ、と言えるかを検討してください。</a:t>
            </a:r>
          </a:p>
          <a:p>
            <a:endParaRPr lang="ja-JP" altLang="en-US"/>
          </a:p>
          <a:p>
            <a:r>
              <a:rPr lang="ja-JP" altLang="en-US"/>
              <a:t>演習後の自己確認・解説</a:t>
            </a:r>
          </a:p>
          <a:p>
            <a:r>
              <a:rPr lang="en-US" altLang="ja-JP"/>
              <a:t>(900×2+500×6+900×2)/10 = 660 kg/m³</a:t>
            </a:r>
            <a:r>
              <a:rPr lang="ja-JP" altLang="en-US"/>
              <a:t>。厚さ方向に均一な</a:t>
            </a:r>
            <a:r>
              <a:rPr lang="en-US" altLang="ja-JP"/>
              <a:t>660 kg/m³</a:t>
            </a:r>
            <a:r>
              <a:rPr lang="ja-JP" altLang="en-US"/>
              <a:t>の板も同じ平均になるが、局所の構成・接着・</a:t>
            </a:r>
            <a:r>
              <a:rPr lang="en-US" altLang="ja-JP"/>
              <a:t>E</a:t>
            </a:r>
            <a:r>
              <a:rPr lang="ja-JP" altLang="en-US"/>
              <a:t>・ねじの位置等は未確定なので、性能の一致は断定できない。</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25</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63686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繊維板は、木材を繊維状にほぐして成形したものです。全ての繊維板が同じ密度や製法ではありません。</a:t>
            </a:r>
            <a:r>
              <a:rPr lang="en-US" altLang="ja-JP"/>
              <a:t>MDF</a:t>
            </a:r>
            <a:r>
              <a:rPr lang="ja-JP" altLang="en-US"/>
              <a:t>は微細な要素による平滑な表面が、加工や仕上げの選択へ関わります。一方で、端面の接合や吸水による厚さ変化も確認します。細かくしたから等方性で全て同じ、という説明は、板の面内と厚さ方向、密度分布を区別して修正しま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27</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672695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en-US" altLang="ja-JP"/>
              <a:t>OSB</a:t>
            </a:r>
            <a:r>
              <a:rPr lang="ja-JP" altLang="en-US"/>
              <a:t>では、細長いストランドを層ごとに配向させます。向きを持った小片を使い、表層と内層で主な方向を組み合わせることが、板の主軸と方向別の曲げ性能へつながります。合板と同じ単板を使うわけではありませんが、要素と配向という二つの軸では同じように比較できま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29</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100995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図は、各層を別々に見た模式的な平面図です。表層のストランドは主に長手方向、芯層は主にそれと直交する方向へ配向した例を描きます。ストランド一つの内部にも木材の繊維方向があり、その要素を並べる主方向と対応します。実際には全てが完全に平行にそろうわけではなく、方向には分布があります。表面だけを見て内部まで同じ向きと断定せず、製品情報の主軸と性能の評価方向へ対応させます。</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30</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263215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比較表の列に単位だけでなく、試験方向と状態、試験方法と支点間距離などを添えます。ねじ保持でも、面から入れるか端面へ入れるかで条件が変わります。実際の強度表を後で使う際にも、比較条件がそろうかを先に点検する習慣が必要です。</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34</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076705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3</a:t>
            </a:r>
            <a:r>
              <a:rPr lang="ja-JP" altLang="en-US"/>
              <a:t>分。動画の実測時間ではない。</a:t>
            </a:r>
          </a:p>
          <a:p>
            <a:endParaRPr lang="ja-JP" altLang="en-US"/>
          </a:p>
          <a:p>
            <a:r>
              <a:rPr lang="ja-JP" altLang="en-US"/>
              <a:t>調湿した試験前質量百グラム、試験後百十八グラム、厚さが十ミリから十点八ミリへ変わったという仮想結果です。今回の吸水率は、試験前の質量を分母にした増加率と定義します。厚さ膨張率は、試験前厚さを分母にした増加率です。どちらもパーセントですが量が違います。吸水率が十八パーセントでも、そのまま木材の乾量基準含水率が十八パーセントだとは言えません。分母となる全乾質量も試験前の水分も不明だからです。測定前後の表面の付着水、温度、浸せき時間など、試験手順も記録します。</a:t>
            </a:r>
          </a:p>
          <a:p>
            <a:endParaRPr lang="ja-JP" altLang="en-US"/>
          </a:p>
          <a:p>
            <a:r>
              <a:rPr lang="ja-JP" altLang="en-US"/>
              <a:t>演習後の自己確認・解説</a:t>
            </a:r>
          </a:p>
          <a:p>
            <a:r>
              <a:rPr lang="ja-JP" altLang="en-US"/>
              <a:t>吸水率</a:t>
            </a:r>
            <a:r>
              <a:rPr lang="en-US" altLang="ja-JP"/>
              <a:t>(118−100)/100×100 = 18%</a:t>
            </a:r>
            <a:r>
              <a:rPr lang="ja-JP" altLang="en-US"/>
              <a:t>。厚さ膨張率</a:t>
            </a:r>
            <a:r>
              <a:rPr lang="en-US" altLang="ja-JP"/>
              <a:t>(10.8−10.0)/10.0×100 = 8%</a:t>
            </a:r>
            <a:r>
              <a:rPr lang="ja-JP" altLang="en-US"/>
              <a:t>。乾量基準</a:t>
            </a:r>
            <a:r>
              <a:rPr lang="en-US" altLang="ja-JP"/>
              <a:t>MCw</a:t>
            </a:r>
            <a:r>
              <a:rPr lang="ja-JP" altLang="en-US"/>
              <a:t>は全乾質量を分母にする。全乾質量と初期の水分が分からないので、</a:t>
            </a:r>
            <a:r>
              <a:rPr lang="en-US" altLang="ja-JP"/>
              <a:t>MCw</a:t>
            </a:r>
            <a:r>
              <a:rPr lang="ja-JP" altLang="en-US"/>
              <a:t>を</a:t>
            </a:r>
            <a:r>
              <a:rPr lang="en-US" altLang="ja-JP"/>
              <a:t>18%</a:t>
            </a:r>
            <a:r>
              <a:rPr lang="ja-JP" altLang="en-US"/>
              <a:t>とは決定できない。</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35</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278017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要素を同じ量だけ使っても、荷重方向や層の位置が違えば同じ性能にはなりません。引張りで用いる平均的なEと、曲げに対するEIは同じものではありません。次の図は、完全接着などの仮定のもとで層の寄与を考える説明モデルです。モデルの計算値を、製品の強度や認定値と混同しないように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856669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まず長手に引っ張る一軸モデルです。同じ長さの層を十分に接着し、同じ伸びを仮定すると、各層の長手ひずみは同じになります。フックの法則から各層の応力は</a:t>
            </a:r>
            <a:r>
              <a:rPr lang="en-US" altLang="ja-JP"/>
              <a:t>E</a:t>
            </a:r>
            <a:r>
              <a:rPr lang="ja-JP" altLang="en-US"/>
              <a:t>の値に比例します。幅</a:t>
            </a:r>
            <a:r>
              <a:rPr lang="en-US" altLang="ja-JP"/>
              <a:t>b</a:t>
            </a:r>
            <a:r>
              <a:rPr lang="ja-JP" altLang="en-US"/>
              <a:t>、各層の厚さ</a:t>
            </a:r>
            <a:r>
              <a:rPr lang="en-US" altLang="ja-JP"/>
              <a:t>ti</a:t>
            </a:r>
            <a:r>
              <a:rPr lang="ja-JP" altLang="en-US"/>
              <a:t>なら面積は</a:t>
            </a:r>
            <a:r>
              <a:rPr lang="en-US" altLang="ja-JP"/>
              <a:t>bti</a:t>
            </a:r>
            <a:r>
              <a:rPr lang="ja-JP" altLang="en-US"/>
              <a:t>、力は</a:t>
            </a:r>
            <a:r>
              <a:rPr lang="en-US" altLang="ja-JP"/>
              <a:t>Eiεbti</a:t>
            </a:r>
            <a:r>
              <a:rPr lang="ja-JP" altLang="en-US"/>
              <a:t>です。外力</a:t>
            </a:r>
            <a:r>
              <a:rPr lang="en-US" altLang="ja-JP"/>
              <a:t>F</a:t>
            </a:r>
            <a:r>
              <a:rPr lang="ja-JP" altLang="en-US"/>
              <a:t>はそれらの力の和とつりあいます。全断面で割った平均応力を</a:t>
            </a:r>
            <a:r>
              <a:rPr lang="en-US" altLang="ja-JP"/>
              <a:t>E</a:t>
            </a:r>
            <a:r>
              <a:rPr lang="ja-JP" altLang="en-US"/>
              <a:t>引張</a:t>
            </a:r>
            <a:r>
              <a:rPr lang="en-US" altLang="ja-JP"/>
              <a:t>ε</a:t>
            </a:r>
            <a:r>
              <a:rPr lang="ja-JP" altLang="en-US"/>
              <a:t>と書くと、</a:t>
            </a:r>
            <a:r>
              <a:rPr lang="en-US" altLang="ja-JP"/>
              <a:t>E</a:t>
            </a:r>
            <a:r>
              <a:rPr lang="ja-JP" altLang="en-US"/>
              <a:t>引張は厚さを重みにした</a:t>
            </a:r>
            <a:r>
              <a:rPr lang="en-US" altLang="ja-JP"/>
              <a:t>E</a:t>
            </a:r>
            <a:r>
              <a:rPr lang="ja-JP" altLang="en-US"/>
              <a:t>の平均になります。ここでは線形弾性で、横方向の連成、端部の力の導入、すべりを無視します。この一軸近似の</a:t>
            </a:r>
            <a:r>
              <a:rPr lang="en-US" altLang="ja-JP"/>
              <a:t>E</a:t>
            </a:r>
            <a:r>
              <a:rPr lang="ja-JP" altLang="en-US"/>
              <a:t>を、そのまま曲げへ転用しないことが次のポイントです。</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11</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549063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ゼロ度方向の</a:t>
            </a:r>
            <a:r>
              <a:rPr lang="en-US" altLang="ja-JP"/>
              <a:t>E</a:t>
            </a:r>
            <a:r>
              <a:rPr lang="ja-JP" altLang="en-US"/>
              <a:t>を十</a:t>
            </a:r>
            <a:r>
              <a:rPr lang="en-US" altLang="ja-JP"/>
              <a:t>GPa</a:t>
            </a:r>
            <a:r>
              <a:rPr lang="ja-JP" altLang="en-US"/>
              <a:t>、九十度方向を零点五</a:t>
            </a:r>
            <a:r>
              <a:rPr lang="en-US" altLang="ja-JP"/>
              <a:t>GPa</a:t>
            </a:r>
            <a:r>
              <a:rPr lang="ja-JP" altLang="en-US"/>
              <a:t>とする説明モデルです。いずれも樹種や製品の実測値ではありません。五層が同じ厚さなら、ゼロ度三層と九十度二層の長手方向の</a:t>
            </a:r>
            <a:r>
              <a:rPr lang="en-US" altLang="ja-JP"/>
              <a:t>E</a:t>
            </a:r>
            <a:r>
              <a:rPr lang="ja-JP" altLang="en-US"/>
              <a:t>は、十を三つ、零点五を二つ足して五で割り、六点二</a:t>
            </a:r>
            <a:r>
              <a:rPr lang="en-US" altLang="ja-JP"/>
              <a:t>GPa</a:t>
            </a:r>
            <a:r>
              <a:rPr lang="ja-JP" altLang="en-US"/>
              <a:t>です。板を九十度回すと、十が二つ、零点五が三つで、四点三</a:t>
            </a:r>
            <a:r>
              <a:rPr lang="en-US" altLang="ja-JP"/>
              <a:t>GPa</a:t>
            </a:r>
            <a:r>
              <a:rPr lang="ja-JP" altLang="en-US"/>
              <a:t>になります。交差積層しても二方向が同一とは限らないことを、このモデルで確かめられます。ただし、この比を曲げや強度の比と同じものにしないでください。</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12</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090595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同じ五枚の単板で、ゼロ度三枚、九十度二枚という厚さ比もそろえます。</a:t>
            </a:r>
            <a:r>
              <a:rPr lang="en-US" altLang="ja-JP"/>
              <a:t>A</a:t>
            </a:r>
            <a:r>
              <a:rPr lang="ja-JP" altLang="en-US"/>
              <a:t>は外側がゼロ度、</a:t>
            </a:r>
            <a:r>
              <a:rPr lang="en-US" altLang="ja-JP"/>
              <a:t>C</a:t>
            </a:r>
            <a:r>
              <a:rPr lang="ja-JP" altLang="en-US"/>
              <a:t>は外側を九十度にし、中の三枚をゼロ度にした対称なモデルです。どちらも全厚は十ミリメートル、長手の引張り</a:t>
            </a:r>
            <a:r>
              <a:rPr lang="en-US" altLang="ja-JP"/>
              <a:t>E</a:t>
            </a:r>
            <a:r>
              <a:rPr lang="ja-JP" altLang="en-US"/>
              <a:t>は、先ほどの一軸近似では六点二</a:t>
            </a:r>
            <a:r>
              <a:rPr lang="en-US" altLang="ja-JP"/>
              <a:t>GPa</a:t>
            </a:r>
            <a:r>
              <a:rPr lang="ja-JP" altLang="en-US"/>
              <a:t>です。しかし曲がる時は、中立軸から離れた位置ほど伸びと縮みが大きくなります。同じひずみという引張りの仮定と違うので、層の位置が効きます。</a:t>
            </a:r>
            <a:r>
              <a:rPr lang="en-US" altLang="ja-JP"/>
              <a:t>C</a:t>
            </a:r>
            <a:r>
              <a:rPr lang="ja-JP" altLang="en-US"/>
              <a:t>は原理の比較用で、一般的な合板の標準構成と主張するものではありません。</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16</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32044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対称な積層なので、今回の帯板モデルの中立軸は中央です。幅百ミリメートル、各層の厚さ二ミリメートルとすると、一層の面積は二百平方ミリメートル。その層自身の中央軸についての</a:t>
            </a:r>
            <a:r>
              <a:rPr lang="en-US" altLang="ja-JP"/>
              <a:t>I</a:t>
            </a:r>
            <a:r>
              <a:rPr lang="ja-JP" altLang="en-US"/>
              <a:t>は、幅掛ける厚さの三乗を十二で割り、六十六点六七ミリメートルの四乗です。製品中央の軸からの距離を</a:t>
            </a:r>
            <a:r>
              <a:rPr lang="en-US" altLang="ja-JP"/>
              <a:t>zi</a:t>
            </a:r>
            <a:r>
              <a:rPr lang="ja-JP" altLang="en-US"/>
              <a:t>とすると、その軸についての層の</a:t>
            </a:r>
            <a:r>
              <a:rPr lang="en-US" altLang="ja-JP"/>
              <a:t>I</a:t>
            </a:r>
            <a:r>
              <a:rPr lang="ja-JP" altLang="en-US"/>
              <a:t>は</a:t>
            </a:r>
            <a:r>
              <a:rPr lang="en-US" altLang="ja-JP"/>
              <a:t>Ic</a:t>
            </a:r>
            <a:r>
              <a:rPr lang="ja-JP" altLang="en-US"/>
              <a:t>と</a:t>
            </a:r>
            <a:r>
              <a:rPr lang="en-US" altLang="ja-JP"/>
              <a:t>Azi</a:t>
            </a:r>
            <a:r>
              <a:rPr lang="ja-JP" altLang="en-US"/>
              <a:t>の二乗の和です。中央から四ミリ離れた外層は約三千二百六十六点六七、二ミリ離れた層は約八百六十六点六七となります。層自身の厚さだけでなく位置の二乗が働くことが重要です。非対称や層ごとの</a:t>
            </a:r>
            <a:r>
              <a:rPr lang="en-US" altLang="ja-JP"/>
              <a:t>E</a:t>
            </a:r>
            <a:r>
              <a:rPr lang="ja-JP" altLang="en-US"/>
              <a:t>が違う一般の場合は、中立軸も求め直す必要があります。</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17</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84268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曲げで平面だった断面が平面を保ち、層間にすべりがないとすると、ひずみは中立軸からの距離に比例します。各層の応力は</a:t>
            </a:r>
            <a:r>
              <a:rPr lang="en-US" altLang="ja-JP"/>
              <a:t>Ei</a:t>
            </a:r>
            <a:r>
              <a:rPr lang="ja-JP" altLang="en-US"/>
              <a:t>を掛けた値となり、その力のモーメントを全断面で合わせます。このモデルでは曲げ剛性は各層の</a:t>
            </a:r>
            <a:r>
              <a:rPr lang="en-US" altLang="ja-JP"/>
              <a:t>EiIi</a:t>
            </a:r>
            <a:r>
              <a:rPr lang="ja-JP" altLang="en-US"/>
              <a:t>の和です。</a:t>
            </a:r>
            <a:r>
              <a:rPr lang="en-US" altLang="ja-JP"/>
              <a:t>Ii</a:t>
            </a:r>
            <a:r>
              <a:rPr lang="ja-JP" altLang="en-US"/>
              <a:t>は全て同じ中立軸について取ります。</a:t>
            </a:r>
            <a:r>
              <a:rPr lang="en-US" altLang="ja-JP"/>
              <a:t>E</a:t>
            </a:r>
            <a:r>
              <a:rPr lang="ja-JP" altLang="en-US"/>
              <a:t>はニュートン毎平方ミリメートル、</a:t>
            </a:r>
            <a:r>
              <a:rPr lang="en-US" altLang="ja-JP"/>
              <a:t>I</a:t>
            </a:r>
            <a:r>
              <a:rPr lang="ja-JP" altLang="en-US"/>
              <a:t>はミリメートルの四乗なので、積の単位はニュートン掛ける平方ミリメートルです。</a:t>
            </a:r>
            <a:r>
              <a:rPr lang="en-US" altLang="ja-JP"/>
              <a:t>A</a:t>
            </a:r>
            <a:r>
              <a:rPr lang="ja-JP" altLang="en-US"/>
              <a:t>では高い</a:t>
            </a:r>
            <a:r>
              <a:rPr lang="en-US" altLang="ja-JP"/>
              <a:t>E</a:t>
            </a:r>
            <a:r>
              <a:rPr lang="ja-JP" altLang="en-US"/>
              <a:t>の層が外側へ来るため、</a:t>
            </a:r>
            <a:r>
              <a:rPr lang="en-US" altLang="ja-JP"/>
              <a:t>C</a:t>
            </a:r>
            <a:r>
              <a:rPr lang="ja-JP" altLang="en-US"/>
              <a:t>より曲げ剛性が大きくなります。これは幅を指定した帯板の</a:t>
            </a:r>
            <a:r>
              <a:rPr lang="en-US" altLang="ja-JP"/>
              <a:t>EI</a:t>
            </a:r>
            <a:r>
              <a:rPr lang="ja-JP" altLang="en-US"/>
              <a:t>であり、二方向に働く板の一般的な剛性行列を求めたものではありません。</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18</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140751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2</a:t>
            </a:r>
            <a:r>
              <a:rPr lang="ja-JP" altLang="en-US"/>
              <a:t>分。動画の実測時間ではない。</a:t>
            </a:r>
          </a:p>
          <a:p>
            <a:endParaRPr lang="ja-JP" altLang="en-US"/>
          </a:p>
          <a:p>
            <a:r>
              <a:rPr lang="ja-JP" altLang="en-US"/>
              <a:t>両端を単純支持し、中央に百ニュートン、支点間三百ミリメートルという条件をそろえます。線形の細長い梁の中央たわみは、</a:t>
            </a:r>
            <a:r>
              <a:rPr lang="en-US" altLang="ja-JP"/>
              <a:t>F</a:t>
            </a:r>
            <a:r>
              <a:rPr lang="ja-JP" altLang="en-US"/>
              <a:t>掛ける</a:t>
            </a:r>
            <a:r>
              <a:rPr lang="en-US" altLang="ja-JP"/>
              <a:t>L</a:t>
            </a:r>
            <a:r>
              <a:rPr lang="ja-JP" altLang="en-US"/>
              <a:t>の三乗を、四十八掛ける等価</a:t>
            </a:r>
            <a:r>
              <a:rPr lang="en-US" altLang="ja-JP"/>
              <a:t>EI</a:t>
            </a:r>
            <a:r>
              <a:rPr lang="ja-JP" altLang="en-US"/>
              <a:t>で割ったものです。前の値を入れると、</a:t>
            </a:r>
            <a:r>
              <a:rPr lang="en-US" altLang="ja-JP"/>
              <a:t>A</a:t>
            </a:r>
            <a:r>
              <a:rPr lang="ja-JP" altLang="en-US"/>
              <a:t>は約零点八四ミリメートル、</a:t>
            </a:r>
            <a:r>
              <a:rPr lang="en-US" altLang="ja-JP"/>
              <a:t>C</a:t>
            </a:r>
            <a:r>
              <a:rPr lang="ja-JP" altLang="en-US"/>
              <a:t>は約二点六四ミリメートルになります。グラフはこの式で計算した値です。層の向きの枚数と全厚が同じでも、配置でたわみが変わります。実際の合板はせん断変形や接合部のすべり、層構成のばらつきなども関わるため、試験と製品情報で確かめます。壊れる荷重はこの式からは求まりません。</a:t>
            </a:r>
          </a:p>
          <a:p>
            <a:endParaRPr lang="ja-JP" altLang="en-US"/>
          </a:p>
          <a:p>
            <a:r>
              <a:rPr lang="ja-JP" altLang="en-US"/>
              <a:t>出典・計算条件</a:t>
            </a:r>
          </a:p>
          <a:p>
            <a:r>
              <a:rPr lang="en-US" altLang="ja-JP"/>
              <a:t>Stark &amp; Cai, Wood Handbook 2021, Chapter 11. https://research.fs.usda.gov/treesearch/62258</a:t>
            </a:r>
          </a:p>
          <a:p>
            <a:r>
              <a:rPr lang="en-US" altLang="ja-JP"/>
              <a:t>Cai, Senalik &amp; Ross, Wood Handbook 2021, Chapter 12. https://research.fs.usda.gov/treesearch/62260</a:t>
            </a:r>
          </a:p>
          <a:p>
            <a:r>
              <a:rPr lang="en-US" altLang="ja-JP"/>
              <a:t>MIT 16.20, Module 7: Simple Beam Theory. https://web.mit.edu/16.20/homepage/7_SimpleBeamTheory/SimpleBeamTheory_files/module_7_no_solutions.pdf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19</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135000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板の種類を選んだら、端面や穴も含む仕上げと、使用中の点検を考えます。塗装の有無だけで耐久性を判断せず、濡れる場所、乾く条件、補修できる場所を確かめます。接着、通常の仕上げ塗装、保存処理の役割を区別する説明は、第10回の劣化と防腐にも戻って確認でき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285724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塗装は色を付けるだけの工程ではありません。室内では外観と清掃性、屋外では光や水などからの保護が重要になります。ただし、塗装が材内部への水分移動や腐朽を常に完全に止めるわけではありません。屋外で使うなら、形や水の経路、塗膜の点検と再塗装を合わせて計画します。</a:t>
            </a:r>
          </a:p>
          <a:p>
            <a:endParaRPr lang="ja-JP" altLang="en-US"/>
          </a:p>
          <a:p>
            <a:r>
              <a:rPr lang="ja-JP" altLang="en-US"/>
              <a:t>出典</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29</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130025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浸透形と塗膜形成形は、表面にどのような層を作るかという見方です。オイルや一部のステインは、木目を生かし浸透を主体にする例がありますが、製品差があります。ニスや塗りつぶし塗料は、表面に連続した塗膜を作る例です。ステインは単なる着色剤を指す場合もあり、防腐や防水の性能があると名前だけで決めません。透明な仕上げは木目を見せますが、屋外の光に対する性能や再塗装の時期を製品ごとに確認します。</a:t>
            </a:r>
          </a:p>
          <a:p>
            <a:endParaRPr lang="ja-JP" altLang="en-US"/>
          </a:p>
          <a:p>
            <a:r>
              <a:rPr lang="ja-JP" altLang="en-US"/>
              <a:t>出典</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30</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60691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木材中の水の増減を、入る量と出る量の差として見ます。塗膜は水の入口と出口の両方に関わります。ある表面からの移動を遅くしても、木口や接合部、割れなど別の経路から入る場合があります。したがって、短時間の水滴のはじき方だけで、長い湿潤と乾燥の繰返しで木材がどう動くかを確定できません。十分に乾燥させず塗装したときや、入った水が抜けにくい構造になったときも検討します。第八回の含水率、第九回の方向別の寸法変化、第十回の保守を合わせて、仕上げを材料と構造の中に置きます。塗装を、木材を水分から完全に隔離する壁と覚えるのでなく、製品と塗り方、経路と使用条件に応じて移動を調整するものとして捉えましょう。</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31</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729973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水性という語は、使用前に水を主な媒体としていることを示します。硬化後に必ず水へ溶ける、耐水性がない、という意味ではありません。逆に、油性だから全て屋外の耐久性が高いとも言えません。ニスという仕上げの呼び方と、ウレタンなど樹脂の系統、硬化の方法も、別の軸として整理します。乾いたように触れる時点と、使用できるまでの養生を区別して、製品の表示を読みます。</a:t>
            </a:r>
          </a:p>
          <a:p>
            <a:endParaRPr lang="ja-JP" altLang="en-US"/>
          </a:p>
          <a:p>
            <a:r>
              <a:rPr lang="ja-JP" altLang="en-US"/>
              <a:t>出典</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32</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362032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第</a:t>
            </a:r>
            <a:r>
              <a:rPr lang="en-US" altLang="ja-JP"/>
              <a:t>9</a:t>
            </a:r>
            <a:r>
              <a:rPr lang="ja-JP" altLang="en-US"/>
              <a:t>回の収縮と膨潤へ戻ります。表面に塗膜を作っても、その下の木材は水分変化へ応答します。木材の動きや濡れが塗膜に影響し、塗膜の傷みから水が入りやすくなることも考えます。仕上げ時の含水状態と使用環境を近付けること、雨水の経路と乾く経路を確保することが重要です。板の片面を塗れば反りが完全に止まるという説明は避けます。</a:t>
            </a:r>
          </a:p>
          <a:p>
            <a:endParaRPr lang="ja-JP" altLang="en-US"/>
          </a:p>
          <a:p>
            <a:r>
              <a:rPr lang="ja-JP" altLang="en-US"/>
              <a:t>出典</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34</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00489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2</a:t>
            </a:r>
            <a:r>
              <a:rPr lang="ja-JP" altLang="en-US"/>
              <a:t>分。実測動画時間ではない。</a:t>
            </a:r>
          </a:p>
          <a:p>
            <a:endParaRPr lang="ja-JP" altLang="en-US"/>
          </a:p>
          <a:p>
            <a:r>
              <a:rPr lang="ja-JP" altLang="en-US"/>
              <a:t>木材が水分によって収縮・膨潤すると、表面にある塗膜にも変形が加わります。塗膜が割れたり剥がれたりすれば、新しい水の経路ができることがあります。塗料の樹脂だけでなく、木取りによる方向、下地の状態、塗る時の含水状態、使用中の湿潤と乾燥を組み合わせて考えます。図は木材側が幅方向へ動く場合を誇張して描いたものです。実物の変形の大きさや塗膜の厚さは図の比率から求めません。木材の変形を小さくする使い方と、適切な仕上げ、点検と再塗装を組み合わせることが、長く使う計画になります。塗り直す回数を一律に暗記するより、どんな変化を見て判断するかを決めることが重要です。</a:t>
            </a:r>
          </a:p>
          <a:p>
            <a:endParaRPr lang="ja-JP" altLang="en-US"/>
          </a:p>
          <a:p>
            <a:r>
              <a:rPr lang="ja-JP" altLang="en-US"/>
              <a:t>出典</a:t>
            </a:r>
          </a:p>
          <a:p>
            <a:r>
              <a:rPr lang="en-US" altLang="ja-JP"/>
              <a:t>Wood Handbook 2021 </a:t>
            </a:r>
            <a:r>
              <a:rPr lang="ja-JP" altLang="en-US"/>
              <a:t>第</a:t>
            </a:r>
            <a:r>
              <a:rPr lang="en-US" altLang="ja-JP"/>
              <a:t>10</a:t>
            </a:r>
            <a:r>
              <a:rPr lang="ja-JP" altLang="en-US"/>
              <a:t>章 </a:t>
            </a:r>
            <a:r>
              <a:rPr lang="en-US" altLang="ja-JP"/>
              <a:t>https://research.fs.usda.gov/treesearch/62250</a:t>
            </a:r>
          </a:p>
          <a:p>
            <a:r>
              <a:rPr lang="en-US" altLang="ja-JP"/>
              <a:t>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35</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034111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通常の木工用接着剤では、塗膜を介した面より、適切に調整した木材面同士を接着することが基本になります。先に塗装する場合は、接着面をどう扱うかを計画し、製品の適用材と工程を確認します。接着剤のはみ出しは、後の着色や吸込みのむらにも関わります。塗装を先にするか、接着を先にするかは、形と接着面、仕上げを組み合わせて考え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16</a:t>
            </a:r>
            <a:r>
              <a:rPr lang="ja-JP" altLang="en-US"/>
              <a:t>章 </a:t>
            </a:r>
            <a:r>
              <a:rPr lang="en-US" altLang="ja-JP"/>
              <a:t>https://research.fs.usda.gov/treesearch/62269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36</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59429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第</a:t>
            </a:r>
            <a:r>
              <a:rPr lang="en-US" altLang="ja-JP"/>
              <a:t>10</a:t>
            </a:r>
            <a:r>
              <a:rPr lang="ja-JP" altLang="en-US"/>
              <a:t>回で学んだ保存処理とつなげます。水をはじくこと、光から守ること、菌の働きを抑えることはそれぞれ異なる機能です。一つの製品が複数の機能を持つ場合もありますが、透明である、色が付いているという見え方から機能を推測しません。処理材に塗装する場合は、材料の乾燥や塗料との適合を確認します。</a:t>
            </a:r>
          </a:p>
          <a:p>
            <a:endParaRPr lang="ja-JP" altLang="en-US"/>
          </a:p>
          <a:p>
            <a:r>
              <a:rPr lang="ja-JP" altLang="en-US"/>
              <a:t>出典</a:t>
            </a:r>
          </a:p>
          <a:p>
            <a:r>
              <a:rPr lang="en-US" altLang="ja-JP"/>
              <a:t>USDA Wood Handbook 2021 </a:t>
            </a:r>
            <a:r>
              <a:rPr lang="ja-JP" altLang="en-US"/>
              <a:t>第</a:t>
            </a:r>
            <a:r>
              <a:rPr lang="en-US" altLang="ja-JP"/>
              <a:t>16</a:t>
            </a:r>
            <a:r>
              <a:rPr lang="ja-JP" altLang="en-US"/>
              <a:t>章 </a:t>
            </a:r>
            <a:r>
              <a:rPr lang="en-US" altLang="ja-JP"/>
              <a:t>https://research.fs.usda.gov/treesearch/62269</a:t>
            </a:r>
          </a:p>
          <a:p>
            <a:r>
              <a:rPr lang="en-US" altLang="ja-JP"/>
              <a:t>USDA Wood Handbook 2021 </a:t>
            </a:r>
            <a:r>
              <a:rPr lang="ja-JP" altLang="en-US"/>
              <a:t>第</a:t>
            </a:r>
            <a:r>
              <a:rPr lang="en-US" altLang="ja-JP"/>
              <a:t>15</a:t>
            </a:r>
            <a:r>
              <a:rPr lang="ja-JP" altLang="en-US"/>
              <a:t>章 </a:t>
            </a:r>
            <a:r>
              <a:rPr lang="en-US" altLang="ja-JP"/>
              <a:t>https://research.fs.usda.gov/treesearch/62259</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37</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198814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の接着強さと密度の計算を踏まえて、棚の候補を比較します。特定の材料名だけで一つの正解を決めません。ねじの製品条件、下穴や端距離、部材の方向、水拭きの頻度や端面の保護などを、調べる情報として挙げてください。具体的な荷重と寸法が決まっていないので、最終的な安全性の判定まではできません。正式な追加提出課題ではありません。</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03146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4</a:t>
            </a:r>
            <a:r>
              <a:rPr lang="ja-JP" altLang="en-US"/>
              <a:t>分。動画の実測時間ではない。</a:t>
            </a:r>
          </a:p>
          <a:p>
            <a:endParaRPr lang="ja-JP" altLang="en-US"/>
          </a:p>
          <a:p>
            <a:r>
              <a:rPr lang="ja-JP" altLang="en-US"/>
              <a:t>家具の側板の材料を検討します。この問題は単に好みの材料名を選ぶものではありません。与えた用途と留付け位置に対し、製品で確認したい項目を挙げ、なぜ必要かを仕組みから説明します。架空の製品強度を自分で補って、採用を確定したことにしないでください。</a:t>
            </a:r>
          </a:p>
          <a:p>
            <a:endParaRPr lang="ja-JP" altLang="en-US"/>
          </a:p>
          <a:p>
            <a:r>
              <a:rPr lang="ja-JP" altLang="en-US"/>
              <a:t>演習後の自己確認・解説</a:t>
            </a:r>
          </a:p>
          <a:p>
            <a:r>
              <a:rPr lang="ja-JP" altLang="en-US"/>
              <a:t>要素と配向、荷重方向、ねじを留める面／端面、湿潤条件、接着等の製品性能と根拠が対応する回答を評価する。追加データが不足していると説明できればよい。</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37</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737524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採用の説明は、使用条件、必要な性能、根拠にした値、未確認事項を対応させます。平均値の表、規格の分類、構造計算のための値は役割が違います。同じ材料名でも製品差があることを踏まえ、データの範囲を超えて一般化しないようにします。</a:t>
            </a:r>
          </a:p>
          <a:p>
            <a:endParaRPr lang="ja-JP" altLang="en-US"/>
          </a:p>
          <a:p>
            <a:r>
              <a:rPr lang="ja-JP" altLang="en-US"/>
              <a:t>出典・計算条件</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38</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971133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例えば合板を候補にした答案でも、荷重や繊維方向、端面や接合を見ていなければ判断の根拠が不足します。PBやMDFを候補にしても、製品の仕様と使用条件を適切に確認していれば、材料名だけを理由に誤答にはしません。密度の高低がそのまま全ての性能の順位にならないこと、計算できた応力が採用可能な設計値とは限らないことを確認し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173350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要点を整理します。接着の良否、材料の構成、表面の保護を、実際に使う条件と対応させて説明します。次回は要素をひき板へ広げて集成材とCLTを学び、部材から建物へ、使用時の性能から資源と環境の評価へ進みます。</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77026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 推敲版 </a:t>
            </a:r>
            <a:r>
              <a:rPr lang="en-US" altLang="ja-JP"/>
              <a:t>2026-10-29</a:t>
            </a:r>
          </a:p>
          <a:p>
            <a:r>
              <a:rPr lang="ja-JP" altLang="en-US"/>
              <a:t>本ページの説明・活動の設計目安 </a:t>
            </a:r>
            <a:r>
              <a:rPr lang="en-US" altLang="ja-JP"/>
              <a:t>1.2</a:t>
            </a:r>
            <a:r>
              <a:rPr lang="ja-JP" altLang="en-US"/>
              <a:t>分。実測動画時間ではない。</a:t>
            </a:r>
          </a:p>
          <a:p>
            <a:endParaRPr lang="ja-JP" altLang="en-US"/>
          </a:p>
          <a:p>
            <a:r>
              <a:rPr lang="ja-JP" altLang="en-US"/>
              <a:t>原典の表</a:t>
            </a:r>
            <a:r>
              <a:rPr lang="en-US" altLang="ja-JP"/>
              <a:t>10–1</a:t>
            </a:r>
            <a:r>
              <a:rPr lang="ja-JP" altLang="en-US"/>
              <a:t>は接着剤の硬化、強度、用途を比較するために参照しました。個別製品の数値強度を、樹種や試験の異なる資料から並べて最強順位にすることはしていません。製品ページは</a:t>
            </a:r>
            <a:r>
              <a:rPr lang="en-US" altLang="ja-JP"/>
              <a:t>2026</a:t>
            </a:r>
            <a:r>
              <a:rPr lang="ja-JP" altLang="en-US"/>
              <a:t>年</a:t>
            </a:r>
            <a:r>
              <a:rPr lang="en-US" altLang="ja-JP"/>
              <a:t>10</a:t>
            </a:r>
            <a:r>
              <a:rPr lang="ja-JP" altLang="en-US"/>
              <a:t>月</a:t>
            </a:r>
            <a:r>
              <a:rPr lang="en-US" altLang="ja-JP"/>
              <a:t>28</a:t>
            </a:r>
            <a:r>
              <a:rPr lang="ja-JP" altLang="en-US"/>
              <a:t>日に確認したもので、実習前には使用する製品の最新の表示と条件を再確認します。塗装は第</a:t>
            </a:r>
            <a:r>
              <a:rPr lang="en-US" altLang="ja-JP"/>
              <a:t>16</a:t>
            </a:r>
            <a:r>
              <a:rPr lang="ja-JP" altLang="en-US"/>
              <a:t>章、木材の水分との関係を中心に読みます。</a:t>
            </a:r>
          </a:p>
          <a:p>
            <a:endParaRPr lang="ja-JP" altLang="en-US"/>
          </a:p>
          <a:p>
            <a:r>
              <a:rPr lang="ja-JP" altLang="en-US"/>
              <a:t>出典</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16</a:t>
            </a:r>
            <a:r>
              <a:rPr lang="ja-JP" altLang="en-US"/>
              <a:t>章 </a:t>
            </a:r>
            <a:r>
              <a:rPr lang="en-US" altLang="ja-JP"/>
              <a:t>https://research.fs.usda.gov/treesearch/62269</a:t>
            </a:r>
          </a:p>
          <a:p>
            <a:r>
              <a:rPr lang="ja-JP" altLang="en-US"/>
              <a:t>コニシ ボンド木工用（一般品）</a:t>
            </a:r>
            <a:r>
              <a:rPr lang="en-US" altLang="ja-JP"/>
              <a:t>https://www.bond.co.jp/bond/detail/item/info/productcd/10006/root/1</a:t>
            </a:r>
          </a:p>
          <a:p>
            <a:r>
              <a:rPr lang="ja-JP" altLang="en-US"/>
              <a:t>東亞合成 アロンアルフア木工用 </a:t>
            </a:r>
            <a:r>
              <a:rPr lang="en-US" altLang="ja-JP"/>
              <a:t>https://www.aronalpha.com/product_search/wood/</a:t>
            </a:r>
          </a:p>
          <a:p>
            <a:r>
              <a:rPr lang="ja-JP" altLang="en-US"/>
              <a:t>東亞合成 瞬間接着剤の硬化と発熱 </a:t>
            </a:r>
            <a:r>
              <a:rPr lang="en-US" altLang="ja-JP"/>
              <a:t>https://www.aronalpha.com/hatsunetsu/</a:t>
            </a:r>
          </a:p>
          <a:p>
            <a:r>
              <a:rPr lang="ja-JP" altLang="en-US"/>
              <a:t>文部科学省 中学校学習指導要領解説 技術・家庭編 </a:t>
            </a:r>
            <a:r>
              <a:rPr lang="en-US" altLang="ja-JP"/>
              <a:t>https://www.mext.go.jp/component/a_menu/education/micro_detail/__icsFiles/afieldfile/2019/03/18/1387018_009.pdf</a:t>
            </a:r>
          </a:p>
          <a:p>
            <a:endParaRPr lang="en-US" altLang="ja-JP"/>
          </a:p>
          <a:p>
            <a:r>
              <a:rPr lang="ja-JP" altLang="en-US"/>
              <a:t>動画は未更新。正式な課題</a:t>
            </a:r>
            <a:r>
              <a:rPr lang="en-US" altLang="ja-JP"/>
              <a:t>A1–A4</a:t>
            </a:r>
            <a:r>
              <a:rPr lang="ja-JP" altLang="en-US"/>
              <a:t>・採点基準は変更しない。</a:t>
            </a:r>
          </a:p>
          <a:p>
            <a:endParaRPr lang="ja-JP" altLang="en-US"/>
          </a:p>
          <a:p>
            <a:r>
              <a:rPr lang="ja-JP" altLang="en-US"/>
              <a:t>再構成元：旧第</a:t>
            </a:r>
            <a:r>
              <a:rPr lang="en-US" altLang="ja-JP"/>
              <a:t>11</a:t>
            </a:r>
            <a:r>
              <a:rPr lang="ja-JP" altLang="en-US"/>
              <a:t>回・スライド</a:t>
            </a:r>
            <a:r>
              <a:rPr lang="en-US" altLang="ja-JP"/>
              <a:t>41</a:t>
            </a:r>
            <a:r>
              <a:rPr lang="ja-JP" altLang="en-US"/>
              <a:t>。新第</a:t>
            </a:r>
            <a:r>
              <a:rPr lang="en-US" altLang="ja-JP"/>
              <a:t>13</a:t>
            </a:r>
            <a:r>
              <a:rPr lang="ja-JP" altLang="en-US"/>
              <a:t>回・接着・仕上げ。旧構成の参照番号や演習番号は、学習ガイドの対応表も参照。動画は旧構成の参考動画で、再構成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932724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12</a:t>
            </a:r>
            <a:r>
              <a:rPr lang="ja-JP" altLang="en-US"/>
              <a:t>回 推敲版 </a:t>
            </a:r>
            <a:r>
              <a:rPr lang="en-US" altLang="ja-JP"/>
              <a:t>2026-10-29</a:t>
            </a:r>
          </a:p>
          <a:p>
            <a:r>
              <a:rPr lang="ja-JP" altLang="en-US"/>
              <a:t>説明・活動の設計目安：</a:t>
            </a:r>
            <a:r>
              <a:rPr lang="en-US" altLang="ja-JP"/>
              <a:t>1.2</a:t>
            </a:r>
            <a:r>
              <a:rPr lang="ja-JP" altLang="en-US"/>
              <a:t>分。動画の実測時間ではない。</a:t>
            </a:r>
          </a:p>
          <a:p>
            <a:endParaRPr lang="ja-JP" altLang="en-US"/>
          </a:p>
          <a:p>
            <a:r>
              <a:rPr lang="ja-JP" altLang="en-US"/>
              <a:t>構成と製法は</a:t>
            </a:r>
            <a:r>
              <a:rPr lang="en-US" altLang="ja-JP"/>
              <a:t>Wood Handbook</a:t>
            </a:r>
            <a:r>
              <a:rPr lang="ja-JP" altLang="en-US"/>
              <a:t>第</a:t>
            </a:r>
            <a:r>
              <a:rPr lang="en-US" altLang="ja-JP"/>
              <a:t>11</a:t>
            </a:r>
            <a:r>
              <a:rPr lang="ja-JP" altLang="en-US"/>
              <a:t>章、力学的性質は第</a:t>
            </a:r>
            <a:r>
              <a:rPr lang="en-US" altLang="ja-JP"/>
              <a:t>12</a:t>
            </a:r>
            <a:r>
              <a:rPr lang="ja-JP" altLang="en-US"/>
              <a:t>章、接着は第</a:t>
            </a:r>
            <a:r>
              <a:rPr lang="en-US" altLang="ja-JP"/>
              <a:t>10</a:t>
            </a:r>
            <a:r>
              <a:rPr lang="ja-JP" altLang="en-US"/>
              <a:t>章で確認しました。積層帯板の計算は、一般の弾性梁モデルを講義用の仮定へ適用したものです。数値は実製品のデータと明確に分けています。中学校の学習指導要領解説の材料と加工との接続を意識しますが、今回の式を全て中学生の暗記項目にするという意味ではありません。</a:t>
            </a:r>
          </a:p>
          <a:p>
            <a:endParaRPr lang="ja-JP" altLang="en-US"/>
          </a:p>
          <a:p>
            <a:r>
              <a:rPr lang="ja-JP" altLang="en-US"/>
              <a:t>出典・計算条件</a:t>
            </a:r>
          </a:p>
          <a:p>
            <a:r>
              <a:rPr lang="en-US" altLang="ja-JP"/>
              <a:t>USDA Wood Handbook 2021 </a:t>
            </a:r>
            <a:r>
              <a:rPr lang="ja-JP" altLang="en-US"/>
              <a:t>第</a:t>
            </a:r>
            <a:r>
              <a:rPr lang="en-US" altLang="ja-JP"/>
              <a:t>10</a:t>
            </a:r>
            <a:r>
              <a:rPr lang="ja-JP" altLang="en-US"/>
              <a:t>章 </a:t>
            </a:r>
            <a:r>
              <a:rPr lang="en-US" altLang="ja-JP"/>
              <a:t>https://research.fs.usda.gov/treesearch/62250</a:t>
            </a:r>
          </a:p>
          <a:p>
            <a:r>
              <a:rPr lang="en-US" altLang="ja-JP"/>
              <a:t>USDA Wood Handbook 2021 </a:t>
            </a:r>
            <a:r>
              <a:rPr lang="ja-JP" altLang="en-US"/>
              <a:t>第</a:t>
            </a:r>
            <a:r>
              <a:rPr lang="en-US" altLang="ja-JP"/>
              <a:t>11</a:t>
            </a:r>
            <a:r>
              <a:rPr lang="ja-JP" altLang="en-US"/>
              <a:t>章 </a:t>
            </a:r>
            <a:r>
              <a:rPr lang="en-US" altLang="ja-JP"/>
              <a:t>https://research.fs.usda.gov/treesearch/62258</a:t>
            </a:r>
          </a:p>
          <a:p>
            <a:r>
              <a:rPr lang="en-US" altLang="ja-JP"/>
              <a:t>USDA Wood Handbook 2021 </a:t>
            </a:r>
            <a:r>
              <a:rPr lang="ja-JP" altLang="en-US"/>
              <a:t>第</a:t>
            </a:r>
            <a:r>
              <a:rPr lang="en-US" altLang="ja-JP"/>
              <a:t>12</a:t>
            </a:r>
            <a:r>
              <a:rPr lang="ja-JP" altLang="en-US"/>
              <a:t>章 </a:t>
            </a:r>
            <a:r>
              <a:rPr lang="en-US" altLang="ja-JP"/>
              <a:t>https://research.fs.usda.gov/treesearch/62260</a:t>
            </a:r>
          </a:p>
          <a:p>
            <a:r>
              <a:rPr lang="ja-JP" altLang="en-US"/>
              <a:t>文部科学省 中学校学習指導要領解説 技術・家庭編 </a:t>
            </a:r>
            <a:r>
              <a:rPr lang="en-US" altLang="ja-JP"/>
              <a:t>https://www.mext.go.jp/component/a_menu/education/micro_detail/__icsFiles/afieldfile/2019/03/18/1387018_009.pdf</a:t>
            </a:r>
          </a:p>
          <a:p>
            <a:endParaRPr lang="en-US" altLang="ja-JP"/>
          </a:p>
          <a:p>
            <a:r>
              <a:rPr lang="ja-JP" altLang="en-US"/>
              <a:t>動画は未更新。正式課題</a:t>
            </a:r>
            <a:r>
              <a:rPr lang="en-US" altLang="ja-JP"/>
              <a:t>A1〜A4</a:t>
            </a:r>
            <a:r>
              <a:rPr lang="ja-JP" altLang="en-US"/>
              <a:t>と評価基準は変更しない。</a:t>
            </a:r>
          </a:p>
          <a:p>
            <a:endParaRPr lang="ja-JP" altLang="en-US"/>
          </a:p>
          <a:p>
            <a:r>
              <a:rPr lang="ja-JP" altLang="en-US"/>
              <a:t>再構成元：旧第</a:t>
            </a:r>
            <a:r>
              <a:rPr lang="en-US" altLang="ja-JP"/>
              <a:t>12</a:t>
            </a:r>
            <a:r>
              <a:rPr lang="ja-JP" altLang="en-US"/>
              <a:t>回・スライド</a:t>
            </a:r>
            <a:r>
              <a:rPr lang="en-US" altLang="ja-JP"/>
              <a:t>40</a:t>
            </a:r>
            <a:r>
              <a:rPr lang="ja-JP" altLang="en-US"/>
              <a:t>。新第</a:t>
            </a:r>
            <a:r>
              <a:rPr lang="en-US" altLang="ja-JP"/>
              <a:t>13</a:t>
            </a:r>
            <a:r>
              <a:rPr lang="ja-JP" altLang="en-US"/>
              <a:t>回・材料構成。旧構成の参照番号や演習番号は、学習ガイドの対応表も参照。動画は旧構成の参考動画で、再構成</a:t>
            </a:r>
            <a:r>
              <a:rPr lang="en-US" altLang="ja-JP"/>
              <a:t>PDF</a:t>
            </a:r>
            <a:r>
              <a:rPr lang="ja-JP" altLang="en-US"/>
              <a:t>とページ順は一致しない。</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92787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用語の表記や専門的な意味は、日本木材学会の木材学用語集を照合先に使います。特定製品の耐水性や構造用途への適合を、一般用語の短い定義だけで判断することはできません。出典：https://www.jwrs.org/WTerm/ 。正式課題A4の設問・配点をこの再構成で変更していません。</a:t>
            </a:r>
          </a:p>
          <a:p>
            <a:endParaRPr/>
          </a:p>
          <a:p>
            <a:r>
              <a:t>再構成時の追加説明。90分は授業配分の設計値で、動画の実測時間ではない。正式課題を追加していない。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73439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86A2F9-81C3-91D5-95CE-685E06811B2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B512201-D74D-1367-F107-4C1498D035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78A2CE2-095D-F462-F023-249C8F9A1379}"/>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EF079A26-DE2B-8E1E-0E04-9D9B186BCB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F6424E-80AF-3ED0-1D12-960317A49491}"/>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910731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7813DA-79CE-9BD9-A3AB-05E54463A1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6DF7E0-E069-2D23-B25A-7B0C853C84C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E13EF64-EEC1-E52B-4606-846B08B15F95}"/>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5A764DF6-827C-0635-77F9-7D4EA96F825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094054-0E95-F51D-AC71-615D5CAFAD62}"/>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1079053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B636D1-DE23-45B3-1F5B-2C379E10FB3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AB657E-CC6E-5C1A-5458-0C0CB9B63C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FE87171-924F-EFC2-B446-48BF61B5D68C}"/>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D833F697-FBAB-720E-803A-8B8B22CC8D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790856-4BAB-2880-BF4D-F0E41EED60BD}"/>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652178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C1FBC3-F555-34AA-1BE3-A241C53B192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95E838-74FF-F4D5-F398-2CFCAF1704B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4630BE6-773F-3E8B-488F-534FF348779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D9469D8-D7B9-526B-A9CB-22D49DEA0097}"/>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079A19C3-C255-58FF-2165-B9551FD9AA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DAF6007-9FEC-6061-9A11-D1DC1AE29341}"/>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3536330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7A0195-C100-1486-D7A3-4A20305B69B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AF1309-0AE9-EB2A-3C35-6CA592417C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9311ACF-AE48-0F55-1472-AE563EF7E79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729B954-BFD7-4887-C439-2C033138CD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19652B-236D-5D81-ADFA-EBCC4D80D8E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04A01CF-4E6A-4729-61F6-ED69C6B70C9E}"/>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8" name="フッター プレースホルダー 7">
            <a:extLst>
              <a:ext uri="{FF2B5EF4-FFF2-40B4-BE49-F238E27FC236}">
                <a16:creationId xmlns:a16="http://schemas.microsoft.com/office/drawing/2014/main" id="{18BE418D-458E-C8CE-7360-3DC3935F72A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6F61CDE-EF54-C448-7619-C838E29F91C0}"/>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2281515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39C028-E836-05F4-B3A3-F431C38A8C5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8DE89A1-1B5E-45C3-439F-7E07E3053D97}"/>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4" name="フッター プレースホルダー 3">
            <a:extLst>
              <a:ext uri="{FF2B5EF4-FFF2-40B4-BE49-F238E27FC236}">
                <a16:creationId xmlns:a16="http://schemas.microsoft.com/office/drawing/2014/main" id="{A2BDD91F-8F12-5ABB-92E9-AA892BECD27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329E3EF-2B46-6DC7-CA6D-E09F9F9BDC97}"/>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435470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EBF1771-26E1-803C-BC29-DFB20AAE5BDC}"/>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3" name="フッター プレースホルダー 2">
            <a:extLst>
              <a:ext uri="{FF2B5EF4-FFF2-40B4-BE49-F238E27FC236}">
                <a16:creationId xmlns:a16="http://schemas.microsoft.com/office/drawing/2014/main" id="{79E4D60E-8F01-FE4F-7BC9-0283B806B07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A826FCD-9828-A95D-61F5-3AB4BAA5384F}"/>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1843783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57B5BE-0D6C-CFFD-8296-71F6A05601F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1C2625-C427-8408-46C8-E6043649F2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374CEA2-1F71-EA9F-CC9F-FC4638FAF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DC39ABC-90CB-286A-09CA-2B6E5C9A6B4A}"/>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6607107E-535E-EE55-136B-025A046B80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66AFCE8-74F4-C313-C57A-6CBFD94F8C73}"/>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151705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F2137D-D4EE-D75F-A95D-760B1D801E6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617A3B7-0984-7097-8702-941F96FEC32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C0B5F49-D773-A070-6CD8-22F22E97AA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9D0075D-8BF8-4282-8FF8-F0C1FB43D3F2}"/>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6" name="フッター プレースホルダー 5">
            <a:extLst>
              <a:ext uri="{FF2B5EF4-FFF2-40B4-BE49-F238E27FC236}">
                <a16:creationId xmlns:a16="http://schemas.microsoft.com/office/drawing/2014/main" id="{56773827-83D5-4A9B-37CF-D2AFFC318B8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7B9EEE8-CA55-C53F-C021-F4A7D93EE278}"/>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9523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E3B3C8-5A8A-6E94-7589-8C28412E2B8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9BD5BD7-72EE-4DCF-E3CA-EDC4E339871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8E313D8-727D-F472-97FA-BF7CBD54971E}"/>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397D6B5A-5D10-1973-5AA9-7DF6806425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7C0637C-D9AC-5C8B-935B-90ACE4B6DBD7}"/>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743274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045E95E-B20E-F56D-E165-D9774E6FC8F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F37046-B285-E316-BD1D-03C773F9867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861BDC-E936-568E-7702-A10F0F83209A}"/>
              </a:ext>
            </a:extLst>
          </p:cNvPr>
          <p:cNvSpPr>
            <a:spLocks noGrp="1"/>
          </p:cNvSpPr>
          <p:nvPr>
            <p:ph type="dt" sz="half" idx="10"/>
          </p:nvPr>
        </p:nvSpPr>
        <p:spPr/>
        <p:txBody>
          <a:body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4E5C0BD9-0541-EA3C-355B-0403664FC8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80CFDC-11CE-2FA3-8616-CE3F11C19F57}"/>
              </a:ext>
            </a:extLst>
          </p:cNvPr>
          <p:cNvSpPr>
            <a:spLocks noGrp="1"/>
          </p:cNvSpPr>
          <p:nvPr>
            <p:ph type="sldNum" sz="quarter" idx="12"/>
          </p:nvPr>
        </p:nvSpPr>
        <p:spPr/>
        <p:txBody>
          <a:body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2024164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90FA8A3-651C-A783-997A-0EB9B71F6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B0F84A-16D1-0C84-3E61-F5AAE0CAB3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4D57DDA-EF22-6F35-F016-878A01A277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14A978-7240-483E-9641-C5DEF2D1F917}" type="datetimeFigureOut">
              <a:rPr kumimoji="1" lang="ja-JP" altLang="en-US" smtClean="0"/>
              <a:t>2026/10/31</a:t>
            </a:fld>
            <a:endParaRPr kumimoji="1" lang="ja-JP" altLang="en-US"/>
          </a:p>
        </p:txBody>
      </p:sp>
      <p:sp>
        <p:nvSpPr>
          <p:cNvPr id="5" name="フッター プレースホルダー 4">
            <a:extLst>
              <a:ext uri="{FF2B5EF4-FFF2-40B4-BE49-F238E27FC236}">
                <a16:creationId xmlns:a16="http://schemas.microsoft.com/office/drawing/2014/main" id="{D6A9239B-E5D7-BEF1-6D01-6E71B27DF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8435378-AEAD-4CA9-E952-21265FBD6A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F50DA1-570D-4834-9C93-A18BC1A7AD75}" type="slidenum">
              <a:rPr kumimoji="1" lang="ja-JP" altLang="en-US" smtClean="0"/>
              <a:t>‹#›</a:t>
            </a:fld>
            <a:endParaRPr kumimoji="1" lang="ja-JP" altLang="en-US"/>
          </a:p>
        </p:txBody>
      </p:sp>
    </p:spTree>
    <p:extLst>
      <p:ext uri="{BB962C8B-B14F-4D97-AF65-F5344CB8AC3E}">
        <p14:creationId xmlns:p14="http://schemas.microsoft.com/office/powerpoint/2010/main" val="419190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www.jwrs.org/WTerm/" TargetMode="External"/><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8B91A11-3711-4E20-AEEA-0DD3651D210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接着・塗装と木質材料の設計</a:t>
            </a:r>
          </a:p>
        </p:txBody>
      </p:sp>
      <p:sp>
        <p:nvSpPr>
          <p:cNvPr id="2" name="正方形/長方形 1">
            <a:extLst>
              <a:ext uri="{FF2B5EF4-FFF2-40B4-BE49-F238E27FC236}">
                <a16:creationId xmlns:a16="http://schemas.microsoft.com/office/drawing/2014/main" id="{82644FCE-C44F-42E4-9D99-AD25D74AD01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322345B-C47E-4BA6-A749-8BD356447FC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B850CA3-4D48-4B04-AF6A-941209DA3177}"/>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EFA028E-14A7-4F25-9E16-09A3240B9F99}"/>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木材及び木質材料学　新第13回</a:t>
            </a:r>
          </a:p>
        </p:txBody>
      </p:sp>
      <p:sp>
        <p:nvSpPr>
          <p:cNvPr id="6" name="正方形/長方形 5">
            <a:extLst>
              <a:ext uri="{FF2B5EF4-FFF2-40B4-BE49-F238E27FC236}">
                <a16:creationId xmlns:a16="http://schemas.microsoft.com/office/drawing/2014/main" id="{9955ECC3-D44F-4CB2-989A-B411BAE420A2}"/>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接着部の性能を、材料の構成・用途へつなぐ</a:t>
            </a:r>
          </a:p>
        </p:txBody>
      </p:sp>
      <p:sp>
        <p:nvSpPr>
          <p:cNvPr id="7" name="正方形/長方形 6">
            <a:extLst>
              <a:ext uri="{FF2B5EF4-FFF2-40B4-BE49-F238E27FC236}">
                <a16:creationId xmlns:a16="http://schemas.microsoft.com/office/drawing/2014/main" id="{BE708994-C444-4DA1-BAE7-228A0921054D}"/>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合板・LVL・ボード類と、仕上げ・保守を考える</a:t>
            </a:r>
          </a:p>
        </p:txBody>
      </p:sp>
    </p:spTree>
    <p:extLst>
      <p:ext uri="{BB962C8B-B14F-4D97-AF65-F5344CB8AC3E}">
        <p14:creationId xmlns:p14="http://schemas.microsoft.com/office/powerpoint/2010/main" val="3554158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AD1C096-C87B-40E0-90B9-DC44E696045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一つの棚を、材料と工程から考える</a:t>
            </a:r>
          </a:p>
        </p:txBody>
      </p:sp>
      <p:sp>
        <p:nvSpPr>
          <p:cNvPr id="2" name="正方形/長方形 1">
            <a:extLst>
              <a:ext uri="{FF2B5EF4-FFF2-40B4-BE49-F238E27FC236}">
                <a16:creationId xmlns:a16="http://schemas.microsoft.com/office/drawing/2014/main" id="{A6F8355B-9EDE-491D-BCDD-356D070E728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257F2BA1-7A50-4D72-9D46-88B17946F003}"/>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D7C92F8-BF1D-49AD-8346-6B481DCBBEF7}"/>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B86C4B0-9556-451A-8654-31D64AD1C1B5}"/>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室内で使い、水拭きする小さな収納棚を想定する</a:t>
            </a:r>
          </a:p>
        </p:txBody>
      </p:sp>
      <p:sp>
        <p:nvSpPr>
          <p:cNvPr id="6" name="正方形/長方形 5">
            <a:extLst>
              <a:ext uri="{FF2B5EF4-FFF2-40B4-BE49-F238E27FC236}">
                <a16:creationId xmlns:a16="http://schemas.microsoft.com/office/drawing/2014/main" id="{A7E58008-9381-4C8C-8D10-CF18321DB1E8}"/>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板の向き、接合部、端面、仕上げを確認する</a:t>
            </a:r>
          </a:p>
        </p:txBody>
      </p:sp>
      <p:sp>
        <p:nvSpPr>
          <p:cNvPr id="7" name="正方形/長方形 6">
            <a:extLst>
              <a:ext uri="{FF2B5EF4-FFF2-40B4-BE49-F238E27FC236}">
                <a16:creationId xmlns:a16="http://schemas.microsoft.com/office/drawing/2014/main" id="{90AF3542-0E02-4F72-B913-E3B6A88E7429}"/>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必要な性能と、不足する情報を説明する</a:t>
            </a:r>
          </a:p>
        </p:txBody>
      </p:sp>
    </p:spTree>
    <p:extLst>
      <p:ext uri="{BB962C8B-B14F-4D97-AF65-F5344CB8AC3E}">
        <p14:creationId xmlns:p14="http://schemas.microsoft.com/office/powerpoint/2010/main" val="4159360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B9E35B8-17E3-4DA1-AADC-9299DC32392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接着する木材にも、構造と水分がある</a:t>
            </a:r>
          </a:p>
        </p:txBody>
      </p:sp>
      <p:sp>
        <p:nvSpPr>
          <p:cNvPr id="2" name="正方形/長方形 1">
            <a:extLst>
              <a:ext uri="{FF2B5EF4-FFF2-40B4-BE49-F238E27FC236}">
                <a16:creationId xmlns:a16="http://schemas.microsoft.com/office/drawing/2014/main" id="{365C54FB-A313-4B3A-9D4A-AC8CCE00197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FF1F748-3684-4A33-B6A7-B37D4A69ABB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9CB0260-C012-4AB1-B085-C79EFA0F4560}"/>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5E24737-A2EC-4763-8467-12C1A353E6F3}"/>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多孔質：接着剤が広がり、入り込む程度が変わる</a:t>
            </a:r>
          </a:p>
        </p:txBody>
      </p:sp>
      <p:sp>
        <p:nvSpPr>
          <p:cNvPr id="6" name="正方形/長方形 5">
            <a:extLst>
              <a:ext uri="{FF2B5EF4-FFF2-40B4-BE49-F238E27FC236}">
                <a16:creationId xmlns:a16="http://schemas.microsoft.com/office/drawing/2014/main" id="{D317AFDC-58D2-4BA8-A003-D8BAF7E74202}"/>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異方性：木口・板面、繊維方向で条件が異なる</a:t>
            </a:r>
          </a:p>
        </p:txBody>
      </p:sp>
      <p:sp>
        <p:nvSpPr>
          <p:cNvPr id="7" name="正方形/長方形 6">
            <a:extLst>
              <a:ext uri="{FF2B5EF4-FFF2-40B4-BE49-F238E27FC236}">
                <a16:creationId xmlns:a16="http://schemas.microsoft.com/office/drawing/2014/main" id="{00510783-7EFC-4045-BB18-6F4C4956F0BD}"/>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吸湿・乾燥：木材も動き、接着部に力が生じる</a:t>
            </a:r>
          </a:p>
        </p:txBody>
      </p:sp>
      <p:sp>
        <p:nvSpPr>
          <p:cNvPr id="8" name="正方形/長方形 7">
            <a:extLst>
              <a:ext uri="{FF2B5EF4-FFF2-40B4-BE49-F238E27FC236}">
                <a16:creationId xmlns:a16="http://schemas.microsoft.com/office/drawing/2014/main" id="{01ED7029-B378-46C0-9825-D2BEC73061A2}"/>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表面のほこり・油・古い塗膜も確認する</a:t>
            </a:r>
          </a:p>
        </p:txBody>
      </p:sp>
    </p:spTree>
    <p:extLst>
      <p:ext uri="{BB962C8B-B14F-4D97-AF65-F5344CB8AC3E}">
        <p14:creationId xmlns:p14="http://schemas.microsoft.com/office/powerpoint/2010/main" val="1174675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28A21EF7-E591-4293-BD94-4C23CF99B4A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接着部を、三つの領域として見る</a:t>
            </a:r>
          </a:p>
        </p:txBody>
      </p:sp>
      <p:sp>
        <p:nvSpPr>
          <p:cNvPr id="2" name="正方形/長方形 1">
            <a:extLst>
              <a:ext uri="{FF2B5EF4-FFF2-40B4-BE49-F238E27FC236}">
                <a16:creationId xmlns:a16="http://schemas.microsoft.com/office/drawing/2014/main" id="{26127B6D-A04D-49CE-B792-149006FCDE3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73DFC83-DD73-4249-82E5-5B889494B3BA}"/>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67F6B95-2C05-4D8E-8E99-DBE970ABC27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7313201C-0CAA-4FC0-BFEA-16F06B807F27}"/>
              </a:ext>
            </a:extLst>
          </p:cNvPr>
          <p:cNvSpPr>
            <a:spLocks noGrp="1"/>
          </p:cNvSpPr>
          <p:nvPr/>
        </p:nvSpPr>
        <p:spPr>
          <a:xfrm>
            <a:off x="1571625" y="1905000"/>
            <a:ext cx="8572500" cy="1095375"/>
          </a:xfrm>
          <a:prstGeom prst="rect">
            <a:avLst/>
          </a:prstGeom>
          <a:solidFill>
            <a:srgbClr val="EBD9BB"/>
          </a:solidFill>
          <a:ln w="0">
            <a:noFill/>
          </a:ln>
        </p:spPr>
      </p:sp>
      <p:sp>
        <p:nvSpPr>
          <p:cNvPr id="6" name="正方形/長方形 5">
            <a:extLst>
              <a:ext uri="{FF2B5EF4-FFF2-40B4-BE49-F238E27FC236}">
                <a16:creationId xmlns:a16="http://schemas.microsoft.com/office/drawing/2014/main" id="{BF40014A-0D19-467D-9575-B9FAC0FB5A83}"/>
              </a:ext>
            </a:extLst>
          </p:cNvPr>
          <p:cNvSpPr>
            <a:spLocks noGrp="1"/>
          </p:cNvSpPr>
          <p:nvPr/>
        </p:nvSpPr>
        <p:spPr>
          <a:xfrm>
            <a:off x="1685925" y="2057400"/>
            <a:ext cx="8343900" cy="866775"/>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木材：表面近くにも、力を伝える健全さが必要</a:t>
            </a:r>
          </a:p>
        </p:txBody>
      </p:sp>
      <p:sp>
        <p:nvSpPr>
          <p:cNvPr id="7" name="正方形/長方形 6">
            <a:extLst>
              <a:ext uri="{FF2B5EF4-FFF2-40B4-BE49-F238E27FC236}">
                <a16:creationId xmlns:a16="http://schemas.microsoft.com/office/drawing/2014/main" id="{0B792F26-A52F-4C8C-B7F9-A70804441E22}"/>
              </a:ext>
            </a:extLst>
          </p:cNvPr>
          <p:cNvSpPr>
            <a:spLocks noGrp="1"/>
          </p:cNvSpPr>
          <p:nvPr/>
        </p:nvSpPr>
        <p:spPr>
          <a:xfrm>
            <a:off x="1571625" y="3048000"/>
            <a:ext cx="8572500" cy="228600"/>
          </a:xfrm>
          <a:prstGeom prst="rect">
            <a:avLst/>
          </a:prstGeom>
          <a:solidFill>
            <a:srgbClr val="B6CFCC"/>
          </a:solidFill>
          <a:ln w="0">
            <a:noFill/>
          </a:ln>
        </p:spPr>
      </p:sp>
      <p:sp>
        <p:nvSpPr>
          <p:cNvPr id="8" name="正方形/長方形 7">
            <a:extLst>
              <a:ext uri="{FF2B5EF4-FFF2-40B4-BE49-F238E27FC236}">
                <a16:creationId xmlns:a16="http://schemas.microsoft.com/office/drawing/2014/main" id="{783B6FD7-187D-4CC3-BF54-803D9D5512AD}"/>
              </a:ext>
            </a:extLst>
          </p:cNvPr>
          <p:cNvSpPr>
            <a:spLocks noGrp="1"/>
          </p:cNvSpPr>
          <p:nvPr/>
        </p:nvSpPr>
        <p:spPr>
          <a:xfrm>
            <a:off x="1685925" y="3200400"/>
            <a:ext cx="8343900" cy="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endParaRPr/>
          </a:p>
        </p:txBody>
      </p:sp>
      <p:sp>
        <p:nvSpPr>
          <p:cNvPr id="9" name="正方形/長方形 8">
            <a:extLst>
              <a:ext uri="{FF2B5EF4-FFF2-40B4-BE49-F238E27FC236}">
                <a16:creationId xmlns:a16="http://schemas.microsoft.com/office/drawing/2014/main" id="{A8716F83-7B46-4CCC-955D-8EED40BD6BB8}"/>
              </a:ext>
            </a:extLst>
          </p:cNvPr>
          <p:cNvSpPr>
            <a:spLocks noGrp="1"/>
          </p:cNvSpPr>
          <p:nvPr/>
        </p:nvSpPr>
        <p:spPr>
          <a:xfrm>
            <a:off x="1571625" y="3314700"/>
            <a:ext cx="8572500" cy="438150"/>
          </a:xfrm>
          <a:prstGeom prst="rect">
            <a:avLst/>
          </a:prstGeom>
          <a:solidFill>
            <a:srgbClr val="528C96"/>
          </a:solidFill>
          <a:ln w="0">
            <a:noFill/>
          </a:ln>
        </p:spPr>
      </p:sp>
      <p:sp>
        <p:nvSpPr>
          <p:cNvPr id="10" name="正方形/長方形 9">
            <a:extLst>
              <a:ext uri="{FF2B5EF4-FFF2-40B4-BE49-F238E27FC236}">
                <a16:creationId xmlns:a16="http://schemas.microsoft.com/office/drawing/2014/main" id="{BCED524D-6C16-40B3-9941-8348AA6338F8}"/>
              </a:ext>
            </a:extLst>
          </p:cNvPr>
          <p:cNvSpPr>
            <a:spLocks noGrp="1"/>
          </p:cNvSpPr>
          <p:nvPr/>
        </p:nvSpPr>
        <p:spPr>
          <a:xfrm>
            <a:off x="1685925" y="3343275"/>
            <a:ext cx="8343900" cy="381000"/>
          </a:xfrm>
          <a:prstGeom prst="rect">
            <a:avLst/>
          </a:prstGeom>
          <a:noFill/>
          <a:ln w="0">
            <a:noFill/>
          </a:ln>
        </p:spPr>
        <p:txBody>
          <a:bodyPr lIns="0" tIns="0" rIns="0" bIns="0" anchor="ctr">
            <a:noAutofit/>
          </a:bodyPr>
          <a:lstStyle>
            <a:defPPr>
              <a:defRPr sz="1875" b="1">
                <a:solidFill>
                  <a:srgbClr val="FFFFFF"/>
                </a:solidFill>
                <a:latin typeface="Yu Gothic"/>
                <a:ea typeface="Yu Gothic"/>
                <a:cs typeface="Yu Gothic"/>
              </a:defRPr>
            </a:defPPr>
            <a:lvl1pPr>
              <a:buNone/>
              <a:defRPr sz="1875" b="1">
                <a:solidFill>
                  <a:srgbClr val="FFFFFF"/>
                </a:solidFill>
                <a:latin typeface="Yu Gothic"/>
                <a:ea typeface="Yu Gothic"/>
                <a:cs typeface="Yu Gothic"/>
              </a:defRPr>
            </a:lvl1pPr>
            <a:lvl2pPr>
              <a:buNone/>
              <a:defRPr sz="1875" b="1">
                <a:solidFill>
                  <a:srgbClr val="FFFFFF"/>
                </a:solidFill>
                <a:latin typeface="Yu Gothic"/>
                <a:ea typeface="Yu Gothic"/>
                <a:cs typeface="Yu Gothic"/>
              </a:defRPr>
            </a:lvl2pPr>
            <a:lvl3pPr>
              <a:buNone/>
              <a:defRPr sz="1875" b="1">
                <a:solidFill>
                  <a:srgbClr val="FFFFFF"/>
                </a:solidFill>
                <a:latin typeface="Yu Gothic"/>
                <a:ea typeface="Yu Gothic"/>
                <a:cs typeface="Yu Gothic"/>
              </a:defRPr>
            </a:lvl3pPr>
            <a:lvl4pPr>
              <a:buNone/>
              <a:defRPr sz="1875" b="1">
                <a:solidFill>
                  <a:srgbClr val="FFFFFF"/>
                </a:solidFill>
                <a:latin typeface="Yu Gothic"/>
                <a:ea typeface="Yu Gothic"/>
                <a:cs typeface="Yu Gothic"/>
              </a:defRPr>
            </a:lvl4pPr>
            <a:lvl5pPr>
              <a:buNone/>
              <a:defRPr sz="1875" b="1">
                <a:solidFill>
                  <a:srgbClr val="FFFFFF"/>
                </a:solidFill>
                <a:latin typeface="Yu Gothic"/>
                <a:ea typeface="Yu Gothic"/>
                <a:cs typeface="Yu Gothic"/>
              </a:defRPr>
            </a:lvl5pPr>
            <a:lvl6pPr>
              <a:buNone/>
              <a:defRPr sz="1875" b="1">
                <a:solidFill>
                  <a:srgbClr val="FFFFFF"/>
                </a:solidFill>
                <a:latin typeface="Yu Gothic"/>
                <a:ea typeface="Yu Gothic"/>
                <a:cs typeface="Yu Gothic"/>
              </a:defRPr>
            </a:lvl6pPr>
            <a:lvl7pPr>
              <a:buNone/>
              <a:defRPr sz="1875" b="1">
                <a:solidFill>
                  <a:srgbClr val="FFFFFF"/>
                </a:solidFill>
                <a:latin typeface="Yu Gothic"/>
                <a:ea typeface="Yu Gothic"/>
                <a:cs typeface="Yu Gothic"/>
              </a:defRPr>
            </a:lvl7pPr>
            <a:lvl8pPr>
              <a:buNone/>
              <a:defRPr sz="1875" b="1">
                <a:solidFill>
                  <a:srgbClr val="FFFFFF"/>
                </a:solidFill>
                <a:latin typeface="Yu Gothic"/>
                <a:ea typeface="Yu Gothic"/>
                <a:cs typeface="Yu Gothic"/>
              </a:defRPr>
            </a:lvl8pPr>
            <a:lvl9pPr>
              <a:buNone/>
              <a:defRPr sz="1875" b="1">
                <a:solidFill>
                  <a:srgbClr val="FFFFFF"/>
                </a:solidFill>
                <a:latin typeface="Yu Gothic"/>
                <a:ea typeface="Yu Gothic"/>
                <a:cs typeface="Yu Gothic"/>
              </a:defRPr>
            </a:lvl9pPr>
          </a:lstStyle>
          <a:p>
            <a:pPr>
              <a:buNone/>
              <a:defRPr sz="1875" b="1">
                <a:solidFill>
                  <a:srgbClr val="FFFFFF"/>
                </a:solidFill>
                <a:latin typeface="Yu Gothic"/>
                <a:ea typeface="Yu Gothic"/>
                <a:cs typeface="Yu Gothic"/>
              </a:defRPr>
            </a:pPr>
            <a:r>
              <a:rPr sz="1875" b="1">
                <a:solidFill>
                  <a:srgbClr val="FFFFFF"/>
                </a:solidFill>
                <a:latin typeface="Yu Gothic"/>
                <a:ea typeface="Yu Gothic"/>
                <a:cs typeface="Yu Gothic"/>
              </a:rPr>
              <a:t>接着層</a:t>
            </a:r>
          </a:p>
        </p:txBody>
      </p:sp>
      <p:sp>
        <p:nvSpPr>
          <p:cNvPr id="11" name="正方形/長方形 10">
            <a:extLst>
              <a:ext uri="{FF2B5EF4-FFF2-40B4-BE49-F238E27FC236}">
                <a16:creationId xmlns:a16="http://schemas.microsoft.com/office/drawing/2014/main" id="{3A15B2FC-3364-4C4F-9B5B-55B8E047BEB4}"/>
              </a:ext>
            </a:extLst>
          </p:cNvPr>
          <p:cNvSpPr>
            <a:spLocks noGrp="1"/>
          </p:cNvSpPr>
          <p:nvPr/>
        </p:nvSpPr>
        <p:spPr>
          <a:xfrm>
            <a:off x="1571625" y="3790950"/>
            <a:ext cx="8572500" cy="228600"/>
          </a:xfrm>
          <a:prstGeom prst="rect">
            <a:avLst/>
          </a:prstGeom>
          <a:solidFill>
            <a:srgbClr val="B6CFCC"/>
          </a:solidFill>
          <a:ln w="0">
            <a:noFill/>
          </a:ln>
        </p:spPr>
      </p:sp>
      <p:sp>
        <p:nvSpPr>
          <p:cNvPr id="12" name="正方形/長方形 11">
            <a:extLst>
              <a:ext uri="{FF2B5EF4-FFF2-40B4-BE49-F238E27FC236}">
                <a16:creationId xmlns:a16="http://schemas.microsoft.com/office/drawing/2014/main" id="{9F4262FC-458C-454D-8721-C2DEB886D3C7}"/>
              </a:ext>
            </a:extLst>
          </p:cNvPr>
          <p:cNvSpPr>
            <a:spLocks noGrp="1"/>
          </p:cNvSpPr>
          <p:nvPr/>
        </p:nvSpPr>
        <p:spPr>
          <a:xfrm>
            <a:off x="1685925" y="3943350"/>
            <a:ext cx="8343900" cy="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endParaRPr/>
          </a:p>
        </p:txBody>
      </p:sp>
      <p:sp>
        <p:nvSpPr>
          <p:cNvPr id="13" name="正方形/長方形 12">
            <a:extLst>
              <a:ext uri="{FF2B5EF4-FFF2-40B4-BE49-F238E27FC236}">
                <a16:creationId xmlns:a16="http://schemas.microsoft.com/office/drawing/2014/main" id="{7FD0979D-2EA4-4314-B033-721791659BA3}"/>
              </a:ext>
            </a:extLst>
          </p:cNvPr>
          <p:cNvSpPr>
            <a:spLocks noGrp="1"/>
          </p:cNvSpPr>
          <p:nvPr/>
        </p:nvSpPr>
        <p:spPr>
          <a:xfrm>
            <a:off x="1571625" y="4067175"/>
            <a:ext cx="8572500" cy="1095375"/>
          </a:xfrm>
          <a:prstGeom prst="rect">
            <a:avLst/>
          </a:prstGeom>
          <a:solidFill>
            <a:srgbClr val="EBD9BB"/>
          </a:solidFill>
          <a:ln w="0">
            <a:noFill/>
          </a:ln>
        </p:spPr>
      </p:sp>
      <p:sp>
        <p:nvSpPr>
          <p:cNvPr id="14" name="正方形/長方形 13">
            <a:extLst>
              <a:ext uri="{FF2B5EF4-FFF2-40B4-BE49-F238E27FC236}">
                <a16:creationId xmlns:a16="http://schemas.microsoft.com/office/drawing/2014/main" id="{B3B012C9-139E-4126-B546-7AEFFDBE9C35}"/>
              </a:ext>
            </a:extLst>
          </p:cNvPr>
          <p:cNvSpPr>
            <a:spLocks noGrp="1"/>
          </p:cNvSpPr>
          <p:nvPr/>
        </p:nvSpPr>
        <p:spPr>
          <a:xfrm>
            <a:off x="1685925" y="4219575"/>
            <a:ext cx="8343900" cy="866775"/>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木材：方向・空隙・含水状態が関わる</a:t>
            </a:r>
          </a:p>
        </p:txBody>
      </p:sp>
      <p:sp>
        <p:nvSpPr>
          <p:cNvPr id="15" name="正方形/長方形 14">
            <a:extLst>
              <a:ext uri="{FF2B5EF4-FFF2-40B4-BE49-F238E27FC236}">
                <a16:creationId xmlns:a16="http://schemas.microsoft.com/office/drawing/2014/main" id="{FBDB270A-D82B-4356-9793-0330BE2103CF}"/>
              </a:ext>
            </a:extLst>
          </p:cNvPr>
          <p:cNvSpPr>
            <a:spLocks noGrp="1"/>
          </p:cNvSpPr>
          <p:nvPr/>
        </p:nvSpPr>
        <p:spPr>
          <a:xfrm>
            <a:off x="10287000" y="3019425"/>
            <a:ext cx="1524000" cy="714375"/>
          </a:xfrm>
          <a:prstGeom prst="rect">
            <a:avLst/>
          </a:prstGeom>
          <a:noFill/>
          <a:ln w="0">
            <a:noFill/>
          </a:ln>
        </p:spPr>
        <p:txBody>
          <a:bodyPr lIns="0" tIns="0" rIns="0" bIns="0" anchor="ctr">
            <a:noAutofit/>
          </a:bodyPr>
          <a:lstStyle>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界面付近</a:t>
            </a:r>
          </a:p>
        </p:txBody>
      </p:sp>
      <p:sp>
        <p:nvSpPr>
          <p:cNvPr id="16" name="フリーフォーム: 図形 15">
            <a:extLst>
              <a:ext uri="{FF2B5EF4-FFF2-40B4-BE49-F238E27FC236}">
                <a16:creationId xmlns:a16="http://schemas.microsoft.com/office/drawing/2014/main" id="{BB905F88-767D-46DC-899B-D8E47C45A217}"/>
              </a:ext>
            </a:extLst>
          </p:cNvPr>
          <p:cNvSpPr>
            <a:spLocks noGrp="1"/>
          </p:cNvSpPr>
          <p:nvPr/>
        </p:nvSpPr>
        <p:spPr>
          <a:xfrm>
            <a:off x="762000" y="2333625"/>
            <a:ext cx="504825" cy="9525"/>
          </a:xfrm>
          <a:custGeom>
            <a:avLst/>
            <a:gdLst/>
            <a:ahLst/>
            <a:cxnLst/>
            <a:rect l="0" t="0" r="0" b="0"/>
            <a:pathLst>
              <a:path w="504825" h="9525">
                <a:moveTo>
                  <a:pt x="504825" y="0"/>
                </a:moveTo>
                <a:lnTo>
                  <a:pt x="0" y="0"/>
                </a:lnTo>
              </a:path>
            </a:pathLst>
          </a:custGeom>
          <a:noFill/>
          <a:ln w="38100">
            <a:solidFill>
              <a:srgbClr val="C4483C"/>
            </a:solidFill>
          </a:ln>
        </p:spPr>
      </p:sp>
      <p:sp>
        <p:nvSpPr>
          <p:cNvPr id="17" name="フリーフォーム: 図形 16">
            <a:extLst>
              <a:ext uri="{FF2B5EF4-FFF2-40B4-BE49-F238E27FC236}">
                <a16:creationId xmlns:a16="http://schemas.microsoft.com/office/drawing/2014/main" id="{A2DAB765-9AB4-43FA-A2BD-A84F00E07A9D}"/>
              </a:ext>
            </a:extLst>
          </p:cNvPr>
          <p:cNvSpPr>
            <a:spLocks noGrp="1"/>
          </p:cNvSpPr>
          <p:nvPr/>
        </p:nvSpPr>
        <p:spPr>
          <a:xfrm>
            <a:off x="762000" y="2248989"/>
            <a:ext cx="138045" cy="84636"/>
          </a:xfrm>
          <a:custGeom>
            <a:avLst/>
            <a:gdLst/>
            <a:ahLst/>
            <a:cxnLst/>
            <a:rect l="0" t="0" r="0" b="0"/>
            <a:pathLst>
              <a:path w="138045" h="84636">
                <a:moveTo>
                  <a:pt x="0" y="84636"/>
                </a:moveTo>
                <a:lnTo>
                  <a:pt x="138045" y="0"/>
                </a:lnTo>
              </a:path>
            </a:pathLst>
          </a:custGeom>
          <a:noFill/>
          <a:ln w="38100">
            <a:solidFill>
              <a:srgbClr val="C4483C"/>
            </a:solidFill>
          </a:ln>
        </p:spPr>
      </p:sp>
      <p:sp>
        <p:nvSpPr>
          <p:cNvPr id="18" name="フリーフォーム: 図形 17">
            <a:extLst>
              <a:ext uri="{FF2B5EF4-FFF2-40B4-BE49-F238E27FC236}">
                <a16:creationId xmlns:a16="http://schemas.microsoft.com/office/drawing/2014/main" id="{2AC33F89-D258-45B2-BF8D-90EA7CE96D8E}"/>
              </a:ext>
            </a:extLst>
          </p:cNvPr>
          <p:cNvSpPr>
            <a:spLocks noGrp="1"/>
          </p:cNvSpPr>
          <p:nvPr/>
        </p:nvSpPr>
        <p:spPr>
          <a:xfrm>
            <a:off x="762000" y="2333625"/>
            <a:ext cx="138045" cy="84636"/>
          </a:xfrm>
          <a:custGeom>
            <a:avLst/>
            <a:gdLst/>
            <a:ahLst/>
            <a:cxnLst/>
            <a:rect l="0" t="0" r="0" b="0"/>
            <a:pathLst>
              <a:path w="138045" h="84636">
                <a:moveTo>
                  <a:pt x="0" y="0"/>
                </a:moveTo>
                <a:lnTo>
                  <a:pt x="138045" y="84636"/>
                </a:lnTo>
              </a:path>
            </a:pathLst>
          </a:custGeom>
          <a:noFill/>
          <a:ln w="38100">
            <a:solidFill>
              <a:srgbClr val="C4483C"/>
            </a:solidFill>
          </a:ln>
        </p:spPr>
      </p:sp>
      <p:sp>
        <p:nvSpPr>
          <p:cNvPr id="19" name="フリーフォーム: 図形 18">
            <a:extLst>
              <a:ext uri="{FF2B5EF4-FFF2-40B4-BE49-F238E27FC236}">
                <a16:creationId xmlns:a16="http://schemas.microsoft.com/office/drawing/2014/main" id="{4AE5B539-8F9B-4845-8414-C7DF14179150}"/>
              </a:ext>
            </a:extLst>
          </p:cNvPr>
          <p:cNvSpPr>
            <a:spLocks noGrp="1"/>
          </p:cNvSpPr>
          <p:nvPr/>
        </p:nvSpPr>
        <p:spPr>
          <a:xfrm>
            <a:off x="10477500" y="4667250"/>
            <a:ext cx="762000" cy="9525"/>
          </a:xfrm>
          <a:custGeom>
            <a:avLst/>
            <a:gdLst/>
            <a:ahLst/>
            <a:cxnLst/>
            <a:rect l="0" t="0" r="0" b="0"/>
            <a:pathLst>
              <a:path w="762000" h="9525">
                <a:moveTo>
                  <a:pt x="0" y="0"/>
                </a:moveTo>
                <a:lnTo>
                  <a:pt x="762000" y="0"/>
                </a:lnTo>
              </a:path>
            </a:pathLst>
          </a:custGeom>
          <a:noFill/>
          <a:ln w="38100">
            <a:solidFill>
              <a:srgbClr val="C4483C"/>
            </a:solidFill>
          </a:ln>
        </p:spPr>
      </p:sp>
      <p:sp>
        <p:nvSpPr>
          <p:cNvPr id="20" name="フリーフォーム: 図形 19">
            <a:extLst>
              <a:ext uri="{FF2B5EF4-FFF2-40B4-BE49-F238E27FC236}">
                <a16:creationId xmlns:a16="http://schemas.microsoft.com/office/drawing/2014/main" id="{B903E7DA-110D-4563-9F15-FBB4B3A9FE54}"/>
              </a:ext>
            </a:extLst>
          </p:cNvPr>
          <p:cNvSpPr>
            <a:spLocks noGrp="1"/>
          </p:cNvSpPr>
          <p:nvPr/>
        </p:nvSpPr>
        <p:spPr>
          <a:xfrm>
            <a:off x="11101455" y="4667250"/>
            <a:ext cx="138045" cy="84636"/>
          </a:xfrm>
          <a:custGeom>
            <a:avLst/>
            <a:gdLst/>
            <a:ahLst/>
            <a:cxnLst/>
            <a:rect l="0" t="0" r="0" b="0"/>
            <a:pathLst>
              <a:path w="138045" h="84636">
                <a:moveTo>
                  <a:pt x="138045" y="0"/>
                </a:moveTo>
                <a:lnTo>
                  <a:pt x="0" y="84636"/>
                </a:lnTo>
              </a:path>
            </a:pathLst>
          </a:custGeom>
          <a:noFill/>
          <a:ln w="38100">
            <a:solidFill>
              <a:srgbClr val="C4483C"/>
            </a:solidFill>
          </a:ln>
        </p:spPr>
      </p:sp>
      <p:sp>
        <p:nvSpPr>
          <p:cNvPr id="21" name="フリーフォーム: 図形 20">
            <a:extLst>
              <a:ext uri="{FF2B5EF4-FFF2-40B4-BE49-F238E27FC236}">
                <a16:creationId xmlns:a16="http://schemas.microsoft.com/office/drawing/2014/main" id="{4F7D3DCF-4B4B-4F7F-AF80-707672257373}"/>
              </a:ext>
            </a:extLst>
          </p:cNvPr>
          <p:cNvSpPr>
            <a:spLocks noGrp="1"/>
          </p:cNvSpPr>
          <p:nvPr/>
        </p:nvSpPr>
        <p:spPr>
          <a:xfrm>
            <a:off x="11101455" y="4582614"/>
            <a:ext cx="138045" cy="84636"/>
          </a:xfrm>
          <a:custGeom>
            <a:avLst/>
            <a:gdLst/>
            <a:ahLst/>
            <a:cxnLst/>
            <a:rect l="0" t="0" r="0" b="0"/>
            <a:pathLst>
              <a:path w="138045" h="84636">
                <a:moveTo>
                  <a:pt x="138045" y="84636"/>
                </a:moveTo>
                <a:lnTo>
                  <a:pt x="0" y="0"/>
                </a:lnTo>
              </a:path>
            </a:pathLst>
          </a:custGeom>
          <a:noFill/>
          <a:ln w="38100">
            <a:solidFill>
              <a:srgbClr val="C4483C"/>
            </a:solidFill>
          </a:ln>
        </p:spPr>
      </p:sp>
      <p:sp>
        <p:nvSpPr>
          <p:cNvPr id="22" name="正方形/長方形 21">
            <a:extLst>
              <a:ext uri="{FF2B5EF4-FFF2-40B4-BE49-F238E27FC236}">
                <a16:creationId xmlns:a16="http://schemas.microsoft.com/office/drawing/2014/main" id="{DC14C53D-29B8-4152-AFE6-9D160A38391D}"/>
              </a:ext>
            </a:extLst>
          </p:cNvPr>
          <p:cNvSpPr>
            <a:spLocks noGrp="1"/>
          </p:cNvSpPr>
          <p:nvPr/>
        </p:nvSpPr>
        <p:spPr>
          <a:xfrm>
            <a:off x="838200" y="5334000"/>
            <a:ext cx="10477500" cy="381000"/>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破壊の位置を見る → 木材／界面付近／接着層</a:t>
            </a:r>
          </a:p>
        </p:txBody>
      </p:sp>
      <p:sp>
        <p:nvSpPr>
          <p:cNvPr id="23" name="正方形/長方形 22">
            <a:extLst>
              <a:ext uri="{FF2B5EF4-FFF2-40B4-BE49-F238E27FC236}">
                <a16:creationId xmlns:a16="http://schemas.microsoft.com/office/drawing/2014/main" id="{172AD65B-C9F4-4BDC-91A5-FAF740CADF5B}"/>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概念図。界面付近の形・厚さは実測値ではない。</a:t>
            </a:r>
          </a:p>
        </p:txBody>
      </p:sp>
    </p:spTree>
    <p:extLst>
      <p:ext uri="{BB962C8B-B14F-4D97-AF65-F5344CB8AC3E}">
        <p14:creationId xmlns:p14="http://schemas.microsoft.com/office/powerpoint/2010/main" val="1651489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A1C59676-B55F-497C-8391-46D01E6ACB2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接着面のぬれと、接着層の形成</a:t>
            </a:r>
          </a:p>
        </p:txBody>
      </p:sp>
      <p:sp>
        <p:nvSpPr>
          <p:cNvPr id="2" name="正方形/長方形 1">
            <a:extLst>
              <a:ext uri="{FF2B5EF4-FFF2-40B4-BE49-F238E27FC236}">
                <a16:creationId xmlns:a16="http://schemas.microsoft.com/office/drawing/2014/main" id="{524AFA30-57F7-4775-8576-90D128653B5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4DBAE522-E693-45C6-9B7F-60B35954AB5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DDAFE74-8224-4D05-A303-3A25E9FBC0A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A0192A3-7AEA-41D8-A580-218448466F23}"/>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接着剤が木材表面へ広がり、接触する</a:t>
            </a:r>
          </a:p>
        </p:txBody>
      </p:sp>
      <p:sp>
        <p:nvSpPr>
          <p:cNvPr id="6" name="正方形/長方形 5">
            <a:extLst>
              <a:ext uri="{FF2B5EF4-FFF2-40B4-BE49-F238E27FC236}">
                <a16:creationId xmlns:a16="http://schemas.microsoft.com/office/drawing/2014/main" id="{6CE7CC37-9C0C-48CD-A74D-F83267E0FF38}"/>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表面との相互作用と、組織への入り込みが関わる</a:t>
            </a:r>
          </a:p>
        </p:txBody>
      </p:sp>
      <p:sp>
        <p:nvSpPr>
          <p:cNvPr id="7" name="正方形/長方形 6">
            <a:extLst>
              <a:ext uri="{FF2B5EF4-FFF2-40B4-BE49-F238E27FC236}">
                <a16:creationId xmlns:a16="http://schemas.microsoft.com/office/drawing/2014/main" id="{16DA2F9C-3E18-423D-B39A-981313072FB4}"/>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乾燥・重合・架橋などにより、接着層が固まる</a:t>
            </a:r>
          </a:p>
        </p:txBody>
      </p:sp>
      <p:sp>
        <p:nvSpPr>
          <p:cNvPr id="8" name="正方形/長方形 7">
            <a:extLst>
              <a:ext uri="{FF2B5EF4-FFF2-40B4-BE49-F238E27FC236}">
                <a16:creationId xmlns:a16="http://schemas.microsoft.com/office/drawing/2014/main" id="{E9DF6134-AB4B-405B-AE28-E17A5D549858}"/>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木材／界面／接着層のどこも、性能に関わる</a:t>
            </a:r>
          </a:p>
        </p:txBody>
      </p:sp>
    </p:spTree>
    <p:extLst>
      <p:ext uri="{BB962C8B-B14F-4D97-AF65-F5344CB8AC3E}">
        <p14:creationId xmlns:p14="http://schemas.microsoft.com/office/powerpoint/2010/main" val="2833365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DE0F7DA-C498-4FF6-A77B-9960C9D1D547}"/>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ぬれ・浸透・硬化は、別の過程</a:t>
            </a:r>
          </a:p>
        </p:txBody>
      </p:sp>
      <p:sp>
        <p:nvSpPr>
          <p:cNvPr id="2" name="正方形/長方形 1">
            <a:extLst>
              <a:ext uri="{FF2B5EF4-FFF2-40B4-BE49-F238E27FC236}">
                <a16:creationId xmlns:a16="http://schemas.microsoft.com/office/drawing/2014/main" id="{274C713D-F536-43A2-8B7B-12E40D081CD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DC53194-B0E2-45DA-8D0D-34599E42397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0837F30-3182-4883-B5D2-594EACA15CA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6</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0B3D017C-473D-4C5F-AAC7-E82FC26B61D8}"/>
              </a:ext>
            </a:extLst>
          </p:cNvPr>
          <p:cNvGraphicFramePr/>
          <p:nvPr/>
        </p:nvGraphicFramePr>
        <p:xfrm>
          <a:off x="838200" y="1847850"/>
          <a:ext cx="10477500" cy="3333750"/>
        </p:xfrm>
        <a:graphic>
          <a:graphicData uri="http://schemas.openxmlformats.org/drawingml/2006/table">
            <a:tbl>
              <a:tblPr/>
              <a:tblGrid>
                <a:gridCol w="21907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833438">
                <a:tc>
                  <a:txBody>
                    <a:bodyPr/>
                    <a:lstStyle/>
                    <a:p>
                      <a:r>
                        <a:rPr sz="1875" b="1">
                          <a:solidFill>
                            <a:srgbClr val="FFFFFF"/>
                          </a:solidFill>
                          <a:latin typeface="Yu Gothic"/>
                          <a:ea typeface="Yu Gothic"/>
                          <a:cs typeface="Yu Gothic"/>
                        </a:rPr>
                        <a:t>過程</a:t>
                      </a:r>
                    </a:p>
                  </a:txBody>
                  <a:tcPr>
                    <a:solidFill>
                      <a:srgbClr val="18364F"/>
                    </a:solidFill>
                  </a:tcPr>
                </a:tc>
                <a:tc>
                  <a:txBody>
                    <a:bodyPr/>
                    <a:lstStyle/>
                    <a:p>
                      <a:r>
                        <a:rPr sz="1875" b="1">
                          <a:solidFill>
                            <a:srgbClr val="FFFFFF"/>
                          </a:solidFill>
                          <a:latin typeface="Yu Gothic"/>
                          <a:ea typeface="Yu Gothic"/>
                          <a:cs typeface="Yu Gothic"/>
                        </a:rPr>
                        <a:t>見るもの</a:t>
                      </a:r>
                    </a:p>
                  </a:txBody>
                  <a:tcPr>
                    <a:solidFill>
                      <a:srgbClr val="18364F"/>
                    </a:solidFill>
                  </a:tcPr>
                </a:tc>
                <a:tc>
                  <a:txBody>
                    <a:bodyPr/>
                    <a:lstStyle/>
                    <a:p>
                      <a:r>
                        <a:rPr sz="1875" b="1">
                          <a:solidFill>
                            <a:srgbClr val="FFFFFF"/>
                          </a:solidFill>
                          <a:latin typeface="Yu Gothic"/>
                          <a:ea typeface="Yu Gothic"/>
                          <a:cs typeface="Yu Gothic"/>
                        </a:rPr>
                        <a:t>それだけでは確定しないこと</a:t>
                      </a:r>
                    </a:p>
                  </a:txBody>
                  <a:tcPr>
                    <a:solidFill>
                      <a:srgbClr val="18364F"/>
                    </a:solidFill>
                  </a:tcPr>
                </a:tc>
                <a:extLst>
                  <a:ext uri="{0D108BD9-81ED-4DB2-BD59-A6C34878D82A}">
                    <a16:rowId xmlns:a16="http://schemas.microsoft.com/office/drawing/2014/main" val="10000"/>
                  </a:ext>
                </a:extLst>
              </a:tr>
              <a:tr h="833438">
                <a:tc>
                  <a:txBody>
                    <a:bodyPr/>
                    <a:lstStyle/>
                    <a:p>
                      <a:r>
                        <a:rPr sz="1875" b="0">
                          <a:solidFill>
                            <a:srgbClr val="253C4D"/>
                          </a:solidFill>
                          <a:latin typeface="Yu Gothic"/>
                          <a:ea typeface="Yu Gothic"/>
                          <a:cs typeface="Yu Gothic"/>
                        </a:rPr>
                        <a:t>ぬれ</a:t>
                      </a:r>
                    </a:p>
                  </a:txBody>
                  <a:tcPr>
                    <a:solidFill>
                      <a:srgbClr val="F1F5F7"/>
                    </a:solidFill>
                  </a:tcPr>
                </a:tc>
                <a:tc>
                  <a:txBody>
                    <a:bodyPr/>
                    <a:lstStyle/>
                    <a:p>
                      <a:r>
                        <a:rPr sz="1875" b="0">
                          <a:solidFill>
                            <a:srgbClr val="253C4D"/>
                          </a:solidFill>
                          <a:latin typeface="Yu Gothic"/>
                          <a:ea typeface="Yu Gothic"/>
                          <a:cs typeface="Yu Gothic"/>
                        </a:rPr>
                        <a:t>広がり・接触</a:t>
                      </a:r>
                    </a:p>
                  </a:txBody>
                  <a:tcPr>
                    <a:solidFill>
                      <a:srgbClr val="F1F5F7"/>
                    </a:solidFill>
                  </a:tcPr>
                </a:tc>
                <a:tc>
                  <a:txBody>
                    <a:bodyPr/>
                    <a:lstStyle/>
                    <a:p>
                      <a:r>
                        <a:rPr sz="1875" b="0">
                          <a:solidFill>
                            <a:srgbClr val="253C4D"/>
                          </a:solidFill>
                          <a:latin typeface="Yu Gothic"/>
                          <a:ea typeface="Yu Gothic"/>
                          <a:cs typeface="Yu Gothic"/>
                        </a:rPr>
                        <a:t>硬化後の強さ</a:t>
                      </a:r>
                    </a:p>
                  </a:txBody>
                  <a:tcPr>
                    <a:solidFill>
                      <a:srgbClr val="F1F5F7"/>
                    </a:solidFill>
                  </a:tcPr>
                </a:tc>
                <a:extLst>
                  <a:ext uri="{0D108BD9-81ED-4DB2-BD59-A6C34878D82A}">
                    <a16:rowId xmlns:a16="http://schemas.microsoft.com/office/drawing/2014/main" val="10001"/>
                  </a:ext>
                </a:extLst>
              </a:tr>
              <a:tr h="833438">
                <a:tc>
                  <a:txBody>
                    <a:bodyPr/>
                    <a:lstStyle/>
                    <a:p>
                      <a:r>
                        <a:rPr sz="1875" b="0">
                          <a:solidFill>
                            <a:srgbClr val="253C4D"/>
                          </a:solidFill>
                          <a:latin typeface="Yu Gothic"/>
                          <a:ea typeface="Yu Gothic"/>
                          <a:cs typeface="Yu Gothic"/>
                        </a:rPr>
                        <a:t>浸透</a:t>
                      </a:r>
                    </a:p>
                  </a:txBody>
                  <a:tcPr>
                    <a:solidFill>
                      <a:srgbClr val="FFFFFF"/>
                    </a:solidFill>
                  </a:tcPr>
                </a:tc>
                <a:tc>
                  <a:txBody>
                    <a:bodyPr/>
                    <a:lstStyle/>
                    <a:p>
                      <a:r>
                        <a:rPr sz="1875" b="0">
                          <a:solidFill>
                            <a:srgbClr val="253C4D"/>
                          </a:solidFill>
                          <a:latin typeface="Yu Gothic"/>
                          <a:ea typeface="Yu Gothic"/>
                          <a:cs typeface="Yu Gothic"/>
                        </a:rPr>
                        <a:t>入り込む経路と程度</a:t>
                      </a:r>
                    </a:p>
                  </a:txBody>
                  <a:tcPr>
                    <a:solidFill>
                      <a:srgbClr val="FFFFFF"/>
                    </a:solidFill>
                  </a:tcPr>
                </a:tc>
                <a:tc>
                  <a:txBody>
                    <a:bodyPr/>
                    <a:lstStyle/>
                    <a:p>
                      <a:r>
                        <a:rPr sz="1875" b="0">
                          <a:solidFill>
                            <a:srgbClr val="253C4D"/>
                          </a:solidFill>
                          <a:latin typeface="Yu Gothic"/>
                          <a:ea typeface="Yu Gothic"/>
                          <a:cs typeface="Yu Gothic"/>
                        </a:rPr>
                        <a:t>深いほど常に強いか</a:t>
                      </a:r>
                    </a:p>
                  </a:txBody>
                  <a:tcPr>
                    <a:solidFill>
                      <a:srgbClr val="FFFFFF"/>
                    </a:solidFill>
                  </a:tcPr>
                </a:tc>
                <a:extLst>
                  <a:ext uri="{0D108BD9-81ED-4DB2-BD59-A6C34878D82A}">
                    <a16:rowId xmlns:a16="http://schemas.microsoft.com/office/drawing/2014/main" val="10002"/>
                  </a:ext>
                </a:extLst>
              </a:tr>
              <a:tr h="833438">
                <a:tc>
                  <a:txBody>
                    <a:bodyPr/>
                    <a:lstStyle/>
                    <a:p>
                      <a:r>
                        <a:rPr sz="1875" b="0">
                          <a:solidFill>
                            <a:srgbClr val="253C4D"/>
                          </a:solidFill>
                          <a:latin typeface="Yu Gothic"/>
                          <a:ea typeface="Yu Gothic"/>
                          <a:cs typeface="Yu Gothic"/>
                        </a:rPr>
                        <a:t>硬化</a:t>
                      </a:r>
                    </a:p>
                  </a:txBody>
                  <a:tcPr>
                    <a:solidFill>
                      <a:srgbClr val="F1F5F7"/>
                    </a:solidFill>
                  </a:tcPr>
                </a:tc>
                <a:tc>
                  <a:txBody>
                    <a:bodyPr/>
                    <a:lstStyle/>
                    <a:p>
                      <a:r>
                        <a:rPr sz="1875" b="0">
                          <a:solidFill>
                            <a:srgbClr val="253C4D"/>
                          </a:solidFill>
                          <a:latin typeface="Yu Gothic"/>
                          <a:ea typeface="Yu Gothic"/>
                          <a:cs typeface="Yu Gothic"/>
                        </a:rPr>
                        <a:t>層の形成と条件</a:t>
                      </a:r>
                    </a:p>
                  </a:txBody>
                  <a:tcPr>
                    <a:solidFill>
                      <a:srgbClr val="F1F5F7"/>
                    </a:solidFill>
                  </a:tcPr>
                </a:tc>
                <a:tc>
                  <a:txBody>
                    <a:bodyPr/>
                    <a:lstStyle/>
                    <a:p>
                      <a:r>
                        <a:rPr sz="1875" b="0">
                          <a:solidFill>
                            <a:srgbClr val="253C4D"/>
                          </a:solidFill>
                          <a:latin typeface="Yu Gothic"/>
                          <a:ea typeface="Yu Gothic"/>
                          <a:cs typeface="Yu Gothic"/>
                        </a:rPr>
                        <a:t>長期の使用性能</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13A35D27-BB14-476E-B31C-05A03F9E4809}"/>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水滴の観察と、実際の接着剤の試験を区別する。</a:t>
            </a:r>
          </a:p>
        </p:txBody>
      </p:sp>
    </p:spTree>
    <p:extLst>
      <p:ext uri="{BB962C8B-B14F-4D97-AF65-F5344CB8AC3E}">
        <p14:creationId xmlns:p14="http://schemas.microsoft.com/office/powerpoint/2010/main" val="1579501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B9B25002-01BF-49F6-90C6-B6DDC255E6F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接着工程で管理する条件</a:t>
            </a:r>
          </a:p>
        </p:txBody>
      </p:sp>
      <p:sp>
        <p:nvSpPr>
          <p:cNvPr id="2" name="正方形/長方形 1">
            <a:extLst>
              <a:ext uri="{FF2B5EF4-FFF2-40B4-BE49-F238E27FC236}">
                <a16:creationId xmlns:a16="http://schemas.microsoft.com/office/drawing/2014/main" id="{E67BA2DE-3A8C-4733-90D6-81EE9141B0C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22E69ED-4472-4A4A-813E-BD58858A74C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A97AE8B8-78B8-4CAE-9865-DEAE62CAFA53}"/>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7</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4DE1EFE0-1D5E-413E-964A-CFE4098BAAC0}"/>
              </a:ext>
            </a:extLst>
          </p:cNvPr>
          <p:cNvGraphicFramePr/>
          <p:nvPr/>
        </p:nvGraphicFramePr>
        <p:xfrm>
          <a:off x="838200" y="1952625"/>
          <a:ext cx="10477500" cy="3238500"/>
        </p:xfrm>
        <a:graphic>
          <a:graphicData uri="http://schemas.openxmlformats.org/drawingml/2006/table">
            <a:tbl>
              <a:tblPr/>
              <a:tblGrid>
                <a:gridCol w="30480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809625">
                <a:tc>
                  <a:txBody>
                    <a:bodyPr/>
                    <a:lstStyle/>
                    <a:p>
                      <a:r>
                        <a:rPr sz="1875" b="1">
                          <a:solidFill>
                            <a:srgbClr val="FFFFFF"/>
                          </a:solidFill>
                          <a:latin typeface="Yu Gothic"/>
                          <a:ea typeface="Yu Gothic"/>
                          <a:cs typeface="Yu Gothic"/>
                        </a:rPr>
                        <a:t>段階</a:t>
                      </a:r>
                    </a:p>
                  </a:txBody>
                  <a:tcPr>
                    <a:solidFill>
                      <a:srgbClr val="18364F"/>
                    </a:solidFill>
                  </a:tcPr>
                </a:tc>
                <a:tc>
                  <a:txBody>
                    <a:bodyPr/>
                    <a:lstStyle/>
                    <a:p>
                      <a:r>
                        <a:rPr sz="1875" b="1">
                          <a:solidFill>
                            <a:srgbClr val="FFFFFF"/>
                          </a:solidFill>
                          <a:latin typeface="Yu Gothic"/>
                          <a:ea typeface="Yu Gothic"/>
                          <a:cs typeface="Yu Gothic"/>
                        </a:rPr>
                        <a:t>確認すること</a:t>
                      </a:r>
                    </a:p>
                  </a:txBody>
                  <a:tcPr>
                    <a:solidFill>
                      <a:srgbClr val="18364F"/>
                    </a:solidFill>
                  </a:tcPr>
                </a:tc>
                <a:extLst>
                  <a:ext uri="{0D108BD9-81ED-4DB2-BD59-A6C34878D82A}">
                    <a16:rowId xmlns:a16="http://schemas.microsoft.com/office/drawing/2014/main" val="10000"/>
                  </a:ext>
                </a:extLst>
              </a:tr>
              <a:tr h="809625">
                <a:tc>
                  <a:txBody>
                    <a:bodyPr/>
                    <a:lstStyle/>
                    <a:p>
                      <a:r>
                        <a:rPr sz="1875" b="0">
                          <a:solidFill>
                            <a:srgbClr val="253C4D"/>
                          </a:solidFill>
                          <a:latin typeface="Yu Gothic"/>
                          <a:ea typeface="Yu Gothic"/>
                          <a:cs typeface="Yu Gothic"/>
                        </a:rPr>
                        <a:t>面を合わせる</a:t>
                      </a:r>
                    </a:p>
                  </a:txBody>
                  <a:tcPr>
                    <a:solidFill>
                      <a:srgbClr val="F1F5F7"/>
                    </a:solidFill>
                  </a:tcPr>
                </a:tc>
                <a:tc>
                  <a:txBody>
                    <a:bodyPr/>
                    <a:lstStyle/>
                    <a:p>
                      <a:r>
                        <a:rPr sz="1875" b="0">
                          <a:solidFill>
                            <a:srgbClr val="253C4D"/>
                          </a:solidFill>
                          <a:latin typeface="Yu Gothic"/>
                          <a:ea typeface="Yu Gothic"/>
                          <a:cs typeface="Yu Gothic"/>
                        </a:rPr>
                        <a:t>平滑さ、清掃、仮組み、含水状態</a:t>
                      </a:r>
                    </a:p>
                  </a:txBody>
                  <a:tcPr>
                    <a:solidFill>
                      <a:srgbClr val="F1F5F7"/>
                    </a:solidFill>
                  </a:tcPr>
                </a:tc>
                <a:extLst>
                  <a:ext uri="{0D108BD9-81ED-4DB2-BD59-A6C34878D82A}">
                    <a16:rowId xmlns:a16="http://schemas.microsoft.com/office/drawing/2014/main" val="10001"/>
                  </a:ext>
                </a:extLst>
              </a:tr>
              <a:tr h="809625">
                <a:tc>
                  <a:txBody>
                    <a:bodyPr/>
                    <a:lstStyle/>
                    <a:p>
                      <a:r>
                        <a:rPr sz="1875" b="0">
                          <a:solidFill>
                            <a:srgbClr val="253C4D"/>
                          </a:solidFill>
                          <a:latin typeface="Yu Gothic"/>
                          <a:ea typeface="Yu Gothic"/>
                          <a:cs typeface="Yu Gothic"/>
                        </a:rPr>
                        <a:t>塗布・組立て</a:t>
                      </a:r>
                    </a:p>
                  </a:txBody>
                  <a:tcPr>
                    <a:solidFill>
                      <a:srgbClr val="FFFFFF"/>
                    </a:solidFill>
                  </a:tcPr>
                </a:tc>
                <a:tc>
                  <a:txBody>
                    <a:bodyPr/>
                    <a:lstStyle/>
                    <a:p>
                      <a:r>
                        <a:rPr sz="1875" b="0">
                          <a:solidFill>
                            <a:srgbClr val="253C4D"/>
                          </a:solidFill>
                          <a:latin typeface="Yu Gothic"/>
                          <a:ea typeface="Yu Gothic"/>
                          <a:cs typeface="Yu Gothic"/>
                        </a:rPr>
                        <a:t>量、均一さ、作業可能時間</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53C4D"/>
                          </a:solidFill>
                          <a:latin typeface="Yu Gothic"/>
                          <a:ea typeface="Yu Gothic"/>
                          <a:cs typeface="Yu Gothic"/>
                        </a:rPr>
                        <a:t>圧締・養生</a:t>
                      </a:r>
                    </a:p>
                  </a:txBody>
                  <a:tcPr>
                    <a:solidFill>
                      <a:srgbClr val="F1F5F7"/>
                    </a:solidFill>
                  </a:tcPr>
                </a:tc>
                <a:tc>
                  <a:txBody>
                    <a:bodyPr/>
                    <a:lstStyle/>
                    <a:p>
                      <a:r>
                        <a:rPr sz="1875" b="0">
                          <a:solidFill>
                            <a:srgbClr val="253C4D"/>
                          </a:solidFill>
                          <a:latin typeface="Yu Gothic"/>
                          <a:ea typeface="Yu Gothic"/>
                          <a:cs typeface="Yu Gothic"/>
                        </a:rPr>
                        <a:t>指定圧力・温度・時間、荷重を掛ける時期</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556B4E0D-2ECB-465E-BFA8-B5A5A8408BEA}"/>
              </a:ext>
            </a:extLst>
          </p:cNvPr>
          <p:cNvSpPr>
            <a:spLocks noGrp="1"/>
          </p:cNvSpPr>
          <p:nvPr/>
        </p:nvSpPr>
        <p:spPr>
          <a:xfrm>
            <a:off x="838200" y="5838825"/>
            <a:ext cx="10477500" cy="381000"/>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圧締解除と、十分な硬化・強度の発現を区別する。</a:t>
            </a:r>
          </a:p>
        </p:txBody>
      </p:sp>
    </p:spTree>
    <p:extLst>
      <p:ext uri="{BB962C8B-B14F-4D97-AF65-F5344CB8AC3E}">
        <p14:creationId xmlns:p14="http://schemas.microsoft.com/office/powerpoint/2010/main" val="532066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B0EABB0C-634F-4223-9981-4E0D3665894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作業可能時間と、荷重を掛ける時点</a:t>
            </a:r>
          </a:p>
        </p:txBody>
      </p:sp>
      <p:sp>
        <p:nvSpPr>
          <p:cNvPr id="2" name="正方形/長方形 1">
            <a:extLst>
              <a:ext uri="{FF2B5EF4-FFF2-40B4-BE49-F238E27FC236}">
                <a16:creationId xmlns:a16="http://schemas.microsoft.com/office/drawing/2014/main" id="{CF7FF6FE-708C-43CF-AF14-600BC24DEFD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F46E329-2EE8-4829-9FF5-B2A7A51D1833}"/>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7955AE0-2C84-46B4-ADC9-5D1389F3FFA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A2DE0C1-8EB7-4AA5-9378-2F664DA0AF3F}"/>
              </a:ext>
            </a:extLst>
          </p:cNvPr>
          <p:cNvSpPr>
            <a:spLocks noGrp="1"/>
          </p:cNvSpPr>
          <p:nvPr/>
        </p:nvSpPr>
        <p:spPr>
          <a:xfrm>
            <a:off x="838200" y="2190750"/>
            <a:ext cx="1809750" cy="914400"/>
          </a:xfrm>
          <a:prstGeom prst="rect">
            <a:avLst/>
          </a:prstGeom>
          <a:solidFill>
            <a:srgbClr val="F0F4F7"/>
          </a:solidFill>
          <a:ln w="0">
            <a:noFill/>
          </a:ln>
        </p:spPr>
      </p:sp>
      <p:sp>
        <p:nvSpPr>
          <p:cNvPr id="6" name="正方形/長方形 5">
            <a:extLst>
              <a:ext uri="{FF2B5EF4-FFF2-40B4-BE49-F238E27FC236}">
                <a16:creationId xmlns:a16="http://schemas.microsoft.com/office/drawing/2014/main" id="{437FA981-36B1-4179-876D-BF4A1B83FFC0}"/>
              </a:ext>
            </a:extLst>
          </p:cNvPr>
          <p:cNvSpPr>
            <a:spLocks noGrp="1"/>
          </p:cNvSpPr>
          <p:nvPr/>
        </p:nvSpPr>
        <p:spPr>
          <a:xfrm>
            <a:off x="952500" y="2343150"/>
            <a:ext cx="1581150" cy="6858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塗布</a:t>
            </a:r>
          </a:p>
        </p:txBody>
      </p:sp>
      <p:sp>
        <p:nvSpPr>
          <p:cNvPr id="7" name="フリーフォーム: 図形 6">
            <a:extLst>
              <a:ext uri="{FF2B5EF4-FFF2-40B4-BE49-F238E27FC236}">
                <a16:creationId xmlns:a16="http://schemas.microsoft.com/office/drawing/2014/main" id="{F38A4708-3D52-4B7D-ADD2-5B8C15703914}"/>
              </a:ext>
            </a:extLst>
          </p:cNvPr>
          <p:cNvSpPr>
            <a:spLocks noGrp="1"/>
          </p:cNvSpPr>
          <p:nvPr/>
        </p:nvSpPr>
        <p:spPr>
          <a:xfrm>
            <a:off x="2676525" y="2647950"/>
            <a:ext cx="238125" cy="9525"/>
          </a:xfrm>
          <a:custGeom>
            <a:avLst/>
            <a:gdLst/>
            <a:ahLst/>
            <a:cxnLst/>
            <a:rect l="0" t="0" r="0" b="0"/>
            <a:pathLst>
              <a:path w="238125" h="9525">
                <a:moveTo>
                  <a:pt x="0" y="0"/>
                </a:moveTo>
                <a:lnTo>
                  <a:pt x="238125" y="0"/>
                </a:lnTo>
              </a:path>
            </a:pathLst>
          </a:custGeom>
          <a:noFill/>
          <a:ln w="38100">
            <a:solidFill>
              <a:srgbClr val="2876A8"/>
            </a:solidFill>
          </a:ln>
        </p:spPr>
      </p:sp>
      <p:sp>
        <p:nvSpPr>
          <p:cNvPr id="8" name="フリーフォーム: 図形 7">
            <a:extLst>
              <a:ext uri="{FF2B5EF4-FFF2-40B4-BE49-F238E27FC236}">
                <a16:creationId xmlns:a16="http://schemas.microsoft.com/office/drawing/2014/main" id="{D189CF30-CB8F-4C8B-8785-A15F14D565EF}"/>
              </a:ext>
            </a:extLst>
          </p:cNvPr>
          <p:cNvSpPr>
            <a:spLocks noGrp="1"/>
          </p:cNvSpPr>
          <p:nvPr/>
        </p:nvSpPr>
        <p:spPr>
          <a:xfrm>
            <a:off x="2776605" y="2647950"/>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9" name="フリーフォーム: 図形 8">
            <a:extLst>
              <a:ext uri="{FF2B5EF4-FFF2-40B4-BE49-F238E27FC236}">
                <a16:creationId xmlns:a16="http://schemas.microsoft.com/office/drawing/2014/main" id="{35FC914B-8EBD-4DDC-9D9F-394810807801}"/>
              </a:ext>
            </a:extLst>
          </p:cNvPr>
          <p:cNvSpPr>
            <a:spLocks noGrp="1"/>
          </p:cNvSpPr>
          <p:nvPr/>
        </p:nvSpPr>
        <p:spPr>
          <a:xfrm>
            <a:off x="2776605" y="2563314"/>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10" name="正方形/長方形 9">
            <a:extLst>
              <a:ext uri="{FF2B5EF4-FFF2-40B4-BE49-F238E27FC236}">
                <a16:creationId xmlns:a16="http://schemas.microsoft.com/office/drawing/2014/main" id="{E73768B0-09ED-488D-BFE8-5480521A24AF}"/>
              </a:ext>
            </a:extLst>
          </p:cNvPr>
          <p:cNvSpPr>
            <a:spLocks noGrp="1"/>
          </p:cNvSpPr>
          <p:nvPr/>
        </p:nvSpPr>
        <p:spPr>
          <a:xfrm>
            <a:off x="3000375" y="2190750"/>
            <a:ext cx="1809750" cy="914400"/>
          </a:xfrm>
          <a:prstGeom prst="rect">
            <a:avLst/>
          </a:prstGeom>
          <a:solidFill>
            <a:srgbClr val="F0F4F7"/>
          </a:solidFill>
          <a:ln w="0">
            <a:noFill/>
          </a:ln>
        </p:spPr>
      </p:sp>
      <p:sp>
        <p:nvSpPr>
          <p:cNvPr id="11" name="正方形/長方形 10">
            <a:extLst>
              <a:ext uri="{FF2B5EF4-FFF2-40B4-BE49-F238E27FC236}">
                <a16:creationId xmlns:a16="http://schemas.microsoft.com/office/drawing/2014/main" id="{6B1E1EB2-6DD2-4288-9B48-B84F4BBD7B43}"/>
              </a:ext>
            </a:extLst>
          </p:cNvPr>
          <p:cNvSpPr>
            <a:spLocks noGrp="1"/>
          </p:cNvSpPr>
          <p:nvPr/>
        </p:nvSpPr>
        <p:spPr>
          <a:xfrm>
            <a:off x="3114675" y="2343150"/>
            <a:ext cx="1581150" cy="6858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面を合わせる</a:t>
            </a:r>
          </a:p>
        </p:txBody>
      </p:sp>
      <p:sp>
        <p:nvSpPr>
          <p:cNvPr id="12" name="フリーフォーム: 図形 11">
            <a:extLst>
              <a:ext uri="{FF2B5EF4-FFF2-40B4-BE49-F238E27FC236}">
                <a16:creationId xmlns:a16="http://schemas.microsoft.com/office/drawing/2014/main" id="{2B12D078-261E-42A4-9832-28F66EE1D289}"/>
              </a:ext>
            </a:extLst>
          </p:cNvPr>
          <p:cNvSpPr>
            <a:spLocks noGrp="1"/>
          </p:cNvSpPr>
          <p:nvPr/>
        </p:nvSpPr>
        <p:spPr>
          <a:xfrm>
            <a:off x="4838700" y="2647950"/>
            <a:ext cx="238125" cy="9525"/>
          </a:xfrm>
          <a:custGeom>
            <a:avLst/>
            <a:gdLst/>
            <a:ahLst/>
            <a:cxnLst/>
            <a:rect l="0" t="0" r="0" b="0"/>
            <a:pathLst>
              <a:path w="238125" h="9525">
                <a:moveTo>
                  <a:pt x="0" y="0"/>
                </a:moveTo>
                <a:lnTo>
                  <a:pt x="238125" y="0"/>
                </a:lnTo>
              </a:path>
            </a:pathLst>
          </a:custGeom>
          <a:noFill/>
          <a:ln w="38100">
            <a:solidFill>
              <a:srgbClr val="2876A8"/>
            </a:solidFill>
          </a:ln>
        </p:spPr>
      </p:sp>
      <p:sp>
        <p:nvSpPr>
          <p:cNvPr id="13" name="フリーフォーム: 図形 12">
            <a:extLst>
              <a:ext uri="{FF2B5EF4-FFF2-40B4-BE49-F238E27FC236}">
                <a16:creationId xmlns:a16="http://schemas.microsoft.com/office/drawing/2014/main" id="{3EB3C452-B333-481D-B631-16EEA1347B99}"/>
              </a:ext>
            </a:extLst>
          </p:cNvPr>
          <p:cNvSpPr>
            <a:spLocks noGrp="1"/>
          </p:cNvSpPr>
          <p:nvPr/>
        </p:nvSpPr>
        <p:spPr>
          <a:xfrm>
            <a:off x="4938780" y="2647950"/>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14" name="フリーフォーム: 図形 13">
            <a:extLst>
              <a:ext uri="{FF2B5EF4-FFF2-40B4-BE49-F238E27FC236}">
                <a16:creationId xmlns:a16="http://schemas.microsoft.com/office/drawing/2014/main" id="{DB23FFDC-B678-4B49-BB4D-68800718C44D}"/>
              </a:ext>
            </a:extLst>
          </p:cNvPr>
          <p:cNvSpPr>
            <a:spLocks noGrp="1"/>
          </p:cNvSpPr>
          <p:nvPr/>
        </p:nvSpPr>
        <p:spPr>
          <a:xfrm>
            <a:off x="4938780" y="2563314"/>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15" name="正方形/長方形 14">
            <a:extLst>
              <a:ext uri="{FF2B5EF4-FFF2-40B4-BE49-F238E27FC236}">
                <a16:creationId xmlns:a16="http://schemas.microsoft.com/office/drawing/2014/main" id="{FFDB58B3-DDD7-4986-A1CC-EE32A9858349}"/>
              </a:ext>
            </a:extLst>
          </p:cNvPr>
          <p:cNvSpPr>
            <a:spLocks noGrp="1"/>
          </p:cNvSpPr>
          <p:nvPr/>
        </p:nvSpPr>
        <p:spPr>
          <a:xfrm>
            <a:off x="5162550" y="2190750"/>
            <a:ext cx="1809750" cy="914400"/>
          </a:xfrm>
          <a:prstGeom prst="rect">
            <a:avLst/>
          </a:prstGeom>
          <a:solidFill>
            <a:srgbClr val="F0F4F7"/>
          </a:solidFill>
          <a:ln w="0">
            <a:noFill/>
          </a:ln>
        </p:spPr>
      </p:sp>
      <p:sp>
        <p:nvSpPr>
          <p:cNvPr id="16" name="正方形/長方形 15">
            <a:extLst>
              <a:ext uri="{FF2B5EF4-FFF2-40B4-BE49-F238E27FC236}">
                <a16:creationId xmlns:a16="http://schemas.microsoft.com/office/drawing/2014/main" id="{68FECFB2-A3D1-450A-9A37-2EA17483E285}"/>
              </a:ext>
            </a:extLst>
          </p:cNvPr>
          <p:cNvSpPr>
            <a:spLocks noGrp="1"/>
          </p:cNvSpPr>
          <p:nvPr/>
        </p:nvSpPr>
        <p:spPr>
          <a:xfrm>
            <a:off x="5276850" y="2343150"/>
            <a:ext cx="1581150" cy="6858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圧締</a:t>
            </a:r>
          </a:p>
        </p:txBody>
      </p:sp>
      <p:sp>
        <p:nvSpPr>
          <p:cNvPr id="17" name="フリーフォーム: 図形 16">
            <a:extLst>
              <a:ext uri="{FF2B5EF4-FFF2-40B4-BE49-F238E27FC236}">
                <a16:creationId xmlns:a16="http://schemas.microsoft.com/office/drawing/2014/main" id="{5495DB9B-30D7-4C65-8EB9-652D4B7C6F04}"/>
              </a:ext>
            </a:extLst>
          </p:cNvPr>
          <p:cNvSpPr>
            <a:spLocks noGrp="1"/>
          </p:cNvSpPr>
          <p:nvPr/>
        </p:nvSpPr>
        <p:spPr>
          <a:xfrm>
            <a:off x="7000875" y="2647950"/>
            <a:ext cx="238125" cy="9525"/>
          </a:xfrm>
          <a:custGeom>
            <a:avLst/>
            <a:gdLst/>
            <a:ahLst/>
            <a:cxnLst/>
            <a:rect l="0" t="0" r="0" b="0"/>
            <a:pathLst>
              <a:path w="238125" h="9525">
                <a:moveTo>
                  <a:pt x="0" y="0"/>
                </a:moveTo>
                <a:lnTo>
                  <a:pt x="238125" y="0"/>
                </a:lnTo>
              </a:path>
            </a:pathLst>
          </a:custGeom>
          <a:noFill/>
          <a:ln w="38100">
            <a:solidFill>
              <a:srgbClr val="2876A8"/>
            </a:solidFill>
          </a:ln>
        </p:spPr>
      </p:sp>
      <p:sp>
        <p:nvSpPr>
          <p:cNvPr id="18" name="フリーフォーム: 図形 17">
            <a:extLst>
              <a:ext uri="{FF2B5EF4-FFF2-40B4-BE49-F238E27FC236}">
                <a16:creationId xmlns:a16="http://schemas.microsoft.com/office/drawing/2014/main" id="{36068C20-33EF-4F2F-9659-13CA1E62994B}"/>
              </a:ext>
            </a:extLst>
          </p:cNvPr>
          <p:cNvSpPr>
            <a:spLocks noGrp="1"/>
          </p:cNvSpPr>
          <p:nvPr/>
        </p:nvSpPr>
        <p:spPr>
          <a:xfrm>
            <a:off x="7100955" y="2647950"/>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19" name="フリーフォーム: 図形 18">
            <a:extLst>
              <a:ext uri="{FF2B5EF4-FFF2-40B4-BE49-F238E27FC236}">
                <a16:creationId xmlns:a16="http://schemas.microsoft.com/office/drawing/2014/main" id="{1A4F4571-78FF-4B60-9615-DF3CB9FA599F}"/>
              </a:ext>
            </a:extLst>
          </p:cNvPr>
          <p:cNvSpPr>
            <a:spLocks noGrp="1"/>
          </p:cNvSpPr>
          <p:nvPr/>
        </p:nvSpPr>
        <p:spPr>
          <a:xfrm>
            <a:off x="7100955" y="2563314"/>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20" name="正方形/長方形 19">
            <a:extLst>
              <a:ext uri="{FF2B5EF4-FFF2-40B4-BE49-F238E27FC236}">
                <a16:creationId xmlns:a16="http://schemas.microsoft.com/office/drawing/2014/main" id="{71406527-7387-412C-9A52-7097F7204502}"/>
              </a:ext>
            </a:extLst>
          </p:cNvPr>
          <p:cNvSpPr>
            <a:spLocks noGrp="1"/>
          </p:cNvSpPr>
          <p:nvPr/>
        </p:nvSpPr>
        <p:spPr>
          <a:xfrm>
            <a:off x="7324725" y="2190750"/>
            <a:ext cx="1809750" cy="914400"/>
          </a:xfrm>
          <a:prstGeom prst="rect">
            <a:avLst/>
          </a:prstGeom>
          <a:solidFill>
            <a:srgbClr val="F0F4F7"/>
          </a:solidFill>
          <a:ln w="0">
            <a:noFill/>
          </a:ln>
        </p:spPr>
      </p:sp>
      <p:sp>
        <p:nvSpPr>
          <p:cNvPr id="21" name="正方形/長方形 20">
            <a:extLst>
              <a:ext uri="{FF2B5EF4-FFF2-40B4-BE49-F238E27FC236}">
                <a16:creationId xmlns:a16="http://schemas.microsoft.com/office/drawing/2014/main" id="{54CEA012-10F6-4BD8-AEDB-FD8A8CC732C8}"/>
              </a:ext>
            </a:extLst>
          </p:cNvPr>
          <p:cNvSpPr>
            <a:spLocks noGrp="1"/>
          </p:cNvSpPr>
          <p:nvPr/>
        </p:nvSpPr>
        <p:spPr>
          <a:xfrm>
            <a:off x="7439025" y="2343150"/>
            <a:ext cx="1581150" cy="6858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養生</a:t>
            </a:r>
          </a:p>
        </p:txBody>
      </p:sp>
      <p:sp>
        <p:nvSpPr>
          <p:cNvPr id="22" name="フリーフォーム: 図形 21">
            <a:extLst>
              <a:ext uri="{FF2B5EF4-FFF2-40B4-BE49-F238E27FC236}">
                <a16:creationId xmlns:a16="http://schemas.microsoft.com/office/drawing/2014/main" id="{62CCB8EB-6DDB-4A28-8502-F4A8D46CA2D3}"/>
              </a:ext>
            </a:extLst>
          </p:cNvPr>
          <p:cNvSpPr>
            <a:spLocks noGrp="1"/>
          </p:cNvSpPr>
          <p:nvPr/>
        </p:nvSpPr>
        <p:spPr>
          <a:xfrm>
            <a:off x="9163050" y="2647950"/>
            <a:ext cx="238125" cy="9525"/>
          </a:xfrm>
          <a:custGeom>
            <a:avLst/>
            <a:gdLst/>
            <a:ahLst/>
            <a:cxnLst/>
            <a:rect l="0" t="0" r="0" b="0"/>
            <a:pathLst>
              <a:path w="238125" h="9525">
                <a:moveTo>
                  <a:pt x="0" y="0"/>
                </a:moveTo>
                <a:lnTo>
                  <a:pt x="238125" y="0"/>
                </a:lnTo>
              </a:path>
            </a:pathLst>
          </a:custGeom>
          <a:noFill/>
          <a:ln w="38100">
            <a:solidFill>
              <a:srgbClr val="2876A8"/>
            </a:solidFill>
          </a:ln>
        </p:spPr>
      </p:sp>
      <p:sp>
        <p:nvSpPr>
          <p:cNvPr id="23" name="フリーフォーム: 図形 22">
            <a:extLst>
              <a:ext uri="{FF2B5EF4-FFF2-40B4-BE49-F238E27FC236}">
                <a16:creationId xmlns:a16="http://schemas.microsoft.com/office/drawing/2014/main" id="{13C496A6-6936-4822-AC5A-2A366C3BB0B6}"/>
              </a:ext>
            </a:extLst>
          </p:cNvPr>
          <p:cNvSpPr>
            <a:spLocks noGrp="1"/>
          </p:cNvSpPr>
          <p:nvPr/>
        </p:nvSpPr>
        <p:spPr>
          <a:xfrm>
            <a:off x="9263130" y="2647950"/>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24" name="フリーフォーム: 図形 23">
            <a:extLst>
              <a:ext uri="{FF2B5EF4-FFF2-40B4-BE49-F238E27FC236}">
                <a16:creationId xmlns:a16="http://schemas.microsoft.com/office/drawing/2014/main" id="{C9C8B7C6-8DA6-4BBA-84E1-E80DA1E8DD79}"/>
              </a:ext>
            </a:extLst>
          </p:cNvPr>
          <p:cNvSpPr>
            <a:spLocks noGrp="1"/>
          </p:cNvSpPr>
          <p:nvPr/>
        </p:nvSpPr>
        <p:spPr>
          <a:xfrm>
            <a:off x="9263130" y="2563314"/>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25" name="正方形/長方形 24">
            <a:extLst>
              <a:ext uri="{FF2B5EF4-FFF2-40B4-BE49-F238E27FC236}">
                <a16:creationId xmlns:a16="http://schemas.microsoft.com/office/drawing/2014/main" id="{BF6AC404-E5A3-475A-91A6-F6D3BC7CA938}"/>
              </a:ext>
            </a:extLst>
          </p:cNvPr>
          <p:cNvSpPr>
            <a:spLocks noGrp="1"/>
          </p:cNvSpPr>
          <p:nvPr/>
        </p:nvSpPr>
        <p:spPr>
          <a:xfrm>
            <a:off x="9486900" y="2190750"/>
            <a:ext cx="1809750" cy="914400"/>
          </a:xfrm>
          <a:prstGeom prst="rect">
            <a:avLst/>
          </a:prstGeom>
          <a:solidFill>
            <a:srgbClr val="F0F4F7"/>
          </a:solidFill>
          <a:ln w="0">
            <a:noFill/>
          </a:ln>
        </p:spPr>
      </p:sp>
      <p:sp>
        <p:nvSpPr>
          <p:cNvPr id="26" name="正方形/長方形 25">
            <a:extLst>
              <a:ext uri="{FF2B5EF4-FFF2-40B4-BE49-F238E27FC236}">
                <a16:creationId xmlns:a16="http://schemas.microsoft.com/office/drawing/2014/main" id="{A9CF7236-E354-4935-AAE3-C6A15BAB0BCF}"/>
              </a:ext>
            </a:extLst>
          </p:cNvPr>
          <p:cNvSpPr>
            <a:spLocks noGrp="1"/>
          </p:cNvSpPr>
          <p:nvPr/>
        </p:nvSpPr>
        <p:spPr>
          <a:xfrm>
            <a:off x="9601200" y="2343150"/>
            <a:ext cx="1581150" cy="6858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使用</a:t>
            </a:r>
          </a:p>
        </p:txBody>
      </p:sp>
      <p:sp>
        <p:nvSpPr>
          <p:cNvPr id="27" name="正方形/長方形 26">
            <a:extLst>
              <a:ext uri="{FF2B5EF4-FFF2-40B4-BE49-F238E27FC236}">
                <a16:creationId xmlns:a16="http://schemas.microsoft.com/office/drawing/2014/main" id="{5B3E2278-8080-4328-A3CB-0A9EBF94DC43}"/>
              </a:ext>
            </a:extLst>
          </p:cNvPr>
          <p:cNvSpPr>
            <a:spLocks noGrp="1"/>
          </p:cNvSpPr>
          <p:nvPr/>
        </p:nvSpPr>
        <p:spPr>
          <a:xfrm>
            <a:off x="838200" y="3733800"/>
            <a:ext cx="10477500" cy="52387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buNone/>
              <a:defRPr sz="2100" b="1">
                <a:solidFill>
                  <a:srgbClr val="253C4D"/>
                </a:solidFill>
                <a:latin typeface="Yu Gothic"/>
                <a:ea typeface="Yu Gothic"/>
                <a:cs typeface="Yu Gothic"/>
              </a:defRPr>
            </a:lvl1pPr>
            <a:lvl2pPr>
              <a:buNone/>
              <a:defRPr sz="2100" b="1">
                <a:solidFill>
                  <a:srgbClr val="253C4D"/>
                </a:solidFill>
                <a:latin typeface="Yu Gothic"/>
                <a:ea typeface="Yu Gothic"/>
                <a:cs typeface="Yu Gothic"/>
              </a:defRPr>
            </a:lvl2pPr>
            <a:lvl3pPr>
              <a:buNone/>
              <a:defRPr sz="2100" b="1">
                <a:solidFill>
                  <a:srgbClr val="253C4D"/>
                </a:solidFill>
                <a:latin typeface="Yu Gothic"/>
                <a:ea typeface="Yu Gothic"/>
                <a:cs typeface="Yu Gothic"/>
              </a:defRPr>
            </a:lvl3pPr>
            <a:lvl4pPr>
              <a:buNone/>
              <a:defRPr sz="2100" b="1">
                <a:solidFill>
                  <a:srgbClr val="253C4D"/>
                </a:solidFill>
                <a:latin typeface="Yu Gothic"/>
                <a:ea typeface="Yu Gothic"/>
                <a:cs typeface="Yu Gothic"/>
              </a:defRPr>
            </a:lvl4pPr>
            <a:lvl5pPr>
              <a:buNone/>
              <a:defRPr sz="2100" b="1">
                <a:solidFill>
                  <a:srgbClr val="253C4D"/>
                </a:solidFill>
                <a:latin typeface="Yu Gothic"/>
                <a:ea typeface="Yu Gothic"/>
                <a:cs typeface="Yu Gothic"/>
              </a:defRPr>
            </a:lvl5pPr>
            <a:lvl6pPr>
              <a:buNone/>
              <a:defRPr sz="2100" b="1">
                <a:solidFill>
                  <a:srgbClr val="253C4D"/>
                </a:solidFill>
                <a:latin typeface="Yu Gothic"/>
                <a:ea typeface="Yu Gothic"/>
                <a:cs typeface="Yu Gothic"/>
              </a:defRPr>
            </a:lvl6pPr>
            <a:lvl7pPr>
              <a:buNone/>
              <a:defRPr sz="2100" b="1">
                <a:solidFill>
                  <a:srgbClr val="253C4D"/>
                </a:solidFill>
                <a:latin typeface="Yu Gothic"/>
                <a:ea typeface="Yu Gothic"/>
                <a:cs typeface="Yu Gothic"/>
              </a:defRPr>
            </a:lvl7pPr>
            <a:lvl8pPr>
              <a:buNone/>
              <a:defRPr sz="2100" b="1">
                <a:solidFill>
                  <a:srgbClr val="253C4D"/>
                </a:solidFill>
                <a:latin typeface="Yu Gothic"/>
                <a:ea typeface="Yu Gothic"/>
                <a:cs typeface="Yu Gothic"/>
              </a:defRPr>
            </a:lvl8pPr>
            <a:lvl9pPr>
              <a:buNone/>
              <a:defRPr sz="2100" b="1">
                <a:solidFill>
                  <a:srgbClr val="253C4D"/>
                </a:solidFill>
                <a:latin typeface="Yu Gothic"/>
                <a:ea typeface="Yu Gothic"/>
                <a:cs typeface="Yu Gothic"/>
              </a:defRPr>
            </a:lvl9pPr>
          </a:lstStyle>
          <a:p>
            <a:pPr>
              <a:buNone/>
              <a:defRPr sz="2100" b="1">
                <a:solidFill>
                  <a:srgbClr val="253C4D"/>
                </a:solidFill>
                <a:latin typeface="Yu Gothic"/>
                <a:ea typeface="Yu Gothic"/>
                <a:cs typeface="Yu Gothic"/>
              </a:defRPr>
            </a:pPr>
            <a:r>
              <a:rPr sz="2100" b="1">
                <a:solidFill>
                  <a:srgbClr val="253C4D"/>
                </a:solidFill>
                <a:latin typeface="Yu Gothic"/>
                <a:ea typeface="Yu Gothic"/>
                <a:cs typeface="Yu Gothic"/>
              </a:rPr>
              <a:t>塗布後の時間 ／ 圧締までの時間 ／ 圧締保持 ／ 養生</a:t>
            </a:r>
          </a:p>
        </p:txBody>
      </p:sp>
      <p:sp>
        <p:nvSpPr>
          <p:cNvPr id="28" name="正方形/長方形 27">
            <a:extLst>
              <a:ext uri="{FF2B5EF4-FFF2-40B4-BE49-F238E27FC236}">
                <a16:creationId xmlns:a16="http://schemas.microsoft.com/office/drawing/2014/main" id="{17BDF10F-7A00-49B9-8C31-1B6A5CC05F62}"/>
              </a:ext>
            </a:extLst>
          </p:cNvPr>
          <p:cNvSpPr>
            <a:spLocks noGrp="1"/>
          </p:cNvSpPr>
          <p:nvPr/>
        </p:nvSpPr>
        <p:spPr>
          <a:xfrm>
            <a:off x="838200" y="4552950"/>
            <a:ext cx="10477500" cy="571500"/>
          </a:xfrm>
          <a:prstGeom prst="rect">
            <a:avLst/>
          </a:prstGeom>
          <a:noFill/>
          <a:ln w="0">
            <a:noFill/>
          </a:ln>
        </p:spPr>
        <p:txBody>
          <a:bodyPr lIns="0" tIns="0" rIns="0" bIns="0" anchor="ctr">
            <a:noAutofit/>
          </a:bodyPr>
          <a:lstStyle>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圧締を外せる時点 ≠ 使用荷重を掛けられる時点</a:t>
            </a:r>
          </a:p>
        </p:txBody>
      </p:sp>
      <p:sp>
        <p:nvSpPr>
          <p:cNvPr id="29" name="正方形/長方形 28">
            <a:extLst>
              <a:ext uri="{FF2B5EF4-FFF2-40B4-BE49-F238E27FC236}">
                <a16:creationId xmlns:a16="http://schemas.microsoft.com/office/drawing/2014/main" id="{1E00C60A-F506-4040-843C-513BC42AA4F2}"/>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時間幅は模式的。製品共通の施工時間を示す図ではない。</a:t>
            </a:r>
          </a:p>
        </p:txBody>
      </p:sp>
    </p:spTree>
    <p:extLst>
      <p:ext uri="{BB962C8B-B14F-4D97-AF65-F5344CB8AC3E}">
        <p14:creationId xmlns:p14="http://schemas.microsoft.com/office/powerpoint/2010/main" val="784109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487279A-C221-4EA5-9C79-D7007A6E72F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接着部は、どこで壊れたか</a:t>
            </a:r>
          </a:p>
        </p:txBody>
      </p:sp>
      <p:sp>
        <p:nvSpPr>
          <p:cNvPr id="2" name="正方形/長方形 1">
            <a:extLst>
              <a:ext uri="{FF2B5EF4-FFF2-40B4-BE49-F238E27FC236}">
                <a16:creationId xmlns:a16="http://schemas.microsoft.com/office/drawing/2014/main" id="{22A948A8-FFCE-4A95-BDAB-F6A2AB1DDBB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AEA95CE1-E69D-481E-BFB0-A9AE566D41F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BC69BDE-5DDC-45F6-B898-56C94D09B1E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04C8E11-2B64-4BB2-9DB0-B47D618AB2A4}"/>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木材の中：木部破壊</a:t>
            </a:r>
          </a:p>
        </p:txBody>
      </p:sp>
      <p:sp>
        <p:nvSpPr>
          <p:cNvPr id="6" name="正方形/長方形 5">
            <a:extLst>
              <a:ext uri="{FF2B5EF4-FFF2-40B4-BE49-F238E27FC236}">
                <a16:creationId xmlns:a16="http://schemas.microsoft.com/office/drawing/2014/main" id="{7A5BAB70-A245-4B94-9CB1-8072390178AA}"/>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木材と接着層の境界：界面の破壊</a:t>
            </a:r>
          </a:p>
        </p:txBody>
      </p:sp>
      <p:sp>
        <p:nvSpPr>
          <p:cNvPr id="7" name="正方形/長方形 6">
            <a:extLst>
              <a:ext uri="{FF2B5EF4-FFF2-40B4-BE49-F238E27FC236}">
                <a16:creationId xmlns:a16="http://schemas.microsoft.com/office/drawing/2014/main" id="{6EAB6689-96D9-4D6D-852A-F332246EEA6D}"/>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接着層の中：接着剤層の破壊</a:t>
            </a:r>
          </a:p>
        </p:txBody>
      </p:sp>
      <p:sp>
        <p:nvSpPr>
          <p:cNvPr id="8" name="正方形/長方形 7">
            <a:extLst>
              <a:ext uri="{FF2B5EF4-FFF2-40B4-BE49-F238E27FC236}">
                <a16:creationId xmlns:a16="http://schemas.microsoft.com/office/drawing/2014/main" id="{B4EDC6E5-357C-4A74-AD7B-CC0712CDABF8}"/>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強さの値に、破壊位置・木部破壊率を添える</a:t>
            </a:r>
          </a:p>
        </p:txBody>
      </p:sp>
    </p:spTree>
    <p:extLst>
      <p:ext uri="{BB962C8B-B14F-4D97-AF65-F5344CB8AC3E}">
        <p14:creationId xmlns:p14="http://schemas.microsoft.com/office/powerpoint/2010/main" val="402080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748C73D-B942-4379-9D32-E97A5C3AFE9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木工用ボンド：一般的なPVAc系</a:t>
            </a:r>
          </a:p>
        </p:txBody>
      </p:sp>
      <p:sp>
        <p:nvSpPr>
          <p:cNvPr id="2" name="正方形/長方形 1">
            <a:extLst>
              <a:ext uri="{FF2B5EF4-FFF2-40B4-BE49-F238E27FC236}">
                <a16:creationId xmlns:a16="http://schemas.microsoft.com/office/drawing/2014/main" id="{0E812869-F2AE-4E5F-83DF-0AF40F9F27A7}"/>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0EEA36ED-61EF-4F68-AC03-B1A5A35309F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72A1707-B07A-4FAD-96B8-F3A5DA243D6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10</a:t>
            </a:r>
            <a:endParaRPr sz="1425" b="0">
              <a:solidFill>
                <a:srgbClr val="596875"/>
              </a:solidFill>
              <a:latin typeface="Yu Gothic"/>
              <a:ea typeface="Yu Gothic"/>
              <a:cs typeface="Yu Gothic"/>
            </a:endParaRPr>
          </a:p>
        </p:txBody>
      </p:sp>
      <p:pic>
        <p:nvPicPr>
          <p:cNvPr id="5" name="図 4">
            <a:extLst>
              <a:ext uri="{FF2B5EF4-FFF2-40B4-BE49-F238E27FC236}">
                <a16:creationId xmlns:a16="http://schemas.microsoft.com/office/drawing/2014/main" id="{9F36F478-A700-4903-B3D2-9433DEF156F7}"/>
              </a:ext>
            </a:extLst>
          </p:cNvPr>
          <p:cNvPicPr>
            <a:picLocks noChangeAspect="1"/>
          </p:cNvPicPr>
          <p:nvPr/>
        </p:nvPicPr>
        <p:blipFill>
          <a:blip r:embed="rId3"/>
          <a:stretch/>
        </p:blipFill>
        <p:spPr>
          <a:xfrm>
            <a:off x="895350" y="2128838"/>
            <a:ext cx="2667000" cy="2667000"/>
          </a:xfrm>
          <a:prstGeom prst="rect">
            <a:avLst/>
          </a:prstGeom>
        </p:spPr>
      </p:pic>
      <p:sp>
        <p:nvSpPr>
          <p:cNvPr id="6" name="正方形/長方形 5">
            <a:extLst>
              <a:ext uri="{FF2B5EF4-FFF2-40B4-BE49-F238E27FC236}">
                <a16:creationId xmlns:a16="http://schemas.microsoft.com/office/drawing/2014/main" id="{81A82470-62EB-4277-960F-BD34C326644E}"/>
              </a:ext>
            </a:extLst>
          </p:cNvPr>
          <p:cNvSpPr>
            <a:spLocks noGrp="1"/>
          </p:cNvSpPr>
          <p:nvPr/>
        </p:nvSpPr>
        <p:spPr>
          <a:xfrm>
            <a:off x="4000500" y="17145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酢酸ビニル樹脂系エマルジョン形の代表例</a:t>
            </a:r>
          </a:p>
        </p:txBody>
      </p:sp>
      <p:sp>
        <p:nvSpPr>
          <p:cNvPr id="7" name="正方形/長方形 6">
            <a:extLst>
              <a:ext uri="{FF2B5EF4-FFF2-40B4-BE49-F238E27FC236}">
                <a16:creationId xmlns:a16="http://schemas.microsoft.com/office/drawing/2014/main" id="{454FD330-3C8B-4B61-8CDA-477404BD97A6}"/>
              </a:ext>
            </a:extLst>
          </p:cNvPr>
          <p:cNvSpPr>
            <a:spLocks noGrp="1"/>
          </p:cNvSpPr>
          <p:nvPr/>
        </p:nvSpPr>
        <p:spPr>
          <a:xfrm>
            <a:off x="4000500" y="26289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水が木材へ移動・蒸発し、接着層を形成する</a:t>
            </a:r>
          </a:p>
        </p:txBody>
      </p:sp>
      <p:sp>
        <p:nvSpPr>
          <p:cNvPr id="8" name="正方形/長方形 7">
            <a:extLst>
              <a:ext uri="{FF2B5EF4-FFF2-40B4-BE49-F238E27FC236}">
                <a16:creationId xmlns:a16="http://schemas.microsoft.com/office/drawing/2014/main" id="{B8F006DA-84FB-4F23-9985-62A5E1F109E6}"/>
              </a:ext>
            </a:extLst>
          </p:cNvPr>
          <p:cNvSpPr>
            <a:spLocks noGrp="1"/>
          </p:cNvSpPr>
          <p:nvPr/>
        </p:nvSpPr>
        <p:spPr>
          <a:xfrm>
            <a:off x="4000500" y="35433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室内の木工で、適切な条件なら高い乾燥強度</a:t>
            </a:r>
          </a:p>
        </p:txBody>
      </p:sp>
      <p:sp>
        <p:nvSpPr>
          <p:cNvPr id="9" name="正方形/長方形 8">
            <a:extLst>
              <a:ext uri="{FF2B5EF4-FFF2-40B4-BE49-F238E27FC236}">
                <a16:creationId xmlns:a16="http://schemas.microsoft.com/office/drawing/2014/main" id="{8B5CE23D-A42E-429E-B264-14A75A08A873}"/>
              </a:ext>
            </a:extLst>
          </p:cNvPr>
          <p:cNvSpPr>
            <a:spLocks noGrp="1"/>
          </p:cNvSpPr>
          <p:nvPr/>
        </p:nvSpPr>
        <p:spPr>
          <a:xfrm>
            <a:off x="4000500" y="44577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一般品は耐水用途に使えない。製品差を確認する</a:t>
            </a:r>
          </a:p>
        </p:txBody>
      </p:sp>
      <p:sp>
        <p:nvSpPr>
          <p:cNvPr id="10" name="正方形/長方形 9">
            <a:extLst>
              <a:ext uri="{FF2B5EF4-FFF2-40B4-BE49-F238E27FC236}">
                <a16:creationId xmlns:a16="http://schemas.microsoft.com/office/drawing/2014/main" id="{D44DE397-3535-4431-AE75-AFCCCDC6646A}"/>
              </a:ext>
            </a:extLst>
          </p:cNvPr>
          <p:cNvSpPr>
            <a:spLocks noGrp="1"/>
          </p:cNvSpPr>
          <p:nvPr/>
        </p:nvSpPr>
        <p:spPr>
          <a:xfrm>
            <a:off x="838200" y="5924550"/>
            <a:ext cx="10477500" cy="304800"/>
          </a:xfrm>
          <a:prstGeom prst="rect">
            <a:avLst/>
          </a:prstGeom>
          <a:noFill/>
          <a:ln w="0">
            <a:noFill/>
          </a:ln>
        </p:spPr>
        <p:txBody>
          <a:bodyPr lIns="0" tIns="0" rIns="0" bIns="0" anchor="ctr">
            <a:noAutofit/>
          </a:bodyPr>
          <a:lstStyle>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写真：コニシ公式商品ページ（2026-10-28確認）</a:t>
            </a:r>
          </a:p>
        </p:txBody>
      </p:sp>
    </p:spTree>
    <p:extLst>
      <p:ext uri="{BB962C8B-B14F-4D97-AF65-F5344CB8AC3E}">
        <p14:creationId xmlns:p14="http://schemas.microsoft.com/office/powerpoint/2010/main" val="4206726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3625CBBF-44FC-46FA-9D75-80310747383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PVAc系エマルジョン：水と高分子を分ける</a:t>
            </a:r>
          </a:p>
        </p:txBody>
      </p:sp>
      <p:sp>
        <p:nvSpPr>
          <p:cNvPr id="2" name="正方形/長方形 1">
            <a:extLst>
              <a:ext uri="{FF2B5EF4-FFF2-40B4-BE49-F238E27FC236}">
                <a16:creationId xmlns:a16="http://schemas.microsoft.com/office/drawing/2014/main" id="{35729AD4-E403-47C2-AFBE-F64317A3B0E0}"/>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E593DE7-2191-441B-9020-96095C56CB5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953408B-3CCB-4C55-8B9B-DC4B2F838C5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CD092C2E-C00D-4953-9E3A-7CF3A013FDBD}"/>
              </a:ext>
            </a:extLst>
          </p:cNvPr>
          <p:cNvSpPr>
            <a:spLocks noGrp="1"/>
          </p:cNvSpPr>
          <p:nvPr/>
        </p:nvSpPr>
        <p:spPr>
          <a:xfrm>
            <a:off x="838200" y="2114550"/>
            <a:ext cx="3143250" cy="2286000"/>
          </a:xfrm>
          <a:prstGeom prst="rect">
            <a:avLst/>
          </a:prstGeom>
          <a:solidFill>
            <a:srgbClr val="E3F1FA"/>
          </a:solidFill>
          <a:ln w="0">
            <a:noFill/>
          </a:ln>
        </p:spPr>
      </p:sp>
      <p:sp>
        <p:nvSpPr>
          <p:cNvPr id="6" name="正方形/長方形 5">
            <a:extLst>
              <a:ext uri="{FF2B5EF4-FFF2-40B4-BE49-F238E27FC236}">
                <a16:creationId xmlns:a16="http://schemas.microsoft.com/office/drawing/2014/main" id="{ED09172F-FB22-4051-8557-323CFAE456B4}"/>
              </a:ext>
            </a:extLst>
          </p:cNvPr>
          <p:cNvSpPr>
            <a:spLocks noGrp="1"/>
          </p:cNvSpPr>
          <p:nvPr/>
        </p:nvSpPr>
        <p:spPr>
          <a:xfrm>
            <a:off x="952500" y="2266950"/>
            <a:ext cx="2914650" cy="20574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endParaRPr/>
          </a:p>
        </p:txBody>
      </p:sp>
      <p:sp>
        <p:nvSpPr>
          <p:cNvPr id="7" name="正方形/長方形 6">
            <a:extLst>
              <a:ext uri="{FF2B5EF4-FFF2-40B4-BE49-F238E27FC236}">
                <a16:creationId xmlns:a16="http://schemas.microsoft.com/office/drawing/2014/main" id="{17702A5A-B9BF-4CA6-95F3-CF2609E9AA54}"/>
              </a:ext>
            </a:extLst>
          </p:cNvPr>
          <p:cNvSpPr>
            <a:spLocks noGrp="1"/>
          </p:cNvSpPr>
          <p:nvPr/>
        </p:nvSpPr>
        <p:spPr>
          <a:xfrm>
            <a:off x="933450" y="1581150"/>
            <a:ext cx="3333750" cy="4286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buNone/>
              <a:defRPr sz="1950" b="1">
                <a:solidFill>
                  <a:srgbClr val="253C4D"/>
                </a:solidFill>
                <a:latin typeface="Yu Gothic"/>
                <a:ea typeface="Yu Gothic"/>
                <a:cs typeface="Yu Gothic"/>
              </a:defRPr>
            </a:lvl1pPr>
            <a:lvl2pPr>
              <a:buNone/>
              <a:defRPr sz="1950" b="1">
                <a:solidFill>
                  <a:srgbClr val="253C4D"/>
                </a:solidFill>
                <a:latin typeface="Yu Gothic"/>
                <a:ea typeface="Yu Gothic"/>
                <a:cs typeface="Yu Gothic"/>
              </a:defRPr>
            </a:lvl2pPr>
            <a:lvl3pPr>
              <a:buNone/>
              <a:defRPr sz="1950" b="1">
                <a:solidFill>
                  <a:srgbClr val="253C4D"/>
                </a:solidFill>
                <a:latin typeface="Yu Gothic"/>
                <a:ea typeface="Yu Gothic"/>
                <a:cs typeface="Yu Gothic"/>
              </a:defRPr>
            </a:lvl3pPr>
            <a:lvl4pPr>
              <a:buNone/>
              <a:defRPr sz="1950" b="1">
                <a:solidFill>
                  <a:srgbClr val="253C4D"/>
                </a:solidFill>
                <a:latin typeface="Yu Gothic"/>
                <a:ea typeface="Yu Gothic"/>
                <a:cs typeface="Yu Gothic"/>
              </a:defRPr>
            </a:lvl4pPr>
            <a:lvl5pPr>
              <a:buNone/>
              <a:defRPr sz="1950" b="1">
                <a:solidFill>
                  <a:srgbClr val="253C4D"/>
                </a:solidFill>
                <a:latin typeface="Yu Gothic"/>
                <a:ea typeface="Yu Gothic"/>
                <a:cs typeface="Yu Gothic"/>
              </a:defRPr>
            </a:lvl5pPr>
            <a:lvl6pPr>
              <a:buNone/>
              <a:defRPr sz="1950" b="1">
                <a:solidFill>
                  <a:srgbClr val="253C4D"/>
                </a:solidFill>
                <a:latin typeface="Yu Gothic"/>
                <a:ea typeface="Yu Gothic"/>
                <a:cs typeface="Yu Gothic"/>
              </a:defRPr>
            </a:lvl6pPr>
            <a:lvl7pPr>
              <a:buNone/>
              <a:defRPr sz="1950" b="1">
                <a:solidFill>
                  <a:srgbClr val="253C4D"/>
                </a:solidFill>
                <a:latin typeface="Yu Gothic"/>
                <a:ea typeface="Yu Gothic"/>
                <a:cs typeface="Yu Gothic"/>
              </a:defRPr>
            </a:lvl7pPr>
            <a:lvl8pPr>
              <a:buNone/>
              <a:defRPr sz="1950" b="1">
                <a:solidFill>
                  <a:srgbClr val="253C4D"/>
                </a:solidFill>
                <a:latin typeface="Yu Gothic"/>
                <a:ea typeface="Yu Gothic"/>
                <a:cs typeface="Yu Gothic"/>
              </a:defRPr>
            </a:lvl8pPr>
            <a:lvl9pPr>
              <a:buNone/>
              <a:defRPr sz="1950" b="1">
                <a:solidFill>
                  <a:srgbClr val="253C4D"/>
                </a:solidFill>
                <a:latin typeface="Yu Gothic"/>
                <a:ea typeface="Yu Gothic"/>
                <a:cs typeface="Yu Gothic"/>
              </a:defRPr>
            </a:lvl9pPr>
          </a:lstStyle>
          <a:p>
            <a:pPr>
              <a:buNone/>
              <a:defRPr sz="1950" b="1">
                <a:solidFill>
                  <a:srgbClr val="253C4D"/>
                </a:solidFill>
                <a:latin typeface="Yu Gothic"/>
                <a:ea typeface="Yu Gothic"/>
                <a:cs typeface="Yu Gothic"/>
              </a:defRPr>
            </a:pPr>
            <a:r>
              <a:rPr sz="1950" b="1">
                <a:solidFill>
                  <a:srgbClr val="253C4D"/>
                </a:solidFill>
                <a:latin typeface="Yu Gothic"/>
                <a:ea typeface="Yu Gothic"/>
                <a:cs typeface="Yu Gothic"/>
              </a:rPr>
              <a:t>① 水中に分散</a:t>
            </a:r>
          </a:p>
        </p:txBody>
      </p:sp>
      <p:sp>
        <p:nvSpPr>
          <p:cNvPr id="8" name="フリーフォーム: 図形 7">
            <a:extLst>
              <a:ext uri="{FF2B5EF4-FFF2-40B4-BE49-F238E27FC236}">
                <a16:creationId xmlns:a16="http://schemas.microsoft.com/office/drawing/2014/main" id="{F3D5A8C7-8217-4326-A438-D48BC7842659}"/>
              </a:ext>
            </a:extLst>
          </p:cNvPr>
          <p:cNvSpPr>
            <a:spLocks noGrp="1"/>
          </p:cNvSpPr>
          <p:nvPr/>
        </p:nvSpPr>
        <p:spPr>
          <a:xfrm>
            <a:off x="4029075" y="3267075"/>
            <a:ext cx="371475" cy="9525"/>
          </a:xfrm>
          <a:custGeom>
            <a:avLst/>
            <a:gdLst/>
            <a:ahLst/>
            <a:cxnLst/>
            <a:rect l="0" t="0" r="0" b="0"/>
            <a:pathLst>
              <a:path w="371475" h="9525">
                <a:moveTo>
                  <a:pt x="0" y="0"/>
                </a:moveTo>
                <a:lnTo>
                  <a:pt x="371475" y="0"/>
                </a:lnTo>
              </a:path>
            </a:pathLst>
          </a:custGeom>
          <a:noFill/>
          <a:ln w="38100">
            <a:solidFill>
              <a:srgbClr val="2876A8"/>
            </a:solidFill>
          </a:ln>
        </p:spPr>
      </p:sp>
      <p:sp>
        <p:nvSpPr>
          <p:cNvPr id="9" name="フリーフォーム: 図形 8">
            <a:extLst>
              <a:ext uri="{FF2B5EF4-FFF2-40B4-BE49-F238E27FC236}">
                <a16:creationId xmlns:a16="http://schemas.microsoft.com/office/drawing/2014/main" id="{EA35772F-2D25-4AD9-B029-95C08BE8AF3C}"/>
              </a:ext>
            </a:extLst>
          </p:cNvPr>
          <p:cNvSpPr>
            <a:spLocks noGrp="1"/>
          </p:cNvSpPr>
          <p:nvPr/>
        </p:nvSpPr>
        <p:spPr>
          <a:xfrm>
            <a:off x="4262505" y="3267075"/>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10" name="フリーフォーム: 図形 9">
            <a:extLst>
              <a:ext uri="{FF2B5EF4-FFF2-40B4-BE49-F238E27FC236}">
                <a16:creationId xmlns:a16="http://schemas.microsoft.com/office/drawing/2014/main" id="{E4C95B35-4A83-4519-9EA2-19C3060DA828}"/>
              </a:ext>
            </a:extLst>
          </p:cNvPr>
          <p:cNvSpPr>
            <a:spLocks noGrp="1"/>
          </p:cNvSpPr>
          <p:nvPr/>
        </p:nvSpPr>
        <p:spPr>
          <a:xfrm>
            <a:off x="4262505" y="3182439"/>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11" name="正方形/長方形 10">
            <a:extLst>
              <a:ext uri="{FF2B5EF4-FFF2-40B4-BE49-F238E27FC236}">
                <a16:creationId xmlns:a16="http://schemas.microsoft.com/office/drawing/2014/main" id="{51A532DE-79C2-40EA-AC16-EB9EBECCA74C}"/>
              </a:ext>
            </a:extLst>
          </p:cNvPr>
          <p:cNvSpPr>
            <a:spLocks noGrp="1"/>
          </p:cNvSpPr>
          <p:nvPr/>
        </p:nvSpPr>
        <p:spPr>
          <a:xfrm>
            <a:off x="1076325" y="2524125"/>
            <a:ext cx="352425" cy="476250"/>
          </a:xfrm>
          <a:prstGeom prst="rect">
            <a:avLst/>
          </a:prstGeom>
          <a:solidFill>
            <a:srgbClr val="087E8B"/>
          </a:solidFill>
          <a:ln w="0">
            <a:noFill/>
          </a:ln>
        </p:spPr>
      </p:sp>
      <p:sp>
        <p:nvSpPr>
          <p:cNvPr id="12" name="正方形/長方形 11">
            <a:extLst>
              <a:ext uri="{FF2B5EF4-FFF2-40B4-BE49-F238E27FC236}">
                <a16:creationId xmlns:a16="http://schemas.microsoft.com/office/drawing/2014/main" id="{CD90E60A-2889-4719-8FE3-7335A461FF0C}"/>
              </a:ext>
            </a:extLst>
          </p:cNvPr>
          <p:cNvSpPr>
            <a:spLocks noGrp="1"/>
          </p:cNvSpPr>
          <p:nvPr/>
        </p:nvSpPr>
        <p:spPr>
          <a:xfrm>
            <a:off x="1762125" y="2524125"/>
            <a:ext cx="352425" cy="476250"/>
          </a:xfrm>
          <a:prstGeom prst="rect">
            <a:avLst/>
          </a:prstGeom>
          <a:solidFill>
            <a:srgbClr val="087E8B"/>
          </a:solidFill>
          <a:ln w="0">
            <a:noFill/>
          </a:ln>
        </p:spPr>
      </p:sp>
      <p:sp>
        <p:nvSpPr>
          <p:cNvPr id="13" name="正方形/長方形 12">
            <a:extLst>
              <a:ext uri="{FF2B5EF4-FFF2-40B4-BE49-F238E27FC236}">
                <a16:creationId xmlns:a16="http://schemas.microsoft.com/office/drawing/2014/main" id="{135D5D4A-9CB5-4B60-9EB7-F3A2691FA0D6}"/>
              </a:ext>
            </a:extLst>
          </p:cNvPr>
          <p:cNvSpPr>
            <a:spLocks noGrp="1"/>
          </p:cNvSpPr>
          <p:nvPr/>
        </p:nvSpPr>
        <p:spPr>
          <a:xfrm>
            <a:off x="2447925" y="2524125"/>
            <a:ext cx="352425" cy="476250"/>
          </a:xfrm>
          <a:prstGeom prst="rect">
            <a:avLst/>
          </a:prstGeom>
          <a:solidFill>
            <a:srgbClr val="087E8B"/>
          </a:solidFill>
          <a:ln w="0">
            <a:noFill/>
          </a:ln>
        </p:spPr>
      </p:sp>
      <p:sp>
        <p:nvSpPr>
          <p:cNvPr id="14" name="正方形/長方形 13">
            <a:extLst>
              <a:ext uri="{FF2B5EF4-FFF2-40B4-BE49-F238E27FC236}">
                <a16:creationId xmlns:a16="http://schemas.microsoft.com/office/drawing/2014/main" id="{37D9D93C-C319-400C-82F8-FBC63281A51D}"/>
              </a:ext>
            </a:extLst>
          </p:cNvPr>
          <p:cNvSpPr>
            <a:spLocks noGrp="1"/>
          </p:cNvSpPr>
          <p:nvPr/>
        </p:nvSpPr>
        <p:spPr>
          <a:xfrm>
            <a:off x="3133725" y="2524125"/>
            <a:ext cx="352425" cy="476250"/>
          </a:xfrm>
          <a:prstGeom prst="rect">
            <a:avLst/>
          </a:prstGeom>
          <a:solidFill>
            <a:srgbClr val="087E8B"/>
          </a:solidFill>
          <a:ln w="0">
            <a:noFill/>
          </a:ln>
        </p:spPr>
      </p:sp>
      <p:sp>
        <p:nvSpPr>
          <p:cNvPr id="15" name="正方形/長方形 14">
            <a:extLst>
              <a:ext uri="{FF2B5EF4-FFF2-40B4-BE49-F238E27FC236}">
                <a16:creationId xmlns:a16="http://schemas.microsoft.com/office/drawing/2014/main" id="{FB7EA0E7-AE1F-4BC6-A332-DA38C53E399C}"/>
              </a:ext>
            </a:extLst>
          </p:cNvPr>
          <p:cNvSpPr>
            <a:spLocks noGrp="1"/>
          </p:cNvSpPr>
          <p:nvPr/>
        </p:nvSpPr>
        <p:spPr>
          <a:xfrm>
            <a:off x="1076325" y="3305175"/>
            <a:ext cx="352425" cy="476250"/>
          </a:xfrm>
          <a:prstGeom prst="rect">
            <a:avLst/>
          </a:prstGeom>
          <a:solidFill>
            <a:srgbClr val="087E8B"/>
          </a:solidFill>
          <a:ln w="0">
            <a:noFill/>
          </a:ln>
        </p:spPr>
      </p:sp>
      <p:sp>
        <p:nvSpPr>
          <p:cNvPr id="16" name="正方形/長方形 15">
            <a:extLst>
              <a:ext uri="{FF2B5EF4-FFF2-40B4-BE49-F238E27FC236}">
                <a16:creationId xmlns:a16="http://schemas.microsoft.com/office/drawing/2014/main" id="{99F50C58-6AA3-4752-9589-4F4465DCE358}"/>
              </a:ext>
            </a:extLst>
          </p:cNvPr>
          <p:cNvSpPr>
            <a:spLocks noGrp="1"/>
          </p:cNvSpPr>
          <p:nvPr/>
        </p:nvSpPr>
        <p:spPr>
          <a:xfrm>
            <a:off x="1762125" y="3305175"/>
            <a:ext cx="352425" cy="476250"/>
          </a:xfrm>
          <a:prstGeom prst="rect">
            <a:avLst/>
          </a:prstGeom>
          <a:solidFill>
            <a:srgbClr val="087E8B"/>
          </a:solidFill>
          <a:ln w="0">
            <a:noFill/>
          </a:ln>
        </p:spPr>
      </p:sp>
      <p:sp>
        <p:nvSpPr>
          <p:cNvPr id="17" name="正方形/長方形 16">
            <a:extLst>
              <a:ext uri="{FF2B5EF4-FFF2-40B4-BE49-F238E27FC236}">
                <a16:creationId xmlns:a16="http://schemas.microsoft.com/office/drawing/2014/main" id="{2216D527-D645-4FBE-B247-B9C9936BBC5E}"/>
              </a:ext>
            </a:extLst>
          </p:cNvPr>
          <p:cNvSpPr>
            <a:spLocks noGrp="1"/>
          </p:cNvSpPr>
          <p:nvPr/>
        </p:nvSpPr>
        <p:spPr>
          <a:xfrm>
            <a:off x="2447925" y="3305175"/>
            <a:ext cx="352425" cy="476250"/>
          </a:xfrm>
          <a:prstGeom prst="rect">
            <a:avLst/>
          </a:prstGeom>
          <a:solidFill>
            <a:srgbClr val="087E8B"/>
          </a:solidFill>
          <a:ln w="0">
            <a:noFill/>
          </a:ln>
        </p:spPr>
      </p:sp>
      <p:sp>
        <p:nvSpPr>
          <p:cNvPr id="18" name="正方形/長方形 17">
            <a:extLst>
              <a:ext uri="{FF2B5EF4-FFF2-40B4-BE49-F238E27FC236}">
                <a16:creationId xmlns:a16="http://schemas.microsoft.com/office/drawing/2014/main" id="{2B925003-1635-40E6-90D1-74260D015C1C}"/>
              </a:ext>
            </a:extLst>
          </p:cNvPr>
          <p:cNvSpPr>
            <a:spLocks noGrp="1"/>
          </p:cNvSpPr>
          <p:nvPr/>
        </p:nvSpPr>
        <p:spPr>
          <a:xfrm>
            <a:off x="3133725" y="3305175"/>
            <a:ext cx="352425" cy="476250"/>
          </a:xfrm>
          <a:prstGeom prst="rect">
            <a:avLst/>
          </a:prstGeom>
          <a:solidFill>
            <a:srgbClr val="087E8B"/>
          </a:solidFill>
          <a:ln w="0">
            <a:noFill/>
          </a:ln>
        </p:spPr>
      </p:sp>
      <p:sp>
        <p:nvSpPr>
          <p:cNvPr id="19" name="正方形/長方形 18">
            <a:extLst>
              <a:ext uri="{FF2B5EF4-FFF2-40B4-BE49-F238E27FC236}">
                <a16:creationId xmlns:a16="http://schemas.microsoft.com/office/drawing/2014/main" id="{7D852242-ABB5-4BA4-B502-0DB8370F224F}"/>
              </a:ext>
            </a:extLst>
          </p:cNvPr>
          <p:cNvSpPr>
            <a:spLocks noGrp="1"/>
          </p:cNvSpPr>
          <p:nvPr/>
        </p:nvSpPr>
        <p:spPr>
          <a:xfrm>
            <a:off x="4476750" y="2114550"/>
            <a:ext cx="3143250" cy="2286000"/>
          </a:xfrm>
          <a:prstGeom prst="rect">
            <a:avLst/>
          </a:prstGeom>
          <a:solidFill>
            <a:srgbClr val="F4F7F8"/>
          </a:solidFill>
          <a:ln w="0">
            <a:noFill/>
          </a:ln>
        </p:spPr>
      </p:sp>
      <p:sp>
        <p:nvSpPr>
          <p:cNvPr id="20" name="正方形/長方形 19">
            <a:extLst>
              <a:ext uri="{FF2B5EF4-FFF2-40B4-BE49-F238E27FC236}">
                <a16:creationId xmlns:a16="http://schemas.microsoft.com/office/drawing/2014/main" id="{10B06190-6763-4B9D-AD94-262E9F4CC3B6}"/>
              </a:ext>
            </a:extLst>
          </p:cNvPr>
          <p:cNvSpPr>
            <a:spLocks noGrp="1"/>
          </p:cNvSpPr>
          <p:nvPr/>
        </p:nvSpPr>
        <p:spPr>
          <a:xfrm>
            <a:off x="4591050" y="2266950"/>
            <a:ext cx="2914650" cy="20574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endParaRPr/>
          </a:p>
        </p:txBody>
      </p:sp>
      <p:sp>
        <p:nvSpPr>
          <p:cNvPr id="21" name="正方形/長方形 20">
            <a:extLst>
              <a:ext uri="{FF2B5EF4-FFF2-40B4-BE49-F238E27FC236}">
                <a16:creationId xmlns:a16="http://schemas.microsoft.com/office/drawing/2014/main" id="{F2EB86D3-8EAE-4516-9572-9B76638E7ACB}"/>
              </a:ext>
            </a:extLst>
          </p:cNvPr>
          <p:cNvSpPr>
            <a:spLocks noGrp="1"/>
          </p:cNvSpPr>
          <p:nvPr/>
        </p:nvSpPr>
        <p:spPr>
          <a:xfrm>
            <a:off x="4572000" y="1581150"/>
            <a:ext cx="3333750" cy="4286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buNone/>
              <a:defRPr sz="1950" b="1">
                <a:solidFill>
                  <a:srgbClr val="253C4D"/>
                </a:solidFill>
                <a:latin typeface="Yu Gothic"/>
                <a:ea typeface="Yu Gothic"/>
                <a:cs typeface="Yu Gothic"/>
              </a:defRPr>
            </a:lvl1pPr>
            <a:lvl2pPr>
              <a:buNone/>
              <a:defRPr sz="1950" b="1">
                <a:solidFill>
                  <a:srgbClr val="253C4D"/>
                </a:solidFill>
                <a:latin typeface="Yu Gothic"/>
                <a:ea typeface="Yu Gothic"/>
                <a:cs typeface="Yu Gothic"/>
              </a:defRPr>
            </a:lvl2pPr>
            <a:lvl3pPr>
              <a:buNone/>
              <a:defRPr sz="1950" b="1">
                <a:solidFill>
                  <a:srgbClr val="253C4D"/>
                </a:solidFill>
                <a:latin typeface="Yu Gothic"/>
                <a:ea typeface="Yu Gothic"/>
                <a:cs typeface="Yu Gothic"/>
              </a:defRPr>
            </a:lvl3pPr>
            <a:lvl4pPr>
              <a:buNone/>
              <a:defRPr sz="1950" b="1">
                <a:solidFill>
                  <a:srgbClr val="253C4D"/>
                </a:solidFill>
                <a:latin typeface="Yu Gothic"/>
                <a:ea typeface="Yu Gothic"/>
                <a:cs typeface="Yu Gothic"/>
              </a:defRPr>
            </a:lvl4pPr>
            <a:lvl5pPr>
              <a:buNone/>
              <a:defRPr sz="1950" b="1">
                <a:solidFill>
                  <a:srgbClr val="253C4D"/>
                </a:solidFill>
                <a:latin typeface="Yu Gothic"/>
                <a:ea typeface="Yu Gothic"/>
                <a:cs typeface="Yu Gothic"/>
              </a:defRPr>
            </a:lvl5pPr>
            <a:lvl6pPr>
              <a:buNone/>
              <a:defRPr sz="1950" b="1">
                <a:solidFill>
                  <a:srgbClr val="253C4D"/>
                </a:solidFill>
                <a:latin typeface="Yu Gothic"/>
                <a:ea typeface="Yu Gothic"/>
                <a:cs typeface="Yu Gothic"/>
              </a:defRPr>
            </a:lvl6pPr>
            <a:lvl7pPr>
              <a:buNone/>
              <a:defRPr sz="1950" b="1">
                <a:solidFill>
                  <a:srgbClr val="253C4D"/>
                </a:solidFill>
                <a:latin typeface="Yu Gothic"/>
                <a:ea typeface="Yu Gothic"/>
                <a:cs typeface="Yu Gothic"/>
              </a:defRPr>
            </a:lvl7pPr>
            <a:lvl8pPr>
              <a:buNone/>
              <a:defRPr sz="1950" b="1">
                <a:solidFill>
                  <a:srgbClr val="253C4D"/>
                </a:solidFill>
                <a:latin typeface="Yu Gothic"/>
                <a:ea typeface="Yu Gothic"/>
                <a:cs typeface="Yu Gothic"/>
              </a:defRPr>
            </a:lvl8pPr>
            <a:lvl9pPr>
              <a:buNone/>
              <a:defRPr sz="1950" b="1">
                <a:solidFill>
                  <a:srgbClr val="253C4D"/>
                </a:solidFill>
                <a:latin typeface="Yu Gothic"/>
                <a:ea typeface="Yu Gothic"/>
                <a:cs typeface="Yu Gothic"/>
              </a:defRPr>
            </a:lvl9pPr>
          </a:lstStyle>
          <a:p>
            <a:pPr>
              <a:buNone/>
              <a:defRPr sz="1950" b="1">
                <a:solidFill>
                  <a:srgbClr val="253C4D"/>
                </a:solidFill>
                <a:latin typeface="Yu Gothic"/>
                <a:ea typeface="Yu Gothic"/>
                <a:cs typeface="Yu Gothic"/>
              </a:defRPr>
            </a:pPr>
            <a:r>
              <a:rPr sz="1950" b="1">
                <a:solidFill>
                  <a:srgbClr val="253C4D"/>
                </a:solidFill>
                <a:latin typeface="Yu Gothic"/>
                <a:ea typeface="Yu Gothic"/>
                <a:cs typeface="Yu Gothic"/>
              </a:rPr>
              <a:t>② 水の移動・蒸発</a:t>
            </a:r>
          </a:p>
        </p:txBody>
      </p:sp>
      <p:sp>
        <p:nvSpPr>
          <p:cNvPr id="22" name="フリーフォーム: 図形 21">
            <a:extLst>
              <a:ext uri="{FF2B5EF4-FFF2-40B4-BE49-F238E27FC236}">
                <a16:creationId xmlns:a16="http://schemas.microsoft.com/office/drawing/2014/main" id="{530D0B8F-8B89-48C2-B7D3-69D2E1A738B9}"/>
              </a:ext>
            </a:extLst>
          </p:cNvPr>
          <p:cNvSpPr>
            <a:spLocks noGrp="1"/>
          </p:cNvSpPr>
          <p:nvPr/>
        </p:nvSpPr>
        <p:spPr>
          <a:xfrm>
            <a:off x="7667625" y="3267075"/>
            <a:ext cx="371475" cy="9525"/>
          </a:xfrm>
          <a:custGeom>
            <a:avLst/>
            <a:gdLst/>
            <a:ahLst/>
            <a:cxnLst/>
            <a:rect l="0" t="0" r="0" b="0"/>
            <a:pathLst>
              <a:path w="371475" h="9525">
                <a:moveTo>
                  <a:pt x="0" y="0"/>
                </a:moveTo>
                <a:lnTo>
                  <a:pt x="371475" y="0"/>
                </a:lnTo>
              </a:path>
            </a:pathLst>
          </a:custGeom>
          <a:noFill/>
          <a:ln w="38100">
            <a:solidFill>
              <a:srgbClr val="2876A8"/>
            </a:solidFill>
          </a:ln>
        </p:spPr>
      </p:sp>
      <p:sp>
        <p:nvSpPr>
          <p:cNvPr id="23" name="フリーフォーム: 図形 22">
            <a:extLst>
              <a:ext uri="{FF2B5EF4-FFF2-40B4-BE49-F238E27FC236}">
                <a16:creationId xmlns:a16="http://schemas.microsoft.com/office/drawing/2014/main" id="{BCA80F73-A04C-4C8E-9774-8FDDB4BA2895}"/>
              </a:ext>
            </a:extLst>
          </p:cNvPr>
          <p:cNvSpPr>
            <a:spLocks noGrp="1"/>
          </p:cNvSpPr>
          <p:nvPr/>
        </p:nvSpPr>
        <p:spPr>
          <a:xfrm>
            <a:off x="7901055" y="3267075"/>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24" name="フリーフォーム: 図形 23">
            <a:extLst>
              <a:ext uri="{FF2B5EF4-FFF2-40B4-BE49-F238E27FC236}">
                <a16:creationId xmlns:a16="http://schemas.microsoft.com/office/drawing/2014/main" id="{C0474175-7418-411C-B5B8-77404DEC17F0}"/>
              </a:ext>
            </a:extLst>
          </p:cNvPr>
          <p:cNvSpPr>
            <a:spLocks noGrp="1"/>
          </p:cNvSpPr>
          <p:nvPr/>
        </p:nvSpPr>
        <p:spPr>
          <a:xfrm>
            <a:off x="7901055" y="3182439"/>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25" name="正方形/長方形 24">
            <a:extLst>
              <a:ext uri="{FF2B5EF4-FFF2-40B4-BE49-F238E27FC236}">
                <a16:creationId xmlns:a16="http://schemas.microsoft.com/office/drawing/2014/main" id="{D6243616-9E4A-4D1E-9E52-7780BCF60919}"/>
              </a:ext>
            </a:extLst>
          </p:cNvPr>
          <p:cNvSpPr>
            <a:spLocks noGrp="1"/>
          </p:cNvSpPr>
          <p:nvPr/>
        </p:nvSpPr>
        <p:spPr>
          <a:xfrm>
            <a:off x="4714875" y="2524125"/>
            <a:ext cx="523875" cy="476250"/>
          </a:xfrm>
          <a:prstGeom prst="rect">
            <a:avLst/>
          </a:prstGeom>
          <a:solidFill>
            <a:srgbClr val="087E8B"/>
          </a:solidFill>
          <a:ln w="0">
            <a:noFill/>
          </a:ln>
        </p:spPr>
      </p:sp>
      <p:sp>
        <p:nvSpPr>
          <p:cNvPr id="26" name="正方形/長方形 25">
            <a:extLst>
              <a:ext uri="{FF2B5EF4-FFF2-40B4-BE49-F238E27FC236}">
                <a16:creationId xmlns:a16="http://schemas.microsoft.com/office/drawing/2014/main" id="{6553250F-98DF-4DCD-8109-1C8C5675EB6E}"/>
              </a:ext>
            </a:extLst>
          </p:cNvPr>
          <p:cNvSpPr>
            <a:spLocks noGrp="1"/>
          </p:cNvSpPr>
          <p:nvPr/>
        </p:nvSpPr>
        <p:spPr>
          <a:xfrm>
            <a:off x="5238750" y="2524125"/>
            <a:ext cx="523875" cy="476250"/>
          </a:xfrm>
          <a:prstGeom prst="rect">
            <a:avLst/>
          </a:prstGeom>
          <a:solidFill>
            <a:srgbClr val="087E8B"/>
          </a:solidFill>
          <a:ln w="0">
            <a:noFill/>
          </a:ln>
        </p:spPr>
      </p:sp>
      <p:sp>
        <p:nvSpPr>
          <p:cNvPr id="27" name="正方形/長方形 26">
            <a:extLst>
              <a:ext uri="{FF2B5EF4-FFF2-40B4-BE49-F238E27FC236}">
                <a16:creationId xmlns:a16="http://schemas.microsoft.com/office/drawing/2014/main" id="{75F32AE7-0F64-4B47-84EB-E6C93DAD33B1}"/>
              </a:ext>
            </a:extLst>
          </p:cNvPr>
          <p:cNvSpPr>
            <a:spLocks noGrp="1"/>
          </p:cNvSpPr>
          <p:nvPr/>
        </p:nvSpPr>
        <p:spPr>
          <a:xfrm>
            <a:off x="5762625" y="2524125"/>
            <a:ext cx="523875" cy="476250"/>
          </a:xfrm>
          <a:prstGeom prst="rect">
            <a:avLst/>
          </a:prstGeom>
          <a:solidFill>
            <a:srgbClr val="087E8B"/>
          </a:solidFill>
          <a:ln w="0">
            <a:noFill/>
          </a:ln>
        </p:spPr>
      </p:sp>
      <p:sp>
        <p:nvSpPr>
          <p:cNvPr id="28" name="正方形/長方形 27">
            <a:extLst>
              <a:ext uri="{FF2B5EF4-FFF2-40B4-BE49-F238E27FC236}">
                <a16:creationId xmlns:a16="http://schemas.microsoft.com/office/drawing/2014/main" id="{A6F033DE-BF2D-401E-AA92-47C565168D82}"/>
              </a:ext>
            </a:extLst>
          </p:cNvPr>
          <p:cNvSpPr>
            <a:spLocks noGrp="1"/>
          </p:cNvSpPr>
          <p:nvPr/>
        </p:nvSpPr>
        <p:spPr>
          <a:xfrm>
            <a:off x="6286500" y="2524125"/>
            <a:ext cx="523875" cy="476250"/>
          </a:xfrm>
          <a:prstGeom prst="rect">
            <a:avLst/>
          </a:prstGeom>
          <a:solidFill>
            <a:srgbClr val="087E8B"/>
          </a:solidFill>
          <a:ln w="0">
            <a:noFill/>
          </a:ln>
        </p:spPr>
      </p:sp>
      <p:sp>
        <p:nvSpPr>
          <p:cNvPr id="29" name="正方形/長方形 28">
            <a:extLst>
              <a:ext uri="{FF2B5EF4-FFF2-40B4-BE49-F238E27FC236}">
                <a16:creationId xmlns:a16="http://schemas.microsoft.com/office/drawing/2014/main" id="{EFF42B70-0EF2-4A83-90A3-0BD0B1514F1C}"/>
              </a:ext>
            </a:extLst>
          </p:cNvPr>
          <p:cNvSpPr>
            <a:spLocks noGrp="1"/>
          </p:cNvSpPr>
          <p:nvPr/>
        </p:nvSpPr>
        <p:spPr>
          <a:xfrm>
            <a:off x="4714875" y="3305175"/>
            <a:ext cx="523875" cy="476250"/>
          </a:xfrm>
          <a:prstGeom prst="rect">
            <a:avLst/>
          </a:prstGeom>
          <a:solidFill>
            <a:srgbClr val="087E8B"/>
          </a:solidFill>
          <a:ln w="0">
            <a:noFill/>
          </a:ln>
        </p:spPr>
      </p:sp>
      <p:sp>
        <p:nvSpPr>
          <p:cNvPr id="30" name="正方形/長方形 29">
            <a:extLst>
              <a:ext uri="{FF2B5EF4-FFF2-40B4-BE49-F238E27FC236}">
                <a16:creationId xmlns:a16="http://schemas.microsoft.com/office/drawing/2014/main" id="{E3845418-7900-4B06-82DB-78560552035E}"/>
              </a:ext>
            </a:extLst>
          </p:cNvPr>
          <p:cNvSpPr>
            <a:spLocks noGrp="1"/>
          </p:cNvSpPr>
          <p:nvPr/>
        </p:nvSpPr>
        <p:spPr>
          <a:xfrm>
            <a:off x="5238750" y="3305175"/>
            <a:ext cx="523875" cy="476250"/>
          </a:xfrm>
          <a:prstGeom prst="rect">
            <a:avLst/>
          </a:prstGeom>
          <a:solidFill>
            <a:srgbClr val="087E8B"/>
          </a:solidFill>
          <a:ln w="0">
            <a:noFill/>
          </a:ln>
        </p:spPr>
      </p:sp>
      <p:sp>
        <p:nvSpPr>
          <p:cNvPr id="31" name="正方形/長方形 30">
            <a:extLst>
              <a:ext uri="{FF2B5EF4-FFF2-40B4-BE49-F238E27FC236}">
                <a16:creationId xmlns:a16="http://schemas.microsoft.com/office/drawing/2014/main" id="{B996085F-FF15-4309-AB1A-513796DE43B4}"/>
              </a:ext>
            </a:extLst>
          </p:cNvPr>
          <p:cNvSpPr>
            <a:spLocks noGrp="1"/>
          </p:cNvSpPr>
          <p:nvPr/>
        </p:nvSpPr>
        <p:spPr>
          <a:xfrm>
            <a:off x="5762625" y="3305175"/>
            <a:ext cx="523875" cy="476250"/>
          </a:xfrm>
          <a:prstGeom prst="rect">
            <a:avLst/>
          </a:prstGeom>
          <a:solidFill>
            <a:srgbClr val="087E8B"/>
          </a:solidFill>
          <a:ln w="0">
            <a:noFill/>
          </a:ln>
        </p:spPr>
      </p:sp>
      <p:sp>
        <p:nvSpPr>
          <p:cNvPr id="32" name="正方形/長方形 31">
            <a:extLst>
              <a:ext uri="{FF2B5EF4-FFF2-40B4-BE49-F238E27FC236}">
                <a16:creationId xmlns:a16="http://schemas.microsoft.com/office/drawing/2014/main" id="{C9983A40-ECE7-4E00-98C9-E285060C285C}"/>
              </a:ext>
            </a:extLst>
          </p:cNvPr>
          <p:cNvSpPr>
            <a:spLocks noGrp="1"/>
          </p:cNvSpPr>
          <p:nvPr/>
        </p:nvSpPr>
        <p:spPr>
          <a:xfrm>
            <a:off x="6286500" y="3305175"/>
            <a:ext cx="523875" cy="476250"/>
          </a:xfrm>
          <a:prstGeom prst="rect">
            <a:avLst/>
          </a:prstGeom>
          <a:solidFill>
            <a:srgbClr val="087E8B"/>
          </a:solidFill>
          <a:ln w="0">
            <a:noFill/>
          </a:ln>
        </p:spPr>
      </p:sp>
      <p:sp>
        <p:nvSpPr>
          <p:cNvPr id="33" name="正方形/長方形 32">
            <a:extLst>
              <a:ext uri="{FF2B5EF4-FFF2-40B4-BE49-F238E27FC236}">
                <a16:creationId xmlns:a16="http://schemas.microsoft.com/office/drawing/2014/main" id="{521922E2-42E4-4D68-B907-E70B4FB1946E}"/>
              </a:ext>
            </a:extLst>
          </p:cNvPr>
          <p:cNvSpPr>
            <a:spLocks noGrp="1"/>
          </p:cNvSpPr>
          <p:nvPr/>
        </p:nvSpPr>
        <p:spPr>
          <a:xfrm>
            <a:off x="8115300" y="2114550"/>
            <a:ext cx="3143250" cy="2286000"/>
          </a:xfrm>
          <a:prstGeom prst="rect">
            <a:avLst/>
          </a:prstGeom>
          <a:solidFill>
            <a:srgbClr val="F4F7F8"/>
          </a:solidFill>
          <a:ln w="0">
            <a:noFill/>
          </a:ln>
        </p:spPr>
      </p:sp>
      <p:sp>
        <p:nvSpPr>
          <p:cNvPr id="34" name="正方形/長方形 33">
            <a:extLst>
              <a:ext uri="{FF2B5EF4-FFF2-40B4-BE49-F238E27FC236}">
                <a16:creationId xmlns:a16="http://schemas.microsoft.com/office/drawing/2014/main" id="{65EAF47A-5C0E-4A84-BDB7-53818FDA60C3}"/>
              </a:ext>
            </a:extLst>
          </p:cNvPr>
          <p:cNvSpPr>
            <a:spLocks noGrp="1"/>
          </p:cNvSpPr>
          <p:nvPr/>
        </p:nvSpPr>
        <p:spPr>
          <a:xfrm>
            <a:off x="8229600" y="2266950"/>
            <a:ext cx="2914650" cy="205740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endParaRPr/>
          </a:p>
        </p:txBody>
      </p:sp>
      <p:sp>
        <p:nvSpPr>
          <p:cNvPr id="35" name="正方形/長方形 34">
            <a:extLst>
              <a:ext uri="{FF2B5EF4-FFF2-40B4-BE49-F238E27FC236}">
                <a16:creationId xmlns:a16="http://schemas.microsoft.com/office/drawing/2014/main" id="{5170CB7F-3B78-4CCC-8516-230CCAB6EEAA}"/>
              </a:ext>
            </a:extLst>
          </p:cNvPr>
          <p:cNvSpPr>
            <a:spLocks noGrp="1"/>
          </p:cNvSpPr>
          <p:nvPr/>
        </p:nvSpPr>
        <p:spPr>
          <a:xfrm>
            <a:off x="8210550" y="1581150"/>
            <a:ext cx="3333750" cy="4286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buNone/>
              <a:defRPr sz="1950" b="1">
                <a:solidFill>
                  <a:srgbClr val="253C4D"/>
                </a:solidFill>
                <a:latin typeface="Yu Gothic"/>
                <a:ea typeface="Yu Gothic"/>
                <a:cs typeface="Yu Gothic"/>
              </a:defRPr>
            </a:lvl1pPr>
            <a:lvl2pPr>
              <a:buNone/>
              <a:defRPr sz="1950" b="1">
                <a:solidFill>
                  <a:srgbClr val="253C4D"/>
                </a:solidFill>
                <a:latin typeface="Yu Gothic"/>
                <a:ea typeface="Yu Gothic"/>
                <a:cs typeface="Yu Gothic"/>
              </a:defRPr>
            </a:lvl2pPr>
            <a:lvl3pPr>
              <a:buNone/>
              <a:defRPr sz="1950" b="1">
                <a:solidFill>
                  <a:srgbClr val="253C4D"/>
                </a:solidFill>
                <a:latin typeface="Yu Gothic"/>
                <a:ea typeface="Yu Gothic"/>
                <a:cs typeface="Yu Gothic"/>
              </a:defRPr>
            </a:lvl3pPr>
            <a:lvl4pPr>
              <a:buNone/>
              <a:defRPr sz="1950" b="1">
                <a:solidFill>
                  <a:srgbClr val="253C4D"/>
                </a:solidFill>
                <a:latin typeface="Yu Gothic"/>
                <a:ea typeface="Yu Gothic"/>
                <a:cs typeface="Yu Gothic"/>
              </a:defRPr>
            </a:lvl4pPr>
            <a:lvl5pPr>
              <a:buNone/>
              <a:defRPr sz="1950" b="1">
                <a:solidFill>
                  <a:srgbClr val="253C4D"/>
                </a:solidFill>
                <a:latin typeface="Yu Gothic"/>
                <a:ea typeface="Yu Gothic"/>
                <a:cs typeface="Yu Gothic"/>
              </a:defRPr>
            </a:lvl5pPr>
            <a:lvl6pPr>
              <a:buNone/>
              <a:defRPr sz="1950" b="1">
                <a:solidFill>
                  <a:srgbClr val="253C4D"/>
                </a:solidFill>
                <a:latin typeface="Yu Gothic"/>
                <a:ea typeface="Yu Gothic"/>
                <a:cs typeface="Yu Gothic"/>
              </a:defRPr>
            </a:lvl6pPr>
            <a:lvl7pPr>
              <a:buNone/>
              <a:defRPr sz="1950" b="1">
                <a:solidFill>
                  <a:srgbClr val="253C4D"/>
                </a:solidFill>
                <a:latin typeface="Yu Gothic"/>
                <a:ea typeface="Yu Gothic"/>
                <a:cs typeface="Yu Gothic"/>
              </a:defRPr>
            </a:lvl7pPr>
            <a:lvl8pPr>
              <a:buNone/>
              <a:defRPr sz="1950" b="1">
                <a:solidFill>
                  <a:srgbClr val="253C4D"/>
                </a:solidFill>
                <a:latin typeface="Yu Gothic"/>
                <a:ea typeface="Yu Gothic"/>
                <a:cs typeface="Yu Gothic"/>
              </a:defRPr>
            </a:lvl8pPr>
            <a:lvl9pPr>
              <a:buNone/>
              <a:defRPr sz="1950" b="1">
                <a:solidFill>
                  <a:srgbClr val="253C4D"/>
                </a:solidFill>
                <a:latin typeface="Yu Gothic"/>
                <a:ea typeface="Yu Gothic"/>
                <a:cs typeface="Yu Gothic"/>
              </a:defRPr>
            </a:lvl9pPr>
          </a:lstStyle>
          <a:p>
            <a:pPr>
              <a:buNone/>
              <a:defRPr sz="1950" b="1">
                <a:solidFill>
                  <a:srgbClr val="253C4D"/>
                </a:solidFill>
                <a:latin typeface="Yu Gothic"/>
                <a:ea typeface="Yu Gothic"/>
                <a:cs typeface="Yu Gothic"/>
              </a:defRPr>
            </a:pPr>
            <a:r>
              <a:rPr sz="1950" b="1">
                <a:solidFill>
                  <a:srgbClr val="253C4D"/>
                </a:solidFill>
                <a:latin typeface="Yu Gothic"/>
                <a:ea typeface="Yu Gothic"/>
                <a:cs typeface="Yu Gothic"/>
              </a:rPr>
              <a:t>③ 連続した層</a:t>
            </a:r>
          </a:p>
        </p:txBody>
      </p:sp>
      <p:sp>
        <p:nvSpPr>
          <p:cNvPr id="36" name="正方形/長方形 35">
            <a:extLst>
              <a:ext uri="{FF2B5EF4-FFF2-40B4-BE49-F238E27FC236}">
                <a16:creationId xmlns:a16="http://schemas.microsoft.com/office/drawing/2014/main" id="{73CA5035-AF7E-49E9-B161-0572B6AF7845}"/>
              </a:ext>
            </a:extLst>
          </p:cNvPr>
          <p:cNvSpPr>
            <a:spLocks noGrp="1"/>
          </p:cNvSpPr>
          <p:nvPr/>
        </p:nvSpPr>
        <p:spPr>
          <a:xfrm>
            <a:off x="8382000" y="2524125"/>
            <a:ext cx="2381250" cy="1285875"/>
          </a:xfrm>
          <a:prstGeom prst="rect">
            <a:avLst/>
          </a:prstGeom>
          <a:solidFill>
            <a:srgbClr val="087E8B"/>
          </a:solidFill>
          <a:ln w="0">
            <a:noFill/>
          </a:ln>
        </p:spPr>
      </p:sp>
      <p:sp>
        <p:nvSpPr>
          <p:cNvPr id="37" name="正方形/長方形 36">
            <a:extLst>
              <a:ext uri="{FF2B5EF4-FFF2-40B4-BE49-F238E27FC236}">
                <a16:creationId xmlns:a16="http://schemas.microsoft.com/office/drawing/2014/main" id="{B41C8112-7133-40E3-8934-2A5B787FAEBD}"/>
              </a:ext>
            </a:extLst>
          </p:cNvPr>
          <p:cNvSpPr>
            <a:spLocks noGrp="1"/>
          </p:cNvSpPr>
          <p:nvPr/>
        </p:nvSpPr>
        <p:spPr>
          <a:xfrm>
            <a:off x="838200" y="4953000"/>
            <a:ext cx="10477500" cy="619125"/>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buNone/>
              <a:defRPr sz="2250" b="1">
                <a:solidFill>
                  <a:srgbClr val="253C4D"/>
                </a:solidFill>
                <a:latin typeface="Yu Gothic"/>
                <a:ea typeface="Yu Gothic"/>
                <a:cs typeface="Yu Gothic"/>
              </a:defRPr>
            </a:lvl1pPr>
            <a:lvl2pPr>
              <a:buNone/>
              <a:defRPr sz="2250" b="1">
                <a:solidFill>
                  <a:srgbClr val="253C4D"/>
                </a:solidFill>
                <a:latin typeface="Yu Gothic"/>
                <a:ea typeface="Yu Gothic"/>
                <a:cs typeface="Yu Gothic"/>
              </a:defRPr>
            </a:lvl2pPr>
            <a:lvl3pPr>
              <a:buNone/>
              <a:defRPr sz="2250" b="1">
                <a:solidFill>
                  <a:srgbClr val="253C4D"/>
                </a:solidFill>
                <a:latin typeface="Yu Gothic"/>
                <a:ea typeface="Yu Gothic"/>
                <a:cs typeface="Yu Gothic"/>
              </a:defRPr>
            </a:lvl3pPr>
            <a:lvl4pPr>
              <a:buNone/>
              <a:defRPr sz="2250" b="1">
                <a:solidFill>
                  <a:srgbClr val="253C4D"/>
                </a:solidFill>
                <a:latin typeface="Yu Gothic"/>
                <a:ea typeface="Yu Gothic"/>
                <a:cs typeface="Yu Gothic"/>
              </a:defRPr>
            </a:lvl4pPr>
            <a:lvl5pPr>
              <a:buNone/>
              <a:defRPr sz="2250" b="1">
                <a:solidFill>
                  <a:srgbClr val="253C4D"/>
                </a:solidFill>
                <a:latin typeface="Yu Gothic"/>
                <a:ea typeface="Yu Gothic"/>
                <a:cs typeface="Yu Gothic"/>
              </a:defRPr>
            </a:lvl5pPr>
            <a:lvl6pPr>
              <a:buNone/>
              <a:defRPr sz="2250" b="1">
                <a:solidFill>
                  <a:srgbClr val="253C4D"/>
                </a:solidFill>
                <a:latin typeface="Yu Gothic"/>
                <a:ea typeface="Yu Gothic"/>
                <a:cs typeface="Yu Gothic"/>
              </a:defRPr>
            </a:lvl6pPr>
            <a:lvl7pPr>
              <a:buNone/>
              <a:defRPr sz="2250" b="1">
                <a:solidFill>
                  <a:srgbClr val="253C4D"/>
                </a:solidFill>
                <a:latin typeface="Yu Gothic"/>
                <a:ea typeface="Yu Gothic"/>
                <a:cs typeface="Yu Gothic"/>
              </a:defRPr>
            </a:lvl7pPr>
            <a:lvl8pPr>
              <a:buNone/>
              <a:defRPr sz="2250" b="1">
                <a:solidFill>
                  <a:srgbClr val="253C4D"/>
                </a:solidFill>
                <a:latin typeface="Yu Gothic"/>
                <a:ea typeface="Yu Gothic"/>
                <a:cs typeface="Yu Gothic"/>
              </a:defRPr>
            </a:lvl8pPr>
            <a:lvl9pPr>
              <a:buNone/>
              <a:defRPr sz="2250" b="1">
                <a:solidFill>
                  <a:srgbClr val="253C4D"/>
                </a:solidFill>
                <a:latin typeface="Yu Gothic"/>
                <a:ea typeface="Yu Gothic"/>
                <a:cs typeface="Yu Gothic"/>
              </a:defRPr>
            </a:lvl9pPr>
          </a:lstStyle>
          <a:p>
            <a:pPr>
              <a:buNone/>
              <a:defRPr sz="2250" b="1">
                <a:solidFill>
                  <a:srgbClr val="253C4D"/>
                </a:solidFill>
                <a:latin typeface="Yu Gothic"/>
                <a:ea typeface="Yu Gothic"/>
                <a:cs typeface="Yu Gothic"/>
              </a:defRPr>
            </a:pPr>
            <a:r>
              <a:rPr sz="2250" b="1">
                <a:solidFill>
                  <a:srgbClr val="253C4D"/>
                </a:solidFill>
                <a:latin typeface="Yu Gothic"/>
                <a:ea typeface="Yu Gothic"/>
                <a:cs typeface="Yu Gothic"/>
              </a:rPr>
              <a:t>水系という媒体と、硬化後の耐水性は別の情報</a:t>
            </a:r>
          </a:p>
        </p:txBody>
      </p:sp>
      <p:sp>
        <p:nvSpPr>
          <p:cNvPr id="38" name="正方形/長方形 37">
            <a:extLst>
              <a:ext uri="{FF2B5EF4-FFF2-40B4-BE49-F238E27FC236}">
                <a16:creationId xmlns:a16="http://schemas.microsoft.com/office/drawing/2014/main" id="{9D8E6036-6517-44AE-B895-A70FC51867FF}"/>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粒子と連続膜の概念図。実際の粒径・形状・乾燥速度を表さない。</a:t>
            </a:r>
          </a:p>
        </p:txBody>
      </p:sp>
    </p:spTree>
    <p:extLst>
      <p:ext uri="{BB962C8B-B14F-4D97-AF65-F5344CB8AC3E}">
        <p14:creationId xmlns:p14="http://schemas.microsoft.com/office/powerpoint/2010/main" val="61352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55756597-9519-47A8-BAA2-E27CCB9AFE6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瞬間接着剤：アロンアルフア等</a:t>
            </a:r>
          </a:p>
        </p:txBody>
      </p:sp>
      <p:sp>
        <p:nvSpPr>
          <p:cNvPr id="2" name="正方形/長方形 1">
            <a:extLst>
              <a:ext uri="{FF2B5EF4-FFF2-40B4-BE49-F238E27FC236}">
                <a16:creationId xmlns:a16="http://schemas.microsoft.com/office/drawing/2014/main" id="{A7297F4F-416D-4EB5-B359-113929D4647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8ECEA80-8B89-4B8A-A4C9-2AF22C3486E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E629EEE-80BA-4ADD-96A2-746F7B8DF9A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12</a:t>
            </a:r>
            <a:endParaRPr sz="1425" b="0">
              <a:solidFill>
                <a:srgbClr val="596875"/>
              </a:solidFill>
              <a:latin typeface="Yu Gothic"/>
              <a:ea typeface="Yu Gothic"/>
              <a:cs typeface="Yu Gothic"/>
            </a:endParaRPr>
          </a:p>
        </p:txBody>
      </p:sp>
      <p:pic>
        <p:nvPicPr>
          <p:cNvPr id="5" name="図 4">
            <a:extLst>
              <a:ext uri="{FF2B5EF4-FFF2-40B4-BE49-F238E27FC236}">
                <a16:creationId xmlns:a16="http://schemas.microsoft.com/office/drawing/2014/main" id="{F9A03F3E-776E-448F-A88B-45E94785687C}"/>
              </a:ext>
            </a:extLst>
          </p:cNvPr>
          <p:cNvPicPr>
            <a:picLocks noChangeAspect="1"/>
          </p:cNvPicPr>
          <p:nvPr/>
        </p:nvPicPr>
        <p:blipFill>
          <a:blip r:embed="rId3"/>
          <a:stretch/>
        </p:blipFill>
        <p:spPr>
          <a:xfrm>
            <a:off x="895350" y="2128838"/>
            <a:ext cx="2667000" cy="2667000"/>
          </a:xfrm>
          <a:prstGeom prst="rect">
            <a:avLst/>
          </a:prstGeom>
        </p:spPr>
      </p:pic>
      <p:sp>
        <p:nvSpPr>
          <p:cNvPr id="6" name="正方形/長方形 5">
            <a:extLst>
              <a:ext uri="{FF2B5EF4-FFF2-40B4-BE49-F238E27FC236}">
                <a16:creationId xmlns:a16="http://schemas.microsoft.com/office/drawing/2014/main" id="{D7E11F9C-4A54-4C2E-9BCA-7FF9990ACFC8}"/>
              </a:ext>
            </a:extLst>
          </p:cNvPr>
          <p:cNvSpPr>
            <a:spLocks noGrp="1"/>
          </p:cNvSpPr>
          <p:nvPr/>
        </p:nvSpPr>
        <p:spPr>
          <a:xfrm>
            <a:off x="4000500" y="17145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シアノアクリレート系：表面の微量な水分で反応</a:t>
            </a:r>
          </a:p>
        </p:txBody>
      </p:sp>
      <p:sp>
        <p:nvSpPr>
          <p:cNvPr id="7" name="正方形/長方形 6">
            <a:extLst>
              <a:ext uri="{FF2B5EF4-FFF2-40B4-BE49-F238E27FC236}">
                <a16:creationId xmlns:a16="http://schemas.microsoft.com/office/drawing/2014/main" id="{5CA42197-374C-4316-8E79-527DA2AA2B14}"/>
              </a:ext>
            </a:extLst>
          </p:cNvPr>
          <p:cNvSpPr>
            <a:spLocks noGrp="1"/>
          </p:cNvSpPr>
          <p:nvPr/>
        </p:nvSpPr>
        <p:spPr>
          <a:xfrm>
            <a:off x="4000500" y="26289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小さい面積の位置決め・補修等に使う例</a:t>
            </a:r>
          </a:p>
        </p:txBody>
      </p:sp>
      <p:sp>
        <p:nvSpPr>
          <p:cNvPr id="8" name="正方形/長方形 7">
            <a:extLst>
              <a:ext uri="{FF2B5EF4-FFF2-40B4-BE49-F238E27FC236}">
                <a16:creationId xmlns:a16="http://schemas.microsoft.com/office/drawing/2014/main" id="{4EF434E0-0742-4565-8176-79D061D6C9EB}"/>
              </a:ext>
            </a:extLst>
          </p:cNvPr>
          <p:cNvSpPr>
            <a:spLocks noGrp="1"/>
          </p:cNvSpPr>
          <p:nvPr/>
        </p:nvSpPr>
        <p:spPr>
          <a:xfrm>
            <a:off x="4000500" y="35433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木工用は、しみ込みを考慮した製品もある</a:t>
            </a:r>
          </a:p>
        </p:txBody>
      </p:sp>
      <p:sp>
        <p:nvSpPr>
          <p:cNvPr id="9" name="正方形/長方形 8">
            <a:extLst>
              <a:ext uri="{FF2B5EF4-FFF2-40B4-BE49-F238E27FC236}">
                <a16:creationId xmlns:a16="http://schemas.microsoft.com/office/drawing/2014/main" id="{37468769-6ADD-46AA-843F-FA633A088FA2}"/>
              </a:ext>
            </a:extLst>
          </p:cNvPr>
          <p:cNvSpPr>
            <a:spLocks noGrp="1"/>
          </p:cNvSpPr>
          <p:nvPr/>
        </p:nvSpPr>
        <p:spPr>
          <a:xfrm>
            <a:off x="4000500" y="4457700"/>
            <a:ext cx="7381875" cy="790575"/>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速い固着と、最終強度・耐水耐熱性を分ける</a:t>
            </a:r>
          </a:p>
        </p:txBody>
      </p:sp>
      <p:sp>
        <p:nvSpPr>
          <p:cNvPr id="10" name="正方形/長方形 9">
            <a:extLst>
              <a:ext uri="{FF2B5EF4-FFF2-40B4-BE49-F238E27FC236}">
                <a16:creationId xmlns:a16="http://schemas.microsoft.com/office/drawing/2014/main" id="{ABF73952-6ADD-4D63-9D52-57B281D582BC}"/>
              </a:ext>
            </a:extLst>
          </p:cNvPr>
          <p:cNvSpPr>
            <a:spLocks noGrp="1"/>
          </p:cNvSpPr>
          <p:nvPr/>
        </p:nvSpPr>
        <p:spPr>
          <a:xfrm>
            <a:off x="838200" y="5924550"/>
            <a:ext cx="10477500" cy="304800"/>
          </a:xfrm>
          <a:prstGeom prst="rect">
            <a:avLst/>
          </a:prstGeom>
          <a:noFill/>
          <a:ln w="0">
            <a:noFill/>
          </a:ln>
        </p:spPr>
        <p:txBody>
          <a:bodyPr lIns="0" tIns="0" rIns="0" bIns="0" anchor="ctr">
            <a:noAutofit/>
          </a:bodyPr>
          <a:lstStyle>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写真：東亞合成公式商品ページ（2026-10-28確認）</a:t>
            </a:r>
          </a:p>
        </p:txBody>
      </p:sp>
    </p:spTree>
    <p:extLst>
      <p:ext uri="{BB962C8B-B14F-4D97-AF65-F5344CB8AC3E}">
        <p14:creationId xmlns:p14="http://schemas.microsoft.com/office/powerpoint/2010/main" val="3651561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EC26951-790D-4953-986E-BF305178068A}"/>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学校での使用：硬化の仕組みに合う扱い</a:t>
            </a:r>
          </a:p>
        </p:txBody>
      </p:sp>
      <p:sp>
        <p:nvSpPr>
          <p:cNvPr id="2" name="正方形/長方形 1">
            <a:extLst>
              <a:ext uri="{FF2B5EF4-FFF2-40B4-BE49-F238E27FC236}">
                <a16:creationId xmlns:a16="http://schemas.microsoft.com/office/drawing/2014/main" id="{B357422C-ABB9-435B-97E7-197F93B933D7}"/>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9214C10-9EE4-49E2-8E1B-07971521A02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820089C-8B76-4F02-BE40-3537448C571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765DBC4-6F42-4F3A-B0CF-120BA0411977}"/>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製品の用途・表示・SDSと、学校での使用条件を確認</a:t>
            </a:r>
          </a:p>
        </p:txBody>
      </p:sp>
      <p:sp>
        <p:nvSpPr>
          <p:cNvPr id="6" name="正方形/長方形 5">
            <a:extLst>
              <a:ext uri="{FF2B5EF4-FFF2-40B4-BE49-F238E27FC236}">
                <a16:creationId xmlns:a16="http://schemas.microsoft.com/office/drawing/2014/main" id="{C3093102-7ED7-417A-89E0-9568A29A212E}"/>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瞬間接着剤は布・ティッシュへしみ込むと発熱する</a:t>
            </a:r>
          </a:p>
        </p:txBody>
      </p:sp>
      <p:sp>
        <p:nvSpPr>
          <p:cNvPr id="7" name="正方形/長方形 6">
            <a:extLst>
              <a:ext uri="{FF2B5EF4-FFF2-40B4-BE49-F238E27FC236}">
                <a16:creationId xmlns:a16="http://schemas.microsoft.com/office/drawing/2014/main" id="{4E595468-AC10-46AA-8DD7-1B5BE32F7F8F}"/>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瞬間接着剤の作業に、布製の軍手を使わない</a:t>
            </a:r>
          </a:p>
        </p:txBody>
      </p:sp>
      <p:sp>
        <p:nvSpPr>
          <p:cNvPr id="8" name="正方形/長方形 7">
            <a:extLst>
              <a:ext uri="{FF2B5EF4-FFF2-40B4-BE49-F238E27FC236}">
                <a16:creationId xmlns:a16="http://schemas.microsoft.com/office/drawing/2014/main" id="{9F78B480-396D-4D43-8800-6D5E75498A66}"/>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塗布と圧締・養生を、説明用の例と実習で区別する</a:t>
            </a:r>
          </a:p>
        </p:txBody>
      </p:sp>
    </p:spTree>
    <p:extLst>
      <p:ext uri="{BB962C8B-B14F-4D97-AF65-F5344CB8AC3E}">
        <p14:creationId xmlns:p14="http://schemas.microsoft.com/office/powerpoint/2010/main" val="2584120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3CEE09-4438-42CE-A5E8-672D1A03317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レゾルシノール系：強度を、濡れや熱の中でも保つ</a:t>
            </a:r>
          </a:p>
        </p:txBody>
      </p:sp>
      <p:sp>
        <p:nvSpPr>
          <p:cNvPr id="2" name="正方形/長方形 1">
            <a:extLst>
              <a:ext uri="{FF2B5EF4-FFF2-40B4-BE49-F238E27FC236}">
                <a16:creationId xmlns:a16="http://schemas.microsoft.com/office/drawing/2014/main" id="{0DFC32EC-5DA8-42A1-A149-0E336FCA5D5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F342CE0-6A5A-4FFB-B3C8-D479FE38CD1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3A16A203-8CBC-4EFE-A82E-8AC954D91AB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DB2AA44-847B-42D0-9D47-E117C6CE5C06}"/>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RF・PRF系：樹脂と硬化剤を用いる反応硬化型</a:t>
            </a:r>
          </a:p>
        </p:txBody>
      </p:sp>
      <p:sp>
        <p:nvSpPr>
          <p:cNvPr id="6" name="正方形/長方形 5">
            <a:extLst>
              <a:ext uri="{FF2B5EF4-FFF2-40B4-BE49-F238E27FC236}">
                <a16:creationId xmlns:a16="http://schemas.microsoft.com/office/drawing/2014/main" id="{DE885D28-D6DF-4BD2-BAB7-8A5C79FFF7A1}"/>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高い乾燥・湿潤接着強度、耐水・耐熱・耐久性</a:t>
            </a:r>
          </a:p>
        </p:txBody>
      </p:sp>
      <p:sp>
        <p:nvSpPr>
          <p:cNvPr id="7" name="正方形/長方形 6">
            <a:extLst>
              <a:ext uri="{FF2B5EF4-FFF2-40B4-BE49-F238E27FC236}">
                <a16:creationId xmlns:a16="http://schemas.microsoft.com/office/drawing/2014/main" id="{1C4A5804-6808-4D51-B9B4-828EB4620CF6}"/>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集成材など、構造用途に使われる例</a:t>
            </a:r>
          </a:p>
        </p:txBody>
      </p:sp>
      <p:sp>
        <p:nvSpPr>
          <p:cNvPr id="8" name="正方形/長方形 7">
            <a:extLst>
              <a:ext uri="{FF2B5EF4-FFF2-40B4-BE49-F238E27FC236}">
                <a16:creationId xmlns:a16="http://schemas.microsoft.com/office/drawing/2014/main" id="{9F0B0D33-1836-4BB0-BC5C-C56E4C0E186C}"/>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配合・面の合い・圧締・養生を管理する</a:t>
            </a:r>
          </a:p>
        </p:txBody>
      </p:sp>
    </p:spTree>
    <p:extLst>
      <p:ext uri="{BB962C8B-B14F-4D97-AF65-F5344CB8AC3E}">
        <p14:creationId xmlns:p14="http://schemas.microsoft.com/office/powerpoint/2010/main" val="2109514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96F408-3EFB-4364-BF3F-73B1E62EEE53}"/>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エポキシ系と、水性高分子－イソシアネート系</a:t>
            </a:r>
          </a:p>
        </p:txBody>
      </p:sp>
      <p:sp>
        <p:nvSpPr>
          <p:cNvPr id="2" name="正方形/長方形 1">
            <a:extLst>
              <a:ext uri="{FF2B5EF4-FFF2-40B4-BE49-F238E27FC236}">
                <a16:creationId xmlns:a16="http://schemas.microsoft.com/office/drawing/2014/main" id="{5270EB9B-4CEC-4B81-B4F6-3A9E1637DF6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208B8D9-07C8-4D2E-AE7F-540229258FF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8C6FA8C-9C7E-4C13-A059-2F2BC2759D4B}"/>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15</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F9D7533D-B29D-4E75-8C43-91B6E0E937E1}"/>
              </a:ext>
            </a:extLst>
          </p:cNvPr>
          <p:cNvGraphicFramePr/>
          <p:nvPr/>
        </p:nvGraphicFramePr>
        <p:xfrm>
          <a:off x="838200" y="1952625"/>
          <a:ext cx="10477500" cy="3238500"/>
        </p:xfrm>
        <a:graphic>
          <a:graphicData uri="http://schemas.openxmlformats.org/drawingml/2006/table">
            <a:tbl>
              <a:tblPr/>
              <a:tblGrid>
                <a:gridCol w="30480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1079500">
                <a:tc>
                  <a:txBody>
                    <a:bodyPr/>
                    <a:lstStyle/>
                    <a:p>
                      <a:r>
                        <a:rPr sz="1875" b="1">
                          <a:solidFill>
                            <a:srgbClr val="FFFFFF"/>
                          </a:solidFill>
                          <a:latin typeface="Yu Gothic"/>
                          <a:ea typeface="Yu Gothic"/>
                          <a:cs typeface="Yu Gothic"/>
                        </a:rPr>
                        <a:t>系統</a:t>
                      </a:r>
                    </a:p>
                  </a:txBody>
                  <a:tcPr>
                    <a:solidFill>
                      <a:srgbClr val="18364F"/>
                    </a:solidFill>
                  </a:tcPr>
                </a:tc>
                <a:tc>
                  <a:txBody>
                    <a:bodyPr/>
                    <a:lstStyle/>
                    <a:p>
                      <a:r>
                        <a:rPr sz="1875" b="1">
                          <a:solidFill>
                            <a:srgbClr val="FFFFFF"/>
                          </a:solidFill>
                          <a:latin typeface="Yu Gothic"/>
                          <a:ea typeface="Yu Gothic"/>
                          <a:cs typeface="Yu Gothic"/>
                        </a:rPr>
                        <a:t>硬化・用途の例</a:t>
                      </a:r>
                    </a:p>
                  </a:txBody>
                  <a:tcPr>
                    <a:solidFill>
                      <a:srgbClr val="18364F"/>
                    </a:solidFill>
                  </a:tcPr>
                </a:tc>
                <a:extLst>
                  <a:ext uri="{0D108BD9-81ED-4DB2-BD59-A6C34878D82A}">
                    <a16:rowId xmlns:a16="http://schemas.microsoft.com/office/drawing/2014/main" val="10000"/>
                  </a:ext>
                </a:extLst>
              </a:tr>
              <a:tr h="1079500">
                <a:tc>
                  <a:txBody>
                    <a:bodyPr/>
                    <a:lstStyle/>
                    <a:p>
                      <a:r>
                        <a:rPr sz="1875" b="0">
                          <a:solidFill>
                            <a:srgbClr val="253C4D"/>
                          </a:solidFill>
                          <a:latin typeface="Yu Gothic"/>
                          <a:ea typeface="Yu Gothic"/>
                          <a:cs typeface="Yu Gothic"/>
                        </a:rPr>
                        <a:t>エポキシ系</a:t>
                      </a:r>
                    </a:p>
                  </a:txBody>
                  <a:tcPr>
                    <a:solidFill>
                      <a:srgbClr val="F1F5F7"/>
                    </a:solidFill>
                  </a:tcPr>
                </a:tc>
                <a:tc>
                  <a:txBody>
                    <a:bodyPr/>
                    <a:lstStyle/>
                    <a:p>
                      <a:r>
                        <a:rPr sz="1875" b="0">
                          <a:solidFill>
                            <a:srgbClr val="253C4D"/>
                          </a:solidFill>
                          <a:latin typeface="Yu Gothic"/>
                          <a:ea typeface="Yu Gothic"/>
                          <a:cs typeface="Yu Gothic"/>
                        </a:rPr>
                        <a:t>主剤＋硬化剤の反応。木材・異種材接着や補修</a:t>
                      </a:r>
                    </a:p>
                  </a:txBody>
                  <a:tcPr>
                    <a:solidFill>
                      <a:srgbClr val="F1F5F7"/>
                    </a:solidFill>
                  </a:tcPr>
                </a:tc>
                <a:extLst>
                  <a:ext uri="{0D108BD9-81ED-4DB2-BD59-A6C34878D82A}">
                    <a16:rowId xmlns:a16="http://schemas.microsoft.com/office/drawing/2014/main" val="10001"/>
                  </a:ext>
                </a:extLst>
              </a:tr>
              <a:tr h="1079500">
                <a:tc>
                  <a:txBody>
                    <a:bodyPr/>
                    <a:lstStyle/>
                    <a:p>
                      <a:r>
                        <a:rPr sz="1875" b="0">
                          <a:solidFill>
                            <a:srgbClr val="253C4D"/>
                          </a:solidFill>
                          <a:latin typeface="Yu Gothic"/>
                          <a:ea typeface="Yu Gothic"/>
                          <a:cs typeface="Yu Gothic"/>
                        </a:rPr>
                        <a:t>EPI系</a:t>
                      </a:r>
                    </a:p>
                  </a:txBody>
                  <a:tcPr>
                    <a:solidFill>
                      <a:srgbClr val="FFFFFF"/>
                    </a:solidFill>
                  </a:tcPr>
                </a:tc>
                <a:tc>
                  <a:txBody>
                    <a:bodyPr/>
                    <a:lstStyle/>
                    <a:p>
                      <a:r>
                        <a:rPr sz="1875" b="0">
                          <a:solidFill>
                            <a:srgbClr val="253C4D"/>
                          </a:solidFill>
                          <a:latin typeface="Yu Gothic"/>
                          <a:ea typeface="Yu Gothic"/>
                          <a:cs typeface="Yu Gothic"/>
                        </a:rPr>
                        <a:t>水性高分子＋イソシアネート硬化剤。集成材等</a:t>
                      </a:r>
                    </a:p>
                  </a:txBody>
                  <a:tcPr>
                    <a:solidFill>
                      <a:srgbClr val="FFFFFF"/>
                    </a:solidFill>
                  </a:tcPr>
                </a:tc>
                <a:extLst>
                  <a:ext uri="{0D108BD9-81ED-4DB2-BD59-A6C34878D82A}">
                    <a16:rowId xmlns:a16="http://schemas.microsoft.com/office/drawing/2014/main" val="10002"/>
                  </a:ext>
                </a:extLst>
              </a:tr>
            </a:tbl>
          </a:graphicData>
        </a:graphic>
      </p:graphicFrame>
      <p:sp>
        <p:nvSpPr>
          <p:cNvPr id="6" name="正方形/長方形 5">
            <a:extLst>
              <a:ext uri="{FF2B5EF4-FFF2-40B4-BE49-F238E27FC236}">
                <a16:creationId xmlns:a16="http://schemas.microsoft.com/office/drawing/2014/main" id="{91AA9F11-DB78-4E58-8CC2-37575D353E95}"/>
              </a:ext>
            </a:extLst>
          </p:cNvPr>
          <p:cNvSpPr>
            <a:spLocks noGrp="1"/>
          </p:cNvSpPr>
          <p:nvPr/>
        </p:nvSpPr>
        <p:spPr>
          <a:xfrm>
            <a:off x="838200" y="5838825"/>
            <a:ext cx="10477500" cy="381000"/>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どちらも製品の配合・用途・硬化条件により性能は変わる。</a:t>
            </a:r>
          </a:p>
        </p:txBody>
      </p:sp>
    </p:spTree>
    <p:extLst>
      <p:ext uri="{BB962C8B-B14F-4D97-AF65-F5344CB8AC3E}">
        <p14:creationId xmlns:p14="http://schemas.microsoft.com/office/powerpoint/2010/main" val="3437723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5E652FEE-C120-4446-B64E-1E326873A05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合板やボードで使う工業用接着剤</a:t>
            </a:r>
          </a:p>
        </p:txBody>
      </p:sp>
      <p:sp>
        <p:nvSpPr>
          <p:cNvPr id="2" name="正方形/長方形 1">
            <a:extLst>
              <a:ext uri="{FF2B5EF4-FFF2-40B4-BE49-F238E27FC236}">
                <a16:creationId xmlns:a16="http://schemas.microsoft.com/office/drawing/2014/main" id="{FAFFB684-4E96-48C8-97AF-B504F90ADF0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B92060D-0397-4876-9411-1485389F2FC4}"/>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8B730E4-DB8D-4669-979F-EDA5594E1979}"/>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16</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FB794E13-668E-49B1-8211-68715B5F3880}"/>
              </a:ext>
            </a:extLst>
          </p:cNvPr>
          <p:cNvGraphicFramePr/>
          <p:nvPr/>
        </p:nvGraphicFramePr>
        <p:xfrm>
          <a:off x="838200" y="1952625"/>
          <a:ext cx="10477500" cy="3238500"/>
        </p:xfrm>
        <a:graphic>
          <a:graphicData uri="http://schemas.openxmlformats.org/drawingml/2006/table">
            <a:tbl>
              <a:tblPr/>
              <a:tblGrid>
                <a:gridCol w="30480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809625">
                <a:tc>
                  <a:txBody>
                    <a:bodyPr/>
                    <a:lstStyle/>
                    <a:p>
                      <a:r>
                        <a:rPr sz="1875" b="1">
                          <a:solidFill>
                            <a:srgbClr val="FFFFFF"/>
                          </a:solidFill>
                          <a:latin typeface="Yu Gothic"/>
                          <a:ea typeface="Yu Gothic"/>
                          <a:cs typeface="Yu Gothic"/>
                        </a:rPr>
                        <a:t>系統</a:t>
                      </a:r>
                    </a:p>
                  </a:txBody>
                  <a:tcPr>
                    <a:solidFill>
                      <a:srgbClr val="18364F"/>
                    </a:solidFill>
                  </a:tcPr>
                </a:tc>
                <a:tc>
                  <a:txBody>
                    <a:bodyPr/>
                    <a:lstStyle/>
                    <a:p>
                      <a:r>
                        <a:rPr sz="1875" b="1">
                          <a:solidFill>
                            <a:srgbClr val="FFFFFF"/>
                          </a:solidFill>
                          <a:latin typeface="Yu Gothic"/>
                          <a:ea typeface="Yu Gothic"/>
                          <a:cs typeface="Yu Gothic"/>
                        </a:rPr>
                        <a:t>例・比較の観点</a:t>
                      </a:r>
                    </a:p>
                  </a:txBody>
                  <a:tcPr>
                    <a:solidFill>
                      <a:srgbClr val="18364F"/>
                    </a:solidFill>
                  </a:tcPr>
                </a:tc>
                <a:extLst>
                  <a:ext uri="{0D108BD9-81ED-4DB2-BD59-A6C34878D82A}">
                    <a16:rowId xmlns:a16="http://schemas.microsoft.com/office/drawing/2014/main" val="10000"/>
                  </a:ext>
                </a:extLst>
              </a:tr>
              <a:tr h="809625">
                <a:tc>
                  <a:txBody>
                    <a:bodyPr/>
                    <a:lstStyle/>
                    <a:p>
                      <a:r>
                        <a:rPr sz="1875" b="0">
                          <a:solidFill>
                            <a:srgbClr val="253C4D"/>
                          </a:solidFill>
                          <a:latin typeface="Yu Gothic"/>
                          <a:ea typeface="Yu Gothic"/>
                          <a:cs typeface="Yu Gothic"/>
                        </a:rPr>
                        <a:t>フェノール系（PF）</a:t>
                      </a:r>
                    </a:p>
                  </a:txBody>
                  <a:tcPr>
                    <a:solidFill>
                      <a:srgbClr val="F1F5F7"/>
                    </a:solidFill>
                  </a:tcPr>
                </a:tc>
                <a:tc>
                  <a:txBody>
                    <a:bodyPr/>
                    <a:lstStyle/>
                    <a:p>
                      <a:r>
                        <a:rPr sz="1875" b="0">
                          <a:solidFill>
                            <a:srgbClr val="253C4D"/>
                          </a:solidFill>
                          <a:latin typeface="Yu Gothic"/>
                          <a:ea typeface="Yu Gothic"/>
                          <a:cs typeface="Yu Gothic"/>
                        </a:rPr>
                        <a:t>耐水性を求める合板等。工場の硬化条件</a:t>
                      </a:r>
                    </a:p>
                  </a:txBody>
                  <a:tcPr>
                    <a:solidFill>
                      <a:srgbClr val="F1F5F7"/>
                    </a:solidFill>
                  </a:tcPr>
                </a:tc>
                <a:extLst>
                  <a:ext uri="{0D108BD9-81ED-4DB2-BD59-A6C34878D82A}">
                    <a16:rowId xmlns:a16="http://schemas.microsoft.com/office/drawing/2014/main" val="10001"/>
                  </a:ext>
                </a:extLst>
              </a:tr>
              <a:tr h="809625">
                <a:tc>
                  <a:txBody>
                    <a:bodyPr/>
                    <a:lstStyle/>
                    <a:p>
                      <a:r>
                        <a:rPr sz="1875" b="0">
                          <a:solidFill>
                            <a:srgbClr val="253C4D"/>
                          </a:solidFill>
                          <a:latin typeface="Yu Gothic"/>
                          <a:ea typeface="Yu Gothic"/>
                          <a:cs typeface="Yu Gothic"/>
                        </a:rPr>
                        <a:t>ユリア系（UF）</a:t>
                      </a:r>
                    </a:p>
                  </a:txBody>
                  <a:tcPr>
                    <a:solidFill>
                      <a:srgbClr val="FFFFFF"/>
                    </a:solidFill>
                  </a:tcPr>
                </a:tc>
                <a:tc>
                  <a:txBody>
                    <a:bodyPr/>
                    <a:lstStyle/>
                    <a:p>
                      <a:r>
                        <a:rPr sz="1875" b="0">
                          <a:solidFill>
                            <a:srgbClr val="253C4D"/>
                          </a:solidFill>
                          <a:latin typeface="Yu Gothic"/>
                          <a:ea typeface="Yu Gothic"/>
                          <a:cs typeface="Yu Gothic"/>
                        </a:rPr>
                        <a:t>主に室内製品の例。耐水性の制約</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53C4D"/>
                          </a:solidFill>
                          <a:latin typeface="Yu Gothic"/>
                          <a:ea typeface="Yu Gothic"/>
                          <a:cs typeface="Yu Gothic"/>
                        </a:rPr>
                        <a:t>メラミン・複合系</a:t>
                      </a:r>
                    </a:p>
                  </a:txBody>
                  <a:tcPr>
                    <a:solidFill>
                      <a:srgbClr val="F1F5F7"/>
                    </a:solidFill>
                  </a:tcPr>
                </a:tc>
                <a:tc>
                  <a:txBody>
                    <a:bodyPr/>
                    <a:lstStyle/>
                    <a:p>
                      <a:r>
                        <a:rPr sz="1875" b="0">
                          <a:solidFill>
                            <a:srgbClr val="253C4D"/>
                          </a:solidFill>
                          <a:latin typeface="Yu Gothic"/>
                          <a:ea typeface="Yu Gothic"/>
                          <a:cs typeface="Yu Gothic"/>
                        </a:rPr>
                        <a:t>配合で耐水・耐久性等を調整</a:t>
                      </a:r>
                    </a:p>
                  </a:txBody>
                  <a:tcPr>
                    <a:solidFill>
                      <a:srgbClr val="F1F5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55967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58E8A0A5-8825-4561-80DC-AAA9AE359D4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同じ「強い」を、三つの問いに分ける</a:t>
            </a:r>
          </a:p>
        </p:txBody>
      </p:sp>
      <p:sp>
        <p:nvSpPr>
          <p:cNvPr id="2" name="正方形/長方形 1">
            <a:extLst>
              <a:ext uri="{FF2B5EF4-FFF2-40B4-BE49-F238E27FC236}">
                <a16:creationId xmlns:a16="http://schemas.microsoft.com/office/drawing/2014/main" id="{67678B2E-45DE-4E10-BAE9-E00E2B8A0A9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0B6FADAB-D061-45E8-AC75-37A778ABB318}"/>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90D4467-D12B-4169-B46C-C9141B56465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903C6AB-2602-47A5-BB58-81D97C5D50AD}"/>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今の乾燥試験で、どれだけの荷重に耐えるか</a:t>
            </a:r>
          </a:p>
        </p:txBody>
      </p:sp>
      <p:sp>
        <p:nvSpPr>
          <p:cNvPr id="6" name="正方形/長方形 5">
            <a:extLst>
              <a:ext uri="{FF2B5EF4-FFF2-40B4-BE49-F238E27FC236}">
                <a16:creationId xmlns:a16="http://schemas.microsoft.com/office/drawing/2014/main" id="{FCF5B29A-7B6A-4D4C-960F-204160FC9FC6}"/>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濡れ・熱・乾湿繰返しの後も、性能が残るか</a:t>
            </a:r>
          </a:p>
        </p:txBody>
      </p:sp>
      <p:sp>
        <p:nvSpPr>
          <p:cNvPr id="7" name="正方形/長方形 6">
            <a:extLst>
              <a:ext uri="{FF2B5EF4-FFF2-40B4-BE49-F238E27FC236}">
                <a16:creationId xmlns:a16="http://schemas.microsoft.com/office/drawing/2014/main" id="{1BAEE97C-E77E-489B-A0E5-0AC4FA25BE63}"/>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継続荷重で、すべりやクリープが増えないか</a:t>
            </a:r>
          </a:p>
        </p:txBody>
      </p:sp>
      <p:sp>
        <p:nvSpPr>
          <p:cNvPr id="8" name="正方形/長方形 7">
            <a:extLst>
              <a:ext uri="{FF2B5EF4-FFF2-40B4-BE49-F238E27FC236}">
                <a16:creationId xmlns:a16="http://schemas.microsoft.com/office/drawing/2014/main" id="{46EDDA65-C0AA-4328-8A20-0E1176992D5E}"/>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木材・継手・工程の条件をそろえて比較する</a:t>
            </a:r>
          </a:p>
        </p:txBody>
      </p:sp>
    </p:spTree>
    <p:extLst>
      <p:ext uri="{BB962C8B-B14F-4D97-AF65-F5344CB8AC3E}">
        <p14:creationId xmlns:p14="http://schemas.microsoft.com/office/powerpoint/2010/main" val="974736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26F4A6-450F-4542-8103-927BF9540EB9}"/>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接着強さの計算：荷重と面積</a:t>
            </a:r>
          </a:p>
        </p:txBody>
      </p:sp>
      <p:sp>
        <p:nvSpPr>
          <p:cNvPr id="2" name="正方形/長方形 1">
            <a:extLst>
              <a:ext uri="{FF2B5EF4-FFF2-40B4-BE49-F238E27FC236}">
                <a16:creationId xmlns:a16="http://schemas.microsoft.com/office/drawing/2014/main" id="{C6EAC7E9-063F-4342-B846-27099A0D7CE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ECD9005B-E99D-4CF9-A869-BC31DFBF2AC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7A1A16A-71CD-432C-B4AD-2E308155E980}"/>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0A6CD0F-573B-4D73-8155-AC99C1E33E8F}"/>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見かけの平均せん断応力　τ平均＝F／A</a:t>
            </a:r>
          </a:p>
        </p:txBody>
      </p:sp>
      <p:sp>
        <p:nvSpPr>
          <p:cNvPr id="6" name="正方形/長方形 5">
            <a:extLst>
              <a:ext uri="{FF2B5EF4-FFF2-40B4-BE49-F238E27FC236}">
                <a16:creationId xmlns:a16="http://schemas.microsoft.com/office/drawing/2014/main" id="{94FC4C16-3049-49F1-B0C4-A0E109BEAE63}"/>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F：試験時の荷重［N］、A：重ね接着面積［mm²］</a:t>
            </a:r>
          </a:p>
        </p:txBody>
      </p:sp>
      <p:sp>
        <p:nvSpPr>
          <p:cNvPr id="7" name="正方形/長方形 6">
            <a:extLst>
              <a:ext uri="{FF2B5EF4-FFF2-40B4-BE49-F238E27FC236}">
                <a16:creationId xmlns:a16="http://schemas.microsoft.com/office/drawing/2014/main" id="{7B5BE6D5-D36C-48E2-91D5-6AA65D1C08C9}"/>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1 N/mm²＝1 MPa</a:t>
            </a:r>
          </a:p>
        </p:txBody>
      </p:sp>
      <p:sp>
        <p:nvSpPr>
          <p:cNvPr id="8" name="正方形/長方形 7">
            <a:extLst>
              <a:ext uri="{FF2B5EF4-FFF2-40B4-BE49-F238E27FC236}">
                <a16:creationId xmlns:a16="http://schemas.microsoft.com/office/drawing/2014/main" id="{EF38B4B4-7CA9-458F-9D17-4E5157DEB913}"/>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端部の応力集中や、剥がす力は、この平均に現れない</a:t>
            </a:r>
          </a:p>
        </p:txBody>
      </p:sp>
    </p:spTree>
    <p:extLst>
      <p:ext uri="{BB962C8B-B14F-4D97-AF65-F5344CB8AC3E}">
        <p14:creationId xmlns:p14="http://schemas.microsoft.com/office/powerpoint/2010/main" val="358778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26558D7C-50A3-4B01-B509-E3925DF3536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重ね継手：面積と力のつりあい</a:t>
            </a:r>
          </a:p>
        </p:txBody>
      </p:sp>
      <p:sp>
        <p:nvSpPr>
          <p:cNvPr id="2" name="正方形/長方形 1">
            <a:extLst>
              <a:ext uri="{FF2B5EF4-FFF2-40B4-BE49-F238E27FC236}">
                <a16:creationId xmlns:a16="http://schemas.microsoft.com/office/drawing/2014/main" id="{16677E4C-BD81-4EF8-941E-85812608C16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B96EFE3-86ED-447E-864F-A18F2D3495B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3690BD2-6F6B-4474-B009-617489DB0357}"/>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19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939C51A-852D-4D2A-9159-C6500FF6BB6D}"/>
              </a:ext>
            </a:extLst>
          </p:cNvPr>
          <p:cNvSpPr>
            <a:spLocks noGrp="1"/>
          </p:cNvSpPr>
          <p:nvPr/>
        </p:nvSpPr>
        <p:spPr>
          <a:xfrm>
            <a:off x="1619250" y="2305050"/>
            <a:ext cx="5048250" cy="647700"/>
          </a:xfrm>
          <a:prstGeom prst="rect">
            <a:avLst/>
          </a:prstGeom>
          <a:solidFill>
            <a:srgbClr val="EBD9BB"/>
          </a:solidFill>
          <a:ln w="0">
            <a:noFill/>
          </a:ln>
        </p:spPr>
      </p:sp>
      <p:sp>
        <p:nvSpPr>
          <p:cNvPr id="6" name="正方形/長方形 5">
            <a:extLst>
              <a:ext uri="{FF2B5EF4-FFF2-40B4-BE49-F238E27FC236}">
                <a16:creationId xmlns:a16="http://schemas.microsoft.com/office/drawing/2014/main" id="{B09EE8C5-78A8-40DE-8C3B-CB7A0EC08F53}"/>
              </a:ext>
            </a:extLst>
          </p:cNvPr>
          <p:cNvSpPr>
            <a:spLocks noGrp="1"/>
          </p:cNvSpPr>
          <p:nvPr/>
        </p:nvSpPr>
        <p:spPr>
          <a:xfrm>
            <a:off x="5619750" y="3086100"/>
            <a:ext cx="5048250" cy="647700"/>
          </a:xfrm>
          <a:prstGeom prst="rect">
            <a:avLst/>
          </a:prstGeom>
          <a:solidFill>
            <a:srgbClr val="EBD9BB"/>
          </a:solidFill>
          <a:ln w="0">
            <a:noFill/>
          </a:ln>
        </p:spPr>
      </p:sp>
      <p:sp>
        <p:nvSpPr>
          <p:cNvPr id="7" name="正方形/長方形 6">
            <a:extLst>
              <a:ext uri="{FF2B5EF4-FFF2-40B4-BE49-F238E27FC236}">
                <a16:creationId xmlns:a16="http://schemas.microsoft.com/office/drawing/2014/main" id="{EDEBD706-6219-40BD-BEDF-92D4E8D52908}"/>
              </a:ext>
            </a:extLst>
          </p:cNvPr>
          <p:cNvSpPr>
            <a:spLocks noGrp="1"/>
          </p:cNvSpPr>
          <p:nvPr/>
        </p:nvSpPr>
        <p:spPr>
          <a:xfrm>
            <a:off x="5619750" y="2952750"/>
            <a:ext cx="1047750" cy="133350"/>
          </a:xfrm>
          <a:prstGeom prst="rect">
            <a:avLst/>
          </a:prstGeom>
          <a:solidFill>
            <a:srgbClr val="087E8B"/>
          </a:solidFill>
          <a:ln w="0">
            <a:noFill/>
          </a:ln>
        </p:spPr>
      </p:sp>
      <p:sp>
        <p:nvSpPr>
          <p:cNvPr id="8" name="フリーフォーム: 図形 7">
            <a:extLst>
              <a:ext uri="{FF2B5EF4-FFF2-40B4-BE49-F238E27FC236}">
                <a16:creationId xmlns:a16="http://schemas.microsoft.com/office/drawing/2014/main" id="{B205458E-B1E3-4E3C-ABF0-E02AA7278C9C}"/>
              </a:ext>
            </a:extLst>
          </p:cNvPr>
          <p:cNvSpPr>
            <a:spLocks noGrp="1"/>
          </p:cNvSpPr>
          <p:nvPr/>
        </p:nvSpPr>
        <p:spPr>
          <a:xfrm>
            <a:off x="1095375" y="2619375"/>
            <a:ext cx="1190625" cy="9525"/>
          </a:xfrm>
          <a:custGeom>
            <a:avLst/>
            <a:gdLst/>
            <a:ahLst/>
            <a:cxnLst/>
            <a:rect l="0" t="0" r="0" b="0"/>
            <a:pathLst>
              <a:path w="1190625" h="9525">
                <a:moveTo>
                  <a:pt x="1190625" y="0"/>
                </a:moveTo>
                <a:lnTo>
                  <a:pt x="0" y="0"/>
                </a:lnTo>
              </a:path>
            </a:pathLst>
          </a:custGeom>
          <a:noFill/>
          <a:ln w="38100">
            <a:solidFill>
              <a:srgbClr val="C4483C"/>
            </a:solidFill>
          </a:ln>
        </p:spPr>
      </p:sp>
      <p:sp>
        <p:nvSpPr>
          <p:cNvPr id="9" name="フリーフォーム: 図形 8">
            <a:extLst>
              <a:ext uri="{FF2B5EF4-FFF2-40B4-BE49-F238E27FC236}">
                <a16:creationId xmlns:a16="http://schemas.microsoft.com/office/drawing/2014/main" id="{E9874E6E-D3B9-4C00-AF93-8207C14E55D5}"/>
              </a:ext>
            </a:extLst>
          </p:cNvPr>
          <p:cNvSpPr>
            <a:spLocks noGrp="1"/>
          </p:cNvSpPr>
          <p:nvPr/>
        </p:nvSpPr>
        <p:spPr>
          <a:xfrm>
            <a:off x="1095375" y="2534739"/>
            <a:ext cx="138045" cy="84636"/>
          </a:xfrm>
          <a:custGeom>
            <a:avLst/>
            <a:gdLst/>
            <a:ahLst/>
            <a:cxnLst/>
            <a:rect l="0" t="0" r="0" b="0"/>
            <a:pathLst>
              <a:path w="138045" h="84636">
                <a:moveTo>
                  <a:pt x="0" y="84636"/>
                </a:moveTo>
                <a:lnTo>
                  <a:pt x="138045" y="0"/>
                </a:lnTo>
              </a:path>
            </a:pathLst>
          </a:custGeom>
          <a:noFill/>
          <a:ln w="38100">
            <a:solidFill>
              <a:srgbClr val="C4483C"/>
            </a:solidFill>
          </a:ln>
        </p:spPr>
      </p:sp>
      <p:sp>
        <p:nvSpPr>
          <p:cNvPr id="10" name="フリーフォーム: 図形 9">
            <a:extLst>
              <a:ext uri="{FF2B5EF4-FFF2-40B4-BE49-F238E27FC236}">
                <a16:creationId xmlns:a16="http://schemas.microsoft.com/office/drawing/2014/main" id="{440C36B2-7DEB-4EC3-A025-04A02265F9B5}"/>
              </a:ext>
            </a:extLst>
          </p:cNvPr>
          <p:cNvSpPr>
            <a:spLocks noGrp="1"/>
          </p:cNvSpPr>
          <p:nvPr/>
        </p:nvSpPr>
        <p:spPr>
          <a:xfrm>
            <a:off x="1095375" y="2619375"/>
            <a:ext cx="138045" cy="84636"/>
          </a:xfrm>
          <a:custGeom>
            <a:avLst/>
            <a:gdLst/>
            <a:ahLst/>
            <a:cxnLst/>
            <a:rect l="0" t="0" r="0" b="0"/>
            <a:pathLst>
              <a:path w="138045" h="84636">
                <a:moveTo>
                  <a:pt x="0" y="0"/>
                </a:moveTo>
                <a:lnTo>
                  <a:pt x="138045" y="84636"/>
                </a:lnTo>
              </a:path>
            </a:pathLst>
          </a:custGeom>
          <a:noFill/>
          <a:ln w="38100">
            <a:solidFill>
              <a:srgbClr val="C4483C"/>
            </a:solidFill>
          </a:ln>
        </p:spPr>
      </p:sp>
      <p:sp>
        <p:nvSpPr>
          <p:cNvPr id="11" name="フリーフォーム: 図形 10">
            <a:extLst>
              <a:ext uri="{FF2B5EF4-FFF2-40B4-BE49-F238E27FC236}">
                <a16:creationId xmlns:a16="http://schemas.microsoft.com/office/drawing/2014/main" id="{BA0C40B0-6013-4264-8B8A-3A753F0CAEF0}"/>
              </a:ext>
            </a:extLst>
          </p:cNvPr>
          <p:cNvSpPr>
            <a:spLocks noGrp="1"/>
          </p:cNvSpPr>
          <p:nvPr/>
        </p:nvSpPr>
        <p:spPr>
          <a:xfrm>
            <a:off x="9906000" y="3400425"/>
            <a:ext cx="1143000" cy="9525"/>
          </a:xfrm>
          <a:custGeom>
            <a:avLst/>
            <a:gdLst/>
            <a:ahLst/>
            <a:cxnLst/>
            <a:rect l="0" t="0" r="0" b="0"/>
            <a:pathLst>
              <a:path w="1143000" h="9525">
                <a:moveTo>
                  <a:pt x="0" y="0"/>
                </a:moveTo>
                <a:lnTo>
                  <a:pt x="1143000" y="0"/>
                </a:lnTo>
              </a:path>
            </a:pathLst>
          </a:custGeom>
          <a:noFill/>
          <a:ln w="38100">
            <a:solidFill>
              <a:srgbClr val="C4483C"/>
            </a:solidFill>
          </a:ln>
        </p:spPr>
      </p:sp>
      <p:sp>
        <p:nvSpPr>
          <p:cNvPr id="12" name="フリーフォーム: 図形 11">
            <a:extLst>
              <a:ext uri="{FF2B5EF4-FFF2-40B4-BE49-F238E27FC236}">
                <a16:creationId xmlns:a16="http://schemas.microsoft.com/office/drawing/2014/main" id="{44641355-0058-4A90-B151-27E63F68ABA3}"/>
              </a:ext>
            </a:extLst>
          </p:cNvPr>
          <p:cNvSpPr>
            <a:spLocks noGrp="1"/>
          </p:cNvSpPr>
          <p:nvPr/>
        </p:nvSpPr>
        <p:spPr>
          <a:xfrm>
            <a:off x="10910955" y="3400425"/>
            <a:ext cx="138045" cy="84636"/>
          </a:xfrm>
          <a:custGeom>
            <a:avLst/>
            <a:gdLst/>
            <a:ahLst/>
            <a:cxnLst/>
            <a:rect l="0" t="0" r="0" b="0"/>
            <a:pathLst>
              <a:path w="138045" h="84636">
                <a:moveTo>
                  <a:pt x="138045" y="0"/>
                </a:moveTo>
                <a:lnTo>
                  <a:pt x="0" y="84636"/>
                </a:lnTo>
              </a:path>
            </a:pathLst>
          </a:custGeom>
          <a:noFill/>
          <a:ln w="38100">
            <a:solidFill>
              <a:srgbClr val="C4483C"/>
            </a:solidFill>
          </a:ln>
        </p:spPr>
      </p:sp>
      <p:sp>
        <p:nvSpPr>
          <p:cNvPr id="13" name="フリーフォーム: 図形 12">
            <a:extLst>
              <a:ext uri="{FF2B5EF4-FFF2-40B4-BE49-F238E27FC236}">
                <a16:creationId xmlns:a16="http://schemas.microsoft.com/office/drawing/2014/main" id="{4CF91D21-404D-4B6D-BBBF-30645CFB9F2F}"/>
              </a:ext>
            </a:extLst>
          </p:cNvPr>
          <p:cNvSpPr>
            <a:spLocks noGrp="1"/>
          </p:cNvSpPr>
          <p:nvPr/>
        </p:nvSpPr>
        <p:spPr>
          <a:xfrm>
            <a:off x="10910955" y="3315789"/>
            <a:ext cx="138045" cy="84636"/>
          </a:xfrm>
          <a:custGeom>
            <a:avLst/>
            <a:gdLst/>
            <a:ahLst/>
            <a:cxnLst/>
            <a:rect l="0" t="0" r="0" b="0"/>
            <a:pathLst>
              <a:path w="138045" h="84636">
                <a:moveTo>
                  <a:pt x="138045" y="84636"/>
                </a:moveTo>
                <a:lnTo>
                  <a:pt x="0" y="0"/>
                </a:lnTo>
              </a:path>
            </a:pathLst>
          </a:custGeom>
          <a:noFill/>
          <a:ln w="38100">
            <a:solidFill>
              <a:srgbClr val="C4483C"/>
            </a:solidFill>
          </a:ln>
        </p:spPr>
      </p:sp>
      <p:sp>
        <p:nvSpPr>
          <p:cNvPr id="14" name="正方形/長方形 13">
            <a:extLst>
              <a:ext uri="{FF2B5EF4-FFF2-40B4-BE49-F238E27FC236}">
                <a16:creationId xmlns:a16="http://schemas.microsoft.com/office/drawing/2014/main" id="{9EAA4FFE-6DEC-4C5B-8781-AD36D74C19E3}"/>
              </a:ext>
            </a:extLst>
          </p:cNvPr>
          <p:cNvSpPr>
            <a:spLocks noGrp="1"/>
          </p:cNvSpPr>
          <p:nvPr/>
        </p:nvSpPr>
        <p:spPr>
          <a:xfrm>
            <a:off x="857250" y="2133600"/>
            <a:ext cx="666750" cy="428625"/>
          </a:xfrm>
          <a:prstGeom prst="rect">
            <a:avLst/>
          </a:prstGeom>
          <a:noFill/>
          <a:ln w="0">
            <a:noFill/>
          </a:ln>
        </p:spPr>
        <p:txBody>
          <a:bodyPr lIns="0" tIns="0" rIns="0" bIns="0" anchor="ctr">
            <a:noAutofit/>
          </a:bodyPr>
          <a:lstStyle>
            <a:defPPr>
              <a:defRPr sz="2325" b="1">
                <a:solidFill>
                  <a:srgbClr val="C4483C"/>
                </a:solidFill>
                <a:latin typeface="Yu Gothic"/>
                <a:ea typeface="Yu Gothic"/>
                <a:cs typeface="Yu Gothic"/>
              </a:defRPr>
            </a:defPPr>
            <a:lvl1pPr>
              <a:buNone/>
              <a:defRPr sz="2325" b="1">
                <a:solidFill>
                  <a:srgbClr val="C4483C"/>
                </a:solidFill>
                <a:latin typeface="Yu Gothic"/>
                <a:ea typeface="Yu Gothic"/>
                <a:cs typeface="Yu Gothic"/>
              </a:defRPr>
            </a:lvl1pPr>
            <a:lvl2pPr>
              <a:buNone/>
              <a:defRPr sz="2325" b="1">
                <a:solidFill>
                  <a:srgbClr val="C4483C"/>
                </a:solidFill>
                <a:latin typeface="Yu Gothic"/>
                <a:ea typeface="Yu Gothic"/>
                <a:cs typeface="Yu Gothic"/>
              </a:defRPr>
            </a:lvl2pPr>
            <a:lvl3pPr>
              <a:buNone/>
              <a:defRPr sz="2325" b="1">
                <a:solidFill>
                  <a:srgbClr val="C4483C"/>
                </a:solidFill>
                <a:latin typeface="Yu Gothic"/>
                <a:ea typeface="Yu Gothic"/>
                <a:cs typeface="Yu Gothic"/>
              </a:defRPr>
            </a:lvl3pPr>
            <a:lvl4pPr>
              <a:buNone/>
              <a:defRPr sz="2325" b="1">
                <a:solidFill>
                  <a:srgbClr val="C4483C"/>
                </a:solidFill>
                <a:latin typeface="Yu Gothic"/>
                <a:ea typeface="Yu Gothic"/>
                <a:cs typeface="Yu Gothic"/>
              </a:defRPr>
            </a:lvl4pPr>
            <a:lvl5pPr>
              <a:buNone/>
              <a:defRPr sz="2325" b="1">
                <a:solidFill>
                  <a:srgbClr val="C4483C"/>
                </a:solidFill>
                <a:latin typeface="Yu Gothic"/>
                <a:ea typeface="Yu Gothic"/>
                <a:cs typeface="Yu Gothic"/>
              </a:defRPr>
            </a:lvl5pPr>
            <a:lvl6pPr>
              <a:buNone/>
              <a:defRPr sz="2325" b="1">
                <a:solidFill>
                  <a:srgbClr val="C4483C"/>
                </a:solidFill>
                <a:latin typeface="Yu Gothic"/>
                <a:ea typeface="Yu Gothic"/>
                <a:cs typeface="Yu Gothic"/>
              </a:defRPr>
            </a:lvl6pPr>
            <a:lvl7pPr>
              <a:buNone/>
              <a:defRPr sz="2325" b="1">
                <a:solidFill>
                  <a:srgbClr val="C4483C"/>
                </a:solidFill>
                <a:latin typeface="Yu Gothic"/>
                <a:ea typeface="Yu Gothic"/>
                <a:cs typeface="Yu Gothic"/>
              </a:defRPr>
            </a:lvl7pPr>
            <a:lvl8pPr>
              <a:buNone/>
              <a:defRPr sz="2325" b="1">
                <a:solidFill>
                  <a:srgbClr val="C4483C"/>
                </a:solidFill>
                <a:latin typeface="Yu Gothic"/>
                <a:ea typeface="Yu Gothic"/>
                <a:cs typeface="Yu Gothic"/>
              </a:defRPr>
            </a:lvl8pPr>
            <a:lvl9pPr>
              <a:buNone/>
              <a:defRPr sz="2325" b="1">
                <a:solidFill>
                  <a:srgbClr val="C4483C"/>
                </a:solidFill>
                <a:latin typeface="Yu Gothic"/>
                <a:ea typeface="Yu Gothic"/>
                <a:cs typeface="Yu Gothic"/>
              </a:defRPr>
            </a:lvl9pPr>
          </a:lstStyle>
          <a:p>
            <a:pPr>
              <a:buNone/>
              <a:defRPr sz="2325" b="1">
                <a:solidFill>
                  <a:srgbClr val="C4483C"/>
                </a:solidFill>
                <a:latin typeface="Yu Gothic"/>
                <a:ea typeface="Yu Gothic"/>
                <a:cs typeface="Yu Gothic"/>
              </a:defRPr>
            </a:pPr>
            <a:r>
              <a:rPr sz="2325" b="1">
                <a:solidFill>
                  <a:srgbClr val="C4483C"/>
                </a:solidFill>
                <a:latin typeface="Yu Gothic"/>
                <a:ea typeface="Yu Gothic"/>
                <a:cs typeface="Yu Gothic"/>
              </a:rPr>
              <a:t>F</a:t>
            </a:r>
          </a:p>
        </p:txBody>
      </p:sp>
      <p:sp>
        <p:nvSpPr>
          <p:cNvPr id="15" name="正方形/長方形 14">
            <a:extLst>
              <a:ext uri="{FF2B5EF4-FFF2-40B4-BE49-F238E27FC236}">
                <a16:creationId xmlns:a16="http://schemas.microsoft.com/office/drawing/2014/main" id="{38BCA16E-E615-406E-8BBC-0E2CBC8BC0C0}"/>
              </a:ext>
            </a:extLst>
          </p:cNvPr>
          <p:cNvSpPr>
            <a:spLocks noGrp="1"/>
          </p:cNvSpPr>
          <p:nvPr/>
        </p:nvSpPr>
        <p:spPr>
          <a:xfrm>
            <a:off x="10763250" y="3752850"/>
            <a:ext cx="666750" cy="428625"/>
          </a:xfrm>
          <a:prstGeom prst="rect">
            <a:avLst/>
          </a:prstGeom>
          <a:noFill/>
          <a:ln w="0">
            <a:noFill/>
          </a:ln>
        </p:spPr>
        <p:txBody>
          <a:bodyPr lIns="0" tIns="0" rIns="0" bIns="0" anchor="ctr">
            <a:noAutofit/>
          </a:bodyPr>
          <a:lstStyle>
            <a:defPPr>
              <a:defRPr sz="2325" b="1">
                <a:solidFill>
                  <a:srgbClr val="C4483C"/>
                </a:solidFill>
                <a:latin typeface="Yu Gothic"/>
                <a:ea typeface="Yu Gothic"/>
                <a:cs typeface="Yu Gothic"/>
              </a:defRPr>
            </a:defPPr>
            <a:lvl1pPr>
              <a:buNone/>
              <a:defRPr sz="2325" b="1">
                <a:solidFill>
                  <a:srgbClr val="C4483C"/>
                </a:solidFill>
                <a:latin typeface="Yu Gothic"/>
                <a:ea typeface="Yu Gothic"/>
                <a:cs typeface="Yu Gothic"/>
              </a:defRPr>
            </a:lvl1pPr>
            <a:lvl2pPr>
              <a:buNone/>
              <a:defRPr sz="2325" b="1">
                <a:solidFill>
                  <a:srgbClr val="C4483C"/>
                </a:solidFill>
                <a:latin typeface="Yu Gothic"/>
                <a:ea typeface="Yu Gothic"/>
                <a:cs typeface="Yu Gothic"/>
              </a:defRPr>
            </a:lvl2pPr>
            <a:lvl3pPr>
              <a:buNone/>
              <a:defRPr sz="2325" b="1">
                <a:solidFill>
                  <a:srgbClr val="C4483C"/>
                </a:solidFill>
                <a:latin typeface="Yu Gothic"/>
                <a:ea typeface="Yu Gothic"/>
                <a:cs typeface="Yu Gothic"/>
              </a:defRPr>
            </a:lvl3pPr>
            <a:lvl4pPr>
              <a:buNone/>
              <a:defRPr sz="2325" b="1">
                <a:solidFill>
                  <a:srgbClr val="C4483C"/>
                </a:solidFill>
                <a:latin typeface="Yu Gothic"/>
                <a:ea typeface="Yu Gothic"/>
                <a:cs typeface="Yu Gothic"/>
              </a:defRPr>
            </a:lvl4pPr>
            <a:lvl5pPr>
              <a:buNone/>
              <a:defRPr sz="2325" b="1">
                <a:solidFill>
                  <a:srgbClr val="C4483C"/>
                </a:solidFill>
                <a:latin typeface="Yu Gothic"/>
                <a:ea typeface="Yu Gothic"/>
                <a:cs typeface="Yu Gothic"/>
              </a:defRPr>
            </a:lvl5pPr>
            <a:lvl6pPr>
              <a:buNone/>
              <a:defRPr sz="2325" b="1">
                <a:solidFill>
                  <a:srgbClr val="C4483C"/>
                </a:solidFill>
                <a:latin typeface="Yu Gothic"/>
                <a:ea typeface="Yu Gothic"/>
                <a:cs typeface="Yu Gothic"/>
              </a:defRPr>
            </a:lvl6pPr>
            <a:lvl7pPr>
              <a:buNone/>
              <a:defRPr sz="2325" b="1">
                <a:solidFill>
                  <a:srgbClr val="C4483C"/>
                </a:solidFill>
                <a:latin typeface="Yu Gothic"/>
                <a:ea typeface="Yu Gothic"/>
                <a:cs typeface="Yu Gothic"/>
              </a:defRPr>
            </a:lvl7pPr>
            <a:lvl8pPr>
              <a:buNone/>
              <a:defRPr sz="2325" b="1">
                <a:solidFill>
                  <a:srgbClr val="C4483C"/>
                </a:solidFill>
                <a:latin typeface="Yu Gothic"/>
                <a:ea typeface="Yu Gothic"/>
                <a:cs typeface="Yu Gothic"/>
              </a:defRPr>
            </a:lvl8pPr>
            <a:lvl9pPr>
              <a:buNone/>
              <a:defRPr sz="2325" b="1">
                <a:solidFill>
                  <a:srgbClr val="C4483C"/>
                </a:solidFill>
                <a:latin typeface="Yu Gothic"/>
                <a:ea typeface="Yu Gothic"/>
                <a:cs typeface="Yu Gothic"/>
              </a:defRPr>
            </a:lvl9pPr>
          </a:lstStyle>
          <a:p>
            <a:pPr>
              <a:buNone/>
              <a:defRPr sz="2325" b="1">
                <a:solidFill>
                  <a:srgbClr val="C4483C"/>
                </a:solidFill>
                <a:latin typeface="Yu Gothic"/>
                <a:ea typeface="Yu Gothic"/>
                <a:cs typeface="Yu Gothic"/>
              </a:defRPr>
            </a:pPr>
            <a:r>
              <a:rPr sz="2325" b="1">
                <a:solidFill>
                  <a:srgbClr val="C4483C"/>
                </a:solidFill>
                <a:latin typeface="Yu Gothic"/>
                <a:ea typeface="Yu Gothic"/>
                <a:cs typeface="Yu Gothic"/>
              </a:rPr>
              <a:t>F</a:t>
            </a:r>
          </a:p>
        </p:txBody>
      </p:sp>
      <p:sp>
        <p:nvSpPr>
          <p:cNvPr id="16" name="正方形/長方形 15">
            <a:extLst>
              <a:ext uri="{FF2B5EF4-FFF2-40B4-BE49-F238E27FC236}">
                <a16:creationId xmlns:a16="http://schemas.microsoft.com/office/drawing/2014/main" id="{FEFDDC06-9152-4ADE-A607-A36259885A3D}"/>
              </a:ext>
            </a:extLst>
          </p:cNvPr>
          <p:cNvSpPr>
            <a:spLocks noGrp="1"/>
          </p:cNvSpPr>
          <p:nvPr/>
        </p:nvSpPr>
        <p:spPr>
          <a:xfrm>
            <a:off x="4953000" y="1695450"/>
            <a:ext cx="2952750" cy="42862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重なり長さ l</a:t>
            </a:r>
          </a:p>
        </p:txBody>
      </p:sp>
      <p:sp>
        <p:nvSpPr>
          <p:cNvPr id="17" name="正方形/長方形 16">
            <a:extLst>
              <a:ext uri="{FF2B5EF4-FFF2-40B4-BE49-F238E27FC236}">
                <a16:creationId xmlns:a16="http://schemas.microsoft.com/office/drawing/2014/main" id="{1B21D3A6-9C08-4315-9604-C1C4A92434E9}"/>
              </a:ext>
            </a:extLst>
          </p:cNvPr>
          <p:cNvSpPr>
            <a:spLocks noGrp="1"/>
          </p:cNvSpPr>
          <p:nvPr/>
        </p:nvSpPr>
        <p:spPr>
          <a:xfrm>
            <a:off x="838200" y="4152900"/>
            <a:ext cx="10477500" cy="400050"/>
          </a:xfrm>
          <a:prstGeom prst="rect">
            <a:avLst/>
          </a:prstGeom>
          <a:noFill/>
          <a:ln w="0">
            <a:noFill/>
          </a:ln>
        </p:spPr>
        <p:txBody>
          <a:bodyPr lIns="0" tIns="0" rIns="0" bIns="0" anchor="ctr">
            <a:noAutofit/>
          </a:bodyPr>
          <a:lstStyle>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幅 b は紙面の奥行き</a:t>
            </a:r>
          </a:p>
        </p:txBody>
      </p:sp>
      <p:sp>
        <p:nvSpPr>
          <p:cNvPr id="18" name="正方形/長方形 17">
            <a:extLst>
              <a:ext uri="{FF2B5EF4-FFF2-40B4-BE49-F238E27FC236}">
                <a16:creationId xmlns:a16="http://schemas.microsoft.com/office/drawing/2014/main" id="{9867F555-D166-47CD-A5C7-293FFBF0BA9C}"/>
              </a:ext>
            </a:extLst>
          </p:cNvPr>
          <p:cNvSpPr>
            <a:spLocks noGrp="1"/>
          </p:cNvSpPr>
          <p:nvPr/>
        </p:nvSpPr>
        <p:spPr>
          <a:xfrm>
            <a:off x="838200" y="4819650"/>
            <a:ext cx="10477500" cy="619125"/>
          </a:xfrm>
          <a:prstGeom prst="rect">
            <a:avLst/>
          </a:prstGeom>
          <a:noFill/>
          <a:ln w="0">
            <a:noFill/>
          </a:ln>
        </p:spPr>
        <p:txBody>
          <a:bodyPr lIns="0" tIns="0" rIns="0" bIns="0" anchor="ctr">
            <a:noAutofit/>
          </a:bodyPr>
          <a:lstStyle>
            <a:defPPr>
              <a:defRPr sz="2925" b="1">
                <a:solidFill>
                  <a:srgbClr val="18364F"/>
                </a:solidFill>
                <a:latin typeface="Yu Gothic"/>
                <a:ea typeface="Yu Gothic"/>
                <a:cs typeface="Yu Gothic"/>
              </a:defRPr>
            </a:defPPr>
            <a:lvl1pPr>
              <a:buNone/>
              <a:defRPr sz="2925" b="1">
                <a:solidFill>
                  <a:srgbClr val="18364F"/>
                </a:solidFill>
                <a:latin typeface="Yu Gothic"/>
                <a:ea typeface="Yu Gothic"/>
                <a:cs typeface="Yu Gothic"/>
              </a:defRPr>
            </a:lvl1pPr>
            <a:lvl2pPr>
              <a:buNone/>
              <a:defRPr sz="2925" b="1">
                <a:solidFill>
                  <a:srgbClr val="18364F"/>
                </a:solidFill>
                <a:latin typeface="Yu Gothic"/>
                <a:ea typeface="Yu Gothic"/>
                <a:cs typeface="Yu Gothic"/>
              </a:defRPr>
            </a:lvl2pPr>
            <a:lvl3pPr>
              <a:buNone/>
              <a:defRPr sz="2925" b="1">
                <a:solidFill>
                  <a:srgbClr val="18364F"/>
                </a:solidFill>
                <a:latin typeface="Yu Gothic"/>
                <a:ea typeface="Yu Gothic"/>
                <a:cs typeface="Yu Gothic"/>
              </a:defRPr>
            </a:lvl3pPr>
            <a:lvl4pPr>
              <a:buNone/>
              <a:defRPr sz="2925" b="1">
                <a:solidFill>
                  <a:srgbClr val="18364F"/>
                </a:solidFill>
                <a:latin typeface="Yu Gothic"/>
                <a:ea typeface="Yu Gothic"/>
                <a:cs typeface="Yu Gothic"/>
              </a:defRPr>
            </a:lvl4pPr>
            <a:lvl5pPr>
              <a:buNone/>
              <a:defRPr sz="2925" b="1">
                <a:solidFill>
                  <a:srgbClr val="18364F"/>
                </a:solidFill>
                <a:latin typeface="Yu Gothic"/>
                <a:ea typeface="Yu Gothic"/>
                <a:cs typeface="Yu Gothic"/>
              </a:defRPr>
            </a:lvl5pPr>
            <a:lvl6pPr>
              <a:buNone/>
              <a:defRPr sz="2925" b="1">
                <a:solidFill>
                  <a:srgbClr val="18364F"/>
                </a:solidFill>
                <a:latin typeface="Yu Gothic"/>
                <a:ea typeface="Yu Gothic"/>
                <a:cs typeface="Yu Gothic"/>
              </a:defRPr>
            </a:lvl6pPr>
            <a:lvl7pPr>
              <a:buNone/>
              <a:defRPr sz="2925" b="1">
                <a:solidFill>
                  <a:srgbClr val="18364F"/>
                </a:solidFill>
                <a:latin typeface="Yu Gothic"/>
                <a:ea typeface="Yu Gothic"/>
                <a:cs typeface="Yu Gothic"/>
              </a:defRPr>
            </a:lvl7pPr>
            <a:lvl8pPr>
              <a:buNone/>
              <a:defRPr sz="2925" b="1">
                <a:solidFill>
                  <a:srgbClr val="18364F"/>
                </a:solidFill>
                <a:latin typeface="Yu Gothic"/>
                <a:ea typeface="Yu Gothic"/>
                <a:cs typeface="Yu Gothic"/>
              </a:defRPr>
            </a:lvl8pPr>
            <a:lvl9pPr>
              <a:buNone/>
              <a:defRPr sz="2925" b="1">
                <a:solidFill>
                  <a:srgbClr val="18364F"/>
                </a:solidFill>
                <a:latin typeface="Yu Gothic"/>
                <a:ea typeface="Yu Gothic"/>
                <a:cs typeface="Yu Gothic"/>
              </a:defRPr>
            </a:lvl9pPr>
          </a:lstStyle>
          <a:p>
            <a:pPr>
              <a:buNone/>
              <a:defRPr sz="2925" b="1">
                <a:solidFill>
                  <a:srgbClr val="18364F"/>
                </a:solidFill>
                <a:latin typeface="Yu Gothic"/>
                <a:ea typeface="Yu Gothic"/>
                <a:cs typeface="Yu Gothic"/>
              </a:defRPr>
            </a:pPr>
            <a:r>
              <a:rPr sz="2925" b="1">
                <a:solidFill>
                  <a:srgbClr val="18364F"/>
                </a:solidFill>
                <a:latin typeface="Yu Gothic"/>
                <a:ea typeface="Yu Gothic"/>
                <a:cs typeface="Yu Gothic"/>
              </a:rPr>
              <a:t>A = bl     τ平均 = F/A = F/(bl)</a:t>
            </a:r>
          </a:p>
        </p:txBody>
      </p:sp>
      <p:sp>
        <p:nvSpPr>
          <p:cNvPr id="19" name="正方形/長方形 18">
            <a:extLst>
              <a:ext uri="{FF2B5EF4-FFF2-40B4-BE49-F238E27FC236}">
                <a16:creationId xmlns:a16="http://schemas.microsoft.com/office/drawing/2014/main" id="{397B8DA2-9F68-4465-B622-DC77BD6132F4}"/>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τ平均＝F/A＝F/(bl)。局所応力の一様分布は意味しない。</a:t>
            </a:r>
          </a:p>
        </p:txBody>
      </p:sp>
    </p:spTree>
    <p:extLst>
      <p:ext uri="{BB962C8B-B14F-4D97-AF65-F5344CB8AC3E}">
        <p14:creationId xmlns:p14="http://schemas.microsoft.com/office/powerpoint/2010/main" val="1603732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E215918-D174-4658-A4B5-996BE5F1F36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接着演習</a:t>
            </a:r>
            <a:r>
              <a:rPr lang="en-US" altLang="ja-JP" sz="3000" b="1">
                <a:solidFill>
                  <a:srgbClr val="18364F"/>
                </a:solidFill>
                <a:latin typeface="Yu Gothic"/>
                <a:ea typeface="Yu Gothic"/>
                <a:cs typeface="Yu Gothic"/>
              </a:rPr>
              <a:t>1</a:t>
            </a:r>
            <a:r>
              <a:rPr lang="ja-JP" altLang="en-US" sz="3000" b="1">
                <a:solidFill>
                  <a:srgbClr val="18364F"/>
                </a:solidFill>
                <a:latin typeface="Yu Gothic"/>
                <a:ea typeface="Yu Gothic"/>
                <a:cs typeface="Yu Gothic"/>
              </a:rPr>
              <a:t>　初期強度と、湿潤後の保持率</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1DE4B5F7-978B-4BD1-8F7C-4A0CB1F8128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529591D-7BA8-4016-8350-FA4FD28FB030}"/>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E3C4844-81B9-4EE6-B0D0-9C1948788A1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20</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AFF10C22-9C12-4332-85B6-DFDEF9A198C9}"/>
              </a:ext>
            </a:extLst>
          </p:cNvPr>
          <p:cNvGraphicFramePr/>
          <p:nvPr/>
        </p:nvGraphicFramePr>
        <p:xfrm>
          <a:off x="838200" y="2400300"/>
          <a:ext cx="10477500" cy="2762250"/>
        </p:xfrm>
        <a:graphic>
          <a:graphicData uri="http://schemas.openxmlformats.org/drawingml/2006/table">
            <a:tbl>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920750">
                <a:tc>
                  <a:txBody>
                    <a:bodyPr/>
                    <a:lstStyle/>
                    <a:p>
                      <a:r>
                        <a:rPr sz="1875" b="1">
                          <a:solidFill>
                            <a:srgbClr val="FFFFFF"/>
                          </a:solidFill>
                          <a:latin typeface="Yu Gothic"/>
                          <a:ea typeface="Yu Gothic"/>
                          <a:cs typeface="Yu Gothic"/>
                        </a:rPr>
                        <a:t>仮想試験体</a:t>
                      </a:r>
                    </a:p>
                  </a:txBody>
                  <a:tcPr>
                    <a:solidFill>
                      <a:srgbClr val="18364F"/>
                    </a:solidFill>
                  </a:tcPr>
                </a:tc>
                <a:tc>
                  <a:txBody>
                    <a:bodyPr/>
                    <a:lstStyle/>
                    <a:p>
                      <a:r>
                        <a:rPr sz="1875" b="1">
                          <a:solidFill>
                            <a:srgbClr val="FFFFFF"/>
                          </a:solidFill>
                          <a:latin typeface="Yu Gothic"/>
                          <a:ea typeface="Yu Gothic"/>
                          <a:cs typeface="Yu Gothic"/>
                        </a:rPr>
                        <a:t>乾燥時の最大荷重</a:t>
                      </a:r>
                    </a:p>
                  </a:txBody>
                  <a:tcPr>
                    <a:solidFill>
                      <a:srgbClr val="18364F"/>
                    </a:solidFill>
                  </a:tcPr>
                </a:tc>
                <a:tc>
                  <a:txBody>
                    <a:bodyPr/>
                    <a:lstStyle/>
                    <a:p>
                      <a:r>
                        <a:rPr sz="1875" b="1">
                          <a:solidFill>
                            <a:srgbClr val="FFFFFF"/>
                          </a:solidFill>
                          <a:latin typeface="Yu Gothic"/>
                          <a:ea typeface="Yu Gothic"/>
                          <a:cs typeface="Yu Gothic"/>
                        </a:rPr>
                        <a:t>湿潤処理後</a:t>
                      </a:r>
                    </a:p>
                  </a:txBody>
                  <a:tcPr>
                    <a:solidFill>
                      <a:srgbClr val="18364F"/>
                    </a:solidFill>
                  </a:tcPr>
                </a:tc>
                <a:extLst>
                  <a:ext uri="{0D108BD9-81ED-4DB2-BD59-A6C34878D82A}">
                    <a16:rowId xmlns:a16="http://schemas.microsoft.com/office/drawing/2014/main" val="10000"/>
                  </a:ext>
                </a:extLst>
              </a:tr>
              <a:tr h="920750">
                <a:tc>
                  <a:txBody>
                    <a:bodyPr/>
                    <a:lstStyle/>
                    <a:p>
                      <a:r>
                        <a:rPr sz="1875" b="0">
                          <a:solidFill>
                            <a:srgbClr val="253C4D"/>
                          </a:solidFill>
                          <a:latin typeface="Yu Gothic"/>
                          <a:ea typeface="Yu Gothic"/>
                          <a:cs typeface="Yu Gothic"/>
                        </a:rPr>
                        <a:t>A</a:t>
                      </a:r>
                    </a:p>
                  </a:txBody>
                  <a:tcPr>
                    <a:solidFill>
                      <a:srgbClr val="F1F5F7"/>
                    </a:solidFill>
                  </a:tcPr>
                </a:tc>
                <a:tc>
                  <a:txBody>
                    <a:bodyPr/>
                    <a:lstStyle/>
                    <a:p>
                      <a:r>
                        <a:rPr sz="1875" b="0">
                          <a:solidFill>
                            <a:srgbClr val="253C4D"/>
                          </a:solidFill>
                          <a:latin typeface="Yu Gothic"/>
                          <a:ea typeface="Yu Gothic"/>
                          <a:cs typeface="Yu Gothic"/>
                        </a:rPr>
                        <a:t>3,000 N</a:t>
                      </a:r>
                    </a:p>
                  </a:txBody>
                  <a:tcPr>
                    <a:solidFill>
                      <a:srgbClr val="F1F5F7"/>
                    </a:solidFill>
                  </a:tcPr>
                </a:tc>
                <a:tc>
                  <a:txBody>
                    <a:bodyPr/>
                    <a:lstStyle/>
                    <a:p>
                      <a:r>
                        <a:rPr sz="1875" b="0">
                          <a:solidFill>
                            <a:srgbClr val="253C4D"/>
                          </a:solidFill>
                          <a:latin typeface="Yu Gothic"/>
                          <a:ea typeface="Yu Gothic"/>
                          <a:cs typeface="Yu Gothic"/>
                        </a:rPr>
                        <a:t>600 N</a:t>
                      </a:r>
                    </a:p>
                  </a:txBody>
                  <a:tcPr>
                    <a:solidFill>
                      <a:srgbClr val="F1F5F7"/>
                    </a:solidFill>
                  </a:tcPr>
                </a:tc>
                <a:extLst>
                  <a:ext uri="{0D108BD9-81ED-4DB2-BD59-A6C34878D82A}">
                    <a16:rowId xmlns:a16="http://schemas.microsoft.com/office/drawing/2014/main" val="10001"/>
                  </a:ext>
                </a:extLst>
              </a:tr>
              <a:tr h="920750">
                <a:tc>
                  <a:txBody>
                    <a:bodyPr/>
                    <a:lstStyle/>
                    <a:p>
                      <a:r>
                        <a:rPr sz="1875" b="0">
                          <a:solidFill>
                            <a:srgbClr val="253C4D"/>
                          </a:solidFill>
                          <a:latin typeface="Yu Gothic"/>
                          <a:ea typeface="Yu Gothic"/>
                          <a:cs typeface="Yu Gothic"/>
                        </a:rPr>
                        <a:t>B</a:t>
                      </a:r>
                    </a:p>
                  </a:txBody>
                  <a:tcPr>
                    <a:solidFill>
                      <a:srgbClr val="FFFFFF"/>
                    </a:solidFill>
                  </a:tcPr>
                </a:tc>
                <a:tc>
                  <a:txBody>
                    <a:bodyPr/>
                    <a:lstStyle/>
                    <a:p>
                      <a:r>
                        <a:rPr sz="1875" b="0">
                          <a:solidFill>
                            <a:srgbClr val="253C4D"/>
                          </a:solidFill>
                          <a:latin typeface="Yu Gothic"/>
                          <a:ea typeface="Yu Gothic"/>
                          <a:cs typeface="Yu Gothic"/>
                        </a:rPr>
                        <a:t>3,500 N</a:t>
                      </a:r>
                    </a:p>
                  </a:txBody>
                  <a:tcPr>
                    <a:solidFill>
                      <a:srgbClr val="FFFFFF"/>
                    </a:solidFill>
                  </a:tcPr>
                </a:tc>
                <a:tc>
                  <a:txBody>
                    <a:bodyPr/>
                    <a:lstStyle/>
                    <a:p>
                      <a:r>
                        <a:rPr sz="1875" b="0">
                          <a:solidFill>
                            <a:srgbClr val="253C4D"/>
                          </a:solidFill>
                          <a:latin typeface="Yu Gothic"/>
                          <a:ea typeface="Yu Gothic"/>
                          <a:cs typeface="Yu Gothic"/>
                        </a:rPr>
                        <a:t>2,800 N</a:t>
                      </a:r>
                    </a:p>
                  </a:txBody>
                  <a:tcPr>
                    <a:solidFill>
                      <a:srgbClr val="FFFFFF"/>
                    </a:solidFill>
                  </a:tcPr>
                </a:tc>
                <a:extLst>
                  <a:ext uri="{0D108BD9-81ED-4DB2-BD59-A6C34878D82A}">
                    <a16:rowId xmlns:a16="http://schemas.microsoft.com/office/drawing/2014/main" val="10002"/>
                  </a:ext>
                </a:extLst>
              </a:tr>
            </a:tbl>
          </a:graphicData>
        </a:graphic>
      </p:graphicFrame>
      <p:sp>
        <p:nvSpPr>
          <p:cNvPr id="6" name="正方形/長方形 5">
            <a:extLst>
              <a:ext uri="{FF2B5EF4-FFF2-40B4-BE49-F238E27FC236}">
                <a16:creationId xmlns:a16="http://schemas.microsoft.com/office/drawing/2014/main" id="{65E8AFDB-6973-4B4B-A021-5D6E5376B9E3}"/>
              </a:ext>
            </a:extLst>
          </p:cNvPr>
          <p:cNvSpPr>
            <a:spLocks noGrp="1"/>
          </p:cNvSpPr>
          <p:nvPr/>
        </p:nvSpPr>
        <p:spPr>
          <a:xfrm>
            <a:off x="838200" y="5838825"/>
            <a:ext cx="10477500" cy="381000"/>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幅20 mm×重ね長さ25 mm。銘柄の実測値・製品保証値ではない。</a:t>
            </a:r>
          </a:p>
        </p:txBody>
      </p:sp>
      <p:sp>
        <p:nvSpPr>
          <p:cNvPr id="7" name="正方形/長方形 6">
            <a:extLst>
              <a:ext uri="{FF2B5EF4-FFF2-40B4-BE49-F238E27FC236}">
                <a16:creationId xmlns:a16="http://schemas.microsoft.com/office/drawing/2014/main" id="{25F0D4D8-E42D-4E79-982D-74DA4B356C9C}"/>
              </a:ext>
            </a:extLst>
          </p:cNvPr>
          <p:cNvSpPr>
            <a:spLocks noGrp="1"/>
          </p:cNvSpPr>
          <p:nvPr/>
        </p:nvSpPr>
        <p:spPr>
          <a:xfrm>
            <a:off x="838200" y="1457325"/>
            <a:ext cx="10477500" cy="400050"/>
          </a:xfrm>
          <a:prstGeom prst="rect">
            <a:avLst/>
          </a:prstGeom>
          <a:noFill/>
          <a:ln w="0">
            <a:noFill/>
          </a:ln>
        </p:spPr>
        <p:txBody>
          <a:bodyPr lIns="0" tIns="0" rIns="0" bIns="0" anchor="ctr">
            <a:noAutofit/>
          </a:bodyPr>
          <a:lstStyle>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① 接着面積と、A・Bの乾燥／湿潤後のτ平均を求める</a:t>
            </a:r>
          </a:p>
        </p:txBody>
      </p:sp>
      <p:sp>
        <p:nvSpPr>
          <p:cNvPr id="8" name="正方形/長方形 7">
            <a:extLst>
              <a:ext uri="{FF2B5EF4-FFF2-40B4-BE49-F238E27FC236}">
                <a16:creationId xmlns:a16="http://schemas.microsoft.com/office/drawing/2014/main" id="{D9A4B2C0-A0BD-4BF1-B142-4DD378F26385}"/>
              </a:ext>
            </a:extLst>
          </p:cNvPr>
          <p:cNvSpPr>
            <a:spLocks noGrp="1"/>
          </p:cNvSpPr>
          <p:nvPr/>
        </p:nvSpPr>
        <p:spPr>
          <a:xfrm>
            <a:off x="838200" y="1876425"/>
            <a:ext cx="10477500" cy="400050"/>
          </a:xfrm>
          <a:prstGeom prst="rect">
            <a:avLst/>
          </a:prstGeom>
          <a:noFill/>
          <a:ln w="0">
            <a:noFill/>
          </a:ln>
        </p:spPr>
        <p:txBody>
          <a:bodyPr lIns="0" tIns="0" rIns="0" bIns="0" anchor="ctr">
            <a:noAutofit/>
          </a:bodyPr>
          <a:lstStyle>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② 荷重の保持率　③ 構造用途への採用を判断できるか</a:t>
            </a:r>
          </a:p>
        </p:txBody>
      </p:sp>
    </p:spTree>
    <p:extLst>
      <p:ext uri="{BB962C8B-B14F-4D97-AF65-F5344CB8AC3E}">
        <p14:creationId xmlns:p14="http://schemas.microsoft.com/office/powerpoint/2010/main" val="1681472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C54A4F-777D-4140-B59E-50983DB7F73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接着演習</a:t>
            </a:r>
            <a:r>
              <a:rPr lang="en-US" altLang="ja-JP" sz="3000" b="1">
                <a:solidFill>
                  <a:srgbClr val="18364F"/>
                </a:solidFill>
                <a:latin typeface="Yu Gothic"/>
                <a:ea typeface="Yu Gothic"/>
                <a:cs typeface="Yu Gothic"/>
              </a:rPr>
              <a:t>1</a:t>
            </a:r>
            <a:r>
              <a:rPr lang="ja-JP" altLang="en-US" sz="3000" b="1">
                <a:solidFill>
                  <a:srgbClr val="18364F"/>
                </a:solidFill>
                <a:latin typeface="Yu Gothic"/>
                <a:ea typeface="Yu Gothic"/>
                <a:cs typeface="Yu Gothic"/>
              </a:rPr>
              <a:t>の解説</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7EDAAB0C-83FC-4E50-A3AF-447C9926B140}"/>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8719DF8-B135-4C88-9BC2-84019B1D3409}"/>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FF9FC84-58BC-478F-B5CD-9F2EB65B975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21</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8E25B899-4B58-4A10-9B08-763D4C02DDA9}"/>
              </a:ext>
            </a:extLst>
          </p:cNvPr>
          <p:cNvGraphicFramePr/>
          <p:nvPr/>
        </p:nvGraphicFramePr>
        <p:xfrm>
          <a:off x="838200" y="1952625"/>
          <a:ext cx="10477500" cy="3238500"/>
        </p:xfrm>
        <a:graphic>
          <a:graphicData uri="http://schemas.openxmlformats.org/drawingml/2006/table">
            <a:tbl>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09625">
                <a:tc>
                  <a:txBody>
                    <a:bodyPr/>
                    <a:lstStyle/>
                    <a:p>
                      <a:r>
                        <a:rPr sz="1875" b="1">
                          <a:solidFill>
                            <a:srgbClr val="FFFFFF"/>
                          </a:solidFill>
                          <a:latin typeface="Yu Gothic"/>
                          <a:ea typeface="Yu Gothic"/>
                          <a:cs typeface="Yu Gothic"/>
                        </a:rPr>
                        <a:t>結果</a:t>
                      </a:r>
                    </a:p>
                  </a:txBody>
                  <a:tcPr>
                    <a:solidFill>
                      <a:srgbClr val="18364F"/>
                    </a:solidFill>
                  </a:tcPr>
                </a:tc>
                <a:tc>
                  <a:txBody>
                    <a:bodyPr/>
                    <a:lstStyle/>
                    <a:p>
                      <a:r>
                        <a:rPr sz="1875" b="1">
                          <a:solidFill>
                            <a:srgbClr val="FFFFFF"/>
                          </a:solidFill>
                          <a:latin typeface="Yu Gothic"/>
                          <a:ea typeface="Yu Gothic"/>
                          <a:cs typeface="Yu Gothic"/>
                        </a:rPr>
                        <a:t>A</a:t>
                      </a:r>
                    </a:p>
                  </a:txBody>
                  <a:tcPr>
                    <a:solidFill>
                      <a:srgbClr val="18364F"/>
                    </a:solidFill>
                  </a:tcPr>
                </a:tc>
                <a:tc>
                  <a:txBody>
                    <a:bodyPr/>
                    <a:lstStyle/>
                    <a:p>
                      <a:r>
                        <a:rPr sz="1875" b="1">
                          <a:solidFill>
                            <a:srgbClr val="FFFFFF"/>
                          </a:solidFill>
                          <a:latin typeface="Yu Gothic"/>
                          <a:ea typeface="Yu Gothic"/>
                          <a:cs typeface="Yu Gothic"/>
                        </a:rPr>
                        <a:t>B</a:t>
                      </a:r>
                    </a:p>
                  </a:txBody>
                  <a:tcPr>
                    <a:solidFill>
                      <a:srgbClr val="18364F"/>
                    </a:solidFill>
                  </a:tcPr>
                </a:tc>
                <a:extLst>
                  <a:ext uri="{0D108BD9-81ED-4DB2-BD59-A6C34878D82A}">
                    <a16:rowId xmlns:a16="http://schemas.microsoft.com/office/drawing/2014/main" val="10000"/>
                  </a:ext>
                </a:extLst>
              </a:tr>
              <a:tr h="809625">
                <a:tc>
                  <a:txBody>
                    <a:bodyPr/>
                    <a:lstStyle/>
                    <a:p>
                      <a:r>
                        <a:rPr sz="1875" b="0">
                          <a:solidFill>
                            <a:srgbClr val="253C4D"/>
                          </a:solidFill>
                          <a:latin typeface="Yu Gothic"/>
                          <a:ea typeface="Yu Gothic"/>
                          <a:cs typeface="Yu Gothic"/>
                        </a:rPr>
                        <a:t>乾燥時／MPa</a:t>
                      </a:r>
                    </a:p>
                  </a:txBody>
                  <a:tcPr>
                    <a:solidFill>
                      <a:srgbClr val="F1F5F7"/>
                    </a:solidFill>
                  </a:tcPr>
                </a:tc>
                <a:tc>
                  <a:txBody>
                    <a:bodyPr/>
                    <a:lstStyle/>
                    <a:p>
                      <a:r>
                        <a:rPr sz="1875" b="0">
                          <a:solidFill>
                            <a:srgbClr val="253C4D"/>
                          </a:solidFill>
                          <a:latin typeface="Yu Gothic"/>
                          <a:ea typeface="Yu Gothic"/>
                          <a:cs typeface="Yu Gothic"/>
                        </a:rPr>
                        <a:t>6.0</a:t>
                      </a:r>
                    </a:p>
                  </a:txBody>
                  <a:tcPr>
                    <a:solidFill>
                      <a:srgbClr val="F1F5F7"/>
                    </a:solidFill>
                  </a:tcPr>
                </a:tc>
                <a:tc>
                  <a:txBody>
                    <a:bodyPr/>
                    <a:lstStyle/>
                    <a:p>
                      <a:r>
                        <a:rPr sz="1875" b="0">
                          <a:solidFill>
                            <a:srgbClr val="253C4D"/>
                          </a:solidFill>
                          <a:latin typeface="Yu Gothic"/>
                          <a:ea typeface="Yu Gothic"/>
                          <a:cs typeface="Yu Gothic"/>
                        </a:rPr>
                        <a:t>7.0</a:t>
                      </a:r>
                    </a:p>
                  </a:txBody>
                  <a:tcPr>
                    <a:solidFill>
                      <a:srgbClr val="F1F5F7"/>
                    </a:solidFill>
                  </a:tcPr>
                </a:tc>
                <a:extLst>
                  <a:ext uri="{0D108BD9-81ED-4DB2-BD59-A6C34878D82A}">
                    <a16:rowId xmlns:a16="http://schemas.microsoft.com/office/drawing/2014/main" val="10001"/>
                  </a:ext>
                </a:extLst>
              </a:tr>
              <a:tr h="809625">
                <a:tc>
                  <a:txBody>
                    <a:bodyPr/>
                    <a:lstStyle/>
                    <a:p>
                      <a:r>
                        <a:rPr sz="1875" b="0">
                          <a:solidFill>
                            <a:srgbClr val="253C4D"/>
                          </a:solidFill>
                          <a:latin typeface="Yu Gothic"/>
                          <a:ea typeface="Yu Gothic"/>
                          <a:cs typeface="Yu Gothic"/>
                        </a:rPr>
                        <a:t>湿潤後／MPa</a:t>
                      </a:r>
                    </a:p>
                  </a:txBody>
                  <a:tcPr>
                    <a:solidFill>
                      <a:srgbClr val="FFFFFF"/>
                    </a:solidFill>
                  </a:tcPr>
                </a:tc>
                <a:tc>
                  <a:txBody>
                    <a:bodyPr/>
                    <a:lstStyle/>
                    <a:p>
                      <a:r>
                        <a:rPr sz="1875" b="0">
                          <a:solidFill>
                            <a:srgbClr val="253C4D"/>
                          </a:solidFill>
                          <a:latin typeface="Yu Gothic"/>
                          <a:ea typeface="Yu Gothic"/>
                          <a:cs typeface="Yu Gothic"/>
                        </a:rPr>
                        <a:t>1.2</a:t>
                      </a:r>
                    </a:p>
                  </a:txBody>
                  <a:tcPr>
                    <a:solidFill>
                      <a:srgbClr val="FFFFFF"/>
                    </a:solidFill>
                  </a:tcPr>
                </a:tc>
                <a:tc>
                  <a:txBody>
                    <a:bodyPr/>
                    <a:lstStyle/>
                    <a:p>
                      <a:r>
                        <a:rPr sz="1875" b="0">
                          <a:solidFill>
                            <a:srgbClr val="253C4D"/>
                          </a:solidFill>
                          <a:latin typeface="Yu Gothic"/>
                          <a:ea typeface="Yu Gothic"/>
                          <a:cs typeface="Yu Gothic"/>
                        </a:rPr>
                        <a:t>5.6</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53C4D"/>
                          </a:solidFill>
                          <a:latin typeface="Yu Gothic"/>
                          <a:ea typeface="Yu Gothic"/>
                          <a:cs typeface="Yu Gothic"/>
                        </a:rPr>
                        <a:t>保持率</a:t>
                      </a:r>
                    </a:p>
                  </a:txBody>
                  <a:tcPr>
                    <a:solidFill>
                      <a:srgbClr val="F1F5F7"/>
                    </a:solidFill>
                  </a:tcPr>
                </a:tc>
                <a:tc>
                  <a:txBody>
                    <a:bodyPr/>
                    <a:lstStyle/>
                    <a:p>
                      <a:r>
                        <a:rPr sz="1875" b="0">
                          <a:solidFill>
                            <a:srgbClr val="253C4D"/>
                          </a:solidFill>
                          <a:latin typeface="Yu Gothic"/>
                          <a:ea typeface="Yu Gothic"/>
                          <a:cs typeface="Yu Gothic"/>
                        </a:rPr>
                        <a:t>20%</a:t>
                      </a:r>
                    </a:p>
                  </a:txBody>
                  <a:tcPr>
                    <a:solidFill>
                      <a:srgbClr val="F1F5F7"/>
                    </a:solidFill>
                  </a:tcPr>
                </a:tc>
                <a:tc>
                  <a:txBody>
                    <a:bodyPr/>
                    <a:lstStyle/>
                    <a:p>
                      <a:r>
                        <a:rPr sz="1875" b="0">
                          <a:solidFill>
                            <a:srgbClr val="253C4D"/>
                          </a:solidFill>
                          <a:latin typeface="Yu Gothic"/>
                          <a:ea typeface="Yu Gothic"/>
                          <a:cs typeface="Yu Gothic"/>
                        </a:rPr>
                        <a:t>80%</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CEF8577C-B079-4986-BDC3-72AE8CB28A33}"/>
              </a:ext>
            </a:extLst>
          </p:cNvPr>
          <p:cNvSpPr>
            <a:spLocks noGrp="1"/>
          </p:cNvSpPr>
          <p:nvPr/>
        </p:nvSpPr>
        <p:spPr>
          <a:xfrm>
            <a:off x="838200" y="5838825"/>
            <a:ext cx="10477500" cy="381000"/>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初期強度、保持率、必要な絶対性能を分けて読む。</a:t>
            </a:r>
          </a:p>
        </p:txBody>
      </p:sp>
    </p:spTree>
    <p:extLst>
      <p:ext uri="{BB962C8B-B14F-4D97-AF65-F5344CB8AC3E}">
        <p14:creationId xmlns:p14="http://schemas.microsoft.com/office/powerpoint/2010/main" val="4145403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8F5ED50-8248-493A-A7E3-78234065A77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接着部から、木質材料の構成へ</a:t>
            </a:r>
          </a:p>
        </p:txBody>
      </p:sp>
      <p:sp>
        <p:nvSpPr>
          <p:cNvPr id="2" name="正方形/長方形 1">
            <a:extLst>
              <a:ext uri="{FF2B5EF4-FFF2-40B4-BE49-F238E27FC236}">
                <a16:creationId xmlns:a16="http://schemas.microsoft.com/office/drawing/2014/main" id="{BF7DCFA0-0678-473A-9818-4E1AFA604D51}"/>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0373AB6F-08A3-489E-9749-8F85DD55441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03B0E01-87DC-4E78-B5BE-474643CBEA3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3649D766-F39E-414F-9A93-0CD7E791A5FD}"/>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健全な接着部が、要素間で力を伝える</a:t>
            </a:r>
          </a:p>
        </p:txBody>
      </p:sp>
      <p:sp>
        <p:nvSpPr>
          <p:cNvPr id="6" name="正方形/長方形 5">
            <a:extLst>
              <a:ext uri="{FF2B5EF4-FFF2-40B4-BE49-F238E27FC236}">
                <a16:creationId xmlns:a16="http://schemas.microsoft.com/office/drawing/2014/main" id="{89A0D570-A765-42A4-A10E-02FA48CD4FE2}"/>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要素の大きさと向きにより、性質を調整する</a:t>
            </a:r>
          </a:p>
        </p:txBody>
      </p:sp>
      <p:sp>
        <p:nvSpPr>
          <p:cNvPr id="7" name="正方形/長方形 6">
            <a:extLst>
              <a:ext uri="{FF2B5EF4-FFF2-40B4-BE49-F238E27FC236}">
                <a16:creationId xmlns:a16="http://schemas.microsoft.com/office/drawing/2014/main" id="{BB0AB5EB-8D8B-43FD-A36F-36718066FF51}"/>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耐水接着と、材料全体の耐湿性を分けて読む</a:t>
            </a:r>
          </a:p>
        </p:txBody>
      </p:sp>
    </p:spTree>
    <p:extLst>
      <p:ext uri="{BB962C8B-B14F-4D97-AF65-F5344CB8AC3E}">
        <p14:creationId xmlns:p14="http://schemas.microsoft.com/office/powerpoint/2010/main" val="265991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CEB97184-A3A4-4DA4-8719-90EA57A6FFB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木質材料を比べる二つの軸</a:t>
            </a:r>
          </a:p>
        </p:txBody>
      </p:sp>
      <p:sp>
        <p:nvSpPr>
          <p:cNvPr id="2" name="正方形/長方形 1">
            <a:extLst>
              <a:ext uri="{FF2B5EF4-FFF2-40B4-BE49-F238E27FC236}">
                <a16:creationId xmlns:a16="http://schemas.microsoft.com/office/drawing/2014/main" id="{A5C4DBB9-D8DF-42C5-BA6D-AFF3F946C73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D4121C7-298C-4FE5-A2E3-12C2D1C0C91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C42FB0B8-B34C-44BE-BDF8-109F533C7BA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23</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5097DFD6-01B6-4CAA-970E-E2E110F430B4}"/>
              </a:ext>
            </a:extLst>
          </p:cNvPr>
          <p:cNvGraphicFramePr/>
          <p:nvPr/>
        </p:nvGraphicFramePr>
        <p:xfrm>
          <a:off x="838200" y="1952625"/>
          <a:ext cx="10477500" cy="3238500"/>
        </p:xfrm>
        <a:graphic>
          <a:graphicData uri="http://schemas.openxmlformats.org/drawingml/2006/table">
            <a:tbl>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09625">
                <a:tc>
                  <a:txBody>
                    <a:bodyPr/>
                    <a:lstStyle/>
                    <a:p>
                      <a:r>
                        <a:rPr sz="1875" b="1">
                          <a:solidFill>
                            <a:srgbClr val="FFFFFF"/>
                          </a:solidFill>
                          <a:latin typeface="Yu Gothic"/>
                          <a:ea typeface="Yu Gothic"/>
                          <a:cs typeface="Yu Gothic"/>
                        </a:rPr>
                        <a:t>要素</a:t>
                      </a:r>
                    </a:p>
                  </a:txBody>
                  <a:tcPr>
                    <a:solidFill>
                      <a:srgbClr val="18364F"/>
                    </a:solidFill>
                  </a:tcPr>
                </a:tc>
                <a:tc>
                  <a:txBody>
                    <a:bodyPr/>
                    <a:lstStyle/>
                    <a:p>
                      <a:r>
                        <a:rPr sz="1875" b="1">
                          <a:solidFill>
                            <a:srgbClr val="FFFFFF"/>
                          </a:solidFill>
                          <a:latin typeface="Yu Gothic"/>
                          <a:ea typeface="Yu Gothic"/>
                          <a:cs typeface="Yu Gothic"/>
                        </a:rPr>
                        <a:t>例</a:t>
                      </a:r>
                    </a:p>
                  </a:txBody>
                  <a:tcPr>
                    <a:solidFill>
                      <a:srgbClr val="18364F"/>
                    </a:solidFill>
                  </a:tcPr>
                </a:tc>
                <a:tc>
                  <a:txBody>
                    <a:bodyPr/>
                    <a:lstStyle/>
                    <a:p>
                      <a:r>
                        <a:rPr sz="1875" b="1">
                          <a:solidFill>
                            <a:srgbClr val="FFFFFF"/>
                          </a:solidFill>
                          <a:latin typeface="Yu Gothic"/>
                          <a:ea typeface="Yu Gothic"/>
                          <a:cs typeface="Yu Gothic"/>
                        </a:rPr>
                        <a:t>配向の見方</a:t>
                      </a:r>
                    </a:p>
                  </a:txBody>
                  <a:tcPr>
                    <a:solidFill>
                      <a:srgbClr val="18364F"/>
                    </a:solidFill>
                  </a:tcPr>
                </a:tc>
                <a:extLst>
                  <a:ext uri="{0D108BD9-81ED-4DB2-BD59-A6C34878D82A}">
                    <a16:rowId xmlns:a16="http://schemas.microsoft.com/office/drawing/2014/main" val="10000"/>
                  </a:ext>
                </a:extLst>
              </a:tr>
              <a:tr h="809625">
                <a:tc>
                  <a:txBody>
                    <a:bodyPr/>
                    <a:lstStyle/>
                    <a:p>
                      <a:r>
                        <a:rPr sz="1875" b="0">
                          <a:solidFill>
                            <a:srgbClr val="253C4D"/>
                          </a:solidFill>
                          <a:latin typeface="Yu Gothic"/>
                          <a:ea typeface="Yu Gothic"/>
                          <a:cs typeface="Yu Gothic"/>
                        </a:rPr>
                        <a:t>単板</a:t>
                      </a:r>
                    </a:p>
                  </a:txBody>
                  <a:tcPr>
                    <a:solidFill>
                      <a:srgbClr val="F1F5F7"/>
                    </a:solidFill>
                  </a:tcPr>
                </a:tc>
                <a:tc>
                  <a:txBody>
                    <a:bodyPr/>
                    <a:lstStyle/>
                    <a:p>
                      <a:r>
                        <a:rPr sz="1875" b="0">
                          <a:solidFill>
                            <a:srgbClr val="253C4D"/>
                          </a:solidFill>
                          <a:latin typeface="Yu Gothic"/>
                          <a:ea typeface="Yu Gothic"/>
                          <a:cs typeface="Yu Gothic"/>
                        </a:rPr>
                        <a:t>合板・LVL</a:t>
                      </a:r>
                    </a:p>
                  </a:txBody>
                  <a:tcPr>
                    <a:solidFill>
                      <a:srgbClr val="F1F5F7"/>
                    </a:solidFill>
                  </a:tcPr>
                </a:tc>
                <a:tc>
                  <a:txBody>
                    <a:bodyPr/>
                    <a:lstStyle/>
                    <a:p>
                      <a:r>
                        <a:rPr sz="1875" b="0">
                          <a:solidFill>
                            <a:srgbClr val="253C4D"/>
                          </a:solidFill>
                          <a:latin typeface="Yu Gothic"/>
                          <a:ea typeface="Yu Gothic"/>
                          <a:cs typeface="Yu Gothic"/>
                        </a:rPr>
                        <a:t>交差／ほぼ平行</a:t>
                      </a:r>
                    </a:p>
                  </a:txBody>
                  <a:tcPr>
                    <a:solidFill>
                      <a:srgbClr val="F1F5F7"/>
                    </a:solidFill>
                  </a:tcPr>
                </a:tc>
                <a:extLst>
                  <a:ext uri="{0D108BD9-81ED-4DB2-BD59-A6C34878D82A}">
                    <a16:rowId xmlns:a16="http://schemas.microsoft.com/office/drawing/2014/main" val="10001"/>
                  </a:ext>
                </a:extLst>
              </a:tr>
              <a:tr h="809625">
                <a:tc>
                  <a:txBody>
                    <a:bodyPr/>
                    <a:lstStyle/>
                    <a:p>
                      <a:r>
                        <a:rPr sz="1875" b="0">
                          <a:solidFill>
                            <a:srgbClr val="253C4D"/>
                          </a:solidFill>
                          <a:latin typeface="Yu Gothic"/>
                          <a:ea typeface="Yu Gothic"/>
                          <a:cs typeface="Yu Gothic"/>
                        </a:rPr>
                        <a:t>小片・繊維</a:t>
                      </a:r>
                    </a:p>
                  </a:txBody>
                  <a:tcPr>
                    <a:solidFill>
                      <a:srgbClr val="FFFFFF"/>
                    </a:solidFill>
                  </a:tcPr>
                </a:tc>
                <a:tc>
                  <a:txBody>
                    <a:bodyPr/>
                    <a:lstStyle/>
                    <a:p>
                      <a:r>
                        <a:rPr sz="1875" b="0">
                          <a:solidFill>
                            <a:srgbClr val="253C4D"/>
                          </a:solidFill>
                          <a:latin typeface="Yu Gothic"/>
                          <a:ea typeface="Yu Gothic"/>
                          <a:cs typeface="Yu Gothic"/>
                        </a:rPr>
                        <a:t>PB・MDF等</a:t>
                      </a:r>
                    </a:p>
                  </a:txBody>
                  <a:tcPr>
                    <a:solidFill>
                      <a:srgbClr val="FFFFFF"/>
                    </a:solidFill>
                  </a:tcPr>
                </a:tc>
                <a:tc>
                  <a:txBody>
                    <a:bodyPr/>
                    <a:lstStyle/>
                    <a:p>
                      <a:r>
                        <a:rPr sz="1875" b="0">
                          <a:solidFill>
                            <a:srgbClr val="253C4D"/>
                          </a:solidFill>
                          <a:latin typeface="Yu Gothic"/>
                          <a:ea typeface="Yu Gothic"/>
                          <a:cs typeface="Yu Gothic"/>
                        </a:rPr>
                        <a:t>層構成、密度分布</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53C4D"/>
                          </a:solidFill>
                          <a:latin typeface="Yu Gothic"/>
                          <a:ea typeface="Yu Gothic"/>
                          <a:cs typeface="Yu Gothic"/>
                        </a:rPr>
                        <a:t>ストランド</a:t>
                      </a:r>
                    </a:p>
                  </a:txBody>
                  <a:tcPr>
                    <a:solidFill>
                      <a:srgbClr val="F1F5F7"/>
                    </a:solidFill>
                  </a:tcPr>
                </a:tc>
                <a:tc>
                  <a:txBody>
                    <a:bodyPr/>
                    <a:lstStyle/>
                    <a:p>
                      <a:r>
                        <a:rPr sz="1875" b="0">
                          <a:solidFill>
                            <a:srgbClr val="253C4D"/>
                          </a:solidFill>
                          <a:latin typeface="Yu Gothic"/>
                          <a:ea typeface="Yu Gothic"/>
                          <a:cs typeface="Yu Gothic"/>
                        </a:rPr>
                        <a:t>OSB</a:t>
                      </a:r>
                    </a:p>
                  </a:txBody>
                  <a:tcPr>
                    <a:solidFill>
                      <a:srgbClr val="F1F5F7"/>
                    </a:solidFill>
                  </a:tcPr>
                </a:tc>
                <a:tc>
                  <a:txBody>
                    <a:bodyPr/>
                    <a:lstStyle/>
                    <a:p>
                      <a:r>
                        <a:rPr sz="1875" b="0">
                          <a:solidFill>
                            <a:srgbClr val="253C4D"/>
                          </a:solidFill>
                          <a:latin typeface="Yu Gothic"/>
                          <a:ea typeface="Yu Gothic"/>
                          <a:cs typeface="Yu Gothic"/>
                        </a:rPr>
                        <a:t>層別の配向と主軸</a:t>
                      </a:r>
                    </a:p>
                  </a:txBody>
                  <a:tcPr>
                    <a:solidFill>
                      <a:srgbClr val="F1F5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0925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CC97E86-A714-440C-A94D-32985918921B}"/>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木質材料の構成と製法</a:t>
            </a:r>
          </a:p>
        </p:txBody>
      </p:sp>
      <p:cxnSp>
        <p:nvCxnSpPr>
          <p:cNvPr id="2" name="直線矢印コネクタ 1">
            <a:extLst>
              <a:ext uri="{FF2B5EF4-FFF2-40B4-BE49-F238E27FC236}">
                <a16:creationId xmlns:a16="http://schemas.microsoft.com/office/drawing/2014/main" id="{0EEBF9B6-A68F-4C68-9B1A-41323FFCFA0E}"/>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C33AAE66-8C09-40E6-A660-A4400F080258}"/>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985C17C6-F455-46CC-BD4F-05D350F3358C}"/>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12B5177-1565-485C-9D01-360504AC9446}"/>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単板、ひき板、小片、繊維など、原料の形を変えて再構成する</a:t>
            </a:r>
          </a:p>
        </p:txBody>
      </p:sp>
      <p:sp>
        <p:nvSpPr>
          <p:cNvPr id="6" name="正方形/長方形 5">
            <a:extLst>
              <a:ext uri="{FF2B5EF4-FFF2-40B4-BE49-F238E27FC236}">
                <a16:creationId xmlns:a16="http://schemas.microsoft.com/office/drawing/2014/main" id="{6BFEDFDA-F820-42C1-A24A-12FE459C78F9}"/>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節や寸法の制約を調整し、大きさ・形・方向別性能を設計する</a:t>
            </a:r>
          </a:p>
        </p:txBody>
      </p:sp>
      <p:sp>
        <p:nvSpPr>
          <p:cNvPr id="7" name="正方形/長方形 6">
            <a:extLst>
              <a:ext uri="{FF2B5EF4-FFF2-40B4-BE49-F238E27FC236}">
                <a16:creationId xmlns:a16="http://schemas.microsoft.com/office/drawing/2014/main" id="{5092D855-2144-4E14-97C1-80509BE62DD8}"/>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製造は原料調整、乾燥、配向・積層、接着、圧締・硬化などを含む</a:t>
            </a:r>
          </a:p>
        </p:txBody>
      </p:sp>
      <p:sp>
        <p:nvSpPr>
          <p:cNvPr id="8" name="正方形/長方形 7">
            <a:extLst>
              <a:ext uri="{FF2B5EF4-FFF2-40B4-BE49-F238E27FC236}">
                <a16:creationId xmlns:a16="http://schemas.microsoft.com/office/drawing/2014/main" id="{0B67E117-59DF-4936-8FE4-124DA6EF4522}"/>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接着品質と水分状態も、完成した材料の性能に関わる</a:t>
            </a:r>
          </a:p>
        </p:txBody>
      </p:sp>
      <p:sp>
        <p:nvSpPr>
          <p:cNvPr id="9" name="正方形/長方形 8">
            <a:extLst>
              <a:ext uri="{FF2B5EF4-FFF2-40B4-BE49-F238E27FC236}">
                <a16:creationId xmlns:a16="http://schemas.microsoft.com/office/drawing/2014/main" id="{062FE36F-A386-42FE-B74D-5F89F1575C60}"/>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無垢材との比較では、同じ用途と使用期間にそろえる</a:t>
            </a:r>
          </a:p>
        </p:txBody>
      </p:sp>
    </p:spTree>
    <p:extLst>
      <p:ext uri="{BB962C8B-B14F-4D97-AF65-F5344CB8AC3E}">
        <p14:creationId xmlns:p14="http://schemas.microsoft.com/office/powerpoint/2010/main" val="3895001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16CCD1F-59D7-45B4-9A00-4FB4886D87FC}"/>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単板の製造と合板</a:t>
            </a:r>
          </a:p>
        </p:txBody>
      </p:sp>
      <p:cxnSp>
        <p:nvCxnSpPr>
          <p:cNvPr id="2" name="直線矢印コネクタ 1">
            <a:extLst>
              <a:ext uri="{FF2B5EF4-FFF2-40B4-BE49-F238E27FC236}">
                <a16:creationId xmlns:a16="http://schemas.microsoft.com/office/drawing/2014/main" id="{7E39BBFA-9546-4179-840C-3BB0873E6507}"/>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FA11695E-519C-4CAF-A4F9-9E6630225EC3}"/>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03E234F-1F1D-415C-BE7B-28C935676318}"/>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9FBBA60-0512-4F9A-9A9D-DBADC8F95121}"/>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ロータリー切削は丸太を回して連続的な単板を得る方法</a:t>
            </a:r>
          </a:p>
        </p:txBody>
      </p:sp>
      <p:sp>
        <p:nvSpPr>
          <p:cNvPr id="6" name="正方形/長方形 5">
            <a:extLst>
              <a:ext uri="{FF2B5EF4-FFF2-40B4-BE49-F238E27FC236}">
                <a16:creationId xmlns:a16="http://schemas.microsoft.com/office/drawing/2014/main" id="{02E11022-BAB4-4B54-A1FC-37370B68A33E}"/>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スライスは刃で薄く切り出し、化粧用途などにも用いる</a:t>
            </a:r>
          </a:p>
        </p:txBody>
      </p:sp>
      <p:sp>
        <p:nvSpPr>
          <p:cNvPr id="7" name="正方形/長方形 6">
            <a:extLst>
              <a:ext uri="{FF2B5EF4-FFF2-40B4-BE49-F238E27FC236}">
                <a16:creationId xmlns:a16="http://schemas.microsoft.com/office/drawing/2014/main" id="{708C29F5-92A0-46BA-B0F2-4D1CF2C6850D}"/>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合板は、隣接単板の繊維方向を通常ほぼ直交させて積層する</a:t>
            </a:r>
          </a:p>
        </p:txBody>
      </p:sp>
      <p:sp>
        <p:nvSpPr>
          <p:cNvPr id="8" name="正方形/長方形 7">
            <a:extLst>
              <a:ext uri="{FF2B5EF4-FFF2-40B4-BE49-F238E27FC236}">
                <a16:creationId xmlns:a16="http://schemas.microsoft.com/office/drawing/2014/main" id="{42624DFE-5DD9-4B78-9152-951C412BDC0E}"/>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対称な層構成は、反りなどの寸法安定性を考えるうえで重要</a:t>
            </a:r>
          </a:p>
        </p:txBody>
      </p:sp>
      <p:sp>
        <p:nvSpPr>
          <p:cNvPr id="9" name="正方形/長方形 8">
            <a:extLst>
              <a:ext uri="{FF2B5EF4-FFF2-40B4-BE49-F238E27FC236}">
                <a16:creationId xmlns:a16="http://schemas.microsoft.com/office/drawing/2014/main" id="{04F876C5-6906-4D98-B305-AA84574447E1}"/>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表板の方向、単板の厚さ、層数で面内・面外の性能が変わる</a:t>
            </a:r>
          </a:p>
        </p:txBody>
      </p:sp>
    </p:spTree>
    <p:extLst>
      <p:ext uri="{BB962C8B-B14F-4D97-AF65-F5344CB8AC3E}">
        <p14:creationId xmlns:p14="http://schemas.microsoft.com/office/powerpoint/2010/main" val="1033365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483F075B-716F-44AA-AF3F-113A4D8164A9}"/>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合板の交差積層</a:t>
            </a:r>
          </a:p>
        </p:txBody>
      </p:sp>
      <p:cxnSp>
        <p:nvCxnSpPr>
          <p:cNvPr id="2" name="直線矢印コネクタ 1">
            <a:extLst>
              <a:ext uri="{FF2B5EF4-FFF2-40B4-BE49-F238E27FC236}">
                <a16:creationId xmlns:a16="http://schemas.microsoft.com/office/drawing/2014/main" id="{D85B7294-92B0-4A6D-8A30-344BB52536F6}"/>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E0B5F389-B9C3-4482-B90E-B8353B84B7E9}"/>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lang="ja-JP" altLang="en-US" sz="1425" b="0">
                <a:solidFill>
                  <a:srgbClr val="5D6C78"/>
                </a:solidFill>
                <a:latin typeface="Yu Gothic"/>
                <a:ea typeface="Yu Gothic"/>
                <a:cs typeface="Yu Gothic"/>
              </a:rPr>
              <a:t>木材及び木質材料学　新第</a:t>
            </a:r>
            <a:r>
              <a:rPr lang="en-US" altLang="ja-JP" sz="1425" b="0">
                <a:solidFill>
                  <a:srgbClr val="5D6C78"/>
                </a:solidFill>
                <a:latin typeface="Yu Gothic"/>
                <a:ea typeface="Yu Gothic"/>
                <a:cs typeface="Yu Gothic"/>
              </a:rPr>
              <a:t>13</a:t>
            </a:r>
            <a:r>
              <a:rPr lang="ja-JP" altLang="en-US" sz="1425" b="0">
                <a:solidFill>
                  <a:srgbClr val="5D6C78"/>
                </a:solidFill>
                <a:latin typeface="Yu Gothic"/>
                <a:ea typeface="Yu Gothic"/>
                <a:cs typeface="Yu Gothic"/>
              </a:rPr>
              <a:t>回　材料構成</a:t>
            </a:r>
            <a:endParaRPr sz="1425" b="0">
              <a:solidFill>
                <a:srgbClr val="5D6C78"/>
              </a:solidFill>
              <a:latin typeface="Yu Gothic"/>
              <a:ea typeface="Yu Gothic"/>
              <a:cs typeface="Yu Gothic"/>
            </a:endParaRPr>
          </a:p>
        </p:txBody>
      </p:sp>
      <p:sp>
        <p:nvSpPr>
          <p:cNvPr id="4" name="正方形/長方形 3">
            <a:extLst>
              <a:ext uri="{FF2B5EF4-FFF2-40B4-BE49-F238E27FC236}">
                <a16:creationId xmlns:a16="http://schemas.microsoft.com/office/drawing/2014/main" id="{0BF3E24C-F475-419A-8DB0-214AAE26889E}"/>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26</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276A6369-FE0A-487A-BDEB-8D28F29F5A5C}"/>
              </a:ext>
            </a:extLst>
          </p:cNvPr>
          <p:cNvSpPr>
            <a:spLocks noGrp="1"/>
          </p:cNvSpPr>
          <p:nvPr/>
        </p:nvSpPr>
        <p:spPr>
          <a:xfrm>
            <a:off x="1000125" y="2095500"/>
            <a:ext cx="5095875" cy="371475"/>
          </a:xfrm>
          <a:prstGeom prst="rect">
            <a:avLst/>
          </a:prstGeom>
          <a:solidFill>
            <a:srgbClr val="F5EFE4"/>
          </a:solidFill>
          <a:ln w="14288">
            <a:solidFill>
              <a:srgbClr val="C8D3DD"/>
            </a:solidFill>
          </a:ln>
        </p:spPr>
      </p:sp>
      <p:cxnSp>
        <p:nvCxnSpPr>
          <p:cNvPr id="6" name="直線矢印コネクタ 5">
            <a:extLst>
              <a:ext uri="{FF2B5EF4-FFF2-40B4-BE49-F238E27FC236}">
                <a16:creationId xmlns:a16="http://schemas.microsoft.com/office/drawing/2014/main" id="{9AF9328D-7F33-4A66-8BBE-D054E694C93F}"/>
              </a:ext>
            </a:extLst>
          </p:cNvPr>
          <p:cNvCxnSpPr/>
          <p:nvPr/>
        </p:nvCxnSpPr>
        <p:spPr>
          <a:xfrm>
            <a:off x="1190625" y="2171700"/>
            <a:ext cx="4714875" cy="0"/>
          </a:xfrm>
          <a:prstGeom prst="straightConnector1">
            <a:avLst/>
          </a:prstGeom>
          <a:ln w="17145">
            <a:solidFill>
              <a:srgbClr val="B55D09"/>
            </a:solidFill>
          </a:ln>
        </p:spPr>
      </p:cxnSp>
      <p:cxnSp>
        <p:nvCxnSpPr>
          <p:cNvPr id="7" name="直線矢印コネクタ 6">
            <a:extLst>
              <a:ext uri="{FF2B5EF4-FFF2-40B4-BE49-F238E27FC236}">
                <a16:creationId xmlns:a16="http://schemas.microsoft.com/office/drawing/2014/main" id="{DF6C374F-324A-4101-A478-0EB103943592}"/>
              </a:ext>
            </a:extLst>
          </p:cNvPr>
          <p:cNvCxnSpPr/>
          <p:nvPr/>
        </p:nvCxnSpPr>
        <p:spPr>
          <a:xfrm>
            <a:off x="1190625" y="2257425"/>
            <a:ext cx="4714875" cy="0"/>
          </a:xfrm>
          <a:prstGeom prst="straightConnector1">
            <a:avLst/>
          </a:prstGeom>
          <a:ln w="17145">
            <a:solidFill>
              <a:srgbClr val="B55D09"/>
            </a:solidFill>
          </a:ln>
        </p:spPr>
      </p:cxnSp>
      <p:cxnSp>
        <p:nvCxnSpPr>
          <p:cNvPr id="8" name="直線矢印コネクタ 7">
            <a:extLst>
              <a:ext uri="{FF2B5EF4-FFF2-40B4-BE49-F238E27FC236}">
                <a16:creationId xmlns:a16="http://schemas.microsoft.com/office/drawing/2014/main" id="{51716095-945B-486D-AE16-FF2BA6DC90C0}"/>
              </a:ext>
            </a:extLst>
          </p:cNvPr>
          <p:cNvCxnSpPr/>
          <p:nvPr/>
        </p:nvCxnSpPr>
        <p:spPr>
          <a:xfrm>
            <a:off x="1190625" y="2343150"/>
            <a:ext cx="4714875" cy="0"/>
          </a:xfrm>
          <a:prstGeom prst="straightConnector1">
            <a:avLst/>
          </a:prstGeom>
          <a:ln w="17145">
            <a:solidFill>
              <a:srgbClr val="B55D09"/>
            </a:solidFill>
          </a:ln>
        </p:spPr>
      </p:cxnSp>
      <p:sp>
        <p:nvSpPr>
          <p:cNvPr id="9" name="正方形/長方形 8">
            <a:extLst>
              <a:ext uri="{FF2B5EF4-FFF2-40B4-BE49-F238E27FC236}">
                <a16:creationId xmlns:a16="http://schemas.microsoft.com/office/drawing/2014/main" id="{A9A1FEBC-6BBA-4CF9-A9D0-00F602E73000}"/>
              </a:ext>
            </a:extLst>
          </p:cNvPr>
          <p:cNvSpPr>
            <a:spLocks noGrp="1"/>
          </p:cNvSpPr>
          <p:nvPr/>
        </p:nvSpPr>
        <p:spPr>
          <a:xfrm>
            <a:off x="1000125" y="2495550"/>
            <a:ext cx="5095875" cy="371475"/>
          </a:xfrm>
          <a:prstGeom prst="rect">
            <a:avLst/>
          </a:prstGeom>
          <a:solidFill>
            <a:srgbClr val="E7F0F6"/>
          </a:solidFill>
          <a:ln w="14288">
            <a:solidFill>
              <a:srgbClr val="C8D3DD"/>
            </a:solidFill>
          </a:ln>
        </p:spPr>
      </p:sp>
      <p:cxnSp>
        <p:nvCxnSpPr>
          <p:cNvPr id="10" name="直線矢印コネクタ 9">
            <a:extLst>
              <a:ext uri="{FF2B5EF4-FFF2-40B4-BE49-F238E27FC236}">
                <a16:creationId xmlns:a16="http://schemas.microsoft.com/office/drawing/2014/main" id="{55F12093-AB33-476C-9CD8-DA9D4A8F95E0}"/>
              </a:ext>
            </a:extLst>
          </p:cNvPr>
          <p:cNvCxnSpPr/>
          <p:nvPr/>
        </p:nvCxnSpPr>
        <p:spPr>
          <a:xfrm>
            <a:off x="1209675" y="2562225"/>
            <a:ext cx="0" cy="238125"/>
          </a:xfrm>
          <a:prstGeom prst="straightConnector1">
            <a:avLst/>
          </a:prstGeom>
          <a:ln w="19050">
            <a:solidFill>
              <a:srgbClr val="245C98"/>
            </a:solidFill>
          </a:ln>
        </p:spPr>
      </p:cxnSp>
      <p:cxnSp>
        <p:nvCxnSpPr>
          <p:cNvPr id="11" name="直線矢印コネクタ 10">
            <a:extLst>
              <a:ext uri="{FF2B5EF4-FFF2-40B4-BE49-F238E27FC236}">
                <a16:creationId xmlns:a16="http://schemas.microsoft.com/office/drawing/2014/main" id="{51FCFFA5-E732-4491-A9EB-7B2218809485}"/>
              </a:ext>
            </a:extLst>
          </p:cNvPr>
          <p:cNvCxnSpPr/>
          <p:nvPr/>
        </p:nvCxnSpPr>
        <p:spPr>
          <a:xfrm>
            <a:off x="1602581" y="2562225"/>
            <a:ext cx="0" cy="238125"/>
          </a:xfrm>
          <a:prstGeom prst="straightConnector1">
            <a:avLst/>
          </a:prstGeom>
          <a:ln w="19050">
            <a:solidFill>
              <a:srgbClr val="245C98"/>
            </a:solidFill>
          </a:ln>
        </p:spPr>
      </p:cxnSp>
      <p:cxnSp>
        <p:nvCxnSpPr>
          <p:cNvPr id="12" name="直線矢印コネクタ 11">
            <a:extLst>
              <a:ext uri="{FF2B5EF4-FFF2-40B4-BE49-F238E27FC236}">
                <a16:creationId xmlns:a16="http://schemas.microsoft.com/office/drawing/2014/main" id="{E0C05822-5F7C-4684-8C22-02AAC9C2E657}"/>
              </a:ext>
            </a:extLst>
          </p:cNvPr>
          <p:cNvCxnSpPr/>
          <p:nvPr/>
        </p:nvCxnSpPr>
        <p:spPr>
          <a:xfrm>
            <a:off x="1995488" y="2562225"/>
            <a:ext cx="0" cy="238125"/>
          </a:xfrm>
          <a:prstGeom prst="straightConnector1">
            <a:avLst/>
          </a:prstGeom>
          <a:ln w="19050">
            <a:solidFill>
              <a:srgbClr val="245C98"/>
            </a:solidFill>
          </a:ln>
        </p:spPr>
      </p:cxnSp>
      <p:cxnSp>
        <p:nvCxnSpPr>
          <p:cNvPr id="13" name="直線矢印コネクタ 12">
            <a:extLst>
              <a:ext uri="{FF2B5EF4-FFF2-40B4-BE49-F238E27FC236}">
                <a16:creationId xmlns:a16="http://schemas.microsoft.com/office/drawing/2014/main" id="{F0A0D2A1-DF3F-441A-B3D7-5EF001526E11}"/>
              </a:ext>
            </a:extLst>
          </p:cNvPr>
          <p:cNvCxnSpPr/>
          <p:nvPr/>
        </p:nvCxnSpPr>
        <p:spPr>
          <a:xfrm>
            <a:off x="2388394" y="2562225"/>
            <a:ext cx="0" cy="238125"/>
          </a:xfrm>
          <a:prstGeom prst="straightConnector1">
            <a:avLst/>
          </a:prstGeom>
          <a:ln w="19050">
            <a:solidFill>
              <a:srgbClr val="245C98"/>
            </a:solidFill>
          </a:ln>
        </p:spPr>
      </p:cxnSp>
      <p:cxnSp>
        <p:nvCxnSpPr>
          <p:cNvPr id="14" name="直線矢印コネクタ 13">
            <a:extLst>
              <a:ext uri="{FF2B5EF4-FFF2-40B4-BE49-F238E27FC236}">
                <a16:creationId xmlns:a16="http://schemas.microsoft.com/office/drawing/2014/main" id="{73A508F4-EA62-49A7-82C7-1FCE451F4BB5}"/>
              </a:ext>
            </a:extLst>
          </p:cNvPr>
          <p:cNvCxnSpPr/>
          <p:nvPr/>
        </p:nvCxnSpPr>
        <p:spPr>
          <a:xfrm>
            <a:off x="2781300" y="2562225"/>
            <a:ext cx="0" cy="238125"/>
          </a:xfrm>
          <a:prstGeom prst="straightConnector1">
            <a:avLst/>
          </a:prstGeom>
          <a:ln w="19050">
            <a:solidFill>
              <a:srgbClr val="245C98"/>
            </a:solidFill>
          </a:ln>
        </p:spPr>
      </p:cxnSp>
      <p:cxnSp>
        <p:nvCxnSpPr>
          <p:cNvPr id="15" name="直線矢印コネクタ 14">
            <a:extLst>
              <a:ext uri="{FF2B5EF4-FFF2-40B4-BE49-F238E27FC236}">
                <a16:creationId xmlns:a16="http://schemas.microsoft.com/office/drawing/2014/main" id="{F35B1BEC-23B3-4EC9-8E6A-74A6ECD2845F}"/>
              </a:ext>
            </a:extLst>
          </p:cNvPr>
          <p:cNvCxnSpPr/>
          <p:nvPr/>
        </p:nvCxnSpPr>
        <p:spPr>
          <a:xfrm>
            <a:off x="3174206" y="2562225"/>
            <a:ext cx="0" cy="238125"/>
          </a:xfrm>
          <a:prstGeom prst="straightConnector1">
            <a:avLst/>
          </a:prstGeom>
          <a:ln w="19050">
            <a:solidFill>
              <a:srgbClr val="245C98"/>
            </a:solidFill>
          </a:ln>
        </p:spPr>
      </p:cxnSp>
      <p:cxnSp>
        <p:nvCxnSpPr>
          <p:cNvPr id="16" name="直線矢印コネクタ 15">
            <a:extLst>
              <a:ext uri="{FF2B5EF4-FFF2-40B4-BE49-F238E27FC236}">
                <a16:creationId xmlns:a16="http://schemas.microsoft.com/office/drawing/2014/main" id="{8F6597C0-A607-4862-A587-06B002F72114}"/>
              </a:ext>
            </a:extLst>
          </p:cNvPr>
          <p:cNvCxnSpPr/>
          <p:nvPr/>
        </p:nvCxnSpPr>
        <p:spPr>
          <a:xfrm>
            <a:off x="3567113" y="2562225"/>
            <a:ext cx="0" cy="238125"/>
          </a:xfrm>
          <a:prstGeom prst="straightConnector1">
            <a:avLst/>
          </a:prstGeom>
          <a:ln w="19050">
            <a:solidFill>
              <a:srgbClr val="245C98"/>
            </a:solidFill>
          </a:ln>
        </p:spPr>
      </p:cxnSp>
      <p:cxnSp>
        <p:nvCxnSpPr>
          <p:cNvPr id="17" name="直線矢印コネクタ 16">
            <a:extLst>
              <a:ext uri="{FF2B5EF4-FFF2-40B4-BE49-F238E27FC236}">
                <a16:creationId xmlns:a16="http://schemas.microsoft.com/office/drawing/2014/main" id="{87B5A46F-86B2-45BF-A519-3815EF067F5F}"/>
              </a:ext>
            </a:extLst>
          </p:cNvPr>
          <p:cNvCxnSpPr/>
          <p:nvPr/>
        </p:nvCxnSpPr>
        <p:spPr>
          <a:xfrm>
            <a:off x="3960019" y="2562225"/>
            <a:ext cx="0" cy="238125"/>
          </a:xfrm>
          <a:prstGeom prst="straightConnector1">
            <a:avLst/>
          </a:prstGeom>
          <a:ln w="19050">
            <a:solidFill>
              <a:srgbClr val="245C98"/>
            </a:solidFill>
          </a:ln>
        </p:spPr>
      </p:cxnSp>
      <p:cxnSp>
        <p:nvCxnSpPr>
          <p:cNvPr id="18" name="直線矢印コネクタ 17">
            <a:extLst>
              <a:ext uri="{FF2B5EF4-FFF2-40B4-BE49-F238E27FC236}">
                <a16:creationId xmlns:a16="http://schemas.microsoft.com/office/drawing/2014/main" id="{7F9E2FA8-F4B6-432B-BEA7-32FBBCD11AF0}"/>
              </a:ext>
            </a:extLst>
          </p:cNvPr>
          <p:cNvCxnSpPr/>
          <p:nvPr/>
        </p:nvCxnSpPr>
        <p:spPr>
          <a:xfrm>
            <a:off x="4352925" y="2562225"/>
            <a:ext cx="0" cy="238125"/>
          </a:xfrm>
          <a:prstGeom prst="straightConnector1">
            <a:avLst/>
          </a:prstGeom>
          <a:ln w="19050">
            <a:solidFill>
              <a:srgbClr val="245C98"/>
            </a:solidFill>
          </a:ln>
        </p:spPr>
      </p:cxnSp>
      <p:cxnSp>
        <p:nvCxnSpPr>
          <p:cNvPr id="19" name="直線矢印コネクタ 18">
            <a:extLst>
              <a:ext uri="{FF2B5EF4-FFF2-40B4-BE49-F238E27FC236}">
                <a16:creationId xmlns:a16="http://schemas.microsoft.com/office/drawing/2014/main" id="{E65798E9-CA4F-4C35-9832-6193FC7452D1}"/>
              </a:ext>
            </a:extLst>
          </p:cNvPr>
          <p:cNvCxnSpPr/>
          <p:nvPr/>
        </p:nvCxnSpPr>
        <p:spPr>
          <a:xfrm>
            <a:off x="4745831" y="2562225"/>
            <a:ext cx="0" cy="238125"/>
          </a:xfrm>
          <a:prstGeom prst="straightConnector1">
            <a:avLst/>
          </a:prstGeom>
          <a:ln w="19050">
            <a:solidFill>
              <a:srgbClr val="245C98"/>
            </a:solidFill>
          </a:ln>
        </p:spPr>
      </p:cxnSp>
      <p:cxnSp>
        <p:nvCxnSpPr>
          <p:cNvPr id="20" name="直線矢印コネクタ 19">
            <a:extLst>
              <a:ext uri="{FF2B5EF4-FFF2-40B4-BE49-F238E27FC236}">
                <a16:creationId xmlns:a16="http://schemas.microsoft.com/office/drawing/2014/main" id="{2C7D481C-E422-447E-B7A9-CCF5194F1A5A}"/>
              </a:ext>
            </a:extLst>
          </p:cNvPr>
          <p:cNvCxnSpPr/>
          <p:nvPr/>
        </p:nvCxnSpPr>
        <p:spPr>
          <a:xfrm>
            <a:off x="5138738" y="2562225"/>
            <a:ext cx="0" cy="238125"/>
          </a:xfrm>
          <a:prstGeom prst="straightConnector1">
            <a:avLst/>
          </a:prstGeom>
          <a:ln w="19050">
            <a:solidFill>
              <a:srgbClr val="245C98"/>
            </a:solidFill>
          </a:ln>
        </p:spPr>
      </p:cxnSp>
      <p:cxnSp>
        <p:nvCxnSpPr>
          <p:cNvPr id="21" name="直線矢印コネクタ 20">
            <a:extLst>
              <a:ext uri="{FF2B5EF4-FFF2-40B4-BE49-F238E27FC236}">
                <a16:creationId xmlns:a16="http://schemas.microsoft.com/office/drawing/2014/main" id="{53D6D708-527C-430B-B6B6-39DF92EC8140}"/>
              </a:ext>
            </a:extLst>
          </p:cNvPr>
          <p:cNvCxnSpPr/>
          <p:nvPr/>
        </p:nvCxnSpPr>
        <p:spPr>
          <a:xfrm>
            <a:off x="5531644" y="2562225"/>
            <a:ext cx="0" cy="238125"/>
          </a:xfrm>
          <a:prstGeom prst="straightConnector1">
            <a:avLst/>
          </a:prstGeom>
          <a:ln w="19050">
            <a:solidFill>
              <a:srgbClr val="245C98"/>
            </a:solidFill>
          </a:ln>
        </p:spPr>
      </p:cxnSp>
      <p:sp>
        <p:nvSpPr>
          <p:cNvPr id="22" name="正方形/長方形 21">
            <a:extLst>
              <a:ext uri="{FF2B5EF4-FFF2-40B4-BE49-F238E27FC236}">
                <a16:creationId xmlns:a16="http://schemas.microsoft.com/office/drawing/2014/main" id="{1A9BC646-A37F-4987-95EC-BA857369E71E}"/>
              </a:ext>
            </a:extLst>
          </p:cNvPr>
          <p:cNvSpPr>
            <a:spLocks noGrp="1"/>
          </p:cNvSpPr>
          <p:nvPr/>
        </p:nvSpPr>
        <p:spPr>
          <a:xfrm>
            <a:off x="1000125" y="2895600"/>
            <a:ext cx="5095875" cy="371475"/>
          </a:xfrm>
          <a:prstGeom prst="rect">
            <a:avLst/>
          </a:prstGeom>
          <a:solidFill>
            <a:srgbClr val="F5EFE4"/>
          </a:solidFill>
          <a:ln w="14288">
            <a:solidFill>
              <a:srgbClr val="C8D3DD"/>
            </a:solidFill>
          </a:ln>
        </p:spPr>
      </p:sp>
      <p:cxnSp>
        <p:nvCxnSpPr>
          <p:cNvPr id="23" name="直線矢印コネクタ 22">
            <a:extLst>
              <a:ext uri="{FF2B5EF4-FFF2-40B4-BE49-F238E27FC236}">
                <a16:creationId xmlns:a16="http://schemas.microsoft.com/office/drawing/2014/main" id="{422E9502-6A45-45EE-9B38-E3B89DEA90FF}"/>
              </a:ext>
            </a:extLst>
          </p:cNvPr>
          <p:cNvCxnSpPr/>
          <p:nvPr/>
        </p:nvCxnSpPr>
        <p:spPr>
          <a:xfrm>
            <a:off x="1190625" y="2971800"/>
            <a:ext cx="4714875" cy="0"/>
          </a:xfrm>
          <a:prstGeom prst="straightConnector1">
            <a:avLst/>
          </a:prstGeom>
          <a:ln w="17145">
            <a:solidFill>
              <a:srgbClr val="B55D09"/>
            </a:solidFill>
          </a:ln>
        </p:spPr>
      </p:cxnSp>
      <p:cxnSp>
        <p:nvCxnSpPr>
          <p:cNvPr id="24" name="直線矢印コネクタ 23">
            <a:extLst>
              <a:ext uri="{FF2B5EF4-FFF2-40B4-BE49-F238E27FC236}">
                <a16:creationId xmlns:a16="http://schemas.microsoft.com/office/drawing/2014/main" id="{965DAFC8-8CB8-4D22-8ADB-6F27181CBCFF}"/>
              </a:ext>
            </a:extLst>
          </p:cNvPr>
          <p:cNvCxnSpPr/>
          <p:nvPr/>
        </p:nvCxnSpPr>
        <p:spPr>
          <a:xfrm>
            <a:off x="1190625" y="3057525"/>
            <a:ext cx="4714875" cy="0"/>
          </a:xfrm>
          <a:prstGeom prst="straightConnector1">
            <a:avLst/>
          </a:prstGeom>
          <a:ln w="17145">
            <a:solidFill>
              <a:srgbClr val="B55D09"/>
            </a:solidFill>
          </a:ln>
        </p:spPr>
      </p:cxnSp>
      <p:cxnSp>
        <p:nvCxnSpPr>
          <p:cNvPr id="25" name="直線矢印コネクタ 24">
            <a:extLst>
              <a:ext uri="{FF2B5EF4-FFF2-40B4-BE49-F238E27FC236}">
                <a16:creationId xmlns:a16="http://schemas.microsoft.com/office/drawing/2014/main" id="{478C5722-9148-46A7-8513-6E834150185E}"/>
              </a:ext>
            </a:extLst>
          </p:cNvPr>
          <p:cNvCxnSpPr/>
          <p:nvPr/>
        </p:nvCxnSpPr>
        <p:spPr>
          <a:xfrm>
            <a:off x="1190625" y="3143250"/>
            <a:ext cx="4714875" cy="0"/>
          </a:xfrm>
          <a:prstGeom prst="straightConnector1">
            <a:avLst/>
          </a:prstGeom>
          <a:ln w="17145">
            <a:solidFill>
              <a:srgbClr val="B55D09"/>
            </a:solidFill>
          </a:ln>
        </p:spPr>
      </p:cxnSp>
      <p:sp>
        <p:nvSpPr>
          <p:cNvPr id="26" name="正方形/長方形 25">
            <a:extLst>
              <a:ext uri="{FF2B5EF4-FFF2-40B4-BE49-F238E27FC236}">
                <a16:creationId xmlns:a16="http://schemas.microsoft.com/office/drawing/2014/main" id="{CEF82701-6A30-4112-831C-CC55EAC66811}"/>
              </a:ext>
            </a:extLst>
          </p:cNvPr>
          <p:cNvSpPr>
            <a:spLocks noGrp="1"/>
          </p:cNvSpPr>
          <p:nvPr/>
        </p:nvSpPr>
        <p:spPr>
          <a:xfrm>
            <a:off x="1000125" y="3295650"/>
            <a:ext cx="5095875" cy="371475"/>
          </a:xfrm>
          <a:prstGeom prst="rect">
            <a:avLst/>
          </a:prstGeom>
          <a:solidFill>
            <a:srgbClr val="E7F0F6"/>
          </a:solidFill>
          <a:ln w="14288">
            <a:solidFill>
              <a:srgbClr val="C8D3DD"/>
            </a:solidFill>
          </a:ln>
        </p:spPr>
      </p:sp>
      <p:cxnSp>
        <p:nvCxnSpPr>
          <p:cNvPr id="27" name="直線矢印コネクタ 26">
            <a:extLst>
              <a:ext uri="{FF2B5EF4-FFF2-40B4-BE49-F238E27FC236}">
                <a16:creationId xmlns:a16="http://schemas.microsoft.com/office/drawing/2014/main" id="{F47904D6-EACD-4F27-9D59-43CA9D6E114F}"/>
              </a:ext>
            </a:extLst>
          </p:cNvPr>
          <p:cNvCxnSpPr/>
          <p:nvPr/>
        </p:nvCxnSpPr>
        <p:spPr>
          <a:xfrm>
            <a:off x="1209675" y="3362325"/>
            <a:ext cx="0" cy="238125"/>
          </a:xfrm>
          <a:prstGeom prst="straightConnector1">
            <a:avLst/>
          </a:prstGeom>
          <a:ln w="19050">
            <a:solidFill>
              <a:srgbClr val="245C98"/>
            </a:solidFill>
          </a:ln>
        </p:spPr>
      </p:cxnSp>
      <p:cxnSp>
        <p:nvCxnSpPr>
          <p:cNvPr id="28" name="直線矢印コネクタ 27">
            <a:extLst>
              <a:ext uri="{FF2B5EF4-FFF2-40B4-BE49-F238E27FC236}">
                <a16:creationId xmlns:a16="http://schemas.microsoft.com/office/drawing/2014/main" id="{639BE3C0-5D57-45FD-B447-802D60902B27}"/>
              </a:ext>
            </a:extLst>
          </p:cNvPr>
          <p:cNvCxnSpPr/>
          <p:nvPr/>
        </p:nvCxnSpPr>
        <p:spPr>
          <a:xfrm>
            <a:off x="1602581" y="3362325"/>
            <a:ext cx="0" cy="238125"/>
          </a:xfrm>
          <a:prstGeom prst="straightConnector1">
            <a:avLst/>
          </a:prstGeom>
          <a:ln w="19050">
            <a:solidFill>
              <a:srgbClr val="245C98"/>
            </a:solidFill>
          </a:ln>
        </p:spPr>
      </p:cxnSp>
      <p:cxnSp>
        <p:nvCxnSpPr>
          <p:cNvPr id="29" name="直線矢印コネクタ 28">
            <a:extLst>
              <a:ext uri="{FF2B5EF4-FFF2-40B4-BE49-F238E27FC236}">
                <a16:creationId xmlns:a16="http://schemas.microsoft.com/office/drawing/2014/main" id="{6C4C642C-FE19-4D91-AC4F-7D8E3C7C506C}"/>
              </a:ext>
            </a:extLst>
          </p:cNvPr>
          <p:cNvCxnSpPr/>
          <p:nvPr/>
        </p:nvCxnSpPr>
        <p:spPr>
          <a:xfrm>
            <a:off x="1995488" y="3362325"/>
            <a:ext cx="0" cy="238125"/>
          </a:xfrm>
          <a:prstGeom prst="straightConnector1">
            <a:avLst/>
          </a:prstGeom>
          <a:ln w="19050">
            <a:solidFill>
              <a:srgbClr val="245C98"/>
            </a:solidFill>
          </a:ln>
        </p:spPr>
      </p:cxnSp>
      <p:cxnSp>
        <p:nvCxnSpPr>
          <p:cNvPr id="30" name="直線矢印コネクタ 29">
            <a:extLst>
              <a:ext uri="{FF2B5EF4-FFF2-40B4-BE49-F238E27FC236}">
                <a16:creationId xmlns:a16="http://schemas.microsoft.com/office/drawing/2014/main" id="{4D3D8B5B-90EE-43EC-8D42-2C7999D1E0EF}"/>
              </a:ext>
            </a:extLst>
          </p:cNvPr>
          <p:cNvCxnSpPr/>
          <p:nvPr/>
        </p:nvCxnSpPr>
        <p:spPr>
          <a:xfrm>
            <a:off x="2388394" y="3362325"/>
            <a:ext cx="0" cy="238125"/>
          </a:xfrm>
          <a:prstGeom prst="straightConnector1">
            <a:avLst/>
          </a:prstGeom>
          <a:ln w="19050">
            <a:solidFill>
              <a:srgbClr val="245C98"/>
            </a:solidFill>
          </a:ln>
        </p:spPr>
      </p:cxnSp>
      <p:cxnSp>
        <p:nvCxnSpPr>
          <p:cNvPr id="31" name="直線矢印コネクタ 30">
            <a:extLst>
              <a:ext uri="{FF2B5EF4-FFF2-40B4-BE49-F238E27FC236}">
                <a16:creationId xmlns:a16="http://schemas.microsoft.com/office/drawing/2014/main" id="{A2E453B5-E4FF-4E04-8AF0-70D014CC98DA}"/>
              </a:ext>
            </a:extLst>
          </p:cNvPr>
          <p:cNvCxnSpPr/>
          <p:nvPr/>
        </p:nvCxnSpPr>
        <p:spPr>
          <a:xfrm>
            <a:off x="2781300" y="3362325"/>
            <a:ext cx="0" cy="238125"/>
          </a:xfrm>
          <a:prstGeom prst="straightConnector1">
            <a:avLst/>
          </a:prstGeom>
          <a:ln w="19050">
            <a:solidFill>
              <a:srgbClr val="245C98"/>
            </a:solidFill>
          </a:ln>
        </p:spPr>
      </p:cxnSp>
      <p:cxnSp>
        <p:nvCxnSpPr>
          <p:cNvPr id="32" name="直線矢印コネクタ 31">
            <a:extLst>
              <a:ext uri="{FF2B5EF4-FFF2-40B4-BE49-F238E27FC236}">
                <a16:creationId xmlns:a16="http://schemas.microsoft.com/office/drawing/2014/main" id="{0B52C16A-E609-40D6-990A-3FB655CE0DB3}"/>
              </a:ext>
            </a:extLst>
          </p:cNvPr>
          <p:cNvCxnSpPr/>
          <p:nvPr/>
        </p:nvCxnSpPr>
        <p:spPr>
          <a:xfrm>
            <a:off x="3174206" y="3362325"/>
            <a:ext cx="0" cy="238125"/>
          </a:xfrm>
          <a:prstGeom prst="straightConnector1">
            <a:avLst/>
          </a:prstGeom>
          <a:ln w="19050">
            <a:solidFill>
              <a:srgbClr val="245C98"/>
            </a:solidFill>
          </a:ln>
        </p:spPr>
      </p:cxnSp>
      <p:cxnSp>
        <p:nvCxnSpPr>
          <p:cNvPr id="33" name="直線矢印コネクタ 32">
            <a:extLst>
              <a:ext uri="{FF2B5EF4-FFF2-40B4-BE49-F238E27FC236}">
                <a16:creationId xmlns:a16="http://schemas.microsoft.com/office/drawing/2014/main" id="{CA90CE7C-1D32-418F-B457-46EEE847BDEC}"/>
              </a:ext>
            </a:extLst>
          </p:cNvPr>
          <p:cNvCxnSpPr/>
          <p:nvPr/>
        </p:nvCxnSpPr>
        <p:spPr>
          <a:xfrm>
            <a:off x="3567113" y="3362325"/>
            <a:ext cx="0" cy="238125"/>
          </a:xfrm>
          <a:prstGeom prst="straightConnector1">
            <a:avLst/>
          </a:prstGeom>
          <a:ln w="19050">
            <a:solidFill>
              <a:srgbClr val="245C98"/>
            </a:solidFill>
          </a:ln>
        </p:spPr>
      </p:cxnSp>
      <p:cxnSp>
        <p:nvCxnSpPr>
          <p:cNvPr id="34" name="直線矢印コネクタ 33">
            <a:extLst>
              <a:ext uri="{FF2B5EF4-FFF2-40B4-BE49-F238E27FC236}">
                <a16:creationId xmlns:a16="http://schemas.microsoft.com/office/drawing/2014/main" id="{ECA72142-CCC8-49DD-BF81-90F1742128D4}"/>
              </a:ext>
            </a:extLst>
          </p:cNvPr>
          <p:cNvCxnSpPr/>
          <p:nvPr/>
        </p:nvCxnSpPr>
        <p:spPr>
          <a:xfrm>
            <a:off x="3960019" y="3362325"/>
            <a:ext cx="0" cy="238125"/>
          </a:xfrm>
          <a:prstGeom prst="straightConnector1">
            <a:avLst/>
          </a:prstGeom>
          <a:ln w="19050">
            <a:solidFill>
              <a:srgbClr val="245C98"/>
            </a:solidFill>
          </a:ln>
        </p:spPr>
      </p:cxnSp>
      <p:cxnSp>
        <p:nvCxnSpPr>
          <p:cNvPr id="35" name="直線矢印コネクタ 34">
            <a:extLst>
              <a:ext uri="{FF2B5EF4-FFF2-40B4-BE49-F238E27FC236}">
                <a16:creationId xmlns:a16="http://schemas.microsoft.com/office/drawing/2014/main" id="{0A65BC04-9601-445B-A080-6D123F23784C}"/>
              </a:ext>
            </a:extLst>
          </p:cNvPr>
          <p:cNvCxnSpPr/>
          <p:nvPr/>
        </p:nvCxnSpPr>
        <p:spPr>
          <a:xfrm>
            <a:off x="4352925" y="3362325"/>
            <a:ext cx="0" cy="238125"/>
          </a:xfrm>
          <a:prstGeom prst="straightConnector1">
            <a:avLst/>
          </a:prstGeom>
          <a:ln w="19050">
            <a:solidFill>
              <a:srgbClr val="245C98"/>
            </a:solidFill>
          </a:ln>
        </p:spPr>
      </p:cxnSp>
      <p:cxnSp>
        <p:nvCxnSpPr>
          <p:cNvPr id="36" name="直線矢印コネクタ 35">
            <a:extLst>
              <a:ext uri="{FF2B5EF4-FFF2-40B4-BE49-F238E27FC236}">
                <a16:creationId xmlns:a16="http://schemas.microsoft.com/office/drawing/2014/main" id="{19F15547-29F5-4C2B-AA47-E05C498EC1C7}"/>
              </a:ext>
            </a:extLst>
          </p:cNvPr>
          <p:cNvCxnSpPr/>
          <p:nvPr/>
        </p:nvCxnSpPr>
        <p:spPr>
          <a:xfrm>
            <a:off x="4745831" y="3362325"/>
            <a:ext cx="0" cy="238125"/>
          </a:xfrm>
          <a:prstGeom prst="straightConnector1">
            <a:avLst/>
          </a:prstGeom>
          <a:ln w="19050">
            <a:solidFill>
              <a:srgbClr val="245C98"/>
            </a:solidFill>
          </a:ln>
        </p:spPr>
      </p:cxnSp>
      <p:cxnSp>
        <p:nvCxnSpPr>
          <p:cNvPr id="37" name="直線矢印コネクタ 36">
            <a:extLst>
              <a:ext uri="{FF2B5EF4-FFF2-40B4-BE49-F238E27FC236}">
                <a16:creationId xmlns:a16="http://schemas.microsoft.com/office/drawing/2014/main" id="{B955ABF1-EB42-4DF1-976B-5BC2131EDCBA}"/>
              </a:ext>
            </a:extLst>
          </p:cNvPr>
          <p:cNvCxnSpPr/>
          <p:nvPr/>
        </p:nvCxnSpPr>
        <p:spPr>
          <a:xfrm>
            <a:off x="5138738" y="3362325"/>
            <a:ext cx="0" cy="238125"/>
          </a:xfrm>
          <a:prstGeom prst="straightConnector1">
            <a:avLst/>
          </a:prstGeom>
          <a:ln w="19050">
            <a:solidFill>
              <a:srgbClr val="245C98"/>
            </a:solidFill>
          </a:ln>
        </p:spPr>
      </p:cxnSp>
      <p:cxnSp>
        <p:nvCxnSpPr>
          <p:cNvPr id="38" name="直線矢印コネクタ 37">
            <a:extLst>
              <a:ext uri="{FF2B5EF4-FFF2-40B4-BE49-F238E27FC236}">
                <a16:creationId xmlns:a16="http://schemas.microsoft.com/office/drawing/2014/main" id="{E99443AF-EE07-4D6C-973D-8D9E8FCA1B27}"/>
              </a:ext>
            </a:extLst>
          </p:cNvPr>
          <p:cNvCxnSpPr/>
          <p:nvPr/>
        </p:nvCxnSpPr>
        <p:spPr>
          <a:xfrm>
            <a:off x="5531644" y="3362325"/>
            <a:ext cx="0" cy="238125"/>
          </a:xfrm>
          <a:prstGeom prst="straightConnector1">
            <a:avLst/>
          </a:prstGeom>
          <a:ln w="19050">
            <a:solidFill>
              <a:srgbClr val="245C98"/>
            </a:solidFill>
          </a:ln>
        </p:spPr>
      </p:cxnSp>
      <p:sp>
        <p:nvSpPr>
          <p:cNvPr id="39" name="正方形/長方形 38">
            <a:extLst>
              <a:ext uri="{FF2B5EF4-FFF2-40B4-BE49-F238E27FC236}">
                <a16:creationId xmlns:a16="http://schemas.microsoft.com/office/drawing/2014/main" id="{31A5B203-8FCD-456A-9D31-199ADD4C910A}"/>
              </a:ext>
            </a:extLst>
          </p:cNvPr>
          <p:cNvSpPr>
            <a:spLocks noGrp="1"/>
          </p:cNvSpPr>
          <p:nvPr/>
        </p:nvSpPr>
        <p:spPr>
          <a:xfrm>
            <a:off x="1000125" y="3695700"/>
            <a:ext cx="5095875" cy="371475"/>
          </a:xfrm>
          <a:prstGeom prst="rect">
            <a:avLst/>
          </a:prstGeom>
          <a:solidFill>
            <a:srgbClr val="F5EFE4"/>
          </a:solidFill>
          <a:ln w="14288">
            <a:solidFill>
              <a:srgbClr val="C8D3DD"/>
            </a:solidFill>
          </a:ln>
        </p:spPr>
      </p:sp>
      <p:cxnSp>
        <p:nvCxnSpPr>
          <p:cNvPr id="40" name="直線矢印コネクタ 39">
            <a:extLst>
              <a:ext uri="{FF2B5EF4-FFF2-40B4-BE49-F238E27FC236}">
                <a16:creationId xmlns:a16="http://schemas.microsoft.com/office/drawing/2014/main" id="{2D204159-D0AC-4634-B54E-CA04FFF554D3}"/>
              </a:ext>
            </a:extLst>
          </p:cNvPr>
          <p:cNvCxnSpPr/>
          <p:nvPr/>
        </p:nvCxnSpPr>
        <p:spPr>
          <a:xfrm>
            <a:off x="1190625" y="3771900"/>
            <a:ext cx="4714875" cy="0"/>
          </a:xfrm>
          <a:prstGeom prst="straightConnector1">
            <a:avLst/>
          </a:prstGeom>
          <a:ln w="17145">
            <a:solidFill>
              <a:srgbClr val="B55D09"/>
            </a:solidFill>
          </a:ln>
        </p:spPr>
      </p:cxnSp>
      <p:cxnSp>
        <p:nvCxnSpPr>
          <p:cNvPr id="41" name="直線矢印コネクタ 40">
            <a:extLst>
              <a:ext uri="{FF2B5EF4-FFF2-40B4-BE49-F238E27FC236}">
                <a16:creationId xmlns:a16="http://schemas.microsoft.com/office/drawing/2014/main" id="{688AE299-E01F-4DFC-BCCA-DC84CEE7234F}"/>
              </a:ext>
            </a:extLst>
          </p:cNvPr>
          <p:cNvCxnSpPr/>
          <p:nvPr/>
        </p:nvCxnSpPr>
        <p:spPr>
          <a:xfrm>
            <a:off x="1190625" y="3857625"/>
            <a:ext cx="4714875" cy="0"/>
          </a:xfrm>
          <a:prstGeom prst="straightConnector1">
            <a:avLst/>
          </a:prstGeom>
          <a:ln w="17145">
            <a:solidFill>
              <a:srgbClr val="B55D09"/>
            </a:solidFill>
          </a:ln>
        </p:spPr>
      </p:cxnSp>
      <p:cxnSp>
        <p:nvCxnSpPr>
          <p:cNvPr id="42" name="直線矢印コネクタ 41">
            <a:extLst>
              <a:ext uri="{FF2B5EF4-FFF2-40B4-BE49-F238E27FC236}">
                <a16:creationId xmlns:a16="http://schemas.microsoft.com/office/drawing/2014/main" id="{78651588-C141-43F5-9C3D-202CFCA80941}"/>
              </a:ext>
            </a:extLst>
          </p:cNvPr>
          <p:cNvCxnSpPr/>
          <p:nvPr/>
        </p:nvCxnSpPr>
        <p:spPr>
          <a:xfrm>
            <a:off x="1190625" y="3943350"/>
            <a:ext cx="4714875" cy="0"/>
          </a:xfrm>
          <a:prstGeom prst="straightConnector1">
            <a:avLst/>
          </a:prstGeom>
          <a:ln w="17145">
            <a:solidFill>
              <a:srgbClr val="B55D09"/>
            </a:solidFill>
          </a:ln>
        </p:spPr>
      </p:cxnSp>
      <p:sp>
        <p:nvSpPr>
          <p:cNvPr id="43" name="正方形/長方形 42">
            <a:extLst>
              <a:ext uri="{FF2B5EF4-FFF2-40B4-BE49-F238E27FC236}">
                <a16:creationId xmlns:a16="http://schemas.microsoft.com/office/drawing/2014/main" id="{8F429E6F-2BFE-4A0D-B7A7-3D052FBC4C69}"/>
              </a:ext>
            </a:extLst>
          </p:cNvPr>
          <p:cNvSpPr>
            <a:spLocks noGrp="1"/>
          </p:cNvSpPr>
          <p:nvPr/>
        </p:nvSpPr>
        <p:spPr>
          <a:xfrm>
            <a:off x="1000125" y="4229100"/>
            <a:ext cx="5095875" cy="476250"/>
          </a:xfrm>
          <a:prstGeom prst="rect">
            <a:avLst/>
          </a:prstGeom>
          <a:noFill/>
          <a:ln w="0">
            <a:noFill/>
          </a:ln>
        </p:spPr>
        <p:txBody>
          <a:bodyPr lIns="0" tIns="0" rIns="0" bIns="0" anchor="ctr">
            <a:noAutofit/>
          </a:bodyPr>
          <a:lstStyle>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合板</a:t>
            </a:r>
          </a:p>
        </p:txBody>
      </p:sp>
      <p:sp>
        <p:nvSpPr>
          <p:cNvPr id="44" name="正方形/長方形 43">
            <a:extLst>
              <a:ext uri="{FF2B5EF4-FFF2-40B4-BE49-F238E27FC236}">
                <a16:creationId xmlns:a16="http://schemas.microsoft.com/office/drawing/2014/main" id="{5F4AE832-690A-4DE2-AF7C-F32D11B888A7}"/>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要素：単板</a:t>
            </a:r>
          </a:p>
        </p:txBody>
      </p:sp>
      <p:sp>
        <p:nvSpPr>
          <p:cNvPr id="45" name="正方形/長方形 44">
            <a:extLst>
              <a:ext uri="{FF2B5EF4-FFF2-40B4-BE49-F238E27FC236}">
                <a16:creationId xmlns:a16="http://schemas.microsoft.com/office/drawing/2014/main" id="{85B2592C-252A-4890-AD1F-E508B05DC99D}"/>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46" name="正方形/長方形 45">
            <a:extLst>
              <a:ext uri="{FF2B5EF4-FFF2-40B4-BE49-F238E27FC236}">
                <a16:creationId xmlns:a16="http://schemas.microsoft.com/office/drawing/2014/main" id="{332F5319-8DE7-4836-816E-B3069F79E7AC}"/>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層の厚さ・位置も重要</a:t>
            </a:r>
          </a:p>
        </p:txBody>
      </p:sp>
      <p:sp>
        <p:nvSpPr>
          <p:cNvPr id="47" name="正方形/長方形 46">
            <a:extLst>
              <a:ext uri="{FF2B5EF4-FFF2-40B4-BE49-F238E27FC236}">
                <a16:creationId xmlns:a16="http://schemas.microsoft.com/office/drawing/2014/main" id="{D87FE813-8E37-451D-BDF5-1788758FD307}"/>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接着と用途の条件も確認</a:t>
            </a:r>
          </a:p>
        </p:txBody>
      </p:sp>
    </p:spTree>
    <p:extLst>
      <p:ext uri="{BB962C8B-B14F-4D97-AF65-F5344CB8AC3E}">
        <p14:creationId xmlns:p14="http://schemas.microsoft.com/office/powerpoint/2010/main" val="1479239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0837112F-C589-4C75-A720-2EB2266ADE1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板の軸、支点間の方向、荷重を描く</a:t>
            </a:r>
          </a:p>
        </p:txBody>
      </p:sp>
      <p:sp>
        <p:nvSpPr>
          <p:cNvPr id="2" name="正方形/長方形 1">
            <a:extLst>
              <a:ext uri="{FF2B5EF4-FFF2-40B4-BE49-F238E27FC236}">
                <a16:creationId xmlns:a16="http://schemas.microsoft.com/office/drawing/2014/main" id="{26FB9E4C-FFBB-4B39-B8FE-82A891902F5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374ED7E9-763C-474C-9969-077D6541256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B8A9B0BD-EC3F-4CB0-A454-EF7242D7BBD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CB94AEE-096D-4167-A8CD-9E228F6D6189}"/>
              </a:ext>
            </a:extLst>
          </p:cNvPr>
          <p:cNvSpPr>
            <a:spLocks noGrp="1"/>
          </p:cNvSpPr>
          <p:nvPr/>
        </p:nvSpPr>
        <p:spPr>
          <a:xfrm>
            <a:off x="952500" y="1666875"/>
            <a:ext cx="5048250" cy="52387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① スパンと表板繊維が平行</a:t>
            </a:r>
          </a:p>
        </p:txBody>
      </p:sp>
      <p:sp>
        <p:nvSpPr>
          <p:cNvPr id="6" name="正方形/長方形 5">
            <a:extLst>
              <a:ext uri="{FF2B5EF4-FFF2-40B4-BE49-F238E27FC236}">
                <a16:creationId xmlns:a16="http://schemas.microsoft.com/office/drawing/2014/main" id="{1E4FE0B0-4A25-43AE-89AA-DC5E65657A8E}"/>
              </a:ext>
            </a:extLst>
          </p:cNvPr>
          <p:cNvSpPr>
            <a:spLocks noGrp="1"/>
          </p:cNvSpPr>
          <p:nvPr/>
        </p:nvSpPr>
        <p:spPr>
          <a:xfrm>
            <a:off x="952500" y="2286000"/>
            <a:ext cx="4095750" cy="2000250"/>
          </a:xfrm>
          <a:prstGeom prst="rect">
            <a:avLst/>
          </a:prstGeom>
          <a:solidFill>
            <a:srgbClr val="EAF1F5"/>
          </a:solidFill>
          <a:ln w="9525">
            <a:solidFill>
              <a:srgbClr val="596875"/>
            </a:solidFill>
          </a:ln>
        </p:spPr>
      </p:sp>
      <p:sp>
        <p:nvSpPr>
          <p:cNvPr id="7" name="正方形/長方形 6">
            <a:extLst>
              <a:ext uri="{FF2B5EF4-FFF2-40B4-BE49-F238E27FC236}">
                <a16:creationId xmlns:a16="http://schemas.microsoft.com/office/drawing/2014/main" id="{1DFA9313-F7A9-4139-A613-F365B3FD16CF}"/>
              </a:ext>
            </a:extLst>
          </p:cNvPr>
          <p:cNvSpPr>
            <a:spLocks noGrp="1"/>
          </p:cNvSpPr>
          <p:nvPr/>
        </p:nvSpPr>
        <p:spPr>
          <a:xfrm>
            <a:off x="904875" y="2238375"/>
            <a:ext cx="114300" cy="2095500"/>
          </a:xfrm>
          <a:prstGeom prst="rect">
            <a:avLst/>
          </a:prstGeom>
          <a:solidFill>
            <a:srgbClr val="18364F"/>
          </a:solidFill>
          <a:ln w="0">
            <a:noFill/>
          </a:ln>
        </p:spPr>
      </p:sp>
      <p:sp>
        <p:nvSpPr>
          <p:cNvPr id="8" name="正方形/長方形 7">
            <a:extLst>
              <a:ext uri="{FF2B5EF4-FFF2-40B4-BE49-F238E27FC236}">
                <a16:creationId xmlns:a16="http://schemas.microsoft.com/office/drawing/2014/main" id="{CC7897A7-D1BE-45A1-ADF2-0A17C92B21C6}"/>
              </a:ext>
            </a:extLst>
          </p:cNvPr>
          <p:cNvSpPr>
            <a:spLocks noGrp="1"/>
          </p:cNvSpPr>
          <p:nvPr/>
        </p:nvSpPr>
        <p:spPr>
          <a:xfrm>
            <a:off x="4981575" y="2238375"/>
            <a:ext cx="114300" cy="2095500"/>
          </a:xfrm>
          <a:prstGeom prst="rect">
            <a:avLst/>
          </a:prstGeom>
          <a:solidFill>
            <a:srgbClr val="18364F"/>
          </a:solidFill>
          <a:ln w="0">
            <a:noFill/>
          </a:ln>
        </p:spPr>
      </p:sp>
      <p:sp>
        <p:nvSpPr>
          <p:cNvPr id="9" name="フリーフォーム: 図形 8">
            <a:extLst>
              <a:ext uri="{FF2B5EF4-FFF2-40B4-BE49-F238E27FC236}">
                <a16:creationId xmlns:a16="http://schemas.microsoft.com/office/drawing/2014/main" id="{F9AC1675-51C1-4D9D-B4AF-054AA0F43C99}"/>
              </a:ext>
            </a:extLst>
          </p:cNvPr>
          <p:cNvSpPr>
            <a:spLocks noGrp="1"/>
          </p:cNvSpPr>
          <p:nvPr/>
        </p:nvSpPr>
        <p:spPr>
          <a:xfrm>
            <a:off x="1238250" y="252412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0" name="フリーフォーム: 図形 9">
            <a:extLst>
              <a:ext uri="{FF2B5EF4-FFF2-40B4-BE49-F238E27FC236}">
                <a16:creationId xmlns:a16="http://schemas.microsoft.com/office/drawing/2014/main" id="{0DE31728-4585-4AA4-9C99-084A78FDE980}"/>
              </a:ext>
            </a:extLst>
          </p:cNvPr>
          <p:cNvSpPr>
            <a:spLocks noGrp="1"/>
          </p:cNvSpPr>
          <p:nvPr/>
        </p:nvSpPr>
        <p:spPr>
          <a:xfrm>
            <a:off x="1238250" y="280987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1" name="フリーフォーム: 図形 10">
            <a:extLst>
              <a:ext uri="{FF2B5EF4-FFF2-40B4-BE49-F238E27FC236}">
                <a16:creationId xmlns:a16="http://schemas.microsoft.com/office/drawing/2014/main" id="{FEBD2F55-8481-4E61-B34F-57979CDA4DB3}"/>
              </a:ext>
            </a:extLst>
          </p:cNvPr>
          <p:cNvSpPr>
            <a:spLocks noGrp="1"/>
          </p:cNvSpPr>
          <p:nvPr/>
        </p:nvSpPr>
        <p:spPr>
          <a:xfrm>
            <a:off x="1238250" y="309562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2" name="フリーフォーム: 図形 11">
            <a:extLst>
              <a:ext uri="{FF2B5EF4-FFF2-40B4-BE49-F238E27FC236}">
                <a16:creationId xmlns:a16="http://schemas.microsoft.com/office/drawing/2014/main" id="{BC8A6305-1E56-4DE1-9C45-16F4704C71C6}"/>
              </a:ext>
            </a:extLst>
          </p:cNvPr>
          <p:cNvSpPr>
            <a:spLocks noGrp="1"/>
          </p:cNvSpPr>
          <p:nvPr/>
        </p:nvSpPr>
        <p:spPr>
          <a:xfrm>
            <a:off x="1238250" y="338137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3" name="フリーフォーム: 図形 12">
            <a:extLst>
              <a:ext uri="{FF2B5EF4-FFF2-40B4-BE49-F238E27FC236}">
                <a16:creationId xmlns:a16="http://schemas.microsoft.com/office/drawing/2014/main" id="{ED5D1A3D-BFC2-497D-A4A0-5AA5AFEBAA6D}"/>
              </a:ext>
            </a:extLst>
          </p:cNvPr>
          <p:cNvSpPr>
            <a:spLocks noGrp="1"/>
          </p:cNvSpPr>
          <p:nvPr/>
        </p:nvSpPr>
        <p:spPr>
          <a:xfrm>
            <a:off x="1238250" y="366712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4" name="フリーフォーム: 図形 13">
            <a:extLst>
              <a:ext uri="{FF2B5EF4-FFF2-40B4-BE49-F238E27FC236}">
                <a16:creationId xmlns:a16="http://schemas.microsoft.com/office/drawing/2014/main" id="{C55A2ABF-BA38-49B6-A086-15F2DF313FB0}"/>
              </a:ext>
            </a:extLst>
          </p:cNvPr>
          <p:cNvSpPr>
            <a:spLocks noGrp="1"/>
          </p:cNvSpPr>
          <p:nvPr/>
        </p:nvSpPr>
        <p:spPr>
          <a:xfrm>
            <a:off x="1238250" y="3952875"/>
            <a:ext cx="3524250" cy="9525"/>
          </a:xfrm>
          <a:custGeom>
            <a:avLst/>
            <a:gdLst/>
            <a:ahLst/>
            <a:cxnLst/>
            <a:rect l="0" t="0" r="0" b="0"/>
            <a:pathLst>
              <a:path w="3524250" h="9525">
                <a:moveTo>
                  <a:pt x="0" y="0"/>
                </a:moveTo>
                <a:lnTo>
                  <a:pt x="3524250" y="0"/>
                </a:lnTo>
              </a:path>
            </a:pathLst>
          </a:custGeom>
          <a:noFill/>
          <a:ln w="28575">
            <a:solidFill>
              <a:srgbClr val="D7B78C"/>
            </a:solidFill>
          </a:ln>
        </p:spPr>
      </p:sp>
      <p:sp>
        <p:nvSpPr>
          <p:cNvPr id="15" name="フリーフォーム: 図形 14">
            <a:extLst>
              <a:ext uri="{FF2B5EF4-FFF2-40B4-BE49-F238E27FC236}">
                <a16:creationId xmlns:a16="http://schemas.microsoft.com/office/drawing/2014/main" id="{F66F4560-949D-4D06-B3BE-B4D3C2B0D5C0}"/>
              </a:ext>
            </a:extLst>
          </p:cNvPr>
          <p:cNvSpPr>
            <a:spLocks noGrp="1"/>
          </p:cNvSpPr>
          <p:nvPr/>
        </p:nvSpPr>
        <p:spPr>
          <a:xfrm>
            <a:off x="1571625" y="4714875"/>
            <a:ext cx="2762250" cy="9525"/>
          </a:xfrm>
          <a:custGeom>
            <a:avLst/>
            <a:gdLst/>
            <a:ahLst/>
            <a:cxnLst/>
            <a:rect l="0" t="0" r="0" b="0"/>
            <a:pathLst>
              <a:path w="2762250" h="9525">
                <a:moveTo>
                  <a:pt x="0" y="0"/>
                </a:moveTo>
                <a:lnTo>
                  <a:pt x="2762250" y="0"/>
                </a:lnTo>
              </a:path>
            </a:pathLst>
          </a:custGeom>
          <a:noFill/>
          <a:ln w="38100">
            <a:solidFill>
              <a:srgbClr val="2876A8"/>
            </a:solidFill>
          </a:ln>
        </p:spPr>
      </p:sp>
      <p:sp>
        <p:nvSpPr>
          <p:cNvPr id="16" name="フリーフォーム: 図形 15">
            <a:extLst>
              <a:ext uri="{FF2B5EF4-FFF2-40B4-BE49-F238E27FC236}">
                <a16:creationId xmlns:a16="http://schemas.microsoft.com/office/drawing/2014/main" id="{27992561-35AE-4A67-A51A-C2C36C854750}"/>
              </a:ext>
            </a:extLst>
          </p:cNvPr>
          <p:cNvSpPr>
            <a:spLocks noGrp="1"/>
          </p:cNvSpPr>
          <p:nvPr/>
        </p:nvSpPr>
        <p:spPr>
          <a:xfrm>
            <a:off x="4212071" y="4714875"/>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17" name="フリーフォーム: 図形 16">
            <a:extLst>
              <a:ext uri="{FF2B5EF4-FFF2-40B4-BE49-F238E27FC236}">
                <a16:creationId xmlns:a16="http://schemas.microsoft.com/office/drawing/2014/main" id="{58B3E8A7-AA1B-4755-B8F2-109124C44AD1}"/>
              </a:ext>
            </a:extLst>
          </p:cNvPr>
          <p:cNvSpPr>
            <a:spLocks noGrp="1"/>
          </p:cNvSpPr>
          <p:nvPr/>
        </p:nvSpPr>
        <p:spPr>
          <a:xfrm>
            <a:off x="4212071" y="4640196"/>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18" name="正方形/長方形 17">
            <a:extLst>
              <a:ext uri="{FF2B5EF4-FFF2-40B4-BE49-F238E27FC236}">
                <a16:creationId xmlns:a16="http://schemas.microsoft.com/office/drawing/2014/main" id="{E2415B74-78EA-4F43-85FF-A5D3C0E13308}"/>
              </a:ext>
            </a:extLst>
          </p:cNvPr>
          <p:cNvSpPr>
            <a:spLocks noGrp="1"/>
          </p:cNvSpPr>
          <p:nvPr/>
        </p:nvSpPr>
        <p:spPr>
          <a:xfrm>
            <a:off x="1905000" y="4933950"/>
            <a:ext cx="2857500" cy="476250"/>
          </a:xfrm>
          <a:prstGeom prst="rect">
            <a:avLst/>
          </a:prstGeom>
          <a:noFill/>
          <a:ln w="0">
            <a:noFill/>
          </a:ln>
        </p:spPr>
        <p:txBody>
          <a:bodyPr lIns="0" tIns="0" rIns="0" bIns="0" anchor="ctr">
            <a:noAutofit/>
          </a:bodyPr>
          <a:lstStyle>
            <a:defPPr>
              <a:defRPr sz="1950" b="1">
                <a:solidFill>
                  <a:srgbClr val="2876A8"/>
                </a:solidFill>
                <a:latin typeface="Yu Gothic"/>
                <a:ea typeface="Yu Gothic"/>
                <a:cs typeface="Yu Gothic"/>
              </a:defRPr>
            </a:defPPr>
            <a:lvl1pPr>
              <a:defRPr sz="1950" b="1">
                <a:solidFill>
                  <a:srgbClr val="2876A8"/>
                </a:solidFill>
                <a:latin typeface="Yu Gothic"/>
                <a:ea typeface="Yu Gothic"/>
                <a:cs typeface="Yu Gothic"/>
              </a:defRPr>
            </a:lvl1pPr>
            <a:lvl2pPr>
              <a:defRPr sz="1950" b="1">
                <a:solidFill>
                  <a:srgbClr val="2876A8"/>
                </a:solidFill>
                <a:latin typeface="Yu Gothic"/>
                <a:ea typeface="Yu Gothic"/>
                <a:cs typeface="Yu Gothic"/>
              </a:defRPr>
            </a:lvl2pPr>
            <a:lvl3pPr>
              <a:defRPr sz="1950" b="1">
                <a:solidFill>
                  <a:srgbClr val="2876A8"/>
                </a:solidFill>
                <a:latin typeface="Yu Gothic"/>
                <a:ea typeface="Yu Gothic"/>
                <a:cs typeface="Yu Gothic"/>
              </a:defRPr>
            </a:lvl3pPr>
            <a:lvl4pPr>
              <a:defRPr sz="1950" b="1">
                <a:solidFill>
                  <a:srgbClr val="2876A8"/>
                </a:solidFill>
                <a:latin typeface="Yu Gothic"/>
                <a:ea typeface="Yu Gothic"/>
                <a:cs typeface="Yu Gothic"/>
              </a:defRPr>
            </a:lvl4pPr>
            <a:lvl5pPr>
              <a:defRPr sz="1950" b="1">
                <a:solidFill>
                  <a:srgbClr val="2876A8"/>
                </a:solidFill>
                <a:latin typeface="Yu Gothic"/>
                <a:ea typeface="Yu Gothic"/>
                <a:cs typeface="Yu Gothic"/>
              </a:defRPr>
            </a:lvl5pPr>
            <a:lvl6pPr>
              <a:defRPr sz="1950" b="1">
                <a:solidFill>
                  <a:srgbClr val="2876A8"/>
                </a:solidFill>
                <a:latin typeface="Yu Gothic"/>
                <a:ea typeface="Yu Gothic"/>
                <a:cs typeface="Yu Gothic"/>
              </a:defRPr>
            </a:lvl6pPr>
            <a:lvl7pPr>
              <a:defRPr sz="1950" b="1">
                <a:solidFill>
                  <a:srgbClr val="2876A8"/>
                </a:solidFill>
                <a:latin typeface="Yu Gothic"/>
                <a:ea typeface="Yu Gothic"/>
                <a:cs typeface="Yu Gothic"/>
              </a:defRPr>
            </a:lvl7pPr>
            <a:lvl8pPr>
              <a:defRPr sz="1950" b="1">
                <a:solidFill>
                  <a:srgbClr val="2876A8"/>
                </a:solidFill>
                <a:latin typeface="Yu Gothic"/>
                <a:ea typeface="Yu Gothic"/>
                <a:cs typeface="Yu Gothic"/>
              </a:defRPr>
            </a:lvl8pPr>
            <a:lvl9pPr>
              <a:defRPr sz="1950" b="1">
                <a:solidFill>
                  <a:srgbClr val="2876A8"/>
                </a:solidFill>
                <a:latin typeface="Yu Gothic"/>
                <a:ea typeface="Yu Gothic"/>
                <a:cs typeface="Yu Gothic"/>
              </a:defRPr>
            </a:lvl9pPr>
          </a:lstStyle>
          <a:p>
            <a:pPr>
              <a:defRPr sz="1950" b="1">
                <a:solidFill>
                  <a:srgbClr val="2876A8"/>
                </a:solidFill>
                <a:latin typeface="Yu Gothic"/>
                <a:ea typeface="Yu Gothic"/>
                <a:cs typeface="Yu Gothic"/>
              </a:defRPr>
            </a:pPr>
            <a:r>
              <a:rPr sz="1950" b="1">
                <a:solidFill>
                  <a:srgbClr val="2876A8"/>
                </a:solidFill>
                <a:latin typeface="Yu Gothic"/>
                <a:ea typeface="Yu Gothic"/>
                <a:cs typeface="Yu Gothic"/>
              </a:rPr>
              <a:t>支点間の方向</a:t>
            </a:r>
          </a:p>
        </p:txBody>
      </p:sp>
      <p:sp>
        <p:nvSpPr>
          <p:cNvPr id="19" name="正方形/長方形 18">
            <a:extLst>
              <a:ext uri="{FF2B5EF4-FFF2-40B4-BE49-F238E27FC236}">
                <a16:creationId xmlns:a16="http://schemas.microsoft.com/office/drawing/2014/main" id="{7F673AAA-5048-4ECF-8776-056335B8353C}"/>
              </a:ext>
            </a:extLst>
          </p:cNvPr>
          <p:cNvSpPr>
            <a:spLocks noGrp="1"/>
          </p:cNvSpPr>
          <p:nvPr/>
        </p:nvSpPr>
        <p:spPr>
          <a:xfrm>
            <a:off x="1666875" y="3000375"/>
            <a:ext cx="3286125" cy="523875"/>
          </a:xfrm>
          <a:prstGeom prst="rect">
            <a:avLst/>
          </a:prstGeom>
          <a:noFill/>
          <a:ln w="0">
            <a:noFill/>
          </a:ln>
        </p:spPr>
        <p:txBody>
          <a:bodyPr lIns="0" tIns="0" rIns="0" bIns="0" anchor="ctr">
            <a:noAutofit/>
          </a:bodyPr>
          <a:lstStyle>
            <a:defPPr>
              <a:defRPr sz="2025" b="1">
                <a:solidFill>
                  <a:srgbClr val="C4483C"/>
                </a:solidFill>
                <a:latin typeface="Yu Gothic"/>
                <a:ea typeface="Yu Gothic"/>
                <a:cs typeface="Yu Gothic"/>
              </a:defRPr>
            </a:defPPr>
            <a:lvl1pPr>
              <a:defRPr sz="2025" b="1">
                <a:solidFill>
                  <a:srgbClr val="C4483C"/>
                </a:solidFill>
                <a:latin typeface="Yu Gothic"/>
                <a:ea typeface="Yu Gothic"/>
                <a:cs typeface="Yu Gothic"/>
              </a:defRPr>
            </a:lvl1pPr>
            <a:lvl2pPr>
              <a:defRPr sz="2025" b="1">
                <a:solidFill>
                  <a:srgbClr val="C4483C"/>
                </a:solidFill>
                <a:latin typeface="Yu Gothic"/>
                <a:ea typeface="Yu Gothic"/>
                <a:cs typeface="Yu Gothic"/>
              </a:defRPr>
            </a:lvl2pPr>
            <a:lvl3pPr>
              <a:defRPr sz="2025" b="1">
                <a:solidFill>
                  <a:srgbClr val="C4483C"/>
                </a:solidFill>
                <a:latin typeface="Yu Gothic"/>
                <a:ea typeface="Yu Gothic"/>
                <a:cs typeface="Yu Gothic"/>
              </a:defRPr>
            </a:lvl3pPr>
            <a:lvl4pPr>
              <a:defRPr sz="2025" b="1">
                <a:solidFill>
                  <a:srgbClr val="C4483C"/>
                </a:solidFill>
                <a:latin typeface="Yu Gothic"/>
                <a:ea typeface="Yu Gothic"/>
                <a:cs typeface="Yu Gothic"/>
              </a:defRPr>
            </a:lvl4pPr>
            <a:lvl5pPr>
              <a:defRPr sz="2025" b="1">
                <a:solidFill>
                  <a:srgbClr val="C4483C"/>
                </a:solidFill>
                <a:latin typeface="Yu Gothic"/>
                <a:ea typeface="Yu Gothic"/>
                <a:cs typeface="Yu Gothic"/>
              </a:defRPr>
            </a:lvl5pPr>
            <a:lvl6pPr>
              <a:defRPr sz="2025" b="1">
                <a:solidFill>
                  <a:srgbClr val="C4483C"/>
                </a:solidFill>
                <a:latin typeface="Yu Gothic"/>
                <a:ea typeface="Yu Gothic"/>
                <a:cs typeface="Yu Gothic"/>
              </a:defRPr>
            </a:lvl6pPr>
            <a:lvl7pPr>
              <a:defRPr sz="2025" b="1">
                <a:solidFill>
                  <a:srgbClr val="C4483C"/>
                </a:solidFill>
                <a:latin typeface="Yu Gothic"/>
                <a:ea typeface="Yu Gothic"/>
                <a:cs typeface="Yu Gothic"/>
              </a:defRPr>
            </a:lvl7pPr>
            <a:lvl8pPr>
              <a:defRPr sz="2025" b="1">
                <a:solidFill>
                  <a:srgbClr val="C4483C"/>
                </a:solidFill>
                <a:latin typeface="Yu Gothic"/>
                <a:ea typeface="Yu Gothic"/>
                <a:cs typeface="Yu Gothic"/>
              </a:defRPr>
            </a:lvl8pPr>
            <a:lvl9pPr>
              <a:defRPr sz="2025" b="1">
                <a:solidFill>
                  <a:srgbClr val="C4483C"/>
                </a:solidFill>
                <a:latin typeface="Yu Gothic"/>
                <a:ea typeface="Yu Gothic"/>
                <a:cs typeface="Yu Gothic"/>
              </a:defRPr>
            </a:lvl9pPr>
          </a:lstStyle>
          <a:p>
            <a:pPr>
              <a:defRPr sz="2025" b="1">
                <a:solidFill>
                  <a:srgbClr val="C4483C"/>
                </a:solidFill>
                <a:latin typeface="Yu Gothic"/>
                <a:ea typeface="Yu Gothic"/>
                <a:cs typeface="Yu Gothic"/>
              </a:defRPr>
            </a:pPr>
            <a:r>
              <a:rPr sz="2025" b="1">
                <a:solidFill>
                  <a:srgbClr val="C4483C"/>
                </a:solidFill>
                <a:latin typeface="Yu Gothic"/>
                <a:ea typeface="Yu Gothic"/>
                <a:cs typeface="Yu Gothic"/>
              </a:rPr>
              <a:t>⊗ 荷重は板面の奥へ</a:t>
            </a:r>
          </a:p>
        </p:txBody>
      </p:sp>
      <p:sp>
        <p:nvSpPr>
          <p:cNvPr id="20" name="正方形/長方形 19">
            <a:extLst>
              <a:ext uri="{FF2B5EF4-FFF2-40B4-BE49-F238E27FC236}">
                <a16:creationId xmlns:a16="http://schemas.microsoft.com/office/drawing/2014/main" id="{0A23FC80-E957-4C7E-AE2C-D36BB85DE1B7}"/>
              </a:ext>
            </a:extLst>
          </p:cNvPr>
          <p:cNvSpPr>
            <a:spLocks noGrp="1"/>
          </p:cNvSpPr>
          <p:nvPr/>
        </p:nvSpPr>
        <p:spPr>
          <a:xfrm>
            <a:off x="6667500" y="1666875"/>
            <a:ext cx="5048250" cy="523875"/>
          </a:xfrm>
          <a:prstGeom prst="rect">
            <a:avLst/>
          </a:prstGeom>
          <a:noFill/>
          <a:ln w="0">
            <a:noFill/>
          </a:ln>
        </p:spPr>
        <p:txBody>
          <a:bodyPr lIns="0" tIns="0" rIns="0" bIns="0" anchor="ctr">
            <a:noAutofit/>
          </a:bodyPr>
          <a:lstStyle>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② 板を90°回して使う</a:t>
            </a:r>
          </a:p>
        </p:txBody>
      </p:sp>
      <p:sp>
        <p:nvSpPr>
          <p:cNvPr id="21" name="正方形/長方形 20">
            <a:extLst>
              <a:ext uri="{FF2B5EF4-FFF2-40B4-BE49-F238E27FC236}">
                <a16:creationId xmlns:a16="http://schemas.microsoft.com/office/drawing/2014/main" id="{F02EACE3-CF3E-4A5B-8F39-720257BA790A}"/>
              </a:ext>
            </a:extLst>
          </p:cNvPr>
          <p:cNvSpPr>
            <a:spLocks noGrp="1"/>
          </p:cNvSpPr>
          <p:nvPr/>
        </p:nvSpPr>
        <p:spPr>
          <a:xfrm>
            <a:off x="6667500" y="2286000"/>
            <a:ext cx="4095750" cy="2000250"/>
          </a:xfrm>
          <a:prstGeom prst="rect">
            <a:avLst/>
          </a:prstGeom>
          <a:solidFill>
            <a:srgbClr val="EAF1F5"/>
          </a:solidFill>
          <a:ln w="9525">
            <a:solidFill>
              <a:srgbClr val="596875"/>
            </a:solidFill>
          </a:ln>
        </p:spPr>
      </p:sp>
      <p:sp>
        <p:nvSpPr>
          <p:cNvPr id="22" name="正方形/長方形 21">
            <a:extLst>
              <a:ext uri="{FF2B5EF4-FFF2-40B4-BE49-F238E27FC236}">
                <a16:creationId xmlns:a16="http://schemas.microsoft.com/office/drawing/2014/main" id="{BEF0D19C-7F15-4E80-BECD-907B5E9BC516}"/>
              </a:ext>
            </a:extLst>
          </p:cNvPr>
          <p:cNvSpPr>
            <a:spLocks noGrp="1"/>
          </p:cNvSpPr>
          <p:nvPr/>
        </p:nvSpPr>
        <p:spPr>
          <a:xfrm>
            <a:off x="6619875" y="2238375"/>
            <a:ext cx="114300" cy="2095500"/>
          </a:xfrm>
          <a:prstGeom prst="rect">
            <a:avLst/>
          </a:prstGeom>
          <a:solidFill>
            <a:srgbClr val="18364F"/>
          </a:solidFill>
          <a:ln w="0">
            <a:noFill/>
          </a:ln>
        </p:spPr>
      </p:sp>
      <p:sp>
        <p:nvSpPr>
          <p:cNvPr id="23" name="正方形/長方形 22">
            <a:extLst>
              <a:ext uri="{FF2B5EF4-FFF2-40B4-BE49-F238E27FC236}">
                <a16:creationId xmlns:a16="http://schemas.microsoft.com/office/drawing/2014/main" id="{716886C3-A856-4945-A178-98A8069024A8}"/>
              </a:ext>
            </a:extLst>
          </p:cNvPr>
          <p:cNvSpPr>
            <a:spLocks noGrp="1"/>
          </p:cNvSpPr>
          <p:nvPr/>
        </p:nvSpPr>
        <p:spPr>
          <a:xfrm>
            <a:off x="10696575" y="2238375"/>
            <a:ext cx="114300" cy="2095500"/>
          </a:xfrm>
          <a:prstGeom prst="rect">
            <a:avLst/>
          </a:prstGeom>
          <a:solidFill>
            <a:srgbClr val="18364F"/>
          </a:solidFill>
          <a:ln w="0">
            <a:noFill/>
          </a:ln>
        </p:spPr>
      </p:sp>
      <p:sp>
        <p:nvSpPr>
          <p:cNvPr id="24" name="フリーフォーム: 図形 23">
            <a:extLst>
              <a:ext uri="{FF2B5EF4-FFF2-40B4-BE49-F238E27FC236}">
                <a16:creationId xmlns:a16="http://schemas.microsoft.com/office/drawing/2014/main" id="{B4FE84FF-DC98-4522-8004-5EC63C19E8EB}"/>
              </a:ext>
            </a:extLst>
          </p:cNvPr>
          <p:cNvSpPr>
            <a:spLocks noGrp="1"/>
          </p:cNvSpPr>
          <p:nvPr/>
        </p:nvSpPr>
        <p:spPr>
          <a:xfrm>
            <a:off x="6953250"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25" name="フリーフォーム: 図形 24">
            <a:extLst>
              <a:ext uri="{FF2B5EF4-FFF2-40B4-BE49-F238E27FC236}">
                <a16:creationId xmlns:a16="http://schemas.microsoft.com/office/drawing/2014/main" id="{BF687C51-7D66-4965-A582-E501DA87F0CB}"/>
              </a:ext>
            </a:extLst>
          </p:cNvPr>
          <p:cNvSpPr>
            <a:spLocks noGrp="1"/>
          </p:cNvSpPr>
          <p:nvPr/>
        </p:nvSpPr>
        <p:spPr>
          <a:xfrm>
            <a:off x="7381875"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26" name="フリーフォーム: 図形 25">
            <a:extLst>
              <a:ext uri="{FF2B5EF4-FFF2-40B4-BE49-F238E27FC236}">
                <a16:creationId xmlns:a16="http://schemas.microsoft.com/office/drawing/2014/main" id="{78CDE826-C259-4BE0-83D7-9ACCA5E53EA0}"/>
              </a:ext>
            </a:extLst>
          </p:cNvPr>
          <p:cNvSpPr>
            <a:spLocks noGrp="1"/>
          </p:cNvSpPr>
          <p:nvPr/>
        </p:nvSpPr>
        <p:spPr>
          <a:xfrm>
            <a:off x="7810500"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27" name="フリーフォーム: 図形 26">
            <a:extLst>
              <a:ext uri="{FF2B5EF4-FFF2-40B4-BE49-F238E27FC236}">
                <a16:creationId xmlns:a16="http://schemas.microsoft.com/office/drawing/2014/main" id="{86FFB963-B6EB-4C6A-B2AA-A4DAD7D44E9C}"/>
              </a:ext>
            </a:extLst>
          </p:cNvPr>
          <p:cNvSpPr>
            <a:spLocks noGrp="1"/>
          </p:cNvSpPr>
          <p:nvPr/>
        </p:nvSpPr>
        <p:spPr>
          <a:xfrm>
            <a:off x="8239125"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28" name="フリーフォーム: 図形 27">
            <a:extLst>
              <a:ext uri="{FF2B5EF4-FFF2-40B4-BE49-F238E27FC236}">
                <a16:creationId xmlns:a16="http://schemas.microsoft.com/office/drawing/2014/main" id="{5AACE4D0-320F-4F0E-9E65-612B53C6DF73}"/>
              </a:ext>
            </a:extLst>
          </p:cNvPr>
          <p:cNvSpPr>
            <a:spLocks noGrp="1"/>
          </p:cNvSpPr>
          <p:nvPr/>
        </p:nvSpPr>
        <p:spPr>
          <a:xfrm>
            <a:off x="8667750"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29" name="フリーフォーム: 図形 28">
            <a:extLst>
              <a:ext uri="{FF2B5EF4-FFF2-40B4-BE49-F238E27FC236}">
                <a16:creationId xmlns:a16="http://schemas.microsoft.com/office/drawing/2014/main" id="{6B826D7F-4CCB-4B9B-A7EF-9677DDD7CC97}"/>
              </a:ext>
            </a:extLst>
          </p:cNvPr>
          <p:cNvSpPr>
            <a:spLocks noGrp="1"/>
          </p:cNvSpPr>
          <p:nvPr/>
        </p:nvSpPr>
        <p:spPr>
          <a:xfrm>
            <a:off x="9096375"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30" name="フリーフォーム: 図形 29">
            <a:extLst>
              <a:ext uri="{FF2B5EF4-FFF2-40B4-BE49-F238E27FC236}">
                <a16:creationId xmlns:a16="http://schemas.microsoft.com/office/drawing/2014/main" id="{0A981664-0DD2-431E-9C60-0E5FBC38DFB6}"/>
              </a:ext>
            </a:extLst>
          </p:cNvPr>
          <p:cNvSpPr>
            <a:spLocks noGrp="1"/>
          </p:cNvSpPr>
          <p:nvPr/>
        </p:nvSpPr>
        <p:spPr>
          <a:xfrm>
            <a:off x="9525000"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31" name="フリーフォーム: 図形 30">
            <a:extLst>
              <a:ext uri="{FF2B5EF4-FFF2-40B4-BE49-F238E27FC236}">
                <a16:creationId xmlns:a16="http://schemas.microsoft.com/office/drawing/2014/main" id="{E595E0F9-1D17-4CD1-927B-7728C3F0A61D}"/>
              </a:ext>
            </a:extLst>
          </p:cNvPr>
          <p:cNvSpPr>
            <a:spLocks noGrp="1"/>
          </p:cNvSpPr>
          <p:nvPr/>
        </p:nvSpPr>
        <p:spPr>
          <a:xfrm>
            <a:off x="9953625"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32" name="フリーフォーム: 図形 31">
            <a:extLst>
              <a:ext uri="{FF2B5EF4-FFF2-40B4-BE49-F238E27FC236}">
                <a16:creationId xmlns:a16="http://schemas.microsoft.com/office/drawing/2014/main" id="{59FC4840-1358-42F3-B178-72A54B48B688}"/>
              </a:ext>
            </a:extLst>
          </p:cNvPr>
          <p:cNvSpPr>
            <a:spLocks noGrp="1"/>
          </p:cNvSpPr>
          <p:nvPr/>
        </p:nvSpPr>
        <p:spPr>
          <a:xfrm>
            <a:off x="10382250" y="2524125"/>
            <a:ext cx="9525" cy="1524000"/>
          </a:xfrm>
          <a:custGeom>
            <a:avLst/>
            <a:gdLst/>
            <a:ahLst/>
            <a:cxnLst/>
            <a:rect l="0" t="0" r="0" b="0"/>
            <a:pathLst>
              <a:path w="9525" h="1524000">
                <a:moveTo>
                  <a:pt x="0" y="0"/>
                </a:moveTo>
                <a:lnTo>
                  <a:pt x="0" y="1524000"/>
                </a:lnTo>
              </a:path>
            </a:pathLst>
          </a:custGeom>
          <a:noFill/>
          <a:ln w="28575">
            <a:solidFill>
              <a:srgbClr val="D7B78C"/>
            </a:solidFill>
          </a:ln>
        </p:spPr>
      </p:sp>
      <p:sp>
        <p:nvSpPr>
          <p:cNvPr id="33" name="フリーフォーム: 図形 32">
            <a:extLst>
              <a:ext uri="{FF2B5EF4-FFF2-40B4-BE49-F238E27FC236}">
                <a16:creationId xmlns:a16="http://schemas.microsoft.com/office/drawing/2014/main" id="{A3BF1AAB-CB58-401C-9500-4192166DFB76}"/>
              </a:ext>
            </a:extLst>
          </p:cNvPr>
          <p:cNvSpPr>
            <a:spLocks noGrp="1"/>
          </p:cNvSpPr>
          <p:nvPr/>
        </p:nvSpPr>
        <p:spPr>
          <a:xfrm>
            <a:off x="7286625" y="4714875"/>
            <a:ext cx="2762250" cy="9525"/>
          </a:xfrm>
          <a:custGeom>
            <a:avLst/>
            <a:gdLst/>
            <a:ahLst/>
            <a:cxnLst/>
            <a:rect l="0" t="0" r="0" b="0"/>
            <a:pathLst>
              <a:path w="2762250" h="9525">
                <a:moveTo>
                  <a:pt x="0" y="0"/>
                </a:moveTo>
                <a:lnTo>
                  <a:pt x="2762250" y="0"/>
                </a:lnTo>
              </a:path>
            </a:pathLst>
          </a:custGeom>
          <a:noFill/>
          <a:ln w="38100">
            <a:solidFill>
              <a:srgbClr val="2876A8"/>
            </a:solidFill>
          </a:ln>
        </p:spPr>
      </p:sp>
      <p:sp>
        <p:nvSpPr>
          <p:cNvPr id="34" name="フリーフォーム: 図形 33">
            <a:extLst>
              <a:ext uri="{FF2B5EF4-FFF2-40B4-BE49-F238E27FC236}">
                <a16:creationId xmlns:a16="http://schemas.microsoft.com/office/drawing/2014/main" id="{2967A73D-7940-41AD-9C30-6EC6411F5402}"/>
              </a:ext>
            </a:extLst>
          </p:cNvPr>
          <p:cNvSpPr>
            <a:spLocks noGrp="1"/>
          </p:cNvSpPr>
          <p:nvPr/>
        </p:nvSpPr>
        <p:spPr>
          <a:xfrm>
            <a:off x="9927071" y="4714875"/>
            <a:ext cx="121804" cy="74679"/>
          </a:xfrm>
          <a:custGeom>
            <a:avLst/>
            <a:gdLst/>
            <a:ahLst/>
            <a:cxnLst/>
            <a:rect l="0" t="0" r="0" b="0"/>
            <a:pathLst>
              <a:path w="121804" h="74679">
                <a:moveTo>
                  <a:pt x="121804" y="0"/>
                </a:moveTo>
                <a:lnTo>
                  <a:pt x="0" y="74679"/>
                </a:lnTo>
              </a:path>
            </a:pathLst>
          </a:custGeom>
          <a:noFill/>
          <a:ln w="38100">
            <a:solidFill>
              <a:srgbClr val="2876A8"/>
            </a:solidFill>
          </a:ln>
        </p:spPr>
      </p:sp>
      <p:sp>
        <p:nvSpPr>
          <p:cNvPr id="35" name="フリーフォーム: 図形 34">
            <a:extLst>
              <a:ext uri="{FF2B5EF4-FFF2-40B4-BE49-F238E27FC236}">
                <a16:creationId xmlns:a16="http://schemas.microsoft.com/office/drawing/2014/main" id="{DA28A3DA-1F64-402A-A201-22A1ACDD9886}"/>
              </a:ext>
            </a:extLst>
          </p:cNvPr>
          <p:cNvSpPr>
            <a:spLocks noGrp="1"/>
          </p:cNvSpPr>
          <p:nvPr/>
        </p:nvSpPr>
        <p:spPr>
          <a:xfrm>
            <a:off x="9927071" y="4640196"/>
            <a:ext cx="121804" cy="74679"/>
          </a:xfrm>
          <a:custGeom>
            <a:avLst/>
            <a:gdLst/>
            <a:ahLst/>
            <a:cxnLst/>
            <a:rect l="0" t="0" r="0" b="0"/>
            <a:pathLst>
              <a:path w="121804" h="74679">
                <a:moveTo>
                  <a:pt x="121804" y="74679"/>
                </a:moveTo>
                <a:lnTo>
                  <a:pt x="0" y="0"/>
                </a:lnTo>
              </a:path>
            </a:pathLst>
          </a:custGeom>
          <a:noFill/>
          <a:ln w="38100">
            <a:solidFill>
              <a:srgbClr val="2876A8"/>
            </a:solidFill>
          </a:ln>
        </p:spPr>
      </p:sp>
      <p:sp>
        <p:nvSpPr>
          <p:cNvPr id="36" name="正方形/長方形 35">
            <a:extLst>
              <a:ext uri="{FF2B5EF4-FFF2-40B4-BE49-F238E27FC236}">
                <a16:creationId xmlns:a16="http://schemas.microsoft.com/office/drawing/2014/main" id="{3B57E739-37FC-4A8F-AF97-0135E1A81F35}"/>
              </a:ext>
            </a:extLst>
          </p:cNvPr>
          <p:cNvSpPr>
            <a:spLocks noGrp="1"/>
          </p:cNvSpPr>
          <p:nvPr/>
        </p:nvSpPr>
        <p:spPr>
          <a:xfrm>
            <a:off x="7620000" y="4933950"/>
            <a:ext cx="2857500" cy="476250"/>
          </a:xfrm>
          <a:prstGeom prst="rect">
            <a:avLst/>
          </a:prstGeom>
          <a:noFill/>
          <a:ln w="0">
            <a:noFill/>
          </a:ln>
        </p:spPr>
        <p:txBody>
          <a:bodyPr lIns="0" tIns="0" rIns="0" bIns="0" anchor="ctr">
            <a:noAutofit/>
          </a:bodyPr>
          <a:lstStyle>
            <a:defPPr>
              <a:defRPr sz="1950" b="1">
                <a:solidFill>
                  <a:srgbClr val="2876A8"/>
                </a:solidFill>
                <a:latin typeface="Yu Gothic"/>
                <a:ea typeface="Yu Gothic"/>
                <a:cs typeface="Yu Gothic"/>
              </a:defRPr>
            </a:defPPr>
            <a:lvl1pPr>
              <a:defRPr sz="1950" b="1">
                <a:solidFill>
                  <a:srgbClr val="2876A8"/>
                </a:solidFill>
                <a:latin typeface="Yu Gothic"/>
                <a:ea typeface="Yu Gothic"/>
                <a:cs typeface="Yu Gothic"/>
              </a:defRPr>
            </a:lvl1pPr>
            <a:lvl2pPr>
              <a:defRPr sz="1950" b="1">
                <a:solidFill>
                  <a:srgbClr val="2876A8"/>
                </a:solidFill>
                <a:latin typeface="Yu Gothic"/>
                <a:ea typeface="Yu Gothic"/>
                <a:cs typeface="Yu Gothic"/>
              </a:defRPr>
            </a:lvl2pPr>
            <a:lvl3pPr>
              <a:defRPr sz="1950" b="1">
                <a:solidFill>
                  <a:srgbClr val="2876A8"/>
                </a:solidFill>
                <a:latin typeface="Yu Gothic"/>
                <a:ea typeface="Yu Gothic"/>
                <a:cs typeface="Yu Gothic"/>
              </a:defRPr>
            </a:lvl3pPr>
            <a:lvl4pPr>
              <a:defRPr sz="1950" b="1">
                <a:solidFill>
                  <a:srgbClr val="2876A8"/>
                </a:solidFill>
                <a:latin typeface="Yu Gothic"/>
                <a:ea typeface="Yu Gothic"/>
                <a:cs typeface="Yu Gothic"/>
              </a:defRPr>
            </a:lvl4pPr>
            <a:lvl5pPr>
              <a:defRPr sz="1950" b="1">
                <a:solidFill>
                  <a:srgbClr val="2876A8"/>
                </a:solidFill>
                <a:latin typeface="Yu Gothic"/>
                <a:ea typeface="Yu Gothic"/>
                <a:cs typeface="Yu Gothic"/>
              </a:defRPr>
            </a:lvl5pPr>
            <a:lvl6pPr>
              <a:defRPr sz="1950" b="1">
                <a:solidFill>
                  <a:srgbClr val="2876A8"/>
                </a:solidFill>
                <a:latin typeface="Yu Gothic"/>
                <a:ea typeface="Yu Gothic"/>
                <a:cs typeface="Yu Gothic"/>
              </a:defRPr>
            </a:lvl6pPr>
            <a:lvl7pPr>
              <a:defRPr sz="1950" b="1">
                <a:solidFill>
                  <a:srgbClr val="2876A8"/>
                </a:solidFill>
                <a:latin typeface="Yu Gothic"/>
                <a:ea typeface="Yu Gothic"/>
                <a:cs typeface="Yu Gothic"/>
              </a:defRPr>
            </a:lvl7pPr>
            <a:lvl8pPr>
              <a:defRPr sz="1950" b="1">
                <a:solidFill>
                  <a:srgbClr val="2876A8"/>
                </a:solidFill>
                <a:latin typeface="Yu Gothic"/>
                <a:ea typeface="Yu Gothic"/>
                <a:cs typeface="Yu Gothic"/>
              </a:defRPr>
            </a:lvl8pPr>
            <a:lvl9pPr>
              <a:defRPr sz="1950" b="1">
                <a:solidFill>
                  <a:srgbClr val="2876A8"/>
                </a:solidFill>
                <a:latin typeface="Yu Gothic"/>
                <a:ea typeface="Yu Gothic"/>
                <a:cs typeface="Yu Gothic"/>
              </a:defRPr>
            </a:lvl9pPr>
          </a:lstStyle>
          <a:p>
            <a:pPr>
              <a:defRPr sz="1950" b="1">
                <a:solidFill>
                  <a:srgbClr val="2876A8"/>
                </a:solidFill>
                <a:latin typeface="Yu Gothic"/>
                <a:ea typeface="Yu Gothic"/>
                <a:cs typeface="Yu Gothic"/>
              </a:defRPr>
            </a:pPr>
            <a:r>
              <a:rPr sz="1950" b="1">
                <a:solidFill>
                  <a:srgbClr val="2876A8"/>
                </a:solidFill>
                <a:latin typeface="Yu Gothic"/>
                <a:ea typeface="Yu Gothic"/>
                <a:cs typeface="Yu Gothic"/>
              </a:rPr>
              <a:t>支点間の方向</a:t>
            </a:r>
          </a:p>
        </p:txBody>
      </p:sp>
      <p:sp>
        <p:nvSpPr>
          <p:cNvPr id="37" name="正方形/長方形 36">
            <a:extLst>
              <a:ext uri="{FF2B5EF4-FFF2-40B4-BE49-F238E27FC236}">
                <a16:creationId xmlns:a16="http://schemas.microsoft.com/office/drawing/2014/main" id="{6DBB87D6-D159-4CA2-B84C-03097DF5E8D0}"/>
              </a:ext>
            </a:extLst>
          </p:cNvPr>
          <p:cNvSpPr>
            <a:spLocks noGrp="1"/>
          </p:cNvSpPr>
          <p:nvPr/>
        </p:nvSpPr>
        <p:spPr>
          <a:xfrm>
            <a:off x="7381875" y="3000375"/>
            <a:ext cx="3286125" cy="523875"/>
          </a:xfrm>
          <a:prstGeom prst="rect">
            <a:avLst/>
          </a:prstGeom>
          <a:noFill/>
          <a:ln w="0">
            <a:noFill/>
          </a:ln>
        </p:spPr>
        <p:txBody>
          <a:bodyPr lIns="0" tIns="0" rIns="0" bIns="0" anchor="ctr">
            <a:noAutofit/>
          </a:bodyPr>
          <a:lstStyle>
            <a:defPPr>
              <a:defRPr sz="2025" b="1">
                <a:solidFill>
                  <a:srgbClr val="C4483C"/>
                </a:solidFill>
                <a:latin typeface="Yu Gothic"/>
                <a:ea typeface="Yu Gothic"/>
                <a:cs typeface="Yu Gothic"/>
              </a:defRPr>
            </a:defPPr>
            <a:lvl1pPr>
              <a:defRPr sz="2025" b="1">
                <a:solidFill>
                  <a:srgbClr val="C4483C"/>
                </a:solidFill>
                <a:latin typeface="Yu Gothic"/>
                <a:ea typeface="Yu Gothic"/>
                <a:cs typeface="Yu Gothic"/>
              </a:defRPr>
            </a:lvl1pPr>
            <a:lvl2pPr>
              <a:defRPr sz="2025" b="1">
                <a:solidFill>
                  <a:srgbClr val="C4483C"/>
                </a:solidFill>
                <a:latin typeface="Yu Gothic"/>
                <a:ea typeface="Yu Gothic"/>
                <a:cs typeface="Yu Gothic"/>
              </a:defRPr>
            </a:lvl2pPr>
            <a:lvl3pPr>
              <a:defRPr sz="2025" b="1">
                <a:solidFill>
                  <a:srgbClr val="C4483C"/>
                </a:solidFill>
                <a:latin typeface="Yu Gothic"/>
                <a:ea typeface="Yu Gothic"/>
                <a:cs typeface="Yu Gothic"/>
              </a:defRPr>
            </a:lvl3pPr>
            <a:lvl4pPr>
              <a:defRPr sz="2025" b="1">
                <a:solidFill>
                  <a:srgbClr val="C4483C"/>
                </a:solidFill>
                <a:latin typeface="Yu Gothic"/>
                <a:ea typeface="Yu Gothic"/>
                <a:cs typeface="Yu Gothic"/>
              </a:defRPr>
            </a:lvl4pPr>
            <a:lvl5pPr>
              <a:defRPr sz="2025" b="1">
                <a:solidFill>
                  <a:srgbClr val="C4483C"/>
                </a:solidFill>
                <a:latin typeface="Yu Gothic"/>
                <a:ea typeface="Yu Gothic"/>
                <a:cs typeface="Yu Gothic"/>
              </a:defRPr>
            </a:lvl5pPr>
            <a:lvl6pPr>
              <a:defRPr sz="2025" b="1">
                <a:solidFill>
                  <a:srgbClr val="C4483C"/>
                </a:solidFill>
                <a:latin typeface="Yu Gothic"/>
                <a:ea typeface="Yu Gothic"/>
                <a:cs typeface="Yu Gothic"/>
              </a:defRPr>
            </a:lvl6pPr>
            <a:lvl7pPr>
              <a:defRPr sz="2025" b="1">
                <a:solidFill>
                  <a:srgbClr val="C4483C"/>
                </a:solidFill>
                <a:latin typeface="Yu Gothic"/>
                <a:ea typeface="Yu Gothic"/>
                <a:cs typeface="Yu Gothic"/>
              </a:defRPr>
            </a:lvl7pPr>
            <a:lvl8pPr>
              <a:defRPr sz="2025" b="1">
                <a:solidFill>
                  <a:srgbClr val="C4483C"/>
                </a:solidFill>
                <a:latin typeface="Yu Gothic"/>
                <a:ea typeface="Yu Gothic"/>
                <a:cs typeface="Yu Gothic"/>
              </a:defRPr>
            </a:lvl8pPr>
            <a:lvl9pPr>
              <a:defRPr sz="2025" b="1">
                <a:solidFill>
                  <a:srgbClr val="C4483C"/>
                </a:solidFill>
                <a:latin typeface="Yu Gothic"/>
                <a:ea typeface="Yu Gothic"/>
                <a:cs typeface="Yu Gothic"/>
              </a:defRPr>
            </a:lvl9pPr>
          </a:lstStyle>
          <a:p>
            <a:pPr>
              <a:defRPr sz="2025" b="1">
                <a:solidFill>
                  <a:srgbClr val="C4483C"/>
                </a:solidFill>
                <a:latin typeface="Yu Gothic"/>
                <a:ea typeface="Yu Gothic"/>
                <a:cs typeface="Yu Gothic"/>
              </a:defRPr>
            </a:pPr>
            <a:r>
              <a:rPr sz="2025" b="1">
                <a:solidFill>
                  <a:srgbClr val="C4483C"/>
                </a:solidFill>
                <a:latin typeface="Yu Gothic"/>
                <a:ea typeface="Yu Gothic"/>
                <a:cs typeface="Yu Gothic"/>
              </a:rPr>
              <a:t>⊗ 荷重は板面の奥へ</a:t>
            </a:r>
          </a:p>
        </p:txBody>
      </p:sp>
      <p:sp>
        <p:nvSpPr>
          <p:cNvPr id="38" name="正方形/長方形 37">
            <a:extLst>
              <a:ext uri="{FF2B5EF4-FFF2-40B4-BE49-F238E27FC236}">
                <a16:creationId xmlns:a16="http://schemas.microsoft.com/office/drawing/2014/main" id="{D91D931F-DF1E-4167-AE4F-44E48845F650}"/>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二辺支持の帯板を想定。面内引張りと、面外曲げを区別する。</a:t>
            </a:r>
          </a:p>
        </p:txBody>
      </p:sp>
    </p:spTree>
    <p:extLst>
      <p:ext uri="{BB962C8B-B14F-4D97-AF65-F5344CB8AC3E}">
        <p14:creationId xmlns:p14="http://schemas.microsoft.com/office/powerpoint/2010/main" val="696789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E7529B7F-5442-4891-B4B8-882531FBB20A}"/>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LVLの平行積層</a:t>
            </a:r>
          </a:p>
        </p:txBody>
      </p:sp>
      <p:cxnSp>
        <p:nvCxnSpPr>
          <p:cNvPr id="2" name="直線矢印コネクタ 1">
            <a:extLst>
              <a:ext uri="{FF2B5EF4-FFF2-40B4-BE49-F238E27FC236}">
                <a16:creationId xmlns:a16="http://schemas.microsoft.com/office/drawing/2014/main" id="{369253E5-DDF0-4DCA-B71E-A10E80E1234B}"/>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1AF8835E-CAF2-4306-827E-CC271F8A2FF5}"/>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a:pPr algn="l">
              <a:buNone/>
              <a:defRPr sz="1425" b="0">
                <a:solidFill>
                  <a:srgbClr val="5D6C78"/>
                </a:solidFill>
                <a:latin typeface="Yu Gothic"/>
                <a:ea typeface="Yu Gothic"/>
                <a:cs typeface="Yu Gothic"/>
              </a:defRPr>
            </a:pPr>
            <a:r>
              <a:rPr lang="ja-JP" altLang="en-US" sz="1425" b="0">
                <a:solidFill>
                  <a:srgbClr val="5D6C78"/>
                </a:solidFill>
                <a:latin typeface="Yu Gothic"/>
                <a:ea typeface="Yu Gothic"/>
                <a:cs typeface="Yu Gothic"/>
              </a:rPr>
              <a:t>木材及び木質材料学　新第</a:t>
            </a:r>
            <a:r>
              <a:rPr lang="en-US" altLang="ja-JP" sz="1425" b="0">
                <a:solidFill>
                  <a:srgbClr val="5D6C78"/>
                </a:solidFill>
                <a:latin typeface="Yu Gothic"/>
                <a:ea typeface="Yu Gothic"/>
                <a:cs typeface="Yu Gothic"/>
              </a:rPr>
              <a:t>13</a:t>
            </a:r>
            <a:r>
              <a:rPr lang="ja-JP" altLang="en-US" sz="1425" b="0">
                <a:solidFill>
                  <a:srgbClr val="5D6C78"/>
                </a:solidFill>
                <a:latin typeface="Yu Gothic"/>
                <a:ea typeface="Yu Gothic"/>
                <a:cs typeface="Yu Gothic"/>
              </a:rPr>
              <a:t>回　材料構成</a:t>
            </a:r>
            <a:endParaRPr sz="1425" b="0">
              <a:solidFill>
                <a:srgbClr val="5D6C78"/>
              </a:solidFill>
              <a:latin typeface="Yu Gothic"/>
              <a:ea typeface="Yu Gothic"/>
              <a:cs typeface="Yu Gothic"/>
            </a:endParaRPr>
          </a:p>
        </p:txBody>
      </p:sp>
      <p:sp>
        <p:nvSpPr>
          <p:cNvPr id="4" name="正方形/長方形 3">
            <a:extLst>
              <a:ext uri="{FF2B5EF4-FFF2-40B4-BE49-F238E27FC236}">
                <a16:creationId xmlns:a16="http://schemas.microsoft.com/office/drawing/2014/main" id="{26ADFB1C-D0CC-47A0-BCC2-120AF5649813}"/>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a:pPr algn="r">
              <a:buNone/>
              <a:defRPr sz="1425" b="0">
                <a:solidFill>
                  <a:srgbClr val="5D6C78"/>
                </a:solidFill>
                <a:latin typeface="Yu Gothic"/>
                <a:ea typeface="Yu Gothic"/>
                <a:cs typeface="Yu Gothic"/>
              </a:defRPr>
            </a:pPr>
            <a:r>
              <a:rPr lang="en-US" altLang="ja-JP" sz="1425" b="0">
                <a:solidFill>
                  <a:srgbClr val="5D6C78"/>
                </a:solidFill>
                <a:latin typeface="Yu Gothic"/>
                <a:ea typeface="Yu Gothic"/>
                <a:cs typeface="Yu Gothic"/>
              </a:rPr>
              <a:t>28</a:t>
            </a:r>
            <a:endParaRPr sz="1425" b="0">
              <a:solidFill>
                <a:srgbClr val="5D6C78"/>
              </a:solidFill>
              <a:latin typeface="Yu Gothic"/>
              <a:ea typeface="Yu Gothic"/>
              <a:cs typeface="Yu Gothic"/>
            </a:endParaRPr>
          </a:p>
        </p:txBody>
      </p:sp>
      <p:sp>
        <p:nvSpPr>
          <p:cNvPr id="5" name="正方形/長方形 4">
            <a:extLst>
              <a:ext uri="{FF2B5EF4-FFF2-40B4-BE49-F238E27FC236}">
                <a16:creationId xmlns:a16="http://schemas.microsoft.com/office/drawing/2014/main" id="{908C130C-9F98-4767-94B5-FD39CA4B38E6}"/>
              </a:ext>
            </a:extLst>
          </p:cNvPr>
          <p:cNvSpPr>
            <a:spLocks noGrp="1"/>
          </p:cNvSpPr>
          <p:nvPr/>
        </p:nvSpPr>
        <p:spPr>
          <a:xfrm>
            <a:off x="1000125" y="2095500"/>
            <a:ext cx="5095875" cy="371475"/>
          </a:xfrm>
          <a:prstGeom prst="rect">
            <a:avLst/>
          </a:prstGeom>
          <a:solidFill>
            <a:srgbClr val="F5EFE4"/>
          </a:solidFill>
          <a:ln w="14288">
            <a:solidFill>
              <a:srgbClr val="C8D3DD"/>
            </a:solidFill>
          </a:ln>
        </p:spPr>
      </p:sp>
      <p:cxnSp>
        <p:nvCxnSpPr>
          <p:cNvPr id="6" name="直線矢印コネクタ 5">
            <a:extLst>
              <a:ext uri="{FF2B5EF4-FFF2-40B4-BE49-F238E27FC236}">
                <a16:creationId xmlns:a16="http://schemas.microsoft.com/office/drawing/2014/main" id="{FE53034D-4E06-427D-B40C-46ECABBF2D60}"/>
              </a:ext>
            </a:extLst>
          </p:cNvPr>
          <p:cNvCxnSpPr/>
          <p:nvPr/>
        </p:nvCxnSpPr>
        <p:spPr>
          <a:xfrm>
            <a:off x="1190625" y="2171700"/>
            <a:ext cx="4714875" cy="0"/>
          </a:xfrm>
          <a:prstGeom prst="straightConnector1">
            <a:avLst/>
          </a:prstGeom>
          <a:ln w="17145">
            <a:solidFill>
              <a:srgbClr val="B55D09"/>
            </a:solidFill>
          </a:ln>
        </p:spPr>
      </p:cxnSp>
      <p:cxnSp>
        <p:nvCxnSpPr>
          <p:cNvPr id="7" name="直線矢印コネクタ 6">
            <a:extLst>
              <a:ext uri="{FF2B5EF4-FFF2-40B4-BE49-F238E27FC236}">
                <a16:creationId xmlns:a16="http://schemas.microsoft.com/office/drawing/2014/main" id="{D5835ADB-F986-4102-BD1F-3F5FCB9D14D0}"/>
              </a:ext>
            </a:extLst>
          </p:cNvPr>
          <p:cNvCxnSpPr/>
          <p:nvPr/>
        </p:nvCxnSpPr>
        <p:spPr>
          <a:xfrm>
            <a:off x="1190625" y="2257425"/>
            <a:ext cx="4714875" cy="0"/>
          </a:xfrm>
          <a:prstGeom prst="straightConnector1">
            <a:avLst/>
          </a:prstGeom>
          <a:ln w="17145">
            <a:solidFill>
              <a:srgbClr val="B55D09"/>
            </a:solidFill>
          </a:ln>
        </p:spPr>
      </p:cxnSp>
      <p:cxnSp>
        <p:nvCxnSpPr>
          <p:cNvPr id="8" name="直線矢印コネクタ 7">
            <a:extLst>
              <a:ext uri="{FF2B5EF4-FFF2-40B4-BE49-F238E27FC236}">
                <a16:creationId xmlns:a16="http://schemas.microsoft.com/office/drawing/2014/main" id="{11B1EB51-CDCB-4030-AD73-B7E5BF694DC8}"/>
              </a:ext>
            </a:extLst>
          </p:cNvPr>
          <p:cNvCxnSpPr/>
          <p:nvPr/>
        </p:nvCxnSpPr>
        <p:spPr>
          <a:xfrm>
            <a:off x="1190625" y="2343150"/>
            <a:ext cx="4714875" cy="0"/>
          </a:xfrm>
          <a:prstGeom prst="straightConnector1">
            <a:avLst/>
          </a:prstGeom>
          <a:ln w="17145">
            <a:solidFill>
              <a:srgbClr val="B55D09"/>
            </a:solidFill>
          </a:ln>
        </p:spPr>
      </p:cxnSp>
      <p:sp>
        <p:nvSpPr>
          <p:cNvPr id="9" name="正方形/長方形 8">
            <a:extLst>
              <a:ext uri="{FF2B5EF4-FFF2-40B4-BE49-F238E27FC236}">
                <a16:creationId xmlns:a16="http://schemas.microsoft.com/office/drawing/2014/main" id="{3D058EF9-827C-4C7E-A0AE-032AE1B0B605}"/>
              </a:ext>
            </a:extLst>
          </p:cNvPr>
          <p:cNvSpPr>
            <a:spLocks noGrp="1"/>
          </p:cNvSpPr>
          <p:nvPr/>
        </p:nvSpPr>
        <p:spPr>
          <a:xfrm>
            <a:off x="1000125" y="2495550"/>
            <a:ext cx="5095875" cy="371475"/>
          </a:xfrm>
          <a:prstGeom prst="rect">
            <a:avLst/>
          </a:prstGeom>
          <a:solidFill>
            <a:srgbClr val="F5EFE4"/>
          </a:solidFill>
          <a:ln w="14288">
            <a:solidFill>
              <a:srgbClr val="C8D3DD"/>
            </a:solidFill>
          </a:ln>
        </p:spPr>
      </p:sp>
      <p:cxnSp>
        <p:nvCxnSpPr>
          <p:cNvPr id="10" name="直線矢印コネクタ 9">
            <a:extLst>
              <a:ext uri="{FF2B5EF4-FFF2-40B4-BE49-F238E27FC236}">
                <a16:creationId xmlns:a16="http://schemas.microsoft.com/office/drawing/2014/main" id="{308B1C69-E289-4676-A6B7-ECFA959C4CD5}"/>
              </a:ext>
            </a:extLst>
          </p:cNvPr>
          <p:cNvCxnSpPr/>
          <p:nvPr/>
        </p:nvCxnSpPr>
        <p:spPr>
          <a:xfrm>
            <a:off x="1190625" y="2571750"/>
            <a:ext cx="4714875" cy="0"/>
          </a:xfrm>
          <a:prstGeom prst="straightConnector1">
            <a:avLst/>
          </a:prstGeom>
          <a:ln w="17145">
            <a:solidFill>
              <a:srgbClr val="B55D09"/>
            </a:solidFill>
          </a:ln>
        </p:spPr>
      </p:cxnSp>
      <p:cxnSp>
        <p:nvCxnSpPr>
          <p:cNvPr id="11" name="直線矢印コネクタ 10">
            <a:extLst>
              <a:ext uri="{FF2B5EF4-FFF2-40B4-BE49-F238E27FC236}">
                <a16:creationId xmlns:a16="http://schemas.microsoft.com/office/drawing/2014/main" id="{1A4A257E-6736-402A-9E63-6ACCCC0D328C}"/>
              </a:ext>
            </a:extLst>
          </p:cNvPr>
          <p:cNvCxnSpPr/>
          <p:nvPr/>
        </p:nvCxnSpPr>
        <p:spPr>
          <a:xfrm>
            <a:off x="1190625" y="2657475"/>
            <a:ext cx="4714875" cy="0"/>
          </a:xfrm>
          <a:prstGeom prst="straightConnector1">
            <a:avLst/>
          </a:prstGeom>
          <a:ln w="17145">
            <a:solidFill>
              <a:srgbClr val="B55D09"/>
            </a:solidFill>
          </a:ln>
        </p:spPr>
      </p:cxnSp>
      <p:cxnSp>
        <p:nvCxnSpPr>
          <p:cNvPr id="12" name="直線矢印コネクタ 11">
            <a:extLst>
              <a:ext uri="{FF2B5EF4-FFF2-40B4-BE49-F238E27FC236}">
                <a16:creationId xmlns:a16="http://schemas.microsoft.com/office/drawing/2014/main" id="{A97686C6-F793-433D-8153-3EA0BDF29163}"/>
              </a:ext>
            </a:extLst>
          </p:cNvPr>
          <p:cNvCxnSpPr/>
          <p:nvPr/>
        </p:nvCxnSpPr>
        <p:spPr>
          <a:xfrm>
            <a:off x="1190625" y="2743200"/>
            <a:ext cx="4714875" cy="0"/>
          </a:xfrm>
          <a:prstGeom prst="straightConnector1">
            <a:avLst/>
          </a:prstGeom>
          <a:ln w="17145">
            <a:solidFill>
              <a:srgbClr val="B55D09"/>
            </a:solidFill>
          </a:ln>
        </p:spPr>
      </p:cxnSp>
      <p:sp>
        <p:nvSpPr>
          <p:cNvPr id="13" name="正方形/長方形 12">
            <a:extLst>
              <a:ext uri="{FF2B5EF4-FFF2-40B4-BE49-F238E27FC236}">
                <a16:creationId xmlns:a16="http://schemas.microsoft.com/office/drawing/2014/main" id="{DB511E17-ABBC-4805-925A-E6D5A62248BA}"/>
              </a:ext>
            </a:extLst>
          </p:cNvPr>
          <p:cNvSpPr>
            <a:spLocks noGrp="1"/>
          </p:cNvSpPr>
          <p:nvPr/>
        </p:nvSpPr>
        <p:spPr>
          <a:xfrm>
            <a:off x="1000125" y="2895600"/>
            <a:ext cx="5095875" cy="371475"/>
          </a:xfrm>
          <a:prstGeom prst="rect">
            <a:avLst/>
          </a:prstGeom>
          <a:solidFill>
            <a:srgbClr val="F5EFE4"/>
          </a:solidFill>
          <a:ln w="14288">
            <a:solidFill>
              <a:srgbClr val="C8D3DD"/>
            </a:solidFill>
          </a:ln>
        </p:spPr>
      </p:sp>
      <p:cxnSp>
        <p:nvCxnSpPr>
          <p:cNvPr id="14" name="直線矢印コネクタ 13">
            <a:extLst>
              <a:ext uri="{FF2B5EF4-FFF2-40B4-BE49-F238E27FC236}">
                <a16:creationId xmlns:a16="http://schemas.microsoft.com/office/drawing/2014/main" id="{0B367433-5AA6-41D3-8D51-74EFE77C7B0C}"/>
              </a:ext>
            </a:extLst>
          </p:cNvPr>
          <p:cNvCxnSpPr/>
          <p:nvPr/>
        </p:nvCxnSpPr>
        <p:spPr>
          <a:xfrm>
            <a:off x="1190625" y="2971800"/>
            <a:ext cx="4714875" cy="0"/>
          </a:xfrm>
          <a:prstGeom prst="straightConnector1">
            <a:avLst/>
          </a:prstGeom>
          <a:ln w="17145">
            <a:solidFill>
              <a:srgbClr val="B55D09"/>
            </a:solidFill>
          </a:ln>
        </p:spPr>
      </p:cxnSp>
      <p:cxnSp>
        <p:nvCxnSpPr>
          <p:cNvPr id="15" name="直線矢印コネクタ 14">
            <a:extLst>
              <a:ext uri="{FF2B5EF4-FFF2-40B4-BE49-F238E27FC236}">
                <a16:creationId xmlns:a16="http://schemas.microsoft.com/office/drawing/2014/main" id="{BF458882-EFFD-420E-8983-1034ED2AC4E4}"/>
              </a:ext>
            </a:extLst>
          </p:cNvPr>
          <p:cNvCxnSpPr/>
          <p:nvPr/>
        </p:nvCxnSpPr>
        <p:spPr>
          <a:xfrm>
            <a:off x="1190625" y="3057525"/>
            <a:ext cx="4714875" cy="0"/>
          </a:xfrm>
          <a:prstGeom prst="straightConnector1">
            <a:avLst/>
          </a:prstGeom>
          <a:ln w="17145">
            <a:solidFill>
              <a:srgbClr val="B55D09"/>
            </a:solidFill>
          </a:ln>
        </p:spPr>
      </p:cxnSp>
      <p:cxnSp>
        <p:nvCxnSpPr>
          <p:cNvPr id="16" name="直線矢印コネクタ 15">
            <a:extLst>
              <a:ext uri="{FF2B5EF4-FFF2-40B4-BE49-F238E27FC236}">
                <a16:creationId xmlns:a16="http://schemas.microsoft.com/office/drawing/2014/main" id="{C48E5B95-2E98-4A1C-9CA5-0D96955C6862}"/>
              </a:ext>
            </a:extLst>
          </p:cNvPr>
          <p:cNvCxnSpPr/>
          <p:nvPr/>
        </p:nvCxnSpPr>
        <p:spPr>
          <a:xfrm>
            <a:off x="1190625" y="3143250"/>
            <a:ext cx="4714875" cy="0"/>
          </a:xfrm>
          <a:prstGeom prst="straightConnector1">
            <a:avLst/>
          </a:prstGeom>
          <a:ln w="17145">
            <a:solidFill>
              <a:srgbClr val="B55D09"/>
            </a:solidFill>
          </a:ln>
        </p:spPr>
      </p:cxnSp>
      <p:sp>
        <p:nvSpPr>
          <p:cNvPr id="17" name="正方形/長方形 16">
            <a:extLst>
              <a:ext uri="{FF2B5EF4-FFF2-40B4-BE49-F238E27FC236}">
                <a16:creationId xmlns:a16="http://schemas.microsoft.com/office/drawing/2014/main" id="{CE2C0298-B142-4453-AA4E-CD479FCACE1D}"/>
              </a:ext>
            </a:extLst>
          </p:cNvPr>
          <p:cNvSpPr>
            <a:spLocks noGrp="1"/>
          </p:cNvSpPr>
          <p:nvPr/>
        </p:nvSpPr>
        <p:spPr>
          <a:xfrm>
            <a:off x="1000125" y="3295650"/>
            <a:ext cx="5095875" cy="371475"/>
          </a:xfrm>
          <a:prstGeom prst="rect">
            <a:avLst/>
          </a:prstGeom>
          <a:solidFill>
            <a:srgbClr val="F5EFE4"/>
          </a:solidFill>
          <a:ln w="14288">
            <a:solidFill>
              <a:srgbClr val="C8D3DD"/>
            </a:solidFill>
          </a:ln>
        </p:spPr>
      </p:sp>
      <p:cxnSp>
        <p:nvCxnSpPr>
          <p:cNvPr id="18" name="直線矢印コネクタ 17">
            <a:extLst>
              <a:ext uri="{FF2B5EF4-FFF2-40B4-BE49-F238E27FC236}">
                <a16:creationId xmlns:a16="http://schemas.microsoft.com/office/drawing/2014/main" id="{8424EB9F-BD14-44CF-8827-C93AC0B6C7A7}"/>
              </a:ext>
            </a:extLst>
          </p:cNvPr>
          <p:cNvCxnSpPr/>
          <p:nvPr/>
        </p:nvCxnSpPr>
        <p:spPr>
          <a:xfrm>
            <a:off x="1190625" y="3371850"/>
            <a:ext cx="4714875" cy="0"/>
          </a:xfrm>
          <a:prstGeom prst="straightConnector1">
            <a:avLst/>
          </a:prstGeom>
          <a:ln w="17145">
            <a:solidFill>
              <a:srgbClr val="B55D09"/>
            </a:solidFill>
          </a:ln>
        </p:spPr>
      </p:cxnSp>
      <p:cxnSp>
        <p:nvCxnSpPr>
          <p:cNvPr id="19" name="直線矢印コネクタ 18">
            <a:extLst>
              <a:ext uri="{FF2B5EF4-FFF2-40B4-BE49-F238E27FC236}">
                <a16:creationId xmlns:a16="http://schemas.microsoft.com/office/drawing/2014/main" id="{558F6B6C-6A9A-4927-8075-1598FF496CB9}"/>
              </a:ext>
            </a:extLst>
          </p:cNvPr>
          <p:cNvCxnSpPr/>
          <p:nvPr/>
        </p:nvCxnSpPr>
        <p:spPr>
          <a:xfrm>
            <a:off x="1190625" y="3457575"/>
            <a:ext cx="4714875" cy="0"/>
          </a:xfrm>
          <a:prstGeom prst="straightConnector1">
            <a:avLst/>
          </a:prstGeom>
          <a:ln w="17145">
            <a:solidFill>
              <a:srgbClr val="B55D09"/>
            </a:solidFill>
          </a:ln>
        </p:spPr>
      </p:cxnSp>
      <p:cxnSp>
        <p:nvCxnSpPr>
          <p:cNvPr id="20" name="直線矢印コネクタ 19">
            <a:extLst>
              <a:ext uri="{FF2B5EF4-FFF2-40B4-BE49-F238E27FC236}">
                <a16:creationId xmlns:a16="http://schemas.microsoft.com/office/drawing/2014/main" id="{FEAA98DF-91A7-49FF-8177-5AD9B5BCEC58}"/>
              </a:ext>
            </a:extLst>
          </p:cNvPr>
          <p:cNvCxnSpPr/>
          <p:nvPr/>
        </p:nvCxnSpPr>
        <p:spPr>
          <a:xfrm>
            <a:off x="1190625" y="3543300"/>
            <a:ext cx="4714875" cy="0"/>
          </a:xfrm>
          <a:prstGeom prst="straightConnector1">
            <a:avLst/>
          </a:prstGeom>
          <a:ln w="17145">
            <a:solidFill>
              <a:srgbClr val="B55D09"/>
            </a:solidFill>
          </a:ln>
        </p:spPr>
      </p:cxnSp>
      <p:sp>
        <p:nvSpPr>
          <p:cNvPr id="21" name="正方形/長方形 20">
            <a:extLst>
              <a:ext uri="{FF2B5EF4-FFF2-40B4-BE49-F238E27FC236}">
                <a16:creationId xmlns:a16="http://schemas.microsoft.com/office/drawing/2014/main" id="{9B825F1C-559A-445F-B409-397DFD3DE004}"/>
              </a:ext>
            </a:extLst>
          </p:cNvPr>
          <p:cNvSpPr>
            <a:spLocks noGrp="1"/>
          </p:cNvSpPr>
          <p:nvPr/>
        </p:nvSpPr>
        <p:spPr>
          <a:xfrm>
            <a:off x="1000125" y="3695700"/>
            <a:ext cx="5095875" cy="371475"/>
          </a:xfrm>
          <a:prstGeom prst="rect">
            <a:avLst/>
          </a:prstGeom>
          <a:solidFill>
            <a:srgbClr val="F5EFE4"/>
          </a:solidFill>
          <a:ln w="14288">
            <a:solidFill>
              <a:srgbClr val="C8D3DD"/>
            </a:solidFill>
          </a:ln>
        </p:spPr>
      </p:sp>
      <p:cxnSp>
        <p:nvCxnSpPr>
          <p:cNvPr id="22" name="直線矢印コネクタ 21">
            <a:extLst>
              <a:ext uri="{FF2B5EF4-FFF2-40B4-BE49-F238E27FC236}">
                <a16:creationId xmlns:a16="http://schemas.microsoft.com/office/drawing/2014/main" id="{7B3665B2-DEF2-4153-9E1A-68328C67225C}"/>
              </a:ext>
            </a:extLst>
          </p:cNvPr>
          <p:cNvCxnSpPr/>
          <p:nvPr/>
        </p:nvCxnSpPr>
        <p:spPr>
          <a:xfrm>
            <a:off x="1190625" y="3771900"/>
            <a:ext cx="4714875" cy="0"/>
          </a:xfrm>
          <a:prstGeom prst="straightConnector1">
            <a:avLst/>
          </a:prstGeom>
          <a:ln w="17145">
            <a:solidFill>
              <a:srgbClr val="B55D09"/>
            </a:solidFill>
          </a:ln>
        </p:spPr>
      </p:cxnSp>
      <p:cxnSp>
        <p:nvCxnSpPr>
          <p:cNvPr id="23" name="直線矢印コネクタ 22">
            <a:extLst>
              <a:ext uri="{FF2B5EF4-FFF2-40B4-BE49-F238E27FC236}">
                <a16:creationId xmlns:a16="http://schemas.microsoft.com/office/drawing/2014/main" id="{3E7FE5C0-D68E-4607-BBA1-0DAB779985CB}"/>
              </a:ext>
            </a:extLst>
          </p:cNvPr>
          <p:cNvCxnSpPr/>
          <p:nvPr/>
        </p:nvCxnSpPr>
        <p:spPr>
          <a:xfrm>
            <a:off x="1190625" y="3857625"/>
            <a:ext cx="4714875" cy="0"/>
          </a:xfrm>
          <a:prstGeom prst="straightConnector1">
            <a:avLst/>
          </a:prstGeom>
          <a:ln w="17145">
            <a:solidFill>
              <a:srgbClr val="B55D09"/>
            </a:solidFill>
          </a:ln>
        </p:spPr>
      </p:cxnSp>
      <p:cxnSp>
        <p:nvCxnSpPr>
          <p:cNvPr id="24" name="直線矢印コネクタ 23">
            <a:extLst>
              <a:ext uri="{FF2B5EF4-FFF2-40B4-BE49-F238E27FC236}">
                <a16:creationId xmlns:a16="http://schemas.microsoft.com/office/drawing/2014/main" id="{7A4A7118-0C82-4FBE-9247-D888181320A8}"/>
              </a:ext>
            </a:extLst>
          </p:cNvPr>
          <p:cNvCxnSpPr/>
          <p:nvPr/>
        </p:nvCxnSpPr>
        <p:spPr>
          <a:xfrm>
            <a:off x="1190625" y="3943350"/>
            <a:ext cx="4714875" cy="0"/>
          </a:xfrm>
          <a:prstGeom prst="straightConnector1">
            <a:avLst/>
          </a:prstGeom>
          <a:ln w="17145">
            <a:solidFill>
              <a:srgbClr val="B55D09"/>
            </a:solidFill>
          </a:ln>
        </p:spPr>
      </p:cxnSp>
      <p:sp>
        <p:nvSpPr>
          <p:cNvPr id="25" name="正方形/長方形 24">
            <a:extLst>
              <a:ext uri="{FF2B5EF4-FFF2-40B4-BE49-F238E27FC236}">
                <a16:creationId xmlns:a16="http://schemas.microsoft.com/office/drawing/2014/main" id="{9BC7E49A-21DD-4DD4-A740-4027FF8A0E12}"/>
              </a:ext>
            </a:extLst>
          </p:cNvPr>
          <p:cNvSpPr>
            <a:spLocks noGrp="1"/>
          </p:cNvSpPr>
          <p:nvPr/>
        </p:nvSpPr>
        <p:spPr>
          <a:xfrm>
            <a:off x="1000125" y="4229100"/>
            <a:ext cx="5095875" cy="476250"/>
          </a:xfrm>
          <a:prstGeom prst="rect">
            <a:avLst/>
          </a:prstGeom>
          <a:noFill/>
          <a:ln w="0">
            <a:noFill/>
          </a:ln>
        </p:spPr>
        <p:txBody>
          <a:bodyPr lIns="0" tIns="0" rIns="0" bIns="0" anchor="ctr">
            <a:noAutofit/>
          </a:bodyPr>
          <a:lstStyle>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LVL</a:t>
            </a:r>
          </a:p>
        </p:txBody>
      </p:sp>
      <p:sp>
        <p:nvSpPr>
          <p:cNvPr id="26" name="正方形/長方形 25">
            <a:extLst>
              <a:ext uri="{FF2B5EF4-FFF2-40B4-BE49-F238E27FC236}">
                <a16:creationId xmlns:a16="http://schemas.microsoft.com/office/drawing/2014/main" id="{CEB45AA1-6239-4452-8F69-F1752C5A9228}"/>
              </a:ext>
            </a:extLst>
          </p:cNvPr>
          <p:cNvSpPr>
            <a:spLocks noGrp="1"/>
          </p:cNvSpPr>
          <p:nvPr/>
        </p:nvSpPr>
        <p:spPr>
          <a:xfrm>
            <a:off x="7191375" y="19335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要素：単板</a:t>
            </a:r>
          </a:p>
        </p:txBody>
      </p:sp>
      <p:sp>
        <p:nvSpPr>
          <p:cNvPr id="27" name="正方形/長方形 26">
            <a:extLst>
              <a:ext uri="{FF2B5EF4-FFF2-40B4-BE49-F238E27FC236}">
                <a16:creationId xmlns:a16="http://schemas.microsoft.com/office/drawing/2014/main" id="{236C8182-CDF8-456E-8C1E-289AAEEAFBF7}"/>
              </a:ext>
            </a:extLst>
          </p:cNvPr>
          <p:cNvSpPr>
            <a:spLocks noGrp="1"/>
          </p:cNvSpPr>
          <p:nvPr/>
        </p:nvSpPr>
        <p:spPr>
          <a:xfrm>
            <a:off x="7191375" y="28098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28" name="正方形/長方形 27">
            <a:extLst>
              <a:ext uri="{FF2B5EF4-FFF2-40B4-BE49-F238E27FC236}">
                <a16:creationId xmlns:a16="http://schemas.microsoft.com/office/drawing/2014/main" id="{0CF3D3FE-8289-4828-B820-DC9651BFA242}"/>
              </a:ext>
            </a:extLst>
          </p:cNvPr>
          <p:cNvSpPr>
            <a:spLocks noGrp="1"/>
          </p:cNvSpPr>
          <p:nvPr/>
        </p:nvSpPr>
        <p:spPr>
          <a:xfrm>
            <a:off x="7191375" y="36861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層の厚さ・位置も重要</a:t>
            </a:r>
          </a:p>
        </p:txBody>
      </p:sp>
      <p:sp>
        <p:nvSpPr>
          <p:cNvPr id="29" name="正方形/長方形 28">
            <a:extLst>
              <a:ext uri="{FF2B5EF4-FFF2-40B4-BE49-F238E27FC236}">
                <a16:creationId xmlns:a16="http://schemas.microsoft.com/office/drawing/2014/main" id="{65E6C4A5-7E4C-4140-9428-C78FD0CAD74F}"/>
              </a:ext>
            </a:extLst>
          </p:cNvPr>
          <p:cNvSpPr>
            <a:spLocks noGrp="1"/>
          </p:cNvSpPr>
          <p:nvPr/>
        </p:nvSpPr>
        <p:spPr>
          <a:xfrm>
            <a:off x="7191375" y="4562475"/>
            <a:ext cx="4314825" cy="7429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接着と用途の条件も確認</a:t>
            </a:r>
          </a:p>
        </p:txBody>
      </p:sp>
    </p:spTree>
    <p:extLst>
      <p:ext uri="{BB962C8B-B14F-4D97-AF65-F5344CB8AC3E}">
        <p14:creationId xmlns:p14="http://schemas.microsoft.com/office/powerpoint/2010/main" val="2653842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9A4E992-D9D1-4707-970C-E002DCE46017}"/>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接着品質と使用環境</a:t>
            </a:r>
          </a:p>
        </p:txBody>
      </p:sp>
      <p:cxnSp>
        <p:nvCxnSpPr>
          <p:cNvPr id="2" name="直線矢印コネクタ 1">
            <a:extLst>
              <a:ext uri="{FF2B5EF4-FFF2-40B4-BE49-F238E27FC236}">
                <a16:creationId xmlns:a16="http://schemas.microsoft.com/office/drawing/2014/main" id="{CC8BC657-2A9F-463C-ADAD-8DC7C034EFBD}"/>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B58DA9EF-44A1-4A2C-914E-BFD80C333983}"/>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D8C80BB-06E2-4694-BAAA-C2C33059A623}"/>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29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B31E20B-1EAF-4915-8681-164E1DDE78D6}"/>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接着は、木材の含水率・表面状態・塗布・圧締・硬化に左右される</a:t>
            </a:r>
          </a:p>
        </p:txBody>
      </p:sp>
      <p:sp>
        <p:nvSpPr>
          <p:cNvPr id="6" name="正方形/長方形 5">
            <a:extLst>
              <a:ext uri="{FF2B5EF4-FFF2-40B4-BE49-F238E27FC236}">
                <a16:creationId xmlns:a16="http://schemas.microsoft.com/office/drawing/2014/main" id="{268FEEA3-8C2B-4E1D-9727-4B66247BB8BD}"/>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乾燥した室内用と、湿潤条件を想定した製品は区別する</a:t>
            </a:r>
          </a:p>
        </p:txBody>
      </p:sp>
      <p:sp>
        <p:nvSpPr>
          <p:cNvPr id="7" name="正方形/長方形 6">
            <a:extLst>
              <a:ext uri="{FF2B5EF4-FFF2-40B4-BE49-F238E27FC236}">
                <a16:creationId xmlns:a16="http://schemas.microsoft.com/office/drawing/2014/main" id="{79906B2B-831C-463C-8826-56D92C1887E0}"/>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接着の耐水性と、木材そのものの吸水・腐朽は別に考える</a:t>
            </a:r>
          </a:p>
        </p:txBody>
      </p:sp>
      <p:sp>
        <p:nvSpPr>
          <p:cNvPr id="8" name="正方形/長方形 7">
            <a:extLst>
              <a:ext uri="{FF2B5EF4-FFF2-40B4-BE49-F238E27FC236}">
                <a16:creationId xmlns:a16="http://schemas.microsoft.com/office/drawing/2014/main" id="{C613626F-15C4-46D6-8D70-F87142DC41AA}"/>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構造用途では、方向別の製品性能と使用条件を確認する</a:t>
            </a:r>
          </a:p>
        </p:txBody>
      </p:sp>
      <p:sp>
        <p:nvSpPr>
          <p:cNvPr id="9" name="正方形/長方形 8">
            <a:extLst>
              <a:ext uri="{FF2B5EF4-FFF2-40B4-BE49-F238E27FC236}">
                <a16:creationId xmlns:a16="http://schemas.microsoft.com/office/drawing/2014/main" id="{595D389A-455E-4789-A523-4C4384DD4973}"/>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製品表示は規格・仕様書の最新版により、用途と評価条件を読む</a:t>
            </a:r>
          </a:p>
        </p:txBody>
      </p:sp>
    </p:spTree>
    <p:extLst>
      <p:ext uri="{BB962C8B-B14F-4D97-AF65-F5344CB8AC3E}">
        <p14:creationId xmlns:p14="http://schemas.microsoft.com/office/powerpoint/2010/main" val="2767271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17C8374-FB34-4549-A899-6DB37B5E384A}"/>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パーティクルボードの製造と性質</a:t>
            </a:r>
          </a:p>
        </p:txBody>
      </p:sp>
      <p:cxnSp>
        <p:nvCxnSpPr>
          <p:cNvPr id="2" name="直線矢印コネクタ 1">
            <a:extLst>
              <a:ext uri="{FF2B5EF4-FFF2-40B4-BE49-F238E27FC236}">
                <a16:creationId xmlns:a16="http://schemas.microsoft.com/office/drawing/2014/main" id="{8854139D-4146-4B4F-A97B-BFE249CED3F6}"/>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450FCAA2-B91D-4A39-ADDD-8AF72190F9BC}"/>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103A071A-CBC9-4E40-A106-ADAFF79C35DE}"/>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87FEFB4-EDF1-40B6-BCD6-785847A76B21}"/>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木材を小片にし、乾燥・分級・接着剤添加の後に成形する</a:t>
            </a:r>
          </a:p>
        </p:txBody>
      </p:sp>
      <p:sp>
        <p:nvSpPr>
          <p:cNvPr id="6" name="正方形/長方形 5">
            <a:extLst>
              <a:ext uri="{FF2B5EF4-FFF2-40B4-BE49-F238E27FC236}">
                <a16:creationId xmlns:a16="http://schemas.microsoft.com/office/drawing/2014/main" id="{2E7E80ED-04A7-4C26-92CD-91CA6A5C3C3B}"/>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熱圧で圧密・硬化させ、表層と内部の要素や密度を調整する</a:t>
            </a:r>
          </a:p>
        </p:txBody>
      </p:sp>
      <p:sp>
        <p:nvSpPr>
          <p:cNvPr id="7" name="正方形/長方形 6">
            <a:extLst>
              <a:ext uri="{FF2B5EF4-FFF2-40B4-BE49-F238E27FC236}">
                <a16:creationId xmlns:a16="http://schemas.microsoft.com/office/drawing/2014/main" id="{C2B3641D-7996-4E8B-B46C-79221614C68B}"/>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表面の平滑さと、端面の小片の組合せを観察する</a:t>
            </a:r>
          </a:p>
        </p:txBody>
      </p:sp>
      <p:sp>
        <p:nvSpPr>
          <p:cNvPr id="8" name="正方形/長方形 7">
            <a:extLst>
              <a:ext uri="{FF2B5EF4-FFF2-40B4-BE49-F238E27FC236}">
                <a16:creationId xmlns:a16="http://schemas.microsoft.com/office/drawing/2014/main" id="{373FDC33-3E10-4324-9659-3429EA23AD69}"/>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ねじ保持は密度だけでなく、面・端面、下穴、留付け条件にも依存する</a:t>
            </a:r>
          </a:p>
        </p:txBody>
      </p:sp>
      <p:sp>
        <p:nvSpPr>
          <p:cNvPr id="9" name="正方形/長方形 8">
            <a:extLst>
              <a:ext uri="{FF2B5EF4-FFF2-40B4-BE49-F238E27FC236}">
                <a16:creationId xmlns:a16="http://schemas.microsoft.com/office/drawing/2014/main" id="{A0C48BB2-7941-4020-9640-D1BC6DEE2F93}"/>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端材や再生木材を利用できる一方、用途に合う品質管理が必要</a:t>
            </a:r>
          </a:p>
        </p:txBody>
      </p:sp>
    </p:spTree>
    <p:extLst>
      <p:ext uri="{BB962C8B-B14F-4D97-AF65-F5344CB8AC3E}">
        <p14:creationId xmlns:p14="http://schemas.microsoft.com/office/powerpoint/2010/main" val="543389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4E34035-3C6A-494F-938D-AEAD35EDA59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厚さ方向の密度分布を見る</a:t>
            </a:r>
          </a:p>
        </p:txBody>
      </p:sp>
      <p:sp>
        <p:nvSpPr>
          <p:cNvPr id="2" name="正方形/長方形 1">
            <a:extLst>
              <a:ext uri="{FF2B5EF4-FFF2-40B4-BE49-F238E27FC236}">
                <a16:creationId xmlns:a16="http://schemas.microsoft.com/office/drawing/2014/main" id="{ED570023-CA0F-4671-8791-8E9838AAC19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11A68A2-6654-4BD1-8939-7B42E3AD56F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EDFD408-01BA-4262-B33B-84B55B99EAA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E615058-868A-4548-BC08-7853258514AB}"/>
              </a:ext>
            </a:extLst>
          </p:cNvPr>
          <p:cNvSpPr>
            <a:spLocks noGrp="1"/>
          </p:cNvSpPr>
          <p:nvPr/>
        </p:nvSpPr>
        <p:spPr>
          <a:xfrm>
            <a:off x="838200" y="1495425"/>
            <a:ext cx="10477500" cy="52387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等厚の五層：表裏900、内部500 kg/m³と仮定</a:t>
            </a:r>
          </a:p>
        </p:txBody>
      </p:sp>
      <p:graphicFrame>
        <p:nvGraphicFramePr>
          <p:cNvPr id="6" name="Chart">
            <a:extLst>
              <a:ext uri="{FF2B5EF4-FFF2-40B4-BE49-F238E27FC236}">
                <a16:creationId xmlns:a16="http://schemas.microsoft.com/office/drawing/2014/main" id="{835994AE-F498-4752-9925-D220C514FBA7}"/>
              </a:ext>
            </a:extLst>
          </p:cNvPr>
          <p:cNvGraphicFramePr/>
          <p:nvPr/>
        </p:nvGraphicFramePr>
        <p:xfrm>
          <a:off x="838200" y="2095500"/>
          <a:ext cx="1047750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EBC7B98D-3828-4061-86C4-A2EBE670062A}"/>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五層・等厚の仮想分布。製品の実測分布ではない。</a:t>
            </a:r>
          </a:p>
        </p:txBody>
      </p:sp>
    </p:spTree>
    <p:extLst>
      <p:ext uri="{BB962C8B-B14F-4D97-AF65-F5344CB8AC3E}">
        <p14:creationId xmlns:p14="http://schemas.microsoft.com/office/powerpoint/2010/main" val="3670886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21078E5-6371-4C69-964E-3ABFAD5BF95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材料演習</a:t>
            </a:r>
            <a:r>
              <a:rPr lang="en-US" altLang="ja-JP" sz="3000" b="1">
                <a:solidFill>
                  <a:srgbClr val="18364F"/>
                </a:solidFill>
                <a:latin typeface="Yu Gothic"/>
                <a:ea typeface="Yu Gothic"/>
                <a:cs typeface="Yu Gothic"/>
              </a:rPr>
              <a:t>3</a:t>
            </a:r>
            <a:r>
              <a:rPr lang="ja-JP" altLang="en-US" sz="3000" b="1">
                <a:solidFill>
                  <a:srgbClr val="18364F"/>
                </a:solidFill>
                <a:latin typeface="Yu Gothic"/>
                <a:ea typeface="Yu Gothic"/>
                <a:cs typeface="Yu Gothic"/>
              </a:rPr>
              <a:t>　平均密度から、内部は分かるか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261D729C-E557-447B-ADB0-F7CC928D2A7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0AFC0CC6-A04C-4E14-8451-C2573988432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9222272-5555-4B0E-B9E2-DFC57CEC1C7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382F8A16-FA55-4B39-B1B6-FCF48CA2E5F1}"/>
              </a:ext>
            </a:extLst>
          </p:cNvPr>
          <p:cNvSpPr>
            <a:spLocks noGrp="1"/>
          </p:cNvSpPr>
          <p:nvPr/>
        </p:nvSpPr>
        <p:spPr>
          <a:xfrm>
            <a:off x="838200" y="1714500"/>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表裏2 mmずつ：900 kg/m³、中央6 mm：500 kg/m³</a:t>
            </a:r>
          </a:p>
        </p:txBody>
      </p:sp>
      <p:sp>
        <p:nvSpPr>
          <p:cNvPr id="6" name="正方形/長方形 5">
            <a:extLst>
              <a:ext uri="{FF2B5EF4-FFF2-40B4-BE49-F238E27FC236}">
                <a16:creationId xmlns:a16="http://schemas.microsoft.com/office/drawing/2014/main" id="{34BC9C90-8D88-476F-89EE-0E7D1D77D686}"/>
              </a:ext>
            </a:extLst>
          </p:cNvPr>
          <p:cNvSpPr>
            <a:spLocks noGrp="1"/>
          </p:cNvSpPr>
          <p:nvPr/>
        </p:nvSpPr>
        <p:spPr>
          <a:xfrm>
            <a:off x="838200" y="2600325"/>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全厚10 mmの平均密度を求める</a:t>
            </a:r>
          </a:p>
        </p:txBody>
      </p:sp>
      <p:sp>
        <p:nvSpPr>
          <p:cNvPr id="7" name="正方形/長方形 6">
            <a:extLst>
              <a:ext uri="{FF2B5EF4-FFF2-40B4-BE49-F238E27FC236}">
                <a16:creationId xmlns:a16="http://schemas.microsoft.com/office/drawing/2014/main" id="{D62FEAFE-AFA8-4A7F-A832-094D678EFC59}"/>
              </a:ext>
            </a:extLst>
          </p:cNvPr>
          <p:cNvSpPr>
            <a:spLocks noGrp="1"/>
          </p:cNvSpPr>
          <p:nvPr/>
        </p:nvSpPr>
        <p:spPr>
          <a:xfrm>
            <a:off x="838200" y="3486150"/>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同じ平均密度で均一な板と、性能も必ず同じか</a:t>
            </a:r>
          </a:p>
        </p:txBody>
      </p:sp>
      <p:sp>
        <p:nvSpPr>
          <p:cNvPr id="8" name="正方形/長方形 7">
            <a:extLst>
              <a:ext uri="{FF2B5EF4-FFF2-40B4-BE49-F238E27FC236}">
                <a16:creationId xmlns:a16="http://schemas.microsoft.com/office/drawing/2014/main" id="{68A19BB2-0B85-4715-86F6-095B92DCFB29}"/>
              </a:ext>
            </a:extLst>
          </p:cNvPr>
          <p:cNvSpPr>
            <a:spLocks noGrp="1"/>
          </p:cNvSpPr>
          <p:nvPr/>
        </p:nvSpPr>
        <p:spPr>
          <a:xfrm>
            <a:off x="838200" y="5191125"/>
            <a:ext cx="10477500" cy="476250"/>
          </a:xfrm>
          <a:prstGeom prst="rect">
            <a:avLst/>
          </a:prstGeom>
          <a:noFill/>
          <a:ln w="0">
            <a:noFill/>
          </a:ln>
        </p:spPr>
        <p:txBody>
          <a:bodyPr lIns="0" tIns="0" rIns="0" bIns="0" anchor="ctr">
            <a:noAutofit/>
          </a:bodyPr>
          <a:lstStyle>
            <a:defPPr>
              <a:defRPr sz="1950" b="1">
                <a:solidFill>
                  <a:srgbClr val="2876A8"/>
                </a:solidFill>
                <a:latin typeface="Yu Gothic"/>
                <a:ea typeface="Yu Gothic"/>
                <a:cs typeface="Yu Gothic"/>
              </a:defRPr>
            </a:defPPr>
            <a:lvl1pPr>
              <a:defRPr sz="1950" b="1">
                <a:solidFill>
                  <a:srgbClr val="2876A8"/>
                </a:solidFill>
                <a:latin typeface="Yu Gothic"/>
                <a:ea typeface="Yu Gothic"/>
                <a:cs typeface="Yu Gothic"/>
              </a:defRPr>
            </a:lvl1pPr>
            <a:lvl2pPr>
              <a:defRPr sz="1950" b="1">
                <a:solidFill>
                  <a:srgbClr val="2876A8"/>
                </a:solidFill>
                <a:latin typeface="Yu Gothic"/>
                <a:ea typeface="Yu Gothic"/>
                <a:cs typeface="Yu Gothic"/>
              </a:defRPr>
            </a:lvl2pPr>
            <a:lvl3pPr>
              <a:defRPr sz="1950" b="1">
                <a:solidFill>
                  <a:srgbClr val="2876A8"/>
                </a:solidFill>
                <a:latin typeface="Yu Gothic"/>
                <a:ea typeface="Yu Gothic"/>
                <a:cs typeface="Yu Gothic"/>
              </a:defRPr>
            </a:lvl3pPr>
            <a:lvl4pPr>
              <a:defRPr sz="1950" b="1">
                <a:solidFill>
                  <a:srgbClr val="2876A8"/>
                </a:solidFill>
                <a:latin typeface="Yu Gothic"/>
                <a:ea typeface="Yu Gothic"/>
                <a:cs typeface="Yu Gothic"/>
              </a:defRPr>
            </a:lvl4pPr>
            <a:lvl5pPr>
              <a:defRPr sz="1950" b="1">
                <a:solidFill>
                  <a:srgbClr val="2876A8"/>
                </a:solidFill>
                <a:latin typeface="Yu Gothic"/>
                <a:ea typeface="Yu Gothic"/>
                <a:cs typeface="Yu Gothic"/>
              </a:defRPr>
            </a:lvl5pPr>
            <a:lvl6pPr>
              <a:defRPr sz="1950" b="1">
                <a:solidFill>
                  <a:srgbClr val="2876A8"/>
                </a:solidFill>
                <a:latin typeface="Yu Gothic"/>
                <a:ea typeface="Yu Gothic"/>
                <a:cs typeface="Yu Gothic"/>
              </a:defRPr>
            </a:lvl6pPr>
            <a:lvl7pPr>
              <a:defRPr sz="1950" b="1">
                <a:solidFill>
                  <a:srgbClr val="2876A8"/>
                </a:solidFill>
                <a:latin typeface="Yu Gothic"/>
                <a:ea typeface="Yu Gothic"/>
                <a:cs typeface="Yu Gothic"/>
              </a:defRPr>
            </a:lvl7pPr>
            <a:lvl8pPr>
              <a:defRPr sz="1950" b="1">
                <a:solidFill>
                  <a:srgbClr val="2876A8"/>
                </a:solidFill>
                <a:latin typeface="Yu Gothic"/>
                <a:ea typeface="Yu Gothic"/>
                <a:cs typeface="Yu Gothic"/>
              </a:defRPr>
            </a:lvl8pPr>
            <a:lvl9pPr>
              <a:defRPr sz="1950" b="1">
                <a:solidFill>
                  <a:srgbClr val="2876A8"/>
                </a:solidFill>
                <a:latin typeface="Yu Gothic"/>
                <a:ea typeface="Yu Gothic"/>
                <a:cs typeface="Yu Gothic"/>
              </a:defRPr>
            </a:lvl9pPr>
          </a:lstStyle>
          <a:p>
            <a:pPr>
              <a:defRPr sz="1950" b="1">
                <a:solidFill>
                  <a:srgbClr val="2876A8"/>
                </a:solidFill>
                <a:latin typeface="Yu Gothic"/>
                <a:ea typeface="Yu Gothic"/>
                <a:cs typeface="Yu Gothic"/>
              </a:defRPr>
            </a:pPr>
            <a:r>
              <a:rPr sz="1950" b="1">
                <a:solidFill>
                  <a:srgbClr val="2876A8"/>
                </a:solidFill>
                <a:latin typeface="Yu Gothic"/>
                <a:ea typeface="Yu Gothic"/>
                <a:cs typeface="Yu Gothic"/>
              </a:rPr>
              <a:t>考える時間の目安 3分 → 解説資料で自己確認</a:t>
            </a:r>
          </a:p>
        </p:txBody>
      </p:sp>
      <p:sp>
        <p:nvSpPr>
          <p:cNvPr id="9" name="正方形/長方形 8">
            <a:extLst>
              <a:ext uri="{FF2B5EF4-FFF2-40B4-BE49-F238E27FC236}">
                <a16:creationId xmlns:a16="http://schemas.microsoft.com/office/drawing/2014/main" id="{822CC5AA-3081-4EF3-BFAF-D9410A455B21}"/>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平均密度＝全質量／全体積。厚さ比は、幅と長さが同じ時の体積比。</a:t>
            </a:r>
          </a:p>
        </p:txBody>
      </p:sp>
    </p:spTree>
    <p:extLst>
      <p:ext uri="{BB962C8B-B14F-4D97-AF65-F5344CB8AC3E}">
        <p14:creationId xmlns:p14="http://schemas.microsoft.com/office/powerpoint/2010/main" val="3738507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D49D265-2BB3-4861-8457-B9433FE58D28}"/>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繊維板とMDF</a:t>
            </a:r>
          </a:p>
        </p:txBody>
      </p:sp>
      <p:cxnSp>
        <p:nvCxnSpPr>
          <p:cNvPr id="2" name="直線矢印コネクタ 1">
            <a:extLst>
              <a:ext uri="{FF2B5EF4-FFF2-40B4-BE49-F238E27FC236}">
                <a16:creationId xmlns:a16="http://schemas.microsoft.com/office/drawing/2014/main" id="{CA5DFAF6-A075-4B94-877F-88CD591E1996}"/>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25EBB31F-9C26-4EA7-8BED-05B197C3A71D}"/>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F0E9E9D-08AB-44F3-ACFF-5527C7461488}"/>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CA92C2F6-4C33-43CE-A5AA-36E79AD4FFCA}"/>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木材を繊維状にほぐして、再び板に成形する</a:t>
            </a:r>
          </a:p>
        </p:txBody>
      </p:sp>
      <p:sp>
        <p:nvSpPr>
          <p:cNvPr id="6" name="正方形/長方形 5">
            <a:extLst>
              <a:ext uri="{FF2B5EF4-FFF2-40B4-BE49-F238E27FC236}">
                <a16:creationId xmlns:a16="http://schemas.microsoft.com/office/drawing/2014/main" id="{66DCD30F-D1D7-497B-98AC-C1AE6C67F0EE}"/>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MDFは中密度繊維板で、微細な要素による平滑な表面が特徴</a:t>
            </a:r>
          </a:p>
        </p:txBody>
      </p:sp>
      <p:sp>
        <p:nvSpPr>
          <p:cNvPr id="7" name="正方形/長方形 6">
            <a:extLst>
              <a:ext uri="{FF2B5EF4-FFF2-40B4-BE49-F238E27FC236}">
                <a16:creationId xmlns:a16="http://schemas.microsoft.com/office/drawing/2014/main" id="{58F14E84-9DB9-4E86-827D-D6B3DD09189D}"/>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切削や表面仕上げに適した製品があるが、製品差も大きい</a:t>
            </a:r>
          </a:p>
        </p:txBody>
      </p:sp>
      <p:sp>
        <p:nvSpPr>
          <p:cNvPr id="8" name="正方形/長方形 7">
            <a:extLst>
              <a:ext uri="{FF2B5EF4-FFF2-40B4-BE49-F238E27FC236}">
                <a16:creationId xmlns:a16="http://schemas.microsoft.com/office/drawing/2014/main" id="{8D522814-0DBD-4C24-8E73-6F5780269255}"/>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密度、厚さ方向の密度分布、接着、耐湿性が性能に関わる</a:t>
            </a:r>
          </a:p>
        </p:txBody>
      </p:sp>
      <p:sp>
        <p:nvSpPr>
          <p:cNvPr id="9" name="正方形/長方形 8">
            <a:extLst>
              <a:ext uri="{FF2B5EF4-FFF2-40B4-BE49-F238E27FC236}">
                <a16:creationId xmlns:a16="http://schemas.microsoft.com/office/drawing/2014/main" id="{17889C31-9F94-4920-A728-6E8EE3FD9960}"/>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端面への接合と吸水による厚さ変化も、採用前に確認する</a:t>
            </a:r>
          </a:p>
        </p:txBody>
      </p:sp>
    </p:spTree>
    <p:extLst>
      <p:ext uri="{BB962C8B-B14F-4D97-AF65-F5344CB8AC3E}">
        <p14:creationId xmlns:p14="http://schemas.microsoft.com/office/powerpoint/2010/main" val="4274622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AFBB748-0CC0-4856-BEB9-1904FD5439C5}"/>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OSBとストランドの配向</a:t>
            </a:r>
          </a:p>
        </p:txBody>
      </p:sp>
      <p:cxnSp>
        <p:nvCxnSpPr>
          <p:cNvPr id="2" name="直線矢印コネクタ 1">
            <a:extLst>
              <a:ext uri="{FF2B5EF4-FFF2-40B4-BE49-F238E27FC236}">
                <a16:creationId xmlns:a16="http://schemas.microsoft.com/office/drawing/2014/main" id="{EC930015-09CD-4301-B38F-1E581181DD0F}"/>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444E1001-BAA1-41F9-8B90-A9F2053B94EB}"/>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647AD5B-04C7-49D1-9A2B-ED781652479E}"/>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C54C1DF-3011-4349-A037-FFA4CE606042}"/>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OSBは細長いストランドを、層ごとに配向させて成形する</a:t>
            </a:r>
          </a:p>
        </p:txBody>
      </p:sp>
      <p:sp>
        <p:nvSpPr>
          <p:cNvPr id="6" name="正方形/長方形 5">
            <a:extLst>
              <a:ext uri="{FF2B5EF4-FFF2-40B4-BE49-F238E27FC236}">
                <a16:creationId xmlns:a16="http://schemas.microsoft.com/office/drawing/2014/main" id="{68B67E44-E07D-40F0-9A9A-7635FF2C940B}"/>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表層と内層の方向を組み合わせ、面材としての性能を調整する</a:t>
            </a:r>
          </a:p>
        </p:txBody>
      </p:sp>
      <p:sp>
        <p:nvSpPr>
          <p:cNvPr id="7" name="正方形/長方形 6">
            <a:extLst>
              <a:ext uri="{FF2B5EF4-FFF2-40B4-BE49-F238E27FC236}">
                <a16:creationId xmlns:a16="http://schemas.microsoft.com/office/drawing/2014/main" id="{027862A5-91CB-4239-8565-6D6A5804E45D}"/>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主軸方向とそれに直交する方向で、曲げ性能などが異なる</a:t>
            </a:r>
          </a:p>
        </p:txBody>
      </p:sp>
      <p:sp>
        <p:nvSpPr>
          <p:cNvPr id="8" name="正方形/長方形 7">
            <a:extLst>
              <a:ext uri="{FF2B5EF4-FFF2-40B4-BE49-F238E27FC236}">
                <a16:creationId xmlns:a16="http://schemas.microsoft.com/office/drawing/2014/main" id="{CF446247-EEE9-438B-BF47-05FDC6AEFF45}"/>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見える木片の向きと、製品表示の評価方向を対応させる</a:t>
            </a:r>
          </a:p>
        </p:txBody>
      </p:sp>
      <p:sp>
        <p:nvSpPr>
          <p:cNvPr id="9" name="正方形/長方形 8">
            <a:extLst>
              <a:ext uri="{FF2B5EF4-FFF2-40B4-BE49-F238E27FC236}">
                <a16:creationId xmlns:a16="http://schemas.microsoft.com/office/drawing/2014/main" id="{F0922F3E-90AC-47BA-9EB5-ED27183A692C}"/>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PB・MDF・OSBは要素の形と配向から区別できる</a:t>
            </a:r>
          </a:p>
        </p:txBody>
      </p:sp>
    </p:spTree>
    <p:extLst>
      <p:ext uri="{BB962C8B-B14F-4D97-AF65-F5344CB8AC3E}">
        <p14:creationId xmlns:p14="http://schemas.microsoft.com/office/powerpoint/2010/main" val="2170453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正方形/長方形 84">
            <a:extLst>
              <a:ext uri="{FF2B5EF4-FFF2-40B4-BE49-F238E27FC236}">
                <a16:creationId xmlns:a16="http://schemas.microsoft.com/office/drawing/2014/main" id="{A245817F-1C57-434C-BCFA-DD036DB9189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OSB：要素の向きと、層の向きを分ける</a:t>
            </a:r>
          </a:p>
        </p:txBody>
      </p:sp>
      <p:sp>
        <p:nvSpPr>
          <p:cNvPr id="2" name="正方形/長方形 1">
            <a:extLst>
              <a:ext uri="{FF2B5EF4-FFF2-40B4-BE49-F238E27FC236}">
                <a16:creationId xmlns:a16="http://schemas.microsoft.com/office/drawing/2014/main" id="{234EFDB5-93E0-4ACA-982F-2699D4543C7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684820D-7562-4CDD-B42B-C9927267808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5852DCB2-603C-4951-9589-A2D972FA607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6E67280A-EFDC-48B7-B2C7-9B56C4EC1036}"/>
              </a:ext>
            </a:extLst>
          </p:cNvPr>
          <p:cNvSpPr>
            <a:spLocks noGrp="1"/>
          </p:cNvSpPr>
          <p:nvPr/>
        </p:nvSpPr>
        <p:spPr>
          <a:xfrm>
            <a:off x="838200" y="1600200"/>
            <a:ext cx="3476625" cy="6191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defRPr sz="1950" b="1">
                <a:solidFill>
                  <a:srgbClr val="253C4D"/>
                </a:solidFill>
                <a:latin typeface="Yu Gothic"/>
                <a:ea typeface="Yu Gothic"/>
                <a:cs typeface="Yu Gothic"/>
              </a:defRPr>
            </a:lvl1pPr>
            <a:lvl2pPr>
              <a:defRPr sz="1950" b="1">
                <a:solidFill>
                  <a:srgbClr val="253C4D"/>
                </a:solidFill>
                <a:latin typeface="Yu Gothic"/>
                <a:ea typeface="Yu Gothic"/>
                <a:cs typeface="Yu Gothic"/>
              </a:defRPr>
            </a:lvl2pPr>
            <a:lvl3pPr>
              <a:defRPr sz="1950" b="1">
                <a:solidFill>
                  <a:srgbClr val="253C4D"/>
                </a:solidFill>
                <a:latin typeface="Yu Gothic"/>
                <a:ea typeface="Yu Gothic"/>
                <a:cs typeface="Yu Gothic"/>
              </a:defRPr>
            </a:lvl3pPr>
            <a:lvl4pPr>
              <a:defRPr sz="1950" b="1">
                <a:solidFill>
                  <a:srgbClr val="253C4D"/>
                </a:solidFill>
                <a:latin typeface="Yu Gothic"/>
                <a:ea typeface="Yu Gothic"/>
                <a:cs typeface="Yu Gothic"/>
              </a:defRPr>
            </a:lvl4pPr>
            <a:lvl5pPr>
              <a:defRPr sz="1950" b="1">
                <a:solidFill>
                  <a:srgbClr val="253C4D"/>
                </a:solidFill>
                <a:latin typeface="Yu Gothic"/>
                <a:ea typeface="Yu Gothic"/>
                <a:cs typeface="Yu Gothic"/>
              </a:defRPr>
            </a:lvl5pPr>
            <a:lvl6pPr>
              <a:defRPr sz="1950" b="1">
                <a:solidFill>
                  <a:srgbClr val="253C4D"/>
                </a:solidFill>
                <a:latin typeface="Yu Gothic"/>
                <a:ea typeface="Yu Gothic"/>
                <a:cs typeface="Yu Gothic"/>
              </a:defRPr>
            </a:lvl6pPr>
            <a:lvl7pPr>
              <a:defRPr sz="1950" b="1">
                <a:solidFill>
                  <a:srgbClr val="253C4D"/>
                </a:solidFill>
                <a:latin typeface="Yu Gothic"/>
                <a:ea typeface="Yu Gothic"/>
                <a:cs typeface="Yu Gothic"/>
              </a:defRPr>
            </a:lvl7pPr>
            <a:lvl8pPr>
              <a:defRPr sz="1950" b="1">
                <a:solidFill>
                  <a:srgbClr val="253C4D"/>
                </a:solidFill>
                <a:latin typeface="Yu Gothic"/>
                <a:ea typeface="Yu Gothic"/>
                <a:cs typeface="Yu Gothic"/>
              </a:defRPr>
            </a:lvl8pPr>
            <a:lvl9pPr>
              <a:defRPr sz="1950" b="1">
                <a:solidFill>
                  <a:srgbClr val="253C4D"/>
                </a:solidFill>
                <a:latin typeface="Yu Gothic"/>
                <a:ea typeface="Yu Gothic"/>
                <a:cs typeface="Yu Gothic"/>
              </a:defRPr>
            </a:lvl9pPr>
          </a:lstStyle>
          <a:p>
            <a:pPr>
              <a:defRPr sz="1950" b="1">
                <a:solidFill>
                  <a:srgbClr val="253C4D"/>
                </a:solidFill>
                <a:latin typeface="Yu Gothic"/>
                <a:ea typeface="Yu Gothic"/>
                <a:cs typeface="Yu Gothic"/>
              </a:defRPr>
            </a:pPr>
            <a:r>
              <a:rPr sz="1950" b="1">
                <a:solidFill>
                  <a:srgbClr val="253C4D"/>
                </a:solidFill>
                <a:latin typeface="Yu Gothic"/>
                <a:ea typeface="Yu Gothic"/>
                <a:cs typeface="Yu Gothic"/>
              </a:rPr>
              <a:t>表層：主に長手へ配向</a:t>
            </a:r>
          </a:p>
        </p:txBody>
      </p:sp>
      <p:sp>
        <p:nvSpPr>
          <p:cNvPr id="6" name="正方形/長方形 5">
            <a:extLst>
              <a:ext uri="{FF2B5EF4-FFF2-40B4-BE49-F238E27FC236}">
                <a16:creationId xmlns:a16="http://schemas.microsoft.com/office/drawing/2014/main" id="{D9D934C6-4C13-42B7-92B6-869F0BEF40DE}"/>
              </a:ext>
            </a:extLst>
          </p:cNvPr>
          <p:cNvSpPr>
            <a:spLocks noGrp="1"/>
          </p:cNvSpPr>
          <p:nvPr/>
        </p:nvSpPr>
        <p:spPr>
          <a:xfrm>
            <a:off x="838200" y="2419350"/>
            <a:ext cx="3095625" cy="2428875"/>
          </a:xfrm>
          <a:prstGeom prst="rect">
            <a:avLst/>
          </a:prstGeom>
          <a:solidFill>
            <a:srgbClr val="F7F2E9"/>
          </a:solidFill>
          <a:ln w="9525">
            <a:solidFill>
              <a:srgbClr val="596875"/>
            </a:solidFill>
          </a:ln>
        </p:spPr>
      </p:sp>
      <p:sp>
        <p:nvSpPr>
          <p:cNvPr id="7" name="正方形/長方形 6">
            <a:extLst>
              <a:ext uri="{FF2B5EF4-FFF2-40B4-BE49-F238E27FC236}">
                <a16:creationId xmlns:a16="http://schemas.microsoft.com/office/drawing/2014/main" id="{FCFC5176-EBFF-45D6-B67E-16A9CCC244FF}"/>
              </a:ext>
            </a:extLst>
          </p:cNvPr>
          <p:cNvSpPr>
            <a:spLocks noGrp="1"/>
          </p:cNvSpPr>
          <p:nvPr/>
        </p:nvSpPr>
        <p:spPr>
          <a:xfrm>
            <a:off x="1104900" y="2638425"/>
            <a:ext cx="666750" cy="161925"/>
          </a:xfrm>
          <a:prstGeom prst="rect">
            <a:avLst/>
          </a:prstGeom>
          <a:solidFill>
            <a:srgbClr val="D7B78C"/>
          </a:solidFill>
          <a:ln w="0">
            <a:noFill/>
          </a:ln>
        </p:spPr>
      </p:sp>
      <p:sp>
        <p:nvSpPr>
          <p:cNvPr id="8" name="フリーフォーム: 図形 7">
            <a:extLst>
              <a:ext uri="{FF2B5EF4-FFF2-40B4-BE49-F238E27FC236}">
                <a16:creationId xmlns:a16="http://schemas.microsoft.com/office/drawing/2014/main" id="{ECEE5042-22CE-4777-A288-433E57F0377E}"/>
              </a:ext>
            </a:extLst>
          </p:cNvPr>
          <p:cNvSpPr>
            <a:spLocks noGrp="1"/>
          </p:cNvSpPr>
          <p:nvPr/>
        </p:nvSpPr>
        <p:spPr>
          <a:xfrm>
            <a:off x="117157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9" name="正方形/長方形 8">
            <a:extLst>
              <a:ext uri="{FF2B5EF4-FFF2-40B4-BE49-F238E27FC236}">
                <a16:creationId xmlns:a16="http://schemas.microsoft.com/office/drawing/2014/main" id="{1D734F11-3D25-4752-85AE-7E0A50C54C98}"/>
              </a:ext>
            </a:extLst>
          </p:cNvPr>
          <p:cNvSpPr>
            <a:spLocks noGrp="1"/>
          </p:cNvSpPr>
          <p:nvPr/>
        </p:nvSpPr>
        <p:spPr>
          <a:xfrm>
            <a:off x="2019300" y="2638425"/>
            <a:ext cx="666750" cy="161925"/>
          </a:xfrm>
          <a:prstGeom prst="rect">
            <a:avLst/>
          </a:prstGeom>
          <a:solidFill>
            <a:srgbClr val="D7B78C"/>
          </a:solidFill>
          <a:ln w="0">
            <a:noFill/>
          </a:ln>
        </p:spPr>
      </p:sp>
      <p:sp>
        <p:nvSpPr>
          <p:cNvPr id="10" name="フリーフォーム: 図形 9">
            <a:extLst>
              <a:ext uri="{FF2B5EF4-FFF2-40B4-BE49-F238E27FC236}">
                <a16:creationId xmlns:a16="http://schemas.microsoft.com/office/drawing/2014/main" id="{32C1F28F-66BF-4BBD-A09D-7DF5F74FE109}"/>
              </a:ext>
            </a:extLst>
          </p:cNvPr>
          <p:cNvSpPr>
            <a:spLocks noGrp="1"/>
          </p:cNvSpPr>
          <p:nvPr/>
        </p:nvSpPr>
        <p:spPr>
          <a:xfrm>
            <a:off x="208597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11" name="正方形/長方形 10">
            <a:extLst>
              <a:ext uri="{FF2B5EF4-FFF2-40B4-BE49-F238E27FC236}">
                <a16:creationId xmlns:a16="http://schemas.microsoft.com/office/drawing/2014/main" id="{35358542-8CE7-4461-BF50-4A2D2721B8D5}"/>
              </a:ext>
            </a:extLst>
          </p:cNvPr>
          <p:cNvSpPr>
            <a:spLocks noGrp="1"/>
          </p:cNvSpPr>
          <p:nvPr/>
        </p:nvSpPr>
        <p:spPr>
          <a:xfrm>
            <a:off x="2933700" y="2638425"/>
            <a:ext cx="666750" cy="161925"/>
          </a:xfrm>
          <a:prstGeom prst="rect">
            <a:avLst/>
          </a:prstGeom>
          <a:solidFill>
            <a:srgbClr val="D7B78C"/>
          </a:solidFill>
          <a:ln w="0">
            <a:noFill/>
          </a:ln>
        </p:spPr>
      </p:sp>
      <p:sp>
        <p:nvSpPr>
          <p:cNvPr id="12" name="フリーフォーム: 図形 11">
            <a:extLst>
              <a:ext uri="{FF2B5EF4-FFF2-40B4-BE49-F238E27FC236}">
                <a16:creationId xmlns:a16="http://schemas.microsoft.com/office/drawing/2014/main" id="{73FB2240-1A54-4A4B-9670-86B27389FF5F}"/>
              </a:ext>
            </a:extLst>
          </p:cNvPr>
          <p:cNvSpPr>
            <a:spLocks noGrp="1"/>
          </p:cNvSpPr>
          <p:nvPr/>
        </p:nvSpPr>
        <p:spPr>
          <a:xfrm>
            <a:off x="300037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13" name="正方形/長方形 12">
            <a:extLst>
              <a:ext uri="{FF2B5EF4-FFF2-40B4-BE49-F238E27FC236}">
                <a16:creationId xmlns:a16="http://schemas.microsoft.com/office/drawing/2014/main" id="{AA88CE80-E350-445D-BA15-170F913E878E}"/>
              </a:ext>
            </a:extLst>
          </p:cNvPr>
          <p:cNvSpPr>
            <a:spLocks noGrp="1"/>
          </p:cNvSpPr>
          <p:nvPr/>
        </p:nvSpPr>
        <p:spPr>
          <a:xfrm>
            <a:off x="1104900" y="3152775"/>
            <a:ext cx="666750" cy="161925"/>
          </a:xfrm>
          <a:prstGeom prst="rect">
            <a:avLst/>
          </a:prstGeom>
          <a:solidFill>
            <a:srgbClr val="D7B78C"/>
          </a:solidFill>
          <a:ln w="0">
            <a:noFill/>
          </a:ln>
        </p:spPr>
      </p:sp>
      <p:sp>
        <p:nvSpPr>
          <p:cNvPr id="14" name="フリーフォーム: 図形 13">
            <a:extLst>
              <a:ext uri="{FF2B5EF4-FFF2-40B4-BE49-F238E27FC236}">
                <a16:creationId xmlns:a16="http://schemas.microsoft.com/office/drawing/2014/main" id="{ED92CA07-D6A0-4B5B-ADCF-D7AE4E1FF44E}"/>
              </a:ext>
            </a:extLst>
          </p:cNvPr>
          <p:cNvSpPr>
            <a:spLocks noGrp="1"/>
          </p:cNvSpPr>
          <p:nvPr/>
        </p:nvSpPr>
        <p:spPr>
          <a:xfrm>
            <a:off x="117157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15" name="正方形/長方形 14">
            <a:extLst>
              <a:ext uri="{FF2B5EF4-FFF2-40B4-BE49-F238E27FC236}">
                <a16:creationId xmlns:a16="http://schemas.microsoft.com/office/drawing/2014/main" id="{B53DD493-02F2-4FC8-A843-3D882D595CB3}"/>
              </a:ext>
            </a:extLst>
          </p:cNvPr>
          <p:cNvSpPr>
            <a:spLocks noGrp="1"/>
          </p:cNvSpPr>
          <p:nvPr/>
        </p:nvSpPr>
        <p:spPr>
          <a:xfrm>
            <a:off x="2019300" y="3152775"/>
            <a:ext cx="666750" cy="161925"/>
          </a:xfrm>
          <a:prstGeom prst="rect">
            <a:avLst/>
          </a:prstGeom>
          <a:solidFill>
            <a:srgbClr val="D7B78C"/>
          </a:solidFill>
          <a:ln w="0">
            <a:noFill/>
          </a:ln>
        </p:spPr>
      </p:sp>
      <p:sp>
        <p:nvSpPr>
          <p:cNvPr id="16" name="フリーフォーム: 図形 15">
            <a:extLst>
              <a:ext uri="{FF2B5EF4-FFF2-40B4-BE49-F238E27FC236}">
                <a16:creationId xmlns:a16="http://schemas.microsoft.com/office/drawing/2014/main" id="{3EA88477-D9FA-424A-ACFF-247E248436D0}"/>
              </a:ext>
            </a:extLst>
          </p:cNvPr>
          <p:cNvSpPr>
            <a:spLocks noGrp="1"/>
          </p:cNvSpPr>
          <p:nvPr/>
        </p:nvSpPr>
        <p:spPr>
          <a:xfrm>
            <a:off x="208597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17" name="正方形/長方形 16">
            <a:extLst>
              <a:ext uri="{FF2B5EF4-FFF2-40B4-BE49-F238E27FC236}">
                <a16:creationId xmlns:a16="http://schemas.microsoft.com/office/drawing/2014/main" id="{7BCCC535-2A7D-467C-A658-19C04EF0794C}"/>
              </a:ext>
            </a:extLst>
          </p:cNvPr>
          <p:cNvSpPr>
            <a:spLocks noGrp="1"/>
          </p:cNvSpPr>
          <p:nvPr/>
        </p:nvSpPr>
        <p:spPr>
          <a:xfrm>
            <a:off x="2933700" y="3152775"/>
            <a:ext cx="666750" cy="161925"/>
          </a:xfrm>
          <a:prstGeom prst="rect">
            <a:avLst/>
          </a:prstGeom>
          <a:solidFill>
            <a:srgbClr val="D7B78C"/>
          </a:solidFill>
          <a:ln w="0">
            <a:noFill/>
          </a:ln>
        </p:spPr>
      </p:sp>
      <p:sp>
        <p:nvSpPr>
          <p:cNvPr id="18" name="フリーフォーム: 図形 17">
            <a:extLst>
              <a:ext uri="{FF2B5EF4-FFF2-40B4-BE49-F238E27FC236}">
                <a16:creationId xmlns:a16="http://schemas.microsoft.com/office/drawing/2014/main" id="{5EBC2B86-F57A-4D09-A1C4-B52630F1BCCB}"/>
              </a:ext>
            </a:extLst>
          </p:cNvPr>
          <p:cNvSpPr>
            <a:spLocks noGrp="1"/>
          </p:cNvSpPr>
          <p:nvPr/>
        </p:nvSpPr>
        <p:spPr>
          <a:xfrm>
            <a:off x="300037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19" name="正方形/長方形 18">
            <a:extLst>
              <a:ext uri="{FF2B5EF4-FFF2-40B4-BE49-F238E27FC236}">
                <a16:creationId xmlns:a16="http://schemas.microsoft.com/office/drawing/2014/main" id="{D22EE533-31B0-4401-83CA-3506E38858DA}"/>
              </a:ext>
            </a:extLst>
          </p:cNvPr>
          <p:cNvSpPr>
            <a:spLocks noGrp="1"/>
          </p:cNvSpPr>
          <p:nvPr/>
        </p:nvSpPr>
        <p:spPr>
          <a:xfrm>
            <a:off x="1104900" y="3667125"/>
            <a:ext cx="666750" cy="161925"/>
          </a:xfrm>
          <a:prstGeom prst="rect">
            <a:avLst/>
          </a:prstGeom>
          <a:solidFill>
            <a:srgbClr val="D7B78C"/>
          </a:solidFill>
          <a:ln w="0">
            <a:noFill/>
          </a:ln>
        </p:spPr>
      </p:sp>
      <p:sp>
        <p:nvSpPr>
          <p:cNvPr id="20" name="フリーフォーム: 図形 19">
            <a:extLst>
              <a:ext uri="{FF2B5EF4-FFF2-40B4-BE49-F238E27FC236}">
                <a16:creationId xmlns:a16="http://schemas.microsoft.com/office/drawing/2014/main" id="{6F3EDA8F-103C-493D-8717-CC5E9C2B705E}"/>
              </a:ext>
            </a:extLst>
          </p:cNvPr>
          <p:cNvSpPr>
            <a:spLocks noGrp="1"/>
          </p:cNvSpPr>
          <p:nvPr/>
        </p:nvSpPr>
        <p:spPr>
          <a:xfrm>
            <a:off x="117157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21" name="正方形/長方形 20">
            <a:extLst>
              <a:ext uri="{FF2B5EF4-FFF2-40B4-BE49-F238E27FC236}">
                <a16:creationId xmlns:a16="http://schemas.microsoft.com/office/drawing/2014/main" id="{0009CC53-44F3-41F3-813C-D5EAB98ABB37}"/>
              </a:ext>
            </a:extLst>
          </p:cNvPr>
          <p:cNvSpPr>
            <a:spLocks noGrp="1"/>
          </p:cNvSpPr>
          <p:nvPr/>
        </p:nvSpPr>
        <p:spPr>
          <a:xfrm>
            <a:off x="2019300" y="3667125"/>
            <a:ext cx="666750" cy="161925"/>
          </a:xfrm>
          <a:prstGeom prst="rect">
            <a:avLst/>
          </a:prstGeom>
          <a:solidFill>
            <a:srgbClr val="D7B78C"/>
          </a:solidFill>
          <a:ln w="0">
            <a:noFill/>
          </a:ln>
        </p:spPr>
      </p:sp>
      <p:sp>
        <p:nvSpPr>
          <p:cNvPr id="22" name="フリーフォーム: 図形 21">
            <a:extLst>
              <a:ext uri="{FF2B5EF4-FFF2-40B4-BE49-F238E27FC236}">
                <a16:creationId xmlns:a16="http://schemas.microsoft.com/office/drawing/2014/main" id="{B6E05491-EDEC-4B46-B872-0480FE1085CC}"/>
              </a:ext>
            </a:extLst>
          </p:cNvPr>
          <p:cNvSpPr>
            <a:spLocks noGrp="1"/>
          </p:cNvSpPr>
          <p:nvPr/>
        </p:nvSpPr>
        <p:spPr>
          <a:xfrm>
            <a:off x="208597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23" name="正方形/長方形 22">
            <a:extLst>
              <a:ext uri="{FF2B5EF4-FFF2-40B4-BE49-F238E27FC236}">
                <a16:creationId xmlns:a16="http://schemas.microsoft.com/office/drawing/2014/main" id="{DFC7FDE9-FB86-4DC6-B646-7DD5F96B4C9D}"/>
              </a:ext>
            </a:extLst>
          </p:cNvPr>
          <p:cNvSpPr>
            <a:spLocks noGrp="1"/>
          </p:cNvSpPr>
          <p:nvPr/>
        </p:nvSpPr>
        <p:spPr>
          <a:xfrm>
            <a:off x="2933700" y="3667125"/>
            <a:ext cx="666750" cy="161925"/>
          </a:xfrm>
          <a:prstGeom prst="rect">
            <a:avLst/>
          </a:prstGeom>
          <a:solidFill>
            <a:srgbClr val="D7B78C"/>
          </a:solidFill>
          <a:ln w="0">
            <a:noFill/>
          </a:ln>
        </p:spPr>
      </p:sp>
      <p:sp>
        <p:nvSpPr>
          <p:cNvPr id="24" name="フリーフォーム: 図形 23">
            <a:extLst>
              <a:ext uri="{FF2B5EF4-FFF2-40B4-BE49-F238E27FC236}">
                <a16:creationId xmlns:a16="http://schemas.microsoft.com/office/drawing/2014/main" id="{8F56838E-BC3C-41F6-B46F-E001A23110C4}"/>
              </a:ext>
            </a:extLst>
          </p:cNvPr>
          <p:cNvSpPr>
            <a:spLocks noGrp="1"/>
          </p:cNvSpPr>
          <p:nvPr/>
        </p:nvSpPr>
        <p:spPr>
          <a:xfrm>
            <a:off x="300037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25" name="正方形/長方形 24">
            <a:extLst>
              <a:ext uri="{FF2B5EF4-FFF2-40B4-BE49-F238E27FC236}">
                <a16:creationId xmlns:a16="http://schemas.microsoft.com/office/drawing/2014/main" id="{A2E78B14-467C-4828-B8C7-9168DD4F48C5}"/>
              </a:ext>
            </a:extLst>
          </p:cNvPr>
          <p:cNvSpPr>
            <a:spLocks noGrp="1"/>
          </p:cNvSpPr>
          <p:nvPr/>
        </p:nvSpPr>
        <p:spPr>
          <a:xfrm>
            <a:off x="1104900" y="4181475"/>
            <a:ext cx="666750" cy="161925"/>
          </a:xfrm>
          <a:prstGeom prst="rect">
            <a:avLst/>
          </a:prstGeom>
          <a:solidFill>
            <a:srgbClr val="D7B78C"/>
          </a:solidFill>
          <a:ln w="0">
            <a:noFill/>
          </a:ln>
        </p:spPr>
      </p:sp>
      <p:sp>
        <p:nvSpPr>
          <p:cNvPr id="26" name="フリーフォーム: 図形 25">
            <a:extLst>
              <a:ext uri="{FF2B5EF4-FFF2-40B4-BE49-F238E27FC236}">
                <a16:creationId xmlns:a16="http://schemas.microsoft.com/office/drawing/2014/main" id="{E3D286C3-4104-486C-BE05-6AC203B1CE35}"/>
              </a:ext>
            </a:extLst>
          </p:cNvPr>
          <p:cNvSpPr>
            <a:spLocks noGrp="1"/>
          </p:cNvSpPr>
          <p:nvPr/>
        </p:nvSpPr>
        <p:spPr>
          <a:xfrm>
            <a:off x="117157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27" name="正方形/長方形 26">
            <a:extLst>
              <a:ext uri="{FF2B5EF4-FFF2-40B4-BE49-F238E27FC236}">
                <a16:creationId xmlns:a16="http://schemas.microsoft.com/office/drawing/2014/main" id="{578D0C3A-1869-42D1-B331-91FFD8787D83}"/>
              </a:ext>
            </a:extLst>
          </p:cNvPr>
          <p:cNvSpPr>
            <a:spLocks noGrp="1"/>
          </p:cNvSpPr>
          <p:nvPr/>
        </p:nvSpPr>
        <p:spPr>
          <a:xfrm>
            <a:off x="2019300" y="4181475"/>
            <a:ext cx="666750" cy="161925"/>
          </a:xfrm>
          <a:prstGeom prst="rect">
            <a:avLst/>
          </a:prstGeom>
          <a:solidFill>
            <a:srgbClr val="D7B78C"/>
          </a:solidFill>
          <a:ln w="0">
            <a:noFill/>
          </a:ln>
        </p:spPr>
      </p:sp>
      <p:sp>
        <p:nvSpPr>
          <p:cNvPr id="28" name="フリーフォーム: 図形 27">
            <a:extLst>
              <a:ext uri="{FF2B5EF4-FFF2-40B4-BE49-F238E27FC236}">
                <a16:creationId xmlns:a16="http://schemas.microsoft.com/office/drawing/2014/main" id="{841551AE-E67F-443F-843E-626E4D8BDDD4}"/>
              </a:ext>
            </a:extLst>
          </p:cNvPr>
          <p:cNvSpPr>
            <a:spLocks noGrp="1"/>
          </p:cNvSpPr>
          <p:nvPr/>
        </p:nvSpPr>
        <p:spPr>
          <a:xfrm>
            <a:off x="208597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29" name="正方形/長方形 28">
            <a:extLst>
              <a:ext uri="{FF2B5EF4-FFF2-40B4-BE49-F238E27FC236}">
                <a16:creationId xmlns:a16="http://schemas.microsoft.com/office/drawing/2014/main" id="{739D2C97-82B8-47BE-875D-502152A5A230}"/>
              </a:ext>
            </a:extLst>
          </p:cNvPr>
          <p:cNvSpPr>
            <a:spLocks noGrp="1"/>
          </p:cNvSpPr>
          <p:nvPr/>
        </p:nvSpPr>
        <p:spPr>
          <a:xfrm>
            <a:off x="2933700" y="4181475"/>
            <a:ext cx="666750" cy="161925"/>
          </a:xfrm>
          <a:prstGeom prst="rect">
            <a:avLst/>
          </a:prstGeom>
          <a:solidFill>
            <a:srgbClr val="D7B78C"/>
          </a:solidFill>
          <a:ln w="0">
            <a:noFill/>
          </a:ln>
        </p:spPr>
      </p:sp>
      <p:sp>
        <p:nvSpPr>
          <p:cNvPr id="30" name="フリーフォーム: 図形 29">
            <a:extLst>
              <a:ext uri="{FF2B5EF4-FFF2-40B4-BE49-F238E27FC236}">
                <a16:creationId xmlns:a16="http://schemas.microsoft.com/office/drawing/2014/main" id="{A960A0EA-224B-4EE9-A5B3-0024B9552B44}"/>
              </a:ext>
            </a:extLst>
          </p:cNvPr>
          <p:cNvSpPr>
            <a:spLocks noGrp="1"/>
          </p:cNvSpPr>
          <p:nvPr/>
        </p:nvSpPr>
        <p:spPr>
          <a:xfrm>
            <a:off x="300037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31" name="正方形/長方形 30">
            <a:extLst>
              <a:ext uri="{FF2B5EF4-FFF2-40B4-BE49-F238E27FC236}">
                <a16:creationId xmlns:a16="http://schemas.microsoft.com/office/drawing/2014/main" id="{C6C04380-40B9-4D75-9463-EB3C9E3658CD}"/>
              </a:ext>
            </a:extLst>
          </p:cNvPr>
          <p:cNvSpPr>
            <a:spLocks noGrp="1"/>
          </p:cNvSpPr>
          <p:nvPr/>
        </p:nvSpPr>
        <p:spPr>
          <a:xfrm>
            <a:off x="4505325" y="1600200"/>
            <a:ext cx="3476625" cy="6191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defRPr sz="1950" b="1">
                <a:solidFill>
                  <a:srgbClr val="253C4D"/>
                </a:solidFill>
                <a:latin typeface="Yu Gothic"/>
                <a:ea typeface="Yu Gothic"/>
                <a:cs typeface="Yu Gothic"/>
              </a:defRPr>
            </a:lvl1pPr>
            <a:lvl2pPr>
              <a:defRPr sz="1950" b="1">
                <a:solidFill>
                  <a:srgbClr val="253C4D"/>
                </a:solidFill>
                <a:latin typeface="Yu Gothic"/>
                <a:ea typeface="Yu Gothic"/>
                <a:cs typeface="Yu Gothic"/>
              </a:defRPr>
            </a:lvl2pPr>
            <a:lvl3pPr>
              <a:defRPr sz="1950" b="1">
                <a:solidFill>
                  <a:srgbClr val="253C4D"/>
                </a:solidFill>
                <a:latin typeface="Yu Gothic"/>
                <a:ea typeface="Yu Gothic"/>
                <a:cs typeface="Yu Gothic"/>
              </a:defRPr>
            </a:lvl3pPr>
            <a:lvl4pPr>
              <a:defRPr sz="1950" b="1">
                <a:solidFill>
                  <a:srgbClr val="253C4D"/>
                </a:solidFill>
                <a:latin typeface="Yu Gothic"/>
                <a:ea typeface="Yu Gothic"/>
                <a:cs typeface="Yu Gothic"/>
              </a:defRPr>
            </a:lvl4pPr>
            <a:lvl5pPr>
              <a:defRPr sz="1950" b="1">
                <a:solidFill>
                  <a:srgbClr val="253C4D"/>
                </a:solidFill>
                <a:latin typeface="Yu Gothic"/>
                <a:ea typeface="Yu Gothic"/>
                <a:cs typeface="Yu Gothic"/>
              </a:defRPr>
            </a:lvl5pPr>
            <a:lvl6pPr>
              <a:defRPr sz="1950" b="1">
                <a:solidFill>
                  <a:srgbClr val="253C4D"/>
                </a:solidFill>
                <a:latin typeface="Yu Gothic"/>
                <a:ea typeface="Yu Gothic"/>
                <a:cs typeface="Yu Gothic"/>
              </a:defRPr>
            </a:lvl6pPr>
            <a:lvl7pPr>
              <a:defRPr sz="1950" b="1">
                <a:solidFill>
                  <a:srgbClr val="253C4D"/>
                </a:solidFill>
                <a:latin typeface="Yu Gothic"/>
                <a:ea typeface="Yu Gothic"/>
                <a:cs typeface="Yu Gothic"/>
              </a:defRPr>
            </a:lvl7pPr>
            <a:lvl8pPr>
              <a:defRPr sz="1950" b="1">
                <a:solidFill>
                  <a:srgbClr val="253C4D"/>
                </a:solidFill>
                <a:latin typeface="Yu Gothic"/>
                <a:ea typeface="Yu Gothic"/>
                <a:cs typeface="Yu Gothic"/>
              </a:defRPr>
            </a:lvl8pPr>
            <a:lvl9pPr>
              <a:defRPr sz="1950" b="1">
                <a:solidFill>
                  <a:srgbClr val="253C4D"/>
                </a:solidFill>
                <a:latin typeface="Yu Gothic"/>
                <a:ea typeface="Yu Gothic"/>
                <a:cs typeface="Yu Gothic"/>
              </a:defRPr>
            </a:lvl9pPr>
          </a:lstStyle>
          <a:p>
            <a:pPr>
              <a:defRPr sz="1950" b="1">
                <a:solidFill>
                  <a:srgbClr val="253C4D"/>
                </a:solidFill>
                <a:latin typeface="Yu Gothic"/>
                <a:ea typeface="Yu Gothic"/>
                <a:cs typeface="Yu Gothic"/>
              </a:defRPr>
            </a:pPr>
            <a:r>
              <a:rPr sz="1950" b="1">
                <a:solidFill>
                  <a:srgbClr val="253C4D"/>
                </a:solidFill>
                <a:latin typeface="Yu Gothic"/>
                <a:ea typeface="Yu Gothic"/>
                <a:cs typeface="Yu Gothic"/>
              </a:rPr>
              <a:t>芯層：主に直交方向へ</a:t>
            </a:r>
          </a:p>
        </p:txBody>
      </p:sp>
      <p:sp>
        <p:nvSpPr>
          <p:cNvPr id="32" name="正方形/長方形 31">
            <a:extLst>
              <a:ext uri="{FF2B5EF4-FFF2-40B4-BE49-F238E27FC236}">
                <a16:creationId xmlns:a16="http://schemas.microsoft.com/office/drawing/2014/main" id="{D5B80374-BCFE-4E3D-A2F7-1B7EDA45E540}"/>
              </a:ext>
            </a:extLst>
          </p:cNvPr>
          <p:cNvSpPr>
            <a:spLocks noGrp="1"/>
          </p:cNvSpPr>
          <p:nvPr/>
        </p:nvSpPr>
        <p:spPr>
          <a:xfrm>
            <a:off x="4505325" y="2419350"/>
            <a:ext cx="3095625" cy="2428875"/>
          </a:xfrm>
          <a:prstGeom prst="rect">
            <a:avLst/>
          </a:prstGeom>
          <a:solidFill>
            <a:srgbClr val="F7F2E9"/>
          </a:solidFill>
          <a:ln w="9525">
            <a:solidFill>
              <a:srgbClr val="596875"/>
            </a:solidFill>
          </a:ln>
        </p:spPr>
      </p:sp>
      <p:sp>
        <p:nvSpPr>
          <p:cNvPr id="33" name="正方形/長方形 32">
            <a:extLst>
              <a:ext uri="{FF2B5EF4-FFF2-40B4-BE49-F238E27FC236}">
                <a16:creationId xmlns:a16="http://schemas.microsoft.com/office/drawing/2014/main" id="{AF79747D-EE72-4BBE-BFC4-AE84C5238989}"/>
              </a:ext>
            </a:extLst>
          </p:cNvPr>
          <p:cNvSpPr>
            <a:spLocks noGrp="1"/>
          </p:cNvSpPr>
          <p:nvPr/>
        </p:nvSpPr>
        <p:spPr>
          <a:xfrm>
            <a:off x="5038725" y="2638425"/>
            <a:ext cx="161925" cy="409575"/>
          </a:xfrm>
          <a:prstGeom prst="rect">
            <a:avLst/>
          </a:prstGeom>
          <a:solidFill>
            <a:srgbClr val="D7B78C"/>
          </a:solidFill>
          <a:ln w="0">
            <a:noFill/>
          </a:ln>
        </p:spPr>
      </p:sp>
      <p:sp>
        <p:nvSpPr>
          <p:cNvPr id="34" name="フリーフォーム: 図形 33">
            <a:extLst>
              <a:ext uri="{FF2B5EF4-FFF2-40B4-BE49-F238E27FC236}">
                <a16:creationId xmlns:a16="http://schemas.microsoft.com/office/drawing/2014/main" id="{B3E0621E-3B84-456A-B531-6EF00673AD92}"/>
              </a:ext>
            </a:extLst>
          </p:cNvPr>
          <p:cNvSpPr>
            <a:spLocks noGrp="1"/>
          </p:cNvSpPr>
          <p:nvPr/>
        </p:nvSpPr>
        <p:spPr>
          <a:xfrm>
            <a:off x="5114925" y="26955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35" name="正方形/長方形 34">
            <a:extLst>
              <a:ext uri="{FF2B5EF4-FFF2-40B4-BE49-F238E27FC236}">
                <a16:creationId xmlns:a16="http://schemas.microsoft.com/office/drawing/2014/main" id="{91D0910D-90A9-4101-AF15-4D00C763C48E}"/>
              </a:ext>
            </a:extLst>
          </p:cNvPr>
          <p:cNvSpPr>
            <a:spLocks noGrp="1"/>
          </p:cNvSpPr>
          <p:nvPr/>
        </p:nvSpPr>
        <p:spPr>
          <a:xfrm>
            <a:off x="5953125" y="2638425"/>
            <a:ext cx="161925" cy="409575"/>
          </a:xfrm>
          <a:prstGeom prst="rect">
            <a:avLst/>
          </a:prstGeom>
          <a:solidFill>
            <a:srgbClr val="D7B78C"/>
          </a:solidFill>
          <a:ln w="0">
            <a:noFill/>
          </a:ln>
        </p:spPr>
      </p:sp>
      <p:sp>
        <p:nvSpPr>
          <p:cNvPr id="36" name="フリーフォーム: 図形 35">
            <a:extLst>
              <a:ext uri="{FF2B5EF4-FFF2-40B4-BE49-F238E27FC236}">
                <a16:creationId xmlns:a16="http://schemas.microsoft.com/office/drawing/2014/main" id="{44AA7609-D23F-427C-AA00-D6033B5A63D8}"/>
              </a:ext>
            </a:extLst>
          </p:cNvPr>
          <p:cNvSpPr>
            <a:spLocks noGrp="1"/>
          </p:cNvSpPr>
          <p:nvPr/>
        </p:nvSpPr>
        <p:spPr>
          <a:xfrm>
            <a:off x="6029325" y="26955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37" name="正方形/長方形 36">
            <a:extLst>
              <a:ext uri="{FF2B5EF4-FFF2-40B4-BE49-F238E27FC236}">
                <a16:creationId xmlns:a16="http://schemas.microsoft.com/office/drawing/2014/main" id="{D8E0D51D-34FE-48B1-A5A8-5C1AD5796141}"/>
              </a:ext>
            </a:extLst>
          </p:cNvPr>
          <p:cNvSpPr>
            <a:spLocks noGrp="1"/>
          </p:cNvSpPr>
          <p:nvPr/>
        </p:nvSpPr>
        <p:spPr>
          <a:xfrm>
            <a:off x="6867525" y="2638425"/>
            <a:ext cx="161925" cy="409575"/>
          </a:xfrm>
          <a:prstGeom prst="rect">
            <a:avLst/>
          </a:prstGeom>
          <a:solidFill>
            <a:srgbClr val="D7B78C"/>
          </a:solidFill>
          <a:ln w="0">
            <a:noFill/>
          </a:ln>
        </p:spPr>
      </p:sp>
      <p:sp>
        <p:nvSpPr>
          <p:cNvPr id="38" name="フリーフォーム: 図形 37">
            <a:extLst>
              <a:ext uri="{FF2B5EF4-FFF2-40B4-BE49-F238E27FC236}">
                <a16:creationId xmlns:a16="http://schemas.microsoft.com/office/drawing/2014/main" id="{4519FEF3-1838-409F-8449-2A52B8D7E1AB}"/>
              </a:ext>
            </a:extLst>
          </p:cNvPr>
          <p:cNvSpPr>
            <a:spLocks noGrp="1"/>
          </p:cNvSpPr>
          <p:nvPr/>
        </p:nvSpPr>
        <p:spPr>
          <a:xfrm>
            <a:off x="6943725" y="26955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39" name="正方形/長方形 38">
            <a:extLst>
              <a:ext uri="{FF2B5EF4-FFF2-40B4-BE49-F238E27FC236}">
                <a16:creationId xmlns:a16="http://schemas.microsoft.com/office/drawing/2014/main" id="{4436DD83-41F6-4F39-BF3D-1C17CA012C73}"/>
              </a:ext>
            </a:extLst>
          </p:cNvPr>
          <p:cNvSpPr>
            <a:spLocks noGrp="1"/>
          </p:cNvSpPr>
          <p:nvPr/>
        </p:nvSpPr>
        <p:spPr>
          <a:xfrm>
            <a:off x="5038725" y="3152775"/>
            <a:ext cx="161925" cy="409575"/>
          </a:xfrm>
          <a:prstGeom prst="rect">
            <a:avLst/>
          </a:prstGeom>
          <a:solidFill>
            <a:srgbClr val="D7B78C"/>
          </a:solidFill>
          <a:ln w="0">
            <a:noFill/>
          </a:ln>
        </p:spPr>
      </p:sp>
      <p:sp>
        <p:nvSpPr>
          <p:cNvPr id="40" name="フリーフォーム: 図形 39">
            <a:extLst>
              <a:ext uri="{FF2B5EF4-FFF2-40B4-BE49-F238E27FC236}">
                <a16:creationId xmlns:a16="http://schemas.microsoft.com/office/drawing/2014/main" id="{7B797D2D-011F-4E2B-84CD-DCE70F4893A0}"/>
              </a:ext>
            </a:extLst>
          </p:cNvPr>
          <p:cNvSpPr>
            <a:spLocks noGrp="1"/>
          </p:cNvSpPr>
          <p:nvPr/>
        </p:nvSpPr>
        <p:spPr>
          <a:xfrm>
            <a:off x="5114925" y="32099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41" name="正方形/長方形 40">
            <a:extLst>
              <a:ext uri="{FF2B5EF4-FFF2-40B4-BE49-F238E27FC236}">
                <a16:creationId xmlns:a16="http://schemas.microsoft.com/office/drawing/2014/main" id="{386A7A25-F65B-4BBC-92D4-FC09BFC7DF73}"/>
              </a:ext>
            </a:extLst>
          </p:cNvPr>
          <p:cNvSpPr>
            <a:spLocks noGrp="1"/>
          </p:cNvSpPr>
          <p:nvPr/>
        </p:nvSpPr>
        <p:spPr>
          <a:xfrm>
            <a:off x="5953125" y="3152775"/>
            <a:ext cx="161925" cy="409575"/>
          </a:xfrm>
          <a:prstGeom prst="rect">
            <a:avLst/>
          </a:prstGeom>
          <a:solidFill>
            <a:srgbClr val="D7B78C"/>
          </a:solidFill>
          <a:ln w="0">
            <a:noFill/>
          </a:ln>
        </p:spPr>
      </p:sp>
      <p:sp>
        <p:nvSpPr>
          <p:cNvPr id="42" name="フリーフォーム: 図形 41">
            <a:extLst>
              <a:ext uri="{FF2B5EF4-FFF2-40B4-BE49-F238E27FC236}">
                <a16:creationId xmlns:a16="http://schemas.microsoft.com/office/drawing/2014/main" id="{04908524-4AFD-4663-A9B9-A412D8B1133D}"/>
              </a:ext>
            </a:extLst>
          </p:cNvPr>
          <p:cNvSpPr>
            <a:spLocks noGrp="1"/>
          </p:cNvSpPr>
          <p:nvPr/>
        </p:nvSpPr>
        <p:spPr>
          <a:xfrm>
            <a:off x="6029325" y="32099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43" name="正方形/長方形 42">
            <a:extLst>
              <a:ext uri="{FF2B5EF4-FFF2-40B4-BE49-F238E27FC236}">
                <a16:creationId xmlns:a16="http://schemas.microsoft.com/office/drawing/2014/main" id="{71A512CE-6ED3-4AD6-AE55-FE5695C2AD08}"/>
              </a:ext>
            </a:extLst>
          </p:cNvPr>
          <p:cNvSpPr>
            <a:spLocks noGrp="1"/>
          </p:cNvSpPr>
          <p:nvPr/>
        </p:nvSpPr>
        <p:spPr>
          <a:xfrm>
            <a:off x="6867525" y="3152775"/>
            <a:ext cx="161925" cy="409575"/>
          </a:xfrm>
          <a:prstGeom prst="rect">
            <a:avLst/>
          </a:prstGeom>
          <a:solidFill>
            <a:srgbClr val="D7B78C"/>
          </a:solidFill>
          <a:ln w="0">
            <a:noFill/>
          </a:ln>
        </p:spPr>
      </p:sp>
      <p:sp>
        <p:nvSpPr>
          <p:cNvPr id="44" name="フリーフォーム: 図形 43">
            <a:extLst>
              <a:ext uri="{FF2B5EF4-FFF2-40B4-BE49-F238E27FC236}">
                <a16:creationId xmlns:a16="http://schemas.microsoft.com/office/drawing/2014/main" id="{1280ECB7-9A9C-4806-A327-DF3765F68351}"/>
              </a:ext>
            </a:extLst>
          </p:cNvPr>
          <p:cNvSpPr>
            <a:spLocks noGrp="1"/>
          </p:cNvSpPr>
          <p:nvPr/>
        </p:nvSpPr>
        <p:spPr>
          <a:xfrm>
            <a:off x="6943725" y="32099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45" name="正方形/長方形 44">
            <a:extLst>
              <a:ext uri="{FF2B5EF4-FFF2-40B4-BE49-F238E27FC236}">
                <a16:creationId xmlns:a16="http://schemas.microsoft.com/office/drawing/2014/main" id="{0AD3E9F8-72F9-4860-9528-8C34211B4054}"/>
              </a:ext>
            </a:extLst>
          </p:cNvPr>
          <p:cNvSpPr>
            <a:spLocks noGrp="1"/>
          </p:cNvSpPr>
          <p:nvPr/>
        </p:nvSpPr>
        <p:spPr>
          <a:xfrm>
            <a:off x="5038725" y="3667125"/>
            <a:ext cx="161925" cy="409575"/>
          </a:xfrm>
          <a:prstGeom prst="rect">
            <a:avLst/>
          </a:prstGeom>
          <a:solidFill>
            <a:srgbClr val="D7B78C"/>
          </a:solidFill>
          <a:ln w="0">
            <a:noFill/>
          </a:ln>
        </p:spPr>
      </p:sp>
      <p:sp>
        <p:nvSpPr>
          <p:cNvPr id="46" name="フリーフォーム: 図形 45">
            <a:extLst>
              <a:ext uri="{FF2B5EF4-FFF2-40B4-BE49-F238E27FC236}">
                <a16:creationId xmlns:a16="http://schemas.microsoft.com/office/drawing/2014/main" id="{45B7D504-2193-414E-86CA-12ECAEC7020A}"/>
              </a:ext>
            </a:extLst>
          </p:cNvPr>
          <p:cNvSpPr>
            <a:spLocks noGrp="1"/>
          </p:cNvSpPr>
          <p:nvPr/>
        </p:nvSpPr>
        <p:spPr>
          <a:xfrm>
            <a:off x="5114925" y="37242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47" name="正方形/長方形 46">
            <a:extLst>
              <a:ext uri="{FF2B5EF4-FFF2-40B4-BE49-F238E27FC236}">
                <a16:creationId xmlns:a16="http://schemas.microsoft.com/office/drawing/2014/main" id="{1579B7BF-25DB-484A-881A-0DD68980435F}"/>
              </a:ext>
            </a:extLst>
          </p:cNvPr>
          <p:cNvSpPr>
            <a:spLocks noGrp="1"/>
          </p:cNvSpPr>
          <p:nvPr/>
        </p:nvSpPr>
        <p:spPr>
          <a:xfrm>
            <a:off x="5953125" y="3667125"/>
            <a:ext cx="161925" cy="409575"/>
          </a:xfrm>
          <a:prstGeom prst="rect">
            <a:avLst/>
          </a:prstGeom>
          <a:solidFill>
            <a:srgbClr val="D7B78C"/>
          </a:solidFill>
          <a:ln w="0">
            <a:noFill/>
          </a:ln>
        </p:spPr>
      </p:sp>
      <p:sp>
        <p:nvSpPr>
          <p:cNvPr id="48" name="フリーフォーム: 図形 47">
            <a:extLst>
              <a:ext uri="{FF2B5EF4-FFF2-40B4-BE49-F238E27FC236}">
                <a16:creationId xmlns:a16="http://schemas.microsoft.com/office/drawing/2014/main" id="{D46C6C25-BC9D-48D7-90F7-2090716BD7F0}"/>
              </a:ext>
            </a:extLst>
          </p:cNvPr>
          <p:cNvSpPr>
            <a:spLocks noGrp="1"/>
          </p:cNvSpPr>
          <p:nvPr/>
        </p:nvSpPr>
        <p:spPr>
          <a:xfrm>
            <a:off x="6029325" y="37242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49" name="正方形/長方形 48">
            <a:extLst>
              <a:ext uri="{FF2B5EF4-FFF2-40B4-BE49-F238E27FC236}">
                <a16:creationId xmlns:a16="http://schemas.microsoft.com/office/drawing/2014/main" id="{05C6BB7E-2B84-4F47-98A8-AF297723089E}"/>
              </a:ext>
            </a:extLst>
          </p:cNvPr>
          <p:cNvSpPr>
            <a:spLocks noGrp="1"/>
          </p:cNvSpPr>
          <p:nvPr/>
        </p:nvSpPr>
        <p:spPr>
          <a:xfrm>
            <a:off x="6867525" y="3667125"/>
            <a:ext cx="161925" cy="409575"/>
          </a:xfrm>
          <a:prstGeom prst="rect">
            <a:avLst/>
          </a:prstGeom>
          <a:solidFill>
            <a:srgbClr val="D7B78C"/>
          </a:solidFill>
          <a:ln w="0">
            <a:noFill/>
          </a:ln>
        </p:spPr>
      </p:sp>
      <p:sp>
        <p:nvSpPr>
          <p:cNvPr id="50" name="フリーフォーム: 図形 49">
            <a:extLst>
              <a:ext uri="{FF2B5EF4-FFF2-40B4-BE49-F238E27FC236}">
                <a16:creationId xmlns:a16="http://schemas.microsoft.com/office/drawing/2014/main" id="{6E4689ED-48D2-45C9-B705-9B569FD4547D}"/>
              </a:ext>
            </a:extLst>
          </p:cNvPr>
          <p:cNvSpPr>
            <a:spLocks noGrp="1"/>
          </p:cNvSpPr>
          <p:nvPr/>
        </p:nvSpPr>
        <p:spPr>
          <a:xfrm>
            <a:off x="6943725" y="372427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51" name="正方形/長方形 50">
            <a:extLst>
              <a:ext uri="{FF2B5EF4-FFF2-40B4-BE49-F238E27FC236}">
                <a16:creationId xmlns:a16="http://schemas.microsoft.com/office/drawing/2014/main" id="{E65F8FD1-5332-472B-A448-45A2339F1BD4}"/>
              </a:ext>
            </a:extLst>
          </p:cNvPr>
          <p:cNvSpPr>
            <a:spLocks noGrp="1"/>
          </p:cNvSpPr>
          <p:nvPr/>
        </p:nvSpPr>
        <p:spPr>
          <a:xfrm>
            <a:off x="5038725" y="4181475"/>
            <a:ext cx="161925" cy="409575"/>
          </a:xfrm>
          <a:prstGeom prst="rect">
            <a:avLst/>
          </a:prstGeom>
          <a:solidFill>
            <a:srgbClr val="D7B78C"/>
          </a:solidFill>
          <a:ln w="0">
            <a:noFill/>
          </a:ln>
        </p:spPr>
      </p:sp>
      <p:sp>
        <p:nvSpPr>
          <p:cNvPr id="52" name="フリーフォーム: 図形 51">
            <a:extLst>
              <a:ext uri="{FF2B5EF4-FFF2-40B4-BE49-F238E27FC236}">
                <a16:creationId xmlns:a16="http://schemas.microsoft.com/office/drawing/2014/main" id="{2101DBA0-70F7-49EA-8C43-6ECAAC37C01A}"/>
              </a:ext>
            </a:extLst>
          </p:cNvPr>
          <p:cNvSpPr>
            <a:spLocks noGrp="1"/>
          </p:cNvSpPr>
          <p:nvPr/>
        </p:nvSpPr>
        <p:spPr>
          <a:xfrm>
            <a:off x="5114925" y="42386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53" name="正方形/長方形 52">
            <a:extLst>
              <a:ext uri="{FF2B5EF4-FFF2-40B4-BE49-F238E27FC236}">
                <a16:creationId xmlns:a16="http://schemas.microsoft.com/office/drawing/2014/main" id="{C9147F8D-DF63-41F6-AEB9-FD497FFC55E9}"/>
              </a:ext>
            </a:extLst>
          </p:cNvPr>
          <p:cNvSpPr>
            <a:spLocks noGrp="1"/>
          </p:cNvSpPr>
          <p:nvPr/>
        </p:nvSpPr>
        <p:spPr>
          <a:xfrm>
            <a:off x="5953125" y="4181475"/>
            <a:ext cx="161925" cy="409575"/>
          </a:xfrm>
          <a:prstGeom prst="rect">
            <a:avLst/>
          </a:prstGeom>
          <a:solidFill>
            <a:srgbClr val="D7B78C"/>
          </a:solidFill>
          <a:ln w="0">
            <a:noFill/>
          </a:ln>
        </p:spPr>
      </p:sp>
      <p:sp>
        <p:nvSpPr>
          <p:cNvPr id="54" name="フリーフォーム: 図形 53">
            <a:extLst>
              <a:ext uri="{FF2B5EF4-FFF2-40B4-BE49-F238E27FC236}">
                <a16:creationId xmlns:a16="http://schemas.microsoft.com/office/drawing/2014/main" id="{F778914D-C0DF-4DB5-82E4-5E09D73F482A}"/>
              </a:ext>
            </a:extLst>
          </p:cNvPr>
          <p:cNvSpPr>
            <a:spLocks noGrp="1"/>
          </p:cNvSpPr>
          <p:nvPr/>
        </p:nvSpPr>
        <p:spPr>
          <a:xfrm>
            <a:off x="6029325" y="42386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55" name="正方形/長方形 54">
            <a:extLst>
              <a:ext uri="{FF2B5EF4-FFF2-40B4-BE49-F238E27FC236}">
                <a16:creationId xmlns:a16="http://schemas.microsoft.com/office/drawing/2014/main" id="{B6FD77C1-95CD-43C1-A27F-BA143BE44DD4}"/>
              </a:ext>
            </a:extLst>
          </p:cNvPr>
          <p:cNvSpPr>
            <a:spLocks noGrp="1"/>
          </p:cNvSpPr>
          <p:nvPr/>
        </p:nvSpPr>
        <p:spPr>
          <a:xfrm>
            <a:off x="6867525" y="4181475"/>
            <a:ext cx="161925" cy="409575"/>
          </a:xfrm>
          <a:prstGeom prst="rect">
            <a:avLst/>
          </a:prstGeom>
          <a:solidFill>
            <a:srgbClr val="D7B78C"/>
          </a:solidFill>
          <a:ln w="0">
            <a:noFill/>
          </a:ln>
        </p:spPr>
      </p:sp>
      <p:sp>
        <p:nvSpPr>
          <p:cNvPr id="56" name="フリーフォーム: 図形 55">
            <a:extLst>
              <a:ext uri="{FF2B5EF4-FFF2-40B4-BE49-F238E27FC236}">
                <a16:creationId xmlns:a16="http://schemas.microsoft.com/office/drawing/2014/main" id="{4EEA4CEE-4E3E-4DDB-9962-374DAB7AC808}"/>
              </a:ext>
            </a:extLst>
          </p:cNvPr>
          <p:cNvSpPr>
            <a:spLocks noGrp="1"/>
          </p:cNvSpPr>
          <p:nvPr/>
        </p:nvSpPr>
        <p:spPr>
          <a:xfrm>
            <a:off x="6943725" y="4238625"/>
            <a:ext cx="9525" cy="285750"/>
          </a:xfrm>
          <a:custGeom>
            <a:avLst/>
            <a:gdLst/>
            <a:ahLst/>
            <a:cxnLst/>
            <a:rect l="0" t="0" r="0" b="0"/>
            <a:pathLst>
              <a:path w="9525" h="285750">
                <a:moveTo>
                  <a:pt x="0" y="0"/>
                </a:moveTo>
                <a:lnTo>
                  <a:pt x="0" y="285750"/>
                </a:lnTo>
              </a:path>
            </a:pathLst>
          </a:custGeom>
          <a:noFill/>
          <a:ln w="19050">
            <a:solidFill>
              <a:srgbClr val="A67336"/>
            </a:solidFill>
          </a:ln>
        </p:spPr>
      </p:sp>
      <p:sp>
        <p:nvSpPr>
          <p:cNvPr id="57" name="正方形/長方形 56">
            <a:extLst>
              <a:ext uri="{FF2B5EF4-FFF2-40B4-BE49-F238E27FC236}">
                <a16:creationId xmlns:a16="http://schemas.microsoft.com/office/drawing/2014/main" id="{FDA1693F-2A2D-476E-8EB7-1E3DE001D395}"/>
              </a:ext>
            </a:extLst>
          </p:cNvPr>
          <p:cNvSpPr>
            <a:spLocks noGrp="1"/>
          </p:cNvSpPr>
          <p:nvPr/>
        </p:nvSpPr>
        <p:spPr>
          <a:xfrm>
            <a:off x="8172450" y="1600200"/>
            <a:ext cx="3476625" cy="619125"/>
          </a:xfrm>
          <a:prstGeom prst="rect">
            <a:avLst/>
          </a:prstGeom>
          <a:noFill/>
          <a:ln w="0">
            <a:noFill/>
          </a:ln>
        </p:spPr>
        <p:txBody>
          <a:bodyPr lIns="0" tIns="0" rIns="0" bIns="0" anchor="ctr">
            <a:noAutofit/>
          </a:bodyPr>
          <a:lstStyle>
            <a:defPPr>
              <a:defRPr sz="1950" b="1">
                <a:solidFill>
                  <a:srgbClr val="253C4D"/>
                </a:solidFill>
                <a:latin typeface="Yu Gothic"/>
                <a:ea typeface="Yu Gothic"/>
                <a:cs typeface="Yu Gothic"/>
              </a:defRPr>
            </a:defPPr>
            <a:lvl1pPr>
              <a:defRPr sz="1950" b="1">
                <a:solidFill>
                  <a:srgbClr val="253C4D"/>
                </a:solidFill>
                <a:latin typeface="Yu Gothic"/>
                <a:ea typeface="Yu Gothic"/>
                <a:cs typeface="Yu Gothic"/>
              </a:defRPr>
            </a:lvl1pPr>
            <a:lvl2pPr>
              <a:defRPr sz="1950" b="1">
                <a:solidFill>
                  <a:srgbClr val="253C4D"/>
                </a:solidFill>
                <a:latin typeface="Yu Gothic"/>
                <a:ea typeface="Yu Gothic"/>
                <a:cs typeface="Yu Gothic"/>
              </a:defRPr>
            </a:lvl2pPr>
            <a:lvl3pPr>
              <a:defRPr sz="1950" b="1">
                <a:solidFill>
                  <a:srgbClr val="253C4D"/>
                </a:solidFill>
                <a:latin typeface="Yu Gothic"/>
                <a:ea typeface="Yu Gothic"/>
                <a:cs typeface="Yu Gothic"/>
              </a:defRPr>
            </a:lvl3pPr>
            <a:lvl4pPr>
              <a:defRPr sz="1950" b="1">
                <a:solidFill>
                  <a:srgbClr val="253C4D"/>
                </a:solidFill>
                <a:latin typeface="Yu Gothic"/>
                <a:ea typeface="Yu Gothic"/>
                <a:cs typeface="Yu Gothic"/>
              </a:defRPr>
            </a:lvl4pPr>
            <a:lvl5pPr>
              <a:defRPr sz="1950" b="1">
                <a:solidFill>
                  <a:srgbClr val="253C4D"/>
                </a:solidFill>
                <a:latin typeface="Yu Gothic"/>
                <a:ea typeface="Yu Gothic"/>
                <a:cs typeface="Yu Gothic"/>
              </a:defRPr>
            </a:lvl5pPr>
            <a:lvl6pPr>
              <a:defRPr sz="1950" b="1">
                <a:solidFill>
                  <a:srgbClr val="253C4D"/>
                </a:solidFill>
                <a:latin typeface="Yu Gothic"/>
                <a:ea typeface="Yu Gothic"/>
                <a:cs typeface="Yu Gothic"/>
              </a:defRPr>
            </a:lvl6pPr>
            <a:lvl7pPr>
              <a:defRPr sz="1950" b="1">
                <a:solidFill>
                  <a:srgbClr val="253C4D"/>
                </a:solidFill>
                <a:latin typeface="Yu Gothic"/>
                <a:ea typeface="Yu Gothic"/>
                <a:cs typeface="Yu Gothic"/>
              </a:defRPr>
            </a:lvl7pPr>
            <a:lvl8pPr>
              <a:defRPr sz="1950" b="1">
                <a:solidFill>
                  <a:srgbClr val="253C4D"/>
                </a:solidFill>
                <a:latin typeface="Yu Gothic"/>
                <a:ea typeface="Yu Gothic"/>
                <a:cs typeface="Yu Gothic"/>
              </a:defRPr>
            </a:lvl8pPr>
            <a:lvl9pPr>
              <a:defRPr sz="1950" b="1">
                <a:solidFill>
                  <a:srgbClr val="253C4D"/>
                </a:solidFill>
                <a:latin typeface="Yu Gothic"/>
                <a:ea typeface="Yu Gothic"/>
                <a:cs typeface="Yu Gothic"/>
              </a:defRPr>
            </a:lvl9pPr>
          </a:lstStyle>
          <a:p>
            <a:pPr>
              <a:defRPr sz="1950" b="1">
                <a:solidFill>
                  <a:srgbClr val="253C4D"/>
                </a:solidFill>
                <a:latin typeface="Yu Gothic"/>
                <a:ea typeface="Yu Gothic"/>
                <a:cs typeface="Yu Gothic"/>
              </a:defRPr>
            </a:pPr>
            <a:r>
              <a:rPr sz="1950" b="1">
                <a:solidFill>
                  <a:srgbClr val="253C4D"/>
                </a:solidFill>
                <a:latin typeface="Yu Gothic"/>
                <a:ea typeface="Yu Gothic"/>
                <a:cs typeface="Yu Gothic"/>
              </a:rPr>
              <a:t>裏層：主に長手へ配向</a:t>
            </a:r>
          </a:p>
        </p:txBody>
      </p:sp>
      <p:sp>
        <p:nvSpPr>
          <p:cNvPr id="58" name="正方形/長方形 57">
            <a:extLst>
              <a:ext uri="{FF2B5EF4-FFF2-40B4-BE49-F238E27FC236}">
                <a16:creationId xmlns:a16="http://schemas.microsoft.com/office/drawing/2014/main" id="{8AA3A3B7-1E1A-4D45-9155-268B05B58A35}"/>
              </a:ext>
            </a:extLst>
          </p:cNvPr>
          <p:cNvSpPr>
            <a:spLocks noGrp="1"/>
          </p:cNvSpPr>
          <p:nvPr/>
        </p:nvSpPr>
        <p:spPr>
          <a:xfrm>
            <a:off x="8172450" y="2419350"/>
            <a:ext cx="3095625" cy="2428875"/>
          </a:xfrm>
          <a:prstGeom prst="rect">
            <a:avLst/>
          </a:prstGeom>
          <a:solidFill>
            <a:srgbClr val="F7F2E9"/>
          </a:solidFill>
          <a:ln w="9525">
            <a:solidFill>
              <a:srgbClr val="596875"/>
            </a:solidFill>
          </a:ln>
        </p:spPr>
      </p:sp>
      <p:sp>
        <p:nvSpPr>
          <p:cNvPr id="59" name="正方形/長方形 58">
            <a:extLst>
              <a:ext uri="{FF2B5EF4-FFF2-40B4-BE49-F238E27FC236}">
                <a16:creationId xmlns:a16="http://schemas.microsoft.com/office/drawing/2014/main" id="{5EEC4909-5A82-4E60-88FD-2848D3B30B0C}"/>
              </a:ext>
            </a:extLst>
          </p:cNvPr>
          <p:cNvSpPr>
            <a:spLocks noGrp="1"/>
          </p:cNvSpPr>
          <p:nvPr/>
        </p:nvSpPr>
        <p:spPr>
          <a:xfrm>
            <a:off x="8439150" y="2638425"/>
            <a:ext cx="666750" cy="161925"/>
          </a:xfrm>
          <a:prstGeom prst="rect">
            <a:avLst/>
          </a:prstGeom>
          <a:solidFill>
            <a:srgbClr val="D7B78C"/>
          </a:solidFill>
          <a:ln w="0">
            <a:noFill/>
          </a:ln>
        </p:spPr>
      </p:sp>
      <p:sp>
        <p:nvSpPr>
          <p:cNvPr id="60" name="フリーフォーム: 図形 59">
            <a:extLst>
              <a:ext uri="{FF2B5EF4-FFF2-40B4-BE49-F238E27FC236}">
                <a16:creationId xmlns:a16="http://schemas.microsoft.com/office/drawing/2014/main" id="{5A757821-2522-4347-84F8-62E098D7D81B}"/>
              </a:ext>
            </a:extLst>
          </p:cNvPr>
          <p:cNvSpPr>
            <a:spLocks noGrp="1"/>
          </p:cNvSpPr>
          <p:nvPr/>
        </p:nvSpPr>
        <p:spPr>
          <a:xfrm>
            <a:off x="850582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61" name="正方形/長方形 60">
            <a:extLst>
              <a:ext uri="{FF2B5EF4-FFF2-40B4-BE49-F238E27FC236}">
                <a16:creationId xmlns:a16="http://schemas.microsoft.com/office/drawing/2014/main" id="{E2A69527-DB54-4B2F-8661-355F59C637D6}"/>
              </a:ext>
            </a:extLst>
          </p:cNvPr>
          <p:cNvSpPr>
            <a:spLocks noGrp="1"/>
          </p:cNvSpPr>
          <p:nvPr/>
        </p:nvSpPr>
        <p:spPr>
          <a:xfrm>
            <a:off x="9353550" y="2638425"/>
            <a:ext cx="666750" cy="161925"/>
          </a:xfrm>
          <a:prstGeom prst="rect">
            <a:avLst/>
          </a:prstGeom>
          <a:solidFill>
            <a:srgbClr val="D7B78C"/>
          </a:solidFill>
          <a:ln w="0">
            <a:noFill/>
          </a:ln>
        </p:spPr>
      </p:sp>
      <p:sp>
        <p:nvSpPr>
          <p:cNvPr id="62" name="フリーフォーム: 図形 61">
            <a:extLst>
              <a:ext uri="{FF2B5EF4-FFF2-40B4-BE49-F238E27FC236}">
                <a16:creationId xmlns:a16="http://schemas.microsoft.com/office/drawing/2014/main" id="{2E197B1E-9D61-4F9B-8692-A3F3EA68EA1C}"/>
              </a:ext>
            </a:extLst>
          </p:cNvPr>
          <p:cNvSpPr>
            <a:spLocks noGrp="1"/>
          </p:cNvSpPr>
          <p:nvPr/>
        </p:nvSpPr>
        <p:spPr>
          <a:xfrm>
            <a:off x="942022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63" name="正方形/長方形 62">
            <a:extLst>
              <a:ext uri="{FF2B5EF4-FFF2-40B4-BE49-F238E27FC236}">
                <a16:creationId xmlns:a16="http://schemas.microsoft.com/office/drawing/2014/main" id="{2CB91FC6-E4BA-43FE-9FD2-0420167D169C}"/>
              </a:ext>
            </a:extLst>
          </p:cNvPr>
          <p:cNvSpPr>
            <a:spLocks noGrp="1"/>
          </p:cNvSpPr>
          <p:nvPr/>
        </p:nvSpPr>
        <p:spPr>
          <a:xfrm>
            <a:off x="10267950" y="2638425"/>
            <a:ext cx="666750" cy="161925"/>
          </a:xfrm>
          <a:prstGeom prst="rect">
            <a:avLst/>
          </a:prstGeom>
          <a:solidFill>
            <a:srgbClr val="D7B78C"/>
          </a:solidFill>
          <a:ln w="0">
            <a:noFill/>
          </a:ln>
        </p:spPr>
      </p:sp>
      <p:sp>
        <p:nvSpPr>
          <p:cNvPr id="64" name="フリーフォーム: 図形 63">
            <a:extLst>
              <a:ext uri="{FF2B5EF4-FFF2-40B4-BE49-F238E27FC236}">
                <a16:creationId xmlns:a16="http://schemas.microsoft.com/office/drawing/2014/main" id="{C1120519-CBD4-4842-BC56-64877F92C908}"/>
              </a:ext>
            </a:extLst>
          </p:cNvPr>
          <p:cNvSpPr>
            <a:spLocks noGrp="1"/>
          </p:cNvSpPr>
          <p:nvPr/>
        </p:nvSpPr>
        <p:spPr>
          <a:xfrm>
            <a:off x="10334625" y="27146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65" name="正方形/長方形 64">
            <a:extLst>
              <a:ext uri="{FF2B5EF4-FFF2-40B4-BE49-F238E27FC236}">
                <a16:creationId xmlns:a16="http://schemas.microsoft.com/office/drawing/2014/main" id="{84ABA1F1-3A86-4CDE-A6C1-B5222A6536CD}"/>
              </a:ext>
            </a:extLst>
          </p:cNvPr>
          <p:cNvSpPr>
            <a:spLocks noGrp="1"/>
          </p:cNvSpPr>
          <p:nvPr/>
        </p:nvSpPr>
        <p:spPr>
          <a:xfrm>
            <a:off x="8439150" y="3152775"/>
            <a:ext cx="666750" cy="161925"/>
          </a:xfrm>
          <a:prstGeom prst="rect">
            <a:avLst/>
          </a:prstGeom>
          <a:solidFill>
            <a:srgbClr val="D7B78C"/>
          </a:solidFill>
          <a:ln w="0">
            <a:noFill/>
          </a:ln>
        </p:spPr>
      </p:sp>
      <p:sp>
        <p:nvSpPr>
          <p:cNvPr id="66" name="フリーフォーム: 図形 65">
            <a:extLst>
              <a:ext uri="{FF2B5EF4-FFF2-40B4-BE49-F238E27FC236}">
                <a16:creationId xmlns:a16="http://schemas.microsoft.com/office/drawing/2014/main" id="{51F2DE94-EC9B-466C-A43E-10C697D77676}"/>
              </a:ext>
            </a:extLst>
          </p:cNvPr>
          <p:cNvSpPr>
            <a:spLocks noGrp="1"/>
          </p:cNvSpPr>
          <p:nvPr/>
        </p:nvSpPr>
        <p:spPr>
          <a:xfrm>
            <a:off x="850582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67" name="正方形/長方形 66">
            <a:extLst>
              <a:ext uri="{FF2B5EF4-FFF2-40B4-BE49-F238E27FC236}">
                <a16:creationId xmlns:a16="http://schemas.microsoft.com/office/drawing/2014/main" id="{5005BD6A-12D0-4474-852D-9852F4A999BE}"/>
              </a:ext>
            </a:extLst>
          </p:cNvPr>
          <p:cNvSpPr>
            <a:spLocks noGrp="1"/>
          </p:cNvSpPr>
          <p:nvPr/>
        </p:nvSpPr>
        <p:spPr>
          <a:xfrm>
            <a:off x="9353550" y="3152775"/>
            <a:ext cx="666750" cy="161925"/>
          </a:xfrm>
          <a:prstGeom prst="rect">
            <a:avLst/>
          </a:prstGeom>
          <a:solidFill>
            <a:srgbClr val="D7B78C"/>
          </a:solidFill>
          <a:ln w="0">
            <a:noFill/>
          </a:ln>
        </p:spPr>
      </p:sp>
      <p:sp>
        <p:nvSpPr>
          <p:cNvPr id="68" name="フリーフォーム: 図形 67">
            <a:extLst>
              <a:ext uri="{FF2B5EF4-FFF2-40B4-BE49-F238E27FC236}">
                <a16:creationId xmlns:a16="http://schemas.microsoft.com/office/drawing/2014/main" id="{2292E70F-3AB5-45A4-AADE-5F4BA5B5F1E6}"/>
              </a:ext>
            </a:extLst>
          </p:cNvPr>
          <p:cNvSpPr>
            <a:spLocks noGrp="1"/>
          </p:cNvSpPr>
          <p:nvPr/>
        </p:nvSpPr>
        <p:spPr>
          <a:xfrm>
            <a:off x="942022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69" name="正方形/長方形 68">
            <a:extLst>
              <a:ext uri="{FF2B5EF4-FFF2-40B4-BE49-F238E27FC236}">
                <a16:creationId xmlns:a16="http://schemas.microsoft.com/office/drawing/2014/main" id="{91875611-5ED4-4C7B-9A26-6C7D187A9AF6}"/>
              </a:ext>
            </a:extLst>
          </p:cNvPr>
          <p:cNvSpPr>
            <a:spLocks noGrp="1"/>
          </p:cNvSpPr>
          <p:nvPr/>
        </p:nvSpPr>
        <p:spPr>
          <a:xfrm>
            <a:off x="10267950" y="3152775"/>
            <a:ext cx="666750" cy="161925"/>
          </a:xfrm>
          <a:prstGeom prst="rect">
            <a:avLst/>
          </a:prstGeom>
          <a:solidFill>
            <a:srgbClr val="D7B78C"/>
          </a:solidFill>
          <a:ln w="0">
            <a:noFill/>
          </a:ln>
        </p:spPr>
      </p:sp>
      <p:sp>
        <p:nvSpPr>
          <p:cNvPr id="70" name="フリーフォーム: 図形 69">
            <a:extLst>
              <a:ext uri="{FF2B5EF4-FFF2-40B4-BE49-F238E27FC236}">
                <a16:creationId xmlns:a16="http://schemas.microsoft.com/office/drawing/2014/main" id="{613A64BE-183C-4EAB-8B8E-A2115549913D}"/>
              </a:ext>
            </a:extLst>
          </p:cNvPr>
          <p:cNvSpPr>
            <a:spLocks noGrp="1"/>
          </p:cNvSpPr>
          <p:nvPr/>
        </p:nvSpPr>
        <p:spPr>
          <a:xfrm>
            <a:off x="10334625" y="32289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71" name="正方形/長方形 70">
            <a:extLst>
              <a:ext uri="{FF2B5EF4-FFF2-40B4-BE49-F238E27FC236}">
                <a16:creationId xmlns:a16="http://schemas.microsoft.com/office/drawing/2014/main" id="{97FE0BA9-A73D-463E-BBD6-8F9F848E1A33}"/>
              </a:ext>
            </a:extLst>
          </p:cNvPr>
          <p:cNvSpPr>
            <a:spLocks noGrp="1"/>
          </p:cNvSpPr>
          <p:nvPr/>
        </p:nvSpPr>
        <p:spPr>
          <a:xfrm>
            <a:off x="8439150" y="3667125"/>
            <a:ext cx="666750" cy="161925"/>
          </a:xfrm>
          <a:prstGeom prst="rect">
            <a:avLst/>
          </a:prstGeom>
          <a:solidFill>
            <a:srgbClr val="D7B78C"/>
          </a:solidFill>
          <a:ln w="0">
            <a:noFill/>
          </a:ln>
        </p:spPr>
      </p:sp>
      <p:sp>
        <p:nvSpPr>
          <p:cNvPr id="72" name="フリーフォーム: 図形 71">
            <a:extLst>
              <a:ext uri="{FF2B5EF4-FFF2-40B4-BE49-F238E27FC236}">
                <a16:creationId xmlns:a16="http://schemas.microsoft.com/office/drawing/2014/main" id="{96E06EFF-41CD-4274-BE43-BAA12EF7D9F8}"/>
              </a:ext>
            </a:extLst>
          </p:cNvPr>
          <p:cNvSpPr>
            <a:spLocks noGrp="1"/>
          </p:cNvSpPr>
          <p:nvPr/>
        </p:nvSpPr>
        <p:spPr>
          <a:xfrm>
            <a:off x="850582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73" name="正方形/長方形 72">
            <a:extLst>
              <a:ext uri="{FF2B5EF4-FFF2-40B4-BE49-F238E27FC236}">
                <a16:creationId xmlns:a16="http://schemas.microsoft.com/office/drawing/2014/main" id="{4934A8B3-181D-40F4-A97B-AA20A15572F4}"/>
              </a:ext>
            </a:extLst>
          </p:cNvPr>
          <p:cNvSpPr>
            <a:spLocks noGrp="1"/>
          </p:cNvSpPr>
          <p:nvPr/>
        </p:nvSpPr>
        <p:spPr>
          <a:xfrm>
            <a:off x="9353550" y="3667125"/>
            <a:ext cx="666750" cy="161925"/>
          </a:xfrm>
          <a:prstGeom prst="rect">
            <a:avLst/>
          </a:prstGeom>
          <a:solidFill>
            <a:srgbClr val="D7B78C"/>
          </a:solidFill>
          <a:ln w="0">
            <a:noFill/>
          </a:ln>
        </p:spPr>
      </p:sp>
      <p:sp>
        <p:nvSpPr>
          <p:cNvPr id="74" name="フリーフォーム: 図形 73">
            <a:extLst>
              <a:ext uri="{FF2B5EF4-FFF2-40B4-BE49-F238E27FC236}">
                <a16:creationId xmlns:a16="http://schemas.microsoft.com/office/drawing/2014/main" id="{FDFFE2BC-386E-4BB5-BCA5-269963D3D4EF}"/>
              </a:ext>
            </a:extLst>
          </p:cNvPr>
          <p:cNvSpPr>
            <a:spLocks noGrp="1"/>
          </p:cNvSpPr>
          <p:nvPr/>
        </p:nvSpPr>
        <p:spPr>
          <a:xfrm>
            <a:off x="942022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75" name="正方形/長方形 74">
            <a:extLst>
              <a:ext uri="{FF2B5EF4-FFF2-40B4-BE49-F238E27FC236}">
                <a16:creationId xmlns:a16="http://schemas.microsoft.com/office/drawing/2014/main" id="{438D610F-D219-40F8-8727-485B51F70F27}"/>
              </a:ext>
            </a:extLst>
          </p:cNvPr>
          <p:cNvSpPr>
            <a:spLocks noGrp="1"/>
          </p:cNvSpPr>
          <p:nvPr/>
        </p:nvSpPr>
        <p:spPr>
          <a:xfrm>
            <a:off x="10267950" y="3667125"/>
            <a:ext cx="666750" cy="161925"/>
          </a:xfrm>
          <a:prstGeom prst="rect">
            <a:avLst/>
          </a:prstGeom>
          <a:solidFill>
            <a:srgbClr val="D7B78C"/>
          </a:solidFill>
          <a:ln w="0">
            <a:noFill/>
          </a:ln>
        </p:spPr>
      </p:sp>
      <p:sp>
        <p:nvSpPr>
          <p:cNvPr id="76" name="フリーフォーム: 図形 75">
            <a:extLst>
              <a:ext uri="{FF2B5EF4-FFF2-40B4-BE49-F238E27FC236}">
                <a16:creationId xmlns:a16="http://schemas.microsoft.com/office/drawing/2014/main" id="{CBA6DCC9-A243-4D97-97C2-65974C19E853}"/>
              </a:ext>
            </a:extLst>
          </p:cNvPr>
          <p:cNvSpPr>
            <a:spLocks noGrp="1"/>
          </p:cNvSpPr>
          <p:nvPr/>
        </p:nvSpPr>
        <p:spPr>
          <a:xfrm>
            <a:off x="10334625" y="374332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77" name="正方形/長方形 76">
            <a:extLst>
              <a:ext uri="{FF2B5EF4-FFF2-40B4-BE49-F238E27FC236}">
                <a16:creationId xmlns:a16="http://schemas.microsoft.com/office/drawing/2014/main" id="{F1D6C7C0-BAC9-4CC0-9064-0304EBF6677F}"/>
              </a:ext>
            </a:extLst>
          </p:cNvPr>
          <p:cNvSpPr>
            <a:spLocks noGrp="1"/>
          </p:cNvSpPr>
          <p:nvPr/>
        </p:nvSpPr>
        <p:spPr>
          <a:xfrm>
            <a:off x="8439150" y="4181475"/>
            <a:ext cx="666750" cy="161925"/>
          </a:xfrm>
          <a:prstGeom prst="rect">
            <a:avLst/>
          </a:prstGeom>
          <a:solidFill>
            <a:srgbClr val="D7B78C"/>
          </a:solidFill>
          <a:ln w="0">
            <a:noFill/>
          </a:ln>
        </p:spPr>
      </p:sp>
      <p:sp>
        <p:nvSpPr>
          <p:cNvPr id="78" name="フリーフォーム: 図形 77">
            <a:extLst>
              <a:ext uri="{FF2B5EF4-FFF2-40B4-BE49-F238E27FC236}">
                <a16:creationId xmlns:a16="http://schemas.microsoft.com/office/drawing/2014/main" id="{915EBBBC-DF47-4B00-9D8C-50F803D74AE2}"/>
              </a:ext>
            </a:extLst>
          </p:cNvPr>
          <p:cNvSpPr>
            <a:spLocks noGrp="1"/>
          </p:cNvSpPr>
          <p:nvPr/>
        </p:nvSpPr>
        <p:spPr>
          <a:xfrm>
            <a:off x="850582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79" name="正方形/長方形 78">
            <a:extLst>
              <a:ext uri="{FF2B5EF4-FFF2-40B4-BE49-F238E27FC236}">
                <a16:creationId xmlns:a16="http://schemas.microsoft.com/office/drawing/2014/main" id="{60C688ED-012F-43D7-A02E-183FC4193C9D}"/>
              </a:ext>
            </a:extLst>
          </p:cNvPr>
          <p:cNvSpPr>
            <a:spLocks noGrp="1"/>
          </p:cNvSpPr>
          <p:nvPr/>
        </p:nvSpPr>
        <p:spPr>
          <a:xfrm>
            <a:off x="9353550" y="4181475"/>
            <a:ext cx="666750" cy="161925"/>
          </a:xfrm>
          <a:prstGeom prst="rect">
            <a:avLst/>
          </a:prstGeom>
          <a:solidFill>
            <a:srgbClr val="D7B78C"/>
          </a:solidFill>
          <a:ln w="0">
            <a:noFill/>
          </a:ln>
        </p:spPr>
      </p:sp>
      <p:sp>
        <p:nvSpPr>
          <p:cNvPr id="80" name="フリーフォーム: 図形 79">
            <a:extLst>
              <a:ext uri="{FF2B5EF4-FFF2-40B4-BE49-F238E27FC236}">
                <a16:creationId xmlns:a16="http://schemas.microsoft.com/office/drawing/2014/main" id="{B449E81A-0175-467D-A04F-575E39BAB2F4}"/>
              </a:ext>
            </a:extLst>
          </p:cNvPr>
          <p:cNvSpPr>
            <a:spLocks noGrp="1"/>
          </p:cNvSpPr>
          <p:nvPr/>
        </p:nvSpPr>
        <p:spPr>
          <a:xfrm>
            <a:off x="942022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81" name="正方形/長方形 80">
            <a:extLst>
              <a:ext uri="{FF2B5EF4-FFF2-40B4-BE49-F238E27FC236}">
                <a16:creationId xmlns:a16="http://schemas.microsoft.com/office/drawing/2014/main" id="{764859BA-C8B9-49BC-9D6B-DEB0C50E9565}"/>
              </a:ext>
            </a:extLst>
          </p:cNvPr>
          <p:cNvSpPr>
            <a:spLocks noGrp="1"/>
          </p:cNvSpPr>
          <p:nvPr/>
        </p:nvSpPr>
        <p:spPr>
          <a:xfrm>
            <a:off x="10267950" y="4181475"/>
            <a:ext cx="666750" cy="161925"/>
          </a:xfrm>
          <a:prstGeom prst="rect">
            <a:avLst/>
          </a:prstGeom>
          <a:solidFill>
            <a:srgbClr val="D7B78C"/>
          </a:solidFill>
          <a:ln w="0">
            <a:noFill/>
          </a:ln>
        </p:spPr>
      </p:sp>
      <p:sp>
        <p:nvSpPr>
          <p:cNvPr id="82" name="フリーフォーム: 図形 81">
            <a:extLst>
              <a:ext uri="{FF2B5EF4-FFF2-40B4-BE49-F238E27FC236}">
                <a16:creationId xmlns:a16="http://schemas.microsoft.com/office/drawing/2014/main" id="{AD29C000-8276-4DF2-B973-FEF971845172}"/>
              </a:ext>
            </a:extLst>
          </p:cNvPr>
          <p:cNvSpPr>
            <a:spLocks noGrp="1"/>
          </p:cNvSpPr>
          <p:nvPr/>
        </p:nvSpPr>
        <p:spPr>
          <a:xfrm>
            <a:off x="10334625" y="4257675"/>
            <a:ext cx="533400" cy="9525"/>
          </a:xfrm>
          <a:custGeom>
            <a:avLst/>
            <a:gdLst/>
            <a:ahLst/>
            <a:cxnLst/>
            <a:rect l="0" t="0" r="0" b="0"/>
            <a:pathLst>
              <a:path w="533400" h="9525">
                <a:moveTo>
                  <a:pt x="0" y="0"/>
                </a:moveTo>
                <a:lnTo>
                  <a:pt x="533400" y="0"/>
                </a:lnTo>
              </a:path>
            </a:pathLst>
          </a:custGeom>
          <a:noFill/>
          <a:ln w="19050">
            <a:solidFill>
              <a:srgbClr val="A67336"/>
            </a:solidFill>
          </a:ln>
        </p:spPr>
      </p:sp>
      <p:sp>
        <p:nvSpPr>
          <p:cNvPr id="83" name="正方形/長方形 82">
            <a:extLst>
              <a:ext uri="{FF2B5EF4-FFF2-40B4-BE49-F238E27FC236}">
                <a16:creationId xmlns:a16="http://schemas.microsoft.com/office/drawing/2014/main" id="{195233A1-F663-4F0D-A5EF-3B22804CF9A9}"/>
              </a:ext>
            </a:extLst>
          </p:cNvPr>
          <p:cNvSpPr>
            <a:spLocks noGrp="1"/>
          </p:cNvSpPr>
          <p:nvPr/>
        </p:nvSpPr>
        <p:spPr>
          <a:xfrm>
            <a:off x="838200" y="5219700"/>
            <a:ext cx="10477500" cy="523875"/>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defRPr sz="2100" b="1">
                <a:solidFill>
                  <a:srgbClr val="253C4D"/>
                </a:solidFill>
                <a:latin typeface="Yu Gothic"/>
                <a:ea typeface="Yu Gothic"/>
                <a:cs typeface="Yu Gothic"/>
              </a:defRPr>
            </a:lvl1pPr>
            <a:lvl2pPr>
              <a:defRPr sz="2100" b="1">
                <a:solidFill>
                  <a:srgbClr val="253C4D"/>
                </a:solidFill>
                <a:latin typeface="Yu Gothic"/>
                <a:ea typeface="Yu Gothic"/>
                <a:cs typeface="Yu Gothic"/>
              </a:defRPr>
            </a:lvl2pPr>
            <a:lvl3pPr>
              <a:defRPr sz="2100" b="1">
                <a:solidFill>
                  <a:srgbClr val="253C4D"/>
                </a:solidFill>
                <a:latin typeface="Yu Gothic"/>
                <a:ea typeface="Yu Gothic"/>
                <a:cs typeface="Yu Gothic"/>
              </a:defRPr>
            </a:lvl3pPr>
            <a:lvl4pPr>
              <a:defRPr sz="2100" b="1">
                <a:solidFill>
                  <a:srgbClr val="253C4D"/>
                </a:solidFill>
                <a:latin typeface="Yu Gothic"/>
                <a:ea typeface="Yu Gothic"/>
                <a:cs typeface="Yu Gothic"/>
              </a:defRPr>
            </a:lvl4pPr>
            <a:lvl5pPr>
              <a:defRPr sz="2100" b="1">
                <a:solidFill>
                  <a:srgbClr val="253C4D"/>
                </a:solidFill>
                <a:latin typeface="Yu Gothic"/>
                <a:ea typeface="Yu Gothic"/>
                <a:cs typeface="Yu Gothic"/>
              </a:defRPr>
            </a:lvl5pPr>
            <a:lvl6pPr>
              <a:defRPr sz="2100" b="1">
                <a:solidFill>
                  <a:srgbClr val="253C4D"/>
                </a:solidFill>
                <a:latin typeface="Yu Gothic"/>
                <a:ea typeface="Yu Gothic"/>
                <a:cs typeface="Yu Gothic"/>
              </a:defRPr>
            </a:lvl6pPr>
            <a:lvl7pPr>
              <a:defRPr sz="2100" b="1">
                <a:solidFill>
                  <a:srgbClr val="253C4D"/>
                </a:solidFill>
                <a:latin typeface="Yu Gothic"/>
                <a:ea typeface="Yu Gothic"/>
                <a:cs typeface="Yu Gothic"/>
              </a:defRPr>
            </a:lvl7pPr>
            <a:lvl8pPr>
              <a:defRPr sz="2100" b="1">
                <a:solidFill>
                  <a:srgbClr val="253C4D"/>
                </a:solidFill>
                <a:latin typeface="Yu Gothic"/>
                <a:ea typeface="Yu Gothic"/>
                <a:cs typeface="Yu Gothic"/>
              </a:defRPr>
            </a:lvl8pPr>
            <a:lvl9pPr>
              <a:defRPr sz="2100" b="1">
                <a:solidFill>
                  <a:srgbClr val="253C4D"/>
                </a:solidFill>
                <a:latin typeface="Yu Gothic"/>
                <a:ea typeface="Yu Gothic"/>
                <a:cs typeface="Yu Gothic"/>
              </a:defRPr>
            </a:lvl9pPr>
          </a:lstStyle>
          <a:p>
            <a:pPr>
              <a:defRPr sz="2100" b="1">
                <a:solidFill>
                  <a:srgbClr val="253C4D"/>
                </a:solidFill>
                <a:latin typeface="Yu Gothic"/>
                <a:ea typeface="Yu Gothic"/>
                <a:cs typeface="Yu Gothic"/>
              </a:defRPr>
            </a:pPr>
            <a:r>
              <a:rPr sz="2100" b="1">
                <a:solidFill>
                  <a:srgbClr val="253C4D"/>
                </a:solidFill>
                <a:latin typeface="Yu Gothic"/>
                <a:ea typeface="Yu Gothic"/>
                <a:cs typeface="Yu Gothic"/>
              </a:rPr>
              <a:t>小片を一枚の単板と混同せず、主軸と試験方向へ対応させる</a:t>
            </a:r>
          </a:p>
        </p:txBody>
      </p:sp>
      <p:sp>
        <p:nvSpPr>
          <p:cNvPr id="84" name="正方形/長方形 83">
            <a:extLst>
              <a:ext uri="{FF2B5EF4-FFF2-40B4-BE49-F238E27FC236}">
                <a16:creationId xmlns:a16="http://schemas.microsoft.com/office/drawing/2014/main" id="{318D8D99-D289-422E-A1B9-67F234DEB669}"/>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各層を分けた平面模式図。ストランドの形・寸法・配向分布は実測ではない。</a:t>
            </a:r>
          </a:p>
        </p:txBody>
      </p:sp>
    </p:spTree>
    <p:extLst>
      <p:ext uri="{BB962C8B-B14F-4D97-AF65-F5344CB8AC3E}">
        <p14:creationId xmlns:p14="http://schemas.microsoft.com/office/powerpoint/2010/main" val="3104561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694EF94-9A78-4393-8091-8BDE1577D982}"/>
              </a:ext>
            </a:extLst>
          </p:cNvPr>
          <p:cNvSpPr>
            <a:spLocks noGrp="1"/>
          </p:cNvSpPr>
          <p:nvPr/>
        </p:nvSpPr>
        <p:spPr>
          <a:xfrm>
            <a:off x="685800" y="361950"/>
            <a:ext cx="10820400" cy="647700"/>
          </a:xfrm>
          <a:prstGeom prst="rect">
            <a:avLst/>
          </a:prstGeom>
          <a:noFill/>
          <a:ln w="0">
            <a:noFill/>
          </a:ln>
        </p:spPr>
        <p:txBody>
          <a:bodyPr lIns="0" tIns="0" rIns="0" bIns="0" anchor="ctr">
            <a:noAutofit/>
          </a:bodyPr>
          <a:lstStyle>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ボード類の性能を比較する項目</a:t>
            </a:r>
          </a:p>
        </p:txBody>
      </p:sp>
      <p:cxnSp>
        <p:nvCxnSpPr>
          <p:cNvPr id="2" name="直線矢印コネクタ 1">
            <a:extLst>
              <a:ext uri="{FF2B5EF4-FFF2-40B4-BE49-F238E27FC236}">
                <a16:creationId xmlns:a16="http://schemas.microsoft.com/office/drawing/2014/main" id="{99236506-666A-47EB-A8DF-03FE71F70D10}"/>
              </a:ext>
            </a:extLst>
          </p:cNvPr>
          <p:cNvCxnSpPr/>
          <p:nvPr/>
        </p:nvCxnSpPr>
        <p:spPr>
          <a:xfrm>
            <a:off x="685800" y="1190625"/>
            <a:ext cx="10820400" cy="0"/>
          </a:xfrm>
          <a:prstGeom prst="straightConnector1">
            <a:avLst/>
          </a:prstGeom>
          <a:ln w="22860">
            <a:solidFill>
              <a:srgbClr val="18364F"/>
            </a:solidFill>
          </a:ln>
        </p:spPr>
      </p:cxnSp>
      <p:sp>
        <p:nvSpPr>
          <p:cNvPr id="3" name="正方形/長方形 2">
            <a:extLst>
              <a:ext uri="{FF2B5EF4-FFF2-40B4-BE49-F238E27FC236}">
                <a16:creationId xmlns:a16="http://schemas.microsoft.com/office/drawing/2014/main" id="{9D865255-35B5-479F-BE95-29A23C461537}"/>
              </a:ext>
            </a:extLst>
          </p:cNvPr>
          <p:cNvSpPr>
            <a:spLocks noGrp="1"/>
          </p:cNvSpPr>
          <p:nvPr/>
        </p:nvSpPr>
        <p:spPr>
          <a:xfrm>
            <a:off x="685800" y="6419850"/>
            <a:ext cx="9048750" cy="238125"/>
          </a:xfrm>
          <a:prstGeom prst="rect">
            <a:avLst/>
          </a:prstGeom>
          <a:noFill/>
          <a:ln w="0">
            <a:noFill/>
          </a:ln>
        </p:spPr>
        <p:txBody>
          <a:bodyPr lIns="0" tIns="0" rIns="0" bIns="0" anchor="ctr">
            <a:noAutofit/>
          </a:bodyPr>
          <a:lstStyle>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a:pPr algn="l">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F47C1CA-5401-4125-9315-CA93D30D510A}"/>
              </a:ext>
            </a:extLst>
          </p:cNvPr>
          <p:cNvSpPr>
            <a:spLocks noGrp="1"/>
          </p:cNvSpPr>
          <p:nvPr/>
        </p:nvSpPr>
        <p:spPr>
          <a:xfrm>
            <a:off x="10858500" y="6419850"/>
            <a:ext cx="647700" cy="238125"/>
          </a:xfrm>
          <a:prstGeom prst="rect">
            <a:avLst/>
          </a:prstGeom>
          <a:noFill/>
          <a:ln w="0">
            <a:noFill/>
          </a:ln>
        </p:spPr>
        <p:txBody>
          <a:bodyPr lIns="0" tIns="0" rIns="0" bIns="0" anchor="ctr">
            <a:noAutofit/>
          </a:bodyPr>
          <a:lstStyle>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a:pPr algn="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063F208-BB8F-48E7-AB60-F99082AA5DC1}"/>
              </a:ext>
            </a:extLst>
          </p:cNvPr>
          <p:cNvSpPr>
            <a:spLocks noGrp="1"/>
          </p:cNvSpPr>
          <p:nvPr/>
        </p:nvSpPr>
        <p:spPr>
          <a:xfrm>
            <a:off x="685800" y="15716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密度：体積当たりの質量。含水状態も記録する</a:t>
            </a:r>
          </a:p>
        </p:txBody>
      </p:sp>
      <p:sp>
        <p:nvSpPr>
          <p:cNvPr id="6" name="正方形/長方形 5">
            <a:extLst>
              <a:ext uri="{FF2B5EF4-FFF2-40B4-BE49-F238E27FC236}">
                <a16:creationId xmlns:a16="http://schemas.microsoft.com/office/drawing/2014/main" id="{C44CFC9F-8AD2-482F-9453-C8909E3ADC31}"/>
              </a:ext>
            </a:extLst>
          </p:cNvPr>
          <p:cNvSpPr>
            <a:spLocks noGrp="1"/>
          </p:cNvSpPr>
          <p:nvPr/>
        </p:nvSpPr>
        <p:spPr>
          <a:xfrm>
            <a:off x="685800" y="23526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曲げ：厚さ、主軸方向、試験の支点間距離などをそろえる</a:t>
            </a:r>
          </a:p>
        </p:txBody>
      </p:sp>
      <p:sp>
        <p:nvSpPr>
          <p:cNvPr id="7" name="正方形/長方形 6">
            <a:extLst>
              <a:ext uri="{FF2B5EF4-FFF2-40B4-BE49-F238E27FC236}">
                <a16:creationId xmlns:a16="http://schemas.microsoft.com/office/drawing/2014/main" id="{9BCA3682-09D2-4DB4-B534-B230871C3285}"/>
              </a:ext>
            </a:extLst>
          </p:cNvPr>
          <p:cNvSpPr>
            <a:spLocks noGrp="1"/>
          </p:cNvSpPr>
          <p:nvPr/>
        </p:nvSpPr>
        <p:spPr>
          <a:xfrm>
            <a:off x="685800" y="31337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ねじ保持：面か端面か、ねじ径・下穴・端距離などを確認する</a:t>
            </a:r>
          </a:p>
        </p:txBody>
      </p:sp>
      <p:sp>
        <p:nvSpPr>
          <p:cNvPr id="8" name="正方形/長方形 7">
            <a:extLst>
              <a:ext uri="{FF2B5EF4-FFF2-40B4-BE49-F238E27FC236}">
                <a16:creationId xmlns:a16="http://schemas.microsoft.com/office/drawing/2014/main" id="{429FBEEC-3778-4541-8629-EFED32D58E50}"/>
              </a:ext>
            </a:extLst>
          </p:cNvPr>
          <p:cNvSpPr>
            <a:spLocks noGrp="1"/>
          </p:cNvSpPr>
          <p:nvPr/>
        </p:nvSpPr>
        <p:spPr>
          <a:xfrm>
            <a:off x="685800" y="391477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水分：吸水、厚さ膨張、接着性能と、使用環境を確認する</a:t>
            </a:r>
          </a:p>
        </p:txBody>
      </p:sp>
      <p:sp>
        <p:nvSpPr>
          <p:cNvPr id="9" name="正方形/長方形 8">
            <a:extLst>
              <a:ext uri="{FF2B5EF4-FFF2-40B4-BE49-F238E27FC236}">
                <a16:creationId xmlns:a16="http://schemas.microsoft.com/office/drawing/2014/main" id="{70A0908A-3601-46C5-A0F1-8CC0C283C797}"/>
              </a:ext>
            </a:extLst>
          </p:cNvPr>
          <p:cNvSpPr>
            <a:spLocks noGrp="1"/>
          </p:cNvSpPr>
          <p:nvPr/>
        </p:nvSpPr>
        <p:spPr>
          <a:xfrm>
            <a:off x="685800" y="4695825"/>
            <a:ext cx="10820400" cy="666750"/>
          </a:xfrm>
          <a:prstGeom prst="rect">
            <a:avLst/>
          </a:prstGeom>
          <a:noFill/>
          <a:ln w="0">
            <a:noFill/>
          </a:ln>
        </p:spPr>
        <p:txBody>
          <a:bodyPr lIns="0" tIns="0" rIns="0" bIns="0" anchor="ctr">
            <a:noAutofit/>
          </a:bodyPr>
          <a:lstStyle>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化粧面だけで内部を判断せず、断面と製品情報を読む</a:t>
            </a:r>
          </a:p>
        </p:txBody>
      </p:sp>
    </p:spTree>
    <p:extLst>
      <p:ext uri="{BB962C8B-B14F-4D97-AF65-F5344CB8AC3E}">
        <p14:creationId xmlns:p14="http://schemas.microsoft.com/office/powerpoint/2010/main" val="2055801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6C92D2B0-ED50-46E6-89C6-17A5AD94EAF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材料演習</a:t>
            </a:r>
            <a:r>
              <a:rPr lang="en-US" altLang="ja-JP" sz="3000" b="1">
                <a:solidFill>
                  <a:srgbClr val="18364F"/>
                </a:solidFill>
                <a:latin typeface="Yu Gothic"/>
                <a:ea typeface="Yu Gothic"/>
                <a:cs typeface="Yu Gothic"/>
              </a:rPr>
              <a:t>5</a:t>
            </a:r>
            <a:r>
              <a:rPr lang="ja-JP" altLang="en-US" sz="3000" b="1">
                <a:solidFill>
                  <a:srgbClr val="18364F"/>
                </a:solidFill>
                <a:latin typeface="Yu Gothic"/>
                <a:ea typeface="Yu Gothic"/>
                <a:cs typeface="Yu Gothic"/>
              </a:rPr>
              <a:t>　吸水率と厚さ膨張率は別の量</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E2380326-5F58-42FF-B280-C8BBAAB479C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2133C17-7722-4853-A968-A3CBDE48EAB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B84DF74F-1609-4C49-8E3E-9AEEC8E5514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4E04A5D-A413-431C-83E6-CB1518FEC4FA}"/>
              </a:ext>
            </a:extLst>
          </p:cNvPr>
          <p:cNvSpPr>
            <a:spLocks noGrp="1"/>
          </p:cNvSpPr>
          <p:nvPr/>
        </p:nvSpPr>
        <p:spPr>
          <a:xfrm>
            <a:off x="838200" y="1714500"/>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試験前→後：質量100→118 g、厚さ10.0→10.8 mm</a:t>
            </a:r>
          </a:p>
        </p:txBody>
      </p:sp>
      <p:sp>
        <p:nvSpPr>
          <p:cNvPr id="6" name="正方形/長方形 5">
            <a:extLst>
              <a:ext uri="{FF2B5EF4-FFF2-40B4-BE49-F238E27FC236}">
                <a16:creationId xmlns:a16="http://schemas.microsoft.com/office/drawing/2014/main" id="{76608F03-B8B7-429B-8261-532FEC0C996F}"/>
              </a:ext>
            </a:extLst>
          </p:cNvPr>
          <p:cNvSpPr>
            <a:spLocks noGrp="1"/>
          </p:cNvSpPr>
          <p:nvPr/>
        </p:nvSpPr>
        <p:spPr>
          <a:xfrm>
            <a:off x="838200" y="2600325"/>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前の値を分母に、質量と厚さの増加率を求める</a:t>
            </a:r>
          </a:p>
        </p:txBody>
      </p:sp>
      <p:sp>
        <p:nvSpPr>
          <p:cNvPr id="7" name="正方形/長方形 6">
            <a:extLst>
              <a:ext uri="{FF2B5EF4-FFF2-40B4-BE49-F238E27FC236}">
                <a16:creationId xmlns:a16="http://schemas.microsoft.com/office/drawing/2014/main" id="{D357902B-5455-4BED-BD24-CC5A89AEB77D}"/>
              </a:ext>
            </a:extLst>
          </p:cNvPr>
          <p:cNvSpPr>
            <a:spLocks noGrp="1"/>
          </p:cNvSpPr>
          <p:nvPr/>
        </p:nvSpPr>
        <p:spPr>
          <a:xfrm>
            <a:off x="838200" y="3486150"/>
            <a:ext cx="10477500" cy="7429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吸水率18%なら、木材含水率MCwも18%か</a:t>
            </a:r>
          </a:p>
        </p:txBody>
      </p:sp>
      <p:sp>
        <p:nvSpPr>
          <p:cNvPr id="8" name="正方形/長方形 7">
            <a:extLst>
              <a:ext uri="{FF2B5EF4-FFF2-40B4-BE49-F238E27FC236}">
                <a16:creationId xmlns:a16="http://schemas.microsoft.com/office/drawing/2014/main" id="{13855F41-A843-4B3F-81D5-C9ADDED7BCF6}"/>
              </a:ext>
            </a:extLst>
          </p:cNvPr>
          <p:cNvSpPr>
            <a:spLocks noGrp="1"/>
          </p:cNvSpPr>
          <p:nvPr/>
        </p:nvSpPr>
        <p:spPr>
          <a:xfrm>
            <a:off x="838200" y="5191125"/>
            <a:ext cx="10477500" cy="476250"/>
          </a:xfrm>
          <a:prstGeom prst="rect">
            <a:avLst/>
          </a:prstGeom>
          <a:noFill/>
          <a:ln w="0">
            <a:noFill/>
          </a:ln>
        </p:spPr>
        <p:txBody>
          <a:bodyPr lIns="0" tIns="0" rIns="0" bIns="0" anchor="ctr">
            <a:noAutofit/>
          </a:bodyPr>
          <a:lstStyle>
            <a:defPPr>
              <a:defRPr sz="1950" b="1">
                <a:solidFill>
                  <a:srgbClr val="2876A8"/>
                </a:solidFill>
                <a:latin typeface="Yu Gothic"/>
                <a:ea typeface="Yu Gothic"/>
                <a:cs typeface="Yu Gothic"/>
              </a:defRPr>
            </a:defPPr>
            <a:lvl1pPr>
              <a:defRPr sz="1950" b="1">
                <a:solidFill>
                  <a:srgbClr val="2876A8"/>
                </a:solidFill>
                <a:latin typeface="Yu Gothic"/>
                <a:ea typeface="Yu Gothic"/>
                <a:cs typeface="Yu Gothic"/>
              </a:defRPr>
            </a:lvl1pPr>
            <a:lvl2pPr>
              <a:defRPr sz="1950" b="1">
                <a:solidFill>
                  <a:srgbClr val="2876A8"/>
                </a:solidFill>
                <a:latin typeface="Yu Gothic"/>
                <a:ea typeface="Yu Gothic"/>
                <a:cs typeface="Yu Gothic"/>
              </a:defRPr>
            </a:lvl2pPr>
            <a:lvl3pPr>
              <a:defRPr sz="1950" b="1">
                <a:solidFill>
                  <a:srgbClr val="2876A8"/>
                </a:solidFill>
                <a:latin typeface="Yu Gothic"/>
                <a:ea typeface="Yu Gothic"/>
                <a:cs typeface="Yu Gothic"/>
              </a:defRPr>
            </a:lvl3pPr>
            <a:lvl4pPr>
              <a:defRPr sz="1950" b="1">
                <a:solidFill>
                  <a:srgbClr val="2876A8"/>
                </a:solidFill>
                <a:latin typeface="Yu Gothic"/>
                <a:ea typeface="Yu Gothic"/>
                <a:cs typeface="Yu Gothic"/>
              </a:defRPr>
            </a:lvl4pPr>
            <a:lvl5pPr>
              <a:defRPr sz="1950" b="1">
                <a:solidFill>
                  <a:srgbClr val="2876A8"/>
                </a:solidFill>
                <a:latin typeface="Yu Gothic"/>
                <a:ea typeface="Yu Gothic"/>
                <a:cs typeface="Yu Gothic"/>
              </a:defRPr>
            </a:lvl5pPr>
            <a:lvl6pPr>
              <a:defRPr sz="1950" b="1">
                <a:solidFill>
                  <a:srgbClr val="2876A8"/>
                </a:solidFill>
                <a:latin typeface="Yu Gothic"/>
                <a:ea typeface="Yu Gothic"/>
                <a:cs typeface="Yu Gothic"/>
              </a:defRPr>
            </a:lvl6pPr>
            <a:lvl7pPr>
              <a:defRPr sz="1950" b="1">
                <a:solidFill>
                  <a:srgbClr val="2876A8"/>
                </a:solidFill>
                <a:latin typeface="Yu Gothic"/>
                <a:ea typeface="Yu Gothic"/>
                <a:cs typeface="Yu Gothic"/>
              </a:defRPr>
            </a:lvl7pPr>
            <a:lvl8pPr>
              <a:defRPr sz="1950" b="1">
                <a:solidFill>
                  <a:srgbClr val="2876A8"/>
                </a:solidFill>
                <a:latin typeface="Yu Gothic"/>
                <a:ea typeface="Yu Gothic"/>
                <a:cs typeface="Yu Gothic"/>
              </a:defRPr>
            </a:lvl8pPr>
            <a:lvl9pPr>
              <a:defRPr sz="1950" b="1">
                <a:solidFill>
                  <a:srgbClr val="2876A8"/>
                </a:solidFill>
                <a:latin typeface="Yu Gothic"/>
                <a:ea typeface="Yu Gothic"/>
                <a:cs typeface="Yu Gothic"/>
              </a:defRPr>
            </a:lvl9pPr>
          </a:lstStyle>
          <a:p>
            <a:pPr>
              <a:defRPr sz="1950" b="1">
                <a:solidFill>
                  <a:srgbClr val="2876A8"/>
                </a:solidFill>
                <a:latin typeface="Yu Gothic"/>
                <a:ea typeface="Yu Gothic"/>
                <a:cs typeface="Yu Gothic"/>
              </a:defRPr>
            </a:pPr>
            <a:r>
              <a:rPr sz="1950" b="1">
                <a:solidFill>
                  <a:srgbClr val="2876A8"/>
                </a:solidFill>
                <a:latin typeface="Yu Gothic"/>
                <a:ea typeface="Yu Gothic"/>
                <a:cs typeface="Yu Gothic"/>
              </a:rPr>
              <a:t>考える時間の目安 3分 → 解説資料で自己確認</a:t>
            </a:r>
          </a:p>
        </p:txBody>
      </p:sp>
      <p:sp>
        <p:nvSpPr>
          <p:cNvPr id="9" name="正方形/長方形 8">
            <a:extLst>
              <a:ext uri="{FF2B5EF4-FFF2-40B4-BE49-F238E27FC236}">
                <a16:creationId xmlns:a16="http://schemas.microsoft.com/office/drawing/2014/main" id="{5DD56D16-5C52-413C-8096-02CA4571D362}"/>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この演習の定義による仮想試験。製品規格の合否判定ではない。</a:t>
            </a:r>
          </a:p>
        </p:txBody>
      </p:sp>
    </p:spTree>
    <p:extLst>
      <p:ext uri="{BB962C8B-B14F-4D97-AF65-F5344CB8AC3E}">
        <p14:creationId xmlns:p14="http://schemas.microsoft.com/office/powerpoint/2010/main" val="1033721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64AD9B0-9DDD-48D2-A457-62CB3AAF813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材料の向きから、荷重の受け方へ</a:t>
            </a:r>
          </a:p>
        </p:txBody>
      </p:sp>
      <p:sp>
        <p:nvSpPr>
          <p:cNvPr id="2" name="正方形/長方形 1">
            <a:extLst>
              <a:ext uri="{FF2B5EF4-FFF2-40B4-BE49-F238E27FC236}">
                <a16:creationId xmlns:a16="http://schemas.microsoft.com/office/drawing/2014/main" id="{95524306-57A3-403A-9273-E5AF1541DB1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CB10D460-C3FE-43B7-A07E-7D04D501E1F6}"/>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EF6A923-556E-49F3-814D-39E82ACBB55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E27804C-BA48-4653-9545-57E171D1BB96}"/>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引張りの剛性と、曲げの剛性を区別する</a:t>
            </a:r>
          </a:p>
        </p:txBody>
      </p:sp>
      <p:sp>
        <p:nvSpPr>
          <p:cNvPr id="6" name="正方形/長方形 5">
            <a:extLst>
              <a:ext uri="{FF2B5EF4-FFF2-40B4-BE49-F238E27FC236}">
                <a16:creationId xmlns:a16="http://schemas.microsoft.com/office/drawing/2014/main" id="{EF32CC7E-F0E5-4CEF-B0A9-A1F4BD7111FB}"/>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曲げでは、各層のEと中立軸からの位置を見る</a:t>
            </a:r>
          </a:p>
        </p:txBody>
      </p:sp>
      <p:sp>
        <p:nvSpPr>
          <p:cNvPr id="7" name="正方形/長方形 6">
            <a:extLst>
              <a:ext uri="{FF2B5EF4-FFF2-40B4-BE49-F238E27FC236}">
                <a16:creationId xmlns:a16="http://schemas.microsoft.com/office/drawing/2014/main" id="{41ECDF6E-3B30-4FFF-BEB0-E4386F0885B8}"/>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完全接着・小変形など、モデルの仮定を確認する</a:t>
            </a:r>
          </a:p>
        </p:txBody>
      </p:sp>
    </p:spTree>
    <p:extLst>
      <p:ext uri="{BB962C8B-B14F-4D97-AF65-F5344CB8AC3E}">
        <p14:creationId xmlns:p14="http://schemas.microsoft.com/office/powerpoint/2010/main" val="1351471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F0F4738-2AD3-4C5A-BFAA-CBBDD5FAECC1}"/>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σ = Eεから、層の力の分担へ</a:t>
            </a:r>
          </a:p>
        </p:txBody>
      </p:sp>
      <p:sp>
        <p:nvSpPr>
          <p:cNvPr id="2" name="正方形/長方形 1">
            <a:extLst>
              <a:ext uri="{FF2B5EF4-FFF2-40B4-BE49-F238E27FC236}">
                <a16:creationId xmlns:a16="http://schemas.microsoft.com/office/drawing/2014/main" id="{94D20CAF-8B57-417F-9EE5-5B62DCE3F12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B39C8CF-2D2C-4A51-ADB8-F003B90F331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E772CE8-8261-4D08-AA89-E3DA4053380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39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4B4EF09-F8AB-44DF-AD8F-F454E366A8A5}"/>
              </a:ext>
            </a:extLst>
          </p:cNvPr>
          <p:cNvSpPr>
            <a:spLocks noGrp="1"/>
          </p:cNvSpPr>
          <p:nvPr/>
        </p:nvSpPr>
        <p:spPr>
          <a:xfrm>
            <a:off x="838200" y="1562100"/>
            <a:ext cx="10477500" cy="571500"/>
          </a:xfrm>
          <a:prstGeom prst="rect">
            <a:avLst/>
          </a:prstGeom>
          <a:noFill/>
          <a:ln w="0">
            <a:noFill/>
          </a:ln>
        </p:spPr>
        <p:txBody>
          <a:bodyPr lIns="0" tIns="0" rIns="0" bIns="0" anchor="ctr">
            <a:noAutofit/>
          </a:bodyPr>
          <a:lstStyle>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① 接着された同じ長さの層：長手のひずみ ε が共通</a:t>
            </a:r>
          </a:p>
        </p:txBody>
      </p:sp>
      <p:sp>
        <p:nvSpPr>
          <p:cNvPr id="6" name="正方形/長方形 5">
            <a:extLst>
              <a:ext uri="{FF2B5EF4-FFF2-40B4-BE49-F238E27FC236}">
                <a16:creationId xmlns:a16="http://schemas.microsoft.com/office/drawing/2014/main" id="{8A89A87A-E52D-4082-AF82-E68F2EAF98CE}"/>
              </a:ext>
            </a:extLst>
          </p:cNvPr>
          <p:cNvSpPr>
            <a:spLocks noGrp="1"/>
          </p:cNvSpPr>
          <p:nvPr/>
        </p:nvSpPr>
        <p:spPr>
          <a:xfrm>
            <a:off x="838200" y="2409825"/>
            <a:ext cx="789242"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② σ</a:t>
            </a:r>
          </a:p>
        </p:txBody>
      </p:sp>
      <p:sp>
        <p:nvSpPr>
          <p:cNvPr id="7" name="正方形/長方形 6">
            <a:extLst>
              <a:ext uri="{FF2B5EF4-FFF2-40B4-BE49-F238E27FC236}">
                <a16:creationId xmlns:a16="http://schemas.microsoft.com/office/drawing/2014/main" id="{2C037563-CAB5-49CE-A334-4C69061DA00E}"/>
              </a:ext>
            </a:extLst>
          </p:cNvPr>
          <p:cNvSpPr>
            <a:spLocks noGrp="1"/>
          </p:cNvSpPr>
          <p:nvPr/>
        </p:nvSpPr>
        <p:spPr>
          <a:xfrm>
            <a:off x="1579817"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8" name="正方形/長方形 7">
            <a:extLst>
              <a:ext uri="{FF2B5EF4-FFF2-40B4-BE49-F238E27FC236}">
                <a16:creationId xmlns:a16="http://schemas.microsoft.com/office/drawing/2014/main" id="{D4D67EB1-F69C-45D5-81D2-4CF530599130}"/>
              </a:ext>
            </a:extLst>
          </p:cNvPr>
          <p:cNvSpPr>
            <a:spLocks noGrp="1"/>
          </p:cNvSpPr>
          <p:nvPr/>
        </p:nvSpPr>
        <p:spPr>
          <a:xfrm>
            <a:off x="1638045" y="2409825"/>
            <a:ext cx="685610"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 E</a:t>
            </a:r>
          </a:p>
        </p:txBody>
      </p:sp>
      <p:sp>
        <p:nvSpPr>
          <p:cNvPr id="9" name="正方形/長方形 8">
            <a:extLst>
              <a:ext uri="{FF2B5EF4-FFF2-40B4-BE49-F238E27FC236}">
                <a16:creationId xmlns:a16="http://schemas.microsoft.com/office/drawing/2014/main" id="{FD8ABDDA-A6E9-42CC-9967-86B302FBB5A4}"/>
              </a:ext>
            </a:extLst>
          </p:cNvPr>
          <p:cNvSpPr>
            <a:spLocks noGrp="1"/>
          </p:cNvSpPr>
          <p:nvPr/>
        </p:nvSpPr>
        <p:spPr>
          <a:xfrm>
            <a:off x="2276029"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10" name="正方形/長方形 9">
            <a:extLst>
              <a:ext uri="{FF2B5EF4-FFF2-40B4-BE49-F238E27FC236}">
                <a16:creationId xmlns:a16="http://schemas.microsoft.com/office/drawing/2014/main" id="{833C636D-F4F0-4030-9394-75D20307368B}"/>
              </a:ext>
            </a:extLst>
          </p:cNvPr>
          <p:cNvSpPr>
            <a:spLocks noGrp="1"/>
          </p:cNvSpPr>
          <p:nvPr/>
        </p:nvSpPr>
        <p:spPr>
          <a:xfrm>
            <a:off x="2334257" y="2409825"/>
            <a:ext cx="1181100"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ε → F</a:t>
            </a:r>
          </a:p>
        </p:txBody>
      </p:sp>
      <p:sp>
        <p:nvSpPr>
          <p:cNvPr id="11" name="正方形/長方形 10">
            <a:extLst>
              <a:ext uri="{FF2B5EF4-FFF2-40B4-BE49-F238E27FC236}">
                <a16:creationId xmlns:a16="http://schemas.microsoft.com/office/drawing/2014/main" id="{B7CCF468-B9AE-44A2-BD4C-7F11CC4388E6}"/>
              </a:ext>
            </a:extLst>
          </p:cNvPr>
          <p:cNvSpPr>
            <a:spLocks noGrp="1"/>
          </p:cNvSpPr>
          <p:nvPr/>
        </p:nvSpPr>
        <p:spPr>
          <a:xfrm>
            <a:off x="3467732"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12" name="正方形/長方形 11">
            <a:extLst>
              <a:ext uri="{FF2B5EF4-FFF2-40B4-BE49-F238E27FC236}">
                <a16:creationId xmlns:a16="http://schemas.microsoft.com/office/drawing/2014/main" id="{33AF7040-D4EE-4B37-8B8A-2ADD456E455D}"/>
              </a:ext>
            </a:extLst>
          </p:cNvPr>
          <p:cNvSpPr>
            <a:spLocks noGrp="1"/>
          </p:cNvSpPr>
          <p:nvPr/>
        </p:nvSpPr>
        <p:spPr>
          <a:xfrm>
            <a:off x="3525961" y="2409825"/>
            <a:ext cx="798957"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 σ</a:t>
            </a:r>
          </a:p>
        </p:txBody>
      </p:sp>
      <p:sp>
        <p:nvSpPr>
          <p:cNvPr id="13" name="正方形/長方形 12">
            <a:extLst>
              <a:ext uri="{FF2B5EF4-FFF2-40B4-BE49-F238E27FC236}">
                <a16:creationId xmlns:a16="http://schemas.microsoft.com/office/drawing/2014/main" id="{B1D24846-57B0-47AC-A3C9-3719D9A8A8F9}"/>
              </a:ext>
            </a:extLst>
          </p:cNvPr>
          <p:cNvSpPr>
            <a:spLocks noGrp="1"/>
          </p:cNvSpPr>
          <p:nvPr/>
        </p:nvSpPr>
        <p:spPr>
          <a:xfrm>
            <a:off x="4277293"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14" name="正方形/長方形 13">
            <a:extLst>
              <a:ext uri="{FF2B5EF4-FFF2-40B4-BE49-F238E27FC236}">
                <a16:creationId xmlns:a16="http://schemas.microsoft.com/office/drawing/2014/main" id="{5984500A-2974-452E-AD9B-729991F373CA}"/>
              </a:ext>
            </a:extLst>
          </p:cNvPr>
          <p:cNvSpPr>
            <a:spLocks noGrp="1"/>
          </p:cNvSpPr>
          <p:nvPr/>
        </p:nvSpPr>
        <p:spPr>
          <a:xfrm>
            <a:off x="4335521" y="2409825"/>
            <a:ext cx="462153"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bt</a:t>
            </a:r>
          </a:p>
        </p:txBody>
      </p:sp>
      <p:sp>
        <p:nvSpPr>
          <p:cNvPr id="15" name="正方形/長方形 14">
            <a:extLst>
              <a:ext uri="{FF2B5EF4-FFF2-40B4-BE49-F238E27FC236}">
                <a16:creationId xmlns:a16="http://schemas.microsoft.com/office/drawing/2014/main" id="{4E51EAFA-86F2-46DD-8113-01E27AE3DD43}"/>
              </a:ext>
            </a:extLst>
          </p:cNvPr>
          <p:cNvSpPr>
            <a:spLocks noGrp="1"/>
          </p:cNvSpPr>
          <p:nvPr/>
        </p:nvSpPr>
        <p:spPr>
          <a:xfrm>
            <a:off x="4750049"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16" name="正方形/長方形 15">
            <a:extLst>
              <a:ext uri="{FF2B5EF4-FFF2-40B4-BE49-F238E27FC236}">
                <a16:creationId xmlns:a16="http://schemas.microsoft.com/office/drawing/2014/main" id="{BFEDC452-566C-461B-AC2D-97BF326D3F37}"/>
              </a:ext>
            </a:extLst>
          </p:cNvPr>
          <p:cNvSpPr>
            <a:spLocks noGrp="1"/>
          </p:cNvSpPr>
          <p:nvPr/>
        </p:nvSpPr>
        <p:spPr>
          <a:xfrm>
            <a:off x="4808277" y="2409825"/>
            <a:ext cx="685610"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 E</a:t>
            </a:r>
          </a:p>
        </p:txBody>
      </p:sp>
      <p:sp>
        <p:nvSpPr>
          <p:cNvPr id="17" name="正方形/長方形 16">
            <a:extLst>
              <a:ext uri="{FF2B5EF4-FFF2-40B4-BE49-F238E27FC236}">
                <a16:creationId xmlns:a16="http://schemas.microsoft.com/office/drawing/2014/main" id="{A679C9E8-02EF-45A8-90BE-A23776407EE7}"/>
              </a:ext>
            </a:extLst>
          </p:cNvPr>
          <p:cNvSpPr>
            <a:spLocks noGrp="1"/>
          </p:cNvSpPr>
          <p:nvPr/>
        </p:nvSpPr>
        <p:spPr>
          <a:xfrm>
            <a:off x="5446262"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18" name="正方形/長方形 17">
            <a:extLst>
              <a:ext uri="{FF2B5EF4-FFF2-40B4-BE49-F238E27FC236}">
                <a16:creationId xmlns:a16="http://schemas.microsoft.com/office/drawing/2014/main" id="{A88FB78E-BE7B-4157-851C-2FE7FCD5C6A6}"/>
              </a:ext>
            </a:extLst>
          </p:cNvPr>
          <p:cNvSpPr>
            <a:spLocks noGrp="1"/>
          </p:cNvSpPr>
          <p:nvPr/>
        </p:nvSpPr>
        <p:spPr>
          <a:xfrm>
            <a:off x="5504490" y="2409825"/>
            <a:ext cx="879920" cy="609600"/>
          </a:xfrm>
          <a:prstGeom prst="rect">
            <a:avLst/>
          </a:prstGeom>
          <a:noFill/>
          <a:ln w="0">
            <a:noFill/>
          </a:ln>
        </p:spPr>
        <p:txBody>
          <a:bodyPr lIns="0" tIns="0" rIns="0" bIns="0" anchor="ctr">
            <a:noAutofit/>
          </a:bodyPr>
          <a:lstStyle>
            <a:defPPr>
              <a:defRPr sz="2550" b="1">
                <a:solidFill>
                  <a:srgbClr val="18364F"/>
                </a:solidFill>
                <a:latin typeface="Yu Gothic"/>
                <a:ea typeface="Yu Gothic"/>
                <a:cs typeface="Yu Gothic"/>
              </a:defRPr>
            </a:defPPr>
            <a:lvl1pPr>
              <a:defRPr sz="2550" b="1">
                <a:solidFill>
                  <a:srgbClr val="18364F"/>
                </a:solidFill>
                <a:latin typeface="Yu Gothic"/>
                <a:ea typeface="Yu Gothic"/>
                <a:cs typeface="Yu Gothic"/>
              </a:defRPr>
            </a:lvl1pPr>
            <a:lvl2pPr>
              <a:defRPr sz="2550" b="1">
                <a:solidFill>
                  <a:srgbClr val="18364F"/>
                </a:solidFill>
                <a:latin typeface="Yu Gothic"/>
                <a:ea typeface="Yu Gothic"/>
                <a:cs typeface="Yu Gothic"/>
              </a:defRPr>
            </a:lvl2pPr>
            <a:lvl3pPr>
              <a:defRPr sz="2550" b="1">
                <a:solidFill>
                  <a:srgbClr val="18364F"/>
                </a:solidFill>
                <a:latin typeface="Yu Gothic"/>
                <a:ea typeface="Yu Gothic"/>
                <a:cs typeface="Yu Gothic"/>
              </a:defRPr>
            </a:lvl3pPr>
            <a:lvl4pPr>
              <a:defRPr sz="2550" b="1">
                <a:solidFill>
                  <a:srgbClr val="18364F"/>
                </a:solidFill>
                <a:latin typeface="Yu Gothic"/>
                <a:ea typeface="Yu Gothic"/>
                <a:cs typeface="Yu Gothic"/>
              </a:defRPr>
            </a:lvl4pPr>
            <a:lvl5pPr>
              <a:defRPr sz="2550" b="1">
                <a:solidFill>
                  <a:srgbClr val="18364F"/>
                </a:solidFill>
                <a:latin typeface="Yu Gothic"/>
                <a:ea typeface="Yu Gothic"/>
                <a:cs typeface="Yu Gothic"/>
              </a:defRPr>
            </a:lvl5pPr>
            <a:lvl6pPr>
              <a:defRPr sz="2550" b="1">
                <a:solidFill>
                  <a:srgbClr val="18364F"/>
                </a:solidFill>
                <a:latin typeface="Yu Gothic"/>
                <a:ea typeface="Yu Gothic"/>
                <a:cs typeface="Yu Gothic"/>
              </a:defRPr>
            </a:lvl6pPr>
            <a:lvl7pPr>
              <a:defRPr sz="2550" b="1">
                <a:solidFill>
                  <a:srgbClr val="18364F"/>
                </a:solidFill>
                <a:latin typeface="Yu Gothic"/>
                <a:ea typeface="Yu Gothic"/>
                <a:cs typeface="Yu Gothic"/>
              </a:defRPr>
            </a:lvl7pPr>
            <a:lvl8pPr>
              <a:defRPr sz="2550" b="1">
                <a:solidFill>
                  <a:srgbClr val="18364F"/>
                </a:solidFill>
                <a:latin typeface="Yu Gothic"/>
                <a:ea typeface="Yu Gothic"/>
                <a:cs typeface="Yu Gothic"/>
              </a:defRPr>
            </a:lvl8pPr>
            <a:lvl9pPr>
              <a:defRPr sz="2550" b="1">
                <a:solidFill>
                  <a:srgbClr val="18364F"/>
                </a:solidFill>
                <a:latin typeface="Yu Gothic"/>
                <a:ea typeface="Yu Gothic"/>
                <a:cs typeface="Yu Gothic"/>
              </a:defRPr>
            </a:lvl9pPr>
          </a:lstStyle>
          <a:p>
            <a:pPr>
              <a:defRPr sz="2550" b="1">
                <a:solidFill>
                  <a:srgbClr val="18364F"/>
                </a:solidFill>
                <a:latin typeface="Yu Gothic"/>
                <a:ea typeface="Yu Gothic"/>
                <a:cs typeface="Yu Gothic"/>
              </a:defRPr>
            </a:pPr>
            <a:r>
              <a:rPr sz="2550" b="1">
                <a:solidFill>
                  <a:srgbClr val="18364F"/>
                </a:solidFill>
                <a:latin typeface="Yu Gothic"/>
                <a:ea typeface="Yu Gothic"/>
                <a:cs typeface="Yu Gothic"/>
              </a:rPr>
              <a:t> ε bt</a:t>
            </a:r>
          </a:p>
        </p:txBody>
      </p:sp>
      <p:sp>
        <p:nvSpPr>
          <p:cNvPr id="19" name="正方形/長方形 18">
            <a:extLst>
              <a:ext uri="{FF2B5EF4-FFF2-40B4-BE49-F238E27FC236}">
                <a16:creationId xmlns:a16="http://schemas.microsoft.com/office/drawing/2014/main" id="{06E06873-4B98-4529-BD04-D144F26EDFEE}"/>
              </a:ext>
            </a:extLst>
          </p:cNvPr>
          <p:cNvSpPr>
            <a:spLocks noGrp="1"/>
          </p:cNvSpPr>
          <p:nvPr/>
        </p:nvSpPr>
        <p:spPr>
          <a:xfrm>
            <a:off x="6336784" y="2532888"/>
            <a:ext cx="105853" cy="609600"/>
          </a:xfrm>
          <a:prstGeom prst="rect">
            <a:avLst/>
          </a:prstGeom>
          <a:noFill/>
          <a:ln w="0">
            <a:noFill/>
          </a:ln>
        </p:spPr>
        <p:txBody>
          <a:bodyPr lIns="0" tIns="0" rIns="0" bIns="0" anchor="ctr">
            <a:noAutofit/>
          </a:bodyPr>
          <a:lstStyle>
            <a:defPPr>
              <a:defRPr sz="1581" b="1">
                <a:solidFill>
                  <a:srgbClr val="18364F"/>
                </a:solidFill>
                <a:latin typeface="Yu Gothic"/>
                <a:ea typeface="Yu Gothic"/>
                <a:cs typeface="Yu Gothic"/>
              </a:defRPr>
            </a:defPPr>
            <a:lvl1pPr>
              <a:defRPr sz="1581" b="1">
                <a:solidFill>
                  <a:srgbClr val="18364F"/>
                </a:solidFill>
                <a:latin typeface="Yu Gothic"/>
                <a:ea typeface="Yu Gothic"/>
                <a:cs typeface="Yu Gothic"/>
              </a:defRPr>
            </a:lvl1pPr>
            <a:lvl2pPr>
              <a:defRPr sz="1581" b="1">
                <a:solidFill>
                  <a:srgbClr val="18364F"/>
                </a:solidFill>
                <a:latin typeface="Yu Gothic"/>
                <a:ea typeface="Yu Gothic"/>
                <a:cs typeface="Yu Gothic"/>
              </a:defRPr>
            </a:lvl2pPr>
            <a:lvl3pPr>
              <a:defRPr sz="1581" b="1">
                <a:solidFill>
                  <a:srgbClr val="18364F"/>
                </a:solidFill>
                <a:latin typeface="Yu Gothic"/>
                <a:ea typeface="Yu Gothic"/>
                <a:cs typeface="Yu Gothic"/>
              </a:defRPr>
            </a:lvl3pPr>
            <a:lvl4pPr>
              <a:defRPr sz="1581" b="1">
                <a:solidFill>
                  <a:srgbClr val="18364F"/>
                </a:solidFill>
                <a:latin typeface="Yu Gothic"/>
                <a:ea typeface="Yu Gothic"/>
                <a:cs typeface="Yu Gothic"/>
              </a:defRPr>
            </a:lvl4pPr>
            <a:lvl5pPr>
              <a:defRPr sz="1581" b="1">
                <a:solidFill>
                  <a:srgbClr val="18364F"/>
                </a:solidFill>
                <a:latin typeface="Yu Gothic"/>
                <a:ea typeface="Yu Gothic"/>
                <a:cs typeface="Yu Gothic"/>
              </a:defRPr>
            </a:lvl5pPr>
            <a:lvl6pPr>
              <a:defRPr sz="1581" b="1">
                <a:solidFill>
                  <a:srgbClr val="18364F"/>
                </a:solidFill>
                <a:latin typeface="Yu Gothic"/>
                <a:ea typeface="Yu Gothic"/>
                <a:cs typeface="Yu Gothic"/>
              </a:defRPr>
            </a:lvl6pPr>
            <a:lvl7pPr>
              <a:defRPr sz="1581" b="1">
                <a:solidFill>
                  <a:srgbClr val="18364F"/>
                </a:solidFill>
                <a:latin typeface="Yu Gothic"/>
                <a:ea typeface="Yu Gothic"/>
                <a:cs typeface="Yu Gothic"/>
              </a:defRPr>
            </a:lvl7pPr>
            <a:lvl8pPr>
              <a:defRPr sz="1581" b="1">
                <a:solidFill>
                  <a:srgbClr val="18364F"/>
                </a:solidFill>
                <a:latin typeface="Yu Gothic"/>
                <a:ea typeface="Yu Gothic"/>
                <a:cs typeface="Yu Gothic"/>
              </a:defRPr>
            </a:lvl8pPr>
            <a:lvl9pPr>
              <a:defRPr sz="1581" b="1">
                <a:solidFill>
                  <a:srgbClr val="18364F"/>
                </a:solidFill>
                <a:latin typeface="Yu Gothic"/>
                <a:ea typeface="Yu Gothic"/>
                <a:cs typeface="Yu Gothic"/>
              </a:defRPr>
            </a:lvl9pPr>
          </a:lstStyle>
          <a:p>
            <a:pPr>
              <a:defRPr sz="1581" b="1">
                <a:solidFill>
                  <a:srgbClr val="18364F"/>
                </a:solidFill>
                <a:latin typeface="Yu Gothic"/>
                <a:ea typeface="Yu Gothic"/>
                <a:cs typeface="Yu Gothic"/>
              </a:defRPr>
            </a:pPr>
            <a:r>
              <a:rPr sz="1581" b="1">
                <a:solidFill>
                  <a:srgbClr val="18364F"/>
                </a:solidFill>
                <a:latin typeface="Yu Gothic"/>
                <a:ea typeface="Yu Gothic"/>
                <a:cs typeface="Yu Gothic"/>
              </a:rPr>
              <a:t>i</a:t>
            </a:r>
          </a:p>
        </p:txBody>
      </p:sp>
      <p:sp>
        <p:nvSpPr>
          <p:cNvPr id="20" name="正方形/長方形 19">
            <a:extLst>
              <a:ext uri="{FF2B5EF4-FFF2-40B4-BE49-F238E27FC236}">
                <a16:creationId xmlns:a16="http://schemas.microsoft.com/office/drawing/2014/main" id="{C0CFF1E7-35EC-4DBF-B48A-7AF03BBC1A24}"/>
              </a:ext>
            </a:extLst>
          </p:cNvPr>
          <p:cNvSpPr>
            <a:spLocks noGrp="1"/>
          </p:cNvSpPr>
          <p:nvPr/>
        </p:nvSpPr>
        <p:spPr>
          <a:xfrm>
            <a:off x="838200" y="3295650"/>
            <a:ext cx="3778663" cy="6096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defRPr sz="2475" b="1">
                <a:solidFill>
                  <a:srgbClr val="18364F"/>
                </a:solidFill>
                <a:latin typeface="Yu Gothic"/>
                <a:ea typeface="Yu Gothic"/>
                <a:cs typeface="Yu Gothic"/>
              </a:defRPr>
            </a:lvl1pPr>
            <a:lvl2pPr>
              <a:defRPr sz="2475" b="1">
                <a:solidFill>
                  <a:srgbClr val="18364F"/>
                </a:solidFill>
                <a:latin typeface="Yu Gothic"/>
                <a:ea typeface="Yu Gothic"/>
                <a:cs typeface="Yu Gothic"/>
              </a:defRPr>
            </a:lvl2pPr>
            <a:lvl3pPr>
              <a:defRPr sz="2475" b="1">
                <a:solidFill>
                  <a:srgbClr val="18364F"/>
                </a:solidFill>
                <a:latin typeface="Yu Gothic"/>
                <a:ea typeface="Yu Gothic"/>
                <a:cs typeface="Yu Gothic"/>
              </a:defRPr>
            </a:lvl3pPr>
            <a:lvl4pPr>
              <a:defRPr sz="2475" b="1">
                <a:solidFill>
                  <a:srgbClr val="18364F"/>
                </a:solidFill>
                <a:latin typeface="Yu Gothic"/>
                <a:ea typeface="Yu Gothic"/>
                <a:cs typeface="Yu Gothic"/>
              </a:defRPr>
            </a:lvl4pPr>
            <a:lvl5pPr>
              <a:defRPr sz="2475" b="1">
                <a:solidFill>
                  <a:srgbClr val="18364F"/>
                </a:solidFill>
                <a:latin typeface="Yu Gothic"/>
                <a:ea typeface="Yu Gothic"/>
                <a:cs typeface="Yu Gothic"/>
              </a:defRPr>
            </a:lvl5pPr>
            <a:lvl6pPr>
              <a:defRPr sz="2475" b="1">
                <a:solidFill>
                  <a:srgbClr val="18364F"/>
                </a:solidFill>
                <a:latin typeface="Yu Gothic"/>
                <a:ea typeface="Yu Gothic"/>
                <a:cs typeface="Yu Gothic"/>
              </a:defRPr>
            </a:lvl6pPr>
            <a:lvl7pPr>
              <a:defRPr sz="2475" b="1">
                <a:solidFill>
                  <a:srgbClr val="18364F"/>
                </a:solidFill>
                <a:latin typeface="Yu Gothic"/>
                <a:ea typeface="Yu Gothic"/>
                <a:cs typeface="Yu Gothic"/>
              </a:defRPr>
            </a:lvl7pPr>
            <a:lvl8pPr>
              <a:defRPr sz="2475" b="1">
                <a:solidFill>
                  <a:srgbClr val="18364F"/>
                </a:solidFill>
                <a:latin typeface="Yu Gothic"/>
                <a:ea typeface="Yu Gothic"/>
                <a:cs typeface="Yu Gothic"/>
              </a:defRPr>
            </a:lvl8pPr>
            <a:lvl9pPr>
              <a:defRPr sz="2475" b="1">
                <a:solidFill>
                  <a:srgbClr val="18364F"/>
                </a:solidFill>
                <a:latin typeface="Yu Gothic"/>
                <a:ea typeface="Yu Gothic"/>
                <a:cs typeface="Yu Gothic"/>
              </a:defRPr>
            </a:lvl9pPr>
          </a:lstStyle>
          <a:p>
            <a:pPr>
              <a:defRPr sz="2475" b="1">
                <a:solidFill>
                  <a:srgbClr val="18364F"/>
                </a:solidFill>
                <a:latin typeface="Yu Gothic"/>
                <a:ea typeface="Yu Gothic"/>
                <a:cs typeface="Yu Gothic"/>
              </a:defRPr>
            </a:pPr>
            <a:r>
              <a:rPr sz="2475" b="1">
                <a:solidFill>
                  <a:srgbClr val="18364F"/>
                </a:solidFill>
                <a:latin typeface="Yu Gothic"/>
                <a:ea typeface="Yu Gothic"/>
                <a:cs typeface="Yu Gothic"/>
              </a:rPr>
              <a:t>③ 力のつりあい：F = ΣF</a:t>
            </a:r>
          </a:p>
        </p:txBody>
      </p:sp>
      <p:sp>
        <p:nvSpPr>
          <p:cNvPr id="21" name="正方形/長方形 20">
            <a:extLst>
              <a:ext uri="{FF2B5EF4-FFF2-40B4-BE49-F238E27FC236}">
                <a16:creationId xmlns:a16="http://schemas.microsoft.com/office/drawing/2014/main" id="{BCCC72AE-A318-467F-8999-48B57B47D5A1}"/>
              </a:ext>
            </a:extLst>
          </p:cNvPr>
          <p:cNvSpPr>
            <a:spLocks noGrp="1"/>
          </p:cNvSpPr>
          <p:nvPr/>
        </p:nvSpPr>
        <p:spPr>
          <a:xfrm>
            <a:off x="4569238" y="3415094"/>
            <a:ext cx="104141" cy="609600"/>
          </a:xfrm>
          <a:prstGeom prst="rect">
            <a:avLst/>
          </a:prstGeom>
          <a:noFill/>
          <a:ln w="0">
            <a:noFill/>
          </a:ln>
        </p:spPr>
        <p:txBody>
          <a:bodyPr lIns="0" tIns="0" rIns="0" bIns="0" anchor="ctr">
            <a:noAutofit/>
          </a:bodyPr>
          <a:lstStyle>
            <a:defPPr>
              <a:defRPr sz="1535" b="1">
                <a:solidFill>
                  <a:srgbClr val="18364F"/>
                </a:solidFill>
                <a:latin typeface="Yu Gothic"/>
                <a:ea typeface="Yu Gothic"/>
                <a:cs typeface="Yu Gothic"/>
              </a:defRPr>
            </a:defPPr>
            <a:lvl1pPr>
              <a:defRPr sz="1535" b="1">
                <a:solidFill>
                  <a:srgbClr val="18364F"/>
                </a:solidFill>
                <a:latin typeface="Yu Gothic"/>
                <a:ea typeface="Yu Gothic"/>
                <a:cs typeface="Yu Gothic"/>
              </a:defRPr>
            </a:lvl1pPr>
            <a:lvl2pPr>
              <a:defRPr sz="1535" b="1">
                <a:solidFill>
                  <a:srgbClr val="18364F"/>
                </a:solidFill>
                <a:latin typeface="Yu Gothic"/>
                <a:ea typeface="Yu Gothic"/>
                <a:cs typeface="Yu Gothic"/>
              </a:defRPr>
            </a:lvl2pPr>
            <a:lvl3pPr>
              <a:defRPr sz="1535" b="1">
                <a:solidFill>
                  <a:srgbClr val="18364F"/>
                </a:solidFill>
                <a:latin typeface="Yu Gothic"/>
                <a:ea typeface="Yu Gothic"/>
                <a:cs typeface="Yu Gothic"/>
              </a:defRPr>
            </a:lvl3pPr>
            <a:lvl4pPr>
              <a:defRPr sz="1535" b="1">
                <a:solidFill>
                  <a:srgbClr val="18364F"/>
                </a:solidFill>
                <a:latin typeface="Yu Gothic"/>
                <a:ea typeface="Yu Gothic"/>
                <a:cs typeface="Yu Gothic"/>
              </a:defRPr>
            </a:lvl4pPr>
            <a:lvl5pPr>
              <a:defRPr sz="1535" b="1">
                <a:solidFill>
                  <a:srgbClr val="18364F"/>
                </a:solidFill>
                <a:latin typeface="Yu Gothic"/>
                <a:ea typeface="Yu Gothic"/>
                <a:cs typeface="Yu Gothic"/>
              </a:defRPr>
            </a:lvl5pPr>
            <a:lvl6pPr>
              <a:defRPr sz="1535" b="1">
                <a:solidFill>
                  <a:srgbClr val="18364F"/>
                </a:solidFill>
                <a:latin typeface="Yu Gothic"/>
                <a:ea typeface="Yu Gothic"/>
                <a:cs typeface="Yu Gothic"/>
              </a:defRPr>
            </a:lvl6pPr>
            <a:lvl7pPr>
              <a:defRPr sz="1535" b="1">
                <a:solidFill>
                  <a:srgbClr val="18364F"/>
                </a:solidFill>
                <a:latin typeface="Yu Gothic"/>
                <a:ea typeface="Yu Gothic"/>
                <a:cs typeface="Yu Gothic"/>
              </a:defRPr>
            </a:lvl7pPr>
            <a:lvl8pPr>
              <a:defRPr sz="1535" b="1">
                <a:solidFill>
                  <a:srgbClr val="18364F"/>
                </a:solidFill>
                <a:latin typeface="Yu Gothic"/>
                <a:ea typeface="Yu Gothic"/>
                <a:cs typeface="Yu Gothic"/>
              </a:defRPr>
            </a:lvl8pPr>
            <a:lvl9pPr>
              <a:defRPr sz="1535" b="1">
                <a:solidFill>
                  <a:srgbClr val="18364F"/>
                </a:solidFill>
                <a:latin typeface="Yu Gothic"/>
                <a:ea typeface="Yu Gothic"/>
                <a:cs typeface="Yu Gothic"/>
              </a:defRPr>
            </a:lvl9pPr>
          </a:lstStyle>
          <a:p>
            <a:pPr>
              <a:defRPr sz="1535" b="1">
                <a:solidFill>
                  <a:srgbClr val="18364F"/>
                </a:solidFill>
                <a:latin typeface="Yu Gothic"/>
                <a:ea typeface="Yu Gothic"/>
                <a:cs typeface="Yu Gothic"/>
              </a:defRPr>
            </a:pPr>
            <a:r>
              <a:rPr sz="1535" b="1">
                <a:solidFill>
                  <a:srgbClr val="18364F"/>
                </a:solidFill>
                <a:latin typeface="Yu Gothic"/>
                <a:ea typeface="Yu Gothic"/>
                <a:cs typeface="Yu Gothic"/>
              </a:rPr>
              <a:t>i</a:t>
            </a:r>
          </a:p>
        </p:txBody>
      </p:sp>
      <p:sp>
        <p:nvSpPr>
          <p:cNvPr id="22" name="正方形/長方形 21">
            <a:extLst>
              <a:ext uri="{FF2B5EF4-FFF2-40B4-BE49-F238E27FC236}">
                <a16:creationId xmlns:a16="http://schemas.microsoft.com/office/drawing/2014/main" id="{F11F3A46-5045-42F6-941D-CDD331291904}"/>
              </a:ext>
            </a:extLst>
          </p:cNvPr>
          <p:cNvSpPr>
            <a:spLocks noGrp="1"/>
          </p:cNvSpPr>
          <p:nvPr/>
        </p:nvSpPr>
        <p:spPr>
          <a:xfrm>
            <a:off x="4625753" y="3295650"/>
            <a:ext cx="1704118" cy="6096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defRPr sz="2475" b="1">
                <a:solidFill>
                  <a:srgbClr val="18364F"/>
                </a:solidFill>
                <a:latin typeface="Yu Gothic"/>
                <a:ea typeface="Yu Gothic"/>
                <a:cs typeface="Yu Gothic"/>
              </a:defRPr>
            </a:lvl1pPr>
            <a:lvl2pPr>
              <a:defRPr sz="2475" b="1">
                <a:solidFill>
                  <a:srgbClr val="18364F"/>
                </a:solidFill>
                <a:latin typeface="Yu Gothic"/>
                <a:ea typeface="Yu Gothic"/>
                <a:cs typeface="Yu Gothic"/>
              </a:defRPr>
            </a:lvl2pPr>
            <a:lvl3pPr>
              <a:defRPr sz="2475" b="1">
                <a:solidFill>
                  <a:srgbClr val="18364F"/>
                </a:solidFill>
                <a:latin typeface="Yu Gothic"/>
                <a:ea typeface="Yu Gothic"/>
                <a:cs typeface="Yu Gothic"/>
              </a:defRPr>
            </a:lvl3pPr>
            <a:lvl4pPr>
              <a:defRPr sz="2475" b="1">
                <a:solidFill>
                  <a:srgbClr val="18364F"/>
                </a:solidFill>
                <a:latin typeface="Yu Gothic"/>
                <a:ea typeface="Yu Gothic"/>
                <a:cs typeface="Yu Gothic"/>
              </a:defRPr>
            </a:lvl4pPr>
            <a:lvl5pPr>
              <a:defRPr sz="2475" b="1">
                <a:solidFill>
                  <a:srgbClr val="18364F"/>
                </a:solidFill>
                <a:latin typeface="Yu Gothic"/>
                <a:ea typeface="Yu Gothic"/>
                <a:cs typeface="Yu Gothic"/>
              </a:defRPr>
            </a:lvl5pPr>
            <a:lvl6pPr>
              <a:defRPr sz="2475" b="1">
                <a:solidFill>
                  <a:srgbClr val="18364F"/>
                </a:solidFill>
                <a:latin typeface="Yu Gothic"/>
                <a:ea typeface="Yu Gothic"/>
                <a:cs typeface="Yu Gothic"/>
              </a:defRPr>
            </a:lvl6pPr>
            <a:lvl7pPr>
              <a:defRPr sz="2475" b="1">
                <a:solidFill>
                  <a:srgbClr val="18364F"/>
                </a:solidFill>
                <a:latin typeface="Yu Gothic"/>
                <a:ea typeface="Yu Gothic"/>
                <a:cs typeface="Yu Gothic"/>
              </a:defRPr>
            </a:lvl7pPr>
            <a:lvl8pPr>
              <a:defRPr sz="2475" b="1">
                <a:solidFill>
                  <a:srgbClr val="18364F"/>
                </a:solidFill>
                <a:latin typeface="Yu Gothic"/>
                <a:ea typeface="Yu Gothic"/>
                <a:cs typeface="Yu Gothic"/>
              </a:defRPr>
            </a:lvl8pPr>
            <a:lvl9pPr>
              <a:defRPr sz="2475" b="1">
                <a:solidFill>
                  <a:srgbClr val="18364F"/>
                </a:solidFill>
                <a:latin typeface="Yu Gothic"/>
                <a:ea typeface="Yu Gothic"/>
                <a:cs typeface="Yu Gothic"/>
              </a:defRPr>
            </a:lvl9pPr>
          </a:lstStyle>
          <a:p>
            <a:pPr>
              <a:defRPr sz="2475" b="1">
                <a:solidFill>
                  <a:srgbClr val="18364F"/>
                </a:solidFill>
                <a:latin typeface="Yu Gothic"/>
                <a:ea typeface="Yu Gothic"/>
                <a:cs typeface="Yu Gothic"/>
              </a:defRPr>
            </a:pPr>
            <a:r>
              <a:rPr sz="2475" b="1">
                <a:solidFill>
                  <a:srgbClr val="18364F"/>
                </a:solidFill>
                <a:latin typeface="Yu Gothic"/>
                <a:ea typeface="Yu Gothic"/>
                <a:cs typeface="Yu Gothic"/>
              </a:rPr>
              <a:t> = bε Σ(E</a:t>
            </a:r>
          </a:p>
        </p:txBody>
      </p:sp>
      <p:sp>
        <p:nvSpPr>
          <p:cNvPr id="23" name="正方形/長方形 22">
            <a:extLst>
              <a:ext uri="{FF2B5EF4-FFF2-40B4-BE49-F238E27FC236}">
                <a16:creationId xmlns:a16="http://schemas.microsoft.com/office/drawing/2014/main" id="{6D9B9BB7-D96A-4029-815B-4EF12924B8F6}"/>
              </a:ext>
            </a:extLst>
          </p:cNvPr>
          <p:cNvSpPr>
            <a:spLocks noGrp="1"/>
          </p:cNvSpPr>
          <p:nvPr/>
        </p:nvSpPr>
        <p:spPr>
          <a:xfrm>
            <a:off x="6282246" y="3415094"/>
            <a:ext cx="104141" cy="609600"/>
          </a:xfrm>
          <a:prstGeom prst="rect">
            <a:avLst/>
          </a:prstGeom>
          <a:noFill/>
          <a:ln w="0">
            <a:noFill/>
          </a:ln>
        </p:spPr>
        <p:txBody>
          <a:bodyPr lIns="0" tIns="0" rIns="0" bIns="0" anchor="ctr">
            <a:noAutofit/>
          </a:bodyPr>
          <a:lstStyle>
            <a:defPPr>
              <a:defRPr sz="1535" b="1">
                <a:solidFill>
                  <a:srgbClr val="18364F"/>
                </a:solidFill>
                <a:latin typeface="Yu Gothic"/>
                <a:ea typeface="Yu Gothic"/>
                <a:cs typeface="Yu Gothic"/>
              </a:defRPr>
            </a:defPPr>
            <a:lvl1pPr>
              <a:defRPr sz="1535" b="1">
                <a:solidFill>
                  <a:srgbClr val="18364F"/>
                </a:solidFill>
                <a:latin typeface="Yu Gothic"/>
                <a:ea typeface="Yu Gothic"/>
                <a:cs typeface="Yu Gothic"/>
              </a:defRPr>
            </a:lvl1pPr>
            <a:lvl2pPr>
              <a:defRPr sz="1535" b="1">
                <a:solidFill>
                  <a:srgbClr val="18364F"/>
                </a:solidFill>
                <a:latin typeface="Yu Gothic"/>
                <a:ea typeface="Yu Gothic"/>
                <a:cs typeface="Yu Gothic"/>
              </a:defRPr>
            </a:lvl2pPr>
            <a:lvl3pPr>
              <a:defRPr sz="1535" b="1">
                <a:solidFill>
                  <a:srgbClr val="18364F"/>
                </a:solidFill>
                <a:latin typeface="Yu Gothic"/>
                <a:ea typeface="Yu Gothic"/>
                <a:cs typeface="Yu Gothic"/>
              </a:defRPr>
            </a:lvl3pPr>
            <a:lvl4pPr>
              <a:defRPr sz="1535" b="1">
                <a:solidFill>
                  <a:srgbClr val="18364F"/>
                </a:solidFill>
                <a:latin typeface="Yu Gothic"/>
                <a:ea typeface="Yu Gothic"/>
                <a:cs typeface="Yu Gothic"/>
              </a:defRPr>
            </a:lvl4pPr>
            <a:lvl5pPr>
              <a:defRPr sz="1535" b="1">
                <a:solidFill>
                  <a:srgbClr val="18364F"/>
                </a:solidFill>
                <a:latin typeface="Yu Gothic"/>
                <a:ea typeface="Yu Gothic"/>
                <a:cs typeface="Yu Gothic"/>
              </a:defRPr>
            </a:lvl5pPr>
            <a:lvl6pPr>
              <a:defRPr sz="1535" b="1">
                <a:solidFill>
                  <a:srgbClr val="18364F"/>
                </a:solidFill>
                <a:latin typeface="Yu Gothic"/>
                <a:ea typeface="Yu Gothic"/>
                <a:cs typeface="Yu Gothic"/>
              </a:defRPr>
            </a:lvl6pPr>
            <a:lvl7pPr>
              <a:defRPr sz="1535" b="1">
                <a:solidFill>
                  <a:srgbClr val="18364F"/>
                </a:solidFill>
                <a:latin typeface="Yu Gothic"/>
                <a:ea typeface="Yu Gothic"/>
                <a:cs typeface="Yu Gothic"/>
              </a:defRPr>
            </a:lvl7pPr>
            <a:lvl8pPr>
              <a:defRPr sz="1535" b="1">
                <a:solidFill>
                  <a:srgbClr val="18364F"/>
                </a:solidFill>
                <a:latin typeface="Yu Gothic"/>
                <a:ea typeface="Yu Gothic"/>
                <a:cs typeface="Yu Gothic"/>
              </a:defRPr>
            </a:lvl8pPr>
            <a:lvl9pPr>
              <a:defRPr sz="1535" b="1">
                <a:solidFill>
                  <a:srgbClr val="18364F"/>
                </a:solidFill>
                <a:latin typeface="Yu Gothic"/>
                <a:ea typeface="Yu Gothic"/>
                <a:cs typeface="Yu Gothic"/>
              </a:defRPr>
            </a:lvl9pPr>
          </a:lstStyle>
          <a:p>
            <a:pPr>
              <a:defRPr sz="1535" b="1">
                <a:solidFill>
                  <a:srgbClr val="18364F"/>
                </a:solidFill>
                <a:latin typeface="Yu Gothic"/>
                <a:ea typeface="Yu Gothic"/>
                <a:cs typeface="Yu Gothic"/>
              </a:defRPr>
            </a:pPr>
            <a:r>
              <a:rPr sz="1535" b="1">
                <a:solidFill>
                  <a:srgbClr val="18364F"/>
                </a:solidFill>
                <a:latin typeface="Yu Gothic"/>
                <a:ea typeface="Yu Gothic"/>
                <a:cs typeface="Yu Gothic"/>
              </a:rPr>
              <a:t>i</a:t>
            </a:r>
          </a:p>
        </p:txBody>
      </p:sp>
      <p:sp>
        <p:nvSpPr>
          <p:cNvPr id="24" name="正方形/長方形 23">
            <a:extLst>
              <a:ext uri="{FF2B5EF4-FFF2-40B4-BE49-F238E27FC236}">
                <a16:creationId xmlns:a16="http://schemas.microsoft.com/office/drawing/2014/main" id="{0C452BB5-651D-4167-A56A-986518F19801}"/>
              </a:ext>
            </a:extLst>
          </p:cNvPr>
          <p:cNvSpPr>
            <a:spLocks noGrp="1"/>
          </p:cNvSpPr>
          <p:nvPr/>
        </p:nvSpPr>
        <p:spPr>
          <a:xfrm>
            <a:off x="6338762" y="3295650"/>
            <a:ext cx="258223" cy="6096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defRPr sz="2475" b="1">
                <a:solidFill>
                  <a:srgbClr val="18364F"/>
                </a:solidFill>
                <a:latin typeface="Yu Gothic"/>
                <a:ea typeface="Yu Gothic"/>
                <a:cs typeface="Yu Gothic"/>
              </a:defRPr>
            </a:lvl1pPr>
            <a:lvl2pPr>
              <a:defRPr sz="2475" b="1">
                <a:solidFill>
                  <a:srgbClr val="18364F"/>
                </a:solidFill>
                <a:latin typeface="Yu Gothic"/>
                <a:ea typeface="Yu Gothic"/>
                <a:cs typeface="Yu Gothic"/>
              </a:defRPr>
            </a:lvl2pPr>
            <a:lvl3pPr>
              <a:defRPr sz="2475" b="1">
                <a:solidFill>
                  <a:srgbClr val="18364F"/>
                </a:solidFill>
                <a:latin typeface="Yu Gothic"/>
                <a:ea typeface="Yu Gothic"/>
                <a:cs typeface="Yu Gothic"/>
              </a:defRPr>
            </a:lvl3pPr>
            <a:lvl4pPr>
              <a:defRPr sz="2475" b="1">
                <a:solidFill>
                  <a:srgbClr val="18364F"/>
                </a:solidFill>
                <a:latin typeface="Yu Gothic"/>
                <a:ea typeface="Yu Gothic"/>
                <a:cs typeface="Yu Gothic"/>
              </a:defRPr>
            </a:lvl4pPr>
            <a:lvl5pPr>
              <a:defRPr sz="2475" b="1">
                <a:solidFill>
                  <a:srgbClr val="18364F"/>
                </a:solidFill>
                <a:latin typeface="Yu Gothic"/>
                <a:ea typeface="Yu Gothic"/>
                <a:cs typeface="Yu Gothic"/>
              </a:defRPr>
            </a:lvl5pPr>
            <a:lvl6pPr>
              <a:defRPr sz="2475" b="1">
                <a:solidFill>
                  <a:srgbClr val="18364F"/>
                </a:solidFill>
                <a:latin typeface="Yu Gothic"/>
                <a:ea typeface="Yu Gothic"/>
                <a:cs typeface="Yu Gothic"/>
              </a:defRPr>
            </a:lvl6pPr>
            <a:lvl7pPr>
              <a:defRPr sz="2475" b="1">
                <a:solidFill>
                  <a:srgbClr val="18364F"/>
                </a:solidFill>
                <a:latin typeface="Yu Gothic"/>
                <a:ea typeface="Yu Gothic"/>
                <a:cs typeface="Yu Gothic"/>
              </a:defRPr>
            </a:lvl7pPr>
            <a:lvl8pPr>
              <a:defRPr sz="2475" b="1">
                <a:solidFill>
                  <a:srgbClr val="18364F"/>
                </a:solidFill>
                <a:latin typeface="Yu Gothic"/>
                <a:ea typeface="Yu Gothic"/>
                <a:cs typeface="Yu Gothic"/>
              </a:defRPr>
            </a:lvl8pPr>
            <a:lvl9pPr>
              <a:defRPr sz="2475" b="1">
                <a:solidFill>
                  <a:srgbClr val="18364F"/>
                </a:solidFill>
                <a:latin typeface="Yu Gothic"/>
                <a:ea typeface="Yu Gothic"/>
                <a:cs typeface="Yu Gothic"/>
              </a:defRPr>
            </a:lvl9pPr>
          </a:lstStyle>
          <a:p>
            <a:pPr>
              <a:defRPr sz="2475" b="1">
                <a:solidFill>
                  <a:srgbClr val="18364F"/>
                </a:solidFill>
                <a:latin typeface="Yu Gothic"/>
                <a:ea typeface="Yu Gothic"/>
                <a:cs typeface="Yu Gothic"/>
              </a:defRPr>
            </a:pPr>
            <a:r>
              <a:rPr sz="2475" b="1">
                <a:solidFill>
                  <a:srgbClr val="18364F"/>
                </a:solidFill>
                <a:latin typeface="Yu Gothic"/>
                <a:ea typeface="Yu Gothic"/>
                <a:cs typeface="Yu Gothic"/>
              </a:rPr>
              <a:t> t</a:t>
            </a:r>
          </a:p>
        </p:txBody>
      </p:sp>
      <p:sp>
        <p:nvSpPr>
          <p:cNvPr id="25" name="正方形/長方形 24">
            <a:extLst>
              <a:ext uri="{FF2B5EF4-FFF2-40B4-BE49-F238E27FC236}">
                <a16:creationId xmlns:a16="http://schemas.microsoft.com/office/drawing/2014/main" id="{7CD23C71-B94E-4F3F-8AA1-E09BFE1A7B35}"/>
              </a:ext>
            </a:extLst>
          </p:cNvPr>
          <p:cNvSpPr>
            <a:spLocks noGrp="1"/>
          </p:cNvSpPr>
          <p:nvPr/>
        </p:nvSpPr>
        <p:spPr>
          <a:xfrm>
            <a:off x="6549360" y="3415094"/>
            <a:ext cx="104141" cy="609600"/>
          </a:xfrm>
          <a:prstGeom prst="rect">
            <a:avLst/>
          </a:prstGeom>
          <a:noFill/>
          <a:ln w="0">
            <a:noFill/>
          </a:ln>
        </p:spPr>
        <p:txBody>
          <a:bodyPr lIns="0" tIns="0" rIns="0" bIns="0" anchor="ctr">
            <a:noAutofit/>
          </a:bodyPr>
          <a:lstStyle>
            <a:defPPr>
              <a:defRPr sz="1535" b="1">
                <a:solidFill>
                  <a:srgbClr val="18364F"/>
                </a:solidFill>
                <a:latin typeface="Yu Gothic"/>
                <a:ea typeface="Yu Gothic"/>
                <a:cs typeface="Yu Gothic"/>
              </a:defRPr>
            </a:defPPr>
            <a:lvl1pPr>
              <a:defRPr sz="1535" b="1">
                <a:solidFill>
                  <a:srgbClr val="18364F"/>
                </a:solidFill>
                <a:latin typeface="Yu Gothic"/>
                <a:ea typeface="Yu Gothic"/>
                <a:cs typeface="Yu Gothic"/>
              </a:defRPr>
            </a:lvl1pPr>
            <a:lvl2pPr>
              <a:defRPr sz="1535" b="1">
                <a:solidFill>
                  <a:srgbClr val="18364F"/>
                </a:solidFill>
                <a:latin typeface="Yu Gothic"/>
                <a:ea typeface="Yu Gothic"/>
                <a:cs typeface="Yu Gothic"/>
              </a:defRPr>
            </a:lvl2pPr>
            <a:lvl3pPr>
              <a:defRPr sz="1535" b="1">
                <a:solidFill>
                  <a:srgbClr val="18364F"/>
                </a:solidFill>
                <a:latin typeface="Yu Gothic"/>
                <a:ea typeface="Yu Gothic"/>
                <a:cs typeface="Yu Gothic"/>
              </a:defRPr>
            </a:lvl3pPr>
            <a:lvl4pPr>
              <a:defRPr sz="1535" b="1">
                <a:solidFill>
                  <a:srgbClr val="18364F"/>
                </a:solidFill>
                <a:latin typeface="Yu Gothic"/>
                <a:ea typeface="Yu Gothic"/>
                <a:cs typeface="Yu Gothic"/>
              </a:defRPr>
            </a:lvl4pPr>
            <a:lvl5pPr>
              <a:defRPr sz="1535" b="1">
                <a:solidFill>
                  <a:srgbClr val="18364F"/>
                </a:solidFill>
                <a:latin typeface="Yu Gothic"/>
                <a:ea typeface="Yu Gothic"/>
                <a:cs typeface="Yu Gothic"/>
              </a:defRPr>
            </a:lvl5pPr>
            <a:lvl6pPr>
              <a:defRPr sz="1535" b="1">
                <a:solidFill>
                  <a:srgbClr val="18364F"/>
                </a:solidFill>
                <a:latin typeface="Yu Gothic"/>
                <a:ea typeface="Yu Gothic"/>
                <a:cs typeface="Yu Gothic"/>
              </a:defRPr>
            </a:lvl6pPr>
            <a:lvl7pPr>
              <a:defRPr sz="1535" b="1">
                <a:solidFill>
                  <a:srgbClr val="18364F"/>
                </a:solidFill>
                <a:latin typeface="Yu Gothic"/>
                <a:ea typeface="Yu Gothic"/>
                <a:cs typeface="Yu Gothic"/>
              </a:defRPr>
            </a:lvl7pPr>
            <a:lvl8pPr>
              <a:defRPr sz="1535" b="1">
                <a:solidFill>
                  <a:srgbClr val="18364F"/>
                </a:solidFill>
                <a:latin typeface="Yu Gothic"/>
                <a:ea typeface="Yu Gothic"/>
                <a:cs typeface="Yu Gothic"/>
              </a:defRPr>
            </a:lvl8pPr>
            <a:lvl9pPr>
              <a:defRPr sz="1535" b="1">
                <a:solidFill>
                  <a:srgbClr val="18364F"/>
                </a:solidFill>
                <a:latin typeface="Yu Gothic"/>
                <a:ea typeface="Yu Gothic"/>
                <a:cs typeface="Yu Gothic"/>
              </a:defRPr>
            </a:lvl9pPr>
          </a:lstStyle>
          <a:p>
            <a:pPr>
              <a:defRPr sz="1535" b="1">
                <a:solidFill>
                  <a:srgbClr val="18364F"/>
                </a:solidFill>
                <a:latin typeface="Yu Gothic"/>
                <a:ea typeface="Yu Gothic"/>
                <a:cs typeface="Yu Gothic"/>
              </a:defRPr>
            </a:pPr>
            <a:r>
              <a:rPr sz="1535" b="1">
                <a:solidFill>
                  <a:srgbClr val="18364F"/>
                </a:solidFill>
                <a:latin typeface="Yu Gothic"/>
                <a:ea typeface="Yu Gothic"/>
                <a:cs typeface="Yu Gothic"/>
              </a:rPr>
              <a:t>i</a:t>
            </a:r>
          </a:p>
        </p:txBody>
      </p:sp>
      <p:sp>
        <p:nvSpPr>
          <p:cNvPr id="26" name="正方形/長方形 25">
            <a:extLst>
              <a:ext uri="{FF2B5EF4-FFF2-40B4-BE49-F238E27FC236}">
                <a16:creationId xmlns:a16="http://schemas.microsoft.com/office/drawing/2014/main" id="{807C7BD2-5785-4FB8-9867-5BA44D2D48F0}"/>
              </a:ext>
            </a:extLst>
          </p:cNvPr>
          <p:cNvSpPr>
            <a:spLocks noGrp="1"/>
          </p:cNvSpPr>
          <p:nvPr/>
        </p:nvSpPr>
        <p:spPr>
          <a:xfrm>
            <a:off x="6605875" y="3295650"/>
            <a:ext cx="173355" cy="609600"/>
          </a:xfrm>
          <a:prstGeom prst="rect">
            <a:avLst/>
          </a:prstGeom>
          <a:noFill/>
          <a:ln w="0">
            <a:noFill/>
          </a:ln>
        </p:spPr>
        <p:txBody>
          <a:bodyPr lIns="0" tIns="0" rIns="0" bIns="0" anchor="ctr">
            <a:noAutofit/>
          </a:bodyPr>
          <a:lstStyle>
            <a:defPPr>
              <a:defRPr sz="2475" b="1">
                <a:solidFill>
                  <a:srgbClr val="18364F"/>
                </a:solidFill>
                <a:latin typeface="Yu Gothic"/>
                <a:ea typeface="Yu Gothic"/>
                <a:cs typeface="Yu Gothic"/>
              </a:defRPr>
            </a:defPPr>
            <a:lvl1pPr>
              <a:defRPr sz="2475" b="1">
                <a:solidFill>
                  <a:srgbClr val="18364F"/>
                </a:solidFill>
                <a:latin typeface="Yu Gothic"/>
                <a:ea typeface="Yu Gothic"/>
                <a:cs typeface="Yu Gothic"/>
              </a:defRPr>
            </a:lvl1pPr>
            <a:lvl2pPr>
              <a:defRPr sz="2475" b="1">
                <a:solidFill>
                  <a:srgbClr val="18364F"/>
                </a:solidFill>
                <a:latin typeface="Yu Gothic"/>
                <a:ea typeface="Yu Gothic"/>
                <a:cs typeface="Yu Gothic"/>
              </a:defRPr>
            </a:lvl2pPr>
            <a:lvl3pPr>
              <a:defRPr sz="2475" b="1">
                <a:solidFill>
                  <a:srgbClr val="18364F"/>
                </a:solidFill>
                <a:latin typeface="Yu Gothic"/>
                <a:ea typeface="Yu Gothic"/>
                <a:cs typeface="Yu Gothic"/>
              </a:defRPr>
            </a:lvl3pPr>
            <a:lvl4pPr>
              <a:defRPr sz="2475" b="1">
                <a:solidFill>
                  <a:srgbClr val="18364F"/>
                </a:solidFill>
                <a:latin typeface="Yu Gothic"/>
                <a:ea typeface="Yu Gothic"/>
                <a:cs typeface="Yu Gothic"/>
              </a:defRPr>
            </a:lvl4pPr>
            <a:lvl5pPr>
              <a:defRPr sz="2475" b="1">
                <a:solidFill>
                  <a:srgbClr val="18364F"/>
                </a:solidFill>
                <a:latin typeface="Yu Gothic"/>
                <a:ea typeface="Yu Gothic"/>
                <a:cs typeface="Yu Gothic"/>
              </a:defRPr>
            </a:lvl5pPr>
            <a:lvl6pPr>
              <a:defRPr sz="2475" b="1">
                <a:solidFill>
                  <a:srgbClr val="18364F"/>
                </a:solidFill>
                <a:latin typeface="Yu Gothic"/>
                <a:ea typeface="Yu Gothic"/>
                <a:cs typeface="Yu Gothic"/>
              </a:defRPr>
            </a:lvl6pPr>
            <a:lvl7pPr>
              <a:defRPr sz="2475" b="1">
                <a:solidFill>
                  <a:srgbClr val="18364F"/>
                </a:solidFill>
                <a:latin typeface="Yu Gothic"/>
                <a:ea typeface="Yu Gothic"/>
                <a:cs typeface="Yu Gothic"/>
              </a:defRPr>
            </a:lvl7pPr>
            <a:lvl8pPr>
              <a:defRPr sz="2475" b="1">
                <a:solidFill>
                  <a:srgbClr val="18364F"/>
                </a:solidFill>
                <a:latin typeface="Yu Gothic"/>
                <a:ea typeface="Yu Gothic"/>
                <a:cs typeface="Yu Gothic"/>
              </a:defRPr>
            </a:lvl8pPr>
            <a:lvl9pPr>
              <a:defRPr sz="2475" b="1">
                <a:solidFill>
                  <a:srgbClr val="18364F"/>
                </a:solidFill>
                <a:latin typeface="Yu Gothic"/>
                <a:ea typeface="Yu Gothic"/>
                <a:cs typeface="Yu Gothic"/>
              </a:defRPr>
            </a:lvl9pPr>
          </a:lstStyle>
          <a:p>
            <a:pPr>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27" name="正方形/長方形 26">
            <a:extLst>
              <a:ext uri="{FF2B5EF4-FFF2-40B4-BE49-F238E27FC236}">
                <a16:creationId xmlns:a16="http://schemas.microsoft.com/office/drawing/2014/main" id="{727E54E3-ADDD-4DC0-B88C-26F430D65A94}"/>
              </a:ext>
            </a:extLst>
          </p:cNvPr>
          <p:cNvSpPr>
            <a:spLocks noGrp="1"/>
          </p:cNvSpPr>
          <p:nvPr/>
        </p:nvSpPr>
        <p:spPr>
          <a:xfrm>
            <a:off x="838200" y="4219575"/>
            <a:ext cx="5323713" cy="666750"/>
          </a:xfrm>
          <a:prstGeom prst="rect">
            <a:avLst/>
          </a:prstGeom>
          <a:noFill/>
          <a:ln w="0">
            <a:noFill/>
          </a:ln>
        </p:spPr>
        <p:txBody>
          <a:bodyPr lIns="0" tIns="0" rIns="0" bIns="0" anchor="ctr">
            <a:noAutofit/>
          </a:bodyPr>
          <a:lstStyle>
            <a:defPPr>
              <a:defRPr sz="2400" b="1">
                <a:solidFill>
                  <a:srgbClr val="18364F"/>
                </a:solidFill>
                <a:latin typeface="Yu Gothic"/>
                <a:ea typeface="Yu Gothic"/>
                <a:cs typeface="Yu Gothic"/>
              </a:defRPr>
            </a:defPPr>
            <a:lvl1pPr>
              <a:defRPr sz="2400" b="1">
                <a:solidFill>
                  <a:srgbClr val="18364F"/>
                </a:solidFill>
                <a:latin typeface="Yu Gothic"/>
                <a:ea typeface="Yu Gothic"/>
                <a:cs typeface="Yu Gothic"/>
              </a:defRPr>
            </a:lvl1pPr>
            <a:lvl2pPr>
              <a:defRPr sz="2400" b="1">
                <a:solidFill>
                  <a:srgbClr val="18364F"/>
                </a:solidFill>
                <a:latin typeface="Yu Gothic"/>
                <a:ea typeface="Yu Gothic"/>
                <a:cs typeface="Yu Gothic"/>
              </a:defRPr>
            </a:lvl2pPr>
            <a:lvl3pPr>
              <a:defRPr sz="2400" b="1">
                <a:solidFill>
                  <a:srgbClr val="18364F"/>
                </a:solidFill>
                <a:latin typeface="Yu Gothic"/>
                <a:ea typeface="Yu Gothic"/>
                <a:cs typeface="Yu Gothic"/>
              </a:defRPr>
            </a:lvl3pPr>
            <a:lvl4pPr>
              <a:defRPr sz="2400" b="1">
                <a:solidFill>
                  <a:srgbClr val="18364F"/>
                </a:solidFill>
                <a:latin typeface="Yu Gothic"/>
                <a:ea typeface="Yu Gothic"/>
                <a:cs typeface="Yu Gothic"/>
              </a:defRPr>
            </a:lvl4pPr>
            <a:lvl5pPr>
              <a:defRPr sz="2400" b="1">
                <a:solidFill>
                  <a:srgbClr val="18364F"/>
                </a:solidFill>
                <a:latin typeface="Yu Gothic"/>
                <a:ea typeface="Yu Gothic"/>
                <a:cs typeface="Yu Gothic"/>
              </a:defRPr>
            </a:lvl5pPr>
            <a:lvl6pPr>
              <a:defRPr sz="2400" b="1">
                <a:solidFill>
                  <a:srgbClr val="18364F"/>
                </a:solidFill>
                <a:latin typeface="Yu Gothic"/>
                <a:ea typeface="Yu Gothic"/>
                <a:cs typeface="Yu Gothic"/>
              </a:defRPr>
            </a:lvl6pPr>
            <a:lvl7pPr>
              <a:defRPr sz="2400" b="1">
                <a:solidFill>
                  <a:srgbClr val="18364F"/>
                </a:solidFill>
                <a:latin typeface="Yu Gothic"/>
                <a:ea typeface="Yu Gothic"/>
                <a:cs typeface="Yu Gothic"/>
              </a:defRPr>
            </a:lvl7pPr>
            <a:lvl8pPr>
              <a:defRPr sz="2400" b="1">
                <a:solidFill>
                  <a:srgbClr val="18364F"/>
                </a:solidFill>
                <a:latin typeface="Yu Gothic"/>
                <a:ea typeface="Yu Gothic"/>
                <a:cs typeface="Yu Gothic"/>
              </a:defRPr>
            </a:lvl8pPr>
            <a:lvl9pPr>
              <a:defRPr sz="2400" b="1">
                <a:solidFill>
                  <a:srgbClr val="18364F"/>
                </a:solidFill>
                <a:latin typeface="Yu Gothic"/>
                <a:ea typeface="Yu Gothic"/>
                <a:cs typeface="Yu Gothic"/>
              </a:defRPr>
            </a:lvl9pPr>
          </a:lstStyle>
          <a:p>
            <a:pPr>
              <a:defRPr sz="2400" b="1">
                <a:solidFill>
                  <a:srgbClr val="18364F"/>
                </a:solidFill>
                <a:latin typeface="Yu Gothic"/>
                <a:ea typeface="Yu Gothic"/>
                <a:cs typeface="Yu Gothic"/>
              </a:defRPr>
            </a:pPr>
            <a:r>
              <a:rPr sz="2400" b="1">
                <a:solidFill>
                  <a:srgbClr val="18364F"/>
                </a:solidFill>
                <a:latin typeface="Yu Gothic"/>
                <a:ea typeface="Yu Gothic"/>
                <a:cs typeface="Yu Gothic"/>
              </a:rPr>
              <a:t>④ F/(bh) = E引張 ε → E引張 = Σ(E</a:t>
            </a:r>
          </a:p>
        </p:txBody>
      </p:sp>
      <p:sp>
        <p:nvSpPr>
          <p:cNvPr id="28" name="正方形/長方形 27">
            <a:extLst>
              <a:ext uri="{FF2B5EF4-FFF2-40B4-BE49-F238E27FC236}">
                <a16:creationId xmlns:a16="http://schemas.microsoft.com/office/drawing/2014/main" id="{D4CB4B78-9C6D-489C-A242-F834E694B590}"/>
              </a:ext>
            </a:extLst>
          </p:cNvPr>
          <p:cNvSpPr>
            <a:spLocks noGrp="1"/>
          </p:cNvSpPr>
          <p:nvPr/>
        </p:nvSpPr>
        <p:spPr>
          <a:xfrm>
            <a:off x="6114288" y="4335399"/>
            <a:ext cx="102428" cy="666750"/>
          </a:xfrm>
          <a:prstGeom prst="rect">
            <a:avLst/>
          </a:prstGeom>
          <a:noFill/>
          <a:ln w="0">
            <a:noFill/>
          </a:ln>
        </p:spPr>
        <p:txBody>
          <a:bodyPr lIns="0" tIns="0" rIns="0" bIns="0" anchor="ctr">
            <a:noAutofit/>
          </a:bodyPr>
          <a:lstStyle>
            <a:defPPr>
              <a:defRPr sz="1488" b="1">
                <a:solidFill>
                  <a:srgbClr val="18364F"/>
                </a:solidFill>
                <a:latin typeface="Yu Gothic"/>
                <a:ea typeface="Yu Gothic"/>
                <a:cs typeface="Yu Gothic"/>
              </a:defRPr>
            </a:defPPr>
            <a:lvl1pPr>
              <a:defRPr sz="1488" b="1">
                <a:solidFill>
                  <a:srgbClr val="18364F"/>
                </a:solidFill>
                <a:latin typeface="Yu Gothic"/>
                <a:ea typeface="Yu Gothic"/>
                <a:cs typeface="Yu Gothic"/>
              </a:defRPr>
            </a:lvl1pPr>
            <a:lvl2pPr>
              <a:defRPr sz="1488" b="1">
                <a:solidFill>
                  <a:srgbClr val="18364F"/>
                </a:solidFill>
                <a:latin typeface="Yu Gothic"/>
                <a:ea typeface="Yu Gothic"/>
                <a:cs typeface="Yu Gothic"/>
              </a:defRPr>
            </a:lvl2pPr>
            <a:lvl3pPr>
              <a:defRPr sz="1488" b="1">
                <a:solidFill>
                  <a:srgbClr val="18364F"/>
                </a:solidFill>
                <a:latin typeface="Yu Gothic"/>
                <a:ea typeface="Yu Gothic"/>
                <a:cs typeface="Yu Gothic"/>
              </a:defRPr>
            </a:lvl3pPr>
            <a:lvl4pPr>
              <a:defRPr sz="1488" b="1">
                <a:solidFill>
                  <a:srgbClr val="18364F"/>
                </a:solidFill>
                <a:latin typeface="Yu Gothic"/>
                <a:ea typeface="Yu Gothic"/>
                <a:cs typeface="Yu Gothic"/>
              </a:defRPr>
            </a:lvl4pPr>
            <a:lvl5pPr>
              <a:defRPr sz="1488" b="1">
                <a:solidFill>
                  <a:srgbClr val="18364F"/>
                </a:solidFill>
                <a:latin typeface="Yu Gothic"/>
                <a:ea typeface="Yu Gothic"/>
                <a:cs typeface="Yu Gothic"/>
              </a:defRPr>
            </a:lvl5pPr>
            <a:lvl6pPr>
              <a:defRPr sz="1488" b="1">
                <a:solidFill>
                  <a:srgbClr val="18364F"/>
                </a:solidFill>
                <a:latin typeface="Yu Gothic"/>
                <a:ea typeface="Yu Gothic"/>
                <a:cs typeface="Yu Gothic"/>
              </a:defRPr>
            </a:lvl6pPr>
            <a:lvl7pPr>
              <a:defRPr sz="1488" b="1">
                <a:solidFill>
                  <a:srgbClr val="18364F"/>
                </a:solidFill>
                <a:latin typeface="Yu Gothic"/>
                <a:ea typeface="Yu Gothic"/>
                <a:cs typeface="Yu Gothic"/>
              </a:defRPr>
            </a:lvl7pPr>
            <a:lvl8pPr>
              <a:defRPr sz="1488" b="1">
                <a:solidFill>
                  <a:srgbClr val="18364F"/>
                </a:solidFill>
                <a:latin typeface="Yu Gothic"/>
                <a:ea typeface="Yu Gothic"/>
                <a:cs typeface="Yu Gothic"/>
              </a:defRPr>
            </a:lvl8pPr>
            <a:lvl9pPr>
              <a:defRPr sz="1488" b="1">
                <a:solidFill>
                  <a:srgbClr val="18364F"/>
                </a:solidFill>
                <a:latin typeface="Yu Gothic"/>
                <a:ea typeface="Yu Gothic"/>
                <a:cs typeface="Yu Gothic"/>
              </a:defRPr>
            </a:lvl9pPr>
          </a:lstStyle>
          <a:p>
            <a:pPr>
              <a:defRPr sz="1488" b="1">
                <a:solidFill>
                  <a:srgbClr val="18364F"/>
                </a:solidFill>
                <a:latin typeface="Yu Gothic"/>
                <a:ea typeface="Yu Gothic"/>
                <a:cs typeface="Yu Gothic"/>
              </a:defRPr>
            </a:pPr>
            <a:r>
              <a:rPr sz="1488" b="1">
                <a:solidFill>
                  <a:srgbClr val="18364F"/>
                </a:solidFill>
                <a:latin typeface="Yu Gothic"/>
                <a:ea typeface="Yu Gothic"/>
                <a:cs typeface="Yu Gothic"/>
              </a:rPr>
              <a:t>i</a:t>
            </a:r>
          </a:p>
        </p:txBody>
      </p:sp>
      <p:sp>
        <p:nvSpPr>
          <p:cNvPr id="29" name="正方形/長方形 28">
            <a:extLst>
              <a:ext uri="{FF2B5EF4-FFF2-40B4-BE49-F238E27FC236}">
                <a16:creationId xmlns:a16="http://schemas.microsoft.com/office/drawing/2014/main" id="{F7F8928E-18EA-44BC-B5F4-8EF24A042F3B}"/>
              </a:ext>
            </a:extLst>
          </p:cNvPr>
          <p:cNvSpPr>
            <a:spLocks noGrp="1"/>
          </p:cNvSpPr>
          <p:nvPr/>
        </p:nvSpPr>
        <p:spPr>
          <a:xfrm>
            <a:off x="6169091" y="4219575"/>
            <a:ext cx="251841" cy="666750"/>
          </a:xfrm>
          <a:prstGeom prst="rect">
            <a:avLst/>
          </a:prstGeom>
          <a:noFill/>
          <a:ln w="0">
            <a:noFill/>
          </a:ln>
        </p:spPr>
        <p:txBody>
          <a:bodyPr lIns="0" tIns="0" rIns="0" bIns="0" anchor="ctr">
            <a:noAutofit/>
          </a:bodyPr>
          <a:lstStyle>
            <a:defPPr>
              <a:defRPr sz="2400" b="1">
                <a:solidFill>
                  <a:srgbClr val="18364F"/>
                </a:solidFill>
                <a:latin typeface="Yu Gothic"/>
                <a:ea typeface="Yu Gothic"/>
                <a:cs typeface="Yu Gothic"/>
              </a:defRPr>
            </a:defPPr>
            <a:lvl1pPr>
              <a:defRPr sz="2400" b="1">
                <a:solidFill>
                  <a:srgbClr val="18364F"/>
                </a:solidFill>
                <a:latin typeface="Yu Gothic"/>
                <a:ea typeface="Yu Gothic"/>
                <a:cs typeface="Yu Gothic"/>
              </a:defRPr>
            </a:lvl1pPr>
            <a:lvl2pPr>
              <a:defRPr sz="2400" b="1">
                <a:solidFill>
                  <a:srgbClr val="18364F"/>
                </a:solidFill>
                <a:latin typeface="Yu Gothic"/>
                <a:ea typeface="Yu Gothic"/>
                <a:cs typeface="Yu Gothic"/>
              </a:defRPr>
            </a:lvl2pPr>
            <a:lvl3pPr>
              <a:defRPr sz="2400" b="1">
                <a:solidFill>
                  <a:srgbClr val="18364F"/>
                </a:solidFill>
                <a:latin typeface="Yu Gothic"/>
                <a:ea typeface="Yu Gothic"/>
                <a:cs typeface="Yu Gothic"/>
              </a:defRPr>
            </a:lvl3pPr>
            <a:lvl4pPr>
              <a:defRPr sz="2400" b="1">
                <a:solidFill>
                  <a:srgbClr val="18364F"/>
                </a:solidFill>
                <a:latin typeface="Yu Gothic"/>
                <a:ea typeface="Yu Gothic"/>
                <a:cs typeface="Yu Gothic"/>
              </a:defRPr>
            </a:lvl4pPr>
            <a:lvl5pPr>
              <a:defRPr sz="2400" b="1">
                <a:solidFill>
                  <a:srgbClr val="18364F"/>
                </a:solidFill>
                <a:latin typeface="Yu Gothic"/>
                <a:ea typeface="Yu Gothic"/>
                <a:cs typeface="Yu Gothic"/>
              </a:defRPr>
            </a:lvl5pPr>
            <a:lvl6pPr>
              <a:defRPr sz="2400" b="1">
                <a:solidFill>
                  <a:srgbClr val="18364F"/>
                </a:solidFill>
                <a:latin typeface="Yu Gothic"/>
                <a:ea typeface="Yu Gothic"/>
                <a:cs typeface="Yu Gothic"/>
              </a:defRPr>
            </a:lvl6pPr>
            <a:lvl7pPr>
              <a:defRPr sz="2400" b="1">
                <a:solidFill>
                  <a:srgbClr val="18364F"/>
                </a:solidFill>
                <a:latin typeface="Yu Gothic"/>
                <a:ea typeface="Yu Gothic"/>
                <a:cs typeface="Yu Gothic"/>
              </a:defRPr>
            </a:lvl7pPr>
            <a:lvl8pPr>
              <a:defRPr sz="2400" b="1">
                <a:solidFill>
                  <a:srgbClr val="18364F"/>
                </a:solidFill>
                <a:latin typeface="Yu Gothic"/>
                <a:ea typeface="Yu Gothic"/>
                <a:cs typeface="Yu Gothic"/>
              </a:defRPr>
            </a:lvl8pPr>
            <a:lvl9pPr>
              <a:defRPr sz="2400" b="1">
                <a:solidFill>
                  <a:srgbClr val="18364F"/>
                </a:solidFill>
                <a:latin typeface="Yu Gothic"/>
                <a:ea typeface="Yu Gothic"/>
                <a:cs typeface="Yu Gothic"/>
              </a:defRPr>
            </a:lvl9pPr>
          </a:lstStyle>
          <a:p>
            <a:pPr>
              <a:defRPr sz="2400" b="1">
                <a:solidFill>
                  <a:srgbClr val="18364F"/>
                </a:solidFill>
                <a:latin typeface="Yu Gothic"/>
                <a:ea typeface="Yu Gothic"/>
                <a:cs typeface="Yu Gothic"/>
              </a:defRPr>
            </a:pPr>
            <a:r>
              <a:rPr sz="2400" b="1">
                <a:solidFill>
                  <a:srgbClr val="18364F"/>
                </a:solidFill>
                <a:latin typeface="Yu Gothic"/>
                <a:ea typeface="Yu Gothic"/>
                <a:cs typeface="Yu Gothic"/>
              </a:rPr>
              <a:t> t</a:t>
            </a:r>
          </a:p>
        </p:txBody>
      </p:sp>
      <p:sp>
        <p:nvSpPr>
          <p:cNvPr id="30" name="正方形/長方形 29">
            <a:extLst>
              <a:ext uri="{FF2B5EF4-FFF2-40B4-BE49-F238E27FC236}">
                <a16:creationId xmlns:a16="http://schemas.microsoft.com/office/drawing/2014/main" id="{DFA076F1-FDE8-419F-A8B6-78F343EEC7FF}"/>
              </a:ext>
            </a:extLst>
          </p:cNvPr>
          <p:cNvSpPr>
            <a:spLocks noGrp="1"/>
          </p:cNvSpPr>
          <p:nvPr/>
        </p:nvSpPr>
        <p:spPr>
          <a:xfrm>
            <a:off x="6373307" y="4335399"/>
            <a:ext cx="102428" cy="666750"/>
          </a:xfrm>
          <a:prstGeom prst="rect">
            <a:avLst/>
          </a:prstGeom>
          <a:noFill/>
          <a:ln w="0">
            <a:noFill/>
          </a:ln>
        </p:spPr>
        <p:txBody>
          <a:bodyPr lIns="0" tIns="0" rIns="0" bIns="0" anchor="ctr">
            <a:noAutofit/>
          </a:bodyPr>
          <a:lstStyle>
            <a:defPPr>
              <a:defRPr sz="1488" b="1">
                <a:solidFill>
                  <a:srgbClr val="18364F"/>
                </a:solidFill>
                <a:latin typeface="Yu Gothic"/>
                <a:ea typeface="Yu Gothic"/>
                <a:cs typeface="Yu Gothic"/>
              </a:defRPr>
            </a:defPPr>
            <a:lvl1pPr>
              <a:defRPr sz="1488" b="1">
                <a:solidFill>
                  <a:srgbClr val="18364F"/>
                </a:solidFill>
                <a:latin typeface="Yu Gothic"/>
                <a:ea typeface="Yu Gothic"/>
                <a:cs typeface="Yu Gothic"/>
              </a:defRPr>
            </a:lvl1pPr>
            <a:lvl2pPr>
              <a:defRPr sz="1488" b="1">
                <a:solidFill>
                  <a:srgbClr val="18364F"/>
                </a:solidFill>
                <a:latin typeface="Yu Gothic"/>
                <a:ea typeface="Yu Gothic"/>
                <a:cs typeface="Yu Gothic"/>
              </a:defRPr>
            </a:lvl2pPr>
            <a:lvl3pPr>
              <a:defRPr sz="1488" b="1">
                <a:solidFill>
                  <a:srgbClr val="18364F"/>
                </a:solidFill>
                <a:latin typeface="Yu Gothic"/>
                <a:ea typeface="Yu Gothic"/>
                <a:cs typeface="Yu Gothic"/>
              </a:defRPr>
            </a:lvl3pPr>
            <a:lvl4pPr>
              <a:defRPr sz="1488" b="1">
                <a:solidFill>
                  <a:srgbClr val="18364F"/>
                </a:solidFill>
                <a:latin typeface="Yu Gothic"/>
                <a:ea typeface="Yu Gothic"/>
                <a:cs typeface="Yu Gothic"/>
              </a:defRPr>
            </a:lvl4pPr>
            <a:lvl5pPr>
              <a:defRPr sz="1488" b="1">
                <a:solidFill>
                  <a:srgbClr val="18364F"/>
                </a:solidFill>
                <a:latin typeface="Yu Gothic"/>
                <a:ea typeface="Yu Gothic"/>
                <a:cs typeface="Yu Gothic"/>
              </a:defRPr>
            </a:lvl5pPr>
            <a:lvl6pPr>
              <a:defRPr sz="1488" b="1">
                <a:solidFill>
                  <a:srgbClr val="18364F"/>
                </a:solidFill>
                <a:latin typeface="Yu Gothic"/>
                <a:ea typeface="Yu Gothic"/>
                <a:cs typeface="Yu Gothic"/>
              </a:defRPr>
            </a:lvl6pPr>
            <a:lvl7pPr>
              <a:defRPr sz="1488" b="1">
                <a:solidFill>
                  <a:srgbClr val="18364F"/>
                </a:solidFill>
                <a:latin typeface="Yu Gothic"/>
                <a:ea typeface="Yu Gothic"/>
                <a:cs typeface="Yu Gothic"/>
              </a:defRPr>
            </a:lvl7pPr>
            <a:lvl8pPr>
              <a:defRPr sz="1488" b="1">
                <a:solidFill>
                  <a:srgbClr val="18364F"/>
                </a:solidFill>
                <a:latin typeface="Yu Gothic"/>
                <a:ea typeface="Yu Gothic"/>
                <a:cs typeface="Yu Gothic"/>
              </a:defRPr>
            </a:lvl8pPr>
            <a:lvl9pPr>
              <a:defRPr sz="1488" b="1">
                <a:solidFill>
                  <a:srgbClr val="18364F"/>
                </a:solidFill>
                <a:latin typeface="Yu Gothic"/>
                <a:ea typeface="Yu Gothic"/>
                <a:cs typeface="Yu Gothic"/>
              </a:defRPr>
            </a:lvl9pPr>
          </a:lstStyle>
          <a:p>
            <a:pPr>
              <a:defRPr sz="1488" b="1">
                <a:solidFill>
                  <a:srgbClr val="18364F"/>
                </a:solidFill>
                <a:latin typeface="Yu Gothic"/>
                <a:ea typeface="Yu Gothic"/>
                <a:cs typeface="Yu Gothic"/>
              </a:defRPr>
            </a:pPr>
            <a:r>
              <a:rPr sz="1488" b="1">
                <a:solidFill>
                  <a:srgbClr val="18364F"/>
                </a:solidFill>
                <a:latin typeface="Yu Gothic"/>
                <a:ea typeface="Yu Gothic"/>
                <a:cs typeface="Yu Gothic"/>
              </a:rPr>
              <a:t>i</a:t>
            </a:r>
          </a:p>
        </p:txBody>
      </p:sp>
      <p:sp>
        <p:nvSpPr>
          <p:cNvPr id="31" name="正方形/長方形 30">
            <a:extLst>
              <a:ext uri="{FF2B5EF4-FFF2-40B4-BE49-F238E27FC236}">
                <a16:creationId xmlns:a16="http://schemas.microsoft.com/office/drawing/2014/main" id="{1BBB3218-F545-4B8C-9245-6498F813F178}"/>
              </a:ext>
            </a:extLst>
          </p:cNvPr>
          <p:cNvSpPr>
            <a:spLocks noGrp="1"/>
          </p:cNvSpPr>
          <p:nvPr/>
        </p:nvSpPr>
        <p:spPr>
          <a:xfrm>
            <a:off x="6428110" y="4219575"/>
            <a:ext cx="510921" cy="666750"/>
          </a:xfrm>
          <a:prstGeom prst="rect">
            <a:avLst/>
          </a:prstGeom>
          <a:noFill/>
          <a:ln w="0">
            <a:noFill/>
          </a:ln>
        </p:spPr>
        <p:txBody>
          <a:bodyPr lIns="0" tIns="0" rIns="0" bIns="0" anchor="ctr">
            <a:noAutofit/>
          </a:bodyPr>
          <a:lstStyle>
            <a:defPPr>
              <a:defRPr sz="2400" b="1">
                <a:solidFill>
                  <a:srgbClr val="18364F"/>
                </a:solidFill>
                <a:latin typeface="Yu Gothic"/>
                <a:ea typeface="Yu Gothic"/>
                <a:cs typeface="Yu Gothic"/>
              </a:defRPr>
            </a:defPPr>
            <a:lvl1pPr>
              <a:defRPr sz="2400" b="1">
                <a:solidFill>
                  <a:srgbClr val="18364F"/>
                </a:solidFill>
                <a:latin typeface="Yu Gothic"/>
                <a:ea typeface="Yu Gothic"/>
                <a:cs typeface="Yu Gothic"/>
              </a:defRPr>
            </a:lvl1pPr>
            <a:lvl2pPr>
              <a:defRPr sz="2400" b="1">
                <a:solidFill>
                  <a:srgbClr val="18364F"/>
                </a:solidFill>
                <a:latin typeface="Yu Gothic"/>
                <a:ea typeface="Yu Gothic"/>
                <a:cs typeface="Yu Gothic"/>
              </a:defRPr>
            </a:lvl2pPr>
            <a:lvl3pPr>
              <a:defRPr sz="2400" b="1">
                <a:solidFill>
                  <a:srgbClr val="18364F"/>
                </a:solidFill>
                <a:latin typeface="Yu Gothic"/>
                <a:ea typeface="Yu Gothic"/>
                <a:cs typeface="Yu Gothic"/>
              </a:defRPr>
            </a:lvl3pPr>
            <a:lvl4pPr>
              <a:defRPr sz="2400" b="1">
                <a:solidFill>
                  <a:srgbClr val="18364F"/>
                </a:solidFill>
                <a:latin typeface="Yu Gothic"/>
                <a:ea typeface="Yu Gothic"/>
                <a:cs typeface="Yu Gothic"/>
              </a:defRPr>
            </a:lvl4pPr>
            <a:lvl5pPr>
              <a:defRPr sz="2400" b="1">
                <a:solidFill>
                  <a:srgbClr val="18364F"/>
                </a:solidFill>
                <a:latin typeface="Yu Gothic"/>
                <a:ea typeface="Yu Gothic"/>
                <a:cs typeface="Yu Gothic"/>
              </a:defRPr>
            </a:lvl5pPr>
            <a:lvl6pPr>
              <a:defRPr sz="2400" b="1">
                <a:solidFill>
                  <a:srgbClr val="18364F"/>
                </a:solidFill>
                <a:latin typeface="Yu Gothic"/>
                <a:ea typeface="Yu Gothic"/>
                <a:cs typeface="Yu Gothic"/>
              </a:defRPr>
            </a:lvl6pPr>
            <a:lvl7pPr>
              <a:defRPr sz="2400" b="1">
                <a:solidFill>
                  <a:srgbClr val="18364F"/>
                </a:solidFill>
                <a:latin typeface="Yu Gothic"/>
                <a:ea typeface="Yu Gothic"/>
                <a:cs typeface="Yu Gothic"/>
              </a:defRPr>
            </a:lvl7pPr>
            <a:lvl8pPr>
              <a:defRPr sz="2400" b="1">
                <a:solidFill>
                  <a:srgbClr val="18364F"/>
                </a:solidFill>
                <a:latin typeface="Yu Gothic"/>
                <a:ea typeface="Yu Gothic"/>
                <a:cs typeface="Yu Gothic"/>
              </a:defRPr>
            </a:lvl8pPr>
            <a:lvl9pPr>
              <a:defRPr sz="2400" b="1">
                <a:solidFill>
                  <a:srgbClr val="18364F"/>
                </a:solidFill>
                <a:latin typeface="Yu Gothic"/>
                <a:ea typeface="Yu Gothic"/>
                <a:cs typeface="Yu Gothic"/>
              </a:defRPr>
            </a:lvl9pPr>
          </a:lstStyle>
          <a:p>
            <a:pPr>
              <a:defRPr sz="2400" b="1">
                <a:solidFill>
                  <a:srgbClr val="18364F"/>
                </a:solidFill>
                <a:latin typeface="Yu Gothic"/>
                <a:ea typeface="Yu Gothic"/>
                <a:cs typeface="Yu Gothic"/>
              </a:defRPr>
            </a:pPr>
            <a:r>
              <a:rPr sz="2400" b="1">
                <a:solidFill>
                  <a:srgbClr val="18364F"/>
                </a:solidFill>
                <a:latin typeface="Yu Gothic"/>
                <a:ea typeface="Yu Gothic"/>
                <a:cs typeface="Yu Gothic"/>
              </a:rPr>
              <a:t>)/h</a:t>
            </a:r>
          </a:p>
        </p:txBody>
      </p:sp>
      <p:sp>
        <p:nvSpPr>
          <p:cNvPr id="32" name="正方形/長方形 31">
            <a:extLst>
              <a:ext uri="{FF2B5EF4-FFF2-40B4-BE49-F238E27FC236}">
                <a16:creationId xmlns:a16="http://schemas.microsoft.com/office/drawing/2014/main" id="{2F6BE044-9557-4C3F-BBF4-01AA4B46AD21}"/>
              </a:ext>
            </a:extLst>
          </p:cNvPr>
          <p:cNvSpPr>
            <a:spLocks noGrp="1"/>
          </p:cNvSpPr>
          <p:nvPr/>
        </p:nvSpPr>
        <p:spPr>
          <a:xfrm>
            <a:off x="838200" y="5181600"/>
            <a:ext cx="869823" cy="523875"/>
          </a:xfrm>
          <a:prstGeom prst="rect">
            <a:avLst/>
          </a:prstGeom>
          <a:noFill/>
          <a:ln w="0">
            <a:noFill/>
          </a:ln>
        </p:spPr>
        <p:txBody>
          <a:bodyPr lIns="0" tIns="0" rIns="0" bIns="0" anchor="ctr">
            <a:noAutofit/>
          </a:bodyPr>
          <a:lstStyle>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h = Σt</a:t>
            </a:r>
          </a:p>
        </p:txBody>
      </p:sp>
      <p:sp>
        <p:nvSpPr>
          <p:cNvPr id="33" name="正方形/長方形 32">
            <a:extLst>
              <a:ext uri="{FF2B5EF4-FFF2-40B4-BE49-F238E27FC236}">
                <a16:creationId xmlns:a16="http://schemas.microsoft.com/office/drawing/2014/main" id="{573EAB44-750E-4634-B60E-E656033A796E}"/>
              </a:ext>
            </a:extLst>
          </p:cNvPr>
          <p:cNvSpPr>
            <a:spLocks noGrp="1"/>
          </p:cNvSpPr>
          <p:nvPr/>
        </p:nvSpPr>
        <p:spPr>
          <a:xfrm>
            <a:off x="1660398" y="5275707"/>
            <a:ext cx="92152" cy="523875"/>
          </a:xfrm>
          <a:prstGeom prst="rect">
            <a:avLst/>
          </a:prstGeom>
          <a:noFill/>
          <a:ln w="0">
            <a:noFill/>
          </a:ln>
        </p:spPr>
        <p:txBody>
          <a:bodyPr lIns="0" tIns="0" rIns="0" bIns="0" anchor="ctr">
            <a:noAutofit/>
          </a:bodyPr>
          <a:lstStyle>
            <a:defPPr>
              <a:defRPr sz="1209" b="0">
                <a:solidFill>
                  <a:srgbClr val="253C4D"/>
                </a:solidFill>
                <a:latin typeface="Yu Gothic"/>
                <a:ea typeface="Yu Gothic"/>
                <a:cs typeface="Yu Gothic"/>
              </a:defRPr>
            </a:defPPr>
            <a:lvl1pPr>
              <a:defRPr sz="1209" b="0">
                <a:solidFill>
                  <a:srgbClr val="253C4D"/>
                </a:solidFill>
                <a:latin typeface="Yu Gothic"/>
                <a:ea typeface="Yu Gothic"/>
                <a:cs typeface="Yu Gothic"/>
              </a:defRPr>
            </a:lvl1pPr>
            <a:lvl2pPr>
              <a:defRPr sz="1209" b="0">
                <a:solidFill>
                  <a:srgbClr val="253C4D"/>
                </a:solidFill>
                <a:latin typeface="Yu Gothic"/>
                <a:ea typeface="Yu Gothic"/>
                <a:cs typeface="Yu Gothic"/>
              </a:defRPr>
            </a:lvl2pPr>
            <a:lvl3pPr>
              <a:defRPr sz="1209" b="0">
                <a:solidFill>
                  <a:srgbClr val="253C4D"/>
                </a:solidFill>
                <a:latin typeface="Yu Gothic"/>
                <a:ea typeface="Yu Gothic"/>
                <a:cs typeface="Yu Gothic"/>
              </a:defRPr>
            </a:lvl3pPr>
            <a:lvl4pPr>
              <a:defRPr sz="1209" b="0">
                <a:solidFill>
                  <a:srgbClr val="253C4D"/>
                </a:solidFill>
                <a:latin typeface="Yu Gothic"/>
                <a:ea typeface="Yu Gothic"/>
                <a:cs typeface="Yu Gothic"/>
              </a:defRPr>
            </a:lvl4pPr>
            <a:lvl5pPr>
              <a:defRPr sz="1209" b="0">
                <a:solidFill>
                  <a:srgbClr val="253C4D"/>
                </a:solidFill>
                <a:latin typeface="Yu Gothic"/>
                <a:ea typeface="Yu Gothic"/>
                <a:cs typeface="Yu Gothic"/>
              </a:defRPr>
            </a:lvl5pPr>
            <a:lvl6pPr>
              <a:defRPr sz="1209" b="0">
                <a:solidFill>
                  <a:srgbClr val="253C4D"/>
                </a:solidFill>
                <a:latin typeface="Yu Gothic"/>
                <a:ea typeface="Yu Gothic"/>
                <a:cs typeface="Yu Gothic"/>
              </a:defRPr>
            </a:lvl6pPr>
            <a:lvl7pPr>
              <a:defRPr sz="1209" b="0">
                <a:solidFill>
                  <a:srgbClr val="253C4D"/>
                </a:solidFill>
                <a:latin typeface="Yu Gothic"/>
                <a:ea typeface="Yu Gothic"/>
                <a:cs typeface="Yu Gothic"/>
              </a:defRPr>
            </a:lvl7pPr>
            <a:lvl8pPr>
              <a:defRPr sz="1209" b="0">
                <a:solidFill>
                  <a:srgbClr val="253C4D"/>
                </a:solidFill>
                <a:latin typeface="Yu Gothic"/>
                <a:ea typeface="Yu Gothic"/>
                <a:cs typeface="Yu Gothic"/>
              </a:defRPr>
            </a:lvl8pPr>
            <a:lvl9pPr>
              <a:defRPr sz="1209" b="0">
                <a:solidFill>
                  <a:srgbClr val="253C4D"/>
                </a:solidFill>
                <a:latin typeface="Yu Gothic"/>
                <a:ea typeface="Yu Gothic"/>
                <a:cs typeface="Yu Gothic"/>
              </a:defRPr>
            </a:lvl9pPr>
          </a:lstStyle>
          <a:p>
            <a:pPr>
              <a:defRPr sz="1209" b="0">
                <a:solidFill>
                  <a:srgbClr val="253C4D"/>
                </a:solidFill>
                <a:latin typeface="Yu Gothic"/>
                <a:ea typeface="Yu Gothic"/>
                <a:cs typeface="Yu Gothic"/>
              </a:defRPr>
            </a:pPr>
            <a:r>
              <a:rPr sz="1209" b="0">
                <a:solidFill>
                  <a:srgbClr val="253C4D"/>
                </a:solidFill>
                <a:latin typeface="Yu Gothic"/>
                <a:ea typeface="Yu Gothic"/>
                <a:cs typeface="Yu Gothic"/>
              </a:rPr>
              <a:t>i</a:t>
            </a:r>
          </a:p>
        </p:txBody>
      </p:sp>
      <p:sp>
        <p:nvSpPr>
          <p:cNvPr id="34" name="正方形/長方形 33">
            <a:extLst>
              <a:ext uri="{FF2B5EF4-FFF2-40B4-BE49-F238E27FC236}">
                <a16:creationId xmlns:a16="http://schemas.microsoft.com/office/drawing/2014/main" id="{F967EC56-C5F7-4F15-8D0D-0564FE94F346}"/>
              </a:ext>
            </a:extLst>
          </p:cNvPr>
          <p:cNvSpPr>
            <a:spLocks noGrp="1"/>
          </p:cNvSpPr>
          <p:nvPr/>
        </p:nvSpPr>
        <p:spPr>
          <a:xfrm>
            <a:off x="1704925" y="5181600"/>
            <a:ext cx="3985260" cy="523875"/>
          </a:xfrm>
          <a:prstGeom prst="rect">
            <a:avLst/>
          </a:prstGeom>
          <a:noFill/>
          <a:ln w="0">
            <a:noFill/>
          </a:ln>
        </p:spPr>
        <p:txBody>
          <a:bodyPr lIns="0" tIns="0" rIns="0" bIns="0" anchor="ctr">
            <a:noAutofit/>
          </a:bodyPr>
          <a:lstStyle>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：全厚　　b：幅　　i：各層の番号</a:t>
            </a:r>
          </a:p>
        </p:txBody>
      </p:sp>
      <p:sp>
        <p:nvSpPr>
          <p:cNvPr id="35" name="正方形/長方形 34">
            <a:extLst>
              <a:ext uri="{FF2B5EF4-FFF2-40B4-BE49-F238E27FC236}">
                <a16:creationId xmlns:a16="http://schemas.microsoft.com/office/drawing/2014/main" id="{77CEB330-4CA3-4316-A7F8-5D1F9ABB65B1}"/>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一軸の近似。完全接着・同じ伸び・線形弾性。横方向の連成等は省略。</a:t>
            </a:r>
          </a:p>
        </p:txBody>
      </p:sp>
    </p:spTree>
    <p:extLst>
      <p:ext uri="{BB962C8B-B14F-4D97-AF65-F5344CB8AC3E}">
        <p14:creationId xmlns:p14="http://schemas.microsoft.com/office/powerpoint/2010/main" val="3715168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2475C9D-F56E-40F8-BB62-F699E27831C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例題：交差積層の引張りE</a:t>
            </a:r>
          </a:p>
        </p:txBody>
      </p:sp>
      <p:sp>
        <p:nvSpPr>
          <p:cNvPr id="2" name="正方形/長方形 1">
            <a:extLst>
              <a:ext uri="{FF2B5EF4-FFF2-40B4-BE49-F238E27FC236}">
                <a16:creationId xmlns:a16="http://schemas.microsoft.com/office/drawing/2014/main" id="{276F8047-33B0-4891-A006-268B0DE9171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82601E5-8821-481E-9CB7-28DAF9FC61D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C8BAB25-C3B2-4226-9932-3CD09BCF3B3F}"/>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F2263A8-D7A7-4CEB-AD0F-BD1D8D286DF4}"/>
              </a:ext>
            </a:extLst>
          </p:cNvPr>
          <p:cNvSpPr>
            <a:spLocks noGrp="1"/>
          </p:cNvSpPr>
          <p:nvPr/>
        </p:nvSpPr>
        <p:spPr>
          <a:xfrm>
            <a:off x="838200" y="1457325"/>
            <a:ext cx="10477500" cy="476250"/>
          </a:xfrm>
          <a:prstGeom prst="rect">
            <a:avLst/>
          </a:prstGeom>
          <a:noFill/>
          <a:ln w="0">
            <a:noFill/>
          </a:ln>
        </p:spPr>
        <p:txBody>
          <a:bodyPr lIns="0" tIns="0" rIns="0" bIns="0" anchor="ctr">
            <a:noAutofit/>
          </a:bodyPr>
          <a:lstStyle>
            <a:defPPr>
              <a:defRPr sz="2100" b="1">
                <a:solidFill>
                  <a:srgbClr val="253C4D"/>
                </a:solidFill>
                <a:latin typeface="Yu Gothic"/>
                <a:ea typeface="Yu Gothic"/>
                <a:cs typeface="Yu Gothic"/>
              </a:defRPr>
            </a:defPPr>
            <a:lvl1pPr>
              <a:defRPr sz="2100" b="1">
                <a:solidFill>
                  <a:srgbClr val="253C4D"/>
                </a:solidFill>
                <a:latin typeface="Yu Gothic"/>
                <a:ea typeface="Yu Gothic"/>
                <a:cs typeface="Yu Gothic"/>
              </a:defRPr>
            </a:lvl1pPr>
            <a:lvl2pPr>
              <a:defRPr sz="2100" b="1">
                <a:solidFill>
                  <a:srgbClr val="253C4D"/>
                </a:solidFill>
                <a:latin typeface="Yu Gothic"/>
                <a:ea typeface="Yu Gothic"/>
                <a:cs typeface="Yu Gothic"/>
              </a:defRPr>
            </a:lvl2pPr>
            <a:lvl3pPr>
              <a:defRPr sz="2100" b="1">
                <a:solidFill>
                  <a:srgbClr val="253C4D"/>
                </a:solidFill>
                <a:latin typeface="Yu Gothic"/>
                <a:ea typeface="Yu Gothic"/>
                <a:cs typeface="Yu Gothic"/>
              </a:defRPr>
            </a:lvl3pPr>
            <a:lvl4pPr>
              <a:defRPr sz="2100" b="1">
                <a:solidFill>
                  <a:srgbClr val="253C4D"/>
                </a:solidFill>
                <a:latin typeface="Yu Gothic"/>
                <a:ea typeface="Yu Gothic"/>
                <a:cs typeface="Yu Gothic"/>
              </a:defRPr>
            </a:lvl4pPr>
            <a:lvl5pPr>
              <a:defRPr sz="2100" b="1">
                <a:solidFill>
                  <a:srgbClr val="253C4D"/>
                </a:solidFill>
                <a:latin typeface="Yu Gothic"/>
                <a:ea typeface="Yu Gothic"/>
                <a:cs typeface="Yu Gothic"/>
              </a:defRPr>
            </a:lvl5pPr>
            <a:lvl6pPr>
              <a:defRPr sz="2100" b="1">
                <a:solidFill>
                  <a:srgbClr val="253C4D"/>
                </a:solidFill>
                <a:latin typeface="Yu Gothic"/>
                <a:ea typeface="Yu Gothic"/>
                <a:cs typeface="Yu Gothic"/>
              </a:defRPr>
            </a:lvl6pPr>
            <a:lvl7pPr>
              <a:defRPr sz="2100" b="1">
                <a:solidFill>
                  <a:srgbClr val="253C4D"/>
                </a:solidFill>
                <a:latin typeface="Yu Gothic"/>
                <a:ea typeface="Yu Gothic"/>
                <a:cs typeface="Yu Gothic"/>
              </a:defRPr>
            </a:lvl7pPr>
            <a:lvl8pPr>
              <a:defRPr sz="2100" b="1">
                <a:solidFill>
                  <a:srgbClr val="253C4D"/>
                </a:solidFill>
                <a:latin typeface="Yu Gothic"/>
                <a:ea typeface="Yu Gothic"/>
                <a:cs typeface="Yu Gothic"/>
              </a:defRPr>
            </a:lvl8pPr>
            <a:lvl9pPr>
              <a:defRPr sz="2100" b="1">
                <a:solidFill>
                  <a:srgbClr val="253C4D"/>
                </a:solidFill>
                <a:latin typeface="Yu Gothic"/>
                <a:ea typeface="Yu Gothic"/>
                <a:cs typeface="Yu Gothic"/>
              </a:defRPr>
            </a:lvl9pPr>
          </a:lstStyle>
          <a:p>
            <a:pPr>
              <a:defRPr sz="2100" b="1">
                <a:solidFill>
                  <a:srgbClr val="253C4D"/>
                </a:solidFill>
                <a:latin typeface="Yu Gothic"/>
                <a:ea typeface="Yu Gothic"/>
                <a:cs typeface="Yu Gothic"/>
              </a:defRPr>
            </a:pPr>
            <a:r>
              <a:rPr sz="2100" b="1">
                <a:solidFill>
                  <a:srgbClr val="253C4D"/>
                </a:solidFill>
                <a:latin typeface="Yu Gothic"/>
                <a:ea typeface="Yu Gothic"/>
                <a:cs typeface="Yu Gothic"/>
              </a:rPr>
              <a:t>仮定：0°でE = 10 GPa、90°でE = 0.5 GPa</a:t>
            </a:r>
          </a:p>
        </p:txBody>
      </p:sp>
      <p:graphicFrame>
        <p:nvGraphicFramePr>
          <p:cNvPr id="6" name="表 5">
            <a:extLst>
              <a:ext uri="{FF2B5EF4-FFF2-40B4-BE49-F238E27FC236}">
                <a16:creationId xmlns:a16="http://schemas.microsoft.com/office/drawing/2014/main" id="{CAD17A0A-2699-4275-A13C-0E43A598322C}"/>
              </a:ext>
            </a:extLst>
          </p:cNvPr>
          <p:cNvGraphicFramePr/>
          <p:nvPr/>
        </p:nvGraphicFramePr>
        <p:xfrm>
          <a:off x="838200" y="2143125"/>
          <a:ext cx="10477500" cy="3048000"/>
        </p:xfrm>
        <a:graphic>
          <a:graphicData uri="http://schemas.openxmlformats.org/drawingml/2006/table">
            <a:tbl>
              <a:tblPr/>
              <a:tblGrid>
                <a:gridCol w="46672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762000">
                <a:tc>
                  <a:txBody>
                    <a:bodyPr/>
                    <a:lstStyle/>
                    <a:p>
                      <a:r>
                        <a:rPr sz="1875" b="1">
                          <a:solidFill>
                            <a:srgbClr val="FFFFFF"/>
                          </a:solidFill>
                          <a:latin typeface="Yu Gothic"/>
                          <a:ea typeface="Yu Gothic"/>
                          <a:cs typeface="Yu Gothic"/>
                        </a:rPr>
                        <a:t>構成・評価方向</a:t>
                      </a:r>
                    </a:p>
                  </a:txBody>
                  <a:tcPr>
                    <a:solidFill>
                      <a:srgbClr val="18364F"/>
                    </a:solidFill>
                  </a:tcPr>
                </a:tc>
                <a:tc>
                  <a:txBody>
                    <a:bodyPr/>
                    <a:lstStyle/>
                    <a:p>
                      <a:r>
                        <a:rPr sz="1875" b="1">
                          <a:solidFill>
                            <a:srgbClr val="FFFFFF"/>
                          </a:solidFill>
                          <a:latin typeface="Yu Gothic"/>
                          <a:ea typeface="Yu Gothic"/>
                          <a:cs typeface="Yu Gothic"/>
                        </a:rPr>
                        <a:t>計算（GPa）</a:t>
                      </a:r>
                    </a:p>
                  </a:txBody>
                  <a:tcPr>
                    <a:solidFill>
                      <a:srgbClr val="18364F"/>
                    </a:solidFill>
                  </a:tcPr>
                </a:tc>
                <a:tc>
                  <a:txBody>
                    <a:bodyPr/>
                    <a:lstStyle/>
                    <a:p>
                      <a:r>
                        <a:rPr sz="1875" b="1">
                          <a:solidFill>
                            <a:srgbClr val="FFFFFF"/>
                          </a:solidFill>
                          <a:latin typeface="Yu Gothic"/>
                          <a:ea typeface="Yu Gothic"/>
                          <a:cs typeface="Yu Gothic"/>
                        </a:rPr>
                        <a:t>E引張</a:t>
                      </a:r>
                    </a:p>
                  </a:txBody>
                  <a:tcPr>
                    <a:solidFill>
                      <a:srgbClr val="18364F"/>
                    </a:solidFill>
                  </a:tcPr>
                </a:tc>
                <a:extLst>
                  <a:ext uri="{0D108BD9-81ED-4DB2-BD59-A6C34878D82A}">
                    <a16:rowId xmlns:a16="http://schemas.microsoft.com/office/drawing/2014/main" val="10000"/>
                  </a:ext>
                </a:extLst>
              </a:tr>
              <a:tr h="762000">
                <a:tc>
                  <a:txBody>
                    <a:bodyPr/>
                    <a:lstStyle/>
                    <a:p>
                      <a:r>
                        <a:rPr sz="1875" b="0">
                          <a:solidFill>
                            <a:srgbClr val="253C4D"/>
                          </a:solidFill>
                          <a:latin typeface="Yu Gothic"/>
                          <a:ea typeface="Yu Gothic"/>
                          <a:cs typeface="Yu Gothic"/>
                        </a:rPr>
                        <a:t>0°/90°/0°/90°/0°：長手</a:t>
                      </a:r>
                    </a:p>
                  </a:txBody>
                  <a:tcPr>
                    <a:solidFill>
                      <a:srgbClr val="F1F5F7"/>
                    </a:solidFill>
                  </a:tcPr>
                </a:tc>
                <a:tc>
                  <a:txBody>
                    <a:bodyPr/>
                    <a:lstStyle/>
                    <a:p>
                      <a:r>
                        <a:rPr sz="1875" b="0">
                          <a:solidFill>
                            <a:srgbClr val="253C4D"/>
                          </a:solidFill>
                          <a:latin typeface="Yu Gothic"/>
                          <a:ea typeface="Yu Gothic"/>
                          <a:cs typeface="Yu Gothic"/>
                        </a:rPr>
                        <a:t>(10×3 + 0.5×2)/5</a:t>
                      </a:r>
                    </a:p>
                  </a:txBody>
                  <a:tcPr>
                    <a:solidFill>
                      <a:srgbClr val="F1F5F7"/>
                    </a:solidFill>
                  </a:tcPr>
                </a:tc>
                <a:tc>
                  <a:txBody>
                    <a:bodyPr/>
                    <a:lstStyle/>
                    <a:p>
                      <a:r>
                        <a:rPr sz="1875" b="0">
                          <a:solidFill>
                            <a:srgbClr val="253C4D"/>
                          </a:solidFill>
                          <a:latin typeface="Yu Gothic"/>
                          <a:ea typeface="Yu Gothic"/>
                          <a:cs typeface="Yu Gothic"/>
                        </a:rPr>
                        <a:t>6.2 GPa</a:t>
                      </a:r>
                    </a:p>
                  </a:txBody>
                  <a:tcPr>
                    <a:solidFill>
                      <a:srgbClr val="F1F5F7"/>
                    </a:solidFill>
                  </a:tcPr>
                </a:tc>
                <a:extLst>
                  <a:ext uri="{0D108BD9-81ED-4DB2-BD59-A6C34878D82A}">
                    <a16:rowId xmlns:a16="http://schemas.microsoft.com/office/drawing/2014/main" val="10001"/>
                  </a:ext>
                </a:extLst>
              </a:tr>
              <a:tr h="762000">
                <a:tc>
                  <a:txBody>
                    <a:bodyPr/>
                    <a:lstStyle/>
                    <a:p>
                      <a:r>
                        <a:rPr sz="1875" b="0">
                          <a:solidFill>
                            <a:srgbClr val="253C4D"/>
                          </a:solidFill>
                          <a:latin typeface="Yu Gothic"/>
                          <a:ea typeface="Yu Gothic"/>
                          <a:cs typeface="Yu Gothic"/>
                        </a:rPr>
                        <a:t>同じ板を90°回す</a:t>
                      </a:r>
                    </a:p>
                  </a:txBody>
                  <a:tcPr>
                    <a:solidFill>
                      <a:srgbClr val="FFFFFF"/>
                    </a:solidFill>
                  </a:tcPr>
                </a:tc>
                <a:tc>
                  <a:txBody>
                    <a:bodyPr/>
                    <a:lstStyle/>
                    <a:p>
                      <a:r>
                        <a:rPr sz="1875" b="0">
                          <a:solidFill>
                            <a:srgbClr val="253C4D"/>
                          </a:solidFill>
                          <a:latin typeface="Yu Gothic"/>
                          <a:ea typeface="Yu Gothic"/>
                          <a:cs typeface="Yu Gothic"/>
                        </a:rPr>
                        <a:t>(0.5×3 + 10×2)/5</a:t>
                      </a:r>
                    </a:p>
                  </a:txBody>
                  <a:tcPr>
                    <a:solidFill>
                      <a:srgbClr val="FFFFFF"/>
                    </a:solidFill>
                  </a:tcPr>
                </a:tc>
                <a:tc>
                  <a:txBody>
                    <a:bodyPr/>
                    <a:lstStyle/>
                    <a:p>
                      <a:r>
                        <a:rPr sz="1875" b="0">
                          <a:solidFill>
                            <a:srgbClr val="253C4D"/>
                          </a:solidFill>
                          <a:latin typeface="Yu Gothic"/>
                          <a:ea typeface="Yu Gothic"/>
                          <a:cs typeface="Yu Gothic"/>
                        </a:rPr>
                        <a:t>4.3 GPa</a:t>
                      </a:r>
                    </a:p>
                  </a:txBody>
                  <a:tcPr>
                    <a:solidFill>
                      <a:srgbClr val="FFFFFF"/>
                    </a:solidFill>
                  </a:tcPr>
                </a:tc>
                <a:extLst>
                  <a:ext uri="{0D108BD9-81ED-4DB2-BD59-A6C34878D82A}">
                    <a16:rowId xmlns:a16="http://schemas.microsoft.com/office/drawing/2014/main" val="10002"/>
                  </a:ext>
                </a:extLst>
              </a:tr>
              <a:tr h="762000">
                <a:tc>
                  <a:txBody>
                    <a:bodyPr/>
                    <a:lstStyle/>
                    <a:p>
                      <a:r>
                        <a:rPr sz="1875" b="0">
                          <a:solidFill>
                            <a:srgbClr val="253C4D"/>
                          </a:solidFill>
                          <a:latin typeface="Yu Gothic"/>
                          <a:ea typeface="Yu Gothic"/>
                          <a:cs typeface="Yu Gothic"/>
                        </a:rPr>
                        <a:t>全て0°の平行積層：長手</a:t>
                      </a:r>
                    </a:p>
                  </a:txBody>
                  <a:tcPr>
                    <a:solidFill>
                      <a:srgbClr val="F1F5F7"/>
                    </a:solidFill>
                  </a:tcPr>
                </a:tc>
                <a:tc>
                  <a:txBody>
                    <a:bodyPr/>
                    <a:lstStyle/>
                    <a:p>
                      <a:r>
                        <a:rPr sz="1875" b="0">
                          <a:solidFill>
                            <a:srgbClr val="253C4D"/>
                          </a:solidFill>
                          <a:latin typeface="Yu Gothic"/>
                          <a:ea typeface="Yu Gothic"/>
                          <a:cs typeface="Yu Gothic"/>
                        </a:rPr>
                        <a:t>(10×5)/5</a:t>
                      </a:r>
                    </a:p>
                  </a:txBody>
                  <a:tcPr>
                    <a:solidFill>
                      <a:srgbClr val="F1F5F7"/>
                    </a:solidFill>
                  </a:tcPr>
                </a:tc>
                <a:tc>
                  <a:txBody>
                    <a:bodyPr/>
                    <a:lstStyle/>
                    <a:p>
                      <a:r>
                        <a:rPr sz="1875" b="0">
                          <a:solidFill>
                            <a:srgbClr val="253C4D"/>
                          </a:solidFill>
                          <a:latin typeface="Yu Gothic"/>
                          <a:ea typeface="Yu Gothic"/>
                          <a:cs typeface="Yu Gothic"/>
                        </a:rPr>
                        <a:t>10 GPa</a:t>
                      </a:r>
                    </a:p>
                  </a:txBody>
                  <a:tcPr>
                    <a:solidFill>
                      <a:srgbClr val="F1F5F7"/>
                    </a:solidFill>
                  </a:tcPr>
                </a:tc>
                <a:extLst>
                  <a:ext uri="{0D108BD9-81ED-4DB2-BD59-A6C34878D82A}">
                    <a16:rowId xmlns:a16="http://schemas.microsoft.com/office/drawing/2014/main" val="10003"/>
                  </a:ext>
                </a:extLst>
              </a:tr>
            </a:tbl>
          </a:graphicData>
        </a:graphic>
      </p:graphicFrame>
      <p:sp>
        <p:nvSpPr>
          <p:cNvPr id="7" name="正方形/長方形 6">
            <a:extLst>
              <a:ext uri="{FF2B5EF4-FFF2-40B4-BE49-F238E27FC236}">
                <a16:creationId xmlns:a16="http://schemas.microsoft.com/office/drawing/2014/main" id="{5AD1A52D-D921-4AC4-BE97-6E52DE69CC14}"/>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数値・模式図は本教材の説明モデル。特定の樹種・製品の実測値、強度値、設計値ではない。</a:t>
            </a:r>
          </a:p>
        </p:txBody>
      </p:sp>
    </p:spTree>
    <p:extLst>
      <p:ext uri="{BB962C8B-B14F-4D97-AF65-F5344CB8AC3E}">
        <p14:creationId xmlns:p14="http://schemas.microsoft.com/office/powerpoint/2010/main" val="2411633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73D407AC-FAD1-422D-B7AB-936CC852BC6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同じ単板量でも、層の位置が違う</a:t>
            </a:r>
          </a:p>
        </p:txBody>
      </p:sp>
      <p:sp>
        <p:nvSpPr>
          <p:cNvPr id="2" name="正方形/長方形 1">
            <a:extLst>
              <a:ext uri="{FF2B5EF4-FFF2-40B4-BE49-F238E27FC236}">
                <a16:creationId xmlns:a16="http://schemas.microsoft.com/office/drawing/2014/main" id="{6FB8D598-6DA2-40F5-86FB-CF29CA87D6E2}"/>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D2448F1-6561-4C52-A2F0-EEF59BCF34A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A04621CE-A0C0-4C60-B3A2-71D49E365BC0}"/>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70D48C8F-FDBB-4316-85E9-4D4D78CEE26E}"/>
              </a:ext>
            </a:extLst>
          </p:cNvPr>
          <p:cNvSpPr>
            <a:spLocks noGrp="1"/>
          </p:cNvSpPr>
          <p:nvPr/>
        </p:nvSpPr>
        <p:spPr>
          <a:xfrm>
            <a:off x="952500" y="1552575"/>
            <a:ext cx="5238750" cy="57150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defRPr sz="2250" b="1">
                <a:solidFill>
                  <a:srgbClr val="253C4D"/>
                </a:solidFill>
                <a:latin typeface="Yu Gothic"/>
                <a:ea typeface="Yu Gothic"/>
                <a:cs typeface="Yu Gothic"/>
              </a:defRPr>
            </a:lvl1pPr>
            <a:lvl2pPr>
              <a:defRPr sz="2250" b="1">
                <a:solidFill>
                  <a:srgbClr val="253C4D"/>
                </a:solidFill>
                <a:latin typeface="Yu Gothic"/>
                <a:ea typeface="Yu Gothic"/>
                <a:cs typeface="Yu Gothic"/>
              </a:defRPr>
            </a:lvl2pPr>
            <a:lvl3pPr>
              <a:defRPr sz="2250" b="1">
                <a:solidFill>
                  <a:srgbClr val="253C4D"/>
                </a:solidFill>
                <a:latin typeface="Yu Gothic"/>
                <a:ea typeface="Yu Gothic"/>
                <a:cs typeface="Yu Gothic"/>
              </a:defRPr>
            </a:lvl3pPr>
            <a:lvl4pPr>
              <a:defRPr sz="2250" b="1">
                <a:solidFill>
                  <a:srgbClr val="253C4D"/>
                </a:solidFill>
                <a:latin typeface="Yu Gothic"/>
                <a:ea typeface="Yu Gothic"/>
                <a:cs typeface="Yu Gothic"/>
              </a:defRPr>
            </a:lvl4pPr>
            <a:lvl5pPr>
              <a:defRPr sz="2250" b="1">
                <a:solidFill>
                  <a:srgbClr val="253C4D"/>
                </a:solidFill>
                <a:latin typeface="Yu Gothic"/>
                <a:ea typeface="Yu Gothic"/>
                <a:cs typeface="Yu Gothic"/>
              </a:defRPr>
            </a:lvl5pPr>
            <a:lvl6pPr>
              <a:defRPr sz="2250" b="1">
                <a:solidFill>
                  <a:srgbClr val="253C4D"/>
                </a:solidFill>
                <a:latin typeface="Yu Gothic"/>
                <a:ea typeface="Yu Gothic"/>
                <a:cs typeface="Yu Gothic"/>
              </a:defRPr>
            </a:lvl6pPr>
            <a:lvl7pPr>
              <a:defRPr sz="2250" b="1">
                <a:solidFill>
                  <a:srgbClr val="253C4D"/>
                </a:solidFill>
                <a:latin typeface="Yu Gothic"/>
                <a:ea typeface="Yu Gothic"/>
                <a:cs typeface="Yu Gothic"/>
              </a:defRPr>
            </a:lvl7pPr>
            <a:lvl8pPr>
              <a:defRPr sz="2250" b="1">
                <a:solidFill>
                  <a:srgbClr val="253C4D"/>
                </a:solidFill>
                <a:latin typeface="Yu Gothic"/>
                <a:ea typeface="Yu Gothic"/>
                <a:cs typeface="Yu Gothic"/>
              </a:defRPr>
            </a:lvl8pPr>
            <a:lvl9pPr>
              <a:defRPr sz="2250" b="1">
                <a:solidFill>
                  <a:srgbClr val="253C4D"/>
                </a:solidFill>
                <a:latin typeface="Yu Gothic"/>
                <a:ea typeface="Yu Gothic"/>
                <a:cs typeface="Yu Gothic"/>
              </a:defRPr>
            </a:lvl9pPr>
          </a:lstStyle>
          <a:p>
            <a:pPr>
              <a:defRPr sz="2250" b="1">
                <a:solidFill>
                  <a:srgbClr val="253C4D"/>
                </a:solidFill>
                <a:latin typeface="Yu Gothic"/>
                <a:ea typeface="Yu Gothic"/>
                <a:cs typeface="Yu Gothic"/>
              </a:defRPr>
            </a:pPr>
            <a:r>
              <a:rPr sz="2250" b="1">
                <a:solidFill>
                  <a:srgbClr val="253C4D"/>
                </a:solidFill>
                <a:latin typeface="Yu Gothic"/>
                <a:ea typeface="Yu Gothic"/>
                <a:cs typeface="Yu Gothic"/>
              </a:rPr>
              <a:t>A：0 / 90 / 0 / 90 / 0</a:t>
            </a:r>
          </a:p>
        </p:txBody>
      </p:sp>
      <p:sp>
        <p:nvSpPr>
          <p:cNvPr id="6" name="正方形/長方形 5">
            <a:extLst>
              <a:ext uri="{FF2B5EF4-FFF2-40B4-BE49-F238E27FC236}">
                <a16:creationId xmlns:a16="http://schemas.microsoft.com/office/drawing/2014/main" id="{40AAA85A-341C-428D-86AA-0052A5DB54F8}"/>
              </a:ext>
            </a:extLst>
          </p:cNvPr>
          <p:cNvSpPr>
            <a:spLocks noGrp="1"/>
          </p:cNvSpPr>
          <p:nvPr/>
        </p:nvSpPr>
        <p:spPr>
          <a:xfrm>
            <a:off x="6667500" y="1552575"/>
            <a:ext cx="5238750" cy="571500"/>
          </a:xfrm>
          <a:prstGeom prst="rect">
            <a:avLst/>
          </a:prstGeom>
          <a:noFill/>
          <a:ln w="0">
            <a:noFill/>
          </a:ln>
        </p:spPr>
        <p:txBody>
          <a:bodyPr lIns="0" tIns="0" rIns="0" bIns="0" anchor="ctr">
            <a:noAutofit/>
          </a:bodyPr>
          <a:lstStyle>
            <a:defPPr>
              <a:defRPr sz="2250" b="1">
                <a:solidFill>
                  <a:srgbClr val="253C4D"/>
                </a:solidFill>
                <a:latin typeface="Yu Gothic"/>
                <a:ea typeface="Yu Gothic"/>
                <a:cs typeface="Yu Gothic"/>
              </a:defRPr>
            </a:defPPr>
            <a:lvl1pPr>
              <a:defRPr sz="2250" b="1">
                <a:solidFill>
                  <a:srgbClr val="253C4D"/>
                </a:solidFill>
                <a:latin typeface="Yu Gothic"/>
                <a:ea typeface="Yu Gothic"/>
                <a:cs typeface="Yu Gothic"/>
              </a:defRPr>
            </a:lvl1pPr>
            <a:lvl2pPr>
              <a:defRPr sz="2250" b="1">
                <a:solidFill>
                  <a:srgbClr val="253C4D"/>
                </a:solidFill>
                <a:latin typeface="Yu Gothic"/>
                <a:ea typeface="Yu Gothic"/>
                <a:cs typeface="Yu Gothic"/>
              </a:defRPr>
            </a:lvl2pPr>
            <a:lvl3pPr>
              <a:defRPr sz="2250" b="1">
                <a:solidFill>
                  <a:srgbClr val="253C4D"/>
                </a:solidFill>
                <a:latin typeface="Yu Gothic"/>
                <a:ea typeface="Yu Gothic"/>
                <a:cs typeface="Yu Gothic"/>
              </a:defRPr>
            </a:lvl3pPr>
            <a:lvl4pPr>
              <a:defRPr sz="2250" b="1">
                <a:solidFill>
                  <a:srgbClr val="253C4D"/>
                </a:solidFill>
                <a:latin typeface="Yu Gothic"/>
                <a:ea typeface="Yu Gothic"/>
                <a:cs typeface="Yu Gothic"/>
              </a:defRPr>
            </a:lvl4pPr>
            <a:lvl5pPr>
              <a:defRPr sz="2250" b="1">
                <a:solidFill>
                  <a:srgbClr val="253C4D"/>
                </a:solidFill>
                <a:latin typeface="Yu Gothic"/>
                <a:ea typeface="Yu Gothic"/>
                <a:cs typeface="Yu Gothic"/>
              </a:defRPr>
            </a:lvl5pPr>
            <a:lvl6pPr>
              <a:defRPr sz="2250" b="1">
                <a:solidFill>
                  <a:srgbClr val="253C4D"/>
                </a:solidFill>
                <a:latin typeface="Yu Gothic"/>
                <a:ea typeface="Yu Gothic"/>
                <a:cs typeface="Yu Gothic"/>
              </a:defRPr>
            </a:lvl6pPr>
            <a:lvl7pPr>
              <a:defRPr sz="2250" b="1">
                <a:solidFill>
                  <a:srgbClr val="253C4D"/>
                </a:solidFill>
                <a:latin typeface="Yu Gothic"/>
                <a:ea typeface="Yu Gothic"/>
                <a:cs typeface="Yu Gothic"/>
              </a:defRPr>
            </a:lvl7pPr>
            <a:lvl8pPr>
              <a:defRPr sz="2250" b="1">
                <a:solidFill>
                  <a:srgbClr val="253C4D"/>
                </a:solidFill>
                <a:latin typeface="Yu Gothic"/>
                <a:ea typeface="Yu Gothic"/>
                <a:cs typeface="Yu Gothic"/>
              </a:defRPr>
            </a:lvl8pPr>
            <a:lvl9pPr>
              <a:defRPr sz="2250" b="1">
                <a:solidFill>
                  <a:srgbClr val="253C4D"/>
                </a:solidFill>
                <a:latin typeface="Yu Gothic"/>
                <a:ea typeface="Yu Gothic"/>
                <a:cs typeface="Yu Gothic"/>
              </a:defRPr>
            </a:lvl9pPr>
          </a:lstStyle>
          <a:p>
            <a:pPr>
              <a:defRPr sz="2250" b="1">
                <a:solidFill>
                  <a:srgbClr val="253C4D"/>
                </a:solidFill>
                <a:latin typeface="Yu Gothic"/>
                <a:ea typeface="Yu Gothic"/>
                <a:cs typeface="Yu Gothic"/>
              </a:defRPr>
            </a:pPr>
            <a:r>
              <a:rPr sz="2250" b="1">
                <a:solidFill>
                  <a:srgbClr val="253C4D"/>
                </a:solidFill>
                <a:latin typeface="Yu Gothic"/>
                <a:ea typeface="Yu Gothic"/>
                <a:cs typeface="Yu Gothic"/>
              </a:rPr>
              <a:t>C：90 / 0 / 0 / 0 / 90</a:t>
            </a:r>
          </a:p>
        </p:txBody>
      </p:sp>
      <p:sp>
        <p:nvSpPr>
          <p:cNvPr id="7" name="正方形/長方形 6">
            <a:extLst>
              <a:ext uri="{FF2B5EF4-FFF2-40B4-BE49-F238E27FC236}">
                <a16:creationId xmlns:a16="http://schemas.microsoft.com/office/drawing/2014/main" id="{8824C5E4-6DF4-4471-BE11-80D15B7510C5}"/>
              </a:ext>
            </a:extLst>
          </p:cNvPr>
          <p:cNvSpPr>
            <a:spLocks noGrp="1"/>
          </p:cNvSpPr>
          <p:nvPr/>
        </p:nvSpPr>
        <p:spPr>
          <a:xfrm>
            <a:off x="1143000" y="2333625"/>
            <a:ext cx="4095750" cy="447675"/>
          </a:xfrm>
          <a:prstGeom prst="rect">
            <a:avLst/>
          </a:prstGeom>
          <a:solidFill>
            <a:srgbClr val="EBD7B8"/>
          </a:solidFill>
          <a:ln w="9525">
            <a:solidFill>
              <a:srgbClr val="596875"/>
            </a:solidFill>
          </a:ln>
        </p:spPr>
      </p:sp>
      <p:sp>
        <p:nvSpPr>
          <p:cNvPr id="8" name="フリーフォーム: 図形 7">
            <a:extLst>
              <a:ext uri="{FF2B5EF4-FFF2-40B4-BE49-F238E27FC236}">
                <a16:creationId xmlns:a16="http://schemas.microsoft.com/office/drawing/2014/main" id="{629DD239-9276-4A22-BC2E-CFB47AFEBC20}"/>
              </a:ext>
            </a:extLst>
          </p:cNvPr>
          <p:cNvSpPr>
            <a:spLocks noGrp="1"/>
          </p:cNvSpPr>
          <p:nvPr/>
        </p:nvSpPr>
        <p:spPr>
          <a:xfrm>
            <a:off x="1257300" y="249031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9" name="フリーフォーム: 図形 8">
            <a:extLst>
              <a:ext uri="{FF2B5EF4-FFF2-40B4-BE49-F238E27FC236}">
                <a16:creationId xmlns:a16="http://schemas.microsoft.com/office/drawing/2014/main" id="{68BEAFFF-68F9-4EBC-8539-A5BC24FA4BC6}"/>
              </a:ext>
            </a:extLst>
          </p:cNvPr>
          <p:cNvSpPr>
            <a:spLocks noGrp="1"/>
          </p:cNvSpPr>
          <p:nvPr/>
        </p:nvSpPr>
        <p:spPr>
          <a:xfrm>
            <a:off x="1257300" y="262461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10" name="正方形/長方形 9">
            <a:extLst>
              <a:ext uri="{FF2B5EF4-FFF2-40B4-BE49-F238E27FC236}">
                <a16:creationId xmlns:a16="http://schemas.microsoft.com/office/drawing/2014/main" id="{AA6DAD51-E9FA-4D80-97D9-1DDE0782AA29}"/>
              </a:ext>
            </a:extLst>
          </p:cNvPr>
          <p:cNvSpPr>
            <a:spLocks noGrp="1"/>
          </p:cNvSpPr>
          <p:nvPr/>
        </p:nvSpPr>
        <p:spPr>
          <a:xfrm>
            <a:off x="1143000" y="2809875"/>
            <a:ext cx="4095750" cy="447675"/>
          </a:xfrm>
          <a:prstGeom prst="rect">
            <a:avLst/>
          </a:prstGeom>
          <a:solidFill>
            <a:srgbClr val="D6E7F1"/>
          </a:solidFill>
          <a:ln w="9525">
            <a:solidFill>
              <a:srgbClr val="596875"/>
            </a:solidFill>
          </a:ln>
        </p:spPr>
      </p:sp>
      <p:sp>
        <p:nvSpPr>
          <p:cNvPr id="11" name="フリーフォーム: 図形 10">
            <a:extLst>
              <a:ext uri="{FF2B5EF4-FFF2-40B4-BE49-F238E27FC236}">
                <a16:creationId xmlns:a16="http://schemas.microsoft.com/office/drawing/2014/main" id="{2209C846-C079-4AA9-8802-F679DDEB3C68}"/>
              </a:ext>
            </a:extLst>
          </p:cNvPr>
          <p:cNvSpPr>
            <a:spLocks noGrp="1"/>
          </p:cNvSpPr>
          <p:nvPr/>
        </p:nvSpPr>
        <p:spPr>
          <a:xfrm>
            <a:off x="140970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2" name="フリーフォーム: 図形 11">
            <a:extLst>
              <a:ext uri="{FF2B5EF4-FFF2-40B4-BE49-F238E27FC236}">
                <a16:creationId xmlns:a16="http://schemas.microsoft.com/office/drawing/2014/main" id="{8E9EF02F-288C-4F01-83CD-D6F0F4BBF908}"/>
              </a:ext>
            </a:extLst>
          </p:cNvPr>
          <p:cNvSpPr>
            <a:spLocks noGrp="1"/>
          </p:cNvSpPr>
          <p:nvPr/>
        </p:nvSpPr>
        <p:spPr>
          <a:xfrm>
            <a:off x="212217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3" name="フリーフォーム: 図形 12">
            <a:extLst>
              <a:ext uri="{FF2B5EF4-FFF2-40B4-BE49-F238E27FC236}">
                <a16:creationId xmlns:a16="http://schemas.microsoft.com/office/drawing/2014/main" id="{D8A95FF0-59DC-4279-99C4-7E2CAD23DFBB}"/>
              </a:ext>
            </a:extLst>
          </p:cNvPr>
          <p:cNvSpPr>
            <a:spLocks noGrp="1"/>
          </p:cNvSpPr>
          <p:nvPr/>
        </p:nvSpPr>
        <p:spPr>
          <a:xfrm>
            <a:off x="283464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4" name="フリーフォーム: 図形 13">
            <a:extLst>
              <a:ext uri="{FF2B5EF4-FFF2-40B4-BE49-F238E27FC236}">
                <a16:creationId xmlns:a16="http://schemas.microsoft.com/office/drawing/2014/main" id="{EAAC3F03-D92F-4E5A-87F4-6ECCE15453C5}"/>
              </a:ext>
            </a:extLst>
          </p:cNvPr>
          <p:cNvSpPr>
            <a:spLocks noGrp="1"/>
          </p:cNvSpPr>
          <p:nvPr/>
        </p:nvSpPr>
        <p:spPr>
          <a:xfrm>
            <a:off x="354711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5" name="フリーフォーム: 図形 14">
            <a:extLst>
              <a:ext uri="{FF2B5EF4-FFF2-40B4-BE49-F238E27FC236}">
                <a16:creationId xmlns:a16="http://schemas.microsoft.com/office/drawing/2014/main" id="{97F3E3BF-B21D-4F81-8A7A-F020D4924538}"/>
              </a:ext>
            </a:extLst>
          </p:cNvPr>
          <p:cNvSpPr>
            <a:spLocks noGrp="1"/>
          </p:cNvSpPr>
          <p:nvPr/>
        </p:nvSpPr>
        <p:spPr>
          <a:xfrm>
            <a:off x="425958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6" name="フリーフォーム: 図形 15">
            <a:extLst>
              <a:ext uri="{FF2B5EF4-FFF2-40B4-BE49-F238E27FC236}">
                <a16:creationId xmlns:a16="http://schemas.microsoft.com/office/drawing/2014/main" id="{F2F47918-161E-4B2F-B427-39C6259FDCB2}"/>
              </a:ext>
            </a:extLst>
          </p:cNvPr>
          <p:cNvSpPr>
            <a:spLocks noGrp="1"/>
          </p:cNvSpPr>
          <p:nvPr/>
        </p:nvSpPr>
        <p:spPr>
          <a:xfrm>
            <a:off x="4972050" y="28860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17" name="正方形/長方形 16">
            <a:extLst>
              <a:ext uri="{FF2B5EF4-FFF2-40B4-BE49-F238E27FC236}">
                <a16:creationId xmlns:a16="http://schemas.microsoft.com/office/drawing/2014/main" id="{027AE2B2-913C-485F-B3C6-922BB20A51B2}"/>
              </a:ext>
            </a:extLst>
          </p:cNvPr>
          <p:cNvSpPr>
            <a:spLocks noGrp="1"/>
          </p:cNvSpPr>
          <p:nvPr/>
        </p:nvSpPr>
        <p:spPr>
          <a:xfrm>
            <a:off x="1143000" y="3286125"/>
            <a:ext cx="4095750" cy="447675"/>
          </a:xfrm>
          <a:prstGeom prst="rect">
            <a:avLst/>
          </a:prstGeom>
          <a:solidFill>
            <a:srgbClr val="EBD7B8"/>
          </a:solidFill>
          <a:ln w="9525">
            <a:solidFill>
              <a:srgbClr val="596875"/>
            </a:solidFill>
          </a:ln>
        </p:spPr>
      </p:sp>
      <p:sp>
        <p:nvSpPr>
          <p:cNvPr id="18" name="フリーフォーム: 図形 17">
            <a:extLst>
              <a:ext uri="{FF2B5EF4-FFF2-40B4-BE49-F238E27FC236}">
                <a16:creationId xmlns:a16="http://schemas.microsoft.com/office/drawing/2014/main" id="{6E0588AA-7994-4DD5-B344-3B78EBED46E7}"/>
              </a:ext>
            </a:extLst>
          </p:cNvPr>
          <p:cNvSpPr>
            <a:spLocks noGrp="1"/>
          </p:cNvSpPr>
          <p:nvPr/>
        </p:nvSpPr>
        <p:spPr>
          <a:xfrm>
            <a:off x="1257300" y="344281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19" name="フリーフォーム: 図形 18">
            <a:extLst>
              <a:ext uri="{FF2B5EF4-FFF2-40B4-BE49-F238E27FC236}">
                <a16:creationId xmlns:a16="http://schemas.microsoft.com/office/drawing/2014/main" id="{C1749EBA-F2A8-4E20-B27F-EC804BB8A3B9}"/>
              </a:ext>
            </a:extLst>
          </p:cNvPr>
          <p:cNvSpPr>
            <a:spLocks noGrp="1"/>
          </p:cNvSpPr>
          <p:nvPr/>
        </p:nvSpPr>
        <p:spPr>
          <a:xfrm>
            <a:off x="1257300" y="357711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20" name="正方形/長方形 19">
            <a:extLst>
              <a:ext uri="{FF2B5EF4-FFF2-40B4-BE49-F238E27FC236}">
                <a16:creationId xmlns:a16="http://schemas.microsoft.com/office/drawing/2014/main" id="{F1FEB18F-04B3-4EAE-8EA9-26FCFFA3A793}"/>
              </a:ext>
            </a:extLst>
          </p:cNvPr>
          <p:cNvSpPr>
            <a:spLocks noGrp="1"/>
          </p:cNvSpPr>
          <p:nvPr/>
        </p:nvSpPr>
        <p:spPr>
          <a:xfrm>
            <a:off x="1143000" y="3762375"/>
            <a:ext cx="4095750" cy="447675"/>
          </a:xfrm>
          <a:prstGeom prst="rect">
            <a:avLst/>
          </a:prstGeom>
          <a:solidFill>
            <a:srgbClr val="D6E7F1"/>
          </a:solidFill>
          <a:ln w="9525">
            <a:solidFill>
              <a:srgbClr val="596875"/>
            </a:solidFill>
          </a:ln>
        </p:spPr>
      </p:sp>
      <p:sp>
        <p:nvSpPr>
          <p:cNvPr id="21" name="フリーフォーム: 図形 20">
            <a:extLst>
              <a:ext uri="{FF2B5EF4-FFF2-40B4-BE49-F238E27FC236}">
                <a16:creationId xmlns:a16="http://schemas.microsoft.com/office/drawing/2014/main" id="{35A50C28-FE7D-4D21-93C9-A360C631CCB3}"/>
              </a:ext>
            </a:extLst>
          </p:cNvPr>
          <p:cNvSpPr>
            <a:spLocks noGrp="1"/>
          </p:cNvSpPr>
          <p:nvPr/>
        </p:nvSpPr>
        <p:spPr>
          <a:xfrm>
            <a:off x="140970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2" name="フリーフォーム: 図形 21">
            <a:extLst>
              <a:ext uri="{FF2B5EF4-FFF2-40B4-BE49-F238E27FC236}">
                <a16:creationId xmlns:a16="http://schemas.microsoft.com/office/drawing/2014/main" id="{805036DC-C220-4438-95A8-CA243AEBCDF2}"/>
              </a:ext>
            </a:extLst>
          </p:cNvPr>
          <p:cNvSpPr>
            <a:spLocks noGrp="1"/>
          </p:cNvSpPr>
          <p:nvPr/>
        </p:nvSpPr>
        <p:spPr>
          <a:xfrm>
            <a:off x="212217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3" name="フリーフォーム: 図形 22">
            <a:extLst>
              <a:ext uri="{FF2B5EF4-FFF2-40B4-BE49-F238E27FC236}">
                <a16:creationId xmlns:a16="http://schemas.microsoft.com/office/drawing/2014/main" id="{A2B9C965-FDCC-4840-9FBB-E0C1E4FAE03E}"/>
              </a:ext>
            </a:extLst>
          </p:cNvPr>
          <p:cNvSpPr>
            <a:spLocks noGrp="1"/>
          </p:cNvSpPr>
          <p:nvPr/>
        </p:nvSpPr>
        <p:spPr>
          <a:xfrm>
            <a:off x="283464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4" name="フリーフォーム: 図形 23">
            <a:extLst>
              <a:ext uri="{FF2B5EF4-FFF2-40B4-BE49-F238E27FC236}">
                <a16:creationId xmlns:a16="http://schemas.microsoft.com/office/drawing/2014/main" id="{3EA20BD6-964A-4BBC-B27F-70976A12B5ED}"/>
              </a:ext>
            </a:extLst>
          </p:cNvPr>
          <p:cNvSpPr>
            <a:spLocks noGrp="1"/>
          </p:cNvSpPr>
          <p:nvPr/>
        </p:nvSpPr>
        <p:spPr>
          <a:xfrm>
            <a:off x="354711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5" name="フリーフォーム: 図形 24">
            <a:extLst>
              <a:ext uri="{FF2B5EF4-FFF2-40B4-BE49-F238E27FC236}">
                <a16:creationId xmlns:a16="http://schemas.microsoft.com/office/drawing/2014/main" id="{5A4C2CEE-73D1-441A-B854-752C2A808C69}"/>
              </a:ext>
            </a:extLst>
          </p:cNvPr>
          <p:cNvSpPr>
            <a:spLocks noGrp="1"/>
          </p:cNvSpPr>
          <p:nvPr/>
        </p:nvSpPr>
        <p:spPr>
          <a:xfrm>
            <a:off x="425958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6" name="フリーフォーム: 図形 25">
            <a:extLst>
              <a:ext uri="{FF2B5EF4-FFF2-40B4-BE49-F238E27FC236}">
                <a16:creationId xmlns:a16="http://schemas.microsoft.com/office/drawing/2014/main" id="{7C1FEAEF-6C1C-42C7-8B4F-1C89871F1923}"/>
              </a:ext>
            </a:extLst>
          </p:cNvPr>
          <p:cNvSpPr>
            <a:spLocks noGrp="1"/>
          </p:cNvSpPr>
          <p:nvPr/>
        </p:nvSpPr>
        <p:spPr>
          <a:xfrm>
            <a:off x="4972050" y="383857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27" name="正方形/長方形 26">
            <a:extLst>
              <a:ext uri="{FF2B5EF4-FFF2-40B4-BE49-F238E27FC236}">
                <a16:creationId xmlns:a16="http://schemas.microsoft.com/office/drawing/2014/main" id="{045462A2-8FC5-404A-84D5-F6DA545AAC2A}"/>
              </a:ext>
            </a:extLst>
          </p:cNvPr>
          <p:cNvSpPr>
            <a:spLocks noGrp="1"/>
          </p:cNvSpPr>
          <p:nvPr/>
        </p:nvSpPr>
        <p:spPr>
          <a:xfrm>
            <a:off x="1143000" y="4238625"/>
            <a:ext cx="4095750" cy="447675"/>
          </a:xfrm>
          <a:prstGeom prst="rect">
            <a:avLst/>
          </a:prstGeom>
          <a:solidFill>
            <a:srgbClr val="EBD7B8"/>
          </a:solidFill>
          <a:ln w="9525">
            <a:solidFill>
              <a:srgbClr val="596875"/>
            </a:solidFill>
          </a:ln>
        </p:spPr>
      </p:sp>
      <p:sp>
        <p:nvSpPr>
          <p:cNvPr id="28" name="フリーフォーム: 図形 27">
            <a:extLst>
              <a:ext uri="{FF2B5EF4-FFF2-40B4-BE49-F238E27FC236}">
                <a16:creationId xmlns:a16="http://schemas.microsoft.com/office/drawing/2014/main" id="{3339DB6B-8F3A-445F-9834-0B16810A7EE2}"/>
              </a:ext>
            </a:extLst>
          </p:cNvPr>
          <p:cNvSpPr>
            <a:spLocks noGrp="1"/>
          </p:cNvSpPr>
          <p:nvPr/>
        </p:nvSpPr>
        <p:spPr>
          <a:xfrm>
            <a:off x="1257300" y="439531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29" name="フリーフォーム: 図形 28">
            <a:extLst>
              <a:ext uri="{FF2B5EF4-FFF2-40B4-BE49-F238E27FC236}">
                <a16:creationId xmlns:a16="http://schemas.microsoft.com/office/drawing/2014/main" id="{DE00644B-94C8-4CA7-A258-29252375BDCA}"/>
              </a:ext>
            </a:extLst>
          </p:cNvPr>
          <p:cNvSpPr>
            <a:spLocks noGrp="1"/>
          </p:cNvSpPr>
          <p:nvPr/>
        </p:nvSpPr>
        <p:spPr>
          <a:xfrm>
            <a:off x="1257300" y="452961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30" name="正方形/長方形 29">
            <a:extLst>
              <a:ext uri="{FF2B5EF4-FFF2-40B4-BE49-F238E27FC236}">
                <a16:creationId xmlns:a16="http://schemas.microsoft.com/office/drawing/2014/main" id="{81E4D73B-1027-4488-ADD4-6F0843FE9D67}"/>
              </a:ext>
            </a:extLst>
          </p:cNvPr>
          <p:cNvSpPr>
            <a:spLocks noGrp="1"/>
          </p:cNvSpPr>
          <p:nvPr/>
        </p:nvSpPr>
        <p:spPr>
          <a:xfrm>
            <a:off x="6858000" y="2333625"/>
            <a:ext cx="4095750" cy="447675"/>
          </a:xfrm>
          <a:prstGeom prst="rect">
            <a:avLst/>
          </a:prstGeom>
          <a:solidFill>
            <a:srgbClr val="D6E7F1"/>
          </a:solidFill>
          <a:ln w="9525">
            <a:solidFill>
              <a:srgbClr val="596875"/>
            </a:solidFill>
          </a:ln>
        </p:spPr>
      </p:sp>
      <p:sp>
        <p:nvSpPr>
          <p:cNvPr id="31" name="フリーフォーム: 図形 30">
            <a:extLst>
              <a:ext uri="{FF2B5EF4-FFF2-40B4-BE49-F238E27FC236}">
                <a16:creationId xmlns:a16="http://schemas.microsoft.com/office/drawing/2014/main" id="{4F90ACF3-2EFC-49D8-A6C0-945F82423003}"/>
              </a:ext>
            </a:extLst>
          </p:cNvPr>
          <p:cNvSpPr>
            <a:spLocks noGrp="1"/>
          </p:cNvSpPr>
          <p:nvPr/>
        </p:nvSpPr>
        <p:spPr>
          <a:xfrm>
            <a:off x="712470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2" name="フリーフォーム: 図形 31">
            <a:extLst>
              <a:ext uri="{FF2B5EF4-FFF2-40B4-BE49-F238E27FC236}">
                <a16:creationId xmlns:a16="http://schemas.microsoft.com/office/drawing/2014/main" id="{60A50348-71DA-4EE1-A1E7-985F71289D61}"/>
              </a:ext>
            </a:extLst>
          </p:cNvPr>
          <p:cNvSpPr>
            <a:spLocks noGrp="1"/>
          </p:cNvSpPr>
          <p:nvPr/>
        </p:nvSpPr>
        <p:spPr>
          <a:xfrm>
            <a:off x="783717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3" name="フリーフォーム: 図形 32">
            <a:extLst>
              <a:ext uri="{FF2B5EF4-FFF2-40B4-BE49-F238E27FC236}">
                <a16:creationId xmlns:a16="http://schemas.microsoft.com/office/drawing/2014/main" id="{67020179-8CF5-4877-B957-63ECBC396840}"/>
              </a:ext>
            </a:extLst>
          </p:cNvPr>
          <p:cNvSpPr>
            <a:spLocks noGrp="1"/>
          </p:cNvSpPr>
          <p:nvPr/>
        </p:nvSpPr>
        <p:spPr>
          <a:xfrm>
            <a:off x="854964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4" name="フリーフォーム: 図形 33">
            <a:extLst>
              <a:ext uri="{FF2B5EF4-FFF2-40B4-BE49-F238E27FC236}">
                <a16:creationId xmlns:a16="http://schemas.microsoft.com/office/drawing/2014/main" id="{9FB58E57-4A96-48D5-BB5E-B2F35C2EAB8D}"/>
              </a:ext>
            </a:extLst>
          </p:cNvPr>
          <p:cNvSpPr>
            <a:spLocks noGrp="1"/>
          </p:cNvSpPr>
          <p:nvPr/>
        </p:nvSpPr>
        <p:spPr>
          <a:xfrm>
            <a:off x="926211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5" name="フリーフォーム: 図形 34">
            <a:extLst>
              <a:ext uri="{FF2B5EF4-FFF2-40B4-BE49-F238E27FC236}">
                <a16:creationId xmlns:a16="http://schemas.microsoft.com/office/drawing/2014/main" id="{62CA7988-DCE5-4F92-B96E-22E96DAEC258}"/>
              </a:ext>
            </a:extLst>
          </p:cNvPr>
          <p:cNvSpPr>
            <a:spLocks noGrp="1"/>
          </p:cNvSpPr>
          <p:nvPr/>
        </p:nvSpPr>
        <p:spPr>
          <a:xfrm>
            <a:off x="997458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6" name="フリーフォーム: 図形 35">
            <a:extLst>
              <a:ext uri="{FF2B5EF4-FFF2-40B4-BE49-F238E27FC236}">
                <a16:creationId xmlns:a16="http://schemas.microsoft.com/office/drawing/2014/main" id="{23C670F7-D6C5-4D09-9792-0F60DF555152}"/>
              </a:ext>
            </a:extLst>
          </p:cNvPr>
          <p:cNvSpPr>
            <a:spLocks noGrp="1"/>
          </p:cNvSpPr>
          <p:nvPr/>
        </p:nvSpPr>
        <p:spPr>
          <a:xfrm>
            <a:off x="10687050" y="2409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37" name="正方形/長方形 36">
            <a:extLst>
              <a:ext uri="{FF2B5EF4-FFF2-40B4-BE49-F238E27FC236}">
                <a16:creationId xmlns:a16="http://schemas.microsoft.com/office/drawing/2014/main" id="{2525838F-5FD6-44A7-87A8-1A2194280825}"/>
              </a:ext>
            </a:extLst>
          </p:cNvPr>
          <p:cNvSpPr>
            <a:spLocks noGrp="1"/>
          </p:cNvSpPr>
          <p:nvPr/>
        </p:nvSpPr>
        <p:spPr>
          <a:xfrm>
            <a:off x="6858000" y="2809875"/>
            <a:ext cx="4095750" cy="447675"/>
          </a:xfrm>
          <a:prstGeom prst="rect">
            <a:avLst/>
          </a:prstGeom>
          <a:solidFill>
            <a:srgbClr val="EBD7B8"/>
          </a:solidFill>
          <a:ln w="9525">
            <a:solidFill>
              <a:srgbClr val="596875"/>
            </a:solidFill>
          </a:ln>
        </p:spPr>
      </p:sp>
      <p:sp>
        <p:nvSpPr>
          <p:cNvPr id="38" name="フリーフォーム: 図形 37">
            <a:extLst>
              <a:ext uri="{FF2B5EF4-FFF2-40B4-BE49-F238E27FC236}">
                <a16:creationId xmlns:a16="http://schemas.microsoft.com/office/drawing/2014/main" id="{2B9771B9-C466-4021-AB1E-F6FAC9ABA0C5}"/>
              </a:ext>
            </a:extLst>
          </p:cNvPr>
          <p:cNvSpPr>
            <a:spLocks noGrp="1"/>
          </p:cNvSpPr>
          <p:nvPr/>
        </p:nvSpPr>
        <p:spPr>
          <a:xfrm>
            <a:off x="6972300" y="296656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39" name="フリーフォーム: 図形 38">
            <a:extLst>
              <a:ext uri="{FF2B5EF4-FFF2-40B4-BE49-F238E27FC236}">
                <a16:creationId xmlns:a16="http://schemas.microsoft.com/office/drawing/2014/main" id="{FB80155E-F15D-401E-96B4-22C65E8429CD}"/>
              </a:ext>
            </a:extLst>
          </p:cNvPr>
          <p:cNvSpPr>
            <a:spLocks noGrp="1"/>
          </p:cNvSpPr>
          <p:nvPr/>
        </p:nvSpPr>
        <p:spPr>
          <a:xfrm>
            <a:off x="6972300" y="310086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40" name="正方形/長方形 39">
            <a:extLst>
              <a:ext uri="{FF2B5EF4-FFF2-40B4-BE49-F238E27FC236}">
                <a16:creationId xmlns:a16="http://schemas.microsoft.com/office/drawing/2014/main" id="{3B655DE4-F810-4D4D-9A36-3BB9F3C7B3C4}"/>
              </a:ext>
            </a:extLst>
          </p:cNvPr>
          <p:cNvSpPr>
            <a:spLocks noGrp="1"/>
          </p:cNvSpPr>
          <p:nvPr/>
        </p:nvSpPr>
        <p:spPr>
          <a:xfrm>
            <a:off x="6858000" y="3286125"/>
            <a:ext cx="4095750" cy="447675"/>
          </a:xfrm>
          <a:prstGeom prst="rect">
            <a:avLst/>
          </a:prstGeom>
          <a:solidFill>
            <a:srgbClr val="EBD7B8"/>
          </a:solidFill>
          <a:ln w="9525">
            <a:solidFill>
              <a:srgbClr val="596875"/>
            </a:solidFill>
          </a:ln>
        </p:spPr>
      </p:sp>
      <p:sp>
        <p:nvSpPr>
          <p:cNvPr id="41" name="フリーフォーム: 図形 40">
            <a:extLst>
              <a:ext uri="{FF2B5EF4-FFF2-40B4-BE49-F238E27FC236}">
                <a16:creationId xmlns:a16="http://schemas.microsoft.com/office/drawing/2014/main" id="{C8F85605-D914-43DD-BCBB-6EAB073F0B72}"/>
              </a:ext>
            </a:extLst>
          </p:cNvPr>
          <p:cNvSpPr>
            <a:spLocks noGrp="1"/>
          </p:cNvSpPr>
          <p:nvPr/>
        </p:nvSpPr>
        <p:spPr>
          <a:xfrm>
            <a:off x="6972300" y="344281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42" name="フリーフォーム: 図形 41">
            <a:extLst>
              <a:ext uri="{FF2B5EF4-FFF2-40B4-BE49-F238E27FC236}">
                <a16:creationId xmlns:a16="http://schemas.microsoft.com/office/drawing/2014/main" id="{596EEA7C-E25A-41A8-9082-42C8802FC51C}"/>
              </a:ext>
            </a:extLst>
          </p:cNvPr>
          <p:cNvSpPr>
            <a:spLocks noGrp="1"/>
          </p:cNvSpPr>
          <p:nvPr/>
        </p:nvSpPr>
        <p:spPr>
          <a:xfrm>
            <a:off x="6972300" y="357711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43" name="正方形/長方形 42">
            <a:extLst>
              <a:ext uri="{FF2B5EF4-FFF2-40B4-BE49-F238E27FC236}">
                <a16:creationId xmlns:a16="http://schemas.microsoft.com/office/drawing/2014/main" id="{25173CF8-6CE7-4A65-8C6B-F54CB0FAB1E2}"/>
              </a:ext>
            </a:extLst>
          </p:cNvPr>
          <p:cNvSpPr>
            <a:spLocks noGrp="1"/>
          </p:cNvSpPr>
          <p:nvPr/>
        </p:nvSpPr>
        <p:spPr>
          <a:xfrm>
            <a:off x="6858000" y="3762375"/>
            <a:ext cx="4095750" cy="447675"/>
          </a:xfrm>
          <a:prstGeom prst="rect">
            <a:avLst/>
          </a:prstGeom>
          <a:solidFill>
            <a:srgbClr val="EBD7B8"/>
          </a:solidFill>
          <a:ln w="9525">
            <a:solidFill>
              <a:srgbClr val="596875"/>
            </a:solidFill>
          </a:ln>
        </p:spPr>
      </p:sp>
      <p:sp>
        <p:nvSpPr>
          <p:cNvPr id="44" name="フリーフォーム: 図形 43">
            <a:extLst>
              <a:ext uri="{FF2B5EF4-FFF2-40B4-BE49-F238E27FC236}">
                <a16:creationId xmlns:a16="http://schemas.microsoft.com/office/drawing/2014/main" id="{C39F589A-D1FF-4777-9AFB-0481D3258329}"/>
              </a:ext>
            </a:extLst>
          </p:cNvPr>
          <p:cNvSpPr>
            <a:spLocks noGrp="1"/>
          </p:cNvSpPr>
          <p:nvPr/>
        </p:nvSpPr>
        <p:spPr>
          <a:xfrm>
            <a:off x="6972300" y="3919061"/>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45" name="フリーフォーム: 図形 44">
            <a:extLst>
              <a:ext uri="{FF2B5EF4-FFF2-40B4-BE49-F238E27FC236}">
                <a16:creationId xmlns:a16="http://schemas.microsoft.com/office/drawing/2014/main" id="{420E8A22-057F-4076-9B15-204705CA473C}"/>
              </a:ext>
            </a:extLst>
          </p:cNvPr>
          <p:cNvSpPr>
            <a:spLocks noGrp="1"/>
          </p:cNvSpPr>
          <p:nvPr/>
        </p:nvSpPr>
        <p:spPr>
          <a:xfrm>
            <a:off x="6972300" y="4053364"/>
            <a:ext cx="3867150" cy="9525"/>
          </a:xfrm>
          <a:custGeom>
            <a:avLst/>
            <a:gdLst/>
            <a:ahLst/>
            <a:cxnLst/>
            <a:rect l="0" t="0" r="0" b="0"/>
            <a:pathLst>
              <a:path w="3867150" h="9525">
                <a:moveTo>
                  <a:pt x="0" y="0"/>
                </a:moveTo>
                <a:lnTo>
                  <a:pt x="3867150" y="0"/>
                </a:lnTo>
              </a:path>
            </a:pathLst>
          </a:custGeom>
          <a:noFill/>
          <a:ln w="28575">
            <a:solidFill>
              <a:srgbClr val="D7B78C"/>
            </a:solidFill>
          </a:ln>
        </p:spPr>
      </p:sp>
      <p:sp>
        <p:nvSpPr>
          <p:cNvPr id="46" name="正方形/長方形 45">
            <a:extLst>
              <a:ext uri="{FF2B5EF4-FFF2-40B4-BE49-F238E27FC236}">
                <a16:creationId xmlns:a16="http://schemas.microsoft.com/office/drawing/2014/main" id="{6F64F54C-9165-40E0-803C-61489543BF51}"/>
              </a:ext>
            </a:extLst>
          </p:cNvPr>
          <p:cNvSpPr>
            <a:spLocks noGrp="1"/>
          </p:cNvSpPr>
          <p:nvPr/>
        </p:nvSpPr>
        <p:spPr>
          <a:xfrm>
            <a:off x="6858000" y="4238625"/>
            <a:ext cx="4095750" cy="447675"/>
          </a:xfrm>
          <a:prstGeom prst="rect">
            <a:avLst/>
          </a:prstGeom>
          <a:solidFill>
            <a:srgbClr val="D6E7F1"/>
          </a:solidFill>
          <a:ln w="9525">
            <a:solidFill>
              <a:srgbClr val="596875"/>
            </a:solidFill>
          </a:ln>
        </p:spPr>
      </p:sp>
      <p:sp>
        <p:nvSpPr>
          <p:cNvPr id="47" name="フリーフォーム: 図形 46">
            <a:extLst>
              <a:ext uri="{FF2B5EF4-FFF2-40B4-BE49-F238E27FC236}">
                <a16:creationId xmlns:a16="http://schemas.microsoft.com/office/drawing/2014/main" id="{E7BE8C47-F8E4-4317-83C0-6045F4A6B336}"/>
              </a:ext>
            </a:extLst>
          </p:cNvPr>
          <p:cNvSpPr>
            <a:spLocks noGrp="1"/>
          </p:cNvSpPr>
          <p:nvPr/>
        </p:nvSpPr>
        <p:spPr>
          <a:xfrm>
            <a:off x="712470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48" name="フリーフォーム: 図形 47">
            <a:extLst>
              <a:ext uri="{FF2B5EF4-FFF2-40B4-BE49-F238E27FC236}">
                <a16:creationId xmlns:a16="http://schemas.microsoft.com/office/drawing/2014/main" id="{7192C90E-4E5F-4752-8FAB-4BDB1FFE4C72}"/>
              </a:ext>
            </a:extLst>
          </p:cNvPr>
          <p:cNvSpPr>
            <a:spLocks noGrp="1"/>
          </p:cNvSpPr>
          <p:nvPr/>
        </p:nvSpPr>
        <p:spPr>
          <a:xfrm>
            <a:off x="783717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49" name="フリーフォーム: 図形 48">
            <a:extLst>
              <a:ext uri="{FF2B5EF4-FFF2-40B4-BE49-F238E27FC236}">
                <a16:creationId xmlns:a16="http://schemas.microsoft.com/office/drawing/2014/main" id="{38FCE068-B752-486D-A8EB-75C726C5EB12}"/>
              </a:ext>
            </a:extLst>
          </p:cNvPr>
          <p:cNvSpPr>
            <a:spLocks noGrp="1"/>
          </p:cNvSpPr>
          <p:nvPr/>
        </p:nvSpPr>
        <p:spPr>
          <a:xfrm>
            <a:off x="854964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50" name="フリーフォーム: 図形 49">
            <a:extLst>
              <a:ext uri="{FF2B5EF4-FFF2-40B4-BE49-F238E27FC236}">
                <a16:creationId xmlns:a16="http://schemas.microsoft.com/office/drawing/2014/main" id="{34972A7D-21D0-4F2F-9CD2-DC810AAA4819}"/>
              </a:ext>
            </a:extLst>
          </p:cNvPr>
          <p:cNvSpPr>
            <a:spLocks noGrp="1"/>
          </p:cNvSpPr>
          <p:nvPr/>
        </p:nvSpPr>
        <p:spPr>
          <a:xfrm>
            <a:off x="926211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51" name="フリーフォーム: 図形 50">
            <a:extLst>
              <a:ext uri="{FF2B5EF4-FFF2-40B4-BE49-F238E27FC236}">
                <a16:creationId xmlns:a16="http://schemas.microsoft.com/office/drawing/2014/main" id="{E7313729-095F-4685-844F-61D095DD595E}"/>
              </a:ext>
            </a:extLst>
          </p:cNvPr>
          <p:cNvSpPr>
            <a:spLocks noGrp="1"/>
          </p:cNvSpPr>
          <p:nvPr/>
        </p:nvSpPr>
        <p:spPr>
          <a:xfrm>
            <a:off x="997458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52" name="フリーフォーム: 図形 51">
            <a:extLst>
              <a:ext uri="{FF2B5EF4-FFF2-40B4-BE49-F238E27FC236}">
                <a16:creationId xmlns:a16="http://schemas.microsoft.com/office/drawing/2014/main" id="{FC7CBAFB-E87C-450A-A025-647840F7505E}"/>
              </a:ext>
            </a:extLst>
          </p:cNvPr>
          <p:cNvSpPr>
            <a:spLocks noGrp="1"/>
          </p:cNvSpPr>
          <p:nvPr/>
        </p:nvSpPr>
        <p:spPr>
          <a:xfrm>
            <a:off x="10687050" y="4314825"/>
            <a:ext cx="9525" cy="295275"/>
          </a:xfrm>
          <a:custGeom>
            <a:avLst/>
            <a:gdLst/>
            <a:ahLst/>
            <a:cxnLst/>
            <a:rect l="0" t="0" r="0" b="0"/>
            <a:pathLst>
              <a:path w="9525" h="295275">
                <a:moveTo>
                  <a:pt x="0" y="0"/>
                </a:moveTo>
                <a:lnTo>
                  <a:pt x="0" y="295275"/>
                </a:lnTo>
              </a:path>
            </a:pathLst>
          </a:custGeom>
          <a:noFill/>
          <a:ln w="28575">
            <a:solidFill>
              <a:srgbClr val="2876A8"/>
            </a:solidFill>
          </a:ln>
        </p:spPr>
      </p:sp>
      <p:sp>
        <p:nvSpPr>
          <p:cNvPr id="53" name="正方形/長方形 52">
            <a:extLst>
              <a:ext uri="{FF2B5EF4-FFF2-40B4-BE49-F238E27FC236}">
                <a16:creationId xmlns:a16="http://schemas.microsoft.com/office/drawing/2014/main" id="{48151959-77D4-4077-AA73-9CE86C868139}"/>
              </a:ext>
            </a:extLst>
          </p:cNvPr>
          <p:cNvSpPr>
            <a:spLocks noGrp="1"/>
          </p:cNvSpPr>
          <p:nvPr/>
        </p:nvSpPr>
        <p:spPr>
          <a:xfrm>
            <a:off x="838200" y="5038725"/>
            <a:ext cx="10477500" cy="571500"/>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全厚も、各向きの合計厚さも同じ。E引張は同じ6.2 GPa。</a:t>
            </a:r>
          </a:p>
        </p:txBody>
      </p:sp>
      <p:sp>
        <p:nvSpPr>
          <p:cNvPr id="54" name="正方形/長方形 53">
            <a:extLst>
              <a:ext uri="{FF2B5EF4-FFF2-40B4-BE49-F238E27FC236}">
                <a16:creationId xmlns:a16="http://schemas.microsoft.com/office/drawing/2014/main" id="{915F5E42-01C1-4CEB-BBD9-13C76D8F02B2}"/>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A・Cは対称な説明モデル。各層2 mm、0°層計6 mm、90°層計4 mm。</a:t>
            </a:r>
          </a:p>
        </p:txBody>
      </p:sp>
    </p:spTree>
    <p:extLst>
      <p:ext uri="{BB962C8B-B14F-4D97-AF65-F5344CB8AC3E}">
        <p14:creationId xmlns:p14="http://schemas.microsoft.com/office/powerpoint/2010/main" val="2637494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正方形/長方形 43">
            <a:extLst>
              <a:ext uri="{FF2B5EF4-FFF2-40B4-BE49-F238E27FC236}">
                <a16:creationId xmlns:a16="http://schemas.microsoft.com/office/drawing/2014/main" id="{470C8C1E-239D-46F2-8C70-4CF4D8EA286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層の位置を、断面二次モーメントへ</a:t>
            </a:r>
          </a:p>
        </p:txBody>
      </p:sp>
      <p:sp>
        <p:nvSpPr>
          <p:cNvPr id="2" name="正方形/長方形 1">
            <a:extLst>
              <a:ext uri="{FF2B5EF4-FFF2-40B4-BE49-F238E27FC236}">
                <a16:creationId xmlns:a16="http://schemas.microsoft.com/office/drawing/2014/main" id="{7AB207EF-1484-4698-B9D7-572DFC68F02F}"/>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7C4B3B9-72A0-4953-95B6-DD81E71A56E0}"/>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0CF50FE6-A11F-4AD7-A027-6E0DF25780F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44FCED5-45A3-4A0E-8CF3-2EF5FD7D6761}"/>
              </a:ext>
            </a:extLst>
          </p:cNvPr>
          <p:cNvSpPr>
            <a:spLocks noGrp="1"/>
          </p:cNvSpPr>
          <p:nvPr/>
        </p:nvSpPr>
        <p:spPr>
          <a:xfrm>
            <a:off x="838200" y="1504950"/>
            <a:ext cx="157353"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I</a:t>
            </a:r>
          </a:p>
        </p:txBody>
      </p:sp>
      <p:sp>
        <p:nvSpPr>
          <p:cNvPr id="6" name="正方形/長方形 5">
            <a:extLst>
              <a:ext uri="{FF2B5EF4-FFF2-40B4-BE49-F238E27FC236}">
                <a16:creationId xmlns:a16="http://schemas.microsoft.com/office/drawing/2014/main" id="{86D9C49C-7059-4A55-9539-362B582BF979}"/>
              </a:ext>
            </a:extLst>
          </p:cNvPr>
          <p:cNvSpPr>
            <a:spLocks noGrp="1"/>
          </p:cNvSpPr>
          <p:nvPr/>
        </p:nvSpPr>
        <p:spPr>
          <a:xfrm>
            <a:off x="947928" y="1635252"/>
            <a:ext cx="109278" cy="619125"/>
          </a:xfrm>
          <a:prstGeom prst="rect">
            <a:avLst/>
          </a:prstGeom>
          <a:noFill/>
          <a:ln w="0">
            <a:noFill/>
          </a:ln>
        </p:spPr>
        <p:txBody>
          <a:bodyPr lIns="0" tIns="0" rIns="0" bIns="0" anchor="ctr">
            <a:noAutofit/>
          </a:bodyPr>
          <a:lstStyle>
            <a:defPPr>
              <a:defRPr sz="1674" b="1">
                <a:solidFill>
                  <a:srgbClr val="18364F"/>
                </a:solidFill>
                <a:latin typeface="Yu Gothic"/>
                <a:ea typeface="Yu Gothic"/>
                <a:cs typeface="Yu Gothic"/>
              </a:defRPr>
            </a:defPPr>
            <a:lvl1pPr>
              <a:defRPr sz="1674" b="1">
                <a:solidFill>
                  <a:srgbClr val="18364F"/>
                </a:solidFill>
                <a:latin typeface="Yu Gothic"/>
                <a:ea typeface="Yu Gothic"/>
                <a:cs typeface="Yu Gothic"/>
              </a:defRPr>
            </a:lvl1pPr>
            <a:lvl2pPr>
              <a:defRPr sz="1674" b="1">
                <a:solidFill>
                  <a:srgbClr val="18364F"/>
                </a:solidFill>
                <a:latin typeface="Yu Gothic"/>
                <a:ea typeface="Yu Gothic"/>
                <a:cs typeface="Yu Gothic"/>
              </a:defRPr>
            </a:lvl2pPr>
            <a:lvl3pPr>
              <a:defRPr sz="1674" b="1">
                <a:solidFill>
                  <a:srgbClr val="18364F"/>
                </a:solidFill>
                <a:latin typeface="Yu Gothic"/>
                <a:ea typeface="Yu Gothic"/>
                <a:cs typeface="Yu Gothic"/>
              </a:defRPr>
            </a:lvl3pPr>
            <a:lvl4pPr>
              <a:defRPr sz="1674" b="1">
                <a:solidFill>
                  <a:srgbClr val="18364F"/>
                </a:solidFill>
                <a:latin typeface="Yu Gothic"/>
                <a:ea typeface="Yu Gothic"/>
                <a:cs typeface="Yu Gothic"/>
              </a:defRPr>
            </a:lvl4pPr>
            <a:lvl5pPr>
              <a:defRPr sz="1674" b="1">
                <a:solidFill>
                  <a:srgbClr val="18364F"/>
                </a:solidFill>
                <a:latin typeface="Yu Gothic"/>
                <a:ea typeface="Yu Gothic"/>
                <a:cs typeface="Yu Gothic"/>
              </a:defRPr>
            </a:lvl5pPr>
            <a:lvl6pPr>
              <a:defRPr sz="1674" b="1">
                <a:solidFill>
                  <a:srgbClr val="18364F"/>
                </a:solidFill>
                <a:latin typeface="Yu Gothic"/>
                <a:ea typeface="Yu Gothic"/>
                <a:cs typeface="Yu Gothic"/>
              </a:defRPr>
            </a:lvl6pPr>
            <a:lvl7pPr>
              <a:defRPr sz="1674" b="1">
                <a:solidFill>
                  <a:srgbClr val="18364F"/>
                </a:solidFill>
                <a:latin typeface="Yu Gothic"/>
                <a:ea typeface="Yu Gothic"/>
                <a:cs typeface="Yu Gothic"/>
              </a:defRPr>
            </a:lvl7pPr>
            <a:lvl8pPr>
              <a:defRPr sz="1674" b="1">
                <a:solidFill>
                  <a:srgbClr val="18364F"/>
                </a:solidFill>
                <a:latin typeface="Yu Gothic"/>
                <a:ea typeface="Yu Gothic"/>
                <a:cs typeface="Yu Gothic"/>
              </a:defRPr>
            </a:lvl8pPr>
            <a:lvl9pPr>
              <a:defRPr sz="1674" b="1">
                <a:solidFill>
                  <a:srgbClr val="18364F"/>
                </a:solidFill>
                <a:latin typeface="Yu Gothic"/>
                <a:ea typeface="Yu Gothic"/>
                <a:cs typeface="Yu Gothic"/>
              </a:defRPr>
            </a:lvl9pPr>
          </a:lstStyle>
          <a:p>
            <a:pPr>
              <a:defRPr sz="1674" b="1">
                <a:solidFill>
                  <a:srgbClr val="18364F"/>
                </a:solidFill>
                <a:latin typeface="Yu Gothic"/>
                <a:ea typeface="Yu Gothic"/>
                <a:cs typeface="Yu Gothic"/>
              </a:defRPr>
            </a:pPr>
            <a:r>
              <a:rPr sz="1674" b="1">
                <a:solidFill>
                  <a:srgbClr val="18364F"/>
                </a:solidFill>
                <a:latin typeface="Yu Gothic"/>
                <a:ea typeface="Yu Gothic"/>
                <a:cs typeface="Yu Gothic"/>
              </a:rPr>
              <a:t>i</a:t>
            </a:r>
          </a:p>
        </p:txBody>
      </p:sp>
      <p:sp>
        <p:nvSpPr>
          <p:cNvPr id="7" name="正方形/長方形 6">
            <a:extLst>
              <a:ext uri="{FF2B5EF4-FFF2-40B4-BE49-F238E27FC236}">
                <a16:creationId xmlns:a16="http://schemas.microsoft.com/office/drawing/2014/main" id="{0A471487-A28C-44A9-857B-0331C0BCF9F2}"/>
              </a:ext>
            </a:extLst>
          </p:cNvPr>
          <p:cNvSpPr>
            <a:spLocks noGrp="1"/>
          </p:cNvSpPr>
          <p:nvPr/>
        </p:nvSpPr>
        <p:spPr>
          <a:xfrm>
            <a:off x="1009581" y="1504950"/>
            <a:ext cx="609981"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 = I</a:t>
            </a:r>
          </a:p>
        </p:txBody>
      </p:sp>
      <p:sp>
        <p:nvSpPr>
          <p:cNvPr id="8" name="正方形/長方形 7">
            <a:extLst>
              <a:ext uri="{FF2B5EF4-FFF2-40B4-BE49-F238E27FC236}">
                <a16:creationId xmlns:a16="http://schemas.microsoft.com/office/drawing/2014/main" id="{0186B5F4-0B52-48EF-9026-B1A0640E9EE0}"/>
              </a:ext>
            </a:extLst>
          </p:cNvPr>
          <p:cNvSpPr>
            <a:spLocks noGrp="1"/>
          </p:cNvSpPr>
          <p:nvPr/>
        </p:nvSpPr>
        <p:spPr>
          <a:xfrm>
            <a:off x="1571937" y="1635252"/>
            <a:ext cx="164554" cy="619125"/>
          </a:xfrm>
          <a:prstGeom prst="rect">
            <a:avLst/>
          </a:prstGeom>
          <a:noFill/>
          <a:ln w="0">
            <a:noFill/>
          </a:ln>
        </p:spPr>
        <p:txBody>
          <a:bodyPr lIns="0" tIns="0" rIns="0" bIns="0" anchor="ctr">
            <a:noAutofit/>
          </a:bodyPr>
          <a:lstStyle>
            <a:defPPr>
              <a:defRPr sz="1674" b="1">
                <a:solidFill>
                  <a:srgbClr val="18364F"/>
                </a:solidFill>
                <a:latin typeface="Yu Gothic"/>
                <a:ea typeface="Yu Gothic"/>
                <a:cs typeface="Yu Gothic"/>
              </a:defRPr>
            </a:defPPr>
            <a:lvl1pPr>
              <a:defRPr sz="1674" b="1">
                <a:solidFill>
                  <a:srgbClr val="18364F"/>
                </a:solidFill>
                <a:latin typeface="Yu Gothic"/>
                <a:ea typeface="Yu Gothic"/>
                <a:cs typeface="Yu Gothic"/>
              </a:defRPr>
            </a:lvl1pPr>
            <a:lvl2pPr>
              <a:defRPr sz="1674" b="1">
                <a:solidFill>
                  <a:srgbClr val="18364F"/>
                </a:solidFill>
                <a:latin typeface="Yu Gothic"/>
                <a:ea typeface="Yu Gothic"/>
                <a:cs typeface="Yu Gothic"/>
              </a:defRPr>
            </a:lvl2pPr>
            <a:lvl3pPr>
              <a:defRPr sz="1674" b="1">
                <a:solidFill>
                  <a:srgbClr val="18364F"/>
                </a:solidFill>
                <a:latin typeface="Yu Gothic"/>
                <a:ea typeface="Yu Gothic"/>
                <a:cs typeface="Yu Gothic"/>
              </a:defRPr>
            </a:lvl3pPr>
            <a:lvl4pPr>
              <a:defRPr sz="1674" b="1">
                <a:solidFill>
                  <a:srgbClr val="18364F"/>
                </a:solidFill>
                <a:latin typeface="Yu Gothic"/>
                <a:ea typeface="Yu Gothic"/>
                <a:cs typeface="Yu Gothic"/>
              </a:defRPr>
            </a:lvl4pPr>
            <a:lvl5pPr>
              <a:defRPr sz="1674" b="1">
                <a:solidFill>
                  <a:srgbClr val="18364F"/>
                </a:solidFill>
                <a:latin typeface="Yu Gothic"/>
                <a:ea typeface="Yu Gothic"/>
                <a:cs typeface="Yu Gothic"/>
              </a:defRPr>
            </a:lvl5pPr>
            <a:lvl6pPr>
              <a:defRPr sz="1674" b="1">
                <a:solidFill>
                  <a:srgbClr val="18364F"/>
                </a:solidFill>
                <a:latin typeface="Yu Gothic"/>
                <a:ea typeface="Yu Gothic"/>
                <a:cs typeface="Yu Gothic"/>
              </a:defRPr>
            </a:lvl6pPr>
            <a:lvl7pPr>
              <a:defRPr sz="1674" b="1">
                <a:solidFill>
                  <a:srgbClr val="18364F"/>
                </a:solidFill>
                <a:latin typeface="Yu Gothic"/>
                <a:ea typeface="Yu Gothic"/>
                <a:cs typeface="Yu Gothic"/>
              </a:defRPr>
            </a:lvl7pPr>
            <a:lvl8pPr>
              <a:defRPr sz="1674" b="1">
                <a:solidFill>
                  <a:srgbClr val="18364F"/>
                </a:solidFill>
                <a:latin typeface="Yu Gothic"/>
                <a:ea typeface="Yu Gothic"/>
                <a:cs typeface="Yu Gothic"/>
              </a:defRPr>
            </a:lvl8pPr>
            <a:lvl9pPr>
              <a:defRPr sz="1674" b="1">
                <a:solidFill>
                  <a:srgbClr val="18364F"/>
                </a:solidFill>
                <a:latin typeface="Yu Gothic"/>
                <a:ea typeface="Yu Gothic"/>
                <a:cs typeface="Yu Gothic"/>
              </a:defRPr>
            </a:lvl9pPr>
          </a:lstStyle>
          <a:p>
            <a:pPr>
              <a:defRPr sz="1674" b="1">
                <a:solidFill>
                  <a:srgbClr val="18364F"/>
                </a:solidFill>
                <a:latin typeface="Yu Gothic"/>
                <a:ea typeface="Yu Gothic"/>
                <a:cs typeface="Yu Gothic"/>
              </a:defRPr>
            </a:pPr>
            <a:r>
              <a:rPr sz="1674" b="1">
                <a:solidFill>
                  <a:srgbClr val="18364F"/>
                </a:solidFill>
                <a:latin typeface="Yu Gothic"/>
                <a:ea typeface="Yu Gothic"/>
                <a:cs typeface="Yu Gothic"/>
              </a:rPr>
              <a:t>c</a:t>
            </a:r>
          </a:p>
        </p:txBody>
      </p:sp>
      <p:sp>
        <p:nvSpPr>
          <p:cNvPr id="9" name="正方形/長方形 8">
            <a:extLst>
              <a:ext uri="{FF2B5EF4-FFF2-40B4-BE49-F238E27FC236}">
                <a16:creationId xmlns:a16="http://schemas.microsoft.com/office/drawing/2014/main" id="{4CBC5BB4-6EC2-4D1F-B466-1976113B2320}"/>
              </a:ext>
            </a:extLst>
          </p:cNvPr>
          <p:cNvSpPr>
            <a:spLocks noGrp="1"/>
          </p:cNvSpPr>
          <p:nvPr/>
        </p:nvSpPr>
        <p:spPr>
          <a:xfrm>
            <a:off x="1688866" y="1504950"/>
            <a:ext cx="736854"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 + A</a:t>
            </a:r>
          </a:p>
        </p:txBody>
      </p:sp>
      <p:sp>
        <p:nvSpPr>
          <p:cNvPr id="10" name="正方形/長方形 9">
            <a:extLst>
              <a:ext uri="{FF2B5EF4-FFF2-40B4-BE49-F238E27FC236}">
                <a16:creationId xmlns:a16="http://schemas.microsoft.com/office/drawing/2014/main" id="{1226770D-C9E3-4824-A8E9-CB4AB8C5915A}"/>
              </a:ext>
            </a:extLst>
          </p:cNvPr>
          <p:cNvSpPr>
            <a:spLocks noGrp="1"/>
          </p:cNvSpPr>
          <p:nvPr/>
        </p:nvSpPr>
        <p:spPr>
          <a:xfrm>
            <a:off x="2378095" y="1635252"/>
            <a:ext cx="109278" cy="619125"/>
          </a:xfrm>
          <a:prstGeom prst="rect">
            <a:avLst/>
          </a:prstGeom>
          <a:noFill/>
          <a:ln w="0">
            <a:noFill/>
          </a:ln>
        </p:spPr>
        <p:txBody>
          <a:bodyPr lIns="0" tIns="0" rIns="0" bIns="0" anchor="ctr">
            <a:noAutofit/>
          </a:bodyPr>
          <a:lstStyle>
            <a:defPPr>
              <a:defRPr sz="1674" b="1">
                <a:solidFill>
                  <a:srgbClr val="18364F"/>
                </a:solidFill>
                <a:latin typeface="Yu Gothic"/>
                <a:ea typeface="Yu Gothic"/>
                <a:cs typeface="Yu Gothic"/>
              </a:defRPr>
            </a:defPPr>
            <a:lvl1pPr>
              <a:defRPr sz="1674" b="1">
                <a:solidFill>
                  <a:srgbClr val="18364F"/>
                </a:solidFill>
                <a:latin typeface="Yu Gothic"/>
                <a:ea typeface="Yu Gothic"/>
                <a:cs typeface="Yu Gothic"/>
              </a:defRPr>
            </a:lvl1pPr>
            <a:lvl2pPr>
              <a:defRPr sz="1674" b="1">
                <a:solidFill>
                  <a:srgbClr val="18364F"/>
                </a:solidFill>
                <a:latin typeface="Yu Gothic"/>
                <a:ea typeface="Yu Gothic"/>
                <a:cs typeface="Yu Gothic"/>
              </a:defRPr>
            </a:lvl2pPr>
            <a:lvl3pPr>
              <a:defRPr sz="1674" b="1">
                <a:solidFill>
                  <a:srgbClr val="18364F"/>
                </a:solidFill>
                <a:latin typeface="Yu Gothic"/>
                <a:ea typeface="Yu Gothic"/>
                <a:cs typeface="Yu Gothic"/>
              </a:defRPr>
            </a:lvl3pPr>
            <a:lvl4pPr>
              <a:defRPr sz="1674" b="1">
                <a:solidFill>
                  <a:srgbClr val="18364F"/>
                </a:solidFill>
                <a:latin typeface="Yu Gothic"/>
                <a:ea typeface="Yu Gothic"/>
                <a:cs typeface="Yu Gothic"/>
              </a:defRPr>
            </a:lvl4pPr>
            <a:lvl5pPr>
              <a:defRPr sz="1674" b="1">
                <a:solidFill>
                  <a:srgbClr val="18364F"/>
                </a:solidFill>
                <a:latin typeface="Yu Gothic"/>
                <a:ea typeface="Yu Gothic"/>
                <a:cs typeface="Yu Gothic"/>
              </a:defRPr>
            </a:lvl5pPr>
            <a:lvl6pPr>
              <a:defRPr sz="1674" b="1">
                <a:solidFill>
                  <a:srgbClr val="18364F"/>
                </a:solidFill>
                <a:latin typeface="Yu Gothic"/>
                <a:ea typeface="Yu Gothic"/>
                <a:cs typeface="Yu Gothic"/>
              </a:defRPr>
            </a:lvl6pPr>
            <a:lvl7pPr>
              <a:defRPr sz="1674" b="1">
                <a:solidFill>
                  <a:srgbClr val="18364F"/>
                </a:solidFill>
                <a:latin typeface="Yu Gothic"/>
                <a:ea typeface="Yu Gothic"/>
                <a:cs typeface="Yu Gothic"/>
              </a:defRPr>
            </a:lvl7pPr>
            <a:lvl8pPr>
              <a:defRPr sz="1674" b="1">
                <a:solidFill>
                  <a:srgbClr val="18364F"/>
                </a:solidFill>
                <a:latin typeface="Yu Gothic"/>
                <a:ea typeface="Yu Gothic"/>
                <a:cs typeface="Yu Gothic"/>
              </a:defRPr>
            </a:lvl8pPr>
            <a:lvl9pPr>
              <a:defRPr sz="1674" b="1">
                <a:solidFill>
                  <a:srgbClr val="18364F"/>
                </a:solidFill>
                <a:latin typeface="Yu Gothic"/>
                <a:ea typeface="Yu Gothic"/>
                <a:cs typeface="Yu Gothic"/>
              </a:defRPr>
            </a:lvl9pPr>
          </a:lstStyle>
          <a:p>
            <a:pPr>
              <a:defRPr sz="1674" b="1">
                <a:solidFill>
                  <a:srgbClr val="18364F"/>
                </a:solidFill>
                <a:latin typeface="Yu Gothic"/>
                <a:ea typeface="Yu Gothic"/>
                <a:cs typeface="Yu Gothic"/>
              </a:defRPr>
            </a:pPr>
            <a:r>
              <a:rPr sz="1674" b="1">
                <a:solidFill>
                  <a:srgbClr val="18364F"/>
                </a:solidFill>
                <a:latin typeface="Yu Gothic"/>
                <a:ea typeface="Yu Gothic"/>
                <a:cs typeface="Yu Gothic"/>
              </a:rPr>
              <a:t>i</a:t>
            </a:r>
          </a:p>
        </p:txBody>
      </p:sp>
      <p:sp>
        <p:nvSpPr>
          <p:cNvPr id="11" name="正方形/長方形 10">
            <a:extLst>
              <a:ext uri="{FF2B5EF4-FFF2-40B4-BE49-F238E27FC236}">
                <a16:creationId xmlns:a16="http://schemas.microsoft.com/office/drawing/2014/main" id="{599CACE3-6582-4708-AE02-B5BE9F5FDE8E}"/>
              </a:ext>
            </a:extLst>
          </p:cNvPr>
          <p:cNvSpPr>
            <a:spLocks noGrp="1"/>
          </p:cNvSpPr>
          <p:nvPr/>
        </p:nvSpPr>
        <p:spPr>
          <a:xfrm>
            <a:off x="2439749" y="1504950"/>
            <a:ext cx="311658"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 z</a:t>
            </a:r>
          </a:p>
        </p:txBody>
      </p:sp>
      <p:sp>
        <p:nvSpPr>
          <p:cNvPr id="12" name="正方形/長方形 11">
            <a:extLst>
              <a:ext uri="{FF2B5EF4-FFF2-40B4-BE49-F238E27FC236}">
                <a16:creationId xmlns:a16="http://schemas.microsoft.com/office/drawing/2014/main" id="{7A78F48F-D552-4A5A-BD10-C14AD7878434}"/>
              </a:ext>
            </a:extLst>
          </p:cNvPr>
          <p:cNvSpPr>
            <a:spLocks noGrp="1"/>
          </p:cNvSpPr>
          <p:nvPr/>
        </p:nvSpPr>
        <p:spPr>
          <a:xfrm>
            <a:off x="2703782" y="1635252"/>
            <a:ext cx="109278" cy="619125"/>
          </a:xfrm>
          <a:prstGeom prst="rect">
            <a:avLst/>
          </a:prstGeom>
          <a:noFill/>
          <a:ln w="0">
            <a:noFill/>
          </a:ln>
        </p:spPr>
        <p:txBody>
          <a:bodyPr lIns="0" tIns="0" rIns="0" bIns="0" anchor="ctr">
            <a:noAutofit/>
          </a:bodyPr>
          <a:lstStyle>
            <a:defPPr>
              <a:defRPr sz="1674" b="1">
                <a:solidFill>
                  <a:srgbClr val="18364F"/>
                </a:solidFill>
                <a:latin typeface="Yu Gothic"/>
                <a:ea typeface="Yu Gothic"/>
                <a:cs typeface="Yu Gothic"/>
              </a:defRPr>
            </a:defPPr>
            <a:lvl1pPr>
              <a:defRPr sz="1674" b="1">
                <a:solidFill>
                  <a:srgbClr val="18364F"/>
                </a:solidFill>
                <a:latin typeface="Yu Gothic"/>
                <a:ea typeface="Yu Gothic"/>
                <a:cs typeface="Yu Gothic"/>
              </a:defRPr>
            </a:lvl1pPr>
            <a:lvl2pPr>
              <a:defRPr sz="1674" b="1">
                <a:solidFill>
                  <a:srgbClr val="18364F"/>
                </a:solidFill>
                <a:latin typeface="Yu Gothic"/>
                <a:ea typeface="Yu Gothic"/>
                <a:cs typeface="Yu Gothic"/>
              </a:defRPr>
            </a:lvl2pPr>
            <a:lvl3pPr>
              <a:defRPr sz="1674" b="1">
                <a:solidFill>
                  <a:srgbClr val="18364F"/>
                </a:solidFill>
                <a:latin typeface="Yu Gothic"/>
                <a:ea typeface="Yu Gothic"/>
                <a:cs typeface="Yu Gothic"/>
              </a:defRPr>
            </a:lvl3pPr>
            <a:lvl4pPr>
              <a:defRPr sz="1674" b="1">
                <a:solidFill>
                  <a:srgbClr val="18364F"/>
                </a:solidFill>
                <a:latin typeface="Yu Gothic"/>
                <a:ea typeface="Yu Gothic"/>
                <a:cs typeface="Yu Gothic"/>
              </a:defRPr>
            </a:lvl4pPr>
            <a:lvl5pPr>
              <a:defRPr sz="1674" b="1">
                <a:solidFill>
                  <a:srgbClr val="18364F"/>
                </a:solidFill>
                <a:latin typeface="Yu Gothic"/>
                <a:ea typeface="Yu Gothic"/>
                <a:cs typeface="Yu Gothic"/>
              </a:defRPr>
            </a:lvl5pPr>
            <a:lvl6pPr>
              <a:defRPr sz="1674" b="1">
                <a:solidFill>
                  <a:srgbClr val="18364F"/>
                </a:solidFill>
                <a:latin typeface="Yu Gothic"/>
                <a:ea typeface="Yu Gothic"/>
                <a:cs typeface="Yu Gothic"/>
              </a:defRPr>
            </a:lvl6pPr>
            <a:lvl7pPr>
              <a:defRPr sz="1674" b="1">
                <a:solidFill>
                  <a:srgbClr val="18364F"/>
                </a:solidFill>
                <a:latin typeface="Yu Gothic"/>
                <a:ea typeface="Yu Gothic"/>
                <a:cs typeface="Yu Gothic"/>
              </a:defRPr>
            </a:lvl7pPr>
            <a:lvl8pPr>
              <a:defRPr sz="1674" b="1">
                <a:solidFill>
                  <a:srgbClr val="18364F"/>
                </a:solidFill>
                <a:latin typeface="Yu Gothic"/>
                <a:ea typeface="Yu Gothic"/>
                <a:cs typeface="Yu Gothic"/>
              </a:defRPr>
            </a:lvl8pPr>
            <a:lvl9pPr>
              <a:defRPr sz="1674" b="1">
                <a:solidFill>
                  <a:srgbClr val="18364F"/>
                </a:solidFill>
                <a:latin typeface="Yu Gothic"/>
                <a:ea typeface="Yu Gothic"/>
                <a:cs typeface="Yu Gothic"/>
              </a:defRPr>
            </a:lvl9pPr>
          </a:lstStyle>
          <a:p>
            <a:pPr>
              <a:defRPr sz="1674" b="1">
                <a:solidFill>
                  <a:srgbClr val="18364F"/>
                </a:solidFill>
                <a:latin typeface="Yu Gothic"/>
                <a:ea typeface="Yu Gothic"/>
                <a:cs typeface="Yu Gothic"/>
              </a:defRPr>
            </a:pPr>
            <a:r>
              <a:rPr sz="1674" b="1">
                <a:solidFill>
                  <a:srgbClr val="18364F"/>
                </a:solidFill>
                <a:latin typeface="Yu Gothic"/>
                <a:ea typeface="Yu Gothic"/>
                <a:cs typeface="Yu Gothic"/>
              </a:rPr>
              <a:t>i</a:t>
            </a:r>
          </a:p>
        </p:txBody>
      </p:sp>
      <p:sp>
        <p:nvSpPr>
          <p:cNvPr id="13" name="正方形/長方形 12">
            <a:extLst>
              <a:ext uri="{FF2B5EF4-FFF2-40B4-BE49-F238E27FC236}">
                <a16:creationId xmlns:a16="http://schemas.microsoft.com/office/drawing/2014/main" id="{9BEA372B-9919-4B18-824D-046883A50006}"/>
              </a:ext>
            </a:extLst>
          </p:cNvPr>
          <p:cNvSpPr>
            <a:spLocks noGrp="1"/>
          </p:cNvSpPr>
          <p:nvPr/>
        </p:nvSpPr>
        <p:spPr>
          <a:xfrm>
            <a:off x="2765435" y="1504950"/>
            <a:ext cx="2886837"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² = bt³/12 + (bt)z</a:t>
            </a:r>
          </a:p>
        </p:txBody>
      </p:sp>
      <p:sp>
        <p:nvSpPr>
          <p:cNvPr id="14" name="正方形/長方形 13">
            <a:extLst>
              <a:ext uri="{FF2B5EF4-FFF2-40B4-BE49-F238E27FC236}">
                <a16:creationId xmlns:a16="http://schemas.microsoft.com/office/drawing/2014/main" id="{41F4E880-4D47-464D-A37B-67D6173F4AB1}"/>
              </a:ext>
            </a:extLst>
          </p:cNvPr>
          <p:cNvSpPr>
            <a:spLocks noGrp="1"/>
          </p:cNvSpPr>
          <p:nvPr/>
        </p:nvSpPr>
        <p:spPr>
          <a:xfrm>
            <a:off x="5604647" y="1635252"/>
            <a:ext cx="109278" cy="619125"/>
          </a:xfrm>
          <a:prstGeom prst="rect">
            <a:avLst/>
          </a:prstGeom>
          <a:noFill/>
          <a:ln w="0">
            <a:noFill/>
          </a:ln>
        </p:spPr>
        <p:txBody>
          <a:bodyPr lIns="0" tIns="0" rIns="0" bIns="0" anchor="ctr">
            <a:noAutofit/>
          </a:bodyPr>
          <a:lstStyle>
            <a:defPPr>
              <a:defRPr sz="1674" b="1">
                <a:solidFill>
                  <a:srgbClr val="18364F"/>
                </a:solidFill>
                <a:latin typeface="Yu Gothic"/>
                <a:ea typeface="Yu Gothic"/>
                <a:cs typeface="Yu Gothic"/>
              </a:defRPr>
            </a:defPPr>
            <a:lvl1pPr>
              <a:defRPr sz="1674" b="1">
                <a:solidFill>
                  <a:srgbClr val="18364F"/>
                </a:solidFill>
                <a:latin typeface="Yu Gothic"/>
                <a:ea typeface="Yu Gothic"/>
                <a:cs typeface="Yu Gothic"/>
              </a:defRPr>
            </a:lvl1pPr>
            <a:lvl2pPr>
              <a:defRPr sz="1674" b="1">
                <a:solidFill>
                  <a:srgbClr val="18364F"/>
                </a:solidFill>
                <a:latin typeface="Yu Gothic"/>
                <a:ea typeface="Yu Gothic"/>
                <a:cs typeface="Yu Gothic"/>
              </a:defRPr>
            </a:lvl2pPr>
            <a:lvl3pPr>
              <a:defRPr sz="1674" b="1">
                <a:solidFill>
                  <a:srgbClr val="18364F"/>
                </a:solidFill>
                <a:latin typeface="Yu Gothic"/>
                <a:ea typeface="Yu Gothic"/>
                <a:cs typeface="Yu Gothic"/>
              </a:defRPr>
            </a:lvl3pPr>
            <a:lvl4pPr>
              <a:defRPr sz="1674" b="1">
                <a:solidFill>
                  <a:srgbClr val="18364F"/>
                </a:solidFill>
                <a:latin typeface="Yu Gothic"/>
                <a:ea typeface="Yu Gothic"/>
                <a:cs typeface="Yu Gothic"/>
              </a:defRPr>
            </a:lvl4pPr>
            <a:lvl5pPr>
              <a:defRPr sz="1674" b="1">
                <a:solidFill>
                  <a:srgbClr val="18364F"/>
                </a:solidFill>
                <a:latin typeface="Yu Gothic"/>
                <a:ea typeface="Yu Gothic"/>
                <a:cs typeface="Yu Gothic"/>
              </a:defRPr>
            </a:lvl5pPr>
            <a:lvl6pPr>
              <a:defRPr sz="1674" b="1">
                <a:solidFill>
                  <a:srgbClr val="18364F"/>
                </a:solidFill>
                <a:latin typeface="Yu Gothic"/>
                <a:ea typeface="Yu Gothic"/>
                <a:cs typeface="Yu Gothic"/>
              </a:defRPr>
            </a:lvl6pPr>
            <a:lvl7pPr>
              <a:defRPr sz="1674" b="1">
                <a:solidFill>
                  <a:srgbClr val="18364F"/>
                </a:solidFill>
                <a:latin typeface="Yu Gothic"/>
                <a:ea typeface="Yu Gothic"/>
                <a:cs typeface="Yu Gothic"/>
              </a:defRPr>
            </a:lvl7pPr>
            <a:lvl8pPr>
              <a:defRPr sz="1674" b="1">
                <a:solidFill>
                  <a:srgbClr val="18364F"/>
                </a:solidFill>
                <a:latin typeface="Yu Gothic"/>
                <a:ea typeface="Yu Gothic"/>
                <a:cs typeface="Yu Gothic"/>
              </a:defRPr>
            </a:lvl8pPr>
            <a:lvl9pPr>
              <a:defRPr sz="1674" b="1">
                <a:solidFill>
                  <a:srgbClr val="18364F"/>
                </a:solidFill>
                <a:latin typeface="Yu Gothic"/>
                <a:ea typeface="Yu Gothic"/>
                <a:cs typeface="Yu Gothic"/>
              </a:defRPr>
            </a:lvl9pPr>
          </a:lstStyle>
          <a:p>
            <a:pPr>
              <a:defRPr sz="1674" b="1">
                <a:solidFill>
                  <a:srgbClr val="18364F"/>
                </a:solidFill>
                <a:latin typeface="Yu Gothic"/>
                <a:ea typeface="Yu Gothic"/>
                <a:cs typeface="Yu Gothic"/>
              </a:defRPr>
            </a:pPr>
            <a:r>
              <a:rPr sz="1674" b="1">
                <a:solidFill>
                  <a:srgbClr val="18364F"/>
                </a:solidFill>
                <a:latin typeface="Yu Gothic"/>
                <a:ea typeface="Yu Gothic"/>
                <a:cs typeface="Yu Gothic"/>
              </a:rPr>
              <a:t>i</a:t>
            </a:r>
          </a:p>
        </p:txBody>
      </p:sp>
      <p:sp>
        <p:nvSpPr>
          <p:cNvPr id="15" name="正方形/長方形 14">
            <a:extLst>
              <a:ext uri="{FF2B5EF4-FFF2-40B4-BE49-F238E27FC236}">
                <a16:creationId xmlns:a16="http://schemas.microsoft.com/office/drawing/2014/main" id="{FF5CAAA5-FB43-4E36-9EB8-F6886BAFBE8B}"/>
              </a:ext>
            </a:extLst>
          </p:cNvPr>
          <p:cNvSpPr>
            <a:spLocks noGrp="1"/>
          </p:cNvSpPr>
          <p:nvPr/>
        </p:nvSpPr>
        <p:spPr>
          <a:xfrm>
            <a:off x="5666301" y="1504950"/>
            <a:ext cx="174498" cy="619125"/>
          </a:xfrm>
          <a:prstGeom prst="rect">
            <a:avLst/>
          </a:prstGeom>
          <a:noFill/>
          <a:ln w="0">
            <a:noFill/>
          </a:ln>
        </p:spPr>
        <p:txBody>
          <a:bodyPr lIns="0" tIns="0" rIns="0" bIns="0" anchor="ctr">
            <a:noAutofit/>
          </a:bodyPr>
          <a:lstStyle>
            <a:defPPr>
              <a:defRPr sz="2700" b="1">
                <a:solidFill>
                  <a:srgbClr val="18364F"/>
                </a:solidFill>
                <a:latin typeface="Yu Gothic"/>
                <a:ea typeface="Yu Gothic"/>
                <a:cs typeface="Yu Gothic"/>
              </a:defRPr>
            </a:defPPr>
            <a:lvl1pPr>
              <a:defRPr sz="2700" b="1">
                <a:solidFill>
                  <a:srgbClr val="18364F"/>
                </a:solidFill>
                <a:latin typeface="Yu Gothic"/>
                <a:ea typeface="Yu Gothic"/>
                <a:cs typeface="Yu Gothic"/>
              </a:defRPr>
            </a:lvl1pPr>
            <a:lvl2pPr>
              <a:defRPr sz="2700" b="1">
                <a:solidFill>
                  <a:srgbClr val="18364F"/>
                </a:solidFill>
                <a:latin typeface="Yu Gothic"/>
                <a:ea typeface="Yu Gothic"/>
                <a:cs typeface="Yu Gothic"/>
              </a:defRPr>
            </a:lvl2pPr>
            <a:lvl3pPr>
              <a:defRPr sz="2700" b="1">
                <a:solidFill>
                  <a:srgbClr val="18364F"/>
                </a:solidFill>
                <a:latin typeface="Yu Gothic"/>
                <a:ea typeface="Yu Gothic"/>
                <a:cs typeface="Yu Gothic"/>
              </a:defRPr>
            </a:lvl3pPr>
            <a:lvl4pPr>
              <a:defRPr sz="2700" b="1">
                <a:solidFill>
                  <a:srgbClr val="18364F"/>
                </a:solidFill>
                <a:latin typeface="Yu Gothic"/>
                <a:ea typeface="Yu Gothic"/>
                <a:cs typeface="Yu Gothic"/>
              </a:defRPr>
            </a:lvl4pPr>
            <a:lvl5pPr>
              <a:defRPr sz="2700" b="1">
                <a:solidFill>
                  <a:srgbClr val="18364F"/>
                </a:solidFill>
                <a:latin typeface="Yu Gothic"/>
                <a:ea typeface="Yu Gothic"/>
                <a:cs typeface="Yu Gothic"/>
              </a:defRPr>
            </a:lvl5pPr>
            <a:lvl6pPr>
              <a:defRPr sz="2700" b="1">
                <a:solidFill>
                  <a:srgbClr val="18364F"/>
                </a:solidFill>
                <a:latin typeface="Yu Gothic"/>
                <a:ea typeface="Yu Gothic"/>
                <a:cs typeface="Yu Gothic"/>
              </a:defRPr>
            </a:lvl6pPr>
            <a:lvl7pPr>
              <a:defRPr sz="2700" b="1">
                <a:solidFill>
                  <a:srgbClr val="18364F"/>
                </a:solidFill>
                <a:latin typeface="Yu Gothic"/>
                <a:ea typeface="Yu Gothic"/>
                <a:cs typeface="Yu Gothic"/>
              </a:defRPr>
            </a:lvl7pPr>
            <a:lvl8pPr>
              <a:defRPr sz="2700" b="1">
                <a:solidFill>
                  <a:srgbClr val="18364F"/>
                </a:solidFill>
                <a:latin typeface="Yu Gothic"/>
                <a:ea typeface="Yu Gothic"/>
                <a:cs typeface="Yu Gothic"/>
              </a:defRPr>
            </a:lvl8pPr>
            <a:lvl9pPr>
              <a:defRPr sz="2700" b="1">
                <a:solidFill>
                  <a:srgbClr val="18364F"/>
                </a:solidFill>
                <a:latin typeface="Yu Gothic"/>
                <a:ea typeface="Yu Gothic"/>
                <a:cs typeface="Yu Gothic"/>
              </a:defRPr>
            </a:lvl9pPr>
          </a:lstStyle>
          <a:p>
            <a:pPr>
              <a:defRPr sz="2700" b="1">
                <a:solidFill>
                  <a:srgbClr val="18364F"/>
                </a:solidFill>
                <a:latin typeface="Yu Gothic"/>
                <a:ea typeface="Yu Gothic"/>
                <a:cs typeface="Yu Gothic"/>
              </a:defRPr>
            </a:pPr>
            <a:r>
              <a:rPr sz="2700" b="1">
                <a:solidFill>
                  <a:srgbClr val="18364F"/>
                </a:solidFill>
                <a:latin typeface="Yu Gothic"/>
                <a:ea typeface="Yu Gothic"/>
                <a:cs typeface="Yu Gothic"/>
              </a:rPr>
              <a:t>²</a:t>
            </a:r>
          </a:p>
        </p:txBody>
      </p:sp>
      <p:sp>
        <p:nvSpPr>
          <p:cNvPr id="16" name="正方形/長方形 15">
            <a:extLst>
              <a:ext uri="{FF2B5EF4-FFF2-40B4-BE49-F238E27FC236}">
                <a16:creationId xmlns:a16="http://schemas.microsoft.com/office/drawing/2014/main" id="{796C69ED-B439-4BFD-8A09-1AC44AF5E0F4}"/>
              </a:ext>
            </a:extLst>
          </p:cNvPr>
          <p:cNvSpPr>
            <a:spLocks noGrp="1"/>
          </p:cNvSpPr>
          <p:nvPr/>
        </p:nvSpPr>
        <p:spPr>
          <a:xfrm>
            <a:off x="1047750" y="2524125"/>
            <a:ext cx="2952750" cy="428625"/>
          </a:xfrm>
          <a:prstGeom prst="rect">
            <a:avLst/>
          </a:prstGeom>
          <a:solidFill>
            <a:srgbClr val="EBD7B8"/>
          </a:solidFill>
          <a:ln w="9525">
            <a:solidFill>
              <a:srgbClr val="596875"/>
            </a:solidFill>
          </a:ln>
        </p:spPr>
      </p:sp>
      <p:sp>
        <p:nvSpPr>
          <p:cNvPr id="17" name="フリーフォーム: 図形 16">
            <a:extLst>
              <a:ext uri="{FF2B5EF4-FFF2-40B4-BE49-F238E27FC236}">
                <a16:creationId xmlns:a16="http://schemas.microsoft.com/office/drawing/2014/main" id="{9E6A4D32-3035-45CF-88A4-C70A685ADF79}"/>
              </a:ext>
            </a:extLst>
          </p:cNvPr>
          <p:cNvSpPr>
            <a:spLocks noGrp="1"/>
          </p:cNvSpPr>
          <p:nvPr/>
        </p:nvSpPr>
        <p:spPr>
          <a:xfrm>
            <a:off x="1162050" y="2674144"/>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18" name="フリーフォーム: 図形 17">
            <a:extLst>
              <a:ext uri="{FF2B5EF4-FFF2-40B4-BE49-F238E27FC236}">
                <a16:creationId xmlns:a16="http://schemas.microsoft.com/office/drawing/2014/main" id="{46108A33-9C30-47C8-B8B3-63E0ED2AF487}"/>
              </a:ext>
            </a:extLst>
          </p:cNvPr>
          <p:cNvSpPr>
            <a:spLocks noGrp="1"/>
          </p:cNvSpPr>
          <p:nvPr/>
        </p:nvSpPr>
        <p:spPr>
          <a:xfrm>
            <a:off x="1162050" y="2802731"/>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19" name="正方形/長方形 18">
            <a:extLst>
              <a:ext uri="{FF2B5EF4-FFF2-40B4-BE49-F238E27FC236}">
                <a16:creationId xmlns:a16="http://schemas.microsoft.com/office/drawing/2014/main" id="{FE961619-02BE-4DCA-AF25-195A975B3D4C}"/>
              </a:ext>
            </a:extLst>
          </p:cNvPr>
          <p:cNvSpPr>
            <a:spLocks noGrp="1"/>
          </p:cNvSpPr>
          <p:nvPr/>
        </p:nvSpPr>
        <p:spPr>
          <a:xfrm>
            <a:off x="1047750" y="2981325"/>
            <a:ext cx="2952750" cy="428625"/>
          </a:xfrm>
          <a:prstGeom prst="rect">
            <a:avLst/>
          </a:prstGeom>
          <a:solidFill>
            <a:srgbClr val="D6E7F1"/>
          </a:solidFill>
          <a:ln w="9525">
            <a:solidFill>
              <a:srgbClr val="596875"/>
            </a:solidFill>
          </a:ln>
        </p:spPr>
      </p:sp>
      <p:sp>
        <p:nvSpPr>
          <p:cNvPr id="20" name="フリーフォーム: 図形 19">
            <a:extLst>
              <a:ext uri="{FF2B5EF4-FFF2-40B4-BE49-F238E27FC236}">
                <a16:creationId xmlns:a16="http://schemas.microsoft.com/office/drawing/2014/main" id="{8948CB90-A15B-42C8-9789-243C43E058D9}"/>
              </a:ext>
            </a:extLst>
          </p:cNvPr>
          <p:cNvSpPr>
            <a:spLocks noGrp="1"/>
          </p:cNvSpPr>
          <p:nvPr/>
        </p:nvSpPr>
        <p:spPr>
          <a:xfrm>
            <a:off x="131445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1" name="フリーフォーム: 図形 20">
            <a:extLst>
              <a:ext uri="{FF2B5EF4-FFF2-40B4-BE49-F238E27FC236}">
                <a16:creationId xmlns:a16="http://schemas.microsoft.com/office/drawing/2014/main" id="{A43421E5-F9C9-43D7-A4EC-567E098ABC39}"/>
              </a:ext>
            </a:extLst>
          </p:cNvPr>
          <p:cNvSpPr>
            <a:spLocks noGrp="1"/>
          </p:cNvSpPr>
          <p:nvPr/>
        </p:nvSpPr>
        <p:spPr>
          <a:xfrm>
            <a:off x="179832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2" name="フリーフォーム: 図形 21">
            <a:extLst>
              <a:ext uri="{FF2B5EF4-FFF2-40B4-BE49-F238E27FC236}">
                <a16:creationId xmlns:a16="http://schemas.microsoft.com/office/drawing/2014/main" id="{C1FBE745-DA5F-48EC-B95B-BC2E23CD86C7}"/>
              </a:ext>
            </a:extLst>
          </p:cNvPr>
          <p:cNvSpPr>
            <a:spLocks noGrp="1"/>
          </p:cNvSpPr>
          <p:nvPr/>
        </p:nvSpPr>
        <p:spPr>
          <a:xfrm>
            <a:off x="228219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3" name="フリーフォーム: 図形 22">
            <a:extLst>
              <a:ext uri="{FF2B5EF4-FFF2-40B4-BE49-F238E27FC236}">
                <a16:creationId xmlns:a16="http://schemas.microsoft.com/office/drawing/2014/main" id="{6352BB00-9D3B-4E42-AA89-8B7FDAAE1EAD}"/>
              </a:ext>
            </a:extLst>
          </p:cNvPr>
          <p:cNvSpPr>
            <a:spLocks noGrp="1"/>
          </p:cNvSpPr>
          <p:nvPr/>
        </p:nvSpPr>
        <p:spPr>
          <a:xfrm>
            <a:off x="276606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4" name="フリーフォーム: 図形 23">
            <a:extLst>
              <a:ext uri="{FF2B5EF4-FFF2-40B4-BE49-F238E27FC236}">
                <a16:creationId xmlns:a16="http://schemas.microsoft.com/office/drawing/2014/main" id="{7BF4040F-E394-4E9B-8124-CCDB715F26D9}"/>
              </a:ext>
            </a:extLst>
          </p:cNvPr>
          <p:cNvSpPr>
            <a:spLocks noGrp="1"/>
          </p:cNvSpPr>
          <p:nvPr/>
        </p:nvSpPr>
        <p:spPr>
          <a:xfrm>
            <a:off x="324993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5" name="フリーフォーム: 図形 24">
            <a:extLst>
              <a:ext uri="{FF2B5EF4-FFF2-40B4-BE49-F238E27FC236}">
                <a16:creationId xmlns:a16="http://schemas.microsoft.com/office/drawing/2014/main" id="{F6737E34-6DF1-4CFB-8D92-89CE23D613C1}"/>
              </a:ext>
            </a:extLst>
          </p:cNvPr>
          <p:cNvSpPr>
            <a:spLocks noGrp="1"/>
          </p:cNvSpPr>
          <p:nvPr/>
        </p:nvSpPr>
        <p:spPr>
          <a:xfrm>
            <a:off x="3733800" y="30575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26" name="正方形/長方形 25">
            <a:extLst>
              <a:ext uri="{FF2B5EF4-FFF2-40B4-BE49-F238E27FC236}">
                <a16:creationId xmlns:a16="http://schemas.microsoft.com/office/drawing/2014/main" id="{9874CBE1-A45D-480A-BAAF-193EC6FD310F}"/>
              </a:ext>
            </a:extLst>
          </p:cNvPr>
          <p:cNvSpPr>
            <a:spLocks noGrp="1"/>
          </p:cNvSpPr>
          <p:nvPr/>
        </p:nvSpPr>
        <p:spPr>
          <a:xfrm>
            <a:off x="1047750" y="3438525"/>
            <a:ext cx="2952750" cy="428625"/>
          </a:xfrm>
          <a:prstGeom prst="rect">
            <a:avLst/>
          </a:prstGeom>
          <a:solidFill>
            <a:srgbClr val="EBD7B8"/>
          </a:solidFill>
          <a:ln w="9525">
            <a:solidFill>
              <a:srgbClr val="596875"/>
            </a:solidFill>
          </a:ln>
        </p:spPr>
      </p:sp>
      <p:sp>
        <p:nvSpPr>
          <p:cNvPr id="27" name="フリーフォーム: 図形 26">
            <a:extLst>
              <a:ext uri="{FF2B5EF4-FFF2-40B4-BE49-F238E27FC236}">
                <a16:creationId xmlns:a16="http://schemas.microsoft.com/office/drawing/2014/main" id="{0099E731-4C80-4F8E-B29A-BDE01764B222}"/>
              </a:ext>
            </a:extLst>
          </p:cNvPr>
          <p:cNvSpPr>
            <a:spLocks noGrp="1"/>
          </p:cNvSpPr>
          <p:nvPr/>
        </p:nvSpPr>
        <p:spPr>
          <a:xfrm>
            <a:off x="1162050" y="3588544"/>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28" name="フリーフォーム: 図形 27">
            <a:extLst>
              <a:ext uri="{FF2B5EF4-FFF2-40B4-BE49-F238E27FC236}">
                <a16:creationId xmlns:a16="http://schemas.microsoft.com/office/drawing/2014/main" id="{B34B63EA-AF97-41DB-A5DE-58CAE051B8BC}"/>
              </a:ext>
            </a:extLst>
          </p:cNvPr>
          <p:cNvSpPr>
            <a:spLocks noGrp="1"/>
          </p:cNvSpPr>
          <p:nvPr/>
        </p:nvSpPr>
        <p:spPr>
          <a:xfrm>
            <a:off x="1162050" y="3717131"/>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29" name="正方形/長方形 28">
            <a:extLst>
              <a:ext uri="{FF2B5EF4-FFF2-40B4-BE49-F238E27FC236}">
                <a16:creationId xmlns:a16="http://schemas.microsoft.com/office/drawing/2014/main" id="{B9407B53-24AE-4D9B-B727-698D72A3B8D6}"/>
              </a:ext>
            </a:extLst>
          </p:cNvPr>
          <p:cNvSpPr>
            <a:spLocks noGrp="1"/>
          </p:cNvSpPr>
          <p:nvPr/>
        </p:nvSpPr>
        <p:spPr>
          <a:xfrm>
            <a:off x="1047750" y="3895725"/>
            <a:ext cx="2952750" cy="428625"/>
          </a:xfrm>
          <a:prstGeom prst="rect">
            <a:avLst/>
          </a:prstGeom>
          <a:solidFill>
            <a:srgbClr val="D6E7F1"/>
          </a:solidFill>
          <a:ln w="9525">
            <a:solidFill>
              <a:srgbClr val="596875"/>
            </a:solidFill>
          </a:ln>
        </p:spPr>
      </p:sp>
      <p:sp>
        <p:nvSpPr>
          <p:cNvPr id="30" name="フリーフォーム: 図形 29">
            <a:extLst>
              <a:ext uri="{FF2B5EF4-FFF2-40B4-BE49-F238E27FC236}">
                <a16:creationId xmlns:a16="http://schemas.microsoft.com/office/drawing/2014/main" id="{FAE6845B-268D-4492-AC68-08CD97B8FF38}"/>
              </a:ext>
            </a:extLst>
          </p:cNvPr>
          <p:cNvSpPr>
            <a:spLocks noGrp="1"/>
          </p:cNvSpPr>
          <p:nvPr/>
        </p:nvSpPr>
        <p:spPr>
          <a:xfrm>
            <a:off x="131445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1" name="フリーフォーム: 図形 30">
            <a:extLst>
              <a:ext uri="{FF2B5EF4-FFF2-40B4-BE49-F238E27FC236}">
                <a16:creationId xmlns:a16="http://schemas.microsoft.com/office/drawing/2014/main" id="{1A85FB16-647F-4F96-B6F1-9FB3F7EF10DA}"/>
              </a:ext>
            </a:extLst>
          </p:cNvPr>
          <p:cNvSpPr>
            <a:spLocks noGrp="1"/>
          </p:cNvSpPr>
          <p:nvPr/>
        </p:nvSpPr>
        <p:spPr>
          <a:xfrm>
            <a:off x="179832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2" name="フリーフォーム: 図形 31">
            <a:extLst>
              <a:ext uri="{FF2B5EF4-FFF2-40B4-BE49-F238E27FC236}">
                <a16:creationId xmlns:a16="http://schemas.microsoft.com/office/drawing/2014/main" id="{1B2AE3D0-BD44-407D-A834-767EBDF24B9A}"/>
              </a:ext>
            </a:extLst>
          </p:cNvPr>
          <p:cNvSpPr>
            <a:spLocks noGrp="1"/>
          </p:cNvSpPr>
          <p:nvPr/>
        </p:nvSpPr>
        <p:spPr>
          <a:xfrm>
            <a:off x="228219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3" name="フリーフォーム: 図形 32">
            <a:extLst>
              <a:ext uri="{FF2B5EF4-FFF2-40B4-BE49-F238E27FC236}">
                <a16:creationId xmlns:a16="http://schemas.microsoft.com/office/drawing/2014/main" id="{0E7A94E4-F159-44A1-84D5-4580B7D506D3}"/>
              </a:ext>
            </a:extLst>
          </p:cNvPr>
          <p:cNvSpPr>
            <a:spLocks noGrp="1"/>
          </p:cNvSpPr>
          <p:nvPr/>
        </p:nvSpPr>
        <p:spPr>
          <a:xfrm>
            <a:off x="276606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4" name="フリーフォーム: 図形 33">
            <a:extLst>
              <a:ext uri="{FF2B5EF4-FFF2-40B4-BE49-F238E27FC236}">
                <a16:creationId xmlns:a16="http://schemas.microsoft.com/office/drawing/2014/main" id="{A770138B-4A63-4EDD-BF65-CF527AA2BAF8}"/>
              </a:ext>
            </a:extLst>
          </p:cNvPr>
          <p:cNvSpPr>
            <a:spLocks noGrp="1"/>
          </p:cNvSpPr>
          <p:nvPr/>
        </p:nvSpPr>
        <p:spPr>
          <a:xfrm>
            <a:off x="324993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5" name="フリーフォーム: 図形 34">
            <a:extLst>
              <a:ext uri="{FF2B5EF4-FFF2-40B4-BE49-F238E27FC236}">
                <a16:creationId xmlns:a16="http://schemas.microsoft.com/office/drawing/2014/main" id="{84F49B90-8A24-4CBA-B710-03C18D8A7315}"/>
              </a:ext>
            </a:extLst>
          </p:cNvPr>
          <p:cNvSpPr>
            <a:spLocks noGrp="1"/>
          </p:cNvSpPr>
          <p:nvPr/>
        </p:nvSpPr>
        <p:spPr>
          <a:xfrm>
            <a:off x="3733800" y="3971925"/>
            <a:ext cx="9525" cy="276225"/>
          </a:xfrm>
          <a:custGeom>
            <a:avLst/>
            <a:gdLst/>
            <a:ahLst/>
            <a:cxnLst/>
            <a:rect l="0" t="0" r="0" b="0"/>
            <a:pathLst>
              <a:path w="9525" h="276225">
                <a:moveTo>
                  <a:pt x="0" y="0"/>
                </a:moveTo>
                <a:lnTo>
                  <a:pt x="0" y="276225"/>
                </a:lnTo>
              </a:path>
            </a:pathLst>
          </a:custGeom>
          <a:noFill/>
          <a:ln w="28575">
            <a:solidFill>
              <a:srgbClr val="2876A8"/>
            </a:solidFill>
          </a:ln>
        </p:spPr>
      </p:sp>
      <p:sp>
        <p:nvSpPr>
          <p:cNvPr id="36" name="正方形/長方形 35">
            <a:extLst>
              <a:ext uri="{FF2B5EF4-FFF2-40B4-BE49-F238E27FC236}">
                <a16:creationId xmlns:a16="http://schemas.microsoft.com/office/drawing/2014/main" id="{02F83CC5-C2BE-44AA-A797-918B8ADE8F39}"/>
              </a:ext>
            </a:extLst>
          </p:cNvPr>
          <p:cNvSpPr>
            <a:spLocks noGrp="1"/>
          </p:cNvSpPr>
          <p:nvPr/>
        </p:nvSpPr>
        <p:spPr>
          <a:xfrm>
            <a:off x="1047750" y="4352925"/>
            <a:ext cx="2952750" cy="428625"/>
          </a:xfrm>
          <a:prstGeom prst="rect">
            <a:avLst/>
          </a:prstGeom>
          <a:solidFill>
            <a:srgbClr val="EBD7B8"/>
          </a:solidFill>
          <a:ln w="9525">
            <a:solidFill>
              <a:srgbClr val="596875"/>
            </a:solidFill>
          </a:ln>
        </p:spPr>
      </p:sp>
      <p:sp>
        <p:nvSpPr>
          <p:cNvPr id="37" name="フリーフォーム: 図形 36">
            <a:extLst>
              <a:ext uri="{FF2B5EF4-FFF2-40B4-BE49-F238E27FC236}">
                <a16:creationId xmlns:a16="http://schemas.microsoft.com/office/drawing/2014/main" id="{690CA203-F0D1-4393-8F28-46E8DA57458F}"/>
              </a:ext>
            </a:extLst>
          </p:cNvPr>
          <p:cNvSpPr>
            <a:spLocks noGrp="1"/>
          </p:cNvSpPr>
          <p:nvPr/>
        </p:nvSpPr>
        <p:spPr>
          <a:xfrm>
            <a:off x="1162050" y="4502944"/>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38" name="フリーフォーム: 図形 37">
            <a:extLst>
              <a:ext uri="{FF2B5EF4-FFF2-40B4-BE49-F238E27FC236}">
                <a16:creationId xmlns:a16="http://schemas.microsoft.com/office/drawing/2014/main" id="{7213B2F2-715C-4190-882B-EB85BB807723}"/>
              </a:ext>
            </a:extLst>
          </p:cNvPr>
          <p:cNvSpPr>
            <a:spLocks noGrp="1"/>
          </p:cNvSpPr>
          <p:nvPr/>
        </p:nvSpPr>
        <p:spPr>
          <a:xfrm>
            <a:off x="1162050" y="4631531"/>
            <a:ext cx="2724150" cy="9525"/>
          </a:xfrm>
          <a:custGeom>
            <a:avLst/>
            <a:gdLst/>
            <a:ahLst/>
            <a:cxnLst/>
            <a:rect l="0" t="0" r="0" b="0"/>
            <a:pathLst>
              <a:path w="2724150" h="9525">
                <a:moveTo>
                  <a:pt x="0" y="0"/>
                </a:moveTo>
                <a:lnTo>
                  <a:pt x="2724150" y="0"/>
                </a:lnTo>
              </a:path>
            </a:pathLst>
          </a:custGeom>
          <a:noFill/>
          <a:ln w="28575">
            <a:solidFill>
              <a:srgbClr val="D7B78C"/>
            </a:solidFill>
          </a:ln>
        </p:spPr>
      </p:sp>
      <p:sp>
        <p:nvSpPr>
          <p:cNvPr id="39" name="フリーフォーム: 図形 38">
            <a:extLst>
              <a:ext uri="{FF2B5EF4-FFF2-40B4-BE49-F238E27FC236}">
                <a16:creationId xmlns:a16="http://schemas.microsoft.com/office/drawing/2014/main" id="{5B4FADAE-08FD-4765-9DA5-526A20F42411}"/>
              </a:ext>
            </a:extLst>
          </p:cNvPr>
          <p:cNvSpPr>
            <a:spLocks noGrp="1"/>
          </p:cNvSpPr>
          <p:nvPr/>
        </p:nvSpPr>
        <p:spPr>
          <a:xfrm>
            <a:off x="762000" y="3667125"/>
            <a:ext cx="4095750" cy="9525"/>
          </a:xfrm>
          <a:custGeom>
            <a:avLst/>
            <a:gdLst/>
            <a:ahLst/>
            <a:cxnLst/>
            <a:rect l="0" t="0" r="0" b="0"/>
            <a:pathLst>
              <a:path w="4095750" h="9525">
                <a:moveTo>
                  <a:pt x="0" y="0"/>
                </a:moveTo>
                <a:lnTo>
                  <a:pt x="4095750" y="0"/>
                </a:lnTo>
              </a:path>
            </a:pathLst>
          </a:custGeom>
          <a:noFill/>
          <a:ln w="19050">
            <a:solidFill>
              <a:srgbClr val="C4483C"/>
            </a:solidFill>
          </a:ln>
        </p:spPr>
      </p:sp>
      <p:sp>
        <p:nvSpPr>
          <p:cNvPr id="40" name="正方形/長方形 39">
            <a:extLst>
              <a:ext uri="{FF2B5EF4-FFF2-40B4-BE49-F238E27FC236}">
                <a16:creationId xmlns:a16="http://schemas.microsoft.com/office/drawing/2014/main" id="{B4D38244-F7B2-49F5-B8A8-C71C72A3C825}"/>
              </a:ext>
            </a:extLst>
          </p:cNvPr>
          <p:cNvSpPr>
            <a:spLocks noGrp="1"/>
          </p:cNvSpPr>
          <p:nvPr/>
        </p:nvSpPr>
        <p:spPr>
          <a:xfrm>
            <a:off x="4095750" y="3524250"/>
            <a:ext cx="1524000" cy="476250"/>
          </a:xfrm>
          <a:prstGeom prst="rect">
            <a:avLst/>
          </a:prstGeom>
          <a:noFill/>
          <a:ln w="0">
            <a:noFill/>
          </a:ln>
        </p:spPr>
        <p:txBody>
          <a:bodyPr lIns="0" tIns="0" rIns="0" bIns="0" anchor="ctr">
            <a:noAutofit/>
          </a:bodyPr>
          <a:lstStyle>
            <a:defPPr>
              <a:defRPr sz="1800" b="1">
                <a:solidFill>
                  <a:srgbClr val="C4483C"/>
                </a:solidFill>
                <a:latin typeface="Yu Gothic"/>
                <a:ea typeface="Yu Gothic"/>
                <a:cs typeface="Yu Gothic"/>
              </a:defRPr>
            </a:defPPr>
            <a:lvl1pPr>
              <a:defRPr sz="1800" b="1">
                <a:solidFill>
                  <a:srgbClr val="C4483C"/>
                </a:solidFill>
                <a:latin typeface="Yu Gothic"/>
                <a:ea typeface="Yu Gothic"/>
                <a:cs typeface="Yu Gothic"/>
              </a:defRPr>
            </a:lvl1pPr>
            <a:lvl2pPr>
              <a:defRPr sz="1800" b="1">
                <a:solidFill>
                  <a:srgbClr val="C4483C"/>
                </a:solidFill>
                <a:latin typeface="Yu Gothic"/>
                <a:ea typeface="Yu Gothic"/>
                <a:cs typeface="Yu Gothic"/>
              </a:defRPr>
            </a:lvl2pPr>
            <a:lvl3pPr>
              <a:defRPr sz="1800" b="1">
                <a:solidFill>
                  <a:srgbClr val="C4483C"/>
                </a:solidFill>
                <a:latin typeface="Yu Gothic"/>
                <a:ea typeface="Yu Gothic"/>
                <a:cs typeface="Yu Gothic"/>
              </a:defRPr>
            </a:lvl3pPr>
            <a:lvl4pPr>
              <a:defRPr sz="1800" b="1">
                <a:solidFill>
                  <a:srgbClr val="C4483C"/>
                </a:solidFill>
                <a:latin typeface="Yu Gothic"/>
                <a:ea typeface="Yu Gothic"/>
                <a:cs typeface="Yu Gothic"/>
              </a:defRPr>
            </a:lvl4pPr>
            <a:lvl5pPr>
              <a:defRPr sz="1800" b="1">
                <a:solidFill>
                  <a:srgbClr val="C4483C"/>
                </a:solidFill>
                <a:latin typeface="Yu Gothic"/>
                <a:ea typeface="Yu Gothic"/>
                <a:cs typeface="Yu Gothic"/>
              </a:defRPr>
            </a:lvl5pPr>
            <a:lvl6pPr>
              <a:defRPr sz="1800" b="1">
                <a:solidFill>
                  <a:srgbClr val="C4483C"/>
                </a:solidFill>
                <a:latin typeface="Yu Gothic"/>
                <a:ea typeface="Yu Gothic"/>
                <a:cs typeface="Yu Gothic"/>
              </a:defRPr>
            </a:lvl6pPr>
            <a:lvl7pPr>
              <a:defRPr sz="1800" b="1">
                <a:solidFill>
                  <a:srgbClr val="C4483C"/>
                </a:solidFill>
                <a:latin typeface="Yu Gothic"/>
                <a:ea typeface="Yu Gothic"/>
                <a:cs typeface="Yu Gothic"/>
              </a:defRPr>
            </a:lvl7pPr>
            <a:lvl8pPr>
              <a:defRPr sz="1800" b="1">
                <a:solidFill>
                  <a:srgbClr val="C4483C"/>
                </a:solidFill>
                <a:latin typeface="Yu Gothic"/>
                <a:ea typeface="Yu Gothic"/>
                <a:cs typeface="Yu Gothic"/>
              </a:defRPr>
            </a:lvl8pPr>
            <a:lvl9pPr>
              <a:defRPr sz="1800" b="1">
                <a:solidFill>
                  <a:srgbClr val="C4483C"/>
                </a:solidFill>
                <a:latin typeface="Yu Gothic"/>
                <a:ea typeface="Yu Gothic"/>
                <a:cs typeface="Yu Gothic"/>
              </a:defRPr>
            </a:lvl9pPr>
          </a:lstStyle>
          <a:p>
            <a:pPr>
              <a:defRPr sz="1800" b="1">
                <a:solidFill>
                  <a:srgbClr val="C4483C"/>
                </a:solidFill>
                <a:latin typeface="Yu Gothic"/>
                <a:ea typeface="Yu Gothic"/>
                <a:cs typeface="Yu Gothic"/>
              </a:defRPr>
            </a:pPr>
            <a:r>
              <a:rPr sz="1800" b="1">
                <a:solidFill>
                  <a:srgbClr val="C4483C"/>
                </a:solidFill>
                <a:latin typeface="Yu Gothic"/>
                <a:ea typeface="Yu Gothic"/>
                <a:cs typeface="Yu Gothic"/>
              </a:rPr>
              <a:t>中立軸</a:t>
            </a:r>
          </a:p>
        </p:txBody>
      </p:sp>
      <p:sp>
        <p:nvSpPr>
          <p:cNvPr id="41" name="正方形/長方形 40">
            <a:extLst>
              <a:ext uri="{FF2B5EF4-FFF2-40B4-BE49-F238E27FC236}">
                <a16:creationId xmlns:a16="http://schemas.microsoft.com/office/drawing/2014/main" id="{7BE78C00-82AC-4A58-A8B2-A86DACCE5353}"/>
              </a:ext>
            </a:extLst>
          </p:cNvPr>
          <p:cNvSpPr>
            <a:spLocks noGrp="1"/>
          </p:cNvSpPr>
          <p:nvPr/>
        </p:nvSpPr>
        <p:spPr>
          <a:xfrm>
            <a:off x="838200" y="5219700"/>
            <a:ext cx="10477500" cy="428625"/>
          </a:xfrm>
          <a:prstGeom prst="rect">
            <a:avLst/>
          </a:prstGeom>
          <a:noFill/>
          <a:ln w="0">
            <a:noFill/>
          </a:ln>
        </p:spPr>
        <p:txBody>
          <a:bodyPr lIns="0" tIns="0" rIns="0" bIns="0" anchor="ctr">
            <a:noAutofit/>
          </a:bodyPr>
          <a:lstStyle>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 = 100 mm、t = 2 mm</a:t>
            </a:r>
          </a:p>
        </p:txBody>
      </p:sp>
      <p:graphicFrame>
        <p:nvGraphicFramePr>
          <p:cNvPr id="42" name="表 41">
            <a:extLst>
              <a:ext uri="{FF2B5EF4-FFF2-40B4-BE49-F238E27FC236}">
                <a16:creationId xmlns:a16="http://schemas.microsoft.com/office/drawing/2014/main" id="{EDE72C4E-B914-4DF3-A1AA-19E9B3985251}"/>
              </a:ext>
            </a:extLst>
          </p:cNvPr>
          <p:cNvGraphicFramePr/>
          <p:nvPr/>
        </p:nvGraphicFramePr>
        <p:xfrm>
          <a:off x="5905500" y="2505075"/>
          <a:ext cx="5429250" cy="2619375"/>
        </p:xfrm>
        <a:graphic>
          <a:graphicData uri="http://schemas.openxmlformats.org/drawingml/2006/table">
            <a:tbl>
              <a:tblPr/>
              <a:tblGrid>
                <a:gridCol w="285750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654844">
                <a:tc>
                  <a:txBody>
                    <a:bodyPr/>
                    <a:lstStyle/>
                    <a:p>
                      <a:r>
                        <a:rPr sz="1950" b="1">
                          <a:solidFill>
                            <a:srgbClr val="FFFFFF"/>
                          </a:solidFill>
                          <a:latin typeface="Yu Gothic"/>
                          <a:ea typeface="Yu Gothic"/>
                          <a:cs typeface="Yu Gothic"/>
                        </a:rPr>
                        <a:t>層中心 zi</a:t>
                      </a:r>
                    </a:p>
                  </a:txBody>
                  <a:tcPr>
                    <a:solidFill>
                      <a:srgbClr val="18364F"/>
                    </a:solidFill>
                  </a:tcPr>
                </a:tc>
                <a:tc>
                  <a:txBody>
                    <a:bodyPr/>
                    <a:lstStyle/>
                    <a:p>
                      <a:r>
                        <a:rPr sz="1950" b="1">
                          <a:solidFill>
                            <a:srgbClr val="FFFFFF"/>
                          </a:solidFill>
                          <a:latin typeface="Yu Gothic"/>
                          <a:ea typeface="Yu Gothic"/>
                          <a:cs typeface="Yu Gothic"/>
                        </a:rPr>
                        <a:t>Ii（mm⁴）</a:t>
                      </a:r>
                    </a:p>
                  </a:txBody>
                  <a:tcPr>
                    <a:solidFill>
                      <a:srgbClr val="18364F"/>
                    </a:solidFill>
                  </a:tcPr>
                </a:tc>
                <a:extLst>
                  <a:ext uri="{0D108BD9-81ED-4DB2-BD59-A6C34878D82A}">
                    <a16:rowId xmlns:a16="http://schemas.microsoft.com/office/drawing/2014/main" val="10000"/>
                  </a:ext>
                </a:extLst>
              </a:tr>
              <a:tr h="654844">
                <a:tc>
                  <a:txBody>
                    <a:bodyPr/>
                    <a:lstStyle/>
                    <a:p>
                      <a:r>
                        <a:rPr sz="1950" b="0">
                          <a:solidFill>
                            <a:srgbClr val="253C4D"/>
                          </a:solidFill>
                          <a:latin typeface="Yu Gothic"/>
                          <a:ea typeface="Yu Gothic"/>
                          <a:cs typeface="Yu Gothic"/>
                        </a:rPr>
                        <a:t>±4 mm：外層</a:t>
                      </a:r>
                    </a:p>
                  </a:txBody>
                  <a:tcPr>
                    <a:solidFill>
                      <a:srgbClr val="F0F4F7"/>
                    </a:solidFill>
                  </a:tcPr>
                </a:tc>
                <a:tc>
                  <a:txBody>
                    <a:bodyPr/>
                    <a:lstStyle/>
                    <a:p>
                      <a:r>
                        <a:rPr sz="1950" b="0">
                          <a:solidFill>
                            <a:srgbClr val="253C4D"/>
                          </a:solidFill>
                          <a:latin typeface="Yu Gothic"/>
                          <a:ea typeface="Yu Gothic"/>
                          <a:cs typeface="Yu Gothic"/>
                        </a:rPr>
                        <a:t>3266.67</a:t>
                      </a:r>
                    </a:p>
                  </a:txBody>
                  <a:tcPr>
                    <a:solidFill>
                      <a:srgbClr val="F0F4F7"/>
                    </a:solidFill>
                  </a:tcPr>
                </a:tc>
                <a:extLst>
                  <a:ext uri="{0D108BD9-81ED-4DB2-BD59-A6C34878D82A}">
                    <a16:rowId xmlns:a16="http://schemas.microsoft.com/office/drawing/2014/main" val="10001"/>
                  </a:ext>
                </a:extLst>
              </a:tr>
              <a:tr h="654844">
                <a:tc>
                  <a:txBody>
                    <a:bodyPr/>
                    <a:lstStyle/>
                    <a:p>
                      <a:r>
                        <a:rPr sz="1950" b="0">
                          <a:solidFill>
                            <a:srgbClr val="253C4D"/>
                          </a:solidFill>
                          <a:latin typeface="Yu Gothic"/>
                          <a:ea typeface="Yu Gothic"/>
                          <a:cs typeface="Yu Gothic"/>
                        </a:rPr>
                        <a:t>±2 mm：内層</a:t>
                      </a:r>
                    </a:p>
                  </a:txBody>
                  <a:tcPr>
                    <a:solidFill>
                      <a:srgbClr val="F0F4F7"/>
                    </a:solidFill>
                  </a:tcPr>
                </a:tc>
                <a:tc>
                  <a:txBody>
                    <a:bodyPr/>
                    <a:lstStyle/>
                    <a:p>
                      <a:r>
                        <a:rPr sz="1950" b="0">
                          <a:solidFill>
                            <a:srgbClr val="253C4D"/>
                          </a:solidFill>
                          <a:latin typeface="Yu Gothic"/>
                          <a:ea typeface="Yu Gothic"/>
                          <a:cs typeface="Yu Gothic"/>
                        </a:rPr>
                        <a:t>866.67</a:t>
                      </a:r>
                    </a:p>
                  </a:txBody>
                  <a:tcPr>
                    <a:solidFill>
                      <a:srgbClr val="F0F4F7"/>
                    </a:solidFill>
                  </a:tcPr>
                </a:tc>
                <a:extLst>
                  <a:ext uri="{0D108BD9-81ED-4DB2-BD59-A6C34878D82A}">
                    <a16:rowId xmlns:a16="http://schemas.microsoft.com/office/drawing/2014/main" val="10002"/>
                  </a:ext>
                </a:extLst>
              </a:tr>
              <a:tr h="654844">
                <a:tc>
                  <a:txBody>
                    <a:bodyPr/>
                    <a:lstStyle/>
                    <a:p>
                      <a:r>
                        <a:rPr sz="1950" b="0">
                          <a:solidFill>
                            <a:srgbClr val="253C4D"/>
                          </a:solidFill>
                          <a:latin typeface="Yu Gothic"/>
                          <a:ea typeface="Yu Gothic"/>
                          <a:cs typeface="Yu Gothic"/>
                        </a:rPr>
                        <a:t>0 mm：中央</a:t>
                      </a:r>
                    </a:p>
                  </a:txBody>
                  <a:tcPr>
                    <a:solidFill>
                      <a:srgbClr val="F0F4F7"/>
                    </a:solidFill>
                  </a:tcPr>
                </a:tc>
                <a:tc>
                  <a:txBody>
                    <a:bodyPr/>
                    <a:lstStyle/>
                    <a:p>
                      <a:r>
                        <a:rPr sz="1950" b="0">
                          <a:solidFill>
                            <a:srgbClr val="253C4D"/>
                          </a:solidFill>
                          <a:latin typeface="Yu Gothic"/>
                          <a:ea typeface="Yu Gothic"/>
                          <a:cs typeface="Yu Gothic"/>
                        </a:rPr>
                        <a:t>66.67</a:t>
                      </a:r>
                    </a:p>
                  </a:txBody>
                  <a:tcPr>
                    <a:solidFill>
                      <a:srgbClr val="F0F4F7"/>
                    </a:solidFill>
                  </a:tcPr>
                </a:tc>
                <a:extLst>
                  <a:ext uri="{0D108BD9-81ED-4DB2-BD59-A6C34878D82A}">
                    <a16:rowId xmlns:a16="http://schemas.microsoft.com/office/drawing/2014/main" val="10003"/>
                  </a:ext>
                </a:extLst>
              </a:tr>
            </a:tbl>
          </a:graphicData>
        </a:graphic>
      </p:graphicFrame>
      <p:sp>
        <p:nvSpPr>
          <p:cNvPr id="43" name="正方形/長方形 42">
            <a:extLst>
              <a:ext uri="{FF2B5EF4-FFF2-40B4-BE49-F238E27FC236}">
                <a16:creationId xmlns:a16="http://schemas.microsoft.com/office/drawing/2014/main" id="{AC18D685-1250-44ED-A641-DE7014C91308}"/>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幅100 mm、各層2 mm。Iの単位はmm⁴。中立軸は対称性から中央。</a:t>
            </a:r>
          </a:p>
        </p:txBody>
      </p:sp>
    </p:spTree>
    <p:extLst>
      <p:ext uri="{BB962C8B-B14F-4D97-AF65-F5344CB8AC3E}">
        <p14:creationId xmlns:p14="http://schemas.microsoft.com/office/powerpoint/2010/main" val="445056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946DCDE7-4E74-4E0C-BA0D-D3476FC6433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曲げ剛性は、層のEと位置で決まる</a:t>
            </a:r>
          </a:p>
        </p:txBody>
      </p:sp>
      <p:sp>
        <p:nvSpPr>
          <p:cNvPr id="2" name="正方形/長方形 1">
            <a:extLst>
              <a:ext uri="{FF2B5EF4-FFF2-40B4-BE49-F238E27FC236}">
                <a16:creationId xmlns:a16="http://schemas.microsoft.com/office/drawing/2014/main" id="{FD87C3E2-4F65-4417-A4AD-79BC5537943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7DE64C8B-6B63-4842-A509-0D6C7DC884A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C6E9B7F6-5469-4E43-9743-7F7ED37BDCC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4EA5F35C-43AB-4063-BA45-BD5A6008E82D}"/>
              </a:ext>
            </a:extLst>
          </p:cNvPr>
          <p:cNvSpPr>
            <a:spLocks noGrp="1"/>
          </p:cNvSpPr>
          <p:nvPr/>
        </p:nvSpPr>
        <p:spPr>
          <a:xfrm>
            <a:off x="838200" y="1466850"/>
            <a:ext cx="2236470" cy="571500"/>
          </a:xfrm>
          <a:prstGeom prst="rect">
            <a:avLst/>
          </a:prstGeom>
          <a:noFill/>
          <a:ln w="0">
            <a:noFill/>
          </a:ln>
        </p:spPr>
        <p:txBody>
          <a:bodyPr lIns="0" tIns="0" rIns="0" bIns="0" anchor="ctr">
            <a:noAutofit/>
          </a:bodyPr>
          <a:lstStyle>
            <a:defPPr>
              <a:defRPr sz="2250" b="1">
                <a:solidFill>
                  <a:srgbClr val="18364F"/>
                </a:solidFill>
                <a:latin typeface="Yu Gothic"/>
                <a:ea typeface="Yu Gothic"/>
                <a:cs typeface="Yu Gothic"/>
              </a:defRPr>
            </a:defPPr>
            <a:lvl1pPr>
              <a:defRPr sz="2250" b="1">
                <a:solidFill>
                  <a:srgbClr val="18364F"/>
                </a:solidFill>
                <a:latin typeface="Yu Gothic"/>
                <a:ea typeface="Yu Gothic"/>
                <a:cs typeface="Yu Gothic"/>
              </a:defRPr>
            </a:lvl1pPr>
            <a:lvl2pPr>
              <a:defRPr sz="2250" b="1">
                <a:solidFill>
                  <a:srgbClr val="18364F"/>
                </a:solidFill>
                <a:latin typeface="Yu Gothic"/>
                <a:ea typeface="Yu Gothic"/>
                <a:cs typeface="Yu Gothic"/>
              </a:defRPr>
            </a:lvl2pPr>
            <a:lvl3pPr>
              <a:defRPr sz="2250" b="1">
                <a:solidFill>
                  <a:srgbClr val="18364F"/>
                </a:solidFill>
                <a:latin typeface="Yu Gothic"/>
                <a:ea typeface="Yu Gothic"/>
                <a:cs typeface="Yu Gothic"/>
              </a:defRPr>
            </a:lvl3pPr>
            <a:lvl4pPr>
              <a:defRPr sz="2250" b="1">
                <a:solidFill>
                  <a:srgbClr val="18364F"/>
                </a:solidFill>
                <a:latin typeface="Yu Gothic"/>
                <a:ea typeface="Yu Gothic"/>
                <a:cs typeface="Yu Gothic"/>
              </a:defRPr>
            </a:lvl4pPr>
            <a:lvl5pPr>
              <a:defRPr sz="2250" b="1">
                <a:solidFill>
                  <a:srgbClr val="18364F"/>
                </a:solidFill>
                <a:latin typeface="Yu Gothic"/>
                <a:ea typeface="Yu Gothic"/>
                <a:cs typeface="Yu Gothic"/>
              </a:defRPr>
            </a:lvl5pPr>
            <a:lvl6pPr>
              <a:defRPr sz="2250" b="1">
                <a:solidFill>
                  <a:srgbClr val="18364F"/>
                </a:solidFill>
                <a:latin typeface="Yu Gothic"/>
                <a:ea typeface="Yu Gothic"/>
                <a:cs typeface="Yu Gothic"/>
              </a:defRPr>
            </a:lvl6pPr>
            <a:lvl7pPr>
              <a:defRPr sz="2250" b="1">
                <a:solidFill>
                  <a:srgbClr val="18364F"/>
                </a:solidFill>
                <a:latin typeface="Yu Gothic"/>
                <a:ea typeface="Yu Gothic"/>
                <a:cs typeface="Yu Gothic"/>
              </a:defRPr>
            </a:lvl7pPr>
            <a:lvl8pPr>
              <a:defRPr sz="2250" b="1">
                <a:solidFill>
                  <a:srgbClr val="18364F"/>
                </a:solidFill>
                <a:latin typeface="Yu Gothic"/>
                <a:ea typeface="Yu Gothic"/>
                <a:cs typeface="Yu Gothic"/>
              </a:defRPr>
            </a:lvl8pPr>
            <a:lvl9pPr>
              <a:defRPr sz="2250" b="1">
                <a:solidFill>
                  <a:srgbClr val="18364F"/>
                </a:solidFill>
                <a:latin typeface="Yu Gothic"/>
                <a:ea typeface="Yu Gothic"/>
                <a:cs typeface="Yu Gothic"/>
              </a:defRPr>
            </a:lvl9pPr>
          </a:lstStyle>
          <a:p>
            <a:pPr>
              <a:defRPr sz="2250" b="1">
                <a:solidFill>
                  <a:srgbClr val="18364F"/>
                </a:solidFill>
                <a:latin typeface="Yu Gothic"/>
                <a:ea typeface="Yu Gothic"/>
                <a:cs typeface="Yu Gothic"/>
              </a:defRPr>
            </a:pPr>
            <a:r>
              <a:rPr sz="2250" b="1">
                <a:solidFill>
                  <a:srgbClr val="18364F"/>
                </a:solidFill>
                <a:latin typeface="Yu Gothic"/>
                <a:ea typeface="Yu Gothic"/>
                <a:cs typeface="Yu Gothic"/>
              </a:rPr>
              <a:t>ε(z) = κz → σ</a:t>
            </a:r>
          </a:p>
        </p:txBody>
      </p:sp>
      <p:sp>
        <p:nvSpPr>
          <p:cNvPr id="6" name="正方形/長方形 5">
            <a:extLst>
              <a:ext uri="{FF2B5EF4-FFF2-40B4-BE49-F238E27FC236}">
                <a16:creationId xmlns:a16="http://schemas.microsoft.com/office/drawing/2014/main" id="{3AAFB05B-2F01-44B1-A1D7-B8859389A7D4}"/>
              </a:ext>
            </a:extLst>
          </p:cNvPr>
          <p:cNvSpPr>
            <a:spLocks noGrp="1"/>
          </p:cNvSpPr>
          <p:nvPr/>
        </p:nvSpPr>
        <p:spPr>
          <a:xfrm>
            <a:off x="3027045" y="1575435"/>
            <a:ext cx="99003" cy="571500"/>
          </a:xfrm>
          <a:prstGeom prst="rect">
            <a:avLst/>
          </a:prstGeom>
          <a:noFill/>
          <a:ln w="0">
            <a:noFill/>
          </a:ln>
        </p:spPr>
        <p:txBody>
          <a:bodyPr lIns="0" tIns="0" rIns="0" bIns="0" anchor="ctr">
            <a:noAutofit/>
          </a:bodyPr>
          <a:lstStyle>
            <a:defPPr>
              <a:defRPr sz="1395" b="1">
                <a:solidFill>
                  <a:srgbClr val="18364F"/>
                </a:solidFill>
                <a:latin typeface="Yu Gothic"/>
                <a:ea typeface="Yu Gothic"/>
                <a:cs typeface="Yu Gothic"/>
              </a:defRPr>
            </a:defPPr>
            <a:lvl1pPr>
              <a:defRPr sz="1395" b="1">
                <a:solidFill>
                  <a:srgbClr val="18364F"/>
                </a:solidFill>
                <a:latin typeface="Yu Gothic"/>
                <a:ea typeface="Yu Gothic"/>
                <a:cs typeface="Yu Gothic"/>
              </a:defRPr>
            </a:lvl1pPr>
            <a:lvl2pPr>
              <a:defRPr sz="1395" b="1">
                <a:solidFill>
                  <a:srgbClr val="18364F"/>
                </a:solidFill>
                <a:latin typeface="Yu Gothic"/>
                <a:ea typeface="Yu Gothic"/>
                <a:cs typeface="Yu Gothic"/>
              </a:defRPr>
            </a:lvl2pPr>
            <a:lvl3pPr>
              <a:defRPr sz="1395" b="1">
                <a:solidFill>
                  <a:srgbClr val="18364F"/>
                </a:solidFill>
                <a:latin typeface="Yu Gothic"/>
                <a:ea typeface="Yu Gothic"/>
                <a:cs typeface="Yu Gothic"/>
              </a:defRPr>
            </a:lvl3pPr>
            <a:lvl4pPr>
              <a:defRPr sz="1395" b="1">
                <a:solidFill>
                  <a:srgbClr val="18364F"/>
                </a:solidFill>
                <a:latin typeface="Yu Gothic"/>
                <a:ea typeface="Yu Gothic"/>
                <a:cs typeface="Yu Gothic"/>
              </a:defRPr>
            </a:lvl4pPr>
            <a:lvl5pPr>
              <a:defRPr sz="1395" b="1">
                <a:solidFill>
                  <a:srgbClr val="18364F"/>
                </a:solidFill>
                <a:latin typeface="Yu Gothic"/>
                <a:ea typeface="Yu Gothic"/>
                <a:cs typeface="Yu Gothic"/>
              </a:defRPr>
            </a:lvl5pPr>
            <a:lvl6pPr>
              <a:defRPr sz="1395" b="1">
                <a:solidFill>
                  <a:srgbClr val="18364F"/>
                </a:solidFill>
                <a:latin typeface="Yu Gothic"/>
                <a:ea typeface="Yu Gothic"/>
                <a:cs typeface="Yu Gothic"/>
              </a:defRPr>
            </a:lvl6pPr>
            <a:lvl7pPr>
              <a:defRPr sz="1395" b="1">
                <a:solidFill>
                  <a:srgbClr val="18364F"/>
                </a:solidFill>
                <a:latin typeface="Yu Gothic"/>
                <a:ea typeface="Yu Gothic"/>
                <a:cs typeface="Yu Gothic"/>
              </a:defRPr>
            </a:lvl7pPr>
            <a:lvl8pPr>
              <a:defRPr sz="1395" b="1">
                <a:solidFill>
                  <a:srgbClr val="18364F"/>
                </a:solidFill>
                <a:latin typeface="Yu Gothic"/>
                <a:ea typeface="Yu Gothic"/>
                <a:cs typeface="Yu Gothic"/>
              </a:defRPr>
            </a:lvl8pPr>
            <a:lvl9pPr>
              <a:defRPr sz="1395" b="1">
                <a:solidFill>
                  <a:srgbClr val="18364F"/>
                </a:solidFill>
                <a:latin typeface="Yu Gothic"/>
                <a:ea typeface="Yu Gothic"/>
                <a:cs typeface="Yu Gothic"/>
              </a:defRPr>
            </a:lvl9pPr>
          </a:lstStyle>
          <a:p>
            <a:pPr>
              <a:defRPr sz="1395" b="1">
                <a:solidFill>
                  <a:srgbClr val="18364F"/>
                </a:solidFill>
                <a:latin typeface="Yu Gothic"/>
                <a:ea typeface="Yu Gothic"/>
                <a:cs typeface="Yu Gothic"/>
              </a:defRPr>
            </a:pPr>
            <a:r>
              <a:rPr sz="1395" b="1">
                <a:solidFill>
                  <a:srgbClr val="18364F"/>
                </a:solidFill>
                <a:latin typeface="Yu Gothic"/>
                <a:ea typeface="Yu Gothic"/>
                <a:cs typeface="Yu Gothic"/>
              </a:rPr>
              <a:t>i</a:t>
            </a:r>
          </a:p>
        </p:txBody>
      </p:sp>
      <p:sp>
        <p:nvSpPr>
          <p:cNvPr id="7" name="正方形/長方形 6">
            <a:extLst>
              <a:ext uri="{FF2B5EF4-FFF2-40B4-BE49-F238E27FC236}">
                <a16:creationId xmlns:a16="http://schemas.microsoft.com/office/drawing/2014/main" id="{FCAB3BDD-698E-4BDA-B060-2F3141B761DE}"/>
              </a:ext>
            </a:extLst>
          </p:cNvPr>
          <p:cNvSpPr>
            <a:spLocks noGrp="1"/>
          </p:cNvSpPr>
          <p:nvPr/>
        </p:nvSpPr>
        <p:spPr>
          <a:xfrm>
            <a:off x="3078423" y="1466850"/>
            <a:ext cx="976313" cy="571500"/>
          </a:xfrm>
          <a:prstGeom prst="rect">
            <a:avLst/>
          </a:prstGeom>
          <a:noFill/>
          <a:ln w="0">
            <a:noFill/>
          </a:ln>
        </p:spPr>
        <p:txBody>
          <a:bodyPr lIns="0" tIns="0" rIns="0" bIns="0" anchor="ctr">
            <a:noAutofit/>
          </a:bodyPr>
          <a:lstStyle>
            <a:defPPr>
              <a:defRPr sz="2250" b="1">
                <a:solidFill>
                  <a:srgbClr val="18364F"/>
                </a:solidFill>
                <a:latin typeface="Yu Gothic"/>
                <a:ea typeface="Yu Gothic"/>
                <a:cs typeface="Yu Gothic"/>
              </a:defRPr>
            </a:defPPr>
            <a:lvl1pPr>
              <a:defRPr sz="2250" b="1">
                <a:solidFill>
                  <a:srgbClr val="18364F"/>
                </a:solidFill>
                <a:latin typeface="Yu Gothic"/>
                <a:ea typeface="Yu Gothic"/>
                <a:cs typeface="Yu Gothic"/>
              </a:defRPr>
            </a:lvl1pPr>
            <a:lvl2pPr>
              <a:defRPr sz="2250" b="1">
                <a:solidFill>
                  <a:srgbClr val="18364F"/>
                </a:solidFill>
                <a:latin typeface="Yu Gothic"/>
                <a:ea typeface="Yu Gothic"/>
                <a:cs typeface="Yu Gothic"/>
              </a:defRPr>
            </a:lvl2pPr>
            <a:lvl3pPr>
              <a:defRPr sz="2250" b="1">
                <a:solidFill>
                  <a:srgbClr val="18364F"/>
                </a:solidFill>
                <a:latin typeface="Yu Gothic"/>
                <a:ea typeface="Yu Gothic"/>
                <a:cs typeface="Yu Gothic"/>
              </a:defRPr>
            </a:lvl3pPr>
            <a:lvl4pPr>
              <a:defRPr sz="2250" b="1">
                <a:solidFill>
                  <a:srgbClr val="18364F"/>
                </a:solidFill>
                <a:latin typeface="Yu Gothic"/>
                <a:ea typeface="Yu Gothic"/>
                <a:cs typeface="Yu Gothic"/>
              </a:defRPr>
            </a:lvl4pPr>
            <a:lvl5pPr>
              <a:defRPr sz="2250" b="1">
                <a:solidFill>
                  <a:srgbClr val="18364F"/>
                </a:solidFill>
                <a:latin typeface="Yu Gothic"/>
                <a:ea typeface="Yu Gothic"/>
                <a:cs typeface="Yu Gothic"/>
              </a:defRPr>
            </a:lvl5pPr>
            <a:lvl6pPr>
              <a:defRPr sz="2250" b="1">
                <a:solidFill>
                  <a:srgbClr val="18364F"/>
                </a:solidFill>
                <a:latin typeface="Yu Gothic"/>
                <a:ea typeface="Yu Gothic"/>
                <a:cs typeface="Yu Gothic"/>
              </a:defRPr>
            </a:lvl6pPr>
            <a:lvl7pPr>
              <a:defRPr sz="2250" b="1">
                <a:solidFill>
                  <a:srgbClr val="18364F"/>
                </a:solidFill>
                <a:latin typeface="Yu Gothic"/>
                <a:ea typeface="Yu Gothic"/>
                <a:cs typeface="Yu Gothic"/>
              </a:defRPr>
            </a:lvl7pPr>
            <a:lvl8pPr>
              <a:defRPr sz="2250" b="1">
                <a:solidFill>
                  <a:srgbClr val="18364F"/>
                </a:solidFill>
                <a:latin typeface="Yu Gothic"/>
                <a:ea typeface="Yu Gothic"/>
                <a:cs typeface="Yu Gothic"/>
              </a:defRPr>
            </a:lvl8pPr>
            <a:lvl9pPr>
              <a:defRPr sz="2250" b="1">
                <a:solidFill>
                  <a:srgbClr val="18364F"/>
                </a:solidFill>
                <a:latin typeface="Yu Gothic"/>
                <a:ea typeface="Yu Gothic"/>
                <a:cs typeface="Yu Gothic"/>
              </a:defRPr>
            </a:lvl9pPr>
          </a:lstStyle>
          <a:p>
            <a:pPr>
              <a:defRPr sz="2250" b="1">
                <a:solidFill>
                  <a:srgbClr val="18364F"/>
                </a:solidFill>
                <a:latin typeface="Yu Gothic"/>
                <a:ea typeface="Yu Gothic"/>
                <a:cs typeface="Yu Gothic"/>
              </a:defRPr>
            </a:pPr>
            <a:r>
              <a:rPr sz="2250" b="1">
                <a:solidFill>
                  <a:srgbClr val="18364F"/>
                </a:solidFill>
                <a:latin typeface="Yu Gothic"/>
                <a:ea typeface="Yu Gothic"/>
                <a:cs typeface="Yu Gothic"/>
              </a:rPr>
              <a:t>(z) = E</a:t>
            </a:r>
          </a:p>
        </p:txBody>
      </p:sp>
      <p:sp>
        <p:nvSpPr>
          <p:cNvPr id="8" name="正方形/長方形 7">
            <a:extLst>
              <a:ext uri="{FF2B5EF4-FFF2-40B4-BE49-F238E27FC236}">
                <a16:creationId xmlns:a16="http://schemas.microsoft.com/office/drawing/2014/main" id="{CDCF2841-155C-444B-B785-367F3ACB44AC}"/>
              </a:ext>
            </a:extLst>
          </p:cNvPr>
          <p:cNvSpPr>
            <a:spLocks noGrp="1"/>
          </p:cNvSpPr>
          <p:nvPr/>
        </p:nvSpPr>
        <p:spPr>
          <a:xfrm>
            <a:off x="4007110" y="1575435"/>
            <a:ext cx="99003" cy="571500"/>
          </a:xfrm>
          <a:prstGeom prst="rect">
            <a:avLst/>
          </a:prstGeom>
          <a:noFill/>
          <a:ln w="0">
            <a:noFill/>
          </a:ln>
        </p:spPr>
        <p:txBody>
          <a:bodyPr lIns="0" tIns="0" rIns="0" bIns="0" anchor="ctr">
            <a:noAutofit/>
          </a:bodyPr>
          <a:lstStyle>
            <a:defPPr>
              <a:defRPr sz="1395" b="1">
                <a:solidFill>
                  <a:srgbClr val="18364F"/>
                </a:solidFill>
                <a:latin typeface="Yu Gothic"/>
                <a:ea typeface="Yu Gothic"/>
                <a:cs typeface="Yu Gothic"/>
              </a:defRPr>
            </a:defPPr>
            <a:lvl1pPr>
              <a:defRPr sz="1395" b="1">
                <a:solidFill>
                  <a:srgbClr val="18364F"/>
                </a:solidFill>
                <a:latin typeface="Yu Gothic"/>
                <a:ea typeface="Yu Gothic"/>
                <a:cs typeface="Yu Gothic"/>
              </a:defRPr>
            </a:lvl1pPr>
            <a:lvl2pPr>
              <a:defRPr sz="1395" b="1">
                <a:solidFill>
                  <a:srgbClr val="18364F"/>
                </a:solidFill>
                <a:latin typeface="Yu Gothic"/>
                <a:ea typeface="Yu Gothic"/>
                <a:cs typeface="Yu Gothic"/>
              </a:defRPr>
            </a:lvl2pPr>
            <a:lvl3pPr>
              <a:defRPr sz="1395" b="1">
                <a:solidFill>
                  <a:srgbClr val="18364F"/>
                </a:solidFill>
                <a:latin typeface="Yu Gothic"/>
                <a:ea typeface="Yu Gothic"/>
                <a:cs typeface="Yu Gothic"/>
              </a:defRPr>
            </a:lvl3pPr>
            <a:lvl4pPr>
              <a:defRPr sz="1395" b="1">
                <a:solidFill>
                  <a:srgbClr val="18364F"/>
                </a:solidFill>
                <a:latin typeface="Yu Gothic"/>
                <a:ea typeface="Yu Gothic"/>
                <a:cs typeface="Yu Gothic"/>
              </a:defRPr>
            </a:lvl4pPr>
            <a:lvl5pPr>
              <a:defRPr sz="1395" b="1">
                <a:solidFill>
                  <a:srgbClr val="18364F"/>
                </a:solidFill>
                <a:latin typeface="Yu Gothic"/>
                <a:ea typeface="Yu Gothic"/>
                <a:cs typeface="Yu Gothic"/>
              </a:defRPr>
            </a:lvl5pPr>
            <a:lvl6pPr>
              <a:defRPr sz="1395" b="1">
                <a:solidFill>
                  <a:srgbClr val="18364F"/>
                </a:solidFill>
                <a:latin typeface="Yu Gothic"/>
                <a:ea typeface="Yu Gothic"/>
                <a:cs typeface="Yu Gothic"/>
              </a:defRPr>
            </a:lvl6pPr>
            <a:lvl7pPr>
              <a:defRPr sz="1395" b="1">
                <a:solidFill>
                  <a:srgbClr val="18364F"/>
                </a:solidFill>
                <a:latin typeface="Yu Gothic"/>
                <a:ea typeface="Yu Gothic"/>
                <a:cs typeface="Yu Gothic"/>
              </a:defRPr>
            </a:lvl7pPr>
            <a:lvl8pPr>
              <a:defRPr sz="1395" b="1">
                <a:solidFill>
                  <a:srgbClr val="18364F"/>
                </a:solidFill>
                <a:latin typeface="Yu Gothic"/>
                <a:ea typeface="Yu Gothic"/>
                <a:cs typeface="Yu Gothic"/>
              </a:defRPr>
            </a:lvl8pPr>
            <a:lvl9pPr>
              <a:defRPr sz="1395" b="1">
                <a:solidFill>
                  <a:srgbClr val="18364F"/>
                </a:solidFill>
                <a:latin typeface="Yu Gothic"/>
                <a:ea typeface="Yu Gothic"/>
                <a:cs typeface="Yu Gothic"/>
              </a:defRPr>
            </a:lvl9pPr>
          </a:lstStyle>
          <a:p>
            <a:pPr>
              <a:defRPr sz="1395" b="1">
                <a:solidFill>
                  <a:srgbClr val="18364F"/>
                </a:solidFill>
                <a:latin typeface="Yu Gothic"/>
                <a:ea typeface="Yu Gothic"/>
                <a:cs typeface="Yu Gothic"/>
              </a:defRPr>
            </a:pPr>
            <a:r>
              <a:rPr sz="1395" b="1">
                <a:solidFill>
                  <a:srgbClr val="18364F"/>
                </a:solidFill>
                <a:latin typeface="Yu Gothic"/>
                <a:ea typeface="Yu Gothic"/>
                <a:cs typeface="Yu Gothic"/>
              </a:rPr>
              <a:t>i</a:t>
            </a:r>
          </a:p>
        </p:txBody>
      </p:sp>
      <p:sp>
        <p:nvSpPr>
          <p:cNvPr id="9" name="正方形/長方形 8">
            <a:extLst>
              <a:ext uri="{FF2B5EF4-FFF2-40B4-BE49-F238E27FC236}">
                <a16:creationId xmlns:a16="http://schemas.microsoft.com/office/drawing/2014/main" id="{B8274DFD-0F1D-45A7-BA0A-005F2A8FE984}"/>
              </a:ext>
            </a:extLst>
          </p:cNvPr>
          <p:cNvSpPr>
            <a:spLocks noGrp="1"/>
          </p:cNvSpPr>
          <p:nvPr/>
        </p:nvSpPr>
        <p:spPr>
          <a:xfrm>
            <a:off x="4058488" y="1466850"/>
            <a:ext cx="3436620" cy="571500"/>
          </a:xfrm>
          <a:prstGeom prst="rect">
            <a:avLst/>
          </a:prstGeom>
          <a:noFill/>
          <a:ln w="0">
            <a:noFill/>
          </a:ln>
        </p:spPr>
        <p:txBody>
          <a:bodyPr lIns="0" tIns="0" rIns="0" bIns="0" anchor="ctr">
            <a:noAutofit/>
          </a:bodyPr>
          <a:lstStyle>
            <a:defPPr>
              <a:defRPr sz="2250" b="1">
                <a:solidFill>
                  <a:srgbClr val="18364F"/>
                </a:solidFill>
                <a:latin typeface="Yu Gothic"/>
                <a:ea typeface="Yu Gothic"/>
                <a:cs typeface="Yu Gothic"/>
              </a:defRPr>
            </a:defPPr>
            <a:lvl1pPr>
              <a:defRPr sz="2250" b="1">
                <a:solidFill>
                  <a:srgbClr val="18364F"/>
                </a:solidFill>
                <a:latin typeface="Yu Gothic"/>
                <a:ea typeface="Yu Gothic"/>
                <a:cs typeface="Yu Gothic"/>
              </a:defRPr>
            </a:lvl1pPr>
            <a:lvl2pPr>
              <a:defRPr sz="2250" b="1">
                <a:solidFill>
                  <a:srgbClr val="18364F"/>
                </a:solidFill>
                <a:latin typeface="Yu Gothic"/>
                <a:ea typeface="Yu Gothic"/>
                <a:cs typeface="Yu Gothic"/>
              </a:defRPr>
            </a:lvl2pPr>
            <a:lvl3pPr>
              <a:defRPr sz="2250" b="1">
                <a:solidFill>
                  <a:srgbClr val="18364F"/>
                </a:solidFill>
                <a:latin typeface="Yu Gothic"/>
                <a:ea typeface="Yu Gothic"/>
                <a:cs typeface="Yu Gothic"/>
              </a:defRPr>
            </a:lvl3pPr>
            <a:lvl4pPr>
              <a:defRPr sz="2250" b="1">
                <a:solidFill>
                  <a:srgbClr val="18364F"/>
                </a:solidFill>
                <a:latin typeface="Yu Gothic"/>
                <a:ea typeface="Yu Gothic"/>
                <a:cs typeface="Yu Gothic"/>
              </a:defRPr>
            </a:lvl4pPr>
            <a:lvl5pPr>
              <a:defRPr sz="2250" b="1">
                <a:solidFill>
                  <a:srgbClr val="18364F"/>
                </a:solidFill>
                <a:latin typeface="Yu Gothic"/>
                <a:ea typeface="Yu Gothic"/>
                <a:cs typeface="Yu Gothic"/>
              </a:defRPr>
            </a:lvl5pPr>
            <a:lvl6pPr>
              <a:defRPr sz="2250" b="1">
                <a:solidFill>
                  <a:srgbClr val="18364F"/>
                </a:solidFill>
                <a:latin typeface="Yu Gothic"/>
                <a:ea typeface="Yu Gothic"/>
                <a:cs typeface="Yu Gothic"/>
              </a:defRPr>
            </a:lvl6pPr>
            <a:lvl7pPr>
              <a:defRPr sz="2250" b="1">
                <a:solidFill>
                  <a:srgbClr val="18364F"/>
                </a:solidFill>
                <a:latin typeface="Yu Gothic"/>
                <a:ea typeface="Yu Gothic"/>
                <a:cs typeface="Yu Gothic"/>
              </a:defRPr>
            </a:lvl7pPr>
            <a:lvl8pPr>
              <a:defRPr sz="2250" b="1">
                <a:solidFill>
                  <a:srgbClr val="18364F"/>
                </a:solidFill>
                <a:latin typeface="Yu Gothic"/>
                <a:ea typeface="Yu Gothic"/>
                <a:cs typeface="Yu Gothic"/>
              </a:defRPr>
            </a:lvl8pPr>
            <a:lvl9pPr>
              <a:defRPr sz="2250" b="1">
                <a:solidFill>
                  <a:srgbClr val="18364F"/>
                </a:solidFill>
                <a:latin typeface="Yu Gothic"/>
                <a:ea typeface="Yu Gothic"/>
                <a:cs typeface="Yu Gothic"/>
              </a:defRPr>
            </a:lvl9pPr>
          </a:lstStyle>
          <a:p>
            <a:pPr>
              <a:defRPr sz="2250" b="1">
                <a:solidFill>
                  <a:srgbClr val="18364F"/>
                </a:solidFill>
                <a:latin typeface="Yu Gothic"/>
                <a:ea typeface="Yu Gothic"/>
                <a:cs typeface="Yu Gothic"/>
              </a:defRPr>
            </a:pPr>
            <a:r>
              <a:rPr sz="2250" b="1">
                <a:solidFill>
                  <a:srgbClr val="18364F"/>
                </a:solidFill>
                <a:latin typeface="Yu Gothic"/>
                <a:ea typeface="Yu Gothic"/>
                <a:cs typeface="Yu Gothic"/>
              </a:rPr>
              <a:t> κz　（κ = 1/R：曲率）</a:t>
            </a:r>
          </a:p>
        </p:txBody>
      </p:sp>
      <p:sp>
        <p:nvSpPr>
          <p:cNvPr id="10" name="正方形/長方形 9">
            <a:extLst>
              <a:ext uri="{FF2B5EF4-FFF2-40B4-BE49-F238E27FC236}">
                <a16:creationId xmlns:a16="http://schemas.microsoft.com/office/drawing/2014/main" id="{AB16899E-47C4-463B-9171-CAF53E335B60}"/>
              </a:ext>
            </a:extLst>
          </p:cNvPr>
          <p:cNvSpPr>
            <a:spLocks noGrp="1"/>
          </p:cNvSpPr>
          <p:nvPr/>
        </p:nvSpPr>
        <p:spPr>
          <a:xfrm>
            <a:off x="838200" y="2028825"/>
            <a:ext cx="1618488" cy="5715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M = κΣ(E</a:t>
            </a:r>
          </a:p>
        </p:txBody>
      </p:sp>
      <p:sp>
        <p:nvSpPr>
          <p:cNvPr id="11" name="正方形/長方形 10">
            <a:extLst>
              <a:ext uri="{FF2B5EF4-FFF2-40B4-BE49-F238E27FC236}">
                <a16:creationId xmlns:a16="http://schemas.microsoft.com/office/drawing/2014/main" id="{604EE0CA-B731-47B6-B8D4-4D2521CF94BD}"/>
              </a:ext>
            </a:extLst>
          </p:cNvPr>
          <p:cNvSpPr>
            <a:spLocks noGrp="1"/>
          </p:cNvSpPr>
          <p:nvPr/>
        </p:nvSpPr>
        <p:spPr>
          <a:xfrm>
            <a:off x="2409063" y="2141030"/>
            <a:ext cx="100715" cy="571500"/>
          </a:xfrm>
          <a:prstGeom prst="rect">
            <a:avLst/>
          </a:prstGeom>
          <a:noFill/>
          <a:ln w="0">
            <a:noFill/>
          </a:ln>
        </p:spPr>
        <p:txBody>
          <a:bodyPr lIns="0" tIns="0" rIns="0" bIns="0" anchor="ctr">
            <a:noAutofit/>
          </a:bodyPr>
          <a:lstStyle>
            <a:defPPr>
              <a:defRPr sz="1442" b="1">
                <a:solidFill>
                  <a:srgbClr val="18364F"/>
                </a:solidFill>
                <a:latin typeface="Yu Gothic"/>
                <a:ea typeface="Yu Gothic"/>
                <a:cs typeface="Yu Gothic"/>
              </a:defRPr>
            </a:defPPr>
            <a:lvl1pPr>
              <a:defRPr sz="1442" b="1">
                <a:solidFill>
                  <a:srgbClr val="18364F"/>
                </a:solidFill>
                <a:latin typeface="Yu Gothic"/>
                <a:ea typeface="Yu Gothic"/>
                <a:cs typeface="Yu Gothic"/>
              </a:defRPr>
            </a:lvl1pPr>
            <a:lvl2pPr>
              <a:defRPr sz="1442" b="1">
                <a:solidFill>
                  <a:srgbClr val="18364F"/>
                </a:solidFill>
                <a:latin typeface="Yu Gothic"/>
                <a:ea typeface="Yu Gothic"/>
                <a:cs typeface="Yu Gothic"/>
              </a:defRPr>
            </a:lvl2pPr>
            <a:lvl3pPr>
              <a:defRPr sz="1442" b="1">
                <a:solidFill>
                  <a:srgbClr val="18364F"/>
                </a:solidFill>
                <a:latin typeface="Yu Gothic"/>
                <a:ea typeface="Yu Gothic"/>
                <a:cs typeface="Yu Gothic"/>
              </a:defRPr>
            </a:lvl3pPr>
            <a:lvl4pPr>
              <a:defRPr sz="1442" b="1">
                <a:solidFill>
                  <a:srgbClr val="18364F"/>
                </a:solidFill>
                <a:latin typeface="Yu Gothic"/>
                <a:ea typeface="Yu Gothic"/>
                <a:cs typeface="Yu Gothic"/>
              </a:defRPr>
            </a:lvl4pPr>
            <a:lvl5pPr>
              <a:defRPr sz="1442" b="1">
                <a:solidFill>
                  <a:srgbClr val="18364F"/>
                </a:solidFill>
                <a:latin typeface="Yu Gothic"/>
                <a:ea typeface="Yu Gothic"/>
                <a:cs typeface="Yu Gothic"/>
              </a:defRPr>
            </a:lvl5pPr>
            <a:lvl6pPr>
              <a:defRPr sz="1442" b="1">
                <a:solidFill>
                  <a:srgbClr val="18364F"/>
                </a:solidFill>
                <a:latin typeface="Yu Gothic"/>
                <a:ea typeface="Yu Gothic"/>
                <a:cs typeface="Yu Gothic"/>
              </a:defRPr>
            </a:lvl6pPr>
            <a:lvl7pPr>
              <a:defRPr sz="1442" b="1">
                <a:solidFill>
                  <a:srgbClr val="18364F"/>
                </a:solidFill>
                <a:latin typeface="Yu Gothic"/>
                <a:ea typeface="Yu Gothic"/>
                <a:cs typeface="Yu Gothic"/>
              </a:defRPr>
            </a:lvl7pPr>
            <a:lvl8pPr>
              <a:defRPr sz="1442" b="1">
                <a:solidFill>
                  <a:srgbClr val="18364F"/>
                </a:solidFill>
                <a:latin typeface="Yu Gothic"/>
                <a:ea typeface="Yu Gothic"/>
                <a:cs typeface="Yu Gothic"/>
              </a:defRPr>
            </a:lvl8pPr>
            <a:lvl9pPr>
              <a:defRPr sz="1442" b="1">
                <a:solidFill>
                  <a:srgbClr val="18364F"/>
                </a:solidFill>
                <a:latin typeface="Yu Gothic"/>
                <a:ea typeface="Yu Gothic"/>
                <a:cs typeface="Yu Gothic"/>
              </a:defRPr>
            </a:lvl9pPr>
          </a:lstStyle>
          <a:p>
            <a:pPr>
              <a:defRPr sz="1442" b="1">
                <a:solidFill>
                  <a:srgbClr val="18364F"/>
                </a:solidFill>
                <a:latin typeface="Yu Gothic"/>
                <a:ea typeface="Yu Gothic"/>
                <a:cs typeface="Yu Gothic"/>
              </a:defRPr>
            </a:pPr>
            <a:r>
              <a:rPr sz="1442" b="1">
                <a:solidFill>
                  <a:srgbClr val="18364F"/>
                </a:solidFill>
                <a:latin typeface="Yu Gothic"/>
                <a:ea typeface="Yu Gothic"/>
                <a:cs typeface="Yu Gothic"/>
              </a:rPr>
              <a:t>i</a:t>
            </a:r>
          </a:p>
        </p:txBody>
      </p:sp>
      <p:sp>
        <p:nvSpPr>
          <p:cNvPr id="12" name="正方形/長方形 11">
            <a:extLst>
              <a:ext uri="{FF2B5EF4-FFF2-40B4-BE49-F238E27FC236}">
                <a16:creationId xmlns:a16="http://schemas.microsoft.com/office/drawing/2014/main" id="{EFE66B53-431E-4DBB-9648-F353031406B0}"/>
              </a:ext>
            </a:extLst>
          </p:cNvPr>
          <p:cNvSpPr>
            <a:spLocks noGrp="1"/>
          </p:cNvSpPr>
          <p:nvPr/>
        </p:nvSpPr>
        <p:spPr>
          <a:xfrm>
            <a:off x="2462153" y="2028825"/>
            <a:ext cx="227743" cy="5715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 I</a:t>
            </a:r>
          </a:p>
        </p:txBody>
      </p:sp>
      <p:sp>
        <p:nvSpPr>
          <p:cNvPr id="13" name="正方形/長方形 12">
            <a:extLst>
              <a:ext uri="{FF2B5EF4-FFF2-40B4-BE49-F238E27FC236}">
                <a16:creationId xmlns:a16="http://schemas.microsoft.com/office/drawing/2014/main" id="{00E0D8B1-45ED-40A9-B6E2-6C6F6885F612}"/>
              </a:ext>
            </a:extLst>
          </p:cNvPr>
          <p:cNvSpPr>
            <a:spLocks noGrp="1"/>
          </p:cNvSpPr>
          <p:nvPr/>
        </p:nvSpPr>
        <p:spPr>
          <a:xfrm>
            <a:off x="2642271" y="2141030"/>
            <a:ext cx="100715" cy="571500"/>
          </a:xfrm>
          <a:prstGeom prst="rect">
            <a:avLst/>
          </a:prstGeom>
          <a:noFill/>
          <a:ln w="0">
            <a:noFill/>
          </a:ln>
        </p:spPr>
        <p:txBody>
          <a:bodyPr lIns="0" tIns="0" rIns="0" bIns="0" anchor="ctr">
            <a:noAutofit/>
          </a:bodyPr>
          <a:lstStyle>
            <a:defPPr>
              <a:defRPr sz="1442" b="1">
                <a:solidFill>
                  <a:srgbClr val="18364F"/>
                </a:solidFill>
                <a:latin typeface="Yu Gothic"/>
                <a:ea typeface="Yu Gothic"/>
                <a:cs typeface="Yu Gothic"/>
              </a:defRPr>
            </a:defPPr>
            <a:lvl1pPr>
              <a:defRPr sz="1442" b="1">
                <a:solidFill>
                  <a:srgbClr val="18364F"/>
                </a:solidFill>
                <a:latin typeface="Yu Gothic"/>
                <a:ea typeface="Yu Gothic"/>
                <a:cs typeface="Yu Gothic"/>
              </a:defRPr>
            </a:lvl1pPr>
            <a:lvl2pPr>
              <a:defRPr sz="1442" b="1">
                <a:solidFill>
                  <a:srgbClr val="18364F"/>
                </a:solidFill>
                <a:latin typeface="Yu Gothic"/>
                <a:ea typeface="Yu Gothic"/>
                <a:cs typeface="Yu Gothic"/>
              </a:defRPr>
            </a:lvl2pPr>
            <a:lvl3pPr>
              <a:defRPr sz="1442" b="1">
                <a:solidFill>
                  <a:srgbClr val="18364F"/>
                </a:solidFill>
                <a:latin typeface="Yu Gothic"/>
                <a:ea typeface="Yu Gothic"/>
                <a:cs typeface="Yu Gothic"/>
              </a:defRPr>
            </a:lvl3pPr>
            <a:lvl4pPr>
              <a:defRPr sz="1442" b="1">
                <a:solidFill>
                  <a:srgbClr val="18364F"/>
                </a:solidFill>
                <a:latin typeface="Yu Gothic"/>
                <a:ea typeface="Yu Gothic"/>
                <a:cs typeface="Yu Gothic"/>
              </a:defRPr>
            </a:lvl4pPr>
            <a:lvl5pPr>
              <a:defRPr sz="1442" b="1">
                <a:solidFill>
                  <a:srgbClr val="18364F"/>
                </a:solidFill>
                <a:latin typeface="Yu Gothic"/>
                <a:ea typeface="Yu Gothic"/>
                <a:cs typeface="Yu Gothic"/>
              </a:defRPr>
            </a:lvl5pPr>
            <a:lvl6pPr>
              <a:defRPr sz="1442" b="1">
                <a:solidFill>
                  <a:srgbClr val="18364F"/>
                </a:solidFill>
                <a:latin typeface="Yu Gothic"/>
                <a:ea typeface="Yu Gothic"/>
                <a:cs typeface="Yu Gothic"/>
              </a:defRPr>
            </a:lvl6pPr>
            <a:lvl7pPr>
              <a:defRPr sz="1442" b="1">
                <a:solidFill>
                  <a:srgbClr val="18364F"/>
                </a:solidFill>
                <a:latin typeface="Yu Gothic"/>
                <a:ea typeface="Yu Gothic"/>
                <a:cs typeface="Yu Gothic"/>
              </a:defRPr>
            </a:lvl7pPr>
            <a:lvl8pPr>
              <a:defRPr sz="1442" b="1">
                <a:solidFill>
                  <a:srgbClr val="18364F"/>
                </a:solidFill>
                <a:latin typeface="Yu Gothic"/>
                <a:ea typeface="Yu Gothic"/>
                <a:cs typeface="Yu Gothic"/>
              </a:defRPr>
            </a:lvl8pPr>
            <a:lvl9pPr>
              <a:defRPr sz="1442" b="1">
                <a:solidFill>
                  <a:srgbClr val="18364F"/>
                </a:solidFill>
                <a:latin typeface="Yu Gothic"/>
                <a:ea typeface="Yu Gothic"/>
                <a:cs typeface="Yu Gothic"/>
              </a:defRPr>
            </a:lvl9pPr>
          </a:lstStyle>
          <a:p>
            <a:pPr>
              <a:defRPr sz="1442" b="1">
                <a:solidFill>
                  <a:srgbClr val="18364F"/>
                </a:solidFill>
                <a:latin typeface="Yu Gothic"/>
                <a:ea typeface="Yu Gothic"/>
                <a:cs typeface="Yu Gothic"/>
              </a:defRPr>
            </a:pPr>
            <a:r>
              <a:rPr sz="1442" b="1">
                <a:solidFill>
                  <a:srgbClr val="18364F"/>
                </a:solidFill>
                <a:latin typeface="Yu Gothic"/>
                <a:ea typeface="Yu Gothic"/>
                <a:cs typeface="Yu Gothic"/>
              </a:rPr>
              <a:t>i</a:t>
            </a:r>
          </a:p>
        </p:txBody>
      </p:sp>
      <p:sp>
        <p:nvSpPr>
          <p:cNvPr id="14" name="正方形/長方形 13">
            <a:extLst>
              <a:ext uri="{FF2B5EF4-FFF2-40B4-BE49-F238E27FC236}">
                <a16:creationId xmlns:a16="http://schemas.microsoft.com/office/drawing/2014/main" id="{1DAA119D-0A6D-4447-93D1-C607FC475351}"/>
              </a:ext>
            </a:extLst>
          </p:cNvPr>
          <p:cNvSpPr>
            <a:spLocks noGrp="1"/>
          </p:cNvSpPr>
          <p:nvPr/>
        </p:nvSpPr>
        <p:spPr>
          <a:xfrm>
            <a:off x="2695362" y="2028825"/>
            <a:ext cx="2504313" cy="5715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 → (EI)eq = Σ(E</a:t>
            </a:r>
          </a:p>
        </p:txBody>
      </p:sp>
      <p:sp>
        <p:nvSpPr>
          <p:cNvPr id="15" name="正方形/長方形 14">
            <a:extLst>
              <a:ext uri="{FF2B5EF4-FFF2-40B4-BE49-F238E27FC236}">
                <a16:creationId xmlns:a16="http://schemas.microsoft.com/office/drawing/2014/main" id="{F010A9A7-BF33-4CD6-B5E0-B5FD86CA9FE5}"/>
              </a:ext>
            </a:extLst>
          </p:cNvPr>
          <p:cNvSpPr>
            <a:spLocks noGrp="1"/>
          </p:cNvSpPr>
          <p:nvPr/>
        </p:nvSpPr>
        <p:spPr>
          <a:xfrm>
            <a:off x="5152050" y="2141030"/>
            <a:ext cx="100715" cy="571500"/>
          </a:xfrm>
          <a:prstGeom prst="rect">
            <a:avLst/>
          </a:prstGeom>
          <a:noFill/>
          <a:ln w="0">
            <a:noFill/>
          </a:ln>
        </p:spPr>
        <p:txBody>
          <a:bodyPr lIns="0" tIns="0" rIns="0" bIns="0" anchor="ctr">
            <a:noAutofit/>
          </a:bodyPr>
          <a:lstStyle>
            <a:defPPr>
              <a:defRPr sz="1442" b="1">
                <a:solidFill>
                  <a:srgbClr val="18364F"/>
                </a:solidFill>
                <a:latin typeface="Yu Gothic"/>
                <a:ea typeface="Yu Gothic"/>
                <a:cs typeface="Yu Gothic"/>
              </a:defRPr>
            </a:defPPr>
            <a:lvl1pPr>
              <a:defRPr sz="1442" b="1">
                <a:solidFill>
                  <a:srgbClr val="18364F"/>
                </a:solidFill>
                <a:latin typeface="Yu Gothic"/>
                <a:ea typeface="Yu Gothic"/>
                <a:cs typeface="Yu Gothic"/>
              </a:defRPr>
            </a:lvl1pPr>
            <a:lvl2pPr>
              <a:defRPr sz="1442" b="1">
                <a:solidFill>
                  <a:srgbClr val="18364F"/>
                </a:solidFill>
                <a:latin typeface="Yu Gothic"/>
                <a:ea typeface="Yu Gothic"/>
                <a:cs typeface="Yu Gothic"/>
              </a:defRPr>
            </a:lvl2pPr>
            <a:lvl3pPr>
              <a:defRPr sz="1442" b="1">
                <a:solidFill>
                  <a:srgbClr val="18364F"/>
                </a:solidFill>
                <a:latin typeface="Yu Gothic"/>
                <a:ea typeface="Yu Gothic"/>
                <a:cs typeface="Yu Gothic"/>
              </a:defRPr>
            </a:lvl3pPr>
            <a:lvl4pPr>
              <a:defRPr sz="1442" b="1">
                <a:solidFill>
                  <a:srgbClr val="18364F"/>
                </a:solidFill>
                <a:latin typeface="Yu Gothic"/>
                <a:ea typeface="Yu Gothic"/>
                <a:cs typeface="Yu Gothic"/>
              </a:defRPr>
            </a:lvl4pPr>
            <a:lvl5pPr>
              <a:defRPr sz="1442" b="1">
                <a:solidFill>
                  <a:srgbClr val="18364F"/>
                </a:solidFill>
                <a:latin typeface="Yu Gothic"/>
                <a:ea typeface="Yu Gothic"/>
                <a:cs typeface="Yu Gothic"/>
              </a:defRPr>
            </a:lvl5pPr>
            <a:lvl6pPr>
              <a:defRPr sz="1442" b="1">
                <a:solidFill>
                  <a:srgbClr val="18364F"/>
                </a:solidFill>
                <a:latin typeface="Yu Gothic"/>
                <a:ea typeface="Yu Gothic"/>
                <a:cs typeface="Yu Gothic"/>
              </a:defRPr>
            </a:lvl6pPr>
            <a:lvl7pPr>
              <a:defRPr sz="1442" b="1">
                <a:solidFill>
                  <a:srgbClr val="18364F"/>
                </a:solidFill>
                <a:latin typeface="Yu Gothic"/>
                <a:ea typeface="Yu Gothic"/>
                <a:cs typeface="Yu Gothic"/>
              </a:defRPr>
            </a:lvl7pPr>
            <a:lvl8pPr>
              <a:defRPr sz="1442" b="1">
                <a:solidFill>
                  <a:srgbClr val="18364F"/>
                </a:solidFill>
                <a:latin typeface="Yu Gothic"/>
                <a:ea typeface="Yu Gothic"/>
                <a:cs typeface="Yu Gothic"/>
              </a:defRPr>
            </a:lvl8pPr>
            <a:lvl9pPr>
              <a:defRPr sz="1442" b="1">
                <a:solidFill>
                  <a:srgbClr val="18364F"/>
                </a:solidFill>
                <a:latin typeface="Yu Gothic"/>
                <a:ea typeface="Yu Gothic"/>
                <a:cs typeface="Yu Gothic"/>
              </a:defRPr>
            </a:lvl9pPr>
          </a:lstStyle>
          <a:p>
            <a:pPr>
              <a:defRPr sz="1442" b="1">
                <a:solidFill>
                  <a:srgbClr val="18364F"/>
                </a:solidFill>
                <a:latin typeface="Yu Gothic"/>
                <a:ea typeface="Yu Gothic"/>
                <a:cs typeface="Yu Gothic"/>
              </a:defRPr>
            </a:pPr>
            <a:r>
              <a:rPr sz="1442" b="1">
                <a:solidFill>
                  <a:srgbClr val="18364F"/>
                </a:solidFill>
                <a:latin typeface="Yu Gothic"/>
                <a:ea typeface="Yu Gothic"/>
                <a:cs typeface="Yu Gothic"/>
              </a:rPr>
              <a:t>i</a:t>
            </a:r>
          </a:p>
        </p:txBody>
      </p:sp>
      <p:sp>
        <p:nvSpPr>
          <p:cNvPr id="16" name="正方形/長方形 15">
            <a:extLst>
              <a:ext uri="{FF2B5EF4-FFF2-40B4-BE49-F238E27FC236}">
                <a16:creationId xmlns:a16="http://schemas.microsoft.com/office/drawing/2014/main" id="{B4D0E220-F4CE-43F0-B9B1-E815CB79E4D9}"/>
              </a:ext>
            </a:extLst>
          </p:cNvPr>
          <p:cNvSpPr>
            <a:spLocks noGrp="1"/>
          </p:cNvSpPr>
          <p:nvPr/>
        </p:nvSpPr>
        <p:spPr>
          <a:xfrm>
            <a:off x="5205140" y="2028825"/>
            <a:ext cx="227743" cy="5715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 I</a:t>
            </a:r>
          </a:p>
        </p:txBody>
      </p:sp>
      <p:sp>
        <p:nvSpPr>
          <p:cNvPr id="17" name="正方形/長方形 16">
            <a:extLst>
              <a:ext uri="{FF2B5EF4-FFF2-40B4-BE49-F238E27FC236}">
                <a16:creationId xmlns:a16="http://schemas.microsoft.com/office/drawing/2014/main" id="{F83B2D9E-68E3-4E5E-A783-6990721FC3C4}"/>
              </a:ext>
            </a:extLst>
          </p:cNvPr>
          <p:cNvSpPr>
            <a:spLocks noGrp="1"/>
          </p:cNvSpPr>
          <p:nvPr/>
        </p:nvSpPr>
        <p:spPr>
          <a:xfrm>
            <a:off x="5385258" y="2141030"/>
            <a:ext cx="100715" cy="571500"/>
          </a:xfrm>
          <a:prstGeom prst="rect">
            <a:avLst/>
          </a:prstGeom>
          <a:noFill/>
          <a:ln w="0">
            <a:noFill/>
          </a:ln>
        </p:spPr>
        <p:txBody>
          <a:bodyPr lIns="0" tIns="0" rIns="0" bIns="0" anchor="ctr">
            <a:noAutofit/>
          </a:bodyPr>
          <a:lstStyle>
            <a:defPPr>
              <a:defRPr sz="1442" b="1">
                <a:solidFill>
                  <a:srgbClr val="18364F"/>
                </a:solidFill>
                <a:latin typeface="Yu Gothic"/>
                <a:ea typeface="Yu Gothic"/>
                <a:cs typeface="Yu Gothic"/>
              </a:defRPr>
            </a:defPPr>
            <a:lvl1pPr>
              <a:defRPr sz="1442" b="1">
                <a:solidFill>
                  <a:srgbClr val="18364F"/>
                </a:solidFill>
                <a:latin typeface="Yu Gothic"/>
                <a:ea typeface="Yu Gothic"/>
                <a:cs typeface="Yu Gothic"/>
              </a:defRPr>
            </a:lvl1pPr>
            <a:lvl2pPr>
              <a:defRPr sz="1442" b="1">
                <a:solidFill>
                  <a:srgbClr val="18364F"/>
                </a:solidFill>
                <a:latin typeface="Yu Gothic"/>
                <a:ea typeface="Yu Gothic"/>
                <a:cs typeface="Yu Gothic"/>
              </a:defRPr>
            </a:lvl2pPr>
            <a:lvl3pPr>
              <a:defRPr sz="1442" b="1">
                <a:solidFill>
                  <a:srgbClr val="18364F"/>
                </a:solidFill>
                <a:latin typeface="Yu Gothic"/>
                <a:ea typeface="Yu Gothic"/>
                <a:cs typeface="Yu Gothic"/>
              </a:defRPr>
            </a:lvl3pPr>
            <a:lvl4pPr>
              <a:defRPr sz="1442" b="1">
                <a:solidFill>
                  <a:srgbClr val="18364F"/>
                </a:solidFill>
                <a:latin typeface="Yu Gothic"/>
                <a:ea typeface="Yu Gothic"/>
                <a:cs typeface="Yu Gothic"/>
              </a:defRPr>
            </a:lvl4pPr>
            <a:lvl5pPr>
              <a:defRPr sz="1442" b="1">
                <a:solidFill>
                  <a:srgbClr val="18364F"/>
                </a:solidFill>
                <a:latin typeface="Yu Gothic"/>
                <a:ea typeface="Yu Gothic"/>
                <a:cs typeface="Yu Gothic"/>
              </a:defRPr>
            </a:lvl5pPr>
            <a:lvl6pPr>
              <a:defRPr sz="1442" b="1">
                <a:solidFill>
                  <a:srgbClr val="18364F"/>
                </a:solidFill>
                <a:latin typeface="Yu Gothic"/>
                <a:ea typeface="Yu Gothic"/>
                <a:cs typeface="Yu Gothic"/>
              </a:defRPr>
            </a:lvl6pPr>
            <a:lvl7pPr>
              <a:defRPr sz="1442" b="1">
                <a:solidFill>
                  <a:srgbClr val="18364F"/>
                </a:solidFill>
                <a:latin typeface="Yu Gothic"/>
                <a:ea typeface="Yu Gothic"/>
                <a:cs typeface="Yu Gothic"/>
              </a:defRPr>
            </a:lvl7pPr>
            <a:lvl8pPr>
              <a:defRPr sz="1442" b="1">
                <a:solidFill>
                  <a:srgbClr val="18364F"/>
                </a:solidFill>
                <a:latin typeface="Yu Gothic"/>
                <a:ea typeface="Yu Gothic"/>
                <a:cs typeface="Yu Gothic"/>
              </a:defRPr>
            </a:lvl8pPr>
            <a:lvl9pPr>
              <a:defRPr sz="1442" b="1">
                <a:solidFill>
                  <a:srgbClr val="18364F"/>
                </a:solidFill>
                <a:latin typeface="Yu Gothic"/>
                <a:ea typeface="Yu Gothic"/>
                <a:cs typeface="Yu Gothic"/>
              </a:defRPr>
            </a:lvl9pPr>
          </a:lstStyle>
          <a:p>
            <a:pPr>
              <a:defRPr sz="1442" b="1">
                <a:solidFill>
                  <a:srgbClr val="18364F"/>
                </a:solidFill>
                <a:latin typeface="Yu Gothic"/>
                <a:ea typeface="Yu Gothic"/>
                <a:cs typeface="Yu Gothic"/>
              </a:defRPr>
            </a:pPr>
            <a:r>
              <a:rPr sz="1442" b="1">
                <a:solidFill>
                  <a:srgbClr val="18364F"/>
                </a:solidFill>
                <a:latin typeface="Yu Gothic"/>
                <a:ea typeface="Yu Gothic"/>
                <a:cs typeface="Yu Gothic"/>
              </a:rPr>
              <a:t>i</a:t>
            </a:r>
          </a:p>
        </p:txBody>
      </p:sp>
      <p:sp>
        <p:nvSpPr>
          <p:cNvPr id="18" name="正方形/長方形 17">
            <a:extLst>
              <a:ext uri="{FF2B5EF4-FFF2-40B4-BE49-F238E27FC236}">
                <a16:creationId xmlns:a16="http://schemas.microsoft.com/office/drawing/2014/main" id="{201518A8-6B60-4955-874F-46F5F617F6B8}"/>
              </a:ext>
            </a:extLst>
          </p:cNvPr>
          <p:cNvSpPr>
            <a:spLocks noGrp="1"/>
          </p:cNvSpPr>
          <p:nvPr/>
        </p:nvSpPr>
        <p:spPr>
          <a:xfrm>
            <a:off x="5438348" y="2028825"/>
            <a:ext cx="165735" cy="57150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a:t>
            </a:r>
          </a:p>
        </p:txBody>
      </p:sp>
      <p:graphicFrame>
        <p:nvGraphicFramePr>
          <p:cNvPr id="19" name="表 18">
            <a:extLst>
              <a:ext uri="{FF2B5EF4-FFF2-40B4-BE49-F238E27FC236}">
                <a16:creationId xmlns:a16="http://schemas.microsoft.com/office/drawing/2014/main" id="{B3102B40-35B9-4590-91C1-33003A941006}"/>
              </a:ext>
            </a:extLst>
          </p:cNvPr>
          <p:cNvGraphicFramePr/>
          <p:nvPr/>
        </p:nvGraphicFramePr>
        <p:xfrm>
          <a:off x="838200" y="2733675"/>
          <a:ext cx="10477500" cy="1714500"/>
        </p:xfrm>
        <a:graphic>
          <a:graphicData uri="http://schemas.openxmlformats.org/drawingml/2006/table">
            <a:tbl>
              <a:tblPr/>
              <a:tblGrid>
                <a:gridCol w="40957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571500">
                <a:tc>
                  <a:txBody>
                    <a:bodyPr/>
                    <a:lstStyle/>
                    <a:p>
                      <a:r>
                        <a:rPr sz="1800" b="1">
                          <a:solidFill>
                            <a:srgbClr val="FFFFFF"/>
                          </a:solidFill>
                          <a:latin typeface="Yu Gothic"/>
                          <a:ea typeface="Yu Gothic"/>
                          <a:cs typeface="Yu Gothic"/>
                        </a:rPr>
                        <a:t>構成</a:t>
                      </a:r>
                    </a:p>
                  </a:txBody>
                  <a:tcPr>
                    <a:solidFill>
                      <a:srgbClr val="18364F"/>
                    </a:solidFill>
                  </a:tcPr>
                </a:tc>
                <a:tc>
                  <a:txBody>
                    <a:bodyPr/>
                    <a:lstStyle/>
                    <a:p>
                      <a:r>
                        <a:rPr sz="1800" b="1">
                          <a:solidFill>
                            <a:srgbClr val="FFFFFF"/>
                          </a:solidFill>
                          <a:latin typeface="Yu Gothic"/>
                          <a:ea typeface="Yu Gothic"/>
                          <a:cs typeface="Yu Gothic"/>
                        </a:rPr>
                        <a:t>0°層のI合計</a:t>
                      </a:r>
                    </a:p>
                  </a:txBody>
                  <a:tcPr>
                    <a:solidFill>
                      <a:srgbClr val="18364F"/>
                    </a:solidFill>
                  </a:tcPr>
                </a:tc>
                <a:tc>
                  <a:txBody>
                    <a:bodyPr/>
                    <a:lstStyle/>
                    <a:p>
                      <a:r>
                        <a:rPr sz="1800" b="1">
                          <a:solidFill>
                            <a:srgbClr val="FFFFFF"/>
                          </a:solidFill>
                          <a:latin typeface="Yu Gothic"/>
                          <a:ea typeface="Yu Gothic"/>
                          <a:cs typeface="Yu Gothic"/>
                        </a:rPr>
                        <a:t>90°層のI合計</a:t>
                      </a:r>
                    </a:p>
                  </a:txBody>
                  <a:tcPr>
                    <a:solidFill>
                      <a:srgbClr val="18364F"/>
                    </a:solidFill>
                  </a:tcPr>
                </a:tc>
                <a:extLst>
                  <a:ext uri="{0D108BD9-81ED-4DB2-BD59-A6C34878D82A}">
                    <a16:rowId xmlns:a16="http://schemas.microsoft.com/office/drawing/2014/main" val="10000"/>
                  </a:ext>
                </a:extLst>
              </a:tr>
              <a:tr h="571500">
                <a:tc>
                  <a:txBody>
                    <a:bodyPr/>
                    <a:lstStyle/>
                    <a:p>
                      <a:r>
                        <a:rPr sz="1800" b="0">
                          <a:solidFill>
                            <a:srgbClr val="253C4D"/>
                          </a:solidFill>
                          <a:latin typeface="Yu Gothic"/>
                          <a:ea typeface="Yu Gothic"/>
                          <a:cs typeface="Yu Gothic"/>
                        </a:rPr>
                        <a:t>A：外側が0°</a:t>
                      </a:r>
                    </a:p>
                  </a:txBody>
                  <a:tcPr>
                    <a:solidFill>
                      <a:srgbClr val="F1F5F7"/>
                    </a:solidFill>
                  </a:tcPr>
                </a:tc>
                <a:tc>
                  <a:txBody>
                    <a:bodyPr/>
                    <a:lstStyle/>
                    <a:p>
                      <a:r>
                        <a:rPr sz="1800" b="0">
                          <a:solidFill>
                            <a:srgbClr val="253C4D"/>
                          </a:solidFill>
                          <a:latin typeface="Yu Gothic"/>
                          <a:ea typeface="Yu Gothic"/>
                          <a:cs typeface="Yu Gothic"/>
                        </a:rPr>
                        <a:t>6600.00 mm⁴</a:t>
                      </a:r>
                    </a:p>
                  </a:txBody>
                  <a:tcPr>
                    <a:solidFill>
                      <a:srgbClr val="F1F5F7"/>
                    </a:solidFill>
                  </a:tcPr>
                </a:tc>
                <a:tc>
                  <a:txBody>
                    <a:bodyPr/>
                    <a:lstStyle/>
                    <a:p>
                      <a:r>
                        <a:rPr sz="1800" b="0">
                          <a:solidFill>
                            <a:srgbClr val="253C4D"/>
                          </a:solidFill>
                          <a:latin typeface="Yu Gothic"/>
                          <a:ea typeface="Yu Gothic"/>
                          <a:cs typeface="Yu Gothic"/>
                        </a:rPr>
                        <a:t>1733.33 mm⁴</a:t>
                      </a:r>
                    </a:p>
                  </a:txBody>
                  <a:tcPr>
                    <a:solidFill>
                      <a:srgbClr val="F1F5F7"/>
                    </a:solidFill>
                  </a:tcPr>
                </a:tc>
                <a:extLst>
                  <a:ext uri="{0D108BD9-81ED-4DB2-BD59-A6C34878D82A}">
                    <a16:rowId xmlns:a16="http://schemas.microsoft.com/office/drawing/2014/main" val="10001"/>
                  </a:ext>
                </a:extLst>
              </a:tr>
              <a:tr h="571500">
                <a:tc>
                  <a:txBody>
                    <a:bodyPr/>
                    <a:lstStyle/>
                    <a:p>
                      <a:r>
                        <a:rPr sz="1800" b="0">
                          <a:solidFill>
                            <a:srgbClr val="253C4D"/>
                          </a:solidFill>
                          <a:latin typeface="Yu Gothic"/>
                          <a:ea typeface="Yu Gothic"/>
                          <a:cs typeface="Yu Gothic"/>
                        </a:rPr>
                        <a:t>C：外側が90°</a:t>
                      </a:r>
                    </a:p>
                  </a:txBody>
                  <a:tcPr>
                    <a:solidFill>
                      <a:srgbClr val="FFFFFF"/>
                    </a:solidFill>
                  </a:tcPr>
                </a:tc>
                <a:tc>
                  <a:txBody>
                    <a:bodyPr/>
                    <a:lstStyle/>
                    <a:p>
                      <a:r>
                        <a:rPr sz="1800" b="0">
                          <a:solidFill>
                            <a:srgbClr val="253C4D"/>
                          </a:solidFill>
                          <a:latin typeface="Yu Gothic"/>
                          <a:ea typeface="Yu Gothic"/>
                          <a:cs typeface="Yu Gothic"/>
                        </a:rPr>
                        <a:t>1800.00 mm⁴</a:t>
                      </a:r>
                    </a:p>
                  </a:txBody>
                  <a:tcPr>
                    <a:solidFill>
                      <a:srgbClr val="FFFFFF"/>
                    </a:solidFill>
                  </a:tcPr>
                </a:tc>
                <a:tc>
                  <a:txBody>
                    <a:bodyPr/>
                    <a:lstStyle/>
                    <a:p>
                      <a:r>
                        <a:rPr sz="1800" b="0">
                          <a:solidFill>
                            <a:srgbClr val="253C4D"/>
                          </a:solidFill>
                          <a:latin typeface="Yu Gothic"/>
                          <a:ea typeface="Yu Gothic"/>
                          <a:cs typeface="Yu Gothic"/>
                        </a:rPr>
                        <a:t>6533.33 mm⁴</a:t>
                      </a:r>
                    </a:p>
                  </a:txBody>
                  <a:tcPr>
                    <a:solidFill>
                      <a:srgbClr val="FFFFFF"/>
                    </a:solidFill>
                  </a:tcPr>
                </a:tc>
                <a:extLst>
                  <a:ext uri="{0D108BD9-81ED-4DB2-BD59-A6C34878D82A}">
                    <a16:rowId xmlns:a16="http://schemas.microsoft.com/office/drawing/2014/main" val="10002"/>
                  </a:ext>
                </a:extLst>
              </a:tr>
            </a:tbl>
          </a:graphicData>
        </a:graphic>
      </p:graphicFrame>
      <p:sp>
        <p:nvSpPr>
          <p:cNvPr id="20" name="正方形/長方形 19">
            <a:extLst>
              <a:ext uri="{FF2B5EF4-FFF2-40B4-BE49-F238E27FC236}">
                <a16:creationId xmlns:a16="http://schemas.microsoft.com/office/drawing/2014/main" id="{0ED56456-A6BA-4EC3-9F3A-2308ECD8893B}"/>
              </a:ext>
            </a:extLst>
          </p:cNvPr>
          <p:cNvSpPr>
            <a:spLocks noGrp="1"/>
          </p:cNvSpPr>
          <p:nvPr/>
        </p:nvSpPr>
        <p:spPr>
          <a:xfrm>
            <a:off x="838200" y="4552950"/>
            <a:ext cx="10477500" cy="476250"/>
          </a:xfrm>
          <a:prstGeom prst="rect">
            <a:avLst/>
          </a:prstGeom>
          <a:noFill/>
          <a:ln w="0">
            <a:noFill/>
          </a:ln>
        </p:spPr>
        <p:txBody>
          <a:bodyPr lIns="0" tIns="0" rIns="0" bIns="0" anchor="ctr">
            <a:noAutofit/>
          </a:bodyPr>
          <a:lstStyle>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0°：E = 10000 N/mm²　　90°：E = 500 N/mm²</a:t>
            </a:r>
          </a:p>
        </p:txBody>
      </p:sp>
      <p:sp>
        <p:nvSpPr>
          <p:cNvPr id="21" name="正方形/長方形 20">
            <a:extLst>
              <a:ext uri="{FF2B5EF4-FFF2-40B4-BE49-F238E27FC236}">
                <a16:creationId xmlns:a16="http://schemas.microsoft.com/office/drawing/2014/main" id="{F4016899-8F75-4CE9-B6E3-EBAE76081F2D}"/>
              </a:ext>
            </a:extLst>
          </p:cNvPr>
          <p:cNvSpPr>
            <a:spLocks noGrp="1"/>
          </p:cNvSpPr>
          <p:nvPr/>
        </p:nvSpPr>
        <p:spPr>
          <a:xfrm>
            <a:off x="838200" y="5162550"/>
            <a:ext cx="10477500" cy="523875"/>
          </a:xfrm>
          <a:prstGeom prst="rect">
            <a:avLst/>
          </a:prstGeom>
          <a:noFill/>
          <a:ln w="0">
            <a:noFill/>
          </a:ln>
        </p:spPr>
        <p:txBody>
          <a:bodyPr lIns="0" tIns="0" rIns="0" bIns="0" anchor="ctr">
            <a:noAutofit/>
          </a:bodyPr>
          <a:lstStyle>
            <a:defPPr>
              <a:defRPr sz="2250" b="1">
                <a:solidFill>
                  <a:srgbClr val="087E8B"/>
                </a:solidFill>
                <a:latin typeface="Yu Gothic"/>
                <a:ea typeface="Yu Gothic"/>
                <a:cs typeface="Yu Gothic"/>
              </a:defRPr>
            </a:defPPr>
            <a:lvl1pPr>
              <a:defRPr sz="2250" b="1">
                <a:solidFill>
                  <a:srgbClr val="087E8B"/>
                </a:solidFill>
                <a:latin typeface="Yu Gothic"/>
                <a:ea typeface="Yu Gothic"/>
                <a:cs typeface="Yu Gothic"/>
              </a:defRPr>
            </a:lvl1pPr>
            <a:lvl2pPr>
              <a:defRPr sz="2250" b="1">
                <a:solidFill>
                  <a:srgbClr val="087E8B"/>
                </a:solidFill>
                <a:latin typeface="Yu Gothic"/>
                <a:ea typeface="Yu Gothic"/>
                <a:cs typeface="Yu Gothic"/>
              </a:defRPr>
            </a:lvl2pPr>
            <a:lvl3pPr>
              <a:defRPr sz="2250" b="1">
                <a:solidFill>
                  <a:srgbClr val="087E8B"/>
                </a:solidFill>
                <a:latin typeface="Yu Gothic"/>
                <a:ea typeface="Yu Gothic"/>
                <a:cs typeface="Yu Gothic"/>
              </a:defRPr>
            </a:lvl3pPr>
            <a:lvl4pPr>
              <a:defRPr sz="2250" b="1">
                <a:solidFill>
                  <a:srgbClr val="087E8B"/>
                </a:solidFill>
                <a:latin typeface="Yu Gothic"/>
                <a:ea typeface="Yu Gothic"/>
                <a:cs typeface="Yu Gothic"/>
              </a:defRPr>
            </a:lvl4pPr>
            <a:lvl5pPr>
              <a:defRPr sz="2250" b="1">
                <a:solidFill>
                  <a:srgbClr val="087E8B"/>
                </a:solidFill>
                <a:latin typeface="Yu Gothic"/>
                <a:ea typeface="Yu Gothic"/>
                <a:cs typeface="Yu Gothic"/>
              </a:defRPr>
            </a:lvl5pPr>
            <a:lvl6pPr>
              <a:defRPr sz="2250" b="1">
                <a:solidFill>
                  <a:srgbClr val="087E8B"/>
                </a:solidFill>
                <a:latin typeface="Yu Gothic"/>
                <a:ea typeface="Yu Gothic"/>
                <a:cs typeface="Yu Gothic"/>
              </a:defRPr>
            </a:lvl6pPr>
            <a:lvl7pPr>
              <a:defRPr sz="2250" b="1">
                <a:solidFill>
                  <a:srgbClr val="087E8B"/>
                </a:solidFill>
                <a:latin typeface="Yu Gothic"/>
                <a:ea typeface="Yu Gothic"/>
                <a:cs typeface="Yu Gothic"/>
              </a:defRPr>
            </a:lvl7pPr>
            <a:lvl8pPr>
              <a:defRPr sz="2250" b="1">
                <a:solidFill>
                  <a:srgbClr val="087E8B"/>
                </a:solidFill>
                <a:latin typeface="Yu Gothic"/>
                <a:ea typeface="Yu Gothic"/>
                <a:cs typeface="Yu Gothic"/>
              </a:defRPr>
            </a:lvl8pPr>
            <a:lvl9pPr>
              <a:defRPr sz="2250" b="1">
                <a:solidFill>
                  <a:srgbClr val="087E8B"/>
                </a:solidFill>
                <a:latin typeface="Yu Gothic"/>
                <a:ea typeface="Yu Gothic"/>
                <a:cs typeface="Yu Gothic"/>
              </a:defRPr>
            </a:lvl9pPr>
          </a:lstStyle>
          <a:p>
            <a:pPr>
              <a:defRPr sz="2250" b="1">
                <a:solidFill>
                  <a:srgbClr val="087E8B"/>
                </a:solidFill>
                <a:latin typeface="Yu Gothic"/>
                <a:ea typeface="Yu Gothic"/>
                <a:cs typeface="Yu Gothic"/>
              </a:defRPr>
            </a:pPr>
            <a:r>
              <a:rPr sz="2250" b="1">
                <a:solidFill>
                  <a:srgbClr val="087E8B"/>
                </a:solidFill>
                <a:latin typeface="Yu Gothic"/>
                <a:ea typeface="Yu Gothic"/>
                <a:cs typeface="Yu Gothic"/>
              </a:rPr>
              <a:t>A：66.87×10⁶ N·mm²　　C：21.27×10⁶ N·mm²</a:t>
            </a:r>
          </a:p>
        </p:txBody>
      </p:sp>
      <p:sp>
        <p:nvSpPr>
          <p:cNvPr id="22" name="正方形/長方形 21">
            <a:extLst>
              <a:ext uri="{FF2B5EF4-FFF2-40B4-BE49-F238E27FC236}">
                <a16:creationId xmlns:a16="http://schemas.microsoft.com/office/drawing/2014/main" id="{2FD6BA5C-A54E-4AA8-8517-057D4138AFA0}"/>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幅一定の弾性帯板。すべり・せん断変形・横方向連成を省略。強度計算ではない。</a:t>
            </a:r>
          </a:p>
        </p:txBody>
      </p:sp>
    </p:spTree>
    <p:extLst>
      <p:ext uri="{BB962C8B-B14F-4D97-AF65-F5344CB8AC3E}">
        <p14:creationId xmlns:p14="http://schemas.microsoft.com/office/powerpoint/2010/main" val="2649262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526BF09-D217-4EB7-A9DA-B14DD55E7827}"/>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同じ荷重に対する、たわみを比べる</a:t>
            </a:r>
          </a:p>
        </p:txBody>
      </p:sp>
      <p:sp>
        <p:nvSpPr>
          <p:cNvPr id="2" name="正方形/長方形 1">
            <a:extLst>
              <a:ext uri="{FF2B5EF4-FFF2-40B4-BE49-F238E27FC236}">
                <a16:creationId xmlns:a16="http://schemas.microsoft.com/office/drawing/2014/main" id="{A673702A-1B21-4752-8EEC-6517950E994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00F5B5A-93FC-4990-BD32-77AF4E8110C1}"/>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11B2E02-55CA-47C6-BC6B-2F8B9407DE1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04B3512C-6AE0-43B6-955B-7F18C771A897}"/>
              </a:ext>
            </a:extLst>
          </p:cNvPr>
          <p:cNvSpPr>
            <a:spLocks noGrp="1"/>
          </p:cNvSpPr>
          <p:nvPr/>
        </p:nvSpPr>
        <p:spPr>
          <a:xfrm>
            <a:off x="838200" y="1476375"/>
            <a:ext cx="10477500" cy="552450"/>
          </a:xfrm>
          <a:prstGeom prst="rect">
            <a:avLst/>
          </a:prstGeom>
          <a:noFill/>
          <a:ln w="0">
            <a:noFill/>
          </a:ln>
        </p:spPr>
        <p:txBody>
          <a:bodyPr lIns="0" tIns="0" rIns="0" bIns="0" anchor="ctr">
            <a:noAutofit/>
          </a:bodyPr>
          <a:lstStyle>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δ = FL³ / [48(EI)eq]　　L = 300 mm、中央集中荷重F</a:t>
            </a:r>
          </a:p>
        </p:txBody>
      </p:sp>
      <p:graphicFrame>
        <p:nvGraphicFramePr>
          <p:cNvPr id="6" name="Chart">
            <a:extLst>
              <a:ext uri="{FF2B5EF4-FFF2-40B4-BE49-F238E27FC236}">
                <a16:creationId xmlns:a16="http://schemas.microsoft.com/office/drawing/2014/main" id="{696F00CD-7909-4EB4-9504-1A5725B11E56}"/>
              </a:ext>
            </a:extLst>
          </p:cNvPr>
          <p:cNvGraphicFramePr/>
          <p:nvPr/>
        </p:nvGraphicFramePr>
        <p:xfrm>
          <a:off x="838200" y="2076450"/>
          <a:ext cx="10477500"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4DDE33B4-CD4C-4216-9B65-31907C065A4F}"/>
              </a:ext>
            </a:extLst>
          </p:cNvPr>
          <p:cNvSpPr>
            <a:spLocks noGrp="1"/>
          </p:cNvSpPr>
          <p:nvPr/>
        </p:nvSpPr>
        <p:spPr>
          <a:xfrm>
            <a:off x="838200" y="5867400"/>
            <a:ext cx="10477500" cy="476250"/>
          </a:xfrm>
          <a:prstGeom prst="rect">
            <a:avLst/>
          </a:prstGeom>
          <a:noFill/>
          <a:ln w="0">
            <a:noFill/>
          </a:ln>
        </p:spPr>
        <p:txBody>
          <a:bodyPr lIns="0" tIns="0" rIns="0" bIns="0" anchor="ctr">
            <a:noAutofit/>
          </a:bodyPr>
          <a:lstStyle>
            <a:defPPr>
              <a:defRPr sz="1425" b="1">
                <a:solidFill>
                  <a:srgbClr val="087E8B"/>
                </a:solidFill>
                <a:latin typeface="Yu Gothic"/>
                <a:ea typeface="Yu Gothic"/>
                <a:cs typeface="Yu Gothic"/>
              </a:defRPr>
            </a:defPPr>
            <a:lvl1pPr>
              <a:defRPr sz="1425" b="1">
                <a:solidFill>
                  <a:srgbClr val="087E8B"/>
                </a:solidFill>
                <a:latin typeface="Yu Gothic"/>
                <a:ea typeface="Yu Gothic"/>
                <a:cs typeface="Yu Gothic"/>
              </a:defRPr>
            </a:lvl1pPr>
            <a:lvl2pPr>
              <a:defRPr sz="1425" b="1">
                <a:solidFill>
                  <a:srgbClr val="087E8B"/>
                </a:solidFill>
                <a:latin typeface="Yu Gothic"/>
                <a:ea typeface="Yu Gothic"/>
                <a:cs typeface="Yu Gothic"/>
              </a:defRPr>
            </a:lvl2pPr>
            <a:lvl3pPr>
              <a:defRPr sz="1425" b="1">
                <a:solidFill>
                  <a:srgbClr val="087E8B"/>
                </a:solidFill>
                <a:latin typeface="Yu Gothic"/>
                <a:ea typeface="Yu Gothic"/>
                <a:cs typeface="Yu Gothic"/>
              </a:defRPr>
            </a:lvl3pPr>
            <a:lvl4pPr>
              <a:defRPr sz="1425" b="1">
                <a:solidFill>
                  <a:srgbClr val="087E8B"/>
                </a:solidFill>
                <a:latin typeface="Yu Gothic"/>
                <a:ea typeface="Yu Gothic"/>
                <a:cs typeface="Yu Gothic"/>
              </a:defRPr>
            </a:lvl4pPr>
            <a:lvl5pPr>
              <a:defRPr sz="1425" b="1">
                <a:solidFill>
                  <a:srgbClr val="087E8B"/>
                </a:solidFill>
                <a:latin typeface="Yu Gothic"/>
                <a:ea typeface="Yu Gothic"/>
                <a:cs typeface="Yu Gothic"/>
              </a:defRPr>
            </a:lvl5pPr>
            <a:lvl6pPr>
              <a:defRPr sz="1425" b="1">
                <a:solidFill>
                  <a:srgbClr val="087E8B"/>
                </a:solidFill>
                <a:latin typeface="Yu Gothic"/>
                <a:ea typeface="Yu Gothic"/>
                <a:cs typeface="Yu Gothic"/>
              </a:defRPr>
            </a:lvl6pPr>
            <a:lvl7pPr>
              <a:defRPr sz="1425" b="1">
                <a:solidFill>
                  <a:srgbClr val="087E8B"/>
                </a:solidFill>
                <a:latin typeface="Yu Gothic"/>
                <a:ea typeface="Yu Gothic"/>
                <a:cs typeface="Yu Gothic"/>
              </a:defRPr>
            </a:lvl7pPr>
            <a:lvl8pPr>
              <a:defRPr sz="1425" b="1">
                <a:solidFill>
                  <a:srgbClr val="087E8B"/>
                </a:solidFill>
                <a:latin typeface="Yu Gothic"/>
                <a:ea typeface="Yu Gothic"/>
                <a:cs typeface="Yu Gothic"/>
              </a:defRPr>
            </a:lvl8pPr>
            <a:lvl9pPr>
              <a:defRPr sz="1425" b="1">
                <a:solidFill>
                  <a:srgbClr val="087E8B"/>
                </a:solidFill>
                <a:latin typeface="Yu Gothic"/>
                <a:ea typeface="Yu Gothic"/>
                <a:cs typeface="Yu Gothic"/>
              </a:defRPr>
            </a:lvl9pPr>
          </a:lstStyle>
          <a:p>
            <a:pPr>
              <a:defRPr sz="1425" b="1">
                <a:solidFill>
                  <a:srgbClr val="087E8B"/>
                </a:solidFill>
                <a:latin typeface="Yu Gothic"/>
                <a:ea typeface="Yu Gothic"/>
                <a:cs typeface="Yu Gothic"/>
              </a:defRPr>
            </a:pPr>
            <a:r>
              <a:rPr sz="1425" b="1">
                <a:solidFill>
                  <a:srgbClr val="087E8B"/>
                </a:solidFill>
                <a:latin typeface="Yu Gothic"/>
                <a:ea typeface="Yu Gothic"/>
                <a:cs typeface="Yu Gothic"/>
              </a:rPr>
              <a:t>数値・模式図は本教材の説明モデル。特定の樹種・製品の実測値、強度値、設計値ではない。</a:t>
            </a:r>
          </a:p>
        </p:txBody>
      </p:sp>
    </p:spTree>
    <p:extLst>
      <p:ext uri="{BB962C8B-B14F-4D97-AF65-F5344CB8AC3E}">
        <p14:creationId xmlns:p14="http://schemas.microsoft.com/office/powerpoint/2010/main" val="2903859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EFCEB64C-C5A1-4AA1-A47D-0EAE08633A3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表面と接合部を、使う環境へ合わせる</a:t>
            </a:r>
          </a:p>
        </p:txBody>
      </p:sp>
      <p:sp>
        <p:nvSpPr>
          <p:cNvPr id="2" name="正方形/長方形 1">
            <a:extLst>
              <a:ext uri="{FF2B5EF4-FFF2-40B4-BE49-F238E27FC236}">
                <a16:creationId xmlns:a16="http://schemas.microsoft.com/office/drawing/2014/main" id="{1DBA4886-969E-44B6-A771-8609D8A09A20}"/>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41F10DE3-3295-411F-BA09-65645FEAEAD5}"/>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D4126BD-9D2C-41E2-8974-C54B9DE943D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CFE0524-E799-45C4-894F-C08646745980}"/>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塗装の目的と、手入れの方法を決める</a:t>
            </a:r>
          </a:p>
        </p:txBody>
      </p:sp>
      <p:sp>
        <p:nvSpPr>
          <p:cNvPr id="6" name="正方形/長方形 5">
            <a:extLst>
              <a:ext uri="{FF2B5EF4-FFF2-40B4-BE49-F238E27FC236}">
                <a16:creationId xmlns:a16="http://schemas.microsoft.com/office/drawing/2014/main" id="{BE6C4685-67A3-44EC-B11F-745E53D286A8}"/>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木口、端面、穴、割れからの水分移動も見る</a:t>
            </a:r>
          </a:p>
        </p:txBody>
      </p:sp>
      <p:sp>
        <p:nvSpPr>
          <p:cNvPr id="7" name="正方形/長方形 6">
            <a:extLst>
              <a:ext uri="{FF2B5EF4-FFF2-40B4-BE49-F238E27FC236}">
                <a16:creationId xmlns:a16="http://schemas.microsoft.com/office/drawing/2014/main" id="{6949E287-308B-4BA1-8FB3-3A500E164A05}"/>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接着・塗装・保存処理の役割を組み合わせる</a:t>
            </a:r>
          </a:p>
        </p:txBody>
      </p:sp>
    </p:spTree>
    <p:extLst>
      <p:ext uri="{BB962C8B-B14F-4D97-AF65-F5344CB8AC3E}">
        <p14:creationId xmlns:p14="http://schemas.microsoft.com/office/powerpoint/2010/main" val="35960096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C9803E0-266D-4675-B487-C16C0111FC4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塗装の目的：見た目、保護、清掃性</a:t>
            </a:r>
          </a:p>
        </p:txBody>
      </p:sp>
      <p:sp>
        <p:nvSpPr>
          <p:cNvPr id="2" name="正方形/長方形 1">
            <a:extLst>
              <a:ext uri="{FF2B5EF4-FFF2-40B4-BE49-F238E27FC236}">
                <a16:creationId xmlns:a16="http://schemas.microsoft.com/office/drawing/2014/main" id="{973ACF51-6F28-45D2-AE38-4054B0832900}"/>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184623E1-7506-4AFD-87A5-4471DC7D19FC}"/>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2B93B2F-BE1C-4435-960E-C1A51E4B584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A1DB944-EC9F-40A5-9A4B-89C1FBF69DCD}"/>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着色・つや・木目の見え方を整える</a:t>
            </a:r>
          </a:p>
        </p:txBody>
      </p:sp>
      <p:sp>
        <p:nvSpPr>
          <p:cNvPr id="6" name="正方形/長方形 5">
            <a:extLst>
              <a:ext uri="{FF2B5EF4-FFF2-40B4-BE49-F238E27FC236}">
                <a16:creationId xmlns:a16="http://schemas.microsoft.com/office/drawing/2014/main" id="{766A6740-4C0E-492B-AFFE-BB8AC14C3260}"/>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水・光・摩耗や汚れから表面を保護する</a:t>
            </a:r>
          </a:p>
        </p:txBody>
      </p:sp>
      <p:sp>
        <p:nvSpPr>
          <p:cNvPr id="7" name="正方形/長方形 6">
            <a:extLst>
              <a:ext uri="{FF2B5EF4-FFF2-40B4-BE49-F238E27FC236}">
                <a16:creationId xmlns:a16="http://schemas.microsoft.com/office/drawing/2014/main" id="{F2A144B6-C263-482B-B368-D4CD6A2FF4AE}"/>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拭き取りやすさ・手触り・補修性も考える</a:t>
            </a:r>
          </a:p>
        </p:txBody>
      </p:sp>
      <p:sp>
        <p:nvSpPr>
          <p:cNvPr id="8" name="正方形/長方形 7">
            <a:extLst>
              <a:ext uri="{FF2B5EF4-FFF2-40B4-BE49-F238E27FC236}">
                <a16:creationId xmlns:a16="http://schemas.microsoft.com/office/drawing/2014/main" id="{AD0722A3-B5E2-4DEE-BA80-200D5B4F9ED0}"/>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屋内／屋外と、使用中の手入れを先に決める</a:t>
            </a:r>
          </a:p>
        </p:txBody>
      </p:sp>
    </p:spTree>
    <p:extLst>
      <p:ext uri="{BB962C8B-B14F-4D97-AF65-F5344CB8AC3E}">
        <p14:creationId xmlns:p14="http://schemas.microsoft.com/office/powerpoint/2010/main" val="654735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92C620C-6719-447C-8407-6701F5D3DB3C}"/>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浸透形と、塗膜を作る仕上げ</a:t>
            </a:r>
          </a:p>
        </p:txBody>
      </p:sp>
      <p:sp>
        <p:nvSpPr>
          <p:cNvPr id="2" name="正方形/長方形 1">
            <a:extLst>
              <a:ext uri="{FF2B5EF4-FFF2-40B4-BE49-F238E27FC236}">
                <a16:creationId xmlns:a16="http://schemas.microsoft.com/office/drawing/2014/main" id="{FA224BE8-1C66-458C-989E-C1CEE81EC1E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BFF07A4-D9A3-4DAA-9841-1FE4EE9B66D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74DF0479-E17D-43F9-AE54-18360842231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47</a:t>
            </a:r>
            <a:endParaRPr sz="1425" b="0">
              <a:solidFill>
                <a:srgbClr val="596875"/>
              </a:solidFill>
              <a:latin typeface="Yu Gothic"/>
              <a:ea typeface="Yu Gothic"/>
              <a:cs typeface="Yu Gothic"/>
            </a:endParaRPr>
          </a:p>
        </p:txBody>
      </p:sp>
      <p:graphicFrame>
        <p:nvGraphicFramePr>
          <p:cNvPr id="5" name="表 4">
            <a:extLst>
              <a:ext uri="{FF2B5EF4-FFF2-40B4-BE49-F238E27FC236}">
                <a16:creationId xmlns:a16="http://schemas.microsoft.com/office/drawing/2014/main" id="{3FEEED30-42DE-4FF8-9B3D-B4759E0E2D4D}"/>
              </a:ext>
            </a:extLst>
          </p:cNvPr>
          <p:cNvGraphicFramePr/>
          <p:nvPr/>
        </p:nvGraphicFramePr>
        <p:xfrm>
          <a:off x="838200" y="1952625"/>
          <a:ext cx="10477500" cy="3238500"/>
        </p:xfrm>
        <a:graphic>
          <a:graphicData uri="http://schemas.openxmlformats.org/drawingml/2006/table">
            <a:tbl>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09625">
                <a:tc>
                  <a:txBody>
                    <a:bodyPr/>
                    <a:lstStyle/>
                    <a:p>
                      <a:r>
                        <a:rPr sz="1875" b="1">
                          <a:solidFill>
                            <a:srgbClr val="FFFFFF"/>
                          </a:solidFill>
                          <a:latin typeface="Yu Gothic"/>
                          <a:ea typeface="Yu Gothic"/>
                          <a:cs typeface="Yu Gothic"/>
                        </a:rPr>
                        <a:t>見方</a:t>
                      </a:r>
                    </a:p>
                  </a:txBody>
                  <a:tcPr>
                    <a:solidFill>
                      <a:srgbClr val="18364F"/>
                    </a:solidFill>
                  </a:tcPr>
                </a:tc>
                <a:tc>
                  <a:txBody>
                    <a:bodyPr/>
                    <a:lstStyle/>
                    <a:p>
                      <a:r>
                        <a:rPr sz="1875" b="1">
                          <a:solidFill>
                            <a:srgbClr val="FFFFFF"/>
                          </a:solidFill>
                          <a:latin typeface="Yu Gothic"/>
                          <a:ea typeface="Yu Gothic"/>
                          <a:cs typeface="Yu Gothic"/>
                        </a:rPr>
                        <a:t>例</a:t>
                      </a:r>
                    </a:p>
                  </a:txBody>
                  <a:tcPr>
                    <a:solidFill>
                      <a:srgbClr val="18364F"/>
                    </a:solidFill>
                  </a:tcPr>
                </a:tc>
                <a:tc>
                  <a:txBody>
                    <a:bodyPr/>
                    <a:lstStyle/>
                    <a:p>
                      <a:r>
                        <a:rPr sz="1875" b="1">
                          <a:solidFill>
                            <a:srgbClr val="FFFFFF"/>
                          </a:solidFill>
                          <a:latin typeface="Yu Gothic"/>
                          <a:ea typeface="Yu Gothic"/>
                          <a:cs typeface="Yu Gothic"/>
                        </a:rPr>
                        <a:t>確認点</a:t>
                      </a:r>
                    </a:p>
                  </a:txBody>
                  <a:tcPr>
                    <a:solidFill>
                      <a:srgbClr val="18364F"/>
                    </a:solidFill>
                  </a:tcPr>
                </a:tc>
                <a:extLst>
                  <a:ext uri="{0D108BD9-81ED-4DB2-BD59-A6C34878D82A}">
                    <a16:rowId xmlns:a16="http://schemas.microsoft.com/office/drawing/2014/main" val="10000"/>
                  </a:ext>
                </a:extLst>
              </a:tr>
              <a:tr h="809625">
                <a:tc>
                  <a:txBody>
                    <a:bodyPr/>
                    <a:lstStyle/>
                    <a:p>
                      <a:r>
                        <a:rPr sz="1875" b="0">
                          <a:solidFill>
                            <a:srgbClr val="253C4D"/>
                          </a:solidFill>
                          <a:latin typeface="Yu Gothic"/>
                          <a:ea typeface="Yu Gothic"/>
                          <a:cs typeface="Yu Gothic"/>
                        </a:rPr>
                        <a:t>浸透を主体</a:t>
                      </a:r>
                    </a:p>
                  </a:txBody>
                  <a:tcPr>
                    <a:solidFill>
                      <a:srgbClr val="F1F5F7"/>
                    </a:solidFill>
                  </a:tcPr>
                </a:tc>
                <a:tc>
                  <a:txBody>
                    <a:bodyPr/>
                    <a:lstStyle/>
                    <a:p>
                      <a:r>
                        <a:rPr sz="1875" b="0">
                          <a:solidFill>
                            <a:srgbClr val="253C4D"/>
                          </a:solidFill>
                          <a:latin typeface="Yu Gothic"/>
                          <a:ea typeface="Yu Gothic"/>
                          <a:cs typeface="Yu Gothic"/>
                        </a:rPr>
                        <a:t>オイル・一部のステイン</a:t>
                      </a:r>
                    </a:p>
                  </a:txBody>
                  <a:tcPr>
                    <a:solidFill>
                      <a:srgbClr val="F1F5F7"/>
                    </a:solidFill>
                  </a:tcPr>
                </a:tc>
                <a:tc>
                  <a:txBody>
                    <a:bodyPr/>
                    <a:lstStyle/>
                    <a:p>
                      <a:r>
                        <a:rPr sz="1875" b="0">
                          <a:solidFill>
                            <a:srgbClr val="253C4D"/>
                          </a:solidFill>
                          <a:latin typeface="Yu Gothic"/>
                          <a:ea typeface="Yu Gothic"/>
                          <a:cs typeface="Yu Gothic"/>
                        </a:rPr>
                        <a:t>汚れ、撥水、再塗装</a:t>
                      </a:r>
                    </a:p>
                  </a:txBody>
                  <a:tcPr>
                    <a:solidFill>
                      <a:srgbClr val="F1F5F7"/>
                    </a:solidFill>
                  </a:tcPr>
                </a:tc>
                <a:extLst>
                  <a:ext uri="{0D108BD9-81ED-4DB2-BD59-A6C34878D82A}">
                    <a16:rowId xmlns:a16="http://schemas.microsoft.com/office/drawing/2014/main" val="10001"/>
                  </a:ext>
                </a:extLst>
              </a:tr>
              <a:tr h="809625">
                <a:tc>
                  <a:txBody>
                    <a:bodyPr/>
                    <a:lstStyle/>
                    <a:p>
                      <a:r>
                        <a:rPr sz="1875" b="0">
                          <a:solidFill>
                            <a:srgbClr val="253C4D"/>
                          </a:solidFill>
                          <a:latin typeface="Yu Gothic"/>
                          <a:ea typeface="Yu Gothic"/>
                          <a:cs typeface="Yu Gothic"/>
                        </a:rPr>
                        <a:t>塗膜を形成</a:t>
                      </a:r>
                    </a:p>
                  </a:txBody>
                  <a:tcPr>
                    <a:solidFill>
                      <a:srgbClr val="FFFFFF"/>
                    </a:solidFill>
                  </a:tcPr>
                </a:tc>
                <a:tc>
                  <a:txBody>
                    <a:bodyPr/>
                    <a:lstStyle/>
                    <a:p>
                      <a:r>
                        <a:rPr sz="1875" b="0">
                          <a:solidFill>
                            <a:srgbClr val="253C4D"/>
                          </a:solidFill>
                          <a:latin typeface="Yu Gothic"/>
                          <a:ea typeface="Yu Gothic"/>
                          <a:cs typeface="Yu Gothic"/>
                        </a:rPr>
                        <a:t>ニス・塗りつぶし塗料</a:t>
                      </a:r>
                    </a:p>
                  </a:txBody>
                  <a:tcPr>
                    <a:solidFill>
                      <a:srgbClr val="FFFFFF"/>
                    </a:solidFill>
                  </a:tcPr>
                </a:tc>
                <a:tc>
                  <a:txBody>
                    <a:bodyPr/>
                    <a:lstStyle/>
                    <a:p>
                      <a:r>
                        <a:rPr sz="1875" b="0">
                          <a:solidFill>
                            <a:srgbClr val="253C4D"/>
                          </a:solidFill>
                          <a:latin typeface="Yu Gothic"/>
                          <a:ea typeface="Yu Gothic"/>
                          <a:cs typeface="Yu Gothic"/>
                        </a:rPr>
                        <a:t>摩耗、割れ、剥がれ</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53C4D"/>
                          </a:solidFill>
                          <a:latin typeface="Yu Gothic"/>
                          <a:ea typeface="Yu Gothic"/>
                          <a:cs typeface="Yu Gothic"/>
                        </a:rPr>
                        <a:t>着色の機能</a:t>
                      </a:r>
                    </a:p>
                  </a:txBody>
                  <a:tcPr>
                    <a:solidFill>
                      <a:srgbClr val="F1F5F7"/>
                    </a:solidFill>
                  </a:tcPr>
                </a:tc>
                <a:tc>
                  <a:txBody>
                    <a:bodyPr/>
                    <a:lstStyle/>
                    <a:p>
                      <a:r>
                        <a:rPr sz="1875" b="0">
                          <a:solidFill>
                            <a:srgbClr val="253C4D"/>
                          </a:solidFill>
                          <a:latin typeface="Yu Gothic"/>
                          <a:ea typeface="Yu Gothic"/>
                          <a:cs typeface="Yu Gothic"/>
                        </a:rPr>
                        <a:t>着色用ステイン等</a:t>
                      </a:r>
                    </a:p>
                  </a:txBody>
                  <a:tcPr>
                    <a:solidFill>
                      <a:srgbClr val="F1F5F7"/>
                    </a:solidFill>
                  </a:tcPr>
                </a:tc>
                <a:tc>
                  <a:txBody>
                    <a:bodyPr/>
                    <a:lstStyle/>
                    <a:p>
                      <a:r>
                        <a:rPr sz="1875" b="0">
                          <a:solidFill>
                            <a:srgbClr val="253C4D"/>
                          </a:solidFill>
                          <a:latin typeface="Yu Gothic"/>
                          <a:ea typeface="Yu Gothic"/>
                          <a:cs typeface="Yu Gothic"/>
                        </a:rPr>
                        <a:t>保護性能を別に確認</a:t>
                      </a:r>
                    </a:p>
                  </a:txBody>
                  <a:tcPr>
                    <a:solidFill>
                      <a:srgbClr val="F1F5F7"/>
                    </a:solidFill>
                  </a:tcPr>
                </a:tc>
                <a:extLst>
                  <a:ext uri="{0D108BD9-81ED-4DB2-BD59-A6C34878D82A}">
                    <a16:rowId xmlns:a16="http://schemas.microsoft.com/office/drawing/2014/main" val="10003"/>
                  </a:ext>
                </a:extLst>
              </a:tr>
            </a:tbl>
          </a:graphicData>
        </a:graphic>
      </p:graphicFrame>
      <p:sp>
        <p:nvSpPr>
          <p:cNvPr id="6" name="正方形/長方形 5">
            <a:extLst>
              <a:ext uri="{FF2B5EF4-FFF2-40B4-BE49-F238E27FC236}">
                <a16:creationId xmlns:a16="http://schemas.microsoft.com/office/drawing/2014/main" id="{361E1088-CFF3-48E8-AB06-851609966C61}"/>
              </a:ext>
            </a:extLst>
          </p:cNvPr>
          <p:cNvSpPr>
            <a:spLocks noGrp="1"/>
          </p:cNvSpPr>
          <p:nvPr/>
        </p:nvSpPr>
        <p:spPr>
          <a:xfrm>
            <a:off x="838200" y="5838825"/>
            <a:ext cx="10477500" cy="381000"/>
          </a:xfrm>
          <a:prstGeom prst="rect">
            <a:avLst/>
          </a:prstGeom>
          <a:noFill/>
          <a:ln w="0">
            <a:noFill/>
          </a:ln>
        </p:spPr>
        <p:txBody>
          <a:bodyPr lIns="0" tIns="0" rIns="0" bIns="0" anchor="ctr">
            <a:noAutofit/>
          </a:bodyPr>
          <a:lstStyle>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分類は製品により重なる。名称だけで保護性能を決めない。</a:t>
            </a:r>
          </a:p>
        </p:txBody>
      </p:sp>
    </p:spTree>
    <p:extLst>
      <p:ext uri="{BB962C8B-B14F-4D97-AF65-F5344CB8AC3E}">
        <p14:creationId xmlns:p14="http://schemas.microsoft.com/office/powerpoint/2010/main" val="2059526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68976144-52B7-4D51-8C78-FD6DE99A31A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塗膜は水分移動の速さへ関わる</a:t>
            </a:r>
          </a:p>
        </p:txBody>
      </p:sp>
      <p:sp>
        <p:nvSpPr>
          <p:cNvPr id="2" name="正方形/長方形 1">
            <a:extLst>
              <a:ext uri="{FF2B5EF4-FFF2-40B4-BE49-F238E27FC236}">
                <a16:creationId xmlns:a16="http://schemas.microsoft.com/office/drawing/2014/main" id="{FE520177-77ED-4D90-8BB1-C9996C7B5F34}"/>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86331B49-B8E5-4B93-965A-6ACF192EB38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D920C577-41C2-4B70-A24B-2E84FBE2CDDA}"/>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E06FD213-38CA-4A93-A950-B48BE50B31C2}"/>
              </a:ext>
            </a:extLst>
          </p:cNvPr>
          <p:cNvSpPr>
            <a:spLocks noGrp="1"/>
          </p:cNvSpPr>
          <p:nvPr/>
        </p:nvSpPr>
        <p:spPr>
          <a:xfrm>
            <a:off x="4038600" y="2543175"/>
            <a:ext cx="4114800" cy="1762125"/>
          </a:xfrm>
          <a:prstGeom prst="rect">
            <a:avLst/>
          </a:prstGeom>
          <a:solidFill>
            <a:srgbClr val="EBD9BB"/>
          </a:solidFill>
          <a:ln w="0">
            <a:noFill/>
          </a:ln>
        </p:spPr>
      </p:sp>
      <p:sp>
        <p:nvSpPr>
          <p:cNvPr id="6" name="正方形/長方形 5">
            <a:extLst>
              <a:ext uri="{FF2B5EF4-FFF2-40B4-BE49-F238E27FC236}">
                <a16:creationId xmlns:a16="http://schemas.microsoft.com/office/drawing/2014/main" id="{FE80F392-0AD1-40FB-9566-31903E0EE146}"/>
              </a:ext>
            </a:extLst>
          </p:cNvPr>
          <p:cNvSpPr>
            <a:spLocks noGrp="1"/>
          </p:cNvSpPr>
          <p:nvPr/>
        </p:nvSpPr>
        <p:spPr>
          <a:xfrm>
            <a:off x="4152900" y="2695575"/>
            <a:ext cx="3886200" cy="1533525"/>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木材中の水分</a:t>
            </a:r>
          </a:p>
        </p:txBody>
      </p:sp>
      <p:sp>
        <p:nvSpPr>
          <p:cNvPr id="7" name="フリーフォーム: 図形 6">
            <a:extLst>
              <a:ext uri="{FF2B5EF4-FFF2-40B4-BE49-F238E27FC236}">
                <a16:creationId xmlns:a16="http://schemas.microsoft.com/office/drawing/2014/main" id="{9A9176A7-42D5-4E04-B81B-C5F5C708E9AF}"/>
              </a:ext>
            </a:extLst>
          </p:cNvPr>
          <p:cNvSpPr>
            <a:spLocks noGrp="1"/>
          </p:cNvSpPr>
          <p:nvPr/>
        </p:nvSpPr>
        <p:spPr>
          <a:xfrm>
            <a:off x="1095375" y="3381375"/>
            <a:ext cx="2790825" cy="9525"/>
          </a:xfrm>
          <a:custGeom>
            <a:avLst/>
            <a:gdLst/>
            <a:ahLst/>
            <a:cxnLst/>
            <a:rect l="0" t="0" r="0" b="0"/>
            <a:pathLst>
              <a:path w="2790825" h="9525">
                <a:moveTo>
                  <a:pt x="0" y="0"/>
                </a:moveTo>
                <a:lnTo>
                  <a:pt x="2790825" y="0"/>
                </a:lnTo>
              </a:path>
            </a:pathLst>
          </a:custGeom>
          <a:noFill/>
          <a:ln w="38100">
            <a:solidFill>
              <a:srgbClr val="2876A8"/>
            </a:solidFill>
          </a:ln>
        </p:spPr>
      </p:sp>
      <p:sp>
        <p:nvSpPr>
          <p:cNvPr id="8" name="フリーフォーム: 図形 7">
            <a:extLst>
              <a:ext uri="{FF2B5EF4-FFF2-40B4-BE49-F238E27FC236}">
                <a16:creationId xmlns:a16="http://schemas.microsoft.com/office/drawing/2014/main" id="{F0C07914-7DF6-455B-ACFB-D94F971675A7}"/>
              </a:ext>
            </a:extLst>
          </p:cNvPr>
          <p:cNvSpPr>
            <a:spLocks noGrp="1"/>
          </p:cNvSpPr>
          <p:nvPr/>
        </p:nvSpPr>
        <p:spPr>
          <a:xfrm>
            <a:off x="3748155" y="3381375"/>
            <a:ext cx="138045" cy="84636"/>
          </a:xfrm>
          <a:custGeom>
            <a:avLst/>
            <a:gdLst/>
            <a:ahLst/>
            <a:cxnLst/>
            <a:rect l="0" t="0" r="0" b="0"/>
            <a:pathLst>
              <a:path w="138045" h="84636">
                <a:moveTo>
                  <a:pt x="138045" y="0"/>
                </a:moveTo>
                <a:lnTo>
                  <a:pt x="0" y="84636"/>
                </a:lnTo>
              </a:path>
            </a:pathLst>
          </a:custGeom>
          <a:noFill/>
          <a:ln w="38100">
            <a:solidFill>
              <a:srgbClr val="2876A8"/>
            </a:solidFill>
          </a:ln>
        </p:spPr>
      </p:sp>
      <p:sp>
        <p:nvSpPr>
          <p:cNvPr id="9" name="フリーフォーム: 図形 8">
            <a:extLst>
              <a:ext uri="{FF2B5EF4-FFF2-40B4-BE49-F238E27FC236}">
                <a16:creationId xmlns:a16="http://schemas.microsoft.com/office/drawing/2014/main" id="{D022CC24-A10C-4620-88C9-A70C72B4364E}"/>
              </a:ext>
            </a:extLst>
          </p:cNvPr>
          <p:cNvSpPr>
            <a:spLocks noGrp="1"/>
          </p:cNvSpPr>
          <p:nvPr/>
        </p:nvSpPr>
        <p:spPr>
          <a:xfrm>
            <a:off x="3748155" y="3296739"/>
            <a:ext cx="138045" cy="84636"/>
          </a:xfrm>
          <a:custGeom>
            <a:avLst/>
            <a:gdLst/>
            <a:ahLst/>
            <a:cxnLst/>
            <a:rect l="0" t="0" r="0" b="0"/>
            <a:pathLst>
              <a:path w="138045" h="84636">
                <a:moveTo>
                  <a:pt x="138045" y="84636"/>
                </a:moveTo>
                <a:lnTo>
                  <a:pt x="0" y="0"/>
                </a:lnTo>
              </a:path>
            </a:pathLst>
          </a:custGeom>
          <a:noFill/>
          <a:ln w="38100">
            <a:solidFill>
              <a:srgbClr val="2876A8"/>
            </a:solidFill>
          </a:ln>
        </p:spPr>
      </p:sp>
      <p:sp>
        <p:nvSpPr>
          <p:cNvPr id="10" name="フリーフォーム: 図形 9">
            <a:extLst>
              <a:ext uri="{FF2B5EF4-FFF2-40B4-BE49-F238E27FC236}">
                <a16:creationId xmlns:a16="http://schemas.microsoft.com/office/drawing/2014/main" id="{3AD8679A-E1E2-4E5C-9668-8F782F417B55}"/>
              </a:ext>
            </a:extLst>
          </p:cNvPr>
          <p:cNvSpPr>
            <a:spLocks noGrp="1"/>
          </p:cNvSpPr>
          <p:nvPr/>
        </p:nvSpPr>
        <p:spPr>
          <a:xfrm>
            <a:off x="8296275" y="3381375"/>
            <a:ext cx="2752725" cy="9525"/>
          </a:xfrm>
          <a:custGeom>
            <a:avLst/>
            <a:gdLst/>
            <a:ahLst/>
            <a:cxnLst/>
            <a:rect l="0" t="0" r="0" b="0"/>
            <a:pathLst>
              <a:path w="2752725" h="9525">
                <a:moveTo>
                  <a:pt x="0" y="0"/>
                </a:moveTo>
                <a:lnTo>
                  <a:pt x="2752725" y="0"/>
                </a:lnTo>
              </a:path>
            </a:pathLst>
          </a:custGeom>
          <a:noFill/>
          <a:ln w="38100">
            <a:solidFill>
              <a:srgbClr val="087E8B"/>
            </a:solidFill>
          </a:ln>
        </p:spPr>
      </p:sp>
      <p:sp>
        <p:nvSpPr>
          <p:cNvPr id="11" name="フリーフォーム: 図形 10">
            <a:extLst>
              <a:ext uri="{FF2B5EF4-FFF2-40B4-BE49-F238E27FC236}">
                <a16:creationId xmlns:a16="http://schemas.microsoft.com/office/drawing/2014/main" id="{E0D5292C-1DFE-40B6-87EF-F900099B52AF}"/>
              </a:ext>
            </a:extLst>
          </p:cNvPr>
          <p:cNvSpPr>
            <a:spLocks noGrp="1"/>
          </p:cNvSpPr>
          <p:nvPr/>
        </p:nvSpPr>
        <p:spPr>
          <a:xfrm>
            <a:off x="10910955" y="3381375"/>
            <a:ext cx="138045" cy="84636"/>
          </a:xfrm>
          <a:custGeom>
            <a:avLst/>
            <a:gdLst/>
            <a:ahLst/>
            <a:cxnLst/>
            <a:rect l="0" t="0" r="0" b="0"/>
            <a:pathLst>
              <a:path w="138045" h="84636">
                <a:moveTo>
                  <a:pt x="138045" y="0"/>
                </a:moveTo>
                <a:lnTo>
                  <a:pt x="0" y="84636"/>
                </a:lnTo>
              </a:path>
            </a:pathLst>
          </a:custGeom>
          <a:noFill/>
          <a:ln w="38100">
            <a:solidFill>
              <a:srgbClr val="087E8B"/>
            </a:solidFill>
          </a:ln>
        </p:spPr>
      </p:sp>
      <p:sp>
        <p:nvSpPr>
          <p:cNvPr id="12" name="フリーフォーム: 図形 11">
            <a:extLst>
              <a:ext uri="{FF2B5EF4-FFF2-40B4-BE49-F238E27FC236}">
                <a16:creationId xmlns:a16="http://schemas.microsoft.com/office/drawing/2014/main" id="{582DE698-786D-4391-BCE3-49D0B3B38F27}"/>
              </a:ext>
            </a:extLst>
          </p:cNvPr>
          <p:cNvSpPr>
            <a:spLocks noGrp="1"/>
          </p:cNvSpPr>
          <p:nvPr/>
        </p:nvSpPr>
        <p:spPr>
          <a:xfrm>
            <a:off x="10910955" y="3296739"/>
            <a:ext cx="138045" cy="84636"/>
          </a:xfrm>
          <a:custGeom>
            <a:avLst/>
            <a:gdLst/>
            <a:ahLst/>
            <a:cxnLst/>
            <a:rect l="0" t="0" r="0" b="0"/>
            <a:pathLst>
              <a:path w="138045" h="84636">
                <a:moveTo>
                  <a:pt x="138045" y="84636"/>
                </a:moveTo>
                <a:lnTo>
                  <a:pt x="0" y="0"/>
                </a:lnTo>
              </a:path>
            </a:pathLst>
          </a:custGeom>
          <a:noFill/>
          <a:ln w="38100">
            <a:solidFill>
              <a:srgbClr val="087E8B"/>
            </a:solidFill>
          </a:ln>
        </p:spPr>
      </p:sp>
      <p:sp>
        <p:nvSpPr>
          <p:cNvPr id="13" name="正方形/長方形 12">
            <a:extLst>
              <a:ext uri="{FF2B5EF4-FFF2-40B4-BE49-F238E27FC236}">
                <a16:creationId xmlns:a16="http://schemas.microsoft.com/office/drawing/2014/main" id="{76D66D28-7A41-4F24-BFEC-319963491504}"/>
              </a:ext>
            </a:extLst>
          </p:cNvPr>
          <p:cNvSpPr>
            <a:spLocks noGrp="1"/>
          </p:cNvSpPr>
          <p:nvPr/>
        </p:nvSpPr>
        <p:spPr>
          <a:xfrm>
            <a:off x="1333500" y="2647950"/>
            <a:ext cx="2381250" cy="523875"/>
          </a:xfrm>
          <a:prstGeom prst="rect">
            <a:avLst/>
          </a:prstGeom>
          <a:noFill/>
          <a:ln w="0">
            <a:noFill/>
          </a:ln>
        </p:spPr>
        <p:txBody>
          <a:bodyPr lIns="0" tIns="0" rIns="0" bIns="0" anchor="ctr">
            <a:noAutofit/>
          </a:bodyPr>
          <a:lstStyle>
            <a:defPPr>
              <a:defRPr sz="2250" b="1">
                <a:solidFill>
                  <a:srgbClr val="2876A8"/>
                </a:solidFill>
                <a:latin typeface="Yu Gothic"/>
                <a:ea typeface="Yu Gothic"/>
                <a:cs typeface="Yu Gothic"/>
              </a:defRPr>
            </a:defPPr>
            <a:lvl1pPr>
              <a:buNone/>
              <a:defRPr sz="2250" b="1">
                <a:solidFill>
                  <a:srgbClr val="2876A8"/>
                </a:solidFill>
                <a:latin typeface="Yu Gothic"/>
                <a:ea typeface="Yu Gothic"/>
                <a:cs typeface="Yu Gothic"/>
              </a:defRPr>
            </a:lvl1pPr>
            <a:lvl2pPr>
              <a:buNone/>
              <a:defRPr sz="2250" b="1">
                <a:solidFill>
                  <a:srgbClr val="2876A8"/>
                </a:solidFill>
                <a:latin typeface="Yu Gothic"/>
                <a:ea typeface="Yu Gothic"/>
                <a:cs typeface="Yu Gothic"/>
              </a:defRPr>
            </a:lvl2pPr>
            <a:lvl3pPr>
              <a:buNone/>
              <a:defRPr sz="2250" b="1">
                <a:solidFill>
                  <a:srgbClr val="2876A8"/>
                </a:solidFill>
                <a:latin typeface="Yu Gothic"/>
                <a:ea typeface="Yu Gothic"/>
                <a:cs typeface="Yu Gothic"/>
              </a:defRPr>
            </a:lvl3pPr>
            <a:lvl4pPr>
              <a:buNone/>
              <a:defRPr sz="2250" b="1">
                <a:solidFill>
                  <a:srgbClr val="2876A8"/>
                </a:solidFill>
                <a:latin typeface="Yu Gothic"/>
                <a:ea typeface="Yu Gothic"/>
                <a:cs typeface="Yu Gothic"/>
              </a:defRPr>
            </a:lvl4pPr>
            <a:lvl5pPr>
              <a:buNone/>
              <a:defRPr sz="2250" b="1">
                <a:solidFill>
                  <a:srgbClr val="2876A8"/>
                </a:solidFill>
                <a:latin typeface="Yu Gothic"/>
                <a:ea typeface="Yu Gothic"/>
                <a:cs typeface="Yu Gothic"/>
              </a:defRPr>
            </a:lvl5pPr>
            <a:lvl6pPr>
              <a:buNone/>
              <a:defRPr sz="2250" b="1">
                <a:solidFill>
                  <a:srgbClr val="2876A8"/>
                </a:solidFill>
                <a:latin typeface="Yu Gothic"/>
                <a:ea typeface="Yu Gothic"/>
                <a:cs typeface="Yu Gothic"/>
              </a:defRPr>
            </a:lvl6pPr>
            <a:lvl7pPr>
              <a:buNone/>
              <a:defRPr sz="2250" b="1">
                <a:solidFill>
                  <a:srgbClr val="2876A8"/>
                </a:solidFill>
                <a:latin typeface="Yu Gothic"/>
                <a:ea typeface="Yu Gothic"/>
                <a:cs typeface="Yu Gothic"/>
              </a:defRPr>
            </a:lvl7pPr>
            <a:lvl8pPr>
              <a:buNone/>
              <a:defRPr sz="2250" b="1">
                <a:solidFill>
                  <a:srgbClr val="2876A8"/>
                </a:solidFill>
                <a:latin typeface="Yu Gothic"/>
                <a:ea typeface="Yu Gothic"/>
                <a:cs typeface="Yu Gothic"/>
              </a:defRPr>
            </a:lvl8pPr>
            <a:lvl9pPr>
              <a:buNone/>
              <a:defRPr sz="2250" b="1">
                <a:solidFill>
                  <a:srgbClr val="2876A8"/>
                </a:solidFill>
                <a:latin typeface="Yu Gothic"/>
                <a:ea typeface="Yu Gothic"/>
                <a:cs typeface="Yu Gothic"/>
              </a:defRPr>
            </a:lvl9pPr>
          </a:lstStyle>
          <a:p>
            <a:pPr>
              <a:buNone/>
              <a:defRPr sz="2250" b="1">
                <a:solidFill>
                  <a:srgbClr val="2876A8"/>
                </a:solidFill>
                <a:latin typeface="Yu Gothic"/>
                <a:ea typeface="Yu Gothic"/>
                <a:cs typeface="Yu Gothic"/>
              </a:defRPr>
            </a:pPr>
            <a:r>
              <a:rPr sz="2250" b="1">
                <a:solidFill>
                  <a:srgbClr val="2876A8"/>
                </a:solidFill>
                <a:latin typeface="Yu Gothic"/>
                <a:ea typeface="Yu Gothic"/>
                <a:cs typeface="Yu Gothic"/>
              </a:rPr>
              <a:t>入る量</a:t>
            </a:r>
          </a:p>
        </p:txBody>
      </p:sp>
      <p:sp>
        <p:nvSpPr>
          <p:cNvPr id="14" name="正方形/長方形 13">
            <a:extLst>
              <a:ext uri="{FF2B5EF4-FFF2-40B4-BE49-F238E27FC236}">
                <a16:creationId xmlns:a16="http://schemas.microsoft.com/office/drawing/2014/main" id="{A3ED1DD2-F20A-47CE-BA8A-2D7132C895B6}"/>
              </a:ext>
            </a:extLst>
          </p:cNvPr>
          <p:cNvSpPr>
            <a:spLocks noGrp="1"/>
          </p:cNvSpPr>
          <p:nvPr/>
        </p:nvSpPr>
        <p:spPr>
          <a:xfrm>
            <a:off x="8696325" y="2647950"/>
            <a:ext cx="2381250" cy="523875"/>
          </a:xfrm>
          <a:prstGeom prst="rect">
            <a:avLst/>
          </a:prstGeom>
          <a:noFill/>
          <a:ln w="0">
            <a:noFill/>
          </a:ln>
        </p:spPr>
        <p:txBody>
          <a:bodyPr lIns="0" tIns="0" rIns="0" bIns="0" anchor="ctr">
            <a:noAutofit/>
          </a:bodyPr>
          <a:lstStyle>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出る量</a:t>
            </a:r>
          </a:p>
        </p:txBody>
      </p:sp>
      <p:sp>
        <p:nvSpPr>
          <p:cNvPr id="15" name="正方形/長方形 14">
            <a:extLst>
              <a:ext uri="{FF2B5EF4-FFF2-40B4-BE49-F238E27FC236}">
                <a16:creationId xmlns:a16="http://schemas.microsoft.com/office/drawing/2014/main" id="{0EE997D9-B4F3-46AF-9432-18122243DEA8}"/>
              </a:ext>
            </a:extLst>
          </p:cNvPr>
          <p:cNvSpPr>
            <a:spLocks noGrp="1"/>
          </p:cNvSpPr>
          <p:nvPr/>
        </p:nvSpPr>
        <p:spPr>
          <a:xfrm>
            <a:off x="838200" y="4810125"/>
            <a:ext cx="10477500" cy="619125"/>
          </a:xfrm>
          <a:prstGeom prst="rect">
            <a:avLst/>
          </a:prstGeom>
          <a:noFill/>
          <a:ln w="0">
            <a:noFill/>
          </a:ln>
        </p:spPr>
        <p:txBody>
          <a:bodyPr lIns="0" tIns="0" rIns="0" bIns="0" anchor="ctr">
            <a:noAutofit/>
          </a:bodyPr>
          <a:lstStyle>
            <a:defPPr>
              <a:defRPr sz="2775" b="1">
                <a:solidFill>
                  <a:srgbClr val="18364F"/>
                </a:solidFill>
                <a:latin typeface="Yu Gothic"/>
                <a:ea typeface="Yu Gothic"/>
                <a:cs typeface="Yu Gothic"/>
              </a:defRPr>
            </a:defPPr>
            <a:lvl1pPr>
              <a:buNone/>
              <a:defRPr sz="2775" b="1">
                <a:solidFill>
                  <a:srgbClr val="18364F"/>
                </a:solidFill>
                <a:latin typeface="Yu Gothic"/>
                <a:ea typeface="Yu Gothic"/>
                <a:cs typeface="Yu Gothic"/>
              </a:defRPr>
            </a:lvl1pPr>
            <a:lvl2pPr>
              <a:buNone/>
              <a:defRPr sz="2775" b="1">
                <a:solidFill>
                  <a:srgbClr val="18364F"/>
                </a:solidFill>
                <a:latin typeface="Yu Gothic"/>
                <a:ea typeface="Yu Gothic"/>
                <a:cs typeface="Yu Gothic"/>
              </a:defRPr>
            </a:lvl2pPr>
            <a:lvl3pPr>
              <a:buNone/>
              <a:defRPr sz="2775" b="1">
                <a:solidFill>
                  <a:srgbClr val="18364F"/>
                </a:solidFill>
                <a:latin typeface="Yu Gothic"/>
                <a:ea typeface="Yu Gothic"/>
                <a:cs typeface="Yu Gothic"/>
              </a:defRPr>
            </a:lvl3pPr>
            <a:lvl4pPr>
              <a:buNone/>
              <a:defRPr sz="2775" b="1">
                <a:solidFill>
                  <a:srgbClr val="18364F"/>
                </a:solidFill>
                <a:latin typeface="Yu Gothic"/>
                <a:ea typeface="Yu Gothic"/>
                <a:cs typeface="Yu Gothic"/>
              </a:defRPr>
            </a:lvl4pPr>
            <a:lvl5pPr>
              <a:buNone/>
              <a:defRPr sz="2775" b="1">
                <a:solidFill>
                  <a:srgbClr val="18364F"/>
                </a:solidFill>
                <a:latin typeface="Yu Gothic"/>
                <a:ea typeface="Yu Gothic"/>
                <a:cs typeface="Yu Gothic"/>
              </a:defRPr>
            </a:lvl5pPr>
            <a:lvl6pPr>
              <a:buNone/>
              <a:defRPr sz="2775" b="1">
                <a:solidFill>
                  <a:srgbClr val="18364F"/>
                </a:solidFill>
                <a:latin typeface="Yu Gothic"/>
                <a:ea typeface="Yu Gothic"/>
                <a:cs typeface="Yu Gothic"/>
              </a:defRPr>
            </a:lvl6pPr>
            <a:lvl7pPr>
              <a:buNone/>
              <a:defRPr sz="2775" b="1">
                <a:solidFill>
                  <a:srgbClr val="18364F"/>
                </a:solidFill>
                <a:latin typeface="Yu Gothic"/>
                <a:ea typeface="Yu Gothic"/>
                <a:cs typeface="Yu Gothic"/>
              </a:defRPr>
            </a:lvl7pPr>
            <a:lvl8pPr>
              <a:buNone/>
              <a:defRPr sz="2775" b="1">
                <a:solidFill>
                  <a:srgbClr val="18364F"/>
                </a:solidFill>
                <a:latin typeface="Yu Gothic"/>
                <a:ea typeface="Yu Gothic"/>
                <a:cs typeface="Yu Gothic"/>
              </a:defRPr>
            </a:lvl8pPr>
            <a:lvl9pPr>
              <a:buNone/>
              <a:defRPr sz="2775" b="1">
                <a:solidFill>
                  <a:srgbClr val="18364F"/>
                </a:solidFill>
                <a:latin typeface="Yu Gothic"/>
                <a:ea typeface="Yu Gothic"/>
                <a:cs typeface="Yu Gothic"/>
              </a:defRPr>
            </a:lvl9pPr>
          </a:lstStyle>
          <a:p>
            <a:pPr>
              <a:buNone/>
              <a:defRPr sz="2775" b="1">
                <a:solidFill>
                  <a:srgbClr val="18364F"/>
                </a:solidFill>
                <a:latin typeface="Yu Gothic"/>
                <a:ea typeface="Yu Gothic"/>
                <a:cs typeface="Yu Gothic"/>
              </a:defRPr>
            </a:pPr>
            <a:r>
              <a:rPr sz="2775" b="1">
                <a:solidFill>
                  <a:srgbClr val="18364F"/>
                </a:solidFill>
                <a:latin typeface="Yu Gothic"/>
                <a:ea typeface="Yu Gothic"/>
                <a:cs typeface="Yu Gothic"/>
              </a:rPr>
              <a:t>水の増減 = 入った量 − 出た量</a:t>
            </a:r>
          </a:p>
        </p:txBody>
      </p:sp>
      <p:sp>
        <p:nvSpPr>
          <p:cNvPr id="16" name="正方形/長方形 15">
            <a:extLst>
              <a:ext uri="{FF2B5EF4-FFF2-40B4-BE49-F238E27FC236}">
                <a16:creationId xmlns:a16="http://schemas.microsoft.com/office/drawing/2014/main" id="{00743CF5-7CC5-406A-8EF2-02EDE4D3362D}"/>
              </a:ext>
            </a:extLst>
          </p:cNvPr>
          <p:cNvSpPr>
            <a:spLocks noGrp="1"/>
          </p:cNvSpPr>
          <p:nvPr/>
        </p:nvSpPr>
        <p:spPr>
          <a:xfrm>
            <a:off x="838200" y="1676400"/>
            <a:ext cx="10477500" cy="52387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表面・木口・接合部・割れ：経路も確認する</a:t>
            </a:r>
          </a:p>
        </p:txBody>
      </p:sp>
      <p:sp>
        <p:nvSpPr>
          <p:cNvPr id="17" name="正方形/長方形 16">
            <a:extLst>
              <a:ext uri="{FF2B5EF4-FFF2-40B4-BE49-F238E27FC236}">
                <a16:creationId xmlns:a16="http://schemas.microsoft.com/office/drawing/2014/main" id="{5BF28FDD-9192-4C46-B0B0-2810F9F2555A}"/>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水の経路と収支の模式図。流量・拡散係数の実測ではない。</a:t>
            </a:r>
          </a:p>
        </p:txBody>
      </p:sp>
    </p:spTree>
    <p:extLst>
      <p:ext uri="{BB962C8B-B14F-4D97-AF65-F5344CB8AC3E}">
        <p14:creationId xmlns:p14="http://schemas.microsoft.com/office/powerpoint/2010/main" val="2022021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FBBAA6-DEDA-469C-835B-071C15B6B9DB}"/>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水性・油性と、固まり方を分ける</a:t>
            </a:r>
          </a:p>
        </p:txBody>
      </p:sp>
      <p:sp>
        <p:nvSpPr>
          <p:cNvPr id="2" name="正方形/長方形 1">
            <a:extLst>
              <a:ext uri="{FF2B5EF4-FFF2-40B4-BE49-F238E27FC236}">
                <a16:creationId xmlns:a16="http://schemas.microsoft.com/office/drawing/2014/main" id="{928327D2-0943-4BC5-8E0E-156C24DA44F9}"/>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DB3C16B-F4F0-43AA-BB62-4EA1BFC4A84E}"/>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CC94807-D736-48E3-9C3C-5C20143AB944}"/>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49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2299B3D-D438-4B7F-B821-EE84BAF45E87}"/>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水性／溶剤系：何に分散・溶解しているか</a:t>
            </a:r>
          </a:p>
        </p:txBody>
      </p:sp>
      <p:sp>
        <p:nvSpPr>
          <p:cNvPr id="6" name="正方形/長方形 5">
            <a:extLst>
              <a:ext uri="{FF2B5EF4-FFF2-40B4-BE49-F238E27FC236}">
                <a16:creationId xmlns:a16="http://schemas.microsoft.com/office/drawing/2014/main" id="{A2B230B1-8702-4596-9570-CAD222BF0E37}"/>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乾燥／反応硬化：どう塗膜・仕上げ層を作るか</a:t>
            </a:r>
          </a:p>
        </p:txBody>
      </p:sp>
      <p:sp>
        <p:nvSpPr>
          <p:cNvPr id="7" name="正方形/長方形 6">
            <a:extLst>
              <a:ext uri="{FF2B5EF4-FFF2-40B4-BE49-F238E27FC236}">
                <a16:creationId xmlns:a16="http://schemas.microsoft.com/office/drawing/2014/main" id="{71860F8A-B844-4CE3-AD39-4C1E2963C666}"/>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アクリル・ウレタン等：主な樹脂の系統</a:t>
            </a:r>
          </a:p>
        </p:txBody>
      </p:sp>
      <p:sp>
        <p:nvSpPr>
          <p:cNvPr id="8" name="正方形/長方形 7">
            <a:extLst>
              <a:ext uri="{FF2B5EF4-FFF2-40B4-BE49-F238E27FC236}">
                <a16:creationId xmlns:a16="http://schemas.microsoft.com/office/drawing/2014/main" id="{00AE5137-3035-4467-841B-69EA4227EFB9}"/>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水性塗料でも、硬化後の耐水性は製品で異なる</a:t>
            </a:r>
          </a:p>
        </p:txBody>
      </p:sp>
    </p:spTree>
    <p:extLst>
      <p:ext uri="{BB962C8B-B14F-4D97-AF65-F5344CB8AC3E}">
        <p14:creationId xmlns:p14="http://schemas.microsoft.com/office/powerpoint/2010/main" val="13916499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A119FAE-D742-4C8C-BFF3-6D419D18DA1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木材の動きと、塗膜の傷み</a:t>
            </a:r>
          </a:p>
        </p:txBody>
      </p:sp>
      <p:sp>
        <p:nvSpPr>
          <p:cNvPr id="2" name="正方形/長方形 1">
            <a:extLst>
              <a:ext uri="{FF2B5EF4-FFF2-40B4-BE49-F238E27FC236}">
                <a16:creationId xmlns:a16="http://schemas.microsoft.com/office/drawing/2014/main" id="{401A53EF-BC7D-4FBA-B7AF-021A2D3DD25D}"/>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E0A4E3C1-FB86-439C-831D-86A2245FABC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2590308-0760-497A-81F5-590D5D2A6E2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7F87FA3-ABC9-4B8A-9EDE-45D05A3A7852}"/>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含水率が変わると、木材は方向別に動く</a:t>
            </a:r>
          </a:p>
        </p:txBody>
      </p:sp>
      <p:sp>
        <p:nvSpPr>
          <p:cNvPr id="6" name="正方形/長方形 5">
            <a:extLst>
              <a:ext uri="{FF2B5EF4-FFF2-40B4-BE49-F238E27FC236}">
                <a16:creationId xmlns:a16="http://schemas.microsoft.com/office/drawing/2014/main" id="{96B7B208-A289-4EB1-9500-547120A8E74E}"/>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塗膜の割れや剥がれ、水の入口を点検する</a:t>
            </a:r>
          </a:p>
        </p:txBody>
      </p:sp>
      <p:sp>
        <p:nvSpPr>
          <p:cNvPr id="7" name="正方形/長方形 6">
            <a:extLst>
              <a:ext uri="{FF2B5EF4-FFF2-40B4-BE49-F238E27FC236}">
                <a16:creationId xmlns:a16="http://schemas.microsoft.com/office/drawing/2014/main" id="{B778D9D5-0D74-4F0E-A781-1730C36A1E21}"/>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塗装は水分移動を遅らせても、完全には止めない</a:t>
            </a:r>
          </a:p>
        </p:txBody>
      </p:sp>
      <p:sp>
        <p:nvSpPr>
          <p:cNvPr id="8" name="正方形/長方形 7">
            <a:extLst>
              <a:ext uri="{FF2B5EF4-FFF2-40B4-BE49-F238E27FC236}">
                <a16:creationId xmlns:a16="http://schemas.microsoft.com/office/drawing/2014/main" id="{EF9DE20A-DFA3-4183-892C-AE10A3B689C5}"/>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木口・接合部・裏面を含め、濡れ方と乾き方を見る</a:t>
            </a:r>
          </a:p>
        </p:txBody>
      </p:sp>
    </p:spTree>
    <p:extLst>
      <p:ext uri="{BB962C8B-B14F-4D97-AF65-F5344CB8AC3E}">
        <p14:creationId xmlns:p14="http://schemas.microsoft.com/office/powerpoint/2010/main" val="4291067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EF9AAE2C-1B01-4DF6-92C7-996F710157B4}"/>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木材の動きと、塗膜の追従</a:t>
            </a:r>
          </a:p>
        </p:txBody>
      </p:sp>
      <p:sp>
        <p:nvSpPr>
          <p:cNvPr id="2" name="正方形/長方形 1">
            <a:extLst>
              <a:ext uri="{FF2B5EF4-FFF2-40B4-BE49-F238E27FC236}">
                <a16:creationId xmlns:a16="http://schemas.microsoft.com/office/drawing/2014/main" id="{77C7BE21-659F-4548-968D-26C605431A18}"/>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83F7EFD-886D-4D93-A3E5-7C517B32958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B7B62084-6FDE-40D7-864B-041109C6CE81}"/>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E388E91E-92BC-46D0-A4AF-E4086B425717}"/>
              </a:ext>
            </a:extLst>
          </p:cNvPr>
          <p:cNvSpPr>
            <a:spLocks noGrp="1"/>
          </p:cNvSpPr>
          <p:nvPr/>
        </p:nvSpPr>
        <p:spPr>
          <a:xfrm>
            <a:off x="1571625" y="2857500"/>
            <a:ext cx="8572500" cy="1428750"/>
          </a:xfrm>
          <a:prstGeom prst="rect">
            <a:avLst/>
          </a:prstGeom>
          <a:solidFill>
            <a:srgbClr val="EBD9BB"/>
          </a:solidFill>
          <a:ln w="0">
            <a:noFill/>
          </a:ln>
        </p:spPr>
      </p:sp>
      <p:sp>
        <p:nvSpPr>
          <p:cNvPr id="6" name="正方形/長方形 5">
            <a:extLst>
              <a:ext uri="{FF2B5EF4-FFF2-40B4-BE49-F238E27FC236}">
                <a16:creationId xmlns:a16="http://schemas.microsoft.com/office/drawing/2014/main" id="{A6335541-C9DD-4071-95A6-9C7C095A39C1}"/>
              </a:ext>
            </a:extLst>
          </p:cNvPr>
          <p:cNvSpPr>
            <a:spLocks noGrp="1"/>
          </p:cNvSpPr>
          <p:nvPr/>
        </p:nvSpPr>
        <p:spPr>
          <a:xfrm>
            <a:off x="1685925" y="3009900"/>
            <a:ext cx="8343900" cy="1200150"/>
          </a:xfrm>
          <a:prstGeom prst="rect">
            <a:avLst/>
          </a:prstGeom>
          <a:noFill/>
          <a:ln w="0">
            <a:noFill/>
          </a:ln>
        </p:spPr>
        <p:txBody>
          <a:bodyPr lIns="0" tIns="0" rIns="0" bIns="0" anchor="ctr">
            <a:noAutofit/>
          </a:bodyPr>
          <a:lstStyle>
            <a:defPPr>
              <a:defRPr sz="1875" b="1">
                <a:solidFill>
                  <a:srgbClr val="253C4D"/>
                </a:solidFill>
                <a:latin typeface="Yu Gothic"/>
                <a:ea typeface="Yu Gothic"/>
                <a:cs typeface="Yu Gothic"/>
              </a:defRPr>
            </a:defPPr>
            <a:lvl1pPr>
              <a:buNone/>
              <a:defRPr sz="1875" b="1">
                <a:solidFill>
                  <a:srgbClr val="253C4D"/>
                </a:solidFill>
                <a:latin typeface="Yu Gothic"/>
                <a:ea typeface="Yu Gothic"/>
                <a:cs typeface="Yu Gothic"/>
              </a:defRPr>
            </a:lvl1pPr>
            <a:lvl2pPr>
              <a:buNone/>
              <a:defRPr sz="1875" b="1">
                <a:solidFill>
                  <a:srgbClr val="253C4D"/>
                </a:solidFill>
                <a:latin typeface="Yu Gothic"/>
                <a:ea typeface="Yu Gothic"/>
                <a:cs typeface="Yu Gothic"/>
              </a:defRPr>
            </a:lvl2pPr>
            <a:lvl3pPr>
              <a:buNone/>
              <a:defRPr sz="1875" b="1">
                <a:solidFill>
                  <a:srgbClr val="253C4D"/>
                </a:solidFill>
                <a:latin typeface="Yu Gothic"/>
                <a:ea typeface="Yu Gothic"/>
                <a:cs typeface="Yu Gothic"/>
              </a:defRPr>
            </a:lvl3pPr>
            <a:lvl4pPr>
              <a:buNone/>
              <a:defRPr sz="1875" b="1">
                <a:solidFill>
                  <a:srgbClr val="253C4D"/>
                </a:solidFill>
                <a:latin typeface="Yu Gothic"/>
                <a:ea typeface="Yu Gothic"/>
                <a:cs typeface="Yu Gothic"/>
              </a:defRPr>
            </a:lvl4pPr>
            <a:lvl5pPr>
              <a:buNone/>
              <a:defRPr sz="1875" b="1">
                <a:solidFill>
                  <a:srgbClr val="253C4D"/>
                </a:solidFill>
                <a:latin typeface="Yu Gothic"/>
                <a:ea typeface="Yu Gothic"/>
                <a:cs typeface="Yu Gothic"/>
              </a:defRPr>
            </a:lvl5pPr>
            <a:lvl6pPr>
              <a:buNone/>
              <a:defRPr sz="1875" b="1">
                <a:solidFill>
                  <a:srgbClr val="253C4D"/>
                </a:solidFill>
                <a:latin typeface="Yu Gothic"/>
                <a:ea typeface="Yu Gothic"/>
                <a:cs typeface="Yu Gothic"/>
              </a:defRPr>
            </a:lvl6pPr>
            <a:lvl7pPr>
              <a:buNone/>
              <a:defRPr sz="1875" b="1">
                <a:solidFill>
                  <a:srgbClr val="253C4D"/>
                </a:solidFill>
                <a:latin typeface="Yu Gothic"/>
                <a:ea typeface="Yu Gothic"/>
                <a:cs typeface="Yu Gothic"/>
              </a:defRPr>
            </a:lvl7pPr>
            <a:lvl8pPr>
              <a:buNone/>
              <a:defRPr sz="1875" b="1">
                <a:solidFill>
                  <a:srgbClr val="253C4D"/>
                </a:solidFill>
                <a:latin typeface="Yu Gothic"/>
                <a:ea typeface="Yu Gothic"/>
                <a:cs typeface="Yu Gothic"/>
              </a:defRPr>
            </a:lvl8pPr>
            <a:lvl9pPr>
              <a:buNone/>
              <a:defRPr sz="1875" b="1">
                <a:solidFill>
                  <a:srgbClr val="253C4D"/>
                </a:solidFill>
                <a:latin typeface="Yu Gothic"/>
                <a:ea typeface="Yu Gothic"/>
                <a:cs typeface="Yu Gothic"/>
              </a:defRPr>
            </a:lvl9pPr>
          </a:lstStyle>
          <a:p>
            <a:pPr>
              <a:buNone/>
              <a:defRPr sz="1875" b="1">
                <a:solidFill>
                  <a:srgbClr val="253C4D"/>
                </a:solidFill>
                <a:latin typeface="Yu Gothic"/>
                <a:ea typeface="Yu Gothic"/>
                <a:cs typeface="Yu Gothic"/>
              </a:defRPr>
            </a:pPr>
            <a:r>
              <a:rPr sz="1875" b="1">
                <a:solidFill>
                  <a:srgbClr val="253C4D"/>
                </a:solidFill>
                <a:latin typeface="Yu Gothic"/>
                <a:ea typeface="Yu Gothic"/>
                <a:cs typeface="Yu Gothic"/>
              </a:rPr>
              <a:t>木材</a:t>
            </a:r>
          </a:p>
        </p:txBody>
      </p:sp>
      <p:sp>
        <p:nvSpPr>
          <p:cNvPr id="7" name="正方形/長方形 6">
            <a:extLst>
              <a:ext uri="{FF2B5EF4-FFF2-40B4-BE49-F238E27FC236}">
                <a16:creationId xmlns:a16="http://schemas.microsoft.com/office/drawing/2014/main" id="{7B3826F8-95AB-4F3F-8E2C-66878ED71181}"/>
              </a:ext>
            </a:extLst>
          </p:cNvPr>
          <p:cNvSpPr>
            <a:spLocks noGrp="1"/>
          </p:cNvSpPr>
          <p:nvPr/>
        </p:nvSpPr>
        <p:spPr>
          <a:xfrm>
            <a:off x="1571625" y="2628900"/>
            <a:ext cx="3714750" cy="190500"/>
          </a:xfrm>
          <a:prstGeom prst="rect">
            <a:avLst/>
          </a:prstGeom>
          <a:solidFill>
            <a:srgbClr val="2876A8"/>
          </a:solidFill>
          <a:ln w="0">
            <a:noFill/>
          </a:ln>
        </p:spPr>
      </p:sp>
      <p:sp>
        <p:nvSpPr>
          <p:cNvPr id="8" name="正方形/長方形 7">
            <a:extLst>
              <a:ext uri="{FF2B5EF4-FFF2-40B4-BE49-F238E27FC236}">
                <a16:creationId xmlns:a16="http://schemas.microsoft.com/office/drawing/2014/main" id="{501A8F39-0EF4-4BC6-975C-208265DFD177}"/>
              </a:ext>
            </a:extLst>
          </p:cNvPr>
          <p:cNvSpPr>
            <a:spLocks noGrp="1"/>
          </p:cNvSpPr>
          <p:nvPr/>
        </p:nvSpPr>
        <p:spPr>
          <a:xfrm>
            <a:off x="5505450" y="2628900"/>
            <a:ext cx="4638675" cy="190500"/>
          </a:xfrm>
          <a:prstGeom prst="rect">
            <a:avLst/>
          </a:prstGeom>
          <a:solidFill>
            <a:srgbClr val="2876A8"/>
          </a:solidFill>
          <a:ln w="0">
            <a:noFill/>
          </a:ln>
        </p:spPr>
      </p:sp>
      <p:sp>
        <p:nvSpPr>
          <p:cNvPr id="9" name="フリーフォーム: 図形 8">
            <a:extLst>
              <a:ext uri="{FF2B5EF4-FFF2-40B4-BE49-F238E27FC236}">
                <a16:creationId xmlns:a16="http://schemas.microsoft.com/office/drawing/2014/main" id="{41E516F0-F7C1-45DE-99CE-7CFCD4CA27B6}"/>
              </a:ext>
            </a:extLst>
          </p:cNvPr>
          <p:cNvSpPr>
            <a:spLocks noGrp="1"/>
          </p:cNvSpPr>
          <p:nvPr/>
        </p:nvSpPr>
        <p:spPr>
          <a:xfrm>
            <a:off x="4857750" y="2095500"/>
            <a:ext cx="504825" cy="514350"/>
          </a:xfrm>
          <a:custGeom>
            <a:avLst/>
            <a:gdLst/>
            <a:ahLst/>
            <a:cxnLst/>
            <a:rect l="0" t="0" r="0" b="0"/>
            <a:pathLst>
              <a:path w="504825" h="514350">
                <a:moveTo>
                  <a:pt x="0" y="0"/>
                </a:moveTo>
                <a:lnTo>
                  <a:pt x="504825" y="514350"/>
                </a:lnTo>
              </a:path>
            </a:pathLst>
          </a:custGeom>
          <a:noFill/>
          <a:ln w="38100">
            <a:solidFill>
              <a:srgbClr val="C4483C"/>
            </a:solidFill>
          </a:ln>
        </p:spPr>
      </p:sp>
      <p:sp>
        <p:nvSpPr>
          <p:cNvPr id="10" name="フリーフォーム: 図形 9">
            <a:extLst>
              <a:ext uri="{FF2B5EF4-FFF2-40B4-BE49-F238E27FC236}">
                <a16:creationId xmlns:a16="http://schemas.microsoft.com/office/drawing/2014/main" id="{F317E464-1F73-421D-8B36-ECE76CA5CEC7}"/>
              </a:ext>
            </a:extLst>
          </p:cNvPr>
          <p:cNvSpPr>
            <a:spLocks noGrp="1"/>
          </p:cNvSpPr>
          <p:nvPr/>
        </p:nvSpPr>
        <p:spPr>
          <a:xfrm>
            <a:off x="5205475" y="2570614"/>
            <a:ext cx="157100" cy="39236"/>
          </a:xfrm>
          <a:custGeom>
            <a:avLst/>
            <a:gdLst/>
            <a:ahLst/>
            <a:cxnLst/>
            <a:rect l="0" t="0" r="0" b="0"/>
            <a:pathLst>
              <a:path w="157100" h="39236">
                <a:moveTo>
                  <a:pt x="157100" y="39236"/>
                </a:moveTo>
                <a:lnTo>
                  <a:pt x="0" y="0"/>
                </a:lnTo>
              </a:path>
            </a:pathLst>
          </a:custGeom>
          <a:noFill/>
          <a:ln w="38100">
            <a:solidFill>
              <a:srgbClr val="C4483C"/>
            </a:solidFill>
          </a:ln>
        </p:spPr>
      </p:sp>
      <p:sp>
        <p:nvSpPr>
          <p:cNvPr id="11" name="フリーフォーム: 図形 10">
            <a:extLst>
              <a:ext uri="{FF2B5EF4-FFF2-40B4-BE49-F238E27FC236}">
                <a16:creationId xmlns:a16="http://schemas.microsoft.com/office/drawing/2014/main" id="{E8A1374F-A8A8-4BB1-8465-1BCDECFDC7FB}"/>
              </a:ext>
            </a:extLst>
          </p:cNvPr>
          <p:cNvSpPr>
            <a:spLocks noGrp="1"/>
          </p:cNvSpPr>
          <p:nvPr/>
        </p:nvSpPr>
        <p:spPr>
          <a:xfrm>
            <a:off x="5326282" y="2452045"/>
            <a:ext cx="36293" cy="157805"/>
          </a:xfrm>
          <a:custGeom>
            <a:avLst/>
            <a:gdLst/>
            <a:ahLst/>
            <a:cxnLst/>
            <a:rect l="0" t="0" r="0" b="0"/>
            <a:pathLst>
              <a:path w="36293" h="157805">
                <a:moveTo>
                  <a:pt x="36293" y="157805"/>
                </a:moveTo>
                <a:lnTo>
                  <a:pt x="0" y="0"/>
                </a:lnTo>
              </a:path>
            </a:pathLst>
          </a:custGeom>
          <a:noFill/>
          <a:ln w="38100">
            <a:solidFill>
              <a:srgbClr val="C4483C"/>
            </a:solidFill>
          </a:ln>
        </p:spPr>
      </p:sp>
      <p:sp>
        <p:nvSpPr>
          <p:cNvPr id="12" name="正方形/長方形 11">
            <a:extLst>
              <a:ext uri="{FF2B5EF4-FFF2-40B4-BE49-F238E27FC236}">
                <a16:creationId xmlns:a16="http://schemas.microsoft.com/office/drawing/2014/main" id="{638EBA27-E9E8-4521-B912-A0054422633E}"/>
              </a:ext>
            </a:extLst>
          </p:cNvPr>
          <p:cNvSpPr>
            <a:spLocks noGrp="1"/>
          </p:cNvSpPr>
          <p:nvPr/>
        </p:nvSpPr>
        <p:spPr>
          <a:xfrm>
            <a:off x="838200" y="1552575"/>
            <a:ext cx="10477500" cy="52387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割れ・剥がれ → 水の経路になり得る</a:t>
            </a:r>
          </a:p>
        </p:txBody>
      </p:sp>
      <p:sp>
        <p:nvSpPr>
          <p:cNvPr id="13" name="フリーフォーム: 図形 12">
            <a:extLst>
              <a:ext uri="{FF2B5EF4-FFF2-40B4-BE49-F238E27FC236}">
                <a16:creationId xmlns:a16="http://schemas.microsoft.com/office/drawing/2014/main" id="{B18342CA-E749-461F-9640-2CA8F89D6604}"/>
              </a:ext>
            </a:extLst>
          </p:cNvPr>
          <p:cNvSpPr>
            <a:spLocks noGrp="1"/>
          </p:cNvSpPr>
          <p:nvPr/>
        </p:nvSpPr>
        <p:spPr>
          <a:xfrm>
            <a:off x="1524000" y="4552950"/>
            <a:ext cx="1428750" cy="9525"/>
          </a:xfrm>
          <a:custGeom>
            <a:avLst/>
            <a:gdLst/>
            <a:ahLst/>
            <a:cxnLst/>
            <a:rect l="0" t="0" r="0" b="0"/>
            <a:pathLst>
              <a:path w="1428750" h="9525">
                <a:moveTo>
                  <a:pt x="1428750" y="0"/>
                </a:moveTo>
                <a:lnTo>
                  <a:pt x="0" y="0"/>
                </a:lnTo>
              </a:path>
            </a:pathLst>
          </a:custGeom>
          <a:noFill/>
          <a:ln w="38100">
            <a:solidFill>
              <a:srgbClr val="C4483C"/>
            </a:solidFill>
          </a:ln>
        </p:spPr>
      </p:sp>
      <p:sp>
        <p:nvSpPr>
          <p:cNvPr id="14" name="フリーフォーム: 図形 13">
            <a:extLst>
              <a:ext uri="{FF2B5EF4-FFF2-40B4-BE49-F238E27FC236}">
                <a16:creationId xmlns:a16="http://schemas.microsoft.com/office/drawing/2014/main" id="{5339AC27-2E74-4183-AC61-22072BDB582C}"/>
              </a:ext>
            </a:extLst>
          </p:cNvPr>
          <p:cNvSpPr>
            <a:spLocks noGrp="1"/>
          </p:cNvSpPr>
          <p:nvPr/>
        </p:nvSpPr>
        <p:spPr>
          <a:xfrm>
            <a:off x="1524000" y="4468314"/>
            <a:ext cx="138045" cy="84636"/>
          </a:xfrm>
          <a:custGeom>
            <a:avLst/>
            <a:gdLst/>
            <a:ahLst/>
            <a:cxnLst/>
            <a:rect l="0" t="0" r="0" b="0"/>
            <a:pathLst>
              <a:path w="138045" h="84636">
                <a:moveTo>
                  <a:pt x="0" y="84636"/>
                </a:moveTo>
                <a:lnTo>
                  <a:pt x="138045" y="0"/>
                </a:lnTo>
              </a:path>
            </a:pathLst>
          </a:custGeom>
          <a:noFill/>
          <a:ln w="38100">
            <a:solidFill>
              <a:srgbClr val="C4483C"/>
            </a:solidFill>
          </a:ln>
        </p:spPr>
      </p:sp>
      <p:sp>
        <p:nvSpPr>
          <p:cNvPr id="15" name="フリーフォーム: 図形 14">
            <a:extLst>
              <a:ext uri="{FF2B5EF4-FFF2-40B4-BE49-F238E27FC236}">
                <a16:creationId xmlns:a16="http://schemas.microsoft.com/office/drawing/2014/main" id="{047EBDC9-9FC1-4BA7-B415-A2F298FC0079}"/>
              </a:ext>
            </a:extLst>
          </p:cNvPr>
          <p:cNvSpPr>
            <a:spLocks noGrp="1"/>
          </p:cNvSpPr>
          <p:nvPr/>
        </p:nvSpPr>
        <p:spPr>
          <a:xfrm>
            <a:off x="1524000" y="4552950"/>
            <a:ext cx="138045" cy="84636"/>
          </a:xfrm>
          <a:custGeom>
            <a:avLst/>
            <a:gdLst/>
            <a:ahLst/>
            <a:cxnLst/>
            <a:rect l="0" t="0" r="0" b="0"/>
            <a:pathLst>
              <a:path w="138045" h="84636">
                <a:moveTo>
                  <a:pt x="0" y="0"/>
                </a:moveTo>
                <a:lnTo>
                  <a:pt x="138045" y="84636"/>
                </a:lnTo>
              </a:path>
            </a:pathLst>
          </a:custGeom>
          <a:noFill/>
          <a:ln w="38100">
            <a:solidFill>
              <a:srgbClr val="C4483C"/>
            </a:solidFill>
          </a:ln>
        </p:spPr>
      </p:sp>
      <p:sp>
        <p:nvSpPr>
          <p:cNvPr id="16" name="フリーフォーム: 図形 15">
            <a:extLst>
              <a:ext uri="{FF2B5EF4-FFF2-40B4-BE49-F238E27FC236}">
                <a16:creationId xmlns:a16="http://schemas.microsoft.com/office/drawing/2014/main" id="{4299C159-6282-4A79-ACC0-34B54AA9D299}"/>
              </a:ext>
            </a:extLst>
          </p:cNvPr>
          <p:cNvSpPr>
            <a:spLocks noGrp="1"/>
          </p:cNvSpPr>
          <p:nvPr/>
        </p:nvSpPr>
        <p:spPr>
          <a:xfrm>
            <a:off x="8715375" y="4552950"/>
            <a:ext cx="1476375" cy="9525"/>
          </a:xfrm>
          <a:custGeom>
            <a:avLst/>
            <a:gdLst/>
            <a:ahLst/>
            <a:cxnLst/>
            <a:rect l="0" t="0" r="0" b="0"/>
            <a:pathLst>
              <a:path w="1476375" h="9525">
                <a:moveTo>
                  <a:pt x="0" y="0"/>
                </a:moveTo>
                <a:lnTo>
                  <a:pt x="1476375" y="0"/>
                </a:lnTo>
              </a:path>
            </a:pathLst>
          </a:custGeom>
          <a:noFill/>
          <a:ln w="38100">
            <a:solidFill>
              <a:srgbClr val="C4483C"/>
            </a:solidFill>
          </a:ln>
        </p:spPr>
      </p:sp>
      <p:sp>
        <p:nvSpPr>
          <p:cNvPr id="17" name="フリーフォーム: 図形 16">
            <a:extLst>
              <a:ext uri="{FF2B5EF4-FFF2-40B4-BE49-F238E27FC236}">
                <a16:creationId xmlns:a16="http://schemas.microsoft.com/office/drawing/2014/main" id="{E9BC2475-E6BA-4F92-9BAF-C3056B51F502}"/>
              </a:ext>
            </a:extLst>
          </p:cNvPr>
          <p:cNvSpPr>
            <a:spLocks noGrp="1"/>
          </p:cNvSpPr>
          <p:nvPr/>
        </p:nvSpPr>
        <p:spPr>
          <a:xfrm>
            <a:off x="10053705" y="4552950"/>
            <a:ext cx="138045" cy="84636"/>
          </a:xfrm>
          <a:custGeom>
            <a:avLst/>
            <a:gdLst/>
            <a:ahLst/>
            <a:cxnLst/>
            <a:rect l="0" t="0" r="0" b="0"/>
            <a:pathLst>
              <a:path w="138045" h="84636">
                <a:moveTo>
                  <a:pt x="138045" y="0"/>
                </a:moveTo>
                <a:lnTo>
                  <a:pt x="0" y="84636"/>
                </a:lnTo>
              </a:path>
            </a:pathLst>
          </a:custGeom>
          <a:noFill/>
          <a:ln w="38100">
            <a:solidFill>
              <a:srgbClr val="C4483C"/>
            </a:solidFill>
          </a:ln>
        </p:spPr>
      </p:sp>
      <p:sp>
        <p:nvSpPr>
          <p:cNvPr id="18" name="フリーフォーム: 図形 17">
            <a:extLst>
              <a:ext uri="{FF2B5EF4-FFF2-40B4-BE49-F238E27FC236}">
                <a16:creationId xmlns:a16="http://schemas.microsoft.com/office/drawing/2014/main" id="{19FBD9D3-02A8-41E6-BC68-5302F489D317}"/>
              </a:ext>
            </a:extLst>
          </p:cNvPr>
          <p:cNvSpPr>
            <a:spLocks noGrp="1"/>
          </p:cNvSpPr>
          <p:nvPr/>
        </p:nvSpPr>
        <p:spPr>
          <a:xfrm>
            <a:off x="10053705" y="4468314"/>
            <a:ext cx="138045" cy="84636"/>
          </a:xfrm>
          <a:custGeom>
            <a:avLst/>
            <a:gdLst/>
            <a:ahLst/>
            <a:cxnLst/>
            <a:rect l="0" t="0" r="0" b="0"/>
            <a:pathLst>
              <a:path w="138045" h="84636">
                <a:moveTo>
                  <a:pt x="138045" y="84636"/>
                </a:moveTo>
                <a:lnTo>
                  <a:pt x="0" y="0"/>
                </a:lnTo>
              </a:path>
            </a:pathLst>
          </a:custGeom>
          <a:noFill/>
          <a:ln w="38100">
            <a:solidFill>
              <a:srgbClr val="C4483C"/>
            </a:solidFill>
          </a:ln>
        </p:spPr>
      </p:sp>
      <p:sp>
        <p:nvSpPr>
          <p:cNvPr id="19" name="正方形/長方形 18">
            <a:extLst>
              <a:ext uri="{FF2B5EF4-FFF2-40B4-BE49-F238E27FC236}">
                <a16:creationId xmlns:a16="http://schemas.microsoft.com/office/drawing/2014/main" id="{EC1F5FAA-B76A-4749-A8B6-711400F92120}"/>
              </a:ext>
            </a:extLst>
          </p:cNvPr>
          <p:cNvSpPr>
            <a:spLocks noGrp="1"/>
          </p:cNvSpPr>
          <p:nvPr/>
        </p:nvSpPr>
        <p:spPr>
          <a:xfrm>
            <a:off x="838200" y="5133975"/>
            <a:ext cx="10477500" cy="523875"/>
          </a:xfrm>
          <a:prstGeom prst="rect">
            <a:avLst/>
          </a:prstGeom>
          <a:noFill/>
          <a:ln w="0">
            <a:noFill/>
          </a:ln>
        </p:spPr>
        <p:txBody>
          <a:bodyPr lIns="0" tIns="0" rIns="0" bIns="0" anchor="ctr">
            <a:noAutofit/>
          </a:bodyPr>
          <a:lstStyle>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水分による方向別の寸法変化 ＋ 塗膜の追従</a:t>
            </a:r>
          </a:p>
        </p:txBody>
      </p:sp>
      <p:sp>
        <p:nvSpPr>
          <p:cNvPr id="20" name="正方形/長方形 19">
            <a:extLst>
              <a:ext uri="{FF2B5EF4-FFF2-40B4-BE49-F238E27FC236}">
                <a16:creationId xmlns:a16="http://schemas.microsoft.com/office/drawing/2014/main" id="{66F12DA9-351E-4B7B-84D0-B753677D3DE2}"/>
              </a:ext>
            </a:extLst>
          </p:cNvPr>
          <p:cNvSpPr>
            <a:spLocks noGrp="1"/>
          </p:cNvSpPr>
          <p:nvPr/>
        </p:nvSpPr>
        <p:spPr>
          <a:xfrm>
            <a:off x="838200" y="5905500"/>
            <a:ext cx="10477500" cy="381000"/>
          </a:xfrm>
          <a:prstGeom prst="rect">
            <a:avLst/>
          </a:prstGeom>
          <a:noFill/>
          <a:ln w="0">
            <a:noFill/>
          </a:ln>
        </p:spPr>
        <p:txBody>
          <a:bodyPr lIns="0" tIns="0" rIns="0" bIns="0" anchor="ctr">
            <a:noAutofit/>
          </a:bodyPr>
          <a:lstStyle>
            <a:defPPr>
              <a:defRPr sz="1500" b="1">
                <a:solidFill>
                  <a:srgbClr val="087E8B"/>
                </a:solidFill>
                <a:latin typeface="Yu Gothic"/>
                <a:ea typeface="Yu Gothic"/>
                <a:cs typeface="Yu Gothic"/>
              </a:defRPr>
            </a:defPPr>
            <a:lvl1pPr>
              <a:buNone/>
              <a:defRPr sz="1500" b="1">
                <a:solidFill>
                  <a:srgbClr val="087E8B"/>
                </a:solidFill>
                <a:latin typeface="Yu Gothic"/>
                <a:ea typeface="Yu Gothic"/>
                <a:cs typeface="Yu Gothic"/>
              </a:defRPr>
            </a:lvl1pPr>
            <a:lvl2pPr>
              <a:buNone/>
              <a:defRPr sz="1500" b="1">
                <a:solidFill>
                  <a:srgbClr val="087E8B"/>
                </a:solidFill>
                <a:latin typeface="Yu Gothic"/>
                <a:ea typeface="Yu Gothic"/>
                <a:cs typeface="Yu Gothic"/>
              </a:defRPr>
            </a:lvl2pPr>
            <a:lvl3pPr>
              <a:buNone/>
              <a:defRPr sz="1500" b="1">
                <a:solidFill>
                  <a:srgbClr val="087E8B"/>
                </a:solidFill>
                <a:latin typeface="Yu Gothic"/>
                <a:ea typeface="Yu Gothic"/>
                <a:cs typeface="Yu Gothic"/>
              </a:defRPr>
            </a:lvl3pPr>
            <a:lvl4pPr>
              <a:buNone/>
              <a:defRPr sz="1500" b="1">
                <a:solidFill>
                  <a:srgbClr val="087E8B"/>
                </a:solidFill>
                <a:latin typeface="Yu Gothic"/>
                <a:ea typeface="Yu Gothic"/>
                <a:cs typeface="Yu Gothic"/>
              </a:defRPr>
            </a:lvl4pPr>
            <a:lvl5pPr>
              <a:buNone/>
              <a:defRPr sz="1500" b="1">
                <a:solidFill>
                  <a:srgbClr val="087E8B"/>
                </a:solidFill>
                <a:latin typeface="Yu Gothic"/>
                <a:ea typeface="Yu Gothic"/>
                <a:cs typeface="Yu Gothic"/>
              </a:defRPr>
            </a:lvl5pPr>
            <a:lvl6pPr>
              <a:buNone/>
              <a:defRPr sz="1500" b="1">
                <a:solidFill>
                  <a:srgbClr val="087E8B"/>
                </a:solidFill>
                <a:latin typeface="Yu Gothic"/>
                <a:ea typeface="Yu Gothic"/>
                <a:cs typeface="Yu Gothic"/>
              </a:defRPr>
            </a:lvl6pPr>
            <a:lvl7pPr>
              <a:buNone/>
              <a:defRPr sz="1500" b="1">
                <a:solidFill>
                  <a:srgbClr val="087E8B"/>
                </a:solidFill>
                <a:latin typeface="Yu Gothic"/>
                <a:ea typeface="Yu Gothic"/>
                <a:cs typeface="Yu Gothic"/>
              </a:defRPr>
            </a:lvl7pPr>
            <a:lvl8pPr>
              <a:buNone/>
              <a:defRPr sz="1500" b="1">
                <a:solidFill>
                  <a:srgbClr val="087E8B"/>
                </a:solidFill>
                <a:latin typeface="Yu Gothic"/>
                <a:ea typeface="Yu Gothic"/>
                <a:cs typeface="Yu Gothic"/>
              </a:defRPr>
            </a:lvl8pPr>
            <a:lvl9pPr>
              <a:buNone/>
              <a:defRPr sz="1500" b="1">
                <a:solidFill>
                  <a:srgbClr val="087E8B"/>
                </a:solidFill>
                <a:latin typeface="Yu Gothic"/>
                <a:ea typeface="Yu Gothic"/>
                <a:cs typeface="Yu Gothic"/>
              </a:defRPr>
            </a:lvl9pPr>
          </a:lstStyle>
          <a:p>
            <a:pPr>
              <a:buNone/>
              <a:defRPr sz="1500" b="1">
                <a:solidFill>
                  <a:srgbClr val="087E8B"/>
                </a:solidFill>
                <a:latin typeface="Yu Gothic"/>
                <a:ea typeface="Yu Gothic"/>
                <a:cs typeface="Yu Gothic"/>
              </a:defRPr>
            </a:pPr>
            <a:r>
              <a:rPr sz="1500" b="1">
                <a:solidFill>
                  <a:srgbClr val="087E8B"/>
                </a:solidFill>
                <a:latin typeface="Yu Gothic"/>
                <a:ea typeface="Yu Gothic"/>
                <a:cs typeface="Yu Gothic"/>
              </a:rPr>
              <a:t>変形は誇張した概念図。図の縮尺から寸法を求めない。</a:t>
            </a:r>
          </a:p>
        </p:txBody>
      </p:sp>
    </p:spTree>
    <p:extLst>
      <p:ext uri="{BB962C8B-B14F-4D97-AF65-F5344CB8AC3E}">
        <p14:creationId xmlns:p14="http://schemas.microsoft.com/office/powerpoint/2010/main" val="7363306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D442F93-0077-4A5B-840D-76FF7BD0D10E}"/>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仕上げ工程と、接着工程の順序</a:t>
            </a:r>
          </a:p>
        </p:txBody>
      </p:sp>
      <p:sp>
        <p:nvSpPr>
          <p:cNvPr id="2" name="正方形/長方形 1">
            <a:extLst>
              <a:ext uri="{FF2B5EF4-FFF2-40B4-BE49-F238E27FC236}">
                <a16:creationId xmlns:a16="http://schemas.microsoft.com/office/drawing/2014/main" id="{8BBADE49-5102-4F42-9255-96B9E775120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A2D33C7E-9617-488A-95D3-30970DB0C86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A7A56C13-E1C4-481F-977E-8FE70283405B}"/>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52</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9C970334-42A4-4C3A-881E-33EAD4D9B38F}"/>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試し塗りで、色・吸込み・手触りを確認する</a:t>
            </a:r>
          </a:p>
        </p:txBody>
      </p:sp>
      <p:sp>
        <p:nvSpPr>
          <p:cNvPr id="6" name="正方形/長方形 5">
            <a:extLst>
              <a:ext uri="{FF2B5EF4-FFF2-40B4-BE49-F238E27FC236}">
                <a16:creationId xmlns:a16="http://schemas.microsoft.com/office/drawing/2014/main" id="{16F31D0C-9CF4-4AD0-8C2B-746C2346D17B}"/>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下地調整、塗布、乾燥・養生を製品に合わせる</a:t>
            </a:r>
          </a:p>
        </p:txBody>
      </p:sp>
      <p:sp>
        <p:nvSpPr>
          <p:cNvPr id="7" name="正方形/長方形 6">
            <a:extLst>
              <a:ext uri="{FF2B5EF4-FFF2-40B4-BE49-F238E27FC236}">
                <a16:creationId xmlns:a16="http://schemas.microsoft.com/office/drawing/2014/main" id="{B619D6F3-6CBB-40CE-822E-7FB85C0931B8}"/>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接着面は、塗膜を介さず接着できるかを確認する</a:t>
            </a:r>
          </a:p>
        </p:txBody>
      </p:sp>
      <p:sp>
        <p:nvSpPr>
          <p:cNvPr id="8" name="正方形/長方形 7">
            <a:extLst>
              <a:ext uri="{FF2B5EF4-FFF2-40B4-BE49-F238E27FC236}">
                <a16:creationId xmlns:a16="http://schemas.microsoft.com/office/drawing/2014/main" id="{B9B12757-6EE5-4875-8FCE-CB6DCA9919DE}"/>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組立て順序と、接着剤のはみ出しを計画する</a:t>
            </a:r>
          </a:p>
        </p:txBody>
      </p:sp>
    </p:spTree>
    <p:extLst>
      <p:ext uri="{BB962C8B-B14F-4D97-AF65-F5344CB8AC3E}">
        <p14:creationId xmlns:p14="http://schemas.microsoft.com/office/powerpoint/2010/main" val="260897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5B64797-7EE4-487C-BC1B-82326B8A5D17}"/>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塗装と防腐：役割を組み合わせる</a:t>
            </a:r>
          </a:p>
        </p:txBody>
      </p:sp>
      <p:sp>
        <p:nvSpPr>
          <p:cNvPr id="2" name="正方形/長方形 1">
            <a:extLst>
              <a:ext uri="{FF2B5EF4-FFF2-40B4-BE49-F238E27FC236}">
                <a16:creationId xmlns:a16="http://schemas.microsoft.com/office/drawing/2014/main" id="{E8D7DB1E-1DCD-4234-B032-A845435D515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FA231C69-19FB-4D3C-B8AF-5B5C33EA825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6CCEEC68-86F1-46C1-9D55-F4E21D257F18}"/>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53</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F3CA7E51-D2ED-403D-AAEE-E4D3DC615F11}"/>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通常の仕上げ塗装と、保存処理を区別する</a:t>
            </a:r>
          </a:p>
        </p:txBody>
      </p:sp>
      <p:sp>
        <p:nvSpPr>
          <p:cNvPr id="6" name="正方形/長方形 5">
            <a:extLst>
              <a:ext uri="{FF2B5EF4-FFF2-40B4-BE49-F238E27FC236}">
                <a16:creationId xmlns:a16="http://schemas.microsoft.com/office/drawing/2014/main" id="{481CE5D4-83CF-4C9F-85BE-0C83D344E1A2}"/>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防腐成分を含む塗料も、対象と適用範囲を確認する</a:t>
            </a:r>
          </a:p>
        </p:txBody>
      </p:sp>
      <p:sp>
        <p:nvSpPr>
          <p:cNvPr id="7" name="正方形/長方形 6">
            <a:extLst>
              <a:ext uri="{FF2B5EF4-FFF2-40B4-BE49-F238E27FC236}">
                <a16:creationId xmlns:a16="http://schemas.microsoft.com/office/drawing/2014/main" id="{8DC552CF-7E02-4CF5-9D5A-43936E27CCE2}"/>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保存処理材への塗装は、適合と乾燥条件を読む</a:t>
            </a:r>
          </a:p>
        </p:txBody>
      </p:sp>
      <p:sp>
        <p:nvSpPr>
          <p:cNvPr id="8" name="正方形/長方形 7">
            <a:extLst>
              <a:ext uri="{FF2B5EF4-FFF2-40B4-BE49-F238E27FC236}">
                <a16:creationId xmlns:a16="http://schemas.microsoft.com/office/drawing/2014/main" id="{2D27DC34-6234-4617-B038-E8D719974426}"/>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どちらも、傷んだ部材の耐力を自動的に回復しない</a:t>
            </a:r>
          </a:p>
        </p:txBody>
      </p:sp>
    </p:spTree>
    <p:extLst>
      <p:ext uri="{BB962C8B-B14F-4D97-AF65-F5344CB8AC3E}">
        <p14:creationId xmlns:p14="http://schemas.microsoft.com/office/powerpoint/2010/main" val="1498163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F85AB55-6AF4-40AC-9C7C-7322983A3FED}"/>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統合演習13：棚の採用条件をまとめる</a:t>
            </a:r>
          </a:p>
        </p:txBody>
      </p:sp>
      <p:sp>
        <p:nvSpPr>
          <p:cNvPr id="2" name="正方形/長方形 1">
            <a:extLst>
              <a:ext uri="{FF2B5EF4-FFF2-40B4-BE49-F238E27FC236}">
                <a16:creationId xmlns:a16="http://schemas.microsoft.com/office/drawing/2014/main" id="{9658F6C2-09EE-461E-A12C-4240F3466D2E}"/>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D6F85F93-5C45-4CBE-B733-9D41ADC3D32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2C0F2828-A8C3-4A4D-9CFE-9103D4BF7B67}"/>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54</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E7D299AF-E90B-4E6B-AA1E-2E5098789242}"/>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合板・PB・MDFから候補を比較する</a:t>
            </a:r>
          </a:p>
        </p:txBody>
      </p:sp>
      <p:sp>
        <p:nvSpPr>
          <p:cNvPr id="6" name="正方形/長方形 5">
            <a:extLst>
              <a:ext uri="{FF2B5EF4-FFF2-40B4-BE49-F238E27FC236}">
                <a16:creationId xmlns:a16="http://schemas.microsoft.com/office/drawing/2014/main" id="{F6B634C6-66E5-4F95-A2C5-0D97DD372B73}"/>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荷重方向、ねじ・接着、端面、濡れ方を対応させる</a:t>
            </a:r>
          </a:p>
        </p:txBody>
      </p:sp>
      <p:sp>
        <p:nvSpPr>
          <p:cNvPr id="7" name="正方形/長方形 6">
            <a:extLst>
              <a:ext uri="{FF2B5EF4-FFF2-40B4-BE49-F238E27FC236}">
                <a16:creationId xmlns:a16="http://schemas.microsoft.com/office/drawing/2014/main" id="{CEC803D0-81BC-4EA7-BBE1-2ABA6A720CAB}"/>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採用条件と、確かめる情報を一組で書く</a:t>
            </a:r>
          </a:p>
        </p:txBody>
      </p:sp>
    </p:spTree>
    <p:extLst>
      <p:ext uri="{BB962C8B-B14F-4D97-AF65-F5344CB8AC3E}">
        <p14:creationId xmlns:p14="http://schemas.microsoft.com/office/powerpoint/2010/main" val="25161290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7D6C187-0756-4B24-92C0-619BF3A06DB9}"/>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lang="ja-JP" altLang="en-US" sz="3000" b="1">
                <a:solidFill>
                  <a:srgbClr val="18364F"/>
                </a:solidFill>
                <a:latin typeface="Yu Gothic"/>
                <a:ea typeface="Yu Gothic"/>
                <a:cs typeface="Yu Gothic"/>
              </a:rPr>
              <a:t>材料演習</a:t>
            </a:r>
            <a:r>
              <a:rPr lang="en-US" altLang="ja-JP" sz="3000" b="1">
                <a:solidFill>
                  <a:srgbClr val="18364F"/>
                </a:solidFill>
                <a:latin typeface="Yu Gothic"/>
                <a:ea typeface="Yu Gothic"/>
                <a:cs typeface="Yu Gothic"/>
              </a:rPr>
              <a:t>6</a:t>
            </a:r>
            <a:r>
              <a:rPr lang="ja-JP" altLang="en-US" sz="3000" b="1">
                <a:solidFill>
                  <a:srgbClr val="18364F"/>
                </a:solidFill>
                <a:latin typeface="Yu Gothic"/>
                <a:ea typeface="Yu Gothic"/>
                <a:cs typeface="Yu Gothic"/>
              </a:rPr>
              <a:t>　家具側板の採用条件を考える</a:t>
            </a:r>
            <a:endParaRPr sz="3000" b="1">
              <a:solidFill>
                <a:srgbClr val="18364F"/>
              </a:solidFill>
              <a:latin typeface="Yu Gothic"/>
              <a:ea typeface="Yu Gothic"/>
              <a:cs typeface="Yu Gothic"/>
            </a:endParaRPr>
          </a:p>
        </p:txBody>
      </p:sp>
      <p:sp>
        <p:nvSpPr>
          <p:cNvPr id="2" name="正方形/長方形 1">
            <a:extLst>
              <a:ext uri="{FF2B5EF4-FFF2-40B4-BE49-F238E27FC236}">
                <a16:creationId xmlns:a16="http://schemas.microsoft.com/office/drawing/2014/main" id="{DA3252C0-BAFF-4755-97CB-E066B43B450A}"/>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55EFA625-EB30-4BD7-A29B-8C148AC87412}"/>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A29D585-FF97-45C6-8504-A4499BCA8E56}"/>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55</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82652638-268B-4DA1-8C1D-34C309D9A430}"/>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条件：室内の箱形収納。側板12 mm、上端面へのねじ留め案</a:t>
            </a:r>
          </a:p>
        </p:txBody>
      </p:sp>
      <p:sp>
        <p:nvSpPr>
          <p:cNvPr id="6" name="正方形/長方形 5">
            <a:extLst>
              <a:ext uri="{FF2B5EF4-FFF2-40B4-BE49-F238E27FC236}">
                <a16:creationId xmlns:a16="http://schemas.microsoft.com/office/drawing/2014/main" id="{B6092CA1-53A1-4E07-8176-D5DA494B2652}"/>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候補：合板・PB・MDF。要素と向き、化粧層を説明</a:t>
            </a:r>
          </a:p>
        </p:txBody>
      </p:sp>
      <p:sp>
        <p:nvSpPr>
          <p:cNvPr id="7" name="正方形/長方形 6">
            <a:extLst>
              <a:ext uri="{FF2B5EF4-FFF2-40B4-BE49-F238E27FC236}">
                <a16:creationId xmlns:a16="http://schemas.microsoft.com/office/drawing/2014/main" id="{DE7993BE-A3EB-4824-8A40-46EB3E3E8DFD}"/>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荷重、ねじ・下穴・端距離、拭取り時の濡れを確認</a:t>
            </a:r>
          </a:p>
        </p:txBody>
      </p:sp>
      <p:sp>
        <p:nvSpPr>
          <p:cNvPr id="8" name="正方形/長方形 7">
            <a:extLst>
              <a:ext uri="{FF2B5EF4-FFF2-40B4-BE49-F238E27FC236}">
                <a16:creationId xmlns:a16="http://schemas.microsoft.com/office/drawing/2014/main" id="{862D2E6E-E8F4-4C19-A26C-D78D917BDD75}"/>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採用条件／不足情報／確かめる試験を対応させる</a:t>
            </a:r>
          </a:p>
        </p:txBody>
      </p:sp>
    </p:spTree>
    <p:extLst>
      <p:ext uri="{BB962C8B-B14F-4D97-AF65-F5344CB8AC3E}">
        <p14:creationId xmlns:p14="http://schemas.microsoft.com/office/powerpoint/2010/main" val="2667852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93E688E-85F2-426C-A985-0FB71E697216}"/>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材料選択の解説：値と、使う条件</a:t>
            </a:r>
          </a:p>
        </p:txBody>
      </p:sp>
      <p:sp>
        <p:nvSpPr>
          <p:cNvPr id="2" name="正方形/長方形 1">
            <a:extLst>
              <a:ext uri="{FF2B5EF4-FFF2-40B4-BE49-F238E27FC236}">
                <a16:creationId xmlns:a16="http://schemas.microsoft.com/office/drawing/2014/main" id="{76B9E4A2-54AF-45CE-AE21-371905C65C8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4BD31064-93EC-4573-B57C-6A6D2D13A4D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AF1EB10-4BC7-45AF-A1AD-26A6CE71D755}"/>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56</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1E65D30-F8CA-4615-B0F8-814BC3F3AFFB}"/>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密度の大小だけで、ねじ保持や耐湿性を決めない</a:t>
            </a:r>
          </a:p>
        </p:txBody>
      </p:sp>
      <p:sp>
        <p:nvSpPr>
          <p:cNvPr id="6" name="正方形/長方形 5">
            <a:extLst>
              <a:ext uri="{FF2B5EF4-FFF2-40B4-BE49-F238E27FC236}">
                <a16:creationId xmlns:a16="http://schemas.microsoft.com/office/drawing/2014/main" id="{3CB3C56B-56DD-4F54-AE5D-A72DDA92CF3E}"/>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方向・厚さ・支点間距離と、試験条件をそろえる</a:t>
            </a:r>
          </a:p>
        </p:txBody>
      </p:sp>
      <p:sp>
        <p:nvSpPr>
          <p:cNvPr id="7" name="正方形/長方形 6">
            <a:extLst>
              <a:ext uri="{FF2B5EF4-FFF2-40B4-BE49-F238E27FC236}">
                <a16:creationId xmlns:a16="http://schemas.microsoft.com/office/drawing/2014/main" id="{8071CAA0-F6FC-42F0-9E48-67F5135B8119}"/>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接着の耐水性と、吸水・厚さ膨張・腐朽を分ける</a:t>
            </a:r>
          </a:p>
        </p:txBody>
      </p:sp>
      <p:sp>
        <p:nvSpPr>
          <p:cNvPr id="8" name="正方形/長方形 7">
            <a:extLst>
              <a:ext uri="{FF2B5EF4-FFF2-40B4-BE49-F238E27FC236}">
                <a16:creationId xmlns:a16="http://schemas.microsoft.com/office/drawing/2014/main" id="{80588905-04A7-4E8B-A681-9BDE5E112462}"/>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構造用途は製品の等級・表示・適用条件を確認する</a:t>
            </a:r>
          </a:p>
        </p:txBody>
      </p:sp>
    </p:spTree>
    <p:extLst>
      <p:ext uri="{BB962C8B-B14F-4D97-AF65-F5344CB8AC3E}">
        <p14:creationId xmlns:p14="http://schemas.microsoft.com/office/powerpoint/2010/main" val="36258197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4338BDF-A476-432F-A5DC-A7EE5C2F1882}"/>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統合演習の見直し方</a:t>
            </a:r>
          </a:p>
        </p:txBody>
      </p:sp>
      <p:sp>
        <p:nvSpPr>
          <p:cNvPr id="2" name="正方形/長方形 1">
            <a:extLst>
              <a:ext uri="{FF2B5EF4-FFF2-40B4-BE49-F238E27FC236}">
                <a16:creationId xmlns:a16="http://schemas.microsoft.com/office/drawing/2014/main" id="{16061A89-4873-47B5-8618-BE5B308A1F43}"/>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A169ADE1-5F72-47D2-966A-405F44D8631D}"/>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4DB8C1A7-D3EB-4F3E-8084-A06440E05FCC}"/>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57</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42E79F5-BCC3-42A7-BCF8-E92D92D5DBBA}"/>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材料名に、方向・厚さ・接合方法を添える</a:t>
            </a:r>
          </a:p>
        </p:txBody>
      </p:sp>
      <p:sp>
        <p:nvSpPr>
          <p:cNvPr id="6" name="正方形/長方形 5">
            <a:extLst>
              <a:ext uri="{FF2B5EF4-FFF2-40B4-BE49-F238E27FC236}">
                <a16:creationId xmlns:a16="http://schemas.microsoft.com/office/drawing/2014/main" id="{33D976B4-4708-4D7D-8490-DE6BDD24AFE7}"/>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数値には、試験条件と単位を添える</a:t>
            </a:r>
          </a:p>
        </p:txBody>
      </p:sp>
      <p:sp>
        <p:nvSpPr>
          <p:cNvPr id="7" name="正方形/長方形 6">
            <a:extLst>
              <a:ext uri="{FF2B5EF4-FFF2-40B4-BE49-F238E27FC236}">
                <a16:creationId xmlns:a16="http://schemas.microsoft.com/office/drawing/2014/main" id="{9CBABE91-143E-4847-A180-8B1D434989F0}"/>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接着層の耐水性と、材全体の水への挙動を区別する</a:t>
            </a:r>
          </a:p>
        </p:txBody>
      </p:sp>
    </p:spTree>
    <p:extLst>
      <p:ext uri="{BB962C8B-B14F-4D97-AF65-F5344CB8AC3E}">
        <p14:creationId xmlns:p14="http://schemas.microsoft.com/office/powerpoint/2010/main" val="4087849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63A234D-1DA5-4280-8E5B-440FF783BD80}"/>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材料の構成と、使う条件を一緒に説明する</a:t>
            </a:r>
          </a:p>
        </p:txBody>
      </p:sp>
      <p:sp>
        <p:nvSpPr>
          <p:cNvPr id="2" name="正方形/長方形 1">
            <a:extLst>
              <a:ext uri="{FF2B5EF4-FFF2-40B4-BE49-F238E27FC236}">
                <a16:creationId xmlns:a16="http://schemas.microsoft.com/office/drawing/2014/main" id="{98FC6AFA-D9FF-49D2-90CB-C617CF7EDD16}"/>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C11B28E9-CC0F-4CDA-9783-E43662365787}"/>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F7668085-D336-4D2B-A43D-0BA9DADAA1D1}"/>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58</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BA6A463F-8DA9-4723-ACB9-06FE096FB593}"/>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rPr>
              <a:t>接着部は、表面・硬化・荷重の条件で評価する</a:t>
            </a:r>
          </a:p>
        </p:txBody>
      </p:sp>
      <p:sp>
        <p:nvSpPr>
          <p:cNvPr id="6" name="正方形/長方形 5">
            <a:extLst>
              <a:ext uri="{FF2B5EF4-FFF2-40B4-BE49-F238E27FC236}">
                <a16:creationId xmlns:a16="http://schemas.microsoft.com/office/drawing/2014/main" id="{EF420C8A-1FFB-4B5B-9222-3F96AF34BB89}"/>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木質材料は、要素・配向・層の位置から読む</a:t>
            </a:r>
          </a:p>
        </p:txBody>
      </p:sp>
      <p:sp>
        <p:nvSpPr>
          <p:cNvPr id="7" name="正方形/長方形 6">
            <a:extLst>
              <a:ext uri="{FF2B5EF4-FFF2-40B4-BE49-F238E27FC236}">
                <a16:creationId xmlns:a16="http://schemas.microsoft.com/office/drawing/2014/main" id="{1CEA22C5-5771-4D9E-84BA-9B36B9DE4460}"/>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次回は、集成材・CLTと建物・資源の評価へ進む</a:t>
            </a:r>
          </a:p>
        </p:txBody>
      </p:sp>
    </p:spTree>
    <p:extLst>
      <p:ext uri="{BB962C8B-B14F-4D97-AF65-F5344CB8AC3E}">
        <p14:creationId xmlns:p14="http://schemas.microsoft.com/office/powerpoint/2010/main" val="2270258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5B30AC1-171F-4D5E-BD61-406E90DC0A75}"/>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参考資料と、製品情報の読み方</a:t>
            </a:r>
          </a:p>
        </p:txBody>
      </p:sp>
      <p:sp>
        <p:nvSpPr>
          <p:cNvPr id="2" name="正方形/長方形 1">
            <a:extLst>
              <a:ext uri="{FF2B5EF4-FFF2-40B4-BE49-F238E27FC236}">
                <a16:creationId xmlns:a16="http://schemas.microsoft.com/office/drawing/2014/main" id="{684EA0E1-2941-447E-A73C-1300636FB6CC}"/>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BF4BD979-0852-4BB5-9F33-8A988BD0CA3A}"/>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接着・仕上げ</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D09A894-9CF8-46EC-8A78-9CF7577ECAD7}"/>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59</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DCB6A09D-E961-4032-AE0F-DE7529AA87CC}"/>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Wood Handbook 2021 第10章：接着、強度、耐久性</a:t>
            </a:r>
          </a:p>
        </p:txBody>
      </p:sp>
      <p:sp>
        <p:nvSpPr>
          <p:cNvPr id="6" name="正方形/長方形 5">
            <a:extLst>
              <a:ext uri="{FF2B5EF4-FFF2-40B4-BE49-F238E27FC236}">
                <a16:creationId xmlns:a16="http://schemas.microsoft.com/office/drawing/2014/main" id="{F0F29141-3EAB-4031-8AEA-0A7FC3200E01}"/>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第16章：塗装、木材の水分、仕上げと保守</a:t>
            </a:r>
          </a:p>
        </p:txBody>
      </p:sp>
      <p:sp>
        <p:nvSpPr>
          <p:cNvPr id="7" name="正方形/長方形 6">
            <a:extLst>
              <a:ext uri="{FF2B5EF4-FFF2-40B4-BE49-F238E27FC236}">
                <a16:creationId xmlns:a16="http://schemas.microsoft.com/office/drawing/2014/main" id="{A1C978C5-4276-4038-8502-7EABE59899F9}"/>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コニシ・東亞合成：一般品と改良品を区別する</a:t>
            </a:r>
          </a:p>
        </p:txBody>
      </p:sp>
      <p:sp>
        <p:nvSpPr>
          <p:cNvPr id="8" name="正方形/長方形 7">
            <a:extLst>
              <a:ext uri="{FF2B5EF4-FFF2-40B4-BE49-F238E27FC236}">
                <a16:creationId xmlns:a16="http://schemas.microsoft.com/office/drawing/2014/main" id="{F1F5094A-36EF-4EA0-A8ED-916BA7CC3D26}"/>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発表者ノートと配布資料に、参照先と条件を記載</a:t>
            </a:r>
          </a:p>
        </p:txBody>
      </p:sp>
    </p:spTree>
    <p:extLst>
      <p:ext uri="{BB962C8B-B14F-4D97-AF65-F5344CB8AC3E}">
        <p14:creationId xmlns:p14="http://schemas.microsoft.com/office/powerpoint/2010/main" val="12249415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23A7E48-6974-45FB-B8BD-99C6B97E366F}"/>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a:t>
            </a:r>
          </a:p>
        </p:txBody>
      </p:sp>
      <p:sp>
        <p:nvSpPr>
          <p:cNvPr id="2" name="正方形/長方形 1">
            <a:extLst>
              <a:ext uri="{FF2B5EF4-FFF2-40B4-BE49-F238E27FC236}">
                <a16:creationId xmlns:a16="http://schemas.microsoft.com/office/drawing/2014/main" id="{9FC95FD1-F5C0-4F72-94D1-80B2A44587E5}"/>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653B68EC-722C-4326-9ECF-D1DC1646136F}"/>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材料構成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EA0527B0-3DF1-44AF-B4D8-4770C4E846BE}"/>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a:pPr>
              <a:buNone/>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60</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72FB4794-46B4-41FF-8623-3529205F11BC}"/>
              </a:ext>
            </a:extLst>
          </p:cNvPr>
          <p:cNvSpPr>
            <a:spLocks noGrp="1"/>
          </p:cNvSpPr>
          <p:nvPr/>
        </p:nvSpPr>
        <p:spPr>
          <a:xfrm>
            <a:off x="838200" y="16668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Wood Handbook 2021 第10章：接着の形成と性能</a:t>
            </a:r>
          </a:p>
        </p:txBody>
      </p:sp>
      <p:sp>
        <p:nvSpPr>
          <p:cNvPr id="6" name="正方形/長方形 5">
            <a:extLst>
              <a:ext uri="{FF2B5EF4-FFF2-40B4-BE49-F238E27FC236}">
                <a16:creationId xmlns:a16="http://schemas.microsoft.com/office/drawing/2014/main" id="{A80E85EF-D418-404C-BCEA-F178BCA8C753}"/>
              </a:ext>
            </a:extLst>
          </p:cNvPr>
          <p:cNvSpPr>
            <a:spLocks noGrp="1"/>
          </p:cNvSpPr>
          <p:nvPr/>
        </p:nvSpPr>
        <p:spPr>
          <a:xfrm>
            <a:off x="838200" y="25622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第11章：木質材料の要素・製法・構成</a:t>
            </a:r>
          </a:p>
        </p:txBody>
      </p:sp>
      <p:sp>
        <p:nvSpPr>
          <p:cNvPr id="7" name="正方形/長方形 6">
            <a:extLst>
              <a:ext uri="{FF2B5EF4-FFF2-40B4-BE49-F238E27FC236}">
                <a16:creationId xmlns:a16="http://schemas.microsoft.com/office/drawing/2014/main" id="{7D8B1343-2BC8-46F0-BD89-0099ACE199E8}"/>
              </a:ext>
            </a:extLst>
          </p:cNvPr>
          <p:cNvSpPr>
            <a:spLocks noGrp="1"/>
          </p:cNvSpPr>
          <p:nvPr/>
        </p:nvSpPr>
        <p:spPr>
          <a:xfrm>
            <a:off x="838200" y="345757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第12章：木質材料の力学的性質</a:t>
            </a:r>
          </a:p>
        </p:txBody>
      </p:sp>
      <p:sp>
        <p:nvSpPr>
          <p:cNvPr id="8" name="正方形/長方形 7">
            <a:extLst>
              <a:ext uri="{FF2B5EF4-FFF2-40B4-BE49-F238E27FC236}">
                <a16:creationId xmlns:a16="http://schemas.microsoft.com/office/drawing/2014/main" id="{235A4D32-7E0C-4589-B320-AB2160743DC0}"/>
              </a:ext>
            </a:extLst>
          </p:cNvPr>
          <p:cNvSpPr>
            <a:spLocks noGrp="1"/>
          </p:cNvSpPr>
          <p:nvPr/>
        </p:nvSpPr>
        <p:spPr>
          <a:xfrm>
            <a:off x="838200" y="4352925"/>
            <a:ext cx="10477500" cy="80010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原典の対象と、製品・方向・湿潤条件を確かめる</a:t>
            </a:r>
          </a:p>
        </p:txBody>
      </p:sp>
    </p:spTree>
    <p:extLst>
      <p:ext uri="{BB962C8B-B14F-4D97-AF65-F5344CB8AC3E}">
        <p14:creationId xmlns:p14="http://schemas.microsoft.com/office/powerpoint/2010/main" val="10687880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65FAEDD-D14D-42EE-A6F4-F792ED314D98}"/>
              </a:ext>
            </a:extLst>
          </p:cNvPr>
          <p:cNvSpPr>
            <a:spLocks noGrp="1"/>
          </p:cNvSpPr>
          <p:nvPr/>
        </p:nvSpPr>
        <p:spPr>
          <a:xfrm>
            <a:off x="685800" y="342900"/>
            <a:ext cx="10820400" cy="666750"/>
          </a:xfrm>
          <a:prstGeom prst="rect">
            <a:avLst/>
          </a:prstGeom>
          <a:noFill/>
          <a:ln w="0">
            <a:noFill/>
          </a:ln>
        </p:spPr>
        <p:txBody>
          <a:bodyPr lIns="0" tIns="0" rIns="0" bIns="0" anchor="ctr">
            <a:noAutofit/>
          </a:bodyPr>
          <a:lstStyle>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用語を確認する参照先</a:t>
            </a:r>
          </a:p>
        </p:txBody>
      </p:sp>
      <p:sp>
        <p:nvSpPr>
          <p:cNvPr id="2" name="正方形/長方形 1">
            <a:extLst>
              <a:ext uri="{FF2B5EF4-FFF2-40B4-BE49-F238E27FC236}">
                <a16:creationId xmlns:a16="http://schemas.microsoft.com/office/drawing/2014/main" id="{7981BDB9-DEAD-4D6D-91D4-2B13569D5C0B}"/>
              </a:ext>
            </a:extLst>
          </p:cNvPr>
          <p:cNvSpPr>
            <a:spLocks noGrp="1"/>
          </p:cNvSpPr>
          <p:nvPr/>
        </p:nvSpPr>
        <p:spPr>
          <a:xfrm>
            <a:off x="685800" y="1181100"/>
            <a:ext cx="10820400" cy="19050"/>
          </a:xfrm>
          <a:prstGeom prst="rect">
            <a:avLst/>
          </a:prstGeom>
          <a:solidFill>
            <a:srgbClr val="18364F"/>
          </a:solidFill>
          <a:ln w="0">
            <a:noFill/>
          </a:ln>
        </p:spPr>
      </p:sp>
      <p:sp>
        <p:nvSpPr>
          <p:cNvPr id="3" name="正方形/長方形 2">
            <a:extLst>
              <a:ext uri="{FF2B5EF4-FFF2-40B4-BE49-F238E27FC236}">
                <a16:creationId xmlns:a16="http://schemas.microsoft.com/office/drawing/2014/main" id="{97C79E1A-782D-46BD-9F99-AC81FE53418B}"/>
              </a:ext>
            </a:extLst>
          </p:cNvPr>
          <p:cNvSpPr>
            <a:spLocks noGrp="1"/>
          </p:cNvSpPr>
          <p:nvPr/>
        </p:nvSpPr>
        <p:spPr>
          <a:xfrm>
            <a:off x="685800" y="6419850"/>
            <a:ext cx="933450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ja-JP" altLang="en-US" sz="1425" b="0">
                <a:solidFill>
                  <a:srgbClr val="596875"/>
                </a:solidFill>
                <a:latin typeface="Yu Gothic"/>
                <a:ea typeface="Yu Gothic"/>
                <a:cs typeface="Yu Gothic"/>
              </a:rPr>
              <a:t>木材及び木質材料学　新第</a:t>
            </a:r>
            <a:r>
              <a:rPr lang="en-US" altLang="ja-JP" sz="1425" b="0">
                <a:solidFill>
                  <a:srgbClr val="596875"/>
                </a:solidFill>
                <a:latin typeface="Yu Gothic"/>
                <a:ea typeface="Yu Gothic"/>
                <a:cs typeface="Yu Gothic"/>
              </a:rPr>
              <a:t>13</a:t>
            </a:r>
            <a:r>
              <a:rPr lang="ja-JP" altLang="en-US" sz="1425" b="0">
                <a:solidFill>
                  <a:srgbClr val="596875"/>
                </a:solidFill>
                <a:latin typeface="Yu Gothic"/>
                <a:ea typeface="Yu Gothic"/>
                <a:cs typeface="Yu Gothic"/>
              </a:rPr>
              <a:t>回　再構成</a:t>
            </a:r>
            <a:endParaRPr sz="1425" b="0">
              <a:solidFill>
                <a:srgbClr val="596875"/>
              </a:solidFill>
              <a:latin typeface="Yu Gothic"/>
              <a:ea typeface="Yu Gothic"/>
              <a:cs typeface="Yu Gothic"/>
            </a:endParaRPr>
          </a:p>
        </p:txBody>
      </p:sp>
      <p:sp>
        <p:nvSpPr>
          <p:cNvPr id="4" name="正方形/長方形 3">
            <a:extLst>
              <a:ext uri="{FF2B5EF4-FFF2-40B4-BE49-F238E27FC236}">
                <a16:creationId xmlns:a16="http://schemas.microsoft.com/office/drawing/2014/main" id="{8F04E1E5-A56F-42DD-8CF2-68DABB1C9322}"/>
              </a:ext>
            </a:extLst>
          </p:cNvPr>
          <p:cNvSpPr>
            <a:spLocks noGrp="1"/>
          </p:cNvSpPr>
          <p:nvPr/>
        </p:nvSpPr>
        <p:spPr>
          <a:xfrm>
            <a:off x="10763250" y="6419850"/>
            <a:ext cx="742950" cy="257175"/>
          </a:xfrm>
          <a:prstGeom prst="rect">
            <a:avLst/>
          </a:prstGeom>
          <a:noFill/>
          <a:ln w="0">
            <a:noFill/>
          </a:ln>
        </p:spPr>
        <p:txBody>
          <a:bodyPr lIns="0" tIns="0" rIns="0" bIns="0" anchor="ctr">
            <a:noAutofit/>
          </a:bodyPr>
          <a:lstStyle>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a:pPr>
              <a:defRPr sz="1425" b="0">
                <a:solidFill>
                  <a:srgbClr val="596875"/>
                </a:solidFill>
                <a:latin typeface="Yu Gothic"/>
                <a:ea typeface="Yu Gothic"/>
                <a:cs typeface="Yu Gothic"/>
              </a:defRPr>
            </a:pPr>
            <a:r>
              <a:rPr lang="en-US" altLang="ja-JP" sz="1425" b="0">
                <a:solidFill>
                  <a:srgbClr val="596875"/>
                </a:solidFill>
                <a:latin typeface="Yu Gothic"/>
                <a:ea typeface="Yu Gothic"/>
                <a:cs typeface="Yu Gothic"/>
              </a:rPr>
              <a:t>61</a:t>
            </a:r>
            <a:endParaRPr sz="1425" b="0">
              <a:solidFill>
                <a:srgbClr val="596875"/>
              </a:solidFill>
              <a:latin typeface="Yu Gothic"/>
              <a:ea typeface="Yu Gothic"/>
              <a:cs typeface="Yu Gothic"/>
            </a:endParaRPr>
          </a:p>
        </p:txBody>
      </p:sp>
      <p:sp>
        <p:nvSpPr>
          <p:cNvPr id="5" name="正方形/長方形 4">
            <a:extLst>
              <a:ext uri="{FF2B5EF4-FFF2-40B4-BE49-F238E27FC236}">
                <a16:creationId xmlns:a16="http://schemas.microsoft.com/office/drawing/2014/main" id="{2243D7AE-3703-4513-92CE-F023DF6D8F2F}"/>
              </a:ext>
            </a:extLst>
          </p:cNvPr>
          <p:cNvSpPr>
            <a:spLocks noGrp="1"/>
          </p:cNvSpPr>
          <p:nvPr/>
        </p:nvSpPr>
        <p:spPr>
          <a:xfrm>
            <a:off x="838200" y="1762125"/>
            <a:ext cx="10477500" cy="857250"/>
          </a:xfrm>
          <a:prstGeom prst="rect">
            <a:avLst/>
          </a:prstGeom>
          <a:noFill/>
          <a:ln w="0">
            <a:noFill/>
          </a:ln>
        </p:spPr>
        <p:txBody>
          <a:bodyPr lIns="0" tIns="0" rIns="0" bIns="0" anchor="ctr">
            <a:noAutofit/>
          </a:bodyPr>
          <a:lstStyle>
            <a:defPPr>
              <a:defRPr sz="2250" b="0">
                <a:solidFill>
                  <a:srgbClr val="18364F"/>
                </a:solidFill>
                <a:latin typeface="Yu Gothic"/>
                <a:ea typeface="Yu Gothic"/>
                <a:cs typeface="Yu Gothic"/>
              </a:defRPr>
            </a:defPPr>
            <a:lvl1pPr>
              <a:defRPr sz="2250" b="0">
                <a:solidFill>
                  <a:srgbClr val="18364F"/>
                </a:solidFill>
                <a:latin typeface="Yu Gothic"/>
                <a:ea typeface="Yu Gothic"/>
                <a:cs typeface="Yu Gothic"/>
              </a:defRPr>
            </a:lvl1pPr>
            <a:lvl2pPr>
              <a:defRPr sz="2250" b="0">
                <a:solidFill>
                  <a:srgbClr val="18364F"/>
                </a:solidFill>
                <a:latin typeface="Yu Gothic"/>
                <a:ea typeface="Yu Gothic"/>
                <a:cs typeface="Yu Gothic"/>
              </a:defRPr>
            </a:lvl2pPr>
            <a:lvl3pPr>
              <a:defRPr sz="2250" b="0">
                <a:solidFill>
                  <a:srgbClr val="18364F"/>
                </a:solidFill>
                <a:latin typeface="Yu Gothic"/>
                <a:ea typeface="Yu Gothic"/>
                <a:cs typeface="Yu Gothic"/>
              </a:defRPr>
            </a:lvl3pPr>
            <a:lvl4pPr>
              <a:defRPr sz="2250" b="0">
                <a:solidFill>
                  <a:srgbClr val="18364F"/>
                </a:solidFill>
                <a:latin typeface="Yu Gothic"/>
                <a:ea typeface="Yu Gothic"/>
                <a:cs typeface="Yu Gothic"/>
              </a:defRPr>
            </a:lvl4pPr>
            <a:lvl5pPr>
              <a:defRPr sz="2250" b="0">
                <a:solidFill>
                  <a:srgbClr val="18364F"/>
                </a:solidFill>
                <a:latin typeface="Yu Gothic"/>
                <a:ea typeface="Yu Gothic"/>
                <a:cs typeface="Yu Gothic"/>
              </a:defRPr>
            </a:lvl5pPr>
            <a:lvl6pPr>
              <a:defRPr sz="2250" b="0">
                <a:solidFill>
                  <a:srgbClr val="18364F"/>
                </a:solidFill>
                <a:latin typeface="Yu Gothic"/>
                <a:ea typeface="Yu Gothic"/>
                <a:cs typeface="Yu Gothic"/>
              </a:defRPr>
            </a:lvl6pPr>
            <a:lvl7pPr>
              <a:defRPr sz="2250" b="0">
                <a:solidFill>
                  <a:srgbClr val="18364F"/>
                </a:solidFill>
                <a:latin typeface="Yu Gothic"/>
                <a:ea typeface="Yu Gothic"/>
                <a:cs typeface="Yu Gothic"/>
              </a:defRPr>
            </a:lvl7pPr>
            <a:lvl8pPr>
              <a:defRPr sz="2250" b="0">
                <a:solidFill>
                  <a:srgbClr val="18364F"/>
                </a:solidFill>
                <a:latin typeface="Yu Gothic"/>
                <a:ea typeface="Yu Gothic"/>
                <a:cs typeface="Yu Gothic"/>
              </a:defRPr>
            </a:lvl8pPr>
            <a:lvl9pPr>
              <a:defRPr sz="2250" b="0">
                <a:solidFill>
                  <a:srgbClr val="18364F"/>
                </a:solidFill>
                <a:latin typeface="Yu Gothic"/>
                <a:ea typeface="Yu Gothic"/>
                <a:cs typeface="Yu Gothic"/>
              </a:defRPr>
            </a:lvl9pPr>
          </a:lstStyle>
          <a:p>
            <a:pPr>
              <a:defRPr sz="2250" b="0">
                <a:solidFill>
                  <a:srgbClr val="18364F"/>
                </a:solidFill>
                <a:latin typeface="Yu Gothic"/>
                <a:ea typeface="Yu Gothic"/>
                <a:cs typeface="Yu Gothic"/>
              </a:defRPr>
            </a:pPr>
            <a:r>
              <a:rPr sz="2250" b="0">
                <a:solidFill>
                  <a:srgbClr val="18364F"/>
                </a:solidFill>
                <a:latin typeface="Yu Gothic"/>
                <a:ea typeface="Yu Gothic"/>
                <a:cs typeface="Yu Gothic"/>
                <a:hlinkClick r:id="rId3"/>
              </a:rPr>
              <a:t>日本木材学会・木材教育委員会編「木材学用語集」</a:t>
            </a:r>
          </a:p>
        </p:txBody>
      </p:sp>
      <p:sp>
        <p:nvSpPr>
          <p:cNvPr id="6" name="正方形/長方形 5">
            <a:extLst>
              <a:ext uri="{FF2B5EF4-FFF2-40B4-BE49-F238E27FC236}">
                <a16:creationId xmlns:a16="http://schemas.microsoft.com/office/drawing/2014/main" id="{DE6E066B-5F64-4292-BC54-8295C9E4F246}"/>
              </a:ext>
            </a:extLst>
          </p:cNvPr>
          <p:cNvSpPr>
            <a:spLocks noGrp="1"/>
          </p:cNvSpPr>
          <p:nvPr/>
        </p:nvSpPr>
        <p:spPr>
          <a:xfrm>
            <a:off x="838200" y="29813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用語の意味と、製品の性能・適用条件を区別する</a:t>
            </a:r>
          </a:p>
        </p:txBody>
      </p:sp>
      <p:sp>
        <p:nvSpPr>
          <p:cNvPr id="7" name="正方形/長方形 6">
            <a:extLst>
              <a:ext uri="{FF2B5EF4-FFF2-40B4-BE49-F238E27FC236}">
                <a16:creationId xmlns:a16="http://schemas.microsoft.com/office/drawing/2014/main" id="{1EC791D5-7A08-4E2F-B2D2-ACD976825FEC}"/>
              </a:ext>
            </a:extLst>
          </p:cNvPr>
          <p:cNvSpPr>
            <a:spLocks noGrp="1"/>
          </p:cNvSpPr>
          <p:nvPr/>
        </p:nvSpPr>
        <p:spPr>
          <a:xfrm>
            <a:off x="838200" y="4200525"/>
            <a:ext cx="10477500" cy="857250"/>
          </a:xfrm>
          <a:prstGeom prst="rect">
            <a:avLst/>
          </a:prstGeom>
          <a:noFill/>
          <a:ln w="0">
            <a:noFill/>
          </a:ln>
        </p:spPr>
        <p:txBody>
          <a:bodyPr lIns="0" tIns="0" rIns="0" bIns="0" anchor="ctr">
            <a:noAutofit/>
          </a:bodyPr>
          <a:lstStyle>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正式課題の配信・提出はTeamsで確認する</a:t>
            </a:r>
          </a:p>
        </p:txBody>
      </p:sp>
    </p:spTree>
    <p:extLst>
      <p:ext uri="{BB962C8B-B14F-4D97-AF65-F5344CB8AC3E}">
        <p14:creationId xmlns:p14="http://schemas.microsoft.com/office/powerpoint/2010/main" val="11567472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15934</Words>
  <Application>Microsoft Office PowerPoint</Application>
  <PresentationFormat>ユーザー設定</PresentationFormat>
  <Paragraphs>1251</Paragraphs>
  <Slides>61</Slides>
  <Notes>61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61</vt:i4>
      </vt:variant>
    </vt:vector>
  </HeadingPairs>
  <TitlesOfParts>
    <vt:vector size="66" baseType="lpstr">
      <vt:lpstr>游ゴシック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米延 仁志</dc:creator>
  <cp:lastModifiedBy>米延 仁志</cp:lastModifiedBy>
  <cp:revision>1</cp:revision>
  <dcterms:created xsi:type="dcterms:W3CDTF">2026-10-31T05:41:26Z</dcterms:created>
  <dcterms:modified xsi:type="dcterms:W3CDTF">2026-10-31T05:41:26Z</dcterms:modified>
</cp:coreProperties>
</file>