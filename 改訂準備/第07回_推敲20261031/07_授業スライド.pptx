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116c4e3d8b4260" /><Relationship Type="http://schemas.openxmlformats.org/officeDocument/2006/relationships/extended-properties" Target="/docProps/app.xml" Id="R72969c79e4884580" /><Relationship Type="http://schemas.openxmlformats.org/officeDocument/2006/relationships/officeDocument" Target="/ppt/presentation.xml" Id="Re1b46df8eb90482b" /></Relationships>
</file>

<file path=ppt/presentation.xml><?xml version="1.0" encoding="utf-8"?>
<p:presentation xmlns:p="http://schemas.openxmlformats.org/presentationml/2006/main">
  <p:sldMasterIdLst>
    <p:sldMasterId xmlns:r="http://schemas.openxmlformats.org/officeDocument/2006/relationships" id="2147483648" r:id="R18892784d5a3494d"/>
    <p:sldMasterId xmlns:r="http://schemas.openxmlformats.org/officeDocument/2006/relationships" id="2147483655" r:id="R240a34ffed3a4056"/>
  </p:sldMasterIdLst>
  <p:notesMasterIdLst>
    <p:notesMasterId xmlns:r="http://schemas.openxmlformats.org/officeDocument/2006/relationships" r:id="R9d0ce78d091949c4"/>
  </p:notesMasterIdLst>
  <p:sldIdLst>
    <p:sldId xmlns:r="http://schemas.openxmlformats.org/officeDocument/2006/relationships" id="256" r:id="R1f88d400c2b24825"/>
    <p:sldId xmlns:r="http://schemas.openxmlformats.org/officeDocument/2006/relationships" id="257" r:id="R5199668216634bf5"/>
    <p:sldId xmlns:r="http://schemas.openxmlformats.org/officeDocument/2006/relationships" id="258" r:id="R57e4d27628404d4c"/>
    <p:sldId xmlns:r="http://schemas.openxmlformats.org/officeDocument/2006/relationships" id="259" r:id="Rb6d96074425d4246"/>
    <p:sldId xmlns:r="http://schemas.openxmlformats.org/officeDocument/2006/relationships" id="260" r:id="Rd775631174e341fb"/>
    <p:sldId xmlns:r="http://schemas.openxmlformats.org/officeDocument/2006/relationships" id="261" r:id="R1cb2f3ed0d464a9f"/>
    <p:sldId xmlns:r="http://schemas.openxmlformats.org/officeDocument/2006/relationships" id="262" r:id="R56178198dfb54459"/>
    <p:sldId xmlns:r="http://schemas.openxmlformats.org/officeDocument/2006/relationships" id="263" r:id="Rfa8e884d4e324077"/>
    <p:sldId xmlns:r="http://schemas.openxmlformats.org/officeDocument/2006/relationships" id="264" r:id="R925fe16f088a4c65"/>
    <p:sldId xmlns:r="http://schemas.openxmlformats.org/officeDocument/2006/relationships" id="265" r:id="Ra535ab1f3b1e452b"/>
    <p:sldId xmlns:r="http://schemas.openxmlformats.org/officeDocument/2006/relationships" id="266" r:id="R24cdcc3b2fd74b5b"/>
    <p:sldId xmlns:r="http://schemas.openxmlformats.org/officeDocument/2006/relationships" id="267" r:id="Rd70ad87c38514706"/>
    <p:sldId xmlns:r="http://schemas.openxmlformats.org/officeDocument/2006/relationships" id="268" r:id="R08acfdfc8f6c481c"/>
    <p:sldId xmlns:r="http://schemas.openxmlformats.org/officeDocument/2006/relationships" id="269" r:id="R916ec857db254031"/>
    <p:sldId xmlns:r="http://schemas.openxmlformats.org/officeDocument/2006/relationships" id="270" r:id="R098ffdbbc33d48da"/>
    <p:sldId xmlns:r="http://schemas.openxmlformats.org/officeDocument/2006/relationships" id="271" r:id="R71022413cee8492a"/>
    <p:sldId xmlns:r="http://schemas.openxmlformats.org/officeDocument/2006/relationships" id="272" r:id="R9e728ba1ab884acd"/>
    <p:sldId xmlns:r="http://schemas.openxmlformats.org/officeDocument/2006/relationships" id="273" r:id="R658c8f39aeef42ba"/>
    <p:sldId xmlns:r="http://schemas.openxmlformats.org/officeDocument/2006/relationships" id="274" r:id="R413841fa068541ac"/>
    <p:sldId xmlns:r="http://schemas.openxmlformats.org/officeDocument/2006/relationships" id="275" r:id="Rbfd898d8289041de"/>
    <p:sldId xmlns:r="http://schemas.openxmlformats.org/officeDocument/2006/relationships" id="276" r:id="R554c6972f4d74878"/>
    <p:sldId xmlns:r="http://schemas.openxmlformats.org/officeDocument/2006/relationships" id="277" r:id="R119bd869932f40e8"/>
    <p:sldId xmlns:r="http://schemas.openxmlformats.org/officeDocument/2006/relationships" id="278" r:id="Rd1f21f7f4a8a4486"/>
    <p:sldId xmlns:r="http://schemas.openxmlformats.org/officeDocument/2006/relationships" id="279" r:id="R072514254ddb4a79"/>
    <p:sldId xmlns:r="http://schemas.openxmlformats.org/officeDocument/2006/relationships" id="280" r:id="Ra8664807362e40b5"/>
    <p:sldId xmlns:r="http://schemas.openxmlformats.org/officeDocument/2006/relationships" id="281" r:id="Ra7cdd6b00f5f4462"/>
    <p:sldId xmlns:r="http://schemas.openxmlformats.org/officeDocument/2006/relationships" id="282" r:id="Rfaadbe32a0754a4f"/>
    <p:sldId xmlns:r="http://schemas.openxmlformats.org/officeDocument/2006/relationships" id="283" r:id="R26a2b0f20aa6466f"/>
    <p:sldId xmlns:r="http://schemas.openxmlformats.org/officeDocument/2006/relationships" id="284" r:id="R5cb6e97051ad47d8"/>
    <p:sldId xmlns:r="http://schemas.openxmlformats.org/officeDocument/2006/relationships" id="285" r:id="R92780e7d8c1d475e"/>
    <p:sldId xmlns:r="http://schemas.openxmlformats.org/officeDocument/2006/relationships" id="286" r:id="R6aa5d9d3c15746b2"/>
    <p:sldId xmlns:r="http://schemas.openxmlformats.org/officeDocument/2006/relationships" id="287" r:id="R579d04e080a64ce0"/>
    <p:sldId xmlns:r="http://schemas.openxmlformats.org/officeDocument/2006/relationships" id="288" r:id="Raed1b0273d954580"/>
    <p:sldId xmlns:r="http://schemas.openxmlformats.org/officeDocument/2006/relationships" id="289" r:id="R2c38fd02b2fd422d"/>
    <p:sldId xmlns:r="http://schemas.openxmlformats.org/officeDocument/2006/relationships" id="290" r:id="Rc4aa014413b94c83"/>
    <p:sldId xmlns:r="http://schemas.openxmlformats.org/officeDocument/2006/relationships" id="291" r:id="Rcc7ad1f8fb294bcb"/>
    <p:sldId xmlns:r="http://schemas.openxmlformats.org/officeDocument/2006/relationships" id="292" r:id="R842cc0ddcd404a4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45752a58ece4529" /><Relationship Type="http://schemas.openxmlformats.org/officeDocument/2006/relationships/slideMaster" Target="/ppt/slideMasters/slideMaster1.xml" Id="R18892784d5a3494d" /><Relationship Type="http://schemas.openxmlformats.org/officeDocument/2006/relationships/slideMaster" Target="/ppt/slideMasters/slideMaster2.xml" Id="R240a34ffed3a4056" /><Relationship Type="http://schemas.openxmlformats.org/officeDocument/2006/relationships/notesMaster" Target="/ppt/notesMasters/notesMaster1.xml" Id="R9d0ce78d091949c4" /><Relationship Type="http://schemas.openxmlformats.org/officeDocument/2006/relationships/presProps" Target="/ppt/presProps.xml" Id="R4f07f9d671c84bdb" /><Relationship Type="http://schemas.openxmlformats.org/officeDocument/2006/relationships/viewProps" Target="/ppt/viewProps.xml" Id="Rf402f4f4720f4465" /><Relationship Type="http://schemas.openxmlformats.org/officeDocument/2006/relationships/tableStyles" Target="/ppt/tableStyles.xml" Id="R24aaf7ee5f6242d7" /><Relationship Type="http://schemas.openxmlformats.org/officeDocument/2006/relationships/slide" Target="/ppt/slides/slide1.xml" Id="R1f88d400c2b24825" /><Relationship Type="http://schemas.openxmlformats.org/officeDocument/2006/relationships/slide" Target="/ppt/slides/slide2.xml" Id="R5199668216634bf5" /><Relationship Type="http://schemas.openxmlformats.org/officeDocument/2006/relationships/slide" Target="/ppt/slides/slide3.xml" Id="R57e4d27628404d4c" /><Relationship Type="http://schemas.openxmlformats.org/officeDocument/2006/relationships/slide" Target="/ppt/slides/slide4.xml" Id="Rb6d96074425d4246" /><Relationship Type="http://schemas.openxmlformats.org/officeDocument/2006/relationships/slide" Target="/ppt/slides/slide5.xml" Id="Rd775631174e341fb" /><Relationship Type="http://schemas.openxmlformats.org/officeDocument/2006/relationships/slide" Target="/ppt/slides/slide6.xml" Id="R1cb2f3ed0d464a9f" /><Relationship Type="http://schemas.openxmlformats.org/officeDocument/2006/relationships/slide" Target="/ppt/slides/slide7.xml" Id="R56178198dfb54459" /><Relationship Type="http://schemas.openxmlformats.org/officeDocument/2006/relationships/slide" Target="/ppt/slides/slide8.xml" Id="Rfa8e884d4e324077" /><Relationship Type="http://schemas.openxmlformats.org/officeDocument/2006/relationships/slide" Target="/ppt/slides/slide9.xml" Id="R925fe16f088a4c65" /><Relationship Type="http://schemas.openxmlformats.org/officeDocument/2006/relationships/slide" Target="/ppt/slides/slide10.xml" Id="Ra535ab1f3b1e452b" /><Relationship Type="http://schemas.openxmlformats.org/officeDocument/2006/relationships/slide" Target="/ppt/slides/slide11.xml" Id="R24cdcc3b2fd74b5b" /><Relationship Type="http://schemas.openxmlformats.org/officeDocument/2006/relationships/slide" Target="/ppt/slides/slide12.xml" Id="Rd70ad87c38514706" /><Relationship Type="http://schemas.openxmlformats.org/officeDocument/2006/relationships/slide" Target="/ppt/slides/slide13.xml" Id="R08acfdfc8f6c481c" /><Relationship Type="http://schemas.openxmlformats.org/officeDocument/2006/relationships/slide" Target="/ppt/slides/slide14.xml" Id="R916ec857db254031" /><Relationship Type="http://schemas.openxmlformats.org/officeDocument/2006/relationships/slide" Target="/ppt/slides/slide15.xml" Id="R098ffdbbc33d48da" /><Relationship Type="http://schemas.openxmlformats.org/officeDocument/2006/relationships/slide" Target="/ppt/slides/slide16.xml" Id="R71022413cee8492a" /><Relationship Type="http://schemas.openxmlformats.org/officeDocument/2006/relationships/slide" Target="/ppt/slides/slide17.xml" Id="R9e728ba1ab884acd" /><Relationship Type="http://schemas.openxmlformats.org/officeDocument/2006/relationships/slide" Target="/ppt/slides/slide18.xml" Id="R658c8f39aeef42ba" /><Relationship Type="http://schemas.openxmlformats.org/officeDocument/2006/relationships/slide" Target="/ppt/slides/slide19.xml" Id="R413841fa068541ac" /><Relationship Type="http://schemas.openxmlformats.org/officeDocument/2006/relationships/slide" Target="/ppt/slides/slide20.xml" Id="Rbfd898d8289041de" /><Relationship Type="http://schemas.openxmlformats.org/officeDocument/2006/relationships/slide" Target="/ppt/slides/slide21.xml" Id="R554c6972f4d74878" /><Relationship Type="http://schemas.openxmlformats.org/officeDocument/2006/relationships/slide" Target="/ppt/slides/slide22.xml" Id="R119bd869932f40e8" /><Relationship Type="http://schemas.openxmlformats.org/officeDocument/2006/relationships/slide" Target="/ppt/slides/slide23.xml" Id="Rd1f21f7f4a8a4486" /><Relationship Type="http://schemas.openxmlformats.org/officeDocument/2006/relationships/slide" Target="/ppt/slides/slide24.xml" Id="R072514254ddb4a79" /><Relationship Type="http://schemas.openxmlformats.org/officeDocument/2006/relationships/slide" Target="/ppt/slides/slide25.xml" Id="Ra8664807362e40b5" /><Relationship Type="http://schemas.openxmlformats.org/officeDocument/2006/relationships/slide" Target="/ppt/slides/slide26.xml" Id="Ra7cdd6b00f5f4462" /><Relationship Type="http://schemas.openxmlformats.org/officeDocument/2006/relationships/slide" Target="/ppt/slides/slide27.xml" Id="Rfaadbe32a0754a4f" /><Relationship Type="http://schemas.openxmlformats.org/officeDocument/2006/relationships/slide" Target="/ppt/slides/slide28.xml" Id="R26a2b0f20aa6466f" /><Relationship Type="http://schemas.openxmlformats.org/officeDocument/2006/relationships/slide" Target="/ppt/slides/slide29.xml" Id="R5cb6e97051ad47d8" /><Relationship Type="http://schemas.openxmlformats.org/officeDocument/2006/relationships/slide" Target="/ppt/slides/slide30.xml" Id="R92780e7d8c1d475e" /><Relationship Type="http://schemas.openxmlformats.org/officeDocument/2006/relationships/slide" Target="/ppt/slides/slide31.xml" Id="R6aa5d9d3c15746b2" /><Relationship Type="http://schemas.openxmlformats.org/officeDocument/2006/relationships/slide" Target="/ppt/slides/slide32.xml" Id="R579d04e080a64ce0" /><Relationship Type="http://schemas.openxmlformats.org/officeDocument/2006/relationships/slide" Target="/ppt/slides/slide33.xml" Id="Raed1b0273d954580" /><Relationship Type="http://schemas.openxmlformats.org/officeDocument/2006/relationships/slide" Target="/ppt/slides/slide34.xml" Id="R2c38fd02b2fd422d" /><Relationship Type="http://schemas.openxmlformats.org/officeDocument/2006/relationships/slide" Target="/ppt/slides/slide35.xml" Id="Rc4aa014413b94c83" /><Relationship Type="http://schemas.openxmlformats.org/officeDocument/2006/relationships/slide" Target="/ppt/slides/slide36.xml" Id="Rcc7ad1f8fb294bcb" /><Relationship Type="http://schemas.openxmlformats.org/officeDocument/2006/relationships/slide" Target="/ppt/slides/slide37.xml" Id="R842cc0ddcd404a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340b279aca54c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c2605c30e64372" /><Relationship Type="http://schemas.openxmlformats.org/officeDocument/2006/relationships/notesMaster" Target="/ppt/notesMasters/notesMaster1.xml" Id="R6e78575852db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26648c706a4d92" /><Relationship Type="http://schemas.openxmlformats.org/officeDocument/2006/relationships/notesMaster" Target="/ppt/notesMasters/notesMaster1.xml" Id="R70f8ef64e2a64e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ca606e4536498d" /><Relationship Type="http://schemas.openxmlformats.org/officeDocument/2006/relationships/notesMaster" Target="/ppt/notesMasters/notesMaster1.xml" Id="R3b033b0f52e140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99f288dca54ecc" /><Relationship Type="http://schemas.openxmlformats.org/officeDocument/2006/relationships/notesMaster" Target="/ppt/notesMasters/notesMaster1.xml" Id="R1805b2b142d743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cdfc46eb5e495c" /><Relationship Type="http://schemas.openxmlformats.org/officeDocument/2006/relationships/notesMaster" Target="/ppt/notesMasters/notesMaster1.xml" Id="R319521bcf7f04b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523859944d4ff4" /><Relationship Type="http://schemas.openxmlformats.org/officeDocument/2006/relationships/notesMaster" Target="/ppt/notesMasters/notesMaster1.xml" Id="R0af927eabc404c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70b9f77f7945ba" /><Relationship Type="http://schemas.openxmlformats.org/officeDocument/2006/relationships/notesMaster" Target="/ppt/notesMasters/notesMaster1.xml" Id="R36c90e49d0fe4b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5aaef9a7a34489" /><Relationship Type="http://schemas.openxmlformats.org/officeDocument/2006/relationships/notesMaster" Target="/ppt/notesMasters/notesMaster1.xml" Id="Ra44d8928f5a94a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4e53bf7e4a4a42" /><Relationship Type="http://schemas.openxmlformats.org/officeDocument/2006/relationships/notesMaster" Target="/ppt/notesMasters/notesMaster1.xml" Id="R108c9f658d254d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a80308070945d5" /><Relationship Type="http://schemas.openxmlformats.org/officeDocument/2006/relationships/notesMaster" Target="/ppt/notesMasters/notesMaster1.xml" Id="R41a1aa69bebf4a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ebb53e46024d73" /><Relationship Type="http://schemas.openxmlformats.org/officeDocument/2006/relationships/notesMaster" Target="/ppt/notesMasters/notesMaster1.xml" Id="R6537844c93004b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0979b98aa74469" /><Relationship Type="http://schemas.openxmlformats.org/officeDocument/2006/relationships/notesMaster" Target="/ppt/notesMasters/notesMaster1.xml" Id="Rcaa85d5e85494c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5f5bbf2a28463f" /><Relationship Type="http://schemas.openxmlformats.org/officeDocument/2006/relationships/notesMaster" Target="/ppt/notesMasters/notesMaster1.xml" Id="R07f6945787874b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d9bd8e7f6944c1" /><Relationship Type="http://schemas.openxmlformats.org/officeDocument/2006/relationships/notesMaster" Target="/ppt/notesMasters/notesMaster1.xml" Id="R849fbdc9a74a40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149e6ad6634039" /><Relationship Type="http://schemas.openxmlformats.org/officeDocument/2006/relationships/notesMaster" Target="/ppt/notesMasters/notesMaster1.xml" Id="Raa4e3e4c5fa445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87747f423e44c4" /><Relationship Type="http://schemas.openxmlformats.org/officeDocument/2006/relationships/notesMaster" Target="/ppt/notesMasters/notesMaster1.xml" Id="Rd4c0f1f3df864e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effdafa364464c" /><Relationship Type="http://schemas.openxmlformats.org/officeDocument/2006/relationships/notesMaster" Target="/ppt/notesMasters/notesMaster1.xml" Id="Reaa76064a7b44f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9d7e0ae83d43f6" /><Relationship Type="http://schemas.openxmlformats.org/officeDocument/2006/relationships/notesMaster" Target="/ppt/notesMasters/notesMaster1.xml" Id="R5ddb7da5ff6e48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61bc9f4ae5459e" /><Relationship Type="http://schemas.openxmlformats.org/officeDocument/2006/relationships/notesMaster" Target="/ppt/notesMasters/notesMaster1.xml" Id="R7cdc3058dc864d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8deb9483cf4637" /><Relationship Type="http://schemas.openxmlformats.org/officeDocument/2006/relationships/notesMaster" Target="/ppt/notesMasters/notesMaster1.xml" Id="Rf887b69a30d7455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e06b9932604455" /><Relationship Type="http://schemas.openxmlformats.org/officeDocument/2006/relationships/notesMaster" Target="/ppt/notesMasters/notesMaster1.xml" Id="R388cdb6d008a4d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c5615398444dd1" /><Relationship Type="http://schemas.openxmlformats.org/officeDocument/2006/relationships/notesMaster" Target="/ppt/notesMasters/notesMaster1.xml" Id="R99e65f0f02ce4e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7e2500d74054ab9" /><Relationship Type="http://schemas.openxmlformats.org/officeDocument/2006/relationships/notesMaster" Target="/ppt/notesMasters/notesMaster1.xml" Id="Rf68922cf57a34c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b7847cd38d4ce3" /><Relationship Type="http://schemas.openxmlformats.org/officeDocument/2006/relationships/notesMaster" Target="/ppt/notesMasters/notesMaster1.xml" Id="R441b2056986740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ca04495d7743e4" /><Relationship Type="http://schemas.openxmlformats.org/officeDocument/2006/relationships/notesMaster" Target="/ppt/notesMasters/notesMaster1.xml" Id="R930e5629221648b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ae7578e49514277" /><Relationship Type="http://schemas.openxmlformats.org/officeDocument/2006/relationships/notesMaster" Target="/ppt/notesMasters/notesMaster1.xml" Id="R486ac9b005b3438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a6759d02e684718" /><Relationship Type="http://schemas.openxmlformats.org/officeDocument/2006/relationships/notesMaster" Target="/ppt/notesMasters/notesMaster1.xml" Id="R845c1e411ba44c2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928bd6c3fd49b8" /><Relationship Type="http://schemas.openxmlformats.org/officeDocument/2006/relationships/notesMaster" Target="/ppt/notesMasters/notesMaster1.xml" Id="R979d23cf7ca24e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76ee6653f748cf" /><Relationship Type="http://schemas.openxmlformats.org/officeDocument/2006/relationships/notesMaster" Target="/ppt/notesMasters/notesMaster1.xml" Id="Re3249f03d82c49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6d69437301f40f1" /><Relationship Type="http://schemas.openxmlformats.org/officeDocument/2006/relationships/notesMaster" Target="/ppt/notesMasters/notesMaster1.xml" Id="Rbb494fb9d622450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3b63cb61b484fe7" /><Relationship Type="http://schemas.openxmlformats.org/officeDocument/2006/relationships/notesMaster" Target="/ppt/notesMasters/notesMaster1.xml" Id="R82f121142754434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639777cde54e69" /><Relationship Type="http://schemas.openxmlformats.org/officeDocument/2006/relationships/notesMaster" Target="/ppt/notesMasters/notesMaster1.xml" Id="R944f17d29b2a449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e0799dd42df47a0" /><Relationship Type="http://schemas.openxmlformats.org/officeDocument/2006/relationships/notesMaster" Target="/ppt/notesMasters/notesMaster1.xml" Id="R9af2d9b17cc840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68976a83a174d4b" /><Relationship Type="http://schemas.openxmlformats.org/officeDocument/2006/relationships/notesMaster" Target="/ppt/notesMasters/notesMaster1.xml" Id="Reb5219cc14e348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cea3c39aa7c4268" /><Relationship Type="http://schemas.openxmlformats.org/officeDocument/2006/relationships/notesMaster" Target="/ppt/notesMasters/notesMaster1.xml" Id="R556a4be8ee9042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4069f494b26473b" /><Relationship Type="http://schemas.openxmlformats.org/officeDocument/2006/relationships/notesMaster" Target="/ppt/notesMasters/notesMaster1.xml" Id="R05d99a5a43544d6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0051b5210244791" /><Relationship Type="http://schemas.openxmlformats.org/officeDocument/2006/relationships/notesMaster" Target="/ppt/notesMasters/notesMaster1.xml" Id="R8369f3868e7847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七回です。前回は、材料の方向と、部材の断面形状を区別して、変形や強さを考えました。今回から三回で、木材と水の関係を学びます。今日は密度と比重、次回は含水率と水の所在、その次は収縮と膨潤です。この三回をつなぐ見通しを、初めに示します。数値を計算するときには、必ず、何を何で割ったか、どの状態で測ったかを書いてください。電卓とノートを用意しましょう。途中の演習では音声を止めて考える時間を設け、画面に残り時間を表示します。三回の短い休憩を含む九十分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大きさの木片を二つ持ったとき、重さの違いを感じることがあります。その違いは、木材の中身がどれくらい詰まっているかを考える入口です。ただし、水を多く含んで重い可能性もあります。重かったから、その樹種の細胞壁が必ず多い、あるいは必ず強い、と結論を急ぐことはできません。今日は、質量を体積で割る密度と、基準にした密度との比である比重を整理します。その後で、全乾、気乾、飽水という状態を区別します。水は木材の質量を変え、壁に入った水は体積も変えます。分子も分母も変わるところが、金属の密度表を読む場合とは違う注意点です。密度が高いという一つの言葉を、どの含水状態の質量と体積で比較したのか、説明できる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中学校で手触りや持ち比べを行うときには、まず同じ大きさをそろえることが大切です。小さく切った重い樹種と、大きい軽い樹種では、樹種の密度だけを比べていません。また、教師が乾いた木片と濡れた木片を混ぜて提示したなら、その違いを生徒の誤答だけの問題にせず、提示条件から点検する必要があります。観察の条件を整え、その限界も伝える、という視点で学び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ニ回の組織の図を思い出してください。木材には、細胞の壁と、その内側の内腔などの空隙がありました。外からノギスで測る木片の体積には、この空隙も含まれます。壁だけを集めた物質の密度と、木片全体の密度が違う理由です。さらに、第4回では、セルロースやヘミセルロースなどの成分と水との相互作用を扱いました。水を含むと、単に穴に水がたまるだけでなく、壁の内部にも水が入ります。したがって、質量の増加だけを考えて、体積は絶対に同じと決めてはいけません。今日の計算は、まず与えられた質量と体積をそのまま使います。そのうえで、何を測った値かを区別します。多孔質という構造、水を含む量、壁の体積変化という三つを、一つずつ対応させ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一立方センチメートルという箱を想像しましょう。壁が多い試料と、内腔が多い試料では、乾いた木材の質量が異なります。その同じ箱に水を入れる場合には、入る場所や量も同じとは限りません。どれくらい空いているかと、今どれくらい水があるかは、別の情報です。密度だけで両方を同時に特定できないことを、後半で確かめ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式は、密度イコール質量割る体積、という関係から出発します。質量をグラム、体積を立方センチメートルで測れば、密度はグラム毎立方センチメートルです。比重は、その密度を基準水の密度で割った比なので、単位が消えます。ここを最初に区別します。次に、同じ木材でも、全乾質量を全乾体積で割るのか、飽水体積で割るのかで数値が変わります。木材の密度を表に並べるときには、この基準の違いが隠れやすいので注意します。その前に、水と物性の全体像を確認しましょう。今日の密度、次回の含水率、その次の収縮を、別々の暗記事項にしないことが目的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前回のヤング率は、力と変形の関係から求めた傾きでした。密度は、質量と体積の関係です。どちらも材料を考える量ですが、同じ種類の量ではありません。密度が高いほどヤング率が高い傾向を示す集団があっても、一つの密度値を強度値そのものとして読み替えることはできません。単位を見分けることが、その取り違えを防ぎ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水を、二つの場所に分けます。内腔などの比較的大きな空間にある水を自由水、細胞壁の中で成分と相互作用している水を壁内の水、または結合水と呼びます。繊維飽和点は、壁は十分に湿っている一方、内腔の自由水はほぼ失われた状態を考える目安です。高い含水率から乾燥すると、初めには主に自由水が減り、質量が減ります。さらに、壁内の水が減る範囲では、壁そのものが縮みやすくなります。多くの強度や剛性も、この低い範囲で水分による変化が目立ちます。この説明は、全ての細胞が同時に切り替わるという意味ではありません。厚い木材では表面と内部の水分が違うので、材全体の平均含水率だけでは、各部の状態を一意に示せません。今日は二つの場所という見通しを持ち、次回、量の計算と一緒に詳しく見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こで、自分のノートに、質量、水の場所、寸法、力学的性質という四つの見出しを書きましょう。同じ水分変化でも、これらの量が同時に同じ割合で変わるとは限りません。表を読む際は、どの範囲からどの範囲へ水が減ったかを先に確かめます。今日の密度の計算に戻ったときにも、この見方を使い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フエスピーは、ファイバー・サチュレーション・ポイント、繊維飽和点です。実用的には、水分変化と寸法や多くの力学的性質の変化を結び付ける目安です。約三十パーセントは代表的な目安で、樹種、個々の材、測定方法によって異なります。一方、イーエムシーは、イクイリブリアム・モイスチャー・コンテント、平衡含水率です。こちらは、ある温度と相対湿度の空気と木材が水分について平衡になったときの含水率を意味します。同じ三文字でも、問いが違います。繊維飽和点は水の所在と物性変化、平衡含水率は周囲の空気との関係です。通常、教室の机や棚の木材は、繊維飽和点より低い範囲で使われます。水が全くないわけではなく、壁の中に水が残り、それが使用環境によって変わります。乾いた感じがする木も、全乾とは限らないの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暖房した教室へ木片を移す場面を考えます。新しい空気の温度や相対湿度によって、近付こうとする平衡含水率が変わります。その目標の値を知りたい問いでは、平衡含水率を使います。一方、木片の壁内の水が変わると寸法も変わりやすい範囲かを考える問いでは、繊維飽和点が目安です。二つの語を使う問いの違いを、一行ずつノートへ整理してください。</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を、同じ木片を乾かす過程として読みます。繊維飽和点より高いとき、自由水が減れば、質量は減ります。したがって、この範囲では何も変化しない、とは言えません。自由水が減るだけなら、寸法や多くの強度の変化は一般に小さい、という説明にします。繊維飽和点より低い範囲では、壁内の水が減り、収縮が顕著になります。多くの強度や剛性は乾燥に伴って増す傾向がありますが、全ての性能が同じ割合で変わるわけではありません。乾燥によって割れが生じることもあり、製品全体が必ず丈夫になるとは限りません。密度については、質量と体積の両方が式に入ります。質量が減る、体積も縮む、その結果の比を計算して初めて密度の変化を評価できます。水の量、寸法、強度、密度を一つの言葉でまとめず、何が変わるかを分け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材料の値と、製作品としての働きも分けます。乾いた小さな試験片の強度が高くなる傾向があっても、乾燥中に接合部へ隙間ができたり、板が反ったりすれば、製品の使用上の問題は残ります。実際の製作では、使用場所へ水分状態を近付けることと、動きを見込んだ形や接合を組み合わせます。性質の変化が、加工や使い方のどの工夫へつながるかを考えましょう。</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換算を、一立方センチメートルから確かめます。一センチメートルは百分の一メートルなので、その三乗の体積は百万分の一立方メートルです。一グラムは千分の一キログラムです。したがって、一グラム毎立方センチメートルをキログラム毎立方メートルへ直すと、千分の一を百万分の一で割り、千となります。密度の数値を千倍し、単位を一緒に替えるのです。一方、立方センチメートルを立方メートルへ直す際に、長さと同じ百分の一だけを掛けてしまうと、大きく間違います。体積は長さの三乗ということを、単位の文字でも確認します。木片の寸法を全てミリメートルで測った場合は、体積は立方ミリメートルです。密度の分母へ立方センチメートルとして入れる前に換算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〇・五グラム毎立方センチメートルは、五百キログラム毎立方メートルです。数値だけを見ると千倍になりましたが、材料が重くなったわけではありません。どの大きさを一単位とするかを変えた結果です。比重の〇・五とは、同じ数値に見える場合でも、単位付きの量か比なのかが違います。答案に単位を書くことは、飾りではなく、何を計算したかを示す手掛かり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寸法から密度を求める練習です。木片の三辺は二センチメートル、三センチメートル、十センチメートル、質量は二十四グラムとします。まず体積を求めてください。その体積で質量を割り、グラム毎立方センチメートルの密度を求めます。次に、キログラム毎立方メートルへ直します。基準水の密度を一・〇〇グラム毎立方センチメートルとしたときの比重も求めましょう。最後に、二センチメートルの寸法を二十ミリメートルと記録した場合、三辺ともミリメートルにそろえた体積と、最初の体積が一致するかを確認します。ここで二分、式、数値、単位をノートに残してください。これは水分状態を指定した一つの説明用試料で、特定樹種の実測値ではありません。</a:t>
            </a:r>
          </a:p>
          <a:p xmlns:a="http://schemas.openxmlformats.org/drawingml/2006/main">
            <a:r>
              <a:t/>
            </a:r>
          </a:p>
          <a:p xmlns:a="http://schemas.openxmlformats.org/drawingml/2006/main">
            <a:r>
              <a:t>体積は二かける三かける十で、六十立方センチメートルです。密度は二十四割る六十で、〇・四グラム毎立方センチメートル、四百キログラム毎立方メートルです。比重は、〇・四を基準水の一・〇〇で割るため、〇・四で、単位を付けません。ミリメートルでは、二十かける三十かける百で六万立方ミリメートルです。一立方センチメートルは千立方ミリメートルなので、六十立方センチメートルと一致します。グラムをミリメートルで作った体積で割った答えに、そのままグラム毎立方センチメートルと書か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式図の茶色い枠は細胞の壁、白い内側は内腔を表します。木片の外形体積には両方が含まれます。実際の細胞は、ここに描いたような全て同じ正方形ではありません。図は、壁物質と空隙を分けるためのモデルです。壁を厚くして白い部分を小さくすれば、同じ外形体積に含まれる乾いた壁物質の量が増え、木材全体の全乾密度は高くなります。一方、白い部分へ自由水が加わることでも質量は増えます。この二つは別の変化です。気乾状態の重い木片を見ただけでは、壁の割合が高いのか、水が多いのか、その両方かはまだ分かりません。組織の観察と含水状態の記録を一緒に行う理由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壁物質の密度は樹種間で木片全体の密度ほど大きく違うわけではありません。今日の単純モデルでは一・五グラム毎立方センチメートルと置きます。これは計算用の指定値で、ウッドハンドブックの最大含水率の式に用いられる一・五四という値と区別して示します。モデルの前提が違えば最後の数値も変わるため、前提を省略して引用しない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重は、対象の密度を、指定した基準密度で割った量です。分子と分母の単位をそろえると、グラム毎立方センチメートル同士が消えるため無次元になります。基準水の密度を一・〇〇とする計算では、密度〇・五グラム毎立方センチメートルの比重は〇・五となり、数値が一致します。この便利さのため、密度と比重の言葉が混ざる場合があります。しかし、密度を五百キログラム毎立方メートルと書けば、数値は同じではありません。比重は基準を変えなければ〇・五のままです。また、木材では比重という語を使っても、分子の質量と分母の体積が全乾か、湿った状態かを確かめる必要があります。英語のスペシフィック・グラビティも、単に数値だけを拾わず、どの定義かを読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水の密度は温度によって少し変わります。ここでは単位と基準の理解を目的に、一・〇〇を指定値として使います。厳密な測定規格の定義や温度条件を扱う場面では、その規定に従います。授業用の丸めた基準値と、規格の条件を同じ精度の記述だと扱わないことも、資料を使う教師に必要な読み方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試料エーの表を読みます。全乾質量は五十グラム、全乾体積は百立方センチメートル、飽水時の体積は百十立方センチメートルです。ここで、飽水時の質量は与えていません。表の五十グラムを飽水質量として使わないようにしてください。これから求める基本密度は、全乾質量を飽水時の体積で割る、異なる基準状態の組合せです。水を含む総質量を使う密度ではありません。状態の欄を隠して数値だけにすると、どれを組み合わせるかが分からなくなります。ノートの表にも、五十グラムの横に全乾、百立方センチメートルの横にも全乾、と書き、百十の横には飽水と書いてください。このモデル値は、二つの定義を比較するための同一試料の指定値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状態が異なる質量と体積を組み合わせること自体が誤りなのではありません。基本密度は、その組合せを明示した定義です。誤りになるのは、その定義を示さず全乾密度として使ったり、他の定義の値と同じ条件だとして比べたりすることです。何でも同じ状態に統一する、と暗記するより、各指標の分子と分母を確認する方が確実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密度は、全乾質量を全乾体積で割ります。気乾密度は、気乾というだけで水分が一律に決まるわけではないため、その含水率での質量と、そのときの体積を用いた密度として読みます。基本密度は、全乾質量を飽水時の体積で割ります。同じ試料では、通常、飽水体積の方が全乾体積より大きいので、分子が同じなら基本密度は全乾密度より小さくなります。木材の性質が急に別の物質へ変わったのではなく、指標の基準が違う結果です。密度表を作るなら、指標名、分子の質量状態、分母の体積状態、数値、単位を一行にします。樹種名と数値だけの表よりも、比較してよい条件が見え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気乾密度という見出しでも、含水率十二パーセントを基準にした表と、十五パーセントを基準にした表があります。両方が気乾だから完全に同じ条件とは限りません。前回の物性表で含水率を確認したのと同じ読み方です。水の状態の情報を、密度の定義と一緒に持つ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それでは、再開します。演習1　全乾密度と基本密度へ進みます。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の試料エーから、全乾密度と基本密度をそれぞれ求めてください。全乾質量は五十グラム、全乾体積は百立方センチメートル、飽水体積は百十立方センチメートルです。両方をキログラム毎立方メートルへ換算し、基準水密度一・〇〇に対する比重も求めます。最後に、基本密度の方が小さい理由を、分母という語を用いて一文で説明してください。計算を始める前に、二つの分数を文字で書き、その分母へ全乾体積と飽水体積のどちらを入れるかを決めましょう。ここで三分、計算と説明の時間を取ります。時間内に終わらなければ、動画を一時停止してから解説へ進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密度は五十割る百で、〇・五〇〇グラム毎立方センチメートルです。千倍して、五百キログラム毎立方メートルになります。基本密度は五十割る百十で、約〇・四五五グラム毎立方センチメートル、約四百五十五キログラム毎立方メートルです。比重の数値は指定した水密度のもとで、それぞれ〇・五〇〇と約〇・四五五です。小さくなった理由は、全乾質量という同じ分子を、より大きい飽水体積で割ったからです。水の質量を分子へ加えなかったことを確認してください。また、途中で〇・四五五に丸めてから換算したため、最後は四百五十五と示しています。元の値の精度に応じて、有効数字の扱いもそろ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自分の計算で基本密度が全乾密度より大きくなったなら、分子へ飽水質量を入れていないか、あるいは体積の比を逆にしていないかを確認します。小さい、大きいという予想は、電卓の結果を点検する道具になります。答えを暗記するより、分数の構造から大小を判断できることが重要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四角は、同じ試料の全乾体積と飽水体積を模式的に並べたものです。図の大きさの比は実測の収縮率を表していません。ここで注目するのは、分子を同じ全乾質量に固定し、分母の体積を選び替えることです。基本密度を測る際に、飽水体積をどう求めるかも測定上の条件になります。ノギスで外形寸法を測れる直方体と、不規則な形の試料では、体積を求める方法も違います。また、未乾燥の材だから必ず完全に飽水している、と無条件にみなすのも避けます。定義と測定手順を分け、どの状態をどの方法で近似したかを記録することが、数値の比較を支え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単純な密度の計算でも、測定時点がずれていると状態が変わることがあります。質量を測った後、何日も乾燥させてから寸法を測れば、同じ含水状態の組合せになりません。学校での活動では、測定する順序と時刻、保管場所も簡単に記録すると、思わぬ違いの理由を検討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密度を、体積の比だけでつなぎます。同じ試料の全乾密度は全乾質量割る全乾体積、基本密度は同じ全乾質量割る飽水体積です。基本密度を全乾密度で割ると、共通の全乾質量が消えて、全乾体積割る飽水体積が残ります。先ほどの試料なら、百割る百十で、約〇・九〇九です。全乾密度〇・五〇〇へこの比を掛けると、基本密度約〇・四五五に戻ります。体積が一・一倍になったから密度は〇・九倍、と引き算で計算してはいけません。密度は体積に反比例するので、一割る一・一を掛けます。体積の十パーセント増加と、密度の減少の百分率は、分母が違うため一致しないのです。基本密度は、全乾密度より約九・一パーセント小さくなっています。こうした比の式は、数値を代入する前に大小を予想するために使えます。ただし、同じ全乾質量を使う二つの指標の比較だからこそ消せました。水を含む気乾密度と比べる場合には、分子も変わるので、この体積の比だけの式をそのまま使えません。式の中で同じに保った量を、最初に言葉で示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逆の関係も確認します。基本密度から全乾密度へ戻すなら、飽水体積を全乾体積で割った比を掛けます。〇・四五五に一・一を掛けると〇・五〇〇五で、丸め前の基本密度を用いれば〇・五〇〇へ戻ります。最後の小さな違いは、途中で丸めたことによります。計算の途中では十分な桁を保ち、最後に資料の精度に合わせて示しましょう。比の向きを確かめると、電卓で逆数を入れた誤りにも気付きやすくなり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の単純モデルから空隙率を求めます。外形体積のうち空隙が占める割合をピーとすると、壁物質の割合は一引くピーです。空隙に質量がないとみなし、壁物質の密度を一・五〇グラム毎立方センチメートルと置けば、木材全体の全乾密度は、一引くピーに壁物質密度を掛けた値です。両辺を壁物質密度で割り、移項すると、ピーは一引く全乾密度割る壁物質密度になります。全乾密度が〇・五なら、〇・五割る一・五は三分の一なので、残りの三分の二、約六十七パーセントが空隙です。ここでの空隙率は、全乾の外形体積を基準としたモデルの値です。飽水時の体積や、気乾の総質量をそのまま入れる式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空隙が多いという結果は、どの方向にも同じように水が流れることを意味しません。移動経路には、内腔の連続性、壁孔、樹種や乾燥履歴も関わります。また、断熱や軽さを考える手掛かりにはなりますが、この空隙率一つだけで製品の熱伝導率や加工性を確定することはできません。モデルが説明する範囲を区別し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壁物質密度のモデルで、試料ビーの全乾密度が〇・三、試料シーが〇・六グラム毎立方センチメートルだったとします。それぞれの空隙率を求めてください。次に、空隙率が大きい方が、同じ外形体積での全乾質量は大きいか小さいかを説明します。最後に、試料ビーの気乾密度が高くなったという別の観察だけから、細胞壁の割合が増えたと判断してよいかを書いてください。数字の練習と、判断の限界の練習です。ここで二分、割合を求め、理由を一文ずつ添えましょう。</a:t>
            </a:r>
          </a:p>
          <a:p xmlns:a="http://schemas.openxmlformats.org/drawingml/2006/main">
            <a:r>
              <a:t/>
            </a:r>
          </a:p>
          <a:p xmlns:a="http://schemas.openxmlformats.org/drawingml/2006/main">
            <a:r>
              <a:t>ビーは、一引く〇・三割る一・五なので、〇・八、八十パーセントです。シーは、一引く〇・六割る一・五で、〇・六、六十パーセントです。空隙率の大きいビーは、同じ外形体積の乾いた壁物質が少なく、全乾質量が小さくなります。気乾密度が変わった場合は、水の質量と体積の変化をまず確認します。細胞の壁が成長して増えた、とその場で結論することはできません。同じ密度という見出しでも、全乾モデルの比較か、水を含む試料の変化かを分け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の比較記事を点検する練習です。資料エックスには、試料一が全乾密度〇・五、試料二が気乾密度〇・六グラム毎立方センチメートルと書かれています。生徒は、試料二の細胞壁の割合は、試料一の一・二倍である、と結論しました。さらに、試料二の曲げ強さも一・二倍だ、と書きました。まず二つの密度値が、同じ基準状態かを確認してください。次に、壁の割合の比較に必要な追加条件と、強さの比較に必要な追加条件を、分けて挙げます。最後に、今の資料だけから確実に言えることを、一文にしてください。ここで三分、記事の二つの結論へ、根拠を付けてコメントを書きます。</a:t>
            </a:r>
          </a:p>
          <a:p xmlns:a="http://schemas.openxmlformats.org/drawingml/2006/main">
            <a:r>
              <a:t/>
            </a:r>
          </a:p>
          <a:p xmlns:a="http://schemas.openxmlformats.org/drawingml/2006/main">
            <a:r>
              <a:t>まず全乾密度と気乾密度では、質量と体積の水分状態が違います。〇・六割る〇・五の一・二という数値の比は計算できますが、それを乾いた壁の割合の比だと読むには、同じ全乾の基準と、同じ壁物質密度のモデルなどが必要です。強さについては、水分状態に加えて、荷重の方向、試験の種類、節や個体差などの情報が必要です。密度の比をそのまま曲げ強さの比にはできません。現段階で言えるのは、異なる基準状態で報告された二つの密度値が載っている、ということです。数値があるから比較条件もそろっている、と考えないようにします。資料を調べる学習では、答えを埋めるための値集めより、比較可能な値を選ぶことが重要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試料エーの続きです。気乾状態では、質量が六十グラム、体積が百五立方センチメートルになりました。全乾の五十グラムと百立方センチメートルを覚えていますか。まず気乾密度を求め、全乾密度と比べます。次に、水の質量を六十引く五十で取り出し、その値を全乾質量で割って木材の含水率を求めてください。分子で水だけを取り出し、分母に何を置いたかが大切です。さらに、もしも気乾密度〇・五七一という数値しか与えられず、同じ試料の全乾質量が分からなければ、含水率を一意に決められるでしょうか。ここで三分、二つの計算と最後の説明を行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気乾密度は六十割る百五で、約〇・五七一グラム毎立方センチメートル、約五百七十一キログラム毎立方メートルです。この試料では、全乾状態に比べて質量も体積も増えましたが、その比も大きくなっています。木材の含水率は、水十グラムを全乾質量五十グラムで割り、百倍するので二十パーセントです。ここでの二十パーセントは、通常の木材の乾量基準です。全体六十グラムを分母にすると、別の基準の十六・七パーセントになります。この違いは次回、食品や農産物とも比べて学びます。密度の値だけが分かっている場合には、水の質量と、乾いた壁物質・空隙の構成を分離できません。全乾質量など、別の情報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気乾という語から自動的に十五パーセントだと決めると、この問題は解けなくなります。例題では同じ試料の全乾質量を知っているため、実際に二十パーセントと計算できました。気乾は置かれた空気と時間に関係する状態です。授業上の代表値と、個々の測定値を区別できる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同じ木片の質量・体積・密度へ進みます。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試料の変化を、表で整理します。全乾質量八十グラム、全乾体積百六十立方センチメートルの木片です。乾量基準の含水率十パーセントで、体積百六十四立方センチメートル、二十パーセントで、体積百六十八立方センチメートルだったとします。まず二つの含水率での全体質量を求め、密度も計算してください。次に、全乾密度からの変化を、質量の増加と体積の増加に分けて説明します。最後に、この二点だけから、全ての含水率で同じ割合の体積増加が続くと考えてよいかを書きます。数値は説明用の仮想データです。ここで三分、二行の表と、二つの説明を作ってください。</a:t>
            </a:r>
          </a:p>
          <a:p xmlns:a="http://schemas.openxmlformats.org/drawingml/2006/main">
            <a:r>
              <a:t/>
            </a:r>
          </a:p>
          <a:p xmlns:a="http://schemas.openxmlformats.org/drawingml/2006/main">
            <a:r>
              <a:t>十パーセントでの水の質量は八グラム、全体は八十八グラムです。密度は八十八割る百六十四で、約〇・五三七グラム毎立方センチメートルです。二十パーセントでは、水は十六グラム、全体九十六グラム、密度は九十六割る百六十八で、約〇・五七一です。全乾密度は〇・五〇〇でした。この例では、質量と体積がどちらも増え、比としての密度も増えています。ただし、二つの指定値は、全ての含水率へ延長する法則の証明ではありません。特に繊維飽和点より高い範囲では、水の所在と体積変化の関係が同じではありません。式に入れる前に、質量がどの基準から求まったかを確認する順序が、次回の学習へつながり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気乾含水率を約十五パーセントと説明することがあります。その根拠と限界を確認します。齋藤さんと信田さんが二千十六年に発表した研究では、千九百八十一年から千九百九十五年の気象データを用い、全国八百四十二地点について、温度と湿度から気候値平衡含水率を推定しています。その全国平均は約十五パーセント、地点による値の範囲は約十二から十九パーセントでした。これは、全ての場所で一年中十五パーセントという意味ではありません。地域の違いがあり、月々の気象条件も変わります。また、以前の研究と同じ都市部の地点にそろえると、約十三・五パーセントでした。平均値は、どの地点を、どの期間で集めるかによっても変わります。室内では空調や暖房の影響もあります。十五という数は、見通しを作る基準として使い、目の前の教室や材料の実測値とは区別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平均という言葉が出たら、集めた地点と期間を確認します。都市部の地点だけを集めた平均と、広い地域の地点を集めた平均は、同じ値になるとは限りません。また、この研究で用いた過去の気象条件からの推定と、今年の教室で測った値も別です。引用するときには、約十五パーセントという数の隣に、全国の気候値の平均という対象を書き添えてください。</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別の変化を、三つの地域の例で見ます。横軸は一月から十二月、縦軸は乾量基準で表した平衡含水率の推定値です。札幌、東京、徳島について、気象庁の千九百九十一年から二千二十年の月平均気温と相対湿度を、ウッドハンドブックの式に入れました。木片を実際に毎月量った結果ではありません。東京では一月が約九・七パーセント、七月が約十四・五パーセントと計算されます。徳島も月によって目標の値が変わります。札幌の曲線の形は、東京と完全には同じでありません。地域が違えば、単に全国共通の夏と冬の値を当てはめられないことが分かります。月平均の条件を用いた単純な計算なので、雨で濡れること、日射、室内の空調、水分が追い付くまでの時間は含んでいません。この三地点の平均を、先ほどの全国八百四十二地点の平均十五パーセントと同じ集団だと考えない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曲線の最も低い月にも注目します。この計算例では、札幌は四月、東京は一月が最も低くなっています。単に冬だから全国で同じ値になる、という読み方では、地域ごとの温湿度の組合せを見落とします。さらに、月平均の温湿度を式に入れた値は、日々の変動を全て計算して平均した値と同じとは限りません。グラフの出典と、計算の手順も一緒に読み取りましょう。</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別のグラフを数量と結びます。東京の一月の推定平衡含水率を九・七パーセント、七月を十四・五パーセントと丸めて用います。全乾質量が五十グラムの同じ木片が、それぞれの値へ十分に近付いたと仮定したとき、水の質量と全体の質量は何グラムでしょうか。次に、その質量だけで二つの時点の密度も求められるかを考えます。最後に、暖房した室内の木片も、この屋外気象値の計算と同じになると断定してよいかを書いてください。ここで三分、計算と二つの説明を行います。この問題は同じ材料の水分変化を仮定したもので、図の全地点の平均を求める問題ではありません。</a:t>
            </a:r>
          </a:p>
          <a:p xmlns:a="http://schemas.openxmlformats.org/drawingml/2006/main">
            <a:r>
              <a:t/>
            </a:r>
          </a:p>
          <a:p xmlns:a="http://schemas.openxmlformats.org/drawingml/2006/main">
            <a:r>
              <a:t>水の質量は、全乾五十グラムに含水率を百分の一にした比を掛けます。一月は四・八五グラム、全体は五十四・八五グラムです。七月は七・二五グラム、全体は五十七・二五グラムです。全体の質量差は二・四〇グラムとなります。密度には、それぞれの時点の体積も必要なので、今の質量だけでは決められません。室内についても、その場所の温度と相対湿度を確認する必要があります。屋外の月平均値と、暖房や換気のある教室の条件は同じではありません。計算できる量と、追加情報が必要な量を分けて示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室の含水状態を知るための観察計画を作ります。窓際と室内の二か所に、同じ材から取った木片を置くとします。場所ごとの温度、相対湿度、木片の質量を一週間記録する計画です。まず、そろえる条件を三つ、記録する条件を三つ以上挙げてください。次に、屋外気象値から推定した平衡含水率のグラフと、教室で量った木片の結果が違ったとき、検討する理由を二つ以上書きます。最後に、気温や湿度の変化へ、木片の質量が同時に追い付くと決めてよいかを説明してください。ここで三分、実験を実行するのでなく、記録計画と予想する限界を設計します。</a:t>
            </a:r>
          </a:p>
          <a:p xmlns:a="http://schemas.openxmlformats.org/drawingml/2006/main">
            <a:r>
              <a:t/>
            </a:r>
          </a:p>
          <a:p xmlns:a="http://schemas.openxmlformats.org/drawingml/2006/main">
            <a:r>
              <a:t>そろえる条件には、樹種、木取り、寸法、開始前の保管履歴、測定時刻などがあります。記録するものには、試料番号、場所、日時、温度、相対湿度、質量などを置きます。屋外と室内の空気の違い、日射や暖房の影響、吸湿と放湿の履歴、木片内部へ水分が移動する時間の違いなどが、グラフとのずれを考える候補です。全乾質量が分かれば含水率も計算できますが、分からなければ質量の変化としてまず記録します。湿度が変わった瞬間に全体の水分が必ず平衡になるわけではありません。気候の平均値、目標となる平衡値、実際の木片の値を分けて示すことが大切です。教師が先に正しい値を決め付けず、条件と経過から説明する活動へつなげ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同じ外形寸法の木片を持ち比べる授業を考えます。まず、どの寸法をどの方向で測ったか、質量をいつ量ったか、樹種と保管場所を記録します。手で感じる重さと、天びんで測った質量、寸法から求めた密度を対応させます。その際、重かったから必ず壁が多い、とすぐに結論せず、水分状態が同じかを確かめる問いを入れます。生徒が正しい数値を出せたかだけでなく、どの条件をそろえたかを説明できることを見取ります。指導要領の材料と加工では、材料の特性と加工方法との関係を理解することが土台です。大学の用語を全て生徒に暗記させるより、身近な比較の条件と理由が分かる活動へ翻訳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木片の体積が少し違うために重さの順位が変わる組と、同じ体積で質量が違う組を比べると、密度を使う必要性が見えます。ただ公式を最初に示して当てはめさせるだけでなく、同じ大きさで比べることの意味から導入できます。測定してから、予想と違った理由を条件へ戻って考える活動にもつながり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記録の設計です。教室で木片三種類を比較するとします。記録する欄を六つ以上考え、そのうち密度の計算に直接使う欄と、比較の解釈に使う欄を分けてください。さらに、生徒が、重い木片ほどどんな場合も強い、と書いたとき、観察を認めながら説明を修正する一文を作ります。最後に、同じ木片を翌週もう一度量ることと、別の木片を量ることの違いも書きましょう。ここで三分、表と教師の声掛けを作ります。実際に木片を乾燥させる活動は求めません。</a:t>
            </a:r>
          </a:p>
          <a:p xmlns:a="http://schemas.openxmlformats.org/drawingml/2006/main">
            <a:r>
              <a:t/>
            </a:r>
          </a:p>
          <a:p xmlns:a="http://schemas.openxmlformats.org/drawingml/2006/main">
            <a:r>
              <a:t>記録欄には、試料番号、樹種、長さ、幅、厚さ、質量、測定日時、保管場所、含水状態の情報などを置けます。寸法と質量が密度計算の入力、樹種や水分の条件は比較の解釈を支えます。声掛けの例は、同じ大きさで重さに違いがあったことは確かめられましたが、強さを比べるには、力の方向や水分状態、どの試験で壊れにくさを測るかもそろえましょう、です。同じ木片の再測定では状態や測定の変化、別の木片では試料間の違いも関わります。一度の持ち比べから広い結論を出し過ぎ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密度・比重・気乾を説明するへ進みます。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の短い説明を作ります。生徒が、比重は〇・五グラム毎立方センチメートルで、乾いた木の含水率はいつでも十五パーセントだ、と書きました。二つの文を、それぞれ観察や定義へ戻って修正してください。単に単位を消す、いつでもを消す、という修正だけでなく、なぜそう直すのかを伝える例を一つずつ加えます。例えば、密度の単位をキログラム毎立方メートルへ直した場合と比重の数を比べたり、暖房した教室と屋外の空気を比べたりできます。ここで三分、中学生へ一分程度で話せる説明文と、理解を確かめる問いを一つ作りましょう。</a:t>
            </a:r>
          </a:p>
          <a:p xmlns:a="http://schemas.openxmlformats.org/drawingml/2006/main">
            <a:r>
              <a:t/>
            </a:r>
          </a:p>
          <a:p xmlns:a="http://schemas.openxmlformats.org/drawingml/2006/main">
            <a:r>
              <a:t>説明の例です。〇・五グラム毎立方センチメートルは、質量を体積で割った密度です。水の密度一・〇〇グラム毎立方センチメートルと比べると、その半分なので、比重は単位のない〇・五になります。密度の書き方を五百キログラム毎立方メートルに替えても、その比重は変わりません。次に、木材は空気中でも水を含みます。約十五パーセントは全国の気候値の研究から得た目安ですが、教室の温度や湿度、季節、そこへ置いた時間で実際の値は変わります。確かめる問いには、湿度が違う二つの教室の木片を、いつも同じ含水率だと考えてよいか、が使えます。定義と身近な比較を一緒に示すと、数だけの暗記から説明へ進め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確認です。第一に、比重へキログラム毎立方メートルという単位を付けるでしょうか。第二に、基本密度の分子は何の状態の質量でしょうか。第三に、測定時の状態が不明な密度値を、そのまま同じ条件の値として比べてよいでしょうか。三つとも、一語の答えに加えて理由を書いてください。最後に、繊維飽和点と平衡含水率について、何を説明するための言葉だったかを一文ずつ加えます。ここで九十秒、ノートを見ずに答えてから、必要に応じて式を確認しましょう。</a:t>
            </a:r>
          </a:p>
          <a:p xmlns:a="http://schemas.openxmlformats.org/drawingml/2006/main">
            <a:r>
              <a:t/>
            </a:r>
          </a:p>
          <a:p xmlns:a="http://schemas.openxmlformats.org/drawingml/2006/main">
            <a:r>
              <a:t>比重には単位を付けません。同じ単位の密度を割った比だからです。基本密度の分子は、全乾質量です。状態不明の密度値は、少なくとも質量と体積の基準を調べてから比較します。繊維飽和点は水の所在と物性変化、平衡含水率は周囲の空気との平衡に関する概念です。十五パーセントや三十パーセントという数だけで、二つを区別したつもりにならないように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計算です。別の試料の全乾質量は八十グラム、全乾体積は百六十立方センチメートル、飽水体積は百八十立方センチメートルとします。全乾密度、基本密度、基本比重を求めてください。発展として、壁物質密度一・五〇の全乾モデルを用いた空隙率も求めます。ここで二分、分子と分母の状態を省略せず書いてください。基本比重の分母は飽水体積を使うこと、空隙率のモデルは全乾密度を使うことを、別々に確かめます。</a:t>
            </a:r>
          </a:p>
          <a:p xmlns:a="http://schemas.openxmlformats.org/drawingml/2006/main">
            <a:r>
              <a:t/>
            </a:r>
          </a:p>
          <a:p xmlns:a="http://schemas.openxmlformats.org/drawingml/2006/main">
            <a:r>
              <a:t>全乾密度は八十割る百六十で〇・五〇〇、基本密度は八十割る百八十で約〇・四四四グラム毎立方センチメートルです。キログラム毎立方メートルでは五百と約四百四十四、基本比重は基準水一・〇〇に対して約〇・四四四です。空隙率は、一引く〇・五割る一・五なので、約〇・六六七です。この全乾モデルへ基本密度〇・四四四をそのまま入れると、基準体積の異なる計算になってしまい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を整理します。密度は、質量を体積で割った単位付きの量です。比重は、指定した基準密度との比です。木材では、全乾、気乾、基本という指標の分子と分母の状態を区別します。水が増減すると質量が変わり、壁内の水が変わる範囲では体積も変わります。その見通しを、自由水と結合水、繊維飽和点と平衡含水率で説明しました。全国平均約十五パーセントは、地域と期間を指定した研究に基づく目安で、教室や木片全ての固定値ではありません。次回は、水の質量を全体の質量と全乾質量の差から取り出し、何を分母にするかで含水率の意味が変わることを学びます。今日の密度表にも、その知識を戻して使っていき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を案内します。木材の水分、密度、比重の定義は、ウッドハンドブック二千二十一年版の第4章で確認できます。約十五パーセントの国内の研究は、齋藤さんと信田さんによる二千十六年の論文です。全国の地点数、気象データの期間、平均の集め方を確認してください。今回の月別グラフは、気象庁の月平均温湿度を同章の式で計算した教材用の推定であり、論文の全国平均を再計算したものではありません。再編集用資料には、元の温湿度と計算値を残しています。指導要領と中学校教材の資料は、材料の特性をどんな観察へつなげるかを考える際に参照します。大学の式をそのまま生徒に移すのではなく、比べる条件と根拠を、活動に置き換えて説明してみてください。第七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34480e6d9d45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f6d40904e044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00aca8535e42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6d948c4bb044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ad90cf76a24f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da2702211242b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5dbcd9c3b8ac4e2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af5ea50d32b84ba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3e469aee80344d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8dacea8d8021419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0b63d5b24ffa47d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01dbfffd3e8a49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7DBE4E-C527-46FF-B55C-CBDD56B6EE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0F28A3F-0FA9-44A1-96C9-777BA1700D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CEF710-3869-45A4-9C2E-6A6CFCD92D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D05F31-6411-4EF6-8330-EA4227F946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211C5F5C-5F37-46AA-9236-A5A2C30679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44F765-17D5-4E5F-AD9B-9A3CF454F5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437CDAE-ECE4-49D6-BF26-05BEB657AE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9CDF059-8B25-4873-BC42-098EB9F454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6B3522-8253-4AD8-A7C1-6150AB3D56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2743825-E50A-4562-A740-D93D935049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c34db99e3d43c9" /><Relationship Type="http://schemas.openxmlformats.org/officeDocument/2006/relationships/slideLayout" Target="/ppt/slideLayouts/slideLayout1.xml" Id="R08e1b299630a4fcf" /><Relationship Type="http://schemas.openxmlformats.org/officeDocument/2006/relationships/slideLayout" Target="/ppt/slideLayouts/slideLayout2.xml" Id="R2a6babd814554dca" /><Relationship Type="http://schemas.openxmlformats.org/officeDocument/2006/relationships/slideLayout" Target="/ppt/slideLayouts/slideLayout3.xml" Id="R57bc121196584a90" /><Relationship Type="http://schemas.openxmlformats.org/officeDocument/2006/relationships/slideLayout" Target="/ppt/slideLayouts/slideLayout4.xml" Id="R9e64a726c8e74bcd" /><Relationship Type="http://schemas.openxmlformats.org/officeDocument/2006/relationships/slideLayout" Target="/ppt/slideLayouts/slideLayout5.xml" Id="R1e5400b2330a4b47" /><Relationship Type="http://schemas.openxmlformats.org/officeDocument/2006/relationships/slideLayout" Target="/ppt/slideLayouts/slideLayout6.xml" Id="R6d2278fe83c6438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b2c43b12d6d4e9d" /><Relationship Type="http://schemas.openxmlformats.org/officeDocument/2006/relationships/slideLayout" Target="/ppt/slideLayouts/slideLayout7.xml" Id="R21e982f48caf4668" /><Relationship Type="http://schemas.openxmlformats.org/officeDocument/2006/relationships/slideLayout" Target="/ppt/slideLayouts/slideLayout8.xml" Id="R103592ff315f46d3" /><Relationship Type="http://schemas.openxmlformats.org/officeDocument/2006/relationships/slideLayout" Target="/ppt/slideLayouts/slideLayout9.xml" Id="Rdbf2be3d511d4ec6" /><Relationship Type="http://schemas.openxmlformats.org/officeDocument/2006/relationships/slideLayout" Target="/ppt/slideLayouts/slideLayout10.xml" Id="Rfc0be690672e4de3" /><Relationship Type="http://schemas.openxmlformats.org/officeDocument/2006/relationships/slideLayout" Target="/ppt/slideLayouts/slideLayout11.xml" Id="Ra67a93aa83cf42b2" /><Relationship Type="http://schemas.openxmlformats.org/officeDocument/2006/relationships/slideLayout" Target="/ppt/slideLayouts/slideLayout12.xml" Id="Rd9ca8c629a4349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e1b299630a4fcf"/>
    <p:sldLayoutId xmlns:r="http://schemas.openxmlformats.org/officeDocument/2006/relationships" id="2147483650" r:id="R2a6babd814554dca"/>
    <p:sldLayoutId xmlns:r="http://schemas.openxmlformats.org/officeDocument/2006/relationships" id="2147483651" r:id="R57bc121196584a90"/>
    <p:sldLayoutId xmlns:r="http://schemas.openxmlformats.org/officeDocument/2006/relationships" id="2147483652" r:id="R9e64a726c8e74bcd"/>
    <p:sldLayoutId xmlns:r="http://schemas.openxmlformats.org/officeDocument/2006/relationships" id="2147483653" r:id="R1e5400b2330a4b47"/>
    <p:sldLayoutId xmlns:r="http://schemas.openxmlformats.org/officeDocument/2006/relationships" id="2147483654" r:id="R6d2278fe83c643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21e982f48caf4668"/>
    <p:sldLayoutId xmlns:r="http://schemas.openxmlformats.org/officeDocument/2006/relationships" id="2147483657" r:id="R103592ff315f46d3"/>
    <p:sldLayoutId xmlns:r="http://schemas.openxmlformats.org/officeDocument/2006/relationships" id="2147483658" r:id="Rdbf2be3d511d4ec6"/>
    <p:sldLayoutId xmlns:r="http://schemas.openxmlformats.org/officeDocument/2006/relationships" id="2147483659" r:id="Rfc0be690672e4de3"/>
    <p:sldLayoutId xmlns:r="http://schemas.openxmlformats.org/officeDocument/2006/relationships" id="2147483660" r:id="Ra67a93aa83cf42b2"/>
    <p:sldLayoutId xmlns:r="http://schemas.openxmlformats.org/officeDocument/2006/relationships" id="2147483661" r:id="Rd9ca8c629a4349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7638a0f8244029" /><Relationship Type="http://schemas.openxmlformats.org/officeDocument/2006/relationships/hyperlink" Target="https://lc-nue.naruto-u.ac.jp/lcu-web/SC_06001B00_22" TargetMode="External" Id="R62126a593259485e" /><Relationship Type="http://schemas.openxmlformats.org/officeDocument/2006/relationships/notesSlide" Target="/ppt/notesSlides/notesSlide1.xml" Id="R336831cb09394f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f76c8fe5f34fda" /><Relationship Type="http://schemas.openxmlformats.org/officeDocument/2006/relationships/notesSlide" Target="/ppt/notesSlides/notesSlide2.xml" Id="Rd057534fd6a440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4cfe02556e43ef" /><Relationship Type="http://schemas.openxmlformats.org/officeDocument/2006/relationships/notesSlide" Target="/ppt/notesSlides/notesSlide3.xml" Id="R8ef005caef2d4b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065b519f7b604026" /><Relationship Type="http://schemas.openxmlformats.org/officeDocument/2006/relationships/notesSlide" Target="/ppt/notesSlides/notesSlide4.xml" Id="R3752b55600ab47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ce8b2059e0459e" /><Relationship Type="http://schemas.openxmlformats.org/officeDocument/2006/relationships/notesSlide" Target="/ppt/notesSlides/notesSlide5.xml" Id="Rf65a9a9815314d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5df9b91bab485d" /><Relationship Type="http://schemas.openxmlformats.org/officeDocument/2006/relationships/notesSlide" Target="/ppt/notesSlides/notesSlide6.xml" Id="Rf69df18c18844c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53f18ad0194180" /><Relationship Type="http://schemas.openxmlformats.org/officeDocument/2006/relationships/notesSlide" Target="/ppt/notesSlides/notesSlide7.xml" Id="R65645bb0fce448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b3fc48921a854a86" /><Relationship Type="http://schemas.openxmlformats.org/officeDocument/2006/relationships/notesSlide" Target="/ppt/notesSlides/notesSlide8.xml" Id="R5236f260c4124e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96c3ee9a7e41f2" /><Relationship Type="http://schemas.openxmlformats.org/officeDocument/2006/relationships/notesSlide" Target="/ppt/notesSlides/notesSlide9.xml" Id="Rb76d3e71fd514c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5a6132e6ac4f83" /><Relationship Type="http://schemas.openxmlformats.org/officeDocument/2006/relationships/notesSlide" Target="/ppt/notesSlides/notesSlide10.xml" Id="R61383547f13744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65f76cb2278a4e8b" /><Relationship Type="http://schemas.openxmlformats.org/officeDocument/2006/relationships/notesSlide" Target="/ppt/notesSlides/notesSlide11.xml" Id="Rbe1a029b606b46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54d5fb48f942ba" /><Relationship Type="http://schemas.openxmlformats.org/officeDocument/2006/relationships/notesSlide" Target="/ppt/notesSlides/notesSlide12.xml" Id="Rb81fc35e21e045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cb99a69f7ca94b25" /><Relationship Type="http://schemas.openxmlformats.org/officeDocument/2006/relationships/notesSlide" Target="/ppt/notesSlides/notesSlide13.xml" Id="R81c14aba6dec4a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4fa1e7f476b41aa" /><Relationship Type="http://schemas.openxmlformats.org/officeDocument/2006/relationships/notesSlide" Target="/ppt/notesSlides/notesSlide14.xml" Id="R34493087c5844f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d19fca7d1c497b" /><Relationship Type="http://schemas.openxmlformats.org/officeDocument/2006/relationships/notesSlide" Target="/ppt/notesSlides/notesSlide15.xml" Id="R5011fbc8d75b47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1efbd1751d48fb" /><Relationship Type="http://schemas.openxmlformats.org/officeDocument/2006/relationships/notesSlide" Target="/ppt/notesSlides/notesSlide16.xml" Id="R75bced215c3644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fa9e73a656a4418" /><Relationship Type="http://schemas.openxmlformats.org/officeDocument/2006/relationships/notesSlide" Target="/ppt/notesSlides/notesSlide17.xml" Id="Ree40815f3dda43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8beda03e04416e" /><Relationship Type="http://schemas.openxmlformats.org/officeDocument/2006/relationships/notesSlide" Target="/ppt/notesSlides/notesSlide18.xml" Id="Re193d415aedf45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ff913c5441ce42e8" /><Relationship Type="http://schemas.openxmlformats.org/officeDocument/2006/relationships/notesSlide" Target="/ppt/notesSlides/notesSlide19.xml" Id="R70ae760cbb1045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65c9fad19cb4b1b" /><Relationship Type="http://schemas.openxmlformats.org/officeDocument/2006/relationships/notesSlide" Target="/ppt/notesSlides/notesSlide20.xml" Id="R2853a48f73cc4f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48db18840e64f28" /><Relationship Type="http://schemas.openxmlformats.org/officeDocument/2006/relationships/notesSlide" Target="/ppt/notesSlides/notesSlide21.xml" Id="R595aac33da3d47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39e35f59c3744de6" /><Relationship Type="http://schemas.openxmlformats.org/officeDocument/2006/relationships/notesSlide" Target="/ppt/notesSlides/notesSlide22.xml" Id="R4a179005ae5a470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2aeb632e5ee243dc" /><Relationship Type="http://schemas.openxmlformats.org/officeDocument/2006/relationships/notesSlide" Target="/ppt/notesSlides/notesSlide23.xml" Id="R544fb40ae8bf4f5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89800e27b14c19" /><Relationship Type="http://schemas.openxmlformats.org/officeDocument/2006/relationships/notesSlide" Target="/ppt/notesSlides/notesSlide24.xml" Id="Rcfd8ae5016c044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9bfd28eb05f4238" /><Relationship Type="http://schemas.openxmlformats.org/officeDocument/2006/relationships/notesSlide" Target="/ppt/notesSlides/notesSlide25.xml" Id="R67b59346c7b7442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38474e84b1c4e77" /><Relationship Type="http://schemas.openxmlformats.org/officeDocument/2006/relationships/notesSlide" Target="/ppt/notesSlides/notesSlide26.xml" Id="R849d215ab95242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879b9708630466f" /><Relationship Type="http://schemas.openxmlformats.org/officeDocument/2006/relationships/chart" Target="/ppt/slides/charts/chart1.xml" Id="R145ca941fafe4964" /><Relationship Type="http://schemas.openxmlformats.org/officeDocument/2006/relationships/notesSlide" Target="/ppt/notesSlides/notesSlide27.xml" Id="Rafc8d82b675c457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47dc0b35c794e61" /><Relationship Type="http://schemas.openxmlformats.org/officeDocument/2006/relationships/notesSlide" Target="/ppt/notesSlides/notesSlide28.xml" Id="R3086aa298a8f49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935cc3371dc4461" /><Relationship Type="http://schemas.openxmlformats.org/officeDocument/2006/relationships/notesSlide" Target="/ppt/notesSlides/notesSlide29.xml" Id="R327ab1c269a84eb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5e6fd7d8963245ef" /><Relationship Type="http://schemas.openxmlformats.org/officeDocument/2006/relationships/notesSlide" Target="/ppt/notesSlides/notesSlide30.xml" Id="Ra5202fc9688b4ee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02fe2ddc674544" /><Relationship Type="http://schemas.openxmlformats.org/officeDocument/2006/relationships/notesSlide" Target="/ppt/notesSlides/notesSlide31.xml" Id="R03eb4d868afb43b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ec45a78e32e4ddd" /><Relationship Type="http://schemas.openxmlformats.org/officeDocument/2006/relationships/notesSlide" Target="/ppt/notesSlides/notesSlide32.xml" Id="R35d036d9bd1349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ed24757aa4445ed" /><Relationship Type="http://schemas.openxmlformats.org/officeDocument/2006/relationships/notesSlide" Target="/ppt/notesSlides/notesSlide33.xml" Id="R725c068373954f2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943537eb8214ff0" /><Relationship Type="http://schemas.openxmlformats.org/officeDocument/2006/relationships/notesSlide" Target="/ppt/notesSlides/notesSlide34.xml" Id="Re3e68da82fa241a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8b1d02b51f34522" /><Relationship Type="http://schemas.openxmlformats.org/officeDocument/2006/relationships/notesSlide" Target="/ppt/notesSlides/notesSlide35.xml" Id="R67dea6a774db4f9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60703164bf14a35" /><Relationship Type="http://schemas.openxmlformats.org/officeDocument/2006/relationships/notesSlide" Target="/ppt/notesSlides/notesSlide36.xml" Id="R1ad52ffac3e34e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2.xml" Id="R3a231edcaaaa4ab5" /><Relationship Type="http://schemas.openxmlformats.org/officeDocument/2006/relationships/notesSlide" Target="/ppt/notesSlides/notesSlide37.xml" Id="R677f547d24f749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札幌</c:v>
          </c:tx>
          <c:spPr>
            <a:ln xmlns:a="http://schemas.openxmlformats.org/drawingml/2006/main" w="28575">
              <a:solidFill>
                <a:srgbClr val="2876A8"/>
              </a:solidFill>
            </a:ln>
          </c:spPr>
          <c:marker>
            <c:symbol val="circle"/>
            <c:size val="5"/>
            <c:spPr>
              <a:solidFill xmlns:a="http://schemas.openxmlformats.org/drawingml/2006/main">
                <a:srgbClr val="2876A8"/>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13.301</c:v>
                </c:pt>
                <c:pt idx="1">
                  <c:v>13.062</c:v>
                </c:pt>
                <c:pt idx="2">
                  <c:v>12.377</c:v>
                </c:pt>
                <c:pt idx="3">
                  <c:v>11.487</c:v>
                </c:pt>
                <c:pt idx="4">
                  <c:v>12.206</c:v>
                </c:pt>
                <c:pt idx="5">
                  <c:v>13.746</c:v>
                </c:pt>
                <c:pt idx="6">
                  <c:v>14.414</c:v>
                </c:pt>
                <c:pt idx="7">
                  <c:v>14.363</c:v>
                </c:pt>
                <c:pt idx="8">
                  <c:v>13.434</c:v>
                </c:pt>
                <c:pt idx="9">
                  <c:v>12.671</c:v>
                </c:pt>
                <c:pt idx="10">
                  <c:v>12.796</c:v>
                </c:pt>
                <c:pt idx="11">
                  <c:v>13.067</c:v>
                </c:pt>
              </c:numCache>
            </c:numRef>
          </c:val>
        </c:ser>
        <c:ser>
          <c:idx val="1"/>
          <c:order val="1"/>
          <c:tx>
            <c:v>東京</c:v>
          </c:tx>
          <c:spPr>
            <a:ln xmlns:a="http://schemas.openxmlformats.org/drawingml/2006/main" w="28575">
              <a:solidFill>
                <a:srgbClr val="C4483C"/>
              </a:solidFill>
            </a:ln>
          </c:spPr>
          <c:marker>
            <c:symbol val="circle"/>
            <c:size val="5"/>
            <c:spPr>
              <a:solidFill xmlns:a="http://schemas.openxmlformats.org/drawingml/2006/main">
                <a:srgbClr val="C4483C"/>
              </a:solidFill>
            </c:spPr>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9.683</c:v>
                </c:pt>
                <c:pt idx="1">
                  <c:v>9.848</c:v>
                </c:pt>
                <c:pt idx="2">
                  <c:v>10.694</c:v>
                </c:pt>
                <c:pt idx="3">
                  <c:v>11.552</c:v>
                </c:pt>
                <c:pt idx="4">
                  <c:v>12.704</c:v>
                </c:pt>
                <c:pt idx="5">
                  <c:v>14.38</c:v>
                </c:pt>
                <c:pt idx="6">
                  <c:v>14.501</c:v>
                </c:pt>
                <c:pt idx="7">
                  <c:v>13.877</c:v>
                </c:pt>
                <c:pt idx="8">
                  <c:v>14.32</c:v>
                </c:pt>
                <c:pt idx="9">
                  <c:v>13.455</c:v>
                </c:pt>
                <c:pt idx="10">
                  <c:v>12.005</c:v>
                </c:pt>
                <c:pt idx="11">
                  <c:v>10.535</c:v>
                </c:pt>
              </c:numCache>
            </c:numRef>
          </c:val>
        </c:ser>
        <c:ser>
          <c:idx val="2"/>
          <c:order val="2"/>
          <c:tx>
            <c:v>徳島</c:v>
          </c:tx>
          <c:spPr>
            <a:ln xmlns:a="http://schemas.openxmlformats.org/drawingml/2006/main" w="28575">
              <a:solidFill>
                <a:srgbClr val="087E8B"/>
              </a:solidFill>
            </a:ln>
          </c:spPr>
          <c:marker>
            <c:symbol val="circle"/>
            <c:size val="5"/>
            <c:spPr>
              <a:solidFill xmlns:a="http://schemas.openxmlformats.org/drawingml/2006/main">
                <a:srgbClr val="087E8B"/>
              </a:solidFill>
            </c:spPr>
          </c:marker>
          <c:cat>
            <c:numRef>
              <c:f>'Chart Data'!$E$2:$E$13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Data'!$F$2:$F$13</c:f>
              <c:numCache>
                <c:formatCode>General</c:formatCode>
                <c:ptCount val="12"/>
                <c:pt idx="0">
                  <c:v>11.5</c:v>
                </c:pt>
                <c:pt idx="1">
                  <c:v>11.494</c:v>
                </c:pt>
                <c:pt idx="2">
                  <c:v>11.447</c:v>
                </c:pt>
                <c:pt idx="3">
                  <c:v>11.535</c:v>
                </c:pt>
                <c:pt idx="4">
                  <c:v>12.45</c:v>
                </c:pt>
                <c:pt idx="5">
                  <c:v>14.333</c:v>
                </c:pt>
                <c:pt idx="6">
                  <c:v>14.749</c:v>
                </c:pt>
                <c:pt idx="7">
                  <c:v>13.551</c:v>
                </c:pt>
                <c:pt idx="8">
                  <c:v>13.442</c:v>
                </c:pt>
                <c:pt idx="9">
                  <c:v>12.921</c:v>
                </c:pt>
                <c:pt idx="10">
                  <c:v>12.404</c:v>
                </c:pt>
                <c:pt idx="11">
                  <c:v>11.872</c:v>
                </c:pt>
              </c:numCache>
            </c:numRef>
          </c:val>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月</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推定EMC（乾量基準 %）</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50112"/>
        <c:crossBetween val="between"/>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D4EBD6-B1F3-4281-8786-816621BF95B6}"/>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52566317-1174-44B1-B4C1-BEE2E72BFEAB}"/>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第7回　密度と比重</a:t>
            </a:r>
          </a:p>
        </p:txBody>
      </p:sp>
      <p:sp>
        <p:nvSpPr>
          <p:cNvPr id="3" name="">
            <a:extLst xmlns:a="http://schemas.openxmlformats.org/drawingml/2006/main">
              <a:ext uri="{FF2B5EF4-FFF2-40B4-BE49-F238E27FC236}">
                <a16:creationId xmlns:a16="http://schemas.microsoft.com/office/drawing/2014/main" id="{E97947FB-5B84-4805-B5B6-3B7978F638A1}"/>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61FFC9-A672-48AC-8972-E27309511B48}"/>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0DD3DCFB-E687-4059-B28C-58F852D4D325}"/>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3E718887-0BF8-4AE0-ABC8-833E108FAADE}"/>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D16D2468-A0DD-4003-BE11-BC8408D460BC}"/>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0CAB289F-0337-4B6B-85B7-457FAAAC1D30}"/>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62126a593259485e"/>
              </a:rPr>
              <a:t>https://lc-nue.naruto-u.ac.jp/lcu-web/SC_06001B00_22</a:t>
            </a:r>
          </a:p>
        </p:txBody>
      </p:sp>
      <p:sp>
        <p:nvSpPr>
          <p:cNvPr id="9" name="">
            <a:extLst xmlns:a="http://schemas.openxmlformats.org/drawingml/2006/main">
              <a:ext uri="{FF2B5EF4-FFF2-40B4-BE49-F238E27FC236}">
                <a16:creationId xmlns:a16="http://schemas.microsoft.com/office/drawing/2014/main" id="{3D6CF191-0BFC-408F-AA9D-DE2E2F0C697D}"/>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78429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914F9EE5-7D09-472F-98A2-4679EF6527C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第7回　密度と比重</a:t>
            </a:r>
          </a:p>
        </p:txBody>
      </p:sp>
      <p:cxnSp>
        <p:nvCxnSpPr>
          <p:cNvPr id="2" name="直線矢印コネクタ 1">
            <a:extLst xmlns:a="http://schemas.openxmlformats.org/drawingml/2006/main">
              <a:ext uri="{FF2B5EF4-FFF2-40B4-BE49-F238E27FC236}">
                <a16:creationId xmlns:a16="http://schemas.microsoft.com/office/drawing/2014/main" id="{79406666-3A9D-495B-B3F6-14350060A70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0B810CBF-95F7-43EC-9EBC-FF2B8188FB4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AC564AEE-0CCF-4FCC-BC54-896D4DBF5B8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正方形/長方形 4">
            <a:extLst xmlns:a="http://schemas.openxmlformats.org/drawingml/2006/main">
              <a:ext uri="{FF2B5EF4-FFF2-40B4-BE49-F238E27FC236}">
                <a16:creationId xmlns:a16="http://schemas.microsoft.com/office/drawing/2014/main" id="{CAE19312-9293-4AA2-BD2E-424CF0F6C647}"/>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木材の物理：密度と比重</a:t>
            </a:r>
          </a:p>
        </p:txBody>
      </p:sp>
      <p:sp>
        <p:nvSpPr>
          <p:cNvPr id="6" name="正方形/長方形 5">
            <a:extLst xmlns:a="http://schemas.openxmlformats.org/drawingml/2006/main">
              <a:ext uri="{FF2B5EF4-FFF2-40B4-BE49-F238E27FC236}">
                <a16:creationId xmlns:a16="http://schemas.microsoft.com/office/drawing/2014/main" id="{6AD6CC9C-A7B0-4464-9BF4-DE96BB7BB29B}"/>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密度と比重を単位と定義で区別し、質量・体積の含水状態を指定して比較する</a:t>
            </a:r>
            <a:r>
              <a:rPr sz="2550" b="0">
                <a:solidFill>
                  <a:srgbClr val="253C4D"/>
                </a:solidFill>
                <a:latin typeface="Yu Gothic"/>
                <a:ea typeface="Yu Gothic"/>
                <a:cs typeface="Yu Gothic"/>
              </a:rPr>
              <a:t>。</a:t>
            </a:r>
          </a:p>
        </p:txBody>
      </p:sp>
      <p:sp>
        <p:nvSpPr>
          <p:cNvPr id="9" name="正方形/長方形 8">
            <a:extLst xmlns:a="http://schemas.openxmlformats.org/drawingml/2006/main">
              <a:ext uri="{FF2B5EF4-FFF2-40B4-BE49-F238E27FC236}">
                <a16:creationId xmlns:a16="http://schemas.microsoft.com/office/drawing/2014/main" id="{6F1FBB31-0461-6FED-A983-C00C00D225A1}"/>
              </a:ext>
            </a:extLst>
          </p:cNvPr>
          <p:cNvSpPr>
            <a:spLocks xmlns:a="http://schemas.openxmlformats.org/drawingml/2006/main" noGrp="1"/>
          </p:cNvSpPr>
          <p:nvPr/>
        </p:nvSpPr>
        <p:spPr>
          <a:xfrm xmlns:a="http://schemas.openxmlformats.org/drawingml/2006/main">
            <a:off x="685800" y="4686300"/>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
            </a:r>
            <a:endParaRPr sz="2550" b="0">
              <a:solidFill>
                <a:srgbClr val="253C4D"/>
              </a:solidFill>
              <a:latin typeface="Yu Gothic"/>
              <a:ea typeface="Yu Gothic"/>
              <a:cs typeface="Yu Gothic"/>
            </a:endParaRPr>
          </a:p>
        </p:txBody>
      </p:sp>
    </p:spTree>
    <p:extLst>
      <p:ext uri="{BB962C8B-B14F-4D97-AF65-F5344CB8AC3E}">
        <p14:creationId xmlns:p14="http://schemas.microsoft.com/office/powerpoint/2010/main" val="178647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303F1855-4497-41A2-BB72-31C2133A011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直線矢印コネクタ 1">
            <a:extLst xmlns:a="http://schemas.openxmlformats.org/drawingml/2006/main">
              <a:ext uri="{FF2B5EF4-FFF2-40B4-BE49-F238E27FC236}">
                <a16:creationId xmlns:a16="http://schemas.microsoft.com/office/drawing/2014/main" id="{7F8A7F05-89CF-46AC-B7B7-A50110CACD21}"/>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5C6C847-00B0-4042-9D5B-37C9F4A27F9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58B54ED9-6170-49AA-A33E-E793CC3F62F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正方形/長方形 4">
            <a:extLst xmlns:a="http://schemas.openxmlformats.org/drawingml/2006/main">
              <a:ext uri="{FF2B5EF4-FFF2-40B4-BE49-F238E27FC236}">
                <a16:creationId xmlns:a16="http://schemas.microsoft.com/office/drawing/2014/main" id="{FD6750E9-2B0F-40FD-AF9F-8D0727C66B91}"/>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木材には、細胞壁と空隙がある</a:t>
            </a:r>
          </a:p>
        </p:txBody>
      </p:sp>
      <p:sp>
        <p:nvSpPr>
          <p:cNvPr id="6" name="正方形/長方形 5">
            <a:extLst xmlns:a="http://schemas.openxmlformats.org/drawingml/2006/main">
              <a:ext uri="{FF2B5EF4-FFF2-40B4-BE49-F238E27FC236}">
                <a16:creationId xmlns:a16="http://schemas.microsoft.com/office/drawing/2014/main" id="{3A1C58DC-FF2A-44C9-83D3-F2D34424E284}"/>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水の量で質量が変わり、体積も変わりうる</a:t>
            </a:r>
          </a:p>
        </p:txBody>
      </p:sp>
      <p:sp>
        <p:nvSpPr>
          <p:cNvPr id="7" name="正方形/長方形 6">
            <a:extLst xmlns:a="http://schemas.openxmlformats.org/drawingml/2006/main">
              <a:ext uri="{FF2B5EF4-FFF2-40B4-BE49-F238E27FC236}">
                <a16:creationId xmlns:a16="http://schemas.microsoft.com/office/drawing/2014/main" id="{E0B486E5-6BCE-40DB-A6B6-9DA960F4FD25}"/>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密度を比較するには、状態を決める</a:t>
            </a:r>
          </a:p>
        </p:txBody>
      </p:sp>
    </p:spTree>
    <p:extLst>
      <p:ext uri="{BB962C8B-B14F-4D97-AF65-F5344CB8AC3E}">
        <p14:creationId xmlns:p14="http://schemas.microsoft.com/office/powerpoint/2010/main" val="219268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C818CA4C-9778-45DD-8E9A-EE05E7642E2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直線矢印コネクタ 1">
            <a:extLst xmlns:a="http://schemas.openxmlformats.org/drawingml/2006/main">
              <a:ext uri="{FF2B5EF4-FFF2-40B4-BE49-F238E27FC236}">
                <a16:creationId xmlns:a16="http://schemas.microsoft.com/office/drawing/2014/main" id="{B8F04D18-B82E-4C45-8064-D3353EBEAEC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A3073533-C388-4A3B-892F-20BFFF5818C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B9664D1D-964D-4C49-B46B-664A08C8B1C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正方形/長方形 4">
            <a:extLst xmlns:a="http://schemas.openxmlformats.org/drawingml/2006/main">
              <a:ext uri="{FF2B5EF4-FFF2-40B4-BE49-F238E27FC236}">
                <a16:creationId xmlns:a16="http://schemas.microsoft.com/office/drawing/2014/main" id="{6FC8A85C-DC33-4D4B-8759-F4554EB37056}"/>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密度ρ＝質量m/体積V。木材の外形体積には細胞内腔などの空隙も含む</a:t>
            </a:r>
          </a:p>
        </p:txBody>
      </p:sp>
      <p:sp>
        <p:nvSpPr>
          <p:cNvPr id="6" name="正方形/長方形 5">
            <a:extLst xmlns:a="http://schemas.openxmlformats.org/drawingml/2006/main">
              <a:ext uri="{FF2B5EF4-FFF2-40B4-BE49-F238E27FC236}">
                <a16:creationId xmlns:a16="http://schemas.microsoft.com/office/drawing/2014/main" id="{410011DF-D060-48C8-A68C-72E423491E35}"/>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比重G＝ρ/ρ水。同じ単位の密度同士を割るので無次元</a:t>
            </a:r>
          </a:p>
        </p:txBody>
      </p:sp>
      <p:sp>
        <p:nvSpPr>
          <p:cNvPr id="7" name="正方形/長方形 6">
            <a:extLst xmlns:a="http://schemas.openxmlformats.org/drawingml/2006/main">
              <a:ext uri="{FF2B5EF4-FFF2-40B4-BE49-F238E27FC236}">
                <a16:creationId xmlns:a16="http://schemas.microsoft.com/office/drawing/2014/main" id="{53E7BE0D-E7A2-43A9-BC9C-C52B65607908}"/>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細胞壁物質の密度は、空隙を含む木材全体の密度より高い</a:t>
            </a:r>
          </a:p>
        </p:txBody>
      </p:sp>
      <p:sp>
        <p:nvSpPr>
          <p:cNvPr id="8" name="正方形/長方形 7">
            <a:extLst xmlns:a="http://schemas.openxmlformats.org/drawingml/2006/main">
              <a:ext uri="{FF2B5EF4-FFF2-40B4-BE49-F238E27FC236}">
                <a16:creationId xmlns:a16="http://schemas.microsoft.com/office/drawing/2014/main" id="{7BD991D3-A50B-471B-B599-2BF5EEBB8E07}"/>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609529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B727F1-908E-4491-A322-3B79783F1DD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水の所在から、第7～9回を見通す</a:t>
            </a:r>
          </a:p>
        </p:txBody>
      </p:sp>
      <p:sp>
        <p:nvSpPr>
          <p:cNvPr id="2" name="">
            <a:extLst xmlns:a="http://schemas.openxmlformats.org/drawingml/2006/main">
              <a:ext uri="{FF2B5EF4-FFF2-40B4-BE49-F238E27FC236}">
                <a16:creationId xmlns:a16="http://schemas.microsoft.com/office/drawing/2014/main" id="{E117F3F6-5DE1-4767-8F86-AC68F95259E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791F56-F888-48F7-A4BF-F4BFB41FFF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C87A229-558C-4D25-8877-4C59F9A7132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graphicFrame>
        <p:nvGraphicFramePr>
          <p:cNvPr id="5" name="">
            <a:extLst xmlns:a="http://schemas.openxmlformats.org/drawingml/2006/main">
              <a:ext uri="{FF2B5EF4-FFF2-40B4-BE49-F238E27FC236}">
                <a16:creationId xmlns:a16="http://schemas.microsoft.com/office/drawing/2014/main" id="{DF7E1BF4-0152-4F9F-A1C2-046D0623B2EB}"/>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143250"/>
                <a:gridCol w="3762375"/>
                <a:gridCol w="3571875"/>
              </a:tblGrid>
              <a:tr h="809625">
                <a:tc>
                  <a:txBody>
                    <a:bodyPr lIns="95250" tIns="95250" rIns="95250" bIns="95250"/>
                    <a:lstStyle/>
                    <a:p>
                      <a:r>
                        <a:rPr sz="1875" b="1">
                          <a:solidFill>
                            <a:srgbClr val="FFFFFF"/>
                          </a:solidFill>
                          <a:latin typeface="Yu Gothic"/>
                          <a:ea typeface="Yu Gothic"/>
                          <a:cs typeface="Yu Gothic"/>
                        </a:rPr>
                        <a:t>乾量基準の含水率MC</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水の主な状態（単純化）</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寸法・力学的性質</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FSPより高い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壁内の水＋内腔等の自由水</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変化は一般に小さい</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FSP付近（約30%が目安）</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自由水がほぼ失われ、壁は湿潤</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樹種・材・測定法で異なる</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FSPより低い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壁内の水（結合水）が増減</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収縮・膨潤、多くの強度の変化</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0EA8608D-20E9-47C2-8ED6-9575A6FEDC18}"/>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材の各部が同時に切り替わる図ではない。水の総量と所在を分ける。</a:t>
            </a:r>
          </a:p>
        </p:txBody>
      </p:sp>
    </p:spTree>
    <p:extLst>
      <p:ext uri="{BB962C8B-B14F-4D97-AF65-F5344CB8AC3E}">
        <p14:creationId xmlns:p14="http://schemas.microsoft.com/office/powerpoint/2010/main" val="603140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805644-38A4-4530-AE28-0F4A68C61F3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FSPとEMCは、何を表すか</a:t>
            </a:r>
          </a:p>
        </p:txBody>
      </p:sp>
      <p:sp>
        <p:nvSpPr>
          <p:cNvPr id="2" name="">
            <a:extLst xmlns:a="http://schemas.openxmlformats.org/drawingml/2006/main">
              <a:ext uri="{FF2B5EF4-FFF2-40B4-BE49-F238E27FC236}">
                <a16:creationId xmlns:a16="http://schemas.microsoft.com/office/drawing/2014/main" id="{822189CE-3B61-4DFC-A4BF-3BC8943FFE4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1F02F5-B677-461C-8835-3E44E915572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CECC349-088E-40C6-BC35-FBDAF2B7B6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A1E6C11D-68D4-4F75-B88E-400E5CCF41C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FSP：繊維飽和点／Fiber Saturation Point</a:t>
            </a:r>
          </a:p>
        </p:txBody>
      </p:sp>
      <p:sp>
        <p:nvSpPr>
          <p:cNvPr id="6" name="">
            <a:extLst xmlns:a="http://schemas.openxmlformats.org/drawingml/2006/main">
              <a:ext uri="{FF2B5EF4-FFF2-40B4-BE49-F238E27FC236}">
                <a16:creationId xmlns:a16="http://schemas.microsoft.com/office/drawing/2014/main" id="{D4528167-BE21-499B-B627-B514AB5D818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水の所在と、寸法・強度の変化を考える目安</a:t>
            </a:r>
          </a:p>
        </p:txBody>
      </p:sp>
      <p:sp>
        <p:nvSpPr>
          <p:cNvPr id="7" name="">
            <a:extLst xmlns:a="http://schemas.openxmlformats.org/drawingml/2006/main">
              <a:ext uri="{FF2B5EF4-FFF2-40B4-BE49-F238E27FC236}">
                <a16:creationId xmlns:a16="http://schemas.microsoft.com/office/drawing/2014/main" id="{646166E0-455A-4998-9BD8-C0396E9E66F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EMC：平衡含水率／Equilibrium Moisture Content</a:t>
            </a:r>
          </a:p>
        </p:txBody>
      </p:sp>
      <p:sp>
        <p:nvSpPr>
          <p:cNvPr id="8" name="">
            <a:extLst xmlns:a="http://schemas.openxmlformats.org/drawingml/2006/main">
              <a:ext uri="{FF2B5EF4-FFF2-40B4-BE49-F238E27FC236}">
                <a16:creationId xmlns:a16="http://schemas.microsoft.com/office/drawing/2014/main" id="{669967EE-A64E-4FC2-99F5-ABD8BCCF849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温湿度に対応する平衡値。吸湿・放湿の履歴でも異なる</a:t>
            </a:r>
          </a:p>
        </p:txBody>
      </p:sp>
      <p:sp>
        <p:nvSpPr>
          <p:cNvPr id="9" name="">
            <a:extLst xmlns:a="http://schemas.openxmlformats.org/drawingml/2006/main">
              <a:ext uri="{FF2B5EF4-FFF2-40B4-BE49-F238E27FC236}">
                <a16:creationId xmlns:a16="http://schemas.microsoft.com/office/drawing/2014/main" id="{302D63C8-B5DD-42CA-9A2E-479EB6474956}"/>
              </a:ext>
            </a:extLst>
          </p:cNvPr>
          <p:cNvSpPr>
            <a:spLocks xmlns:a="http://schemas.openxmlformats.org/drawingml/2006/main" noGrp="1"/>
          </p:cNvSpPr>
          <p:nvPr/>
        </p:nvSpPr>
        <p:spPr>
          <a:xfrm xmlns:a="http://schemas.openxmlformats.org/drawingml/2006/main">
            <a:off x="838200" y="52482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通常の使用域はFSPより低く、環境によってMCが変わる</a:t>
            </a:r>
          </a:p>
        </p:txBody>
      </p:sp>
    </p:spTree>
    <p:extLst>
      <p:ext uri="{BB962C8B-B14F-4D97-AF65-F5344CB8AC3E}">
        <p14:creationId xmlns:p14="http://schemas.microsoft.com/office/powerpoint/2010/main" val="535003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296BF9-F214-4D6D-80A7-E9A0FBB0B4A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乾燥すると、何が変わるか</a:t>
            </a:r>
          </a:p>
        </p:txBody>
      </p:sp>
      <p:sp>
        <p:nvSpPr>
          <p:cNvPr id="2" name="">
            <a:extLst xmlns:a="http://schemas.openxmlformats.org/drawingml/2006/main">
              <a:ext uri="{FF2B5EF4-FFF2-40B4-BE49-F238E27FC236}">
                <a16:creationId xmlns:a16="http://schemas.microsoft.com/office/drawing/2014/main" id="{7CF7EBD1-CDB5-402F-BA5D-D21B0E66B34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4E59E3-241C-4914-9FB2-475C3A53E32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871EB7F-FFFD-4FFB-93A4-F21DE8B7880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graphicFrame>
        <p:nvGraphicFramePr>
          <p:cNvPr id="5" name="">
            <a:extLst xmlns:a="http://schemas.openxmlformats.org/drawingml/2006/main">
              <a:ext uri="{FF2B5EF4-FFF2-40B4-BE49-F238E27FC236}">
                <a16:creationId xmlns:a16="http://schemas.microsoft.com/office/drawing/2014/main" id="{D028840A-C97F-479F-A8CD-BFD2491A149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571750"/>
                <a:gridCol w="3952875"/>
                <a:gridCol w="3952875"/>
              </a:tblGrid>
              <a:tr h="809625">
                <a:tc>
                  <a:txBody>
                    <a:bodyPr lIns="95250" tIns="95250" rIns="95250" bIns="95250"/>
                    <a:lstStyle/>
                    <a:p>
                      <a:r>
                        <a:rPr sz="1875" b="1">
                          <a:solidFill>
                            <a:srgbClr val="FFFFFF"/>
                          </a:solidFill>
                          <a:latin typeface="Yu Gothic"/>
                          <a:ea typeface="Yu Gothic"/>
                          <a:cs typeface="Yu Gothic"/>
                        </a:rPr>
                        <a:t>同じ木材を乾かす</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FSPより高い範囲</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FSPより低い範囲</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質量</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自由水が減り、質量は減る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壁内の水が減り、質量は減る</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寸法</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自由水の減少だけなら変化は小さい</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収縮が顕著になる</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多くの強度・剛性</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含水率による変化は一般に小さい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乾燥で増す傾向（性質による）</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9F5E90CB-0B40-414F-B6FB-378D9A529A82}"/>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「すべての物性が不変」ではない。密度は質量・体積の両方で考える。</a:t>
            </a:r>
          </a:p>
        </p:txBody>
      </p:sp>
    </p:spTree>
    <p:extLst>
      <p:ext uri="{BB962C8B-B14F-4D97-AF65-F5344CB8AC3E}">
        <p14:creationId xmlns:p14="http://schemas.microsoft.com/office/powerpoint/2010/main" val="16688329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15BC214-A780-4CFC-BCD9-382A2021E90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密度と単位換算</a:t>
            </a:r>
          </a:p>
        </p:txBody>
      </p:sp>
      <p:cxnSp>
        <p:nvCxnSpPr>
          <p:cNvPr id="2" name="直線矢印コネクタ 1">
            <a:extLst xmlns:a="http://schemas.openxmlformats.org/drawingml/2006/main">
              <a:ext uri="{FF2B5EF4-FFF2-40B4-BE49-F238E27FC236}">
                <a16:creationId xmlns:a16="http://schemas.microsoft.com/office/drawing/2014/main" id="{4EBF4DDA-9B5B-4A1D-BB56-D928636A0D0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93E55BA-66EE-4BBC-8BE1-5D0A71056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30D0CFFB-AC1A-47CE-BB7A-FA2B78BFE12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正方形/長方形 4">
            <a:extLst xmlns:a="http://schemas.openxmlformats.org/drawingml/2006/main">
              <a:ext uri="{FF2B5EF4-FFF2-40B4-BE49-F238E27FC236}">
                <a16:creationId xmlns:a16="http://schemas.microsoft.com/office/drawing/2014/main" id="{346A0B49-3FD9-426D-B677-E9F6613D50D3}"/>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密度ρ＝質量m/体積V。木材の外形体積には細胞内腔などの空隙も含む</a:t>
            </a:r>
          </a:p>
        </p:txBody>
      </p:sp>
      <p:sp>
        <p:nvSpPr>
          <p:cNvPr id="6" name="正方形/長方形 5">
            <a:extLst xmlns:a="http://schemas.openxmlformats.org/drawingml/2006/main">
              <a:ext uri="{FF2B5EF4-FFF2-40B4-BE49-F238E27FC236}">
                <a16:creationId xmlns:a16="http://schemas.microsoft.com/office/drawing/2014/main" id="{D599F146-B611-42A9-871E-F80461575C5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g＝10⁻³ kg、1 cm³＝10⁻⁶ m³</a:t>
            </a:r>
          </a:p>
        </p:txBody>
      </p:sp>
      <p:sp>
        <p:nvSpPr>
          <p:cNvPr id="7" name="正方形/長方形 6">
            <a:extLst xmlns:a="http://schemas.openxmlformats.org/drawingml/2006/main">
              <a:ext uri="{FF2B5EF4-FFF2-40B4-BE49-F238E27FC236}">
                <a16:creationId xmlns:a16="http://schemas.microsoft.com/office/drawing/2014/main" id="{AC7C29D4-2209-4598-9EBC-9B8B1B1CB5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したがって1 g/cm³＝1,000 kg/m³</a:t>
            </a:r>
          </a:p>
        </p:txBody>
      </p:sp>
      <p:sp>
        <p:nvSpPr>
          <p:cNvPr id="8" name="正方形/長方形 7">
            <a:extLst xmlns:a="http://schemas.openxmlformats.org/drawingml/2006/main">
              <a:ext uri="{FF2B5EF4-FFF2-40B4-BE49-F238E27FC236}">
                <a16:creationId xmlns:a16="http://schemas.microsoft.com/office/drawing/2014/main" id="{96B963D1-3139-4C4A-8BDE-E631895D06EF}"/>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同じ体積を比べると、密度の高い方が重い</a:t>
            </a:r>
          </a:p>
        </p:txBody>
      </p:sp>
      <p:sp>
        <p:nvSpPr>
          <p:cNvPr id="9" name="正方形/長方形 8">
            <a:extLst xmlns:a="http://schemas.openxmlformats.org/drawingml/2006/main">
              <a:ext uri="{FF2B5EF4-FFF2-40B4-BE49-F238E27FC236}">
                <a16:creationId xmlns:a16="http://schemas.microsoft.com/office/drawing/2014/main" id="{A27595FD-D044-4780-B777-5FC1F625806E}"/>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樹種だけでなく、水の量と体積の基準状態も指定する</a:t>
            </a:r>
          </a:p>
        </p:txBody>
      </p:sp>
    </p:spTree>
    <p:extLst>
      <p:ext uri="{BB962C8B-B14F-4D97-AF65-F5344CB8AC3E}">
        <p14:creationId xmlns:p14="http://schemas.microsoft.com/office/powerpoint/2010/main" val="1582753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2B7E79-DF56-4E54-B305-FF12C921FBD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寸法から密度と比重を求める</a:t>
            </a:r>
          </a:p>
        </p:txBody>
      </p:sp>
      <p:sp>
        <p:nvSpPr>
          <p:cNvPr id="2" name="">
            <a:extLst xmlns:a="http://schemas.openxmlformats.org/drawingml/2006/main">
              <a:ext uri="{FF2B5EF4-FFF2-40B4-BE49-F238E27FC236}">
                <a16:creationId xmlns:a16="http://schemas.microsoft.com/office/drawing/2014/main" id="{B35402DF-FA8A-42DB-AB98-A336ECCFFB1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2B1043-F746-47FE-8837-2D3D42DB5D3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C8964EE-445C-4C24-9283-0016356D14A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4859D6D7-23FC-4449-8DCD-BD7642A4FD2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同じ状態で測定：2 cm × 3 cm × 10 cm、質量24 g</a:t>
            </a:r>
          </a:p>
        </p:txBody>
      </p:sp>
      <p:sp>
        <p:nvSpPr>
          <p:cNvPr id="6" name="">
            <a:extLst xmlns:a="http://schemas.openxmlformats.org/drawingml/2006/main">
              <a:ext uri="{FF2B5EF4-FFF2-40B4-BE49-F238E27FC236}">
                <a16:creationId xmlns:a16="http://schemas.microsoft.com/office/drawing/2014/main" id="{2076517C-E802-483C-BB4A-6A57F1D7191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体積と密度を求める</a:t>
            </a:r>
          </a:p>
        </p:txBody>
      </p:sp>
      <p:sp>
        <p:nvSpPr>
          <p:cNvPr id="7" name="">
            <a:extLst xmlns:a="http://schemas.openxmlformats.org/drawingml/2006/main">
              <a:ext uri="{FF2B5EF4-FFF2-40B4-BE49-F238E27FC236}">
                <a16:creationId xmlns:a16="http://schemas.microsoft.com/office/drawing/2014/main" id="{BF80CAB1-2DD5-460A-AAAA-4BB69DFA171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kg/m³へ換算し、基準水1.00 g/cm³で比重を求める</a:t>
            </a:r>
          </a:p>
        </p:txBody>
      </p:sp>
      <p:sp>
        <p:nvSpPr>
          <p:cNvPr id="8" name="">
            <a:extLst xmlns:a="http://schemas.openxmlformats.org/drawingml/2006/main">
              <a:ext uri="{FF2B5EF4-FFF2-40B4-BE49-F238E27FC236}">
                <a16:creationId xmlns:a16="http://schemas.microsoft.com/office/drawing/2014/main" id="{88B56CCD-6B74-4964-B806-9984B5C59AC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mmで求めた体積と照合する</a:t>
            </a:r>
          </a:p>
        </p:txBody>
      </p:sp>
    </p:spTree>
    <p:extLst>
      <p:ext uri="{BB962C8B-B14F-4D97-AF65-F5344CB8AC3E}">
        <p14:creationId xmlns:p14="http://schemas.microsoft.com/office/powerpoint/2010/main" val="14680541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正方形/長方形 65">
            <a:extLst xmlns:a="http://schemas.openxmlformats.org/drawingml/2006/main">
              <a:ext uri="{FF2B5EF4-FFF2-40B4-BE49-F238E27FC236}">
                <a16:creationId xmlns:a16="http://schemas.microsoft.com/office/drawing/2014/main" id="{9DF257C5-3357-4172-8BC4-591513EEF03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壁物質と空隙</a:t>
            </a:r>
          </a:p>
        </p:txBody>
      </p:sp>
      <p:cxnSp>
        <p:nvCxnSpPr>
          <p:cNvPr id="2" name="直線矢印コネクタ 1">
            <a:extLst xmlns:a="http://schemas.openxmlformats.org/drawingml/2006/main">
              <a:ext uri="{FF2B5EF4-FFF2-40B4-BE49-F238E27FC236}">
                <a16:creationId xmlns:a16="http://schemas.microsoft.com/office/drawing/2014/main" id="{F0A3B14F-F0C2-4E8A-AAD8-2D6B3036634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0D30D9C-69E1-4B03-854E-BA35F8B4C94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02B3AFCA-A11A-41A8-BB6E-28AF72EC18D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sp>
        <p:nvSpPr>
          <p:cNvPr id="5" name="正方形/長方形 4">
            <a:extLst xmlns:a="http://schemas.openxmlformats.org/drawingml/2006/main">
              <a:ext uri="{FF2B5EF4-FFF2-40B4-BE49-F238E27FC236}">
                <a16:creationId xmlns:a16="http://schemas.microsoft.com/office/drawing/2014/main" id="{575B2B22-33F8-43AD-9EE0-A88BEFA904E7}"/>
              </a:ext>
            </a:extLst>
          </p:cNvPr>
          <p:cNvSpPr>
            <a:spLocks xmlns:a="http://schemas.openxmlformats.org/drawingml/2006/main" noGrp="1"/>
          </p:cNvSpPr>
          <p:nvPr/>
        </p:nvSpPr>
        <p:spPr>
          <a:xfrm xmlns:a="http://schemas.openxmlformats.org/drawingml/2006/main">
            <a:off x="9048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1781AC1-43C6-4240-A00E-E95C310B99CF}"/>
              </a:ext>
            </a:extLst>
          </p:cNvPr>
          <p:cNvSpPr>
            <a:spLocks xmlns:a="http://schemas.openxmlformats.org/drawingml/2006/main" noGrp="1"/>
          </p:cNvSpPr>
          <p:nvPr/>
        </p:nvSpPr>
        <p:spPr>
          <a:xfrm xmlns:a="http://schemas.openxmlformats.org/drawingml/2006/main">
            <a:off x="9810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A875EA1F-E02A-46EC-A98D-2F6C3762A52C}"/>
              </a:ext>
            </a:extLst>
          </p:cNvPr>
          <p:cNvSpPr>
            <a:spLocks xmlns:a="http://schemas.openxmlformats.org/drawingml/2006/main" noGrp="1"/>
          </p:cNvSpPr>
          <p:nvPr/>
        </p:nvSpPr>
        <p:spPr>
          <a:xfrm xmlns:a="http://schemas.openxmlformats.org/drawingml/2006/main">
            <a:off x="16478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3CB9A4D2-1971-4AF7-B018-744C27D77A6E}"/>
              </a:ext>
            </a:extLst>
          </p:cNvPr>
          <p:cNvSpPr>
            <a:spLocks xmlns:a="http://schemas.openxmlformats.org/drawingml/2006/main" noGrp="1"/>
          </p:cNvSpPr>
          <p:nvPr/>
        </p:nvSpPr>
        <p:spPr>
          <a:xfrm xmlns:a="http://schemas.openxmlformats.org/drawingml/2006/main">
            <a:off x="17240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4C817249-8374-434B-AC27-E4F0DA3766BB}"/>
              </a:ext>
            </a:extLst>
          </p:cNvPr>
          <p:cNvSpPr>
            <a:spLocks xmlns:a="http://schemas.openxmlformats.org/drawingml/2006/main" noGrp="1"/>
          </p:cNvSpPr>
          <p:nvPr/>
        </p:nvSpPr>
        <p:spPr>
          <a:xfrm xmlns:a="http://schemas.openxmlformats.org/drawingml/2006/main">
            <a:off x="23907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F93FFD57-CFFC-4553-9C97-76E353B63E4D}"/>
              </a:ext>
            </a:extLst>
          </p:cNvPr>
          <p:cNvSpPr>
            <a:spLocks xmlns:a="http://schemas.openxmlformats.org/drawingml/2006/main" noGrp="1"/>
          </p:cNvSpPr>
          <p:nvPr/>
        </p:nvSpPr>
        <p:spPr>
          <a:xfrm xmlns:a="http://schemas.openxmlformats.org/drawingml/2006/main">
            <a:off x="24669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4B3C01F3-2AA1-416F-9731-125C0A6E5A9A}"/>
              </a:ext>
            </a:extLst>
          </p:cNvPr>
          <p:cNvSpPr>
            <a:spLocks xmlns:a="http://schemas.openxmlformats.org/drawingml/2006/main" noGrp="1"/>
          </p:cNvSpPr>
          <p:nvPr/>
        </p:nvSpPr>
        <p:spPr>
          <a:xfrm xmlns:a="http://schemas.openxmlformats.org/drawingml/2006/main">
            <a:off x="31337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D2B0A7AA-99BF-450E-889E-55E434A88CFB}"/>
              </a:ext>
            </a:extLst>
          </p:cNvPr>
          <p:cNvSpPr>
            <a:spLocks xmlns:a="http://schemas.openxmlformats.org/drawingml/2006/main" noGrp="1"/>
          </p:cNvSpPr>
          <p:nvPr/>
        </p:nvSpPr>
        <p:spPr>
          <a:xfrm xmlns:a="http://schemas.openxmlformats.org/drawingml/2006/main">
            <a:off x="32099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3F2CE5CE-2B99-4E03-8790-F5537C67539B}"/>
              </a:ext>
            </a:extLst>
          </p:cNvPr>
          <p:cNvSpPr>
            <a:spLocks xmlns:a="http://schemas.openxmlformats.org/drawingml/2006/main" noGrp="1"/>
          </p:cNvSpPr>
          <p:nvPr/>
        </p:nvSpPr>
        <p:spPr>
          <a:xfrm xmlns:a="http://schemas.openxmlformats.org/drawingml/2006/main">
            <a:off x="38766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A8F73CE-8D4F-49C6-B041-FAD674D6EF52}"/>
              </a:ext>
            </a:extLst>
          </p:cNvPr>
          <p:cNvSpPr>
            <a:spLocks xmlns:a="http://schemas.openxmlformats.org/drawingml/2006/main" noGrp="1"/>
          </p:cNvSpPr>
          <p:nvPr/>
        </p:nvSpPr>
        <p:spPr>
          <a:xfrm xmlns:a="http://schemas.openxmlformats.org/drawingml/2006/main">
            <a:off x="39528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38F3A4E5-5E35-4C7A-A24F-3DCF54556361}"/>
              </a:ext>
            </a:extLst>
          </p:cNvPr>
          <p:cNvSpPr>
            <a:spLocks xmlns:a="http://schemas.openxmlformats.org/drawingml/2006/main" noGrp="1"/>
          </p:cNvSpPr>
          <p:nvPr/>
        </p:nvSpPr>
        <p:spPr>
          <a:xfrm xmlns:a="http://schemas.openxmlformats.org/drawingml/2006/main">
            <a:off x="46196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4B7935E6-F9F6-40DD-BC58-1C83948DE7D5}"/>
              </a:ext>
            </a:extLst>
          </p:cNvPr>
          <p:cNvSpPr>
            <a:spLocks xmlns:a="http://schemas.openxmlformats.org/drawingml/2006/main" noGrp="1"/>
          </p:cNvSpPr>
          <p:nvPr/>
        </p:nvSpPr>
        <p:spPr>
          <a:xfrm xmlns:a="http://schemas.openxmlformats.org/drawingml/2006/main">
            <a:off x="46958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B44A7620-4495-48DD-BC19-3A4599388A07}"/>
              </a:ext>
            </a:extLst>
          </p:cNvPr>
          <p:cNvSpPr>
            <a:spLocks xmlns:a="http://schemas.openxmlformats.org/drawingml/2006/main" noGrp="1"/>
          </p:cNvSpPr>
          <p:nvPr/>
        </p:nvSpPr>
        <p:spPr>
          <a:xfrm xmlns:a="http://schemas.openxmlformats.org/drawingml/2006/main">
            <a:off x="53625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20C222A-1741-44F0-8A8E-B141D6EE297B}"/>
              </a:ext>
            </a:extLst>
          </p:cNvPr>
          <p:cNvSpPr>
            <a:spLocks xmlns:a="http://schemas.openxmlformats.org/drawingml/2006/main" noGrp="1"/>
          </p:cNvSpPr>
          <p:nvPr/>
        </p:nvSpPr>
        <p:spPr>
          <a:xfrm xmlns:a="http://schemas.openxmlformats.org/drawingml/2006/main">
            <a:off x="54387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364F4EC6-F3D5-40F1-A731-F47C11BA8952}"/>
              </a:ext>
            </a:extLst>
          </p:cNvPr>
          <p:cNvSpPr>
            <a:spLocks xmlns:a="http://schemas.openxmlformats.org/drawingml/2006/main" noGrp="1"/>
          </p:cNvSpPr>
          <p:nvPr/>
        </p:nvSpPr>
        <p:spPr>
          <a:xfrm xmlns:a="http://schemas.openxmlformats.org/drawingml/2006/main">
            <a:off x="9048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AE1D39F6-1E1C-49AC-B84E-191D583BD78C}"/>
              </a:ext>
            </a:extLst>
          </p:cNvPr>
          <p:cNvSpPr>
            <a:spLocks xmlns:a="http://schemas.openxmlformats.org/drawingml/2006/main" noGrp="1"/>
          </p:cNvSpPr>
          <p:nvPr/>
        </p:nvSpPr>
        <p:spPr>
          <a:xfrm xmlns:a="http://schemas.openxmlformats.org/drawingml/2006/main">
            <a:off x="9810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DBB4D00E-5BF6-47E3-82FA-9BE46D931799}"/>
              </a:ext>
            </a:extLst>
          </p:cNvPr>
          <p:cNvSpPr>
            <a:spLocks xmlns:a="http://schemas.openxmlformats.org/drawingml/2006/main" noGrp="1"/>
          </p:cNvSpPr>
          <p:nvPr/>
        </p:nvSpPr>
        <p:spPr>
          <a:xfrm xmlns:a="http://schemas.openxmlformats.org/drawingml/2006/main">
            <a:off x="16478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E76FE94E-728A-4078-8B71-F68BFB019224}"/>
              </a:ext>
            </a:extLst>
          </p:cNvPr>
          <p:cNvSpPr>
            <a:spLocks xmlns:a="http://schemas.openxmlformats.org/drawingml/2006/main" noGrp="1"/>
          </p:cNvSpPr>
          <p:nvPr/>
        </p:nvSpPr>
        <p:spPr>
          <a:xfrm xmlns:a="http://schemas.openxmlformats.org/drawingml/2006/main">
            <a:off x="17240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0E86F6D7-078C-405D-A22C-BD50A8DA2E8F}"/>
              </a:ext>
            </a:extLst>
          </p:cNvPr>
          <p:cNvSpPr>
            <a:spLocks xmlns:a="http://schemas.openxmlformats.org/drawingml/2006/main" noGrp="1"/>
          </p:cNvSpPr>
          <p:nvPr/>
        </p:nvSpPr>
        <p:spPr>
          <a:xfrm xmlns:a="http://schemas.openxmlformats.org/drawingml/2006/main">
            <a:off x="23907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D683FCBB-FEF3-43CA-ACF0-F2AA9536177B}"/>
              </a:ext>
            </a:extLst>
          </p:cNvPr>
          <p:cNvSpPr>
            <a:spLocks xmlns:a="http://schemas.openxmlformats.org/drawingml/2006/main" noGrp="1"/>
          </p:cNvSpPr>
          <p:nvPr/>
        </p:nvSpPr>
        <p:spPr>
          <a:xfrm xmlns:a="http://schemas.openxmlformats.org/drawingml/2006/main">
            <a:off x="24669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092BCC64-2B91-4246-85C6-A0E98EC3176C}"/>
              </a:ext>
            </a:extLst>
          </p:cNvPr>
          <p:cNvSpPr>
            <a:spLocks xmlns:a="http://schemas.openxmlformats.org/drawingml/2006/main" noGrp="1"/>
          </p:cNvSpPr>
          <p:nvPr/>
        </p:nvSpPr>
        <p:spPr>
          <a:xfrm xmlns:a="http://schemas.openxmlformats.org/drawingml/2006/main">
            <a:off x="31337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4BBB1F60-F614-4430-B578-5A3B1823820F}"/>
              </a:ext>
            </a:extLst>
          </p:cNvPr>
          <p:cNvSpPr>
            <a:spLocks xmlns:a="http://schemas.openxmlformats.org/drawingml/2006/main" noGrp="1"/>
          </p:cNvSpPr>
          <p:nvPr/>
        </p:nvSpPr>
        <p:spPr>
          <a:xfrm xmlns:a="http://schemas.openxmlformats.org/drawingml/2006/main">
            <a:off x="32099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B78EDC2E-201E-4043-85B6-89EC97C223C9}"/>
              </a:ext>
            </a:extLst>
          </p:cNvPr>
          <p:cNvSpPr>
            <a:spLocks xmlns:a="http://schemas.openxmlformats.org/drawingml/2006/main" noGrp="1"/>
          </p:cNvSpPr>
          <p:nvPr/>
        </p:nvSpPr>
        <p:spPr>
          <a:xfrm xmlns:a="http://schemas.openxmlformats.org/drawingml/2006/main">
            <a:off x="38766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8B73E12D-5D13-4452-9878-95D002337F05}"/>
              </a:ext>
            </a:extLst>
          </p:cNvPr>
          <p:cNvSpPr>
            <a:spLocks xmlns:a="http://schemas.openxmlformats.org/drawingml/2006/main" noGrp="1"/>
          </p:cNvSpPr>
          <p:nvPr/>
        </p:nvSpPr>
        <p:spPr>
          <a:xfrm xmlns:a="http://schemas.openxmlformats.org/drawingml/2006/main">
            <a:off x="39528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532AD5B2-DCE7-469F-A209-A74EBBF983FE}"/>
              </a:ext>
            </a:extLst>
          </p:cNvPr>
          <p:cNvSpPr>
            <a:spLocks xmlns:a="http://schemas.openxmlformats.org/drawingml/2006/main" noGrp="1"/>
          </p:cNvSpPr>
          <p:nvPr/>
        </p:nvSpPr>
        <p:spPr>
          <a:xfrm xmlns:a="http://schemas.openxmlformats.org/drawingml/2006/main">
            <a:off x="46196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B82FEB92-E6A7-445E-993B-0A65E0F768A1}"/>
              </a:ext>
            </a:extLst>
          </p:cNvPr>
          <p:cNvSpPr>
            <a:spLocks xmlns:a="http://schemas.openxmlformats.org/drawingml/2006/main" noGrp="1"/>
          </p:cNvSpPr>
          <p:nvPr/>
        </p:nvSpPr>
        <p:spPr>
          <a:xfrm xmlns:a="http://schemas.openxmlformats.org/drawingml/2006/main">
            <a:off x="46958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09AD8EE4-CD93-4ECC-9D59-CDFF0C246199}"/>
              </a:ext>
            </a:extLst>
          </p:cNvPr>
          <p:cNvSpPr>
            <a:spLocks xmlns:a="http://schemas.openxmlformats.org/drawingml/2006/main" noGrp="1"/>
          </p:cNvSpPr>
          <p:nvPr/>
        </p:nvSpPr>
        <p:spPr>
          <a:xfrm xmlns:a="http://schemas.openxmlformats.org/drawingml/2006/main">
            <a:off x="53625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8B90739D-496E-4271-B59C-8E89FADE70E6}"/>
              </a:ext>
            </a:extLst>
          </p:cNvPr>
          <p:cNvSpPr>
            <a:spLocks xmlns:a="http://schemas.openxmlformats.org/drawingml/2006/main" noGrp="1"/>
          </p:cNvSpPr>
          <p:nvPr/>
        </p:nvSpPr>
        <p:spPr>
          <a:xfrm xmlns:a="http://schemas.openxmlformats.org/drawingml/2006/main">
            <a:off x="54387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88D2DF77-AFB1-45E5-AD39-CA11926002BF}"/>
              </a:ext>
            </a:extLst>
          </p:cNvPr>
          <p:cNvSpPr>
            <a:spLocks xmlns:a="http://schemas.openxmlformats.org/drawingml/2006/main" noGrp="1"/>
          </p:cNvSpPr>
          <p:nvPr/>
        </p:nvSpPr>
        <p:spPr>
          <a:xfrm xmlns:a="http://schemas.openxmlformats.org/drawingml/2006/main">
            <a:off x="9048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E2EF9F58-E852-42F2-9EFC-7FE731978336}"/>
              </a:ext>
            </a:extLst>
          </p:cNvPr>
          <p:cNvSpPr>
            <a:spLocks xmlns:a="http://schemas.openxmlformats.org/drawingml/2006/main" noGrp="1"/>
          </p:cNvSpPr>
          <p:nvPr/>
        </p:nvSpPr>
        <p:spPr>
          <a:xfrm xmlns:a="http://schemas.openxmlformats.org/drawingml/2006/main">
            <a:off x="9810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CB73E3D1-B5A8-4B61-AB6E-8EDD2B93330E}"/>
              </a:ext>
            </a:extLst>
          </p:cNvPr>
          <p:cNvSpPr>
            <a:spLocks xmlns:a="http://schemas.openxmlformats.org/drawingml/2006/main" noGrp="1"/>
          </p:cNvSpPr>
          <p:nvPr/>
        </p:nvSpPr>
        <p:spPr>
          <a:xfrm xmlns:a="http://schemas.openxmlformats.org/drawingml/2006/main">
            <a:off x="16478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43F3E171-58B9-40B7-8301-7281A416714E}"/>
              </a:ext>
            </a:extLst>
          </p:cNvPr>
          <p:cNvSpPr>
            <a:spLocks xmlns:a="http://schemas.openxmlformats.org/drawingml/2006/main" noGrp="1"/>
          </p:cNvSpPr>
          <p:nvPr/>
        </p:nvSpPr>
        <p:spPr>
          <a:xfrm xmlns:a="http://schemas.openxmlformats.org/drawingml/2006/main">
            <a:off x="17240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7" name="正方形/長方形 36">
            <a:extLst xmlns:a="http://schemas.openxmlformats.org/drawingml/2006/main">
              <a:ext uri="{FF2B5EF4-FFF2-40B4-BE49-F238E27FC236}">
                <a16:creationId xmlns:a16="http://schemas.microsoft.com/office/drawing/2014/main" id="{A675DF06-ED99-47F8-8A05-8DB48C4CCBFC}"/>
              </a:ext>
            </a:extLst>
          </p:cNvPr>
          <p:cNvSpPr>
            <a:spLocks xmlns:a="http://schemas.openxmlformats.org/drawingml/2006/main" noGrp="1"/>
          </p:cNvSpPr>
          <p:nvPr/>
        </p:nvSpPr>
        <p:spPr>
          <a:xfrm xmlns:a="http://schemas.openxmlformats.org/drawingml/2006/main">
            <a:off x="23907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675B9089-4BBD-4515-95D1-811A13FCBED3}"/>
              </a:ext>
            </a:extLst>
          </p:cNvPr>
          <p:cNvSpPr>
            <a:spLocks xmlns:a="http://schemas.openxmlformats.org/drawingml/2006/main" noGrp="1"/>
          </p:cNvSpPr>
          <p:nvPr/>
        </p:nvSpPr>
        <p:spPr>
          <a:xfrm xmlns:a="http://schemas.openxmlformats.org/drawingml/2006/main">
            <a:off x="24669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CFA84399-5653-4989-8D37-433E310C75DB}"/>
              </a:ext>
            </a:extLst>
          </p:cNvPr>
          <p:cNvSpPr>
            <a:spLocks xmlns:a="http://schemas.openxmlformats.org/drawingml/2006/main" noGrp="1"/>
          </p:cNvSpPr>
          <p:nvPr/>
        </p:nvSpPr>
        <p:spPr>
          <a:xfrm xmlns:a="http://schemas.openxmlformats.org/drawingml/2006/main">
            <a:off x="31337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F40D82AC-E880-4896-85AC-3D27A782386D}"/>
              </a:ext>
            </a:extLst>
          </p:cNvPr>
          <p:cNvSpPr>
            <a:spLocks xmlns:a="http://schemas.openxmlformats.org/drawingml/2006/main" noGrp="1"/>
          </p:cNvSpPr>
          <p:nvPr/>
        </p:nvSpPr>
        <p:spPr>
          <a:xfrm xmlns:a="http://schemas.openxmlformats.org/drawingml/2006/main">
            <a:off x="32099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59C3C901-7428-4584-9F57-12EF10BC8C40}"/>
              </a:ext>
            </a:extLst>
          </p:cNvPr>
          <p:cNvSpPr>
            <a:spLocks xmlns:a="http://schemas.openxmlformats.org/drawingml/2006/main" noGrp="1"/>
          </p:cNvSpPr>
          <p:nvPr/>
        </p:nvSpPr>
        <p:spPr>
          <a:xfrm xmlns:a="http://schemas.openxmlformats.org/drawingml/2006/main">
            <a:off x="38766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CB83F059-C318-487A-B12D-44A64FE7D72A}"/>
              </a:ext>
            </a:extLst>
          </p:cNvPr>
          <p:cNvSpPr>
            <a:spLocks xmlns:a="http://schemas.openxmlformats.org/drawingml/2006/main" noGrp="1"/>
          </p:cNvSpPr>
          <p:nvPr/>
        </p:nvSpPr>
        <p:spPr>
          <a:xfrm xmlns:a="http://schemas.openxmlformats.org/drawingml/2006/main">
            <a:off x="39528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3" name="正方形/長方形 42">
            <a:extLst xmlns:a="http://schemas.openxmlformats.org/drawingml/2006/main">
              <a:ext uri="{FF2B5EF4-FFF2-40B4-BE49-F238E27FC236}">
                <a16:creationId xmlns:a16="http://schemas.microsoft.com/office/drawing/2014/main" id="{4060D80F-9268-4DCC-A8E2-83BFE2EC4A60}"/>
              </a:ext>
            </a:extLst>
          </p:cNvPr>
          <p:cNvSpPr>
            <a:spLocks xmlns:a="http://schemas.openxmlformats.org/drawingml/2006/main" noGrp="1"/>
          </p:cNvSpPr>
          <p:nvPr/>
        </p:nvSpPr>
        <p:spPr>
          <a:xfrm xmlns:a="http://schemas.openxmlformats.org/drawingml/2006/main">
            <a:off x="46196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005EC980-57CB-49E1-BA12-99A00C049793}"/>
              </a:ext>
            </a:extLst>
          </p:cNvPr>
          <p:cNvSpPr>
            <a:spLocks xmlns:a="http://schemas.openxmlformats.org/drawingml/2006/main" noGrp="1"/>
          </p:cNvSpPr>
          <p:nvPr/>
        </p:nvSpPr>
        <p:spPr>
          <a:xfrm xmlns:a="http://schemas.openxmlformats.org/drawingml/2006/main">
            <a:off x="46958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5" name="正方形/長方形 44">
            <a:extLst xmlns:a="http://schemas.openxmlformats.org/drawingml/2006/main">
              <a:ext uri="{FF2B5EF4-FFF2-40B4-BE49-F238E27FC236}">
                <a16:creationId xmlns:a16="http://schemas.microsoft.com/office/drawing/2014/main" id="{9F667D37-A0BF-4615-8E1B-DE1F7AF8004B}"/>
              </a:ext>
            </a:extLst>
          </p:cNvPr>
          <p:cNvSpPr>
            <a:spLocks xmlns:a="http://schemas.openxmlformats.org/drawingml/2006/main" noGrp="1"/>
          </p:cNvSpPr>
          <p:nvPr/>
        </p:nvSpPr>
        <p:spPr>
          <a:xfrm xmlns:a="http://schemas.openxmlformats.org/drawingml/2006/main">
            <a:off x="53625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6" name="正方形/長方形 45">
            <a:extLst xmlns:a="http://schemas.openxmlformats.org/drawingml/2006/main">
              <a:ext uri="{FF2B5EF4-FFF2-40B4-BE49-F238E27FC236}">
                <a16:creationId xmlns:a16="http://schemas.microsoft.com/office/drawing/2014/main" id="{C5061AA2-EDEF-4EC7-A47D-A5D382669618}"/>
              </a:ext>
            </a:extLst>
          </p:cNvPr>
          <p:cNvSpPr>
            <a:spLocks xmlns:a="http://schemas.openxmlformats.org/drawingml/2006/main" noGrp="1"/>
          </p:cNvSpPr>
          <p:nvPr/>
        </p:nvSpPr>
        <p:spPr>
          <a:xfrm xmlns:a="http://schemas.openxmlformats.org/drawingml/2006/main">
            <a:off x="54387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7" name="正方形/長方形 46">
            <a:extLst xmlns:a="http://schemas.openxmlformats.org/drawingml/2006/main">
              <a:ext uri="{FF2B5EF4-FFF2-40B4-BE49-F238E27FC236}">
                <a16:creationId xmlns:a16="http://schemas.microsoft.com/office/drawing/2014/main" id="{43F19193-3E7C-4935-9C68-C6FD8E505778}"/>
              </a:ext>
            </a:extLst>
          </p:cNvPr>
          <p:cNvSpPr>
            <a:spLocks xmlns:a="http://schemas.openxmlformats.org/drawingml/2006/main" noGrp="1"/>
          </p:cNvSpPr>
          <p:nvPr/>
        </p:nvSpPr>
        <p:spPr>
          <a:xfrm xmlns:a="http://schemas.openxmlformats.org/drawingml/2006/main">
            <a:off x="9048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8" name="正方形/長方形 47">
            <a:extLst xmlns:a="http://schemas.openxmlformats.org/drawingml/2006/main">
              <a:ext uri="{FF2B5EF4-FFF2-40B4-BE49-F238E27FC236}">
                <a16:creationId xmlns:a16="http://schemas.microsoft.com/office/drawing/2014/main" id="{30A1115B-217B-402E-9B67-42E4D94F19FE}"/>
              </a:ext>
            </a:extLst>
          </p:cNvPr>
          <p:cNvSpPr>
            <a:spLocks xmlns:a="http://schemas.openxmlformats.org/drawingml/2006/main" noGrp="1"/>
          </p:cNvSpPr>
          <p:nvPr/>
        </p:nvSpPr>
        <p:spPr>
          <a:xfrm xmlns:a="http://schemas.openxmlformats.org/drawingml/2006/main">
            <a:off x="9810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9" name="正方形/長方形 48">
            <a:extLst xmlns:a="http://schemas.openxmlformats.org/drawingml/2006/main">
              <a:ext uri="{FF2B5EF4-FFF2-40B4-BE49-F238E27FC236}">
                <a16:creationId xmlns:a16="http://schemas.microsoft.com/office/drawing/2014/main" id="{740E622B-D384-4735-A914-F172B2F2A053}"/>
              </a:ext>
            </a:extLst>
          </p:cNvPr>
          <p:cNvSpPr>
            <a:spLocks xmlns:a="http://schemas.openxmlformats.org/drawingml/2006/main" noGrp="1"/>
          </p:cNvSpPr>
          <p:nvPr/>
        </p:nvSpPr>
        <p:spPr>
          <a:xfrm xmlns:a="http://schemas.openxmlformats.org/drawingml/2006/main">
            <a:off x="16478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0" name="正方形/長方形 49">
            <a:extLst xmlns:a="http://schemas.openxmlformats.org/drawingml/2006/main">
              <a:ext uri="{FF2B5EF4-FFF2-40B4-BE49-F238E27FC236}">
                <a16:creationId xmlns:a16="http://schemas.microsoft.com/office/drawing/2014/main" id="{E01A5A52-4561-49F2-9323-14A5A3D8494C}"/>
              </a:ext>
            </a:extLst>
          </p:cNvPr>
          <p:cNvSpPr>
            <a:spLocks xmlns:a="http://schemas.openxmlformats.org/drawingml/2006/main" noGrp="1"/>
          </p:cNvSpPr>
          <p:nvPr/>
        </p:nvSpPr>
        <p:spPr>
          <a:xfrm xmlns:a="http://schemas.openxmlformats.org/drawingml/2006/main">
            <a:off x="17240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1" name="正方形/長方形 50">
            <a:extLst xmlns:a="http://schemas.openxmlformats.org/drawingml/2006/main">
              <a:ext uri="{FF2B5EF4-FFF2-40B4-BE49-F238E27FC236}">
                <a16:creationId xmlns:a16="http://schemas.microsoft.com/office/drawing/2014/main" id="{B0B0B4B2-A81C-4806-B5FF-DE4A85E14058}"/>
              </a:ext>
            </a:extLst>
          </p:cNvPr>
          <p:cNvSpPr>
            <a:spLocks xmlns:a="http://schemas.openxmlformats.org/drawingml/2006/main" noGrp="1"/>
          </p:cNvSpPr>
          <p:nvPr/>
        </p:nvSpPr>
        <p:spPr>
          <a:xfrm xmlns:a="http://schemas.openxmlformats.org/drawingml/2006/main">
            <a:off x="23907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2" name="正方形/長方形 51">
            <a:extLst xmlns:a="http://schemas.openxmlformats.org/drawingml/2006/main">
              <a:ext uri="{FF2B5EF4-FFF2-40B4-BE49-F238E27FC236}">
                <a16:creationId xmlns:a16="http://schemas.microsoft.com/office/drawing/2014/main" id="{3FE1113F-2520-4B71-9FD7-35A9B5CB7005}"/>
              </a:ext>
            </a:extLst>
          </p:cNvPr>
          <p:cNvSpPr>
            <a:spLocks xmlns:a="http://schemas.openxmlformats.org/drawingml/2006/main" noGrp="1"/>
          </p:cNvSpPr>
          <p:nvPr/>
        </p:nvSpPr>
        <p:spPr>
          <a:xfrm xmlns:a="http://schemas.openxmlformats.org/drawingml/2006/main">
            <a:off x="24669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3" name="正方形/長方形 52">
            <a:extLst xmlns:a="http://schemas.openxmlformats.org/drawingml/2006/main">
              <a:ext uri="{FF2B5EF4-FFF2-40B4-BE49-F238E27FC236}">
                <a16:creationId xmlns:a16="http://schemas.microsoft.com/office/drawing/2014/main" id="{315835ED-36A6-4E67-A6C0-8951BF8832F7}"/>
              </a:ext>
            </a:extLst>
          </p:cNvPr>
          <p:cNvSpPr>
            <a:spLocks xmlns:a="http://schemas.openxmlformats.org/drawingml/2006/main" noGrp="1"/>
          </p:cNvSpPr>
          <p:nvPr/>
        </p:nvSpPr>
        <p:spPr>
          <a:xfrm xmlns:a="http://schemas.openxmlformats.org/drawingml/2006/main">
            <a:off x="31337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4" name="正方形/長方形 53">
            <a:extLst xmlns:a="http://schemas.openxmlformats.org/drawingml/2006/main">
              <a:ext uri="{FF2B5EF4-FFF2-40B4-BE49-F238E27FC236}">
                <a16:creationId xmlns:a16="http://schemas.microsoft.com/office/drawing/2014/main" id="{03523B1B-E8EF-4BB6-9AC1-A6BBE38EC234}"/>
              </a:ext>
            </a:extLst>
          </p:cNvPr>
          <p:cNvSpPr>
            <a:spLocks xmlns:a="http://schemas.openxmlformats.org/drawingml/2006/main" noGrp="1"/>
          </p:cNvSpPr>
          <p:nvPr/>
        </p:nvSpPr>
        <p:spPr>
          <a:xfrm xmlns:a="http://schemas.openxmlformats.org/drawingml/2006/main">
            <a:off x="32099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5" name="正方形/長方形 54">
            <a:extLst xmlns:a="http://schemas.openxmlformats.org/drawingml/2006/main">
              <a:ext uri="{FF2B5EF4-FFF2-40B4-BE49-F238E27FC236}">
                <a16:creationId xmlns:a16="http://schemas.microsoft.com/office/drawing/2014/main" id="{AAC9EB1E-A854-4D8B-AB1E-891A6E57268E}"/>
              </a:ext>
            </a:extLst>
          </p:cNvPr>
          <p:cNvSpPr>
            <a:spLocks xmlns:a="http://schemas.openxmlformats.org/drawingml/2006/main" noGrp="1"/>
          </p:cNvSpPr>
          <p:nvPr/>
        </p:nvSpPr>
        <p:spPr>
          <a:xfrm xmlns:a="http://schemas.openxmlformats.org/drawingml/2006/main">
            <a:off x="38766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6" name="正方形/長方形 55">
            <a:extLst xmlns:a="http://schemas.openxmlformats.org/drawingml/2006/main">
              <a:ext uri="{FF2B5EF4-FFF2-40B4-BE49-F238E27FC236}">
                <a16:creationId xmlns:a16="http://schemas.microsoft.com/office/drawing/2014/main" id="{50016722-ADC8-40E2-B1EF-C282DDD92B5C}"/>
              </a:ext>
            </a:extLst>
          </p:cNvPr>
          <p:cNvSpPr>
            <a:spLocks xmlns:a="http://schemas.openxmlformats.org/drawingml/2006/main" noGrp="1"/>
          </p:cNvSpPr>
          <p:nvPr/>
        </p:nvSpPr>
        <p:spPr>
          <a:xfrm xmlns:a="http://schemas.openxmlformats.org/drawingml/2006/main">
            <a:off x="39528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7" name="正方形/長方形 56">
            <a:extLst xmlns:a="http://schemas.openxmlformats.org/drawingml/2006/main">
              <a:ext uri="{FF2B5EF4-FFF2-40B4-BE49-F238E27FC236}">
                <a16:creationId xmlns:a16="http://schemas.microsoft.com/office/drawing/2014/main" id="{B012D5D6-5425-4D5F-8E9E-164E68E1D69D}"/>
              </a:ext>
            </a:extLst>
          </p:cNvPr>
          <p:cNvSpPr>
            <a:spLocks xmlns:a="http://schemas.openxmlformats.org/drawingml/2006/main" noGrp="1"/>
          </p:cNvSpPr>
          <p:nvPr/>
        </p:nvSpPr>
        <p:spPr>
          <a:xfrm xmlns:a="http://schemas.openxmlformats.org/drawingml/2006/main">
            <a:off x="46196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8" name="正方形/長方形 57">
            <a:extLst xmlns:a="http://schemas.openxmlformats.org/drawingml/2006/main">
              <a:ext uri="{FF2B5EF4-FFF2-40B4-BE49-F238E27FC236}">
                <a16:creationId xmlns:a16="http://schemas.microsoft.com/office/drawing/2014/main" id="{6069E7A6-E2B8-4758-BACC-F43FC745FF66}"/>
              </a:ext>
            </a:extLst>
          </p:cNvPr>
          <p:cNvSpPr>
            <a:spLocks xmlns:a="http://schemas.openxmlformats.org/drawingml/2006/main" noGrp="1"/>
          </p:cNvSpPr>
          <p:nvPr/>
        </p:nvSpPr>
        <p:spPr>
          <a:xfrm xmlns:a="http://schemas.openxmlformats.org/drawingml/2006/main">
            <a:off x="46958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9" name="正方形/長方形 58">
            <a:extLst xmlns:a="http://schemas.openxmlformats.org/drawingml/2006/main">
              <a:ext uri="{FF2B5EF4-FFF2-40B4-BE49-F238E27FC236}">
                <a16:creationId xmlns:a16="http://schemas.microsoft.com/office/drawing/2014/main" id="{3ABB9CFC-1A7C-4D7F-9FFC-169308AD2BF4}"/>
              </a:ext>
            </a:extLst>
          </p:cNvPr>
          <p:cNvSpPr>
            <a:spLocks xmlns:a="http://schemas.openxmlformats.org/drawingml/2006/main" noGrp="1"/>
          </p:cNvSpPr>
          <p:nvPr/>
        </p:nvSpPr>
        <p:spPr>
          <a:xfrm xmlns:a="http://schemas.openxmlformats.org/drawingml/2006/main">
            <a:off x="53625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0" name="正方形/長方形 59">
            <a:extLst xmlns:a="http://schemas.openxmlformats.org/drawingml/2006/main">
              <a:ext uri="{FF2B5EF4-FFF2-40B4-BE49-F238E27FC236}">
                <a16:creationId xmlns:a16="http://schemas.microsoft.com/office/drawing/2014/main" id="{22F5AA2B-A4B3-4914-B758-4BB4C2F06B30}"/>
              </a:ext>
            </a:extLst>
          </p:cNvPr>
          <p:cNvSpPr>
            <a:spLocks xmlns:a="http://schemas.openxmlformats.org/drawingml/2006/main" noGrp="1"/>
          </p:cNvSpPr>
          <p:nvPr/>
        </p:nvSpPr>
        <p:spPr>
          <a:xfrm xmlns:a="http://schemas.openxmlformats.org/drawingml/2006/main">
            <a:off x="54387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61" name="正方形/長方形 60">
            <a:extLst xmlns:a="http://schemas.openxmlformats.org/drawingml/2006/main">
              <a:ext uri="{FF2B5EF4-FFF2-40B4-BE49-F238E27FC236}">
                <a16:creationId xmlns:a16="http://schemas.microsoft.com/office/drawing/2014/main" id="{5F6ED2D1-C422-40CD-9156-D03C18232202}"/>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壁物質と空隙を区別</a:t>
            </a:r>
          </a:p>
        </p:txBody>
      </p:sp>
      <p:sp>
        <p:nvSpPr>
          <p:cNvPr id="62" name="正方形/長方形 61">
            <a:extLst xmlns:a="http://schemas.openxmlformats.org/drawingml/2006/main">
              <a:ext uri="{FF2B5EF4-FFF2-40B4-BE49-F238E27FC236}">
                <a16:creationId xmlns:a16="http://schemas.microsoft.com/office/drawing/2014/main" id="{2FC49CCD-95D0-4BE7-B943-70962EA6F73B}"/>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空隙を含む見掛け密度</a:t>
            </a:r>
          </a:p>
        </p:txBody>
      </p:sp>
      <p:sp>
        <p:nvSpPr>
          <p:cNvPr id="63" name="正方形/長方形 62">
            <a:extLst xmlns:a="http://schemas.openxmlformats.org/drawingml/2006/main">
              <a:ext uri="{FF2B5EF4-FFF2-40B4-BE49-F238E27FC236}">
                <a16:creationId xmlns:a16="http://schemas.microsoft.com/office/drawing/2014/main" id="{E87B4B77-0F14-4F6B-9799-5C83C2685C11}"/>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水の量と状態を確認</a:t>
            </a:r>
          </a:p>
        </p:txBody>
      </p:sp>
      <p:sp>
        <p:nvSpPr>
          <p:cNvPr id="64" name="正方形/長方形 63">
            <a:extLst xmlns:a="http://schemas.openxmlformats.org/drawingml/2006/main">
              <a:ext uri="{FF2B5EF4-FFF2-40B4-BE49-F238E27FC236}">
                <a16:creationId xmlns:a16="http://schemas.microsoft.com/office/drawing/2014/main" id="{47D8EDEE-9C19-4E84-98D8-A5E55C74A788}"/>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密度を強度値と同一視しない</a:t>
            </a:r>
          </a:p>
        </p:txBody>
      </p:sp>
    </p:spTree>
    <p:extLst>
      <p:ext uri="{BB962C8B-B14F-4D97-AF65-F5344CB8AC3E}">
        <p14:creationId xmlns:p14="http://schemas.microsoft.com/office/powerpoint/2010/main" val="4050536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0A627600-01F1-4ACA-AF53-D34955BB18B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比重は基準密度との比</a:t>
            </a:r>
          </a:p>
        </p:txBody>
      </p:sp>
      <p:cxnSp>
        <p:nvCxnSpPr>
          <p:cNvPr id="2" name="直線矢印コネクタ 1">
            <a:extLst xmlns:a="http://schemas.openxmlformats.org/drawingml/2006/main">
              <a:ext uri="{FF2B5EF4-FFF2-40B4-BE49-F238E27FC236}">
                <a16:creationId xmlns:a16="http://schemas.microsoft.com/office/drawing/2014/main" id="{F3896166-38C8-47BA-BED9-E90FAE44DA4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1DAF6FE-1627-44A7-A552-AC421202490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684ABBAC-EFE6-4290-B538-2C4BD624EE9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正方形/長方形 4">
            <a:extLst xmlns:a="http://schemas.openxmlformats.org/drawingml/2006/main">
              <a:ext uri="{FF2B5EF4-FFF2-40B4-BE49-F238E27FC236}">
                <a16:creationId xmlns:a16="http://schemas.microsoft.com/office/drawing/2014/main" id="{260136E6-CEE0-4B22-ACB0-088FEF5AD71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比重G＝ρ/ρ水。同じ単位の密度同士を割るので無次元</a:t>
            </a:r>
          </a:p>
        </p:txBody>
      </p:sp>
      <p:sp>
        <p:nvSpPr>
          <p:cNvPr id="6" name="正方形/長方形 5">
            <a:extLst xmlns:a="http://schemas.openxmlformats.org/drawingml/2006/main">
              <a:ext uri="{FF2B5EF4-FFF2-40B4-BE49-F238E27FC236}">
                <a16:creationId xmlns:a16="http://schemas.microsoft.com/office/drawing/2014/main" id="{BCB4B1EB-B27F-4A90-BB01-DFCEBBB9336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基準水の密度を1.00 g/cm³とすると、g/cm³の密度と比重の数値が一致</a:t>
            </a:r>
          </a:p>
        </p:txBody>
      </p:sp>
      <p:sp>
        <p:nvSpPr>
          <p:cNvPr id="7" name="正方形/長方形 6">
            <a:extLst xmlns:a="http://schemas.openxmlformats.org/drawingml/2006/main">
              <a:ext uri="{FF2B5EF4-FFF2-40B4-BE49-F238E27FC236}">
                <a16:creationId xmlns:a16="http://schemas.microsoft.com/office/drawing/2014/main" id="{E506AEE5-AF3C-40D9-B3A3-3544F227E37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0.50 g/cm³＝500 kg/m³の木材は、この基準では比重0.50</a:t>
            </a:r>
          </a:p>
        </p:txBody>
      </p:sp>
      <p:sp>
        <p:nvSpPr>
          <p:cNvPr id="8" name="正方形/長方形 7">
            <a:extLst xmlns:a="http://schemas.openxmlformats.org/drawingml/2006/main">
              <a:ext uri="{FF2B5EF4-FFF2-40B4-BE49-F238E27FC236}">
                <a16:creationId xmlns:a16="http://schemas.microsoft.com/office/drawing/2014/main" id="{7EB388D9-0FE1-46EA-BD0A-C25B4DE471B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木材では、全乾・気乾・基本などの質量と体積の組合せも区別する</a:t>
            </a:r>
          </a:p>
        </p:txBody>
      </p:sp>
      <p:sp>
        <p:nvSpPr>
          <p:cNvPr id="9" name="正方形/長方形 8">
            <a:extLst xmlns:a="http://schemas.openxmlformats.org/drawingml/2006/main">
              <a:ext uri="{FF2B5EF4-FFF2-40B4-BE49-F238E27FC236}">
                <a16:creationId xmlns:a16="http://schemas.microsoft.com/office/drawing/2014/main" id="{A87F58BB-1CC8-4702-9C5A-AC09E4B99E4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Wood Handbookの木材用Gは全乾質量が基準（ガイド参照）</a:t>
            </a:r>
          </a:p>
        </p:txBody>
      </p:sp>
    </p:spTree>
    <p:extLst>
      <p:ext uri="{BB962C8B-B14F-4D97-AF65-F5344CB8AC3E}">
        <p14:creationId xmlns:p14="http://schemas.microsoft.com/office/powerpoint/2010/main" val="11573082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0A913B93-C1F6-45A4-9052-F8FAE17F4D3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直線矢印コネクタ 1">
            <a:extLst xmlns:a="http://schemas.openxmlformats.org/drawingml/2006/main">
              <a:ext uri="{FF2B5EF4-FFF2-40B4-BE49-F238E27FC236}">
                <a16:creationId xmlns:a16="http://schemas.microsoft.com/office/drawing/2014/main" id="{EF44BCEF-B997-4E12-B1FB-4889847C577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772589F-DD35-4AC4-BD69-0944DDCC25D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0B626908-82F7-4F7D-8646-1725DE631F9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graphicFrame>
        <p:nvGraphicFramePr>
          <p:cNvPr id="5" name="表 4">
            <a:extLst xmlns:a="http://schemas.openxmlformats.org/drawingml/2006/main">
              <a:ext uri="{FF2B5EF4-FFF2-40B4-BE49-F238E27FC236}">
                <a16:creationId xmlns:a16="http://schemas.microsoft.com/office/drawing/2014/main" id="{2C6AEB5C-CB34-4940-AE25-34B98918A12E}"/>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a:lstStyle/>
                    <a:p>
                      <a:r>
                        <a:rPr sz="1800" b="1">
                          <a:solidFill>
                            <a:srgbClr val="FFFFFF"/>
                          </a:solidFill>
                          <a:latin typeface="Yu Gothic"/>
                          <a:ea typeface="Yu Gothic"/>
                          <a:cs typeface="Yu Gothic"/>
                        </a:rPr>
                        <a:t>測定量</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試料Aのモデル値</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状態</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r>
              <a:tr h="695325">
                <a:tc>
                  <a:txBody>
                    <a:bodyPr/>
                    <a:lstStyle/>
                    <a:p>
                      <a:r>
                        <a:rPr sz="1800" b="0">
                          <a:solidFill>
                            <a:srgbClr val="253C4D"/>
                          </a:solidFill>
                          <a:latin typeface="Yu Gothic"/>
                          <a:ea typeface="Yu Gothic"/>
                          <a:cs typeface="Yu Gothic"/>
                        </a:rPr>
                        <a:t>質量</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50 g</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絶乾</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体積</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100 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絶乾</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r h="695325">
                <a:tc>
                  <a:txBody>
                    <a:bodyPr/>
                    <a:lstStyle/>
                    <a:p>
                      <a:r>
                        <a:rPr sz="1800" b="0">
                          <a:solidFill>
                            <a:srgbClr val="253C4D"/>
                          </a:solidFill>
                          <a:latin typeface="Yu Gothic"/>
                          <a:ea typeface="Yu Gothic"/>
                          <a:cs typeface="Yu Gothic"/>
                        </a:rPr>
                        <a:t>体積</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110 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飽水</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基準水密度</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1.00 g/cm³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本演習の指定値</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94383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40CDD18-A691-411A-B8B2-BCB4F203F18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全乾密度と気乾密度と基本密度</a:t>
            </a:r>
          </a:p>
        </p:txBody>
      </p:sp>
      <p:cxnSp>
        <p:nvCxnSpPr>
          <p:cNvPr id="2" name="直線矢印コネクタ 1">
            <a:extLst xmlns:a="http://schemas.openxmlformats.org/drawingml/2006/main">
              <a:ext uri="{FF2B5EF4-FFF2-40B4-BE49-F238E27FC236}">
                <a16:creationId xmlns:a16="http://schemas.microsoft.com/office/drawing/2014/main" id="{C28EE462-CFB9-4731-9FAF-B767BED675D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BA8B540-9873-48DE-92B8-0EFEAD0C245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971F546C-B449-47BD-BE70-C6BE1FFE2E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正方形/長方形 4">
            <a:extLst xmlns:a="http://schemas.openxmlformats.org/drawingml/2006/main">
              <a:ext uri="{FF2B5EF4-FFF2-40B4-BE49-F238E27FC236}">
                <a16:creationId xmlns:a16="http://schemas.microsoft.com/office/drawing/2014/main" id="{95625925-220D-4383-A977-849BBA4BAC55}"/>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全乾密度ρ₀＝全乾質量m₀/全乾体積V₀</a:t>
            </a:r>
          </a:p>
        </p:txBody>
      </p:sp>
      <p:sp>
        <p:nvSpPr>
          <p:cNvPr id="6" name="正方形/長方形 5">
            <a:extLst xmlns:a="http://schemas.openxmlformats.org/drawingml/2006/main">
              <a:ext uri="{FF2B5EF4-FFF2-40B4-BE49-F238E27FC236}">
                <a16:creationId xmlns:a16="http://schemas.microsoft.com/office/drawing/2014/main" id="{39C0508B-8F9A-41A0-A0CD-494AFA8D179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気乾密度ρu＝気乾時の質量mu/同じときの体積Vu</a:t>
            </a:r>
          </a:p>
        </p:txBody>
      </p:sp>
      <p:sp>
        <p:nvSpPr>
          <p:cNvPr id="7" name="正方形/長方形 6">
            <a:extLst xmlns:a="http://schemas.openxmlformats.org/drawingml/2006/main">
              <a:ext uri="{FF2B5EF4-FFF2-40B4-BE49-F238E27FC236}">
                <a16:creationId xmlns:a16="http://schemas.microsoft.com/office/drawing/2014/main" id="{4AB9AE0D-1A8C-4235-95A5-C22D5322811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基本密度ρb＝全乾質量m₀/飽水時体積V飽</a:t>
            </a:r>
          </a:p>
        </p:txBody>
      </p:sp>
      <p:sp>
        <p:nvSpPr>
          <p:cNvPr id="8" name="正方形/長方形 7">
            <a:extLst xmlns:a="http://schemas.openxmlformats.org/drawingml/2006/main">
              <a:ext uri="{FF2B5EF4-FFF2-40B4-BE49-F238E27FC236}">
                <a16:creationId xmlns:a16="http://schemas.microsoft.com/office/drawing/2014/main" id="{ECDCFC56-A7C9-4115-9E80-75AF62E5E13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水が加わると質量だけでなく、細胞壁の膨潤により体積も変わる</a:t>
            </a:r>
          </a:p>
        </p:txBody>
      </p:sp>
      <p:sp>
        <p:nvSpPr>
          <p:cNvPr id="9" name="正方形/長方形 8">
            <a:extLst xmlns:a="http://schemas.openxmlformats.org/drawingml/2006/main">
              <a:ext uri="{FF2B5EF4-FFF2-40B4-BE49-F238E27FC236}">
                <a16:creationId xmlns:a16="http://schemas.microsoft.com/office/drawing/2014/main" id="{5B8A9769-09BE-4608-972B-91875FAF088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気乾時の含水率uも記録。質量・体積の状態を併記する</a:t>
            </a:r>
          </a:p>
        </p:txBody>
      </p:sp>
    </p:spTree>
    <p:extLst>
      <p:ext uri="{BB962C8B-B14F-4D97-AF65-F5344CB8AC3E}">
        <p14:creationId xmlns:p14="http://schemas.microsoft.com/office/powerpoint/2010/main" val="16740346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1A6F51-6606-404C-AC93-5D3D868FD55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66578815-D8D6-4CA2-873D-7AACC4E3731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55C7F9-DBBB-4423-9C64-8333DC348DE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A4B93A4E-50E4-4F80-94E5-8883C8614B9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1D7A03F3-31EE-4E2F-8C22-A55B4E3CAD44}"/>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B5DA03A-91AF-4A1D-9A5F-8AE472D34B86}"/>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7F80640B-E6D8-40F5-B250-15BAC05028F0}"/>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103F9D7-A2F8-4678-85B7-03B016F72207}"/>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再開したら：演習1　全乾密度と基本密度へ進みます。</a:t>
            </a:r>
          </a:p>
        </p:txBody>
      </p:sp>
    </p:spTree>
    <p:extLst>
      <p:ext uri="{BB962C8B-B14F-4D97-AF65-F5344CB8AC3E}">
        <p14:creationId xmlns:p14="http://schemas.microsoft.com/office/powerpoint/2010/main" val="16179365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10BB083-175D-49D2-A992-D268CDBE43A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全乾密度と基本密度</a:t>
            </a:r>
          </a:p>
        </p:txBody>
      </p:sp>
      <p:cxnSp>
        <p:nvCxnSpPr>
          <p:cNvPr id="2" name="直線矢印コネクタ 1">
            <a:extLst xmlns:a="http://schemas.openxmlformats.org/drawingml/2006/main">
              <a:ext uri="{FF2B5EF4-FFF2-40B4-BE49-F238E27FC236}">
                <a16:creationId xmlns:a16="http://schemas.microsoft.com/office/drawing/2014/main" id="{96B909EC-550C-4078-AD24-647C81B64F48}"/>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5AFF0F44-78F9-4B88-97BE-D6AF8DCF0E0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60D1AD5B-B870-49D9-9F40-03124A409E8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15</a:t>
            </a:r>
          </a:p>
        </p:txBody>
      </p:sp>
      <p:sp>
        <p:nvSpPr>
          <p:cNvPr id="5" name="正方形/長方形 4">
            <a:extLst xmlns:a="http://schemas.openxmlformats.org/drawingml/2006/main">
              <a:ext uri="{FF2B5EF4-FFF2-40B4-BE49-F238E27FC236}">
                <a16:creationId xmlns:a16="http://schemas.microsoft.com/office/drawing/2014/main" id="{B5455738-D69E-42A8-9E8B-9C08A7EC2C9D}"/>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12頁の試料Aから、全乾密度と基本密度を求める</a:t>
            </a:r>
          </a:p>
        </p:txBody>
      </p:sp>
      <p:sp>
        <p:nvSpPr>
          <p:cNvPr id="6" name="正方形/長方形 5">
            <a:extLst xmlns:a="http://schemas.openxmlformats.org/drawingml/2006/main">
              <a:ext uri="{FF2B5EF4-FFF2-40B4-BE49-F238E27FC236}">
                <a16:creationId xmlns:a16="http://schemas.microsoft.com/office/drawing/2014/main" id="{3E14D3D9-4D84-4DEB-B71A-F045011EFD6B}"/>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それぞれkg/m³へ換算する</a:t>
            </a:r>
          </a:p>
        </p:txBody>
      </p:sp>
      <p:sp>
        <p:nvSpPr>
          <p:cNvPr id="7" name="正方形/長方形 6">
            <a:extLst xmlns:a="http://schemas.openxmlformats.org/drawingml/2006/main">
              <a:ext uri="{FF2B5EF4-FFF2-40B4-BE49-F238E27FC236}">
                <a16:creationId xmlns:a16="http://schemas.microsoft.com/office/drawing/2014/main" id="{2F0D3F6E-B923-48A9-A052-56D92D990415}"/>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対応する比重を求める</a:t>
            </a:r>
          </a:p>
        </p:txBody>
      </p:sp>
      <p:sp>
        <p:nvSpPr>
          <p:cNvPr id="8" name="正方形/長方形 7">
            <a:extLst xmlns:a="http://schemas.openxmlformats.org/drawingml/2006/main">
              <a:ext uri="{FF2B5EF4-FFF2-40B4-BE49-F238E27FC236}">
                <a16:creationId xmlns:a16="http://schemas.microsoft.com/office/drawing/2014/main" id="{425A94BC-BC0D-42D1-ABB2-A4A180ABF411}"/>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二つの値が違う理由を、分母から説明する</a:t>
            </a:r>
          </a:p>
        </p:txBody>
      </p:sp>
    </p:spTree>
    <p:extLst>
      <p:ext uri="{BB962C8B-B14F-4D97-AF65-F5344CB8AC3E}">
        <p14:creationId xmlns:p14="http://schemas.microsoft.com/office/powerpoint/2010/main" val="16264197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32CBDA73-07FF-4FA3-9010-F412CC2C7B0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全乾密度と基本密度</a:t>
            </a:r>
          </a:p>
        </p:txBody>
      </p:sp>
      <p:cxnSp>
        <p:nvCxnSpPr>
          <p:cNvPr id="2" name="直線矢印コネクタ 1">
            <a:extLst xmlns:a="http://schemas.openxmlformats.org/drawingml/2006/main">
              <a:ext uri="{FF2B5EF4-FFF2-40B4-BE49-F238E27FC236}">
                <a16:creationId xmlns:a16="http://schemas.microsoft.com/office/drawing/2014/main" id="{80C5E478-48ED-4B39-8E08-47E69D78038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2E26B2D-2363-42F6-AC8B-D099518F188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E0E5DC26-D849-4186-B751-3A72F7D64E3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a:t>
            </a:r>
          </a:p>
        </p:txBody>
      </p:sp>
      <p:sp>
        <p:nvSpPr>
          <p:cNvPr id="5" name="正方形/長方形 4">
            <a:extLst xmlns:a="http://schemas.openxmlformats.org/drawingml/2006/main">
              <a:ext uri="{FF2B5EF4-FFF2-40B4-BE49-F238E27FC236}">
                <a16:creationId xmlns:a16="http://schemas.microsoft.com/office/drawing/2014/main" id="{99D4D20E-2CC7-4DB0-BC45-16ECE1313378}"/>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全乾密度 = 50/100 = 0.500 g/cm³ = 500 kg/m³</a:t>
            </a:r>
          </a:p>
        </p:txBody>
      </p:sp>
      <p:sp>
        <p:nvSpPr>
          <p:cNvPr id="6" name="正方形/長方形 5">
            <a:extLst xmlns:a="http://schemas.openxmlformats.org/drawingml/2006/main">
              <a:ext uri="{FF2B5EF4-FFF2-40B4-BE49-F238E27FC236}">
                <a16:creationId xmlns:a16="http://schemas.microsoft.com/office/drawing/2014/main" id="{6D385B68-904A-4154-97C7-8C9B3B96B0F2}"/>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基本密度 = 50/110 ≈ 0.455 g/cm³ = 455 kg/m³</a:t>
            </a:r>
          </a:p>
        </p:txBody>
      </p:sp>
      <p:sp>
        <p:nvSpPr>
          <p:cNvPr id="7" name="正方形/長方形 6">
            <a:extLst xmlns:a="http://schemas.openxmlformats.org/drawingml/2006/main">
              <a:ext uri="{FF2B5EF4-FFF2-40B4-BE49-F238E27FC236}">
                <a16:creationId xmlns:a16="http://schemas.microsoft.com/office/drawing/2014/main" id="{C45BEAFA-CD7D-4673-8FD2-33ACE6EC4F54}"/>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対応する比重は0.500、約0.455</a:t>
            </a:r>
          </a:p>
        </p:txBody>
      </p:sp>
      <p:sp>
        <p:nvSpPr>
          <p:cNvPr id="8" name="正方形/長方形 7">
            <a:extLst xmlns:a="http://schemas.openxmlformats.org/drawingml/2006/main">
              <a:ext uri="{FF2B5EF4-FFF2-40B4-BE49-F238E27FC236}">
                <a16:creationId xmlns:a16="http://schemas.microsoft.com/office/drawing/2014/main" id="{B94B533B-D93B-468F-88AD-90B296ED41DB}"/>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分母の体積の状態が違うため</a:t>
            </a:r>
          </a:p>
        </p:txBody>
      </p:sp>
    </p:spTree>
    <p:extLst>
      <p:ext uri="{BB962C8B-B14F-4D97-AF65-F5344CB8AC3E}">
        <p14:creationId xmlns:p14="http://schemas.microsoft.com/office/powerpoint/2010/main" val="19343698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正方形/長方形 13">
            <a:extLst xmlns:a="http://schemas.openxmlformats.org/drawingml/2006/main">
              <a:ext uri="{FF2B5EF4-FFF2-40B4-BE49-F238E27FC236}">
                <a16:creationId xmlns:a16="http://schemas.microsoft.com/office/drawing/2014/main" id="{8F696A32-94C0-44C2-95BE-5356184754E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質量と体積の基準状態</a:t>
            </a:r>
          </a:p>
        </p:txBody>
      </p:sp>
      <p:cxnSp>
        <p:nvCxnSpPr>
          <p:cNvPr id="2" name="直線矢印コネクタ 1">
            <a:extLst xmlns:a="http://schemas.openxmlformats.org/drawingml/2006/main">
              <a:ext uri="{FF2B5EF4-FFF2-40B4-BE49-F238E27FC236}">
                <a16:creationId xmlns:a16="http://schemas.microsoft.com/office/drawing/2014/main" id="{2823692D-FAA3-4538-960F-1D810E12F1A9}"/>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F0B2016-E05A-4FCD-9D8D-D4ECA5F8EE8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747CF14D-1351-4CF6-A350-73AC85F34DD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正方形/長方形 4">
            <a:extLst xmlns:a="http://schemas.openxmlformats.org/drawingml/2006/main">
              <a:ext uri="{FF2B5EF4-FFF2-40B4-BE49-F238E27FC236}">
                <a16:creationId xmlns:a16="http://schemas.microsoft.com/office/drawing/2014/main" id="{85A87B7F-FC94-41B1-A973-8D646A3C983B}"/>
              </a:ext>
            </a:extLst>
          </p:cNvPr>
          <p:cNvSpPr>
            <a:spLocks xmlns:a="http://schemas.openxmlformats.org/drawingml/2006/main" noGrp="1"/>
          </p:cNvSpPr>
          <p:nvPr/>
        </p:nvSpPr>
        <p:spPr>
          <a:xfrm xmlns:a="http://schemas.openxmlformats.org/drawingml/2006/main">
            <a:off x="952500" y="2190750"/>
            <a:ext cx="2333625" cy="2238375"/>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2AC6F237-D057-4531-82F9-6EDB2777F776}"/>
              </a:ext>
            </a:extLst>
          </p:cNvPr>
          <p:cNvSpPr>
            <a:spLocks xmlns:a="http://schemas.openxmlformats.org/drawingml/2006/main" noGrp="1"/>
          </p:cNvSpPr>
          <p:nvPr/>
        </p:nvSpPr>
        <p:spPr>
          <a:xfrm xmlns:a="http://schemas.openxmlformats.org/drawingml/2006/main">
            <a:off x="3857625" y="2095500"/>
            <a:ext cx="2514600" cy="2419350"/>
          </a:xfrm>
          <a:prstGeom xmlns:a="http://schemas.openxmlformats.org/drawingml/2006/main" prst="rect">
            <a:avLst/>
          </a:prstGeom>
          <a:solidFill xmlns:a="http://schemas.openxmlformats.org/drawingml/2006/main">
            <a:srgbClr val="DFECEF"/>
          </a:solidFill>
          <a:ln xmlns:a="http://schemas.openxmlformats.org/drawingml/2006/main" w="14288">
            <a:solidFill>
              <a:srgbClr val="245C98"/>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247B2212-B083-4904-9B85-5A6C979C3332}"/>
              </a:ext>
            </a:extLst>
          </p:cNvPr>
          <p:cNvSpPr>
            <a:spLocks xmlns:a="http://schemas.openxmlformats.org/drawingml/2006/main" noGrp="1"/>
          </p:cNvSpPr>
          <p:nvPr/>
        </p:nvSpPr>
        <p:spPr>
          <a:xfrm xmlns:a="http://schemas.openxmlformats.org/drawingml/2006/main">
            <a:off x="809625" y="4714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B55D09"/>
                </a:solidFill>
                <a:latin typeface="Yu Gothic"/>
                <a:ea typeface="Yu Gothic"/>
                <a:cs typeface="Yu Gothic"/>
              </a:defRPr>
            </a:defPPr>
            <a:lvl1pPr algn="ctr">
              <a:buNone/>
              <a:defRPr sz="2325" b="1">
                <a:solidFill>
                  <a:srgbClr val="B55D09"/>
                </a:solidFill>
                <a:latin typeface="Yu Gothic"/>
                <a:ea typeface="Yu Gothic"/>
                <a:cs typeface="Yu Gothic"/>
              </a:defRPr>
            </a:lvl1pPr>
            <a:lvl2pPr algn="ctr">
              <a:buNone/>
              <a:defRPr sz="2325" b="1">
                <a:solidFill>
                  <a:srgbClr val="B55D09"/>
                </a:solidFill>
                <a:latin typeface="Yu Gothic"/>
                <a:ea typeface="Yu Gothic"/>
                <a:cs typeface="Yu Gothic"/>
              </a:defRPr>
            </a:lvl2pPr>
            <a:lvl3pPr algn="ctr">
              <a:buNone/>
              <a:defRPr sz="2325" b="1">
                <a:solidFill>
                  <a:srgbClr val="B55D09"/>
                </a:solidFill>
                <a:latin typeface="Yu Gothic"/>
                <a:ea typeface="Yu Gothic"/>
                <a:cs typeface="Yu Gothic"/>
              </a:defRPr>
            </a:lvl3pPr>
            <a:lvl4pPr algn="ctr">
              <a:buNone/>
              <a:defRPr sz="2325" b="1">
                <a:solidFill>
                  <a:srgbClr val="B55D09"/>
                </a:solidFill>
                <a:latin typeface="Yu Gothic"/>
                <a:ea typeface="Yu Gothic"/>
                <a:cs typeface="Yu Gothic"/>
              </a:defRPr>
            </a:lvl4pPr>
            <a:lvl5pPr algn="ctr">
              <a:buNone/>
              <a:defRPr sz="2325" b="1">
                <a:solidFill>
                  <a:srgbClr val="B55D09"/>
                </a:solidFill>
                <a:latin typeface="Yu Gothic"/>
                <a:ea typeface="Yu Gothic"/>
                <a:cs typeface="Yu Gothic"/>
              </a:defRPr>
            </a:lvl5pPr>
            <a:lvl6pPr algn="ctr">
              <a:buNone/>
              <a:defRPr sz="2325" b="1">
                <a:solidFill>
                  <a:srgbClr val="B55D09"/>
                </a:solidFill>
                <a:latin typeface="Yu Gothic"/>
                <a:ea typeface="Yu Gothic"/>
                <a:cs typeface="Yu Gothic"/>
              </a:defRPr>
            </a:lvl6pPr>
            <a:lvl7pPr algn="ctr">
              <a:buNone/>
              <a:defRPr sz="2325" b="1">
                <a:solidFill>
                  <a:srgbClr val="B55D09"/>
                </a:solidFill>
                <a:latin typeface="Yu Gothic"/>
                <a:ea typeface="Yu Gothic"/>
                <a:cs typeface="Yu Gothic"/>
              </a:defRPr>
            </a:lvl7pPr>
            <a:lvl8pPr algn="ctr">
              <a:buNone/>
              <a:defRPr sz="2325" b="1">
                <a:solidFill>
                  <a:srgbClr val="B55D09"/>
                </a:solidFill>
                <a:latin typeface="Yu Gothic"/>
                <a:ea typeface="Yu Gothic"/>
                <a:cs typeface="Yu Gothic"/>
              </a:defRPr>
            </a:lvl8pPr>
            <a:lvl9pPr algn="ctr">
              <a:buNone/>
              <a:defRPr sz="2325" b="1">
                <a:solidFill>
                  <a:srgbClr val="B55D09"/>
                </a:solidFill>
                <a:latin typeface="Yu Gothic"/>
                <a:ea typeface="Yu Gothic"/>
                <a:cs typeface="Yu Gothic"/>
              </a:defRPr>
            </a:lvl9pPr>
          </a:lstStyle>
          <a:p xmlns:a="http://schemas.openxmlformats.org/drawingml/2006/main">
            <a:pPr algn="ctr">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絶乾体積</a:t>
            </a:r>
          </a:p>
        </p:txBody>
      </p:sp>
      <p:sp>
        <p:nvSpPr>
          <p:cNvPr id="8" name="正方形/長方形 7">
            <a:extLst xmlns:a="http://schemas.openxmlformats.org/drawingml/2006/main">
              <a:ext uri="{FF2B5EF4-FFF2-40B4-BE49-F238E27FC236}">
                <a16:creationId xmlns:a16="http://schemas.microsoft.com/office/drawing/2014/main" id="{59308E23-1281-4579-B7D1-03BCA51DE2AA}"/>
              </a:ext>
            </a:extLst>
          </p:cNvPr>
          <p:cNvSpPr>
            <a:spLocks xmlns:a="http://schemas.openxmlformats.org/drawingml/2006/main" noGrp="1"/>
          </p:cNvSpPr>
          <p:nvPr/>
        </p:nvSpPr>
        <p:spPr>
          <a:xfrm xmlns:a="http://schemas.openxmlformats.org/drawingml/2006/main">
            <a:off x="3714750" y="4714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45C98"/>
                </a:solidFill>
                <a:latin typeface="Yu Gothic"/>
                <a:ea typeface="Yu Gothic"/>
                <a:cs typeface="Yu Gothic"/>
              </a:defRPr>
            </a:defPPr>
            <a:lvl1pPr algn="ctr">
              <a:buNone/>
              <a:defRPr sz="2325" b="1">
                <a:solidFill>
                  <a:srgbClr val="245C98"/>
                </a:solidFill>
                <a:latin typeface="Yu Gothic"/>
                <a:ea typeface="Yu Gothic"/>
                <a:cs typeface="Yu Gothic"/>
              </a:defRPr>
            </a:lvl1pPr>
            <a:lvl2pPr algn="ctr">
              <a:buNone/>
              <a:defRPr sz="2325" b="1">
                <a:solidFill>
                  <a:srgbClr val="245C98"/>
                </a:solidFill>
                <a:latin typeface="Yu Gothic"/>
                <a:ea typeface="Yu Gothic"/>
                <a:cs typeface="Yu Gothic"/>
              </a:defRPr>
            </a:lvl2pPr>
            <a:lvl3pPr algn="ctr">
              <a:buNone/>
              <a:defRPr sz="2325" b="1">
                <a:solidFill>
                  <a:srgbClr val="245C98"/>
                </a:solidFill>
                <a:latin typeface="Yu Gothic"/>
                <a:ea typeface="Yu Gothic"/>
                <a:cs typeface="Yu Gothic"/>
              </a:defRPr>
            </a:lvl3pPr>
            <a:lvl4pPr algn="ctr">
              <a:buNone/>
              <a:defRPr sz="2325" b="1">
                <a:solidFill>
                  <a:srgbClr val="245C98"/>
                </a:solidFill>
                <a:latin typeface="Yu Gothic"/>
                <a:ea typeface="Yu Gothic"/>
                <a:cs typeface="Yu Gothic"/>
              </a:defRPr>
            </a:lvl4pPr>
            <a:lvl5pPr algn="ctr">
              <a:buNone/>
              <a:defRPr sz="2325" b="1">
                <a:solidFill>
                  <a:srgbClr val="245C98"/>
                </a:solidFill>
                <a:latin typeface="Yu Gothic"/>
                <a:ea typeface="Yu Gothic"/>
                <a:cs typeface="Yu Gothic"/>
              </a:defRPr>
            </a:lvl5pPr>
            <a:lvl6pPr algn="ctr">
              <a:buNone/>
              <a:defRPr sz="2325" b="1">
                <a:solidFill>
                  <a:srgbClr val="245C98"/>
                </a:solidFill>
                <a:latin typeface="Yu Gothic"/>
                <a:ea typeface="Yu Gothic"/>
                <a:cs typeface="Yu Gothic"/>
              </a:defRPr>
            </a:lvl6pPr>
            <a:lvl7pPr algn="ctr">
              <a:buNone/>
              <a:defRPr sz="2325" b="1">
                <a:solidFill>
                  <a:srgbClr val="245C98"/>
                </a:solidFill>
                <a:latin typeface="Yu Gothic"/>
                <a:ea typeface="Yu Gothic"/>
                <a:cs typeface="Yu Gothic"/>
              </a:defRPr>
            </a:lvl7pPr>
            <a:lvl8pPr algn="ctr">
              <a:buNone/>
              <a:defRPr sz="2325" b="1">
                <a:solidFill>
                  <a:srgbClr val="245C98"/>
                </a:solidFill>
                <a:latin typeface="Yu Gothic"/>
                <a:ea typeface="Yu Gothic"/>
                <a:cs typeface="Yu Gothic"/>
              </a:defRPr>
            </a:lvl8pPr>
            <a:lvl9pPr algn="ctr">
              <a:buNone/>
              <a:defRPr sz="2325" b="1">
                <a:solidFill>
                  <a:srgbClr val="245C98"/>
                </a:solidFill>
                <a:latin typeface="Yu Gothic"/>
                <a:ea typeface="Yu Gothic"/>
                <a:cs typeface="Yu Gothic"/>
              </a:defRPr>
            </a:lvl9pPr>
          </a:lstStyle>
          <a:p xmlns:a="http://schemas.openxmlformats.org/drawingml/2006/main">
            <a:pPr algn="ctr">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飽水時体積</a:t>
            </a:r>
          </a:p>
        </p:txBody>
      </p:sp>
      <p:sp>
        <p:nvSpPr>
          <p:cNvPr id="9" name="正方形/長方形 8">
            <a:extLst xmlns:a="http://schemas.openxmlformats.org/drawingml/2006/main">
              <a:ext uri="{FF2B5EF4-FFF2-40B4-BE49-F238E27FC236}">
                <a16:creationId xmlns:a16="http://schemas.microsoft.com/office/drawing/2014/main" id="{537DBFEB-C448-455D-900C-4A6B7681657A}"/>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分子：絶乾質量 m₀</a:t>
            </a:r>
          </a:p>
        </p:txBody>
      </p:sp>
      <p:sp>
        <p:nvSpPr>
          <p:cNvPr id="10" name="正方形/長方形 9">
            <a:extLst xmlns:a="http://schemas.openxmlformats.org/drawingml/2006/main">
              <a:ext uri="{FF2B5EF4-FFF2-40B4-BE49-F238E27FC236}">
                <a16:creationId xmlns:a16="http://schemas.microsoft.com/office/drawing/2014/main" id="{E2873FAE-9814-476C-B130-97AD8B183565}"/>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分母：指定した体積</a:t>
            </a:r>
          </a:p>
        </p:txBody>
      </p:sp>
      <p:sp>
        <p:nvSpPr>
          <p:cNvPr id="11" name="正方形/長方形 10">
            <a:extLst xmlns:a="http://schemas.openxmlformats.org/drawingml/2006/main">
              <a:ext uri="{FF2B5EF4-FFF2-40B4-BE49-F238E27FC236}">
                <a16:creationId xmlns:a16="http://schemas.microsoft.com/office/drawing/2014/main" id="{D60FC19B-0EA1-4DED-B9AA-3B678F5C514D}"/>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体積の状態を混ぜない</a:t>
            </a:r>
          </a:p>
        </p:txBody>
      </p:sp>
      <p:sp>
        <p:nvSpPr>
          <p:cNvPr id="12" name="正方形/長方形 11">
            <a:extLst xmlns:a="http://schemas.openxmlformats.org/drawingml/2006/main">
              <a:ext uri="{FF2B5EF4-FFF2-40B4-BE49-F238E27FC236}">
                <a16:creationId xmlns:a16="http://schemas.microsoft.com/office/drawing/2014/main" id="{7C7A7E6C-3766-41AB-8901-C009F4A23E1C}"/>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寸法比は模式的</a:t>
            </a:r>
          </a:p>
        </p:txBody>
      </p:sp>
    </p:spTree>
    <p:extLst>
      <p:ext uri="{BB962C8B-B14F-4D97-AF65-F5344CB8AC3E}">
        <p14:creationId xmlns:p14="http://schemas.microsoft.com/office/powerpoint/2010/main" val="2780585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7FC8FD-6F96-4F84-A374-085284048C9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体積の比で、全乾密度と基本密度をつなぐ</a:t>
            </a:r>
          </a:p>
        </p:txBody>
      </p:sp>
      <p:sp>
        <p:nvSpPr>
          <p:cNvPr id="2" name="">
            <a:extLst xmlns:a="http://schemas.openxmlformats.org/drawingml/2006/main">
              <a:ext uri="{FF2B5EF4-FFF2-40B4-BE49-F238E27FC236}">
                <a16:creationId xmlns:a16="http://schemas.microsoft.com/office/drawing/2014/main" id="{38287D45-258E-4F45-B95D-D390C34D058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040790-E583-4F05-8BEE-0619CF428C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638DD9A-26B9-4C1B-A8B5-6886E3B3A9C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55B56A66-35E8-46A5-B464-89BA46EA2D2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ρ₀ = m₀/V₀、ρb = m₀/V飽</a:t>
            </a:r>
          </a:p>
        </p:txBody>
      </p:sp>
      <p:sp>
        <p:nvSpPr>
          <p:cNvPr id="6" name="">
            <a:extLst xmlns:a="http://schemas.openxmlformats.org/drawingml/2006/main">
              <a:ext uri="{FF2B5EF4-FFF2-40B4-BE49-F238E27FC236}">
                <a16:creationId xmlns:a16="http://schemas.microsoft.com/office/drawing/2014/main" id="{B90E63E1-B3F4-41CC-80FE-3552ADA49E9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同じ試料：ρb/ρ₀ = V₀/V飽</a:t>
            </a:r>
          </a:p>
        </p:txBody>
      </p:sp>
      <p:sp>
        <p:nvSpPr>
          <p:cNvPr id="7" name="">
            <a:extLst xmlns:a="http://schemas.openxmlformats.org/drawingml/2006/main">
              <a:ext uri="{FF2B5EF4-FFF2-40B4-BE49-F238E27FC236}">
                <a16:creationId xmlns:a16="http://schemas.microsoft.com/office/drawing/2014/main" id="{9EDC858E-C7C1-430D-BD6F-406023170F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V₀ = 100、V飽 = 110 cm³ → 比は約0.909</a:t>
            </a:r>
          </a:p>
        </p:txBody>
      </p:sp>
      <p:sp>
        <p:nvSpPr>
          <p:cNvPr id="8" name="">
            <a:extLst xmlns:a="http://schemas.openxmlformats.org/drawingml/2006/main">
              <a:ext uri="{FF2B5EF4-FFF2-40B4-BE49-F238E27FC236}">
                <a16:creationId xmlns:a16="http://schemas.microsoft.com/office/drawing/2014/main" id="{970497C5-E359-4F8D-851D-8FC6D21C3BEA}"/>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体積10%増に対し、密度は約9.1%減（分子一定）</a:t>
            </a:r>
          </a:p>
        </p:txBody>
      </p:sp>
    </p:spTree>
    <p:extLst>
      <p:ext uri="{BB962C8B-B14F-4D97-AF65-F5344CB8AC3E}">
        <p14:creationId xmlns:p14="http://schemas.microsoft.com/office/powerpoint/2010/main" val="18767448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AD9B5460-831A-45CB-8721-FECEB5E8B5C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木材の密度と空隙率</a:t>
            </a:r>
          </a:p>
        </p:txBody>
      </p:sp>
      <p:cxnSp>
        <p:nvCxnSpPr>
          <p:cNvPr id="2" name="直線矢印コネクタ 1">
            <a:extLst xmlns:a="http://schemas.openxmlformats.org/drawingml/2006/main">
              <a:ext uri="{FF2B5EF4-FFF2-40B4-BE49-F238E27FC236}">
                <a16:creationId xmlns:a16="http://schemas.microsoft.com/office/drawing/2014/main" id="{2BCF0A62-8561-47FF-9064-048717A8DA8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BAFEE7EB-5583-408C-8E1C-0C920712E19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59242A96-E483-4C7F-9D6D-C931B423858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正方形/長方形 4">
            <a:extLst xmlns:a="http://schemas.openxmlformats.org/drawingml/2006/main">
              <a:ext uri="{FF2B5EF4-FFF2-40B4-BE49-F238E27FC236}">
                <a16:creationId xmlns:a16="http://schemas.microsoft.com/office/drawing/2014/main" id="{72F81DFF-DBC5-4E9D-91C2-B3CD67E516A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細胞壁物質の密度は、空隙を含む木材全体の密度より高い</a:t>
            </a:r>
          </a:p>
        </p:txBody>
      </p:sp>
      <p:sp>
        <p:nvSpPr>
          <p:cNvPr id="6" name="正方形/長方形 5">
            <a:extLst xmlns:a="http://schemas.openxmlformats.org/drawingml/2006/main">
              <a:ext uri="{FF2B5EF4-FFF2-40B4-BE49-F238E27FC236}">
                <a16:creationId xmlns:a16="http://schemas.microsoft.com/office/drawing/2014/main" id="{0E2422DE-5566-464D-8F6E-6E3F863D5A7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空隙の質量を無視し、ρ壁＝1.50 g/cm³なら、ρ₀＝(1−P)ρ壁</a:t>
            </a:r>
          </a:p>
        </p:txBody>
      </p:sp>
      <p:sp>
        <p:nvSpPr>
          <p:cNvPr id="7" name="正方形/長方形 6">
            <a:extLst xmlns:a="http://schemas.openxmlformats.org/drawingml/2006/main">
              <a:ext uri="{FF2B5EF4-FFF2-40B4-BE49-F238E27FC236}">
                <a16:creationId xmlns:a16="http://schemas.microsoft.com/office/drawing/2014/main" id="{6D24FF1B-8EE9-45BE-A0F7-C87B7836C3D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Pは全乾外形体積に対する空隙体積の割合</a:t>
            </a:r>
          </a:p>
        </p:txBody>
      </p:sp>
      <p:sp>
        <p:nvSpPr>
          <p:cNvPr id="8" name="正方形/長方形 7">
            <a:extLst xmlns:a="http://schemas.openxmlformats.org/drawingml/2006/main">
              <a:ext uri="{FF2B5EF4-FFF2-40B4-BE49-F238E27FC236}">
                <a16:creationId xmlns:a16="http://schemas.microsoft.com/office/drawing/2014/main" id="{1C5539C7-4A30-41BC-A8CC-8ED65A8AAA87}"/>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ρ₀＝0.50 g/cm³なら、P＝1−0.50/1.50≈0.667（約66.7%）</a:t>
            </a:r>
          </a:p>
        </p:txBody>
      </p:sp>
      <p:sp>
        <p:nvSpPr>
          <p:cNvPr id="9" name="正方形/長方形 8">
            <a:extLst xmlns:a="http://schemas.openxmlformats.org/drawingml/2006/main">
              <a:ext uri="{FF2B5EF4-FFF2-40B4-BE49-F238E27FC236}">
                <a16:creationId xmlns:a16="http://schemas.microsoft.com/office/drawing/2014/main" id="{1E13E3BB-F30A-42BD-A15E-A106FF1AA78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空隙は水や薬液の移動、軽さ、断熱などを考える手掛かりになる</a:t>
            </a:r>
          </a:p>
        </p:txBody>
      </p:sp>
    </p:spTree>
    <p:extLst>
      <p:ext uri="{BB962C8B-B14F-4D97-AF65-F5344CB8AC3E}">
        <p14:creationId xmlns:p14="http://schemas.microsoft.com/office/powerpoint/2010/main" val="204281055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30E24E-AFF2-4C88-B3B9-DF78AC3896F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密度から空隙率を考える</a:t>
            </a:r>
          </a:p>
        </p:txBody>
      </p:sp>
      <p:sp>
        <p:nvSpPr>
          <p:cNvPr id="2" name="">
            <a:extLst xmlns:a="http://schemas.openxmlformats.org/drawingml/2006/main">
              <a:ext uri="{FF2B5EF4-FFF2-40B4-BE49-F238E27FC236}">
                <a16:creationId xmlns:a16="http://schemas.microsoft.com/office/drawing/2014/main" id="{30292220-3AED-42EC-B656-F05ACAE6BD1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3C6A7C-B2C1-47F4-B160-C03091FD2EA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C593D888-1988-49BD-B323-DCC34FA6567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B79C9F51-A11F-4D87-86FB-1CF754F342C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壁物質密度を1.50 g/cm³とする全乾モデル</a:t>
            </a:r>
          </a:p>
        </p:txBody>
      </p:sp>
      <p:sp>
        <p:nvSpPr>
          <p:cNvPr id="6" name="">
            <a:extLst xmlns:a="http://schemas.openxmlformats.org/drawingml/2006/main">
              <a:ext uri="{FF2B5EF4-FFF2-40B4-BE49-F238E27FC236}">
                <a16:creationId xmlns:a16="http://schemas.microsoft.com/office/drawing/2014/main" id="{AD9A3763-424E-46A8-B156-2041DFD1DD8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B：全乾密度0.30、C：0.60 g/cm³</a:t>
            </a:r>
          </a:p>
        </p:txBody>
      </p:sp>
      <p:sp>
        <p:nvSpPr>
          <p:cNvPr id="7" name="">
            <a:extLst xmlns:a="http://schemas.openxmlformats.org/drawingml/2006/main">
              <a:ext uri="{FF2B5EF4-FFF2-40B4-BE49-F238E27FC236}">
                <a16:creationId xmlns:a16="http://schemas.microsoft.com/office/drawing/2014/main" id="{3DAB4886-7C02-4084-AEC2-0E9C9E6DD36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P = 1 − ρ₀/ρ壁 を計算する</a:t>
            </a:r>
          </a:p>
        </p:txBody>
      </p:sp>
      <p:sp>
        <p:nvSpPr>
          <p:cNvPr id="8" name="">
            <a:extLst xmlns:a="http://schemas.openxmlformats.org/drawingml/2006/main">
              <a:ext uri="{FF2B5EF4-FFF2-40B4-BE49-F238E27FC236}">
                <a16:creationId xmlns:a16="http://schemas.microsoft.com/office/drawing/2014/main" id="{F9CA0C2A-D58C-4CBD-9186-DF9535D0750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気乾密度の変化と、壁の割合の変化を区別する</a:t>
            </a:r>
          </a:p>
        </p:txBody>
      </p:sp>
    </p:spTree>
    <p:extLst>
      <p:ext uri="{BB962C8B-B14F-4D97-AF65-F5344CB8AC3E}">
        <p14:creationId xmlns:p14="http://schemas.microsoft.com/office/powerpoint/2010/main" val="18029173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C78B49-1757-49D1-8C0B-A2B23D6051A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比較記事の結論を点検する</a:t>
            </a:r>
          </a:p>
        </p:txBody>
      </p:sp>
      <p:sp>
        <p:nvSpPr>
          <p:cNvPr id="2" name="">
            <a:extLst xmlns:a="http://schemas.openxmlformats.org/drawingml/2006/main">
              <a:ext uri="{FF2B5EF4-FFF2-40B4-BE49-F238E27FC236}">
                <a16:creationId xmlns:a16="http://schemas.microsoft.com/office/drawing/2014/main" id="{58E89D0A-293A-4999-93E3-C5B4910B4D9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A30C4B-0D1E-450F-9F1E-A746E77B996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32A8063-7373-4C6C-A442-212E90A0D2B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2878C752-6523-4BB8-AA53-21F08EDDEF2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試料1：全乾密度0.50、試料2：気乾密度0.60 g/cm³</a:t>
            </a:r>
          </a:p>
        </p:txBody>
      </p:sp>
      <p:sp>
        <p:nvSpPr>
          <p:cNvPr id="6" name="">
            <a:extLst xmlns:a="http://schemas.openxmlformats.org/drawingml/2006/main">
              <a:ext uri="{FF2B5EF4-FFF2-40B4-BE49-F238E27FC236}">
                <a16:creationId xmlns:a16="http://schemas.microsoft.com/office/drawing/2014/main" id="{035322C8-5391-41DE-BAD6-5CA7F856C62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記事の主張：壁の割合も、曲げ強さも1.2倍</a:t>
            </a:r>
          </a:p>
        </p:txBody>
      </p:sp>
      <p:sp>
        <p:nvSpPr>
          <p:cNvPr id="7" name="">
            <a:extLst xmlns:a="http://schemas.openxmlformats.org/drawingml/2006/main">
              <a:ext uri="{FF2B5EF4-FFF2-40B4-BE49-F238E27FC236}">
                <a16:creationId xmlns:a16="http://schemas.microsoft.com/office/drawing/2014/main" id="{F49AA0D5-0AC2-4434-BB98-F11095AAA5A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基準状態と追加で必要な条件を挙げる</a:t>
            </a:r>
          </a:p>
        </p:txBody>
      </p:sp>
      <p:sp>
        <p:nvSpPr>
          <p:cNvPr id="8" name="">
            <a:extLst xmlns:a="http://schemas.openxmlformats.org/drawingml/2006/main">
              <a:ext uri="{FF2B5EF4-FFF2-40B4-BE49-F238E27FC236}">
                <a16:creationId xmlns:a16="http://schemas.microsoft.com/office/drawing/2014/main" id="{C692251F-3C1D-4EB6-963C-D7D4B3E8A16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現在の資料だけで言える結論を書く</a:t>
            </a:r>
          </a:p>
        </p:txBody>
      </p:sp>
    </p:spTree>
    <p:extLst>
      <p:ext uri="{BB962C8B-B14F-4D97-AF65-F5344CB8AC3E}">
        <p14:creationId xmlns:p14="http://schemas.microsoft.com/office/powerpoint/2010/main" val="14241775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422C6B1-5BA5-4395-AD3B-B279B613870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気乾状態の密度</a:t>
            </a:r>
          </a:p>
        </p:txBody>
      </p:sp>
      <p:cxnSp>
        <p:nvCxnSpPr>
          <p:cNvPr id="2" name="直線矢印コネクタ 1">
            <a:extLst xmlns:a="http://schemas.openxmlformats.org/drawingml/2006/main">
              <a:ext uri="{FF2B5EF4-FFF2-40B4-BE49-F238E27FC236}">
                <a16:creationId xmlns:a16="http://schemas.microsoft.com/office/drawing/2014/main" id="{F7AE45AF-17F1-4AC5-8837-85A708BCF49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E1F44FC3-3D33-47B7-B8EB-A45970E6217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D2CBEC69-988B-4F37-97D6-432CC99511F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正方形/長方形 4">
            <a:extLst xmlns:a="http://schemas.openxmlformats.org/drawingml/2006/main">
              <a:ext uri="{FF2B5EF4-FFF2-40B4-BE49-F238E27FC236}">
                <a16:creationId xmlns:a16="http://schemas.microsoft.com/office/drawing/2014/main" id="{6027CD66-F80C-46E7-AE4A-7604F0869C7A}"/>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同じ試料Aが、気乾状態では質量60 g・体積105 cm³だった</a:t>
            </a:r>
          </a:p>
        </p:txBody>
      </p:sp>
      <p:sp>
        <p:nvSpPr>
          <p:cNvPr id="6" name="正方形/長方形 5">
            <a:extLst xmlns:a="http://schemas.openxmlformats.org/drawingml/2006/main">
              <a:ext uri="{FF2B5EF4-FFF2-40B4-BE49-F238E27FC236}">
                <a16:creationId xmlns:a16="http://schemas.microsoft.com/office/drawing/2014/main" id="{AAECD1CB-D8A0-4CA1-B22B-435359D30C82}"/>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気乾密度を求め、全乾密度との違いを説明する</a:t>
            </a:r>
          </a:p>
        </p:txBody>
      </p:sp>
      <p:sp>
        <p:nvSpPr>
          <p:cNvPr id="7" name="正方形/長方形 6">
            <a:extLst xmlns:a="http://schemas.openxmlformats.org/drawingml/2006/main">
              <a:ext uri="{FF2B5EF4-FFF2-40B4-BE49-F238E27FC236}">
                <a16:creationId xmlns:a16="http://schemas.microsoft.com/office/drawing/2014/main" id="{D6C40D5D-3784-4AD0-8555-DBB5AC404D58}"/>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含水率＝100×(その時の質量−全乾質量)/全乾質量として計算する</a:t>
            </a:r>
          </a:p>
        </p:txBody>
      </p:sp>
      <p:sp>
        <p:nvSpPr>
          <p:cNvPr id="8" name="正方形/長方形 7">
            <a:extLst xmlns:a="http://schemas.openxmlformats.org/drawingml/2006/main">
              <a:ext uri="{FF2B5EF4-FFF2-40B4-BE49-F238E27FC236}">
                <a16:creationId xmlns:a16="http://schemas.microsoft.com/office/drawing/2014/main" id="{58030430-E3D7-4011-8254-7529AF139045}"/>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この試料の履歴が分からず、気乾密度の値だけがあれば、含水率を特定できるか</a:t>
            </a:r>
          </a:p>
        </p:txBody>
      </p:sp>
    </p:spTree>
    <p:extLst>
      <p:ext uri="{BB962C8B-B14F-4D97-AF65-F5344CB8AC3E}">
        <p14:creationId xmlns:p14="http://schemas.microsoft.com/office/powerpoint/2010/main" val="20302496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52047E8E-B90E-4255-9E1A-A530FBD2ADC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質量と体積の変化</a:t>
            </a:r>
          </a:p>
        </p:txBody>
      </p:sp>
      <p:cxnSp>
        <p:nvCxnSpPr>
          <p:cNvPr id="2" name="直線矢印コネクタ 1">
            <a:extLst xmlns:a="http://schemas.openxmlformats.org/drawingml/2006/main">
              <a:ext uri="{FF2B5EF4-FFF2-40B4-BE49-F238E27FC236}">
                <a16:creationId xmlns:a16="http://schemas.microsoft.com/office/drawing/2014/main" id="{1C109DDB-A19D-47CD-A0F2-5228F32091E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0BCB296-477B-4A6A-A957-67A84F7572A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AD1088F2-088D-490D-8FA0-7D57F2F60C7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正方形/長方形 4">
            <a:extLst xmlns:a="http://schemas.openxmlformats.org/drawingml/2006/main">
              <a:ext uri="{FF2B5EF4-FFF2-40B4-BE49-F238E27FC236}">
                <a16:creationId xmlns:a16="http://schemas.microsoft.com/office/drawing/2014/main" id="{CB46B7B6-2CCC-488F-B12D-33A973B80F1F}"/>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気乾密度＝60/105＝約0.571 g/cm³＝571 kg/m³</a:t>
            </a:r>
          </a:p>
        </p:txBody>
      </p:sp>
      <p:sp>
        <p:nvSpPr>
          <p:cNvPr id="6" name="正方形/長方形 5">
            <a:extLst xmlns:a="http://schemas.openxmlformats.org/drawingml/2006/main">
              <a:ext uri="{FF2B5EF4-FFF2-40B4-BE49-F238E27FC236}">
                <a16:creationId xmlns:a16="http://schemas.microsoft.com/office/drawing/2014/main" id="{0CA3586E-D730-4C98-AC0A-6CFAECAC814E}"/>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全乾状態50 g・100 cm³に比べ、質量も体積も増えている</a:t>
            </a:r>
          </a:p>
        </p:txBody>
      </p:sp>
      <p:sp>
        <p:nvSpPr>
          <p:cNvPr id="7" name="正方形/長方形 6">
            <a:extLst xmlns:a="http://schemas.openxmlformats.org/drawingml/2006/main">
              <a:ext uri="{FF2B5EF4-FFF2-40B4-BE49-F238E27FC236}">
                <a16:creationId xmlns:a16="http://schemas.microsoft.com/office/drawing/2014/main" id="{938271CC-0F3F-49B9-BFA7-37AECC060CB3}"/>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この同じ試料の全乾質量が分かるので、含水率は100×(60−50)/50＝20％</a:t>
            </a:r>
          </a:p>
        </p:txBody>
      </p:sp>
      <p:sp>
        <p:nvSpPr>
          <p:cNvPr id="8" name="正方形/長方形 7">
            <a:extLst xmlns:a="http://schemas.openxmlformats.org/drawingml/2006/main">
              <a:ext uri="{FF2B5EF4-FFF2-40B4-BE49-F238E27FC236}">
                <a16:creationId xmlns:a16="http://schemas.microsoft.com/office/drawing/2014/main" id="{E6F6FB4F-04AE-4680-BE68-FBE12B71B158}"/>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密度の数値だけからは、水の質量と壁・空隙の割合を分離できない</a:t>
            </a:r>
          </a:p>
        </p:txBody>
      </p:sp>
    </p:spTree>
    <p:extLst>
      <p:ext uri="{BB962C8B-B14F-4D97-AF65-F5344CB8AC3E}">
        <p14:creationId xmlns:p14="http://schemas.microsoft.com/office/powerpoint/2010/main" val="73848943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990C09-15B1-44A6-89F3-ADF37BFF957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1B329102-1A69-4024-AD0E-2E3CBF2DDD5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4F7886-7CF0-4E44-AD20-4275292AA33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E28C8DBD-DA66-4072-ACFA-103666285F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454CCDE6-5BEA-40FA-8EC6-EE82067E4086}"/>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94AA6F9-E4D1-4497-9818-37A4ADC5CE62}"/>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D056B020-B055-4B08-B79D-4BFF99A18598}"/>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667422FC-C7C4-49BB-8ADA-ABC18CB0B621}"/>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同じ木片の質量・体積・密度へ進みます。</a:t>
            </a:r>
          </a:p>
        </p:txBody>
      </p:sp>
    </p:spTree>
    <p:extLst>
      <p:ext uri="{BB962C8B-B14F-4D97-AF65-F5344CB8AC3E}">
        <p14:creationId xmlns:p14="http://schemas.microsoft.com/office/powerpoint/2010/main" val="18770999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2745A1-1CDD-4731-931C-2386B7E7E3A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同じ木片の質量・体積・密度</a:t>
            </a:r>
          </a:p>
        </p:txBody>
      </p:sp>
      <p:sp>
        <p:nvSpPr>
          <p:cNvPr id="2" name="">
            <a:extLst xmlns:a="http://schemas.openxmlformats.org/drawingml/2006/main">
              <a:ext uri="{FF2B5EF4-FFF2-40B4-BE49-F238E27FC236}">
                <a16:creationId xmlns:a16="http://schemas.microsoft.com/office/drawing/2014/main" id="{A6780E0C-D42B-4A85-9409-FF0D66F0F18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BC1021-3775-455A-A879-09E52DB02CE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709940B9-85A2-4882-8E38-A205075489A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BE127C38-99B9-47D7-AB8C-2D7F991974F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全乾質量80 g、全乾体積160 cm³の仮想試料</a:t>
            </a:r>
          </a:p>
        </p:txBody>
      </p:sp>
      <p:sp>
        <p:nvSpPr>
          <p:cNvPr id="6" name="">
            <a:extLst xmlns:a="http://schemas.openxmlformats.org/drawingml/2006/main">
              <a:ext uri="{FF2B5EF4-FFF2-40B4-BE49-F238E27FC236}">
                <a16:creationId xmlns:a16="http://schemas.microsoft.com/office/drawing/2014/main" id="{E51879F2-73BA-40EB-862F-F0302B85ED2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MC10%：体積164 cm³ ／ MC20%：168 cm³</a:t>
            </a:r>
          </a:p>
        </p:txBody>
      </p:sp>
      <p:sp>
        <p:nvSpPr>
          <p:cNvPr id="7" name="">
            <a:extLst xmlns:a="http://schemas.openxmlformats.org/drawingml/2006/main">
              <a:ext uri="{FF2B5EF4-FFF2-40B4-BE49-F238E27FC236}">
                <a16:creationId xmlns:a16="http://schemas.microsoft.com/office/drawing/2014/main" id="{AE3A5DEC-3198-4BBD-9BA0-BF4C8C25752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各状態の質量と密度を求める</a:t>
            </a:r>
          </a:p>
        </p:txBody>
      </p:sp>
      <p:sp>
        <p:nvSpPr>
          <p:cNvPr id="8" name="">
            <a:extLst xmlns:a="http://schemas.openxmlformats.org/drawingml/2006/main">
              <a:ext uri="{FF2B5EF4-FFF2-40B4-BE49-F238E27FC236}">
                <a16:creationId xmlns:a16="http://schemas.microsoft.com/office/drawing/2014/main" id="{9A63B33A-A925-4AD5-9466-753D958BA8D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質量・体積・密度の変化を分けて説明する</a:t>
            </a:r>
          </a:p>
        </p:txBody>
      </p:sp>
    </p:spTree>
    <p:extLst>
      <p:ext uri="{BB962C8B-B14F-4D97-AF65-F5344CB8AC3E}">
        <p14:creationId xmlns:p14="http://schemas.microsoft.com/office/powerpoint/2010/main" val="17560713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6345E7-91BA-48A9-8321-B89D4915D12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気乾含水率「約15%」の意味</a:t>
            </a:r>
          </a:p>
        </p:txBody>
      </p:sp>
      <p:sp>
        <p:nvSpPr>
          <p:cNvPr id="2" name="">
            <a:extLst xmlns:a="http://schemas.openxmlformats.org/drawingml/2006/main">
              <a:ext uri="{FF2B5EF4-FFF2-40B4-BE49-F238E27FC236}">
                <a16:creationId xmlns:a16="http://schemas.microsoft.com/office/drawing/2014/main" id="{2BEFC8BF-3DC5-49B4-86F7-C7B9FE948C9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B77504-8429-4353-9B2A-2202FDAAAA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D680BCA-8988-46B2-BA93-6D153C1C9E3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454BCA21-B952-4A9F-AB94-08D7F9349DB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全国842地点：気候値EMCの平均 約15%、範囲 約12～19%</a:t>
            </a:r>
          </a:p>
        </p:txBody>
      </p:sp>
      <p:sp>
        <p:nvSpPr>
          <p:cNvPr id="6" name="">
            <a:extLst xmlns:a="http://schemas.openxmlformats.org/drawingml/2006/main">
              <a:ext uri="{FF2B5EF4-FFF2-40B4-BE49-F238E27FC236}">
                <a16:creationId xmlns:a16="http://schemas.microsoft.com/office/drawing/2014/main" id="{CD2A5645-14B1-4795-A051-24714DE6980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齋藤・信田（2016）：1981～1995年の気象データから推定</a:t>
            </a:r>
          </a:p>
        </p:txBody>
      </p:sp>
      <p:sp>
        <p:nvSpPr>
          <p:cNvPr id="7" name="">
            <a:extLst xmlns:a="http://schemas.openxmlformats.org/drawingml/2006/main">
              <a:ext uri="{FF2B5EF4-FFF2-40B4-BE49-F238E27FC236}">
                <a16:creationId xmlns:a16="http://schemas.microsoft.com/office/drawing/2014/main" id="{C043B663-D07D-486C-A00E-CB87C69A497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地域・季節で変化し、都市部と寒冷地等でも差がある</a:t>
            </a:r>
          </a:p>
        </p:txBody>
      </p:sp>
      <p:sp>
        <p:nvSpPr>
          <p:cNvPr id="8" name="">
            <a:extLst xmlns:a="http://schemas.openxmlformats.org/drawingml/2006/main">
              <a:ext uri="{FF2B5EF4-FFF2-40B4-BE49-F238E27FC236}">
                <a16:creationId xmlns:a16="http://schemas.microsoft.com/office/drawing/2014/main" id="{1A644AAC-6841-469C-B9EF-BF33806982B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全国平均を、全地点・全季節・室内の固定値にしない</a:t>
            </a:r>
          </a:p>
        </p:txBody>
      </p:sp>
      <p:sp>
        <p:nvSpPr>
          <p:cNvPr id="9" name="">
            <a:extLst xmlns:a="http://schemas.openxmlformats.org/drawingml/2006/main">
              <a:ext uri="{FF2B5EF4-FFF2-40B4-BE49-F238E27FC236}">
                <a16:creationId xmlns:a16="http://schemas.microsoft.com/office/drawing/2014/main" id="{5B19C87F-DE06-4EAC-8CD7-CDAAD770D488}"/>
              </a:ext>
            </a:extLst>
          </p:cNvPr>
          <p:cNvSpPr>
            <a:spLocks xmlns:a="http://schemas.openxmlformats.org/drawingml/2006/main" noGrp="1"/>
          </p:cNvSpPr>
          <p:nvPr/>
        </p:nvSpPr>
        <p:spPr>
          <a:xfrm xmlns:a="http://schemas.openxmlformats.org/drawingml/2006/main">
            <a:off x="838200" y="52482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第8回で月別の変化と、使用場所の温湿度を詳しく考える</a:t>
            </a:r>
          </a:p>
        </p:txBody>
      </p:sp>
      <p:sp>
        <p:nvSpPr>
          <p:cNvPr id="10" name="">
            <a:extLst xmlns:a="http://schemas.openxmlformats.org/drawingml/2006/main">
              <a:ext uri="{FF2B5EF4-FFF2-40B4-BE49-F238E27FC236}">
                <a16:creationId xmlns:a16="http://schemas.microsoft.com/office/drawing/2014/main" id="{75D23D2E-CDB0-4A8C-978D-EA3B9D9ED32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出典：木材学会誌62(5), 182–189. DOI:10.2488/jwrs.62.182</a:t>
            </a:r>
          </a:p>
        </p:txBody>
      </p:sp>
    </p:spTree>
    <p:extLst>
      <p:ext uri="{BB962C8B-B14F-4D97-AF65-F5344CB8AC3E}">
        <p14:creationId xmlns:p14="http://schemas.microsoft.com/office/powerpoint/2010/main" val="2217707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E57AD1-172E-4B0C-B98B-873FB2EC8FB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月平均の温湿度から推定するEMC</a:t>
            </a:r>
          </a:p>
        </p:txBody>
      </p:sp>
      <p:sp>
        <p:nvSpPr>
          <p:cNvPr id="2" name="">
            <a:extLst xmlns:a="http://schemas.openxmlformats.org/drawingml/2006/main">
              <a:ext uri="{FF2B5EF4-FFF2-40B4-BE49-F238E27FC236}">
                <a16:creationId xmlns:a16="http://schemas.microsoft.com/office/drawing/2014/main" id="{2D4C7129-7A39-42D2-BAC3-3F29F7147A0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7A8CB6-EE45-4775-818F-EBF3B7F47ED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0063ED4-F244-4F99-B8D6-166A7D0748D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Chart">
            <a:extLst xmlns:a="http://schemas.openxmlformats.org/drawingml/2006/main">
              <a:ext uri="{FF2B5EF4-FFF2-40B4-BE49-F238E27FC236}">
                <a16:creationId xmlns:a16="http://schemas.microsoft.com/office/drawing/2014/main" id="{627ECCDF-7EB1-4C87-BA65-06C6CCE52575}"/>
              </a:ext>
            </a:extLst>
          </p:cNvPr>
          <p:cNvGraphicFramePr/>
          <p:nvPr/>
        </p:nvGraphicFramePr>
        <p:xfrm>
          <a:off xmlns:a="http://schemas.openxmlformats.org/drawingml/2006/main" x="857250" y="161925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145ca941fafe4964"/>
          </a:graphicData>
        </a:graphic>
      </p:graphicFrame>
      <p:sp>
        <p:nvSpPr>
          <p:cNvPr id="6" name="">
            <a:extLst xmlns:a="http://schemas.openxmlformats.org/drawingml/2006/main">
              <a:ext uri="{FF2B5EF4-FFF2-40B4-BE49-F238E27FC236}">
                <a16:creationId xmlns:a16="http://schemas.microsoft.com/office/drawing/2014/main" id="{72619458-0E16-4B70-80E6-E6AA6FEB13FE}"/>
              </a:ext>
            </a:extLst>
          </p:cNvPr>
          <p:cNvSpPr>
            <a:spLocks xmlns:a="http://schemas.openxmlformats.org/drawingml/2006/main" noGrp="1"/>
          </p:cNvSpPr>
          <p:nvPr/>
        </p:nvSpPr>
        <p:spPr>
          <a:xfrm xmlns:a="http://schemas.openxmlformats.org/drawingml/2006/main">
            <a:off x="838200" y="5467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buNone/>
              <a:defRPr sz="1725" b="0">
                <a:solidFill>
                  <a:srgbClr val="596875"/>
                </a:solidFill>
                <a:latin typeface="Yu Gothic"/>
                <a:ea typeface="Yu Gothic"/>
                <a:cs typeface="Yu Gothic"/>
              </a:defRPr>
            </a:lvl1pPr>
            <a:lvl2pPr>
              <a:buNone/>
              <a:defRPr sz="1725" b="0">
                <a:solidFill>
                  <a:srgbClr val="596875"/>
                </a:solidFill>
                <a:latin typeface="Yu Gothic"/>
                <a:ea typeface="Yu Gothic"/>
                <a:cs typeface="Yu Gothic"/>
              </a:defRPr>
            </a:lvl2pPr>
            <a:lvl3pPr>
              <a:buNone/>
              <a:defRPr sz="1725" b="0">
                <a:solidFill>
                  <a:srgbClr val="596875"/>
                </a:solidFill>
                <a:latin typeface="Yu Gothic"/>
                <a:ea typeface="Yu Gothic"/>
                <a:cs typeface="Yu Gothic"/>
              </a:defRPr>
            </a:lvl3pPr>
            <a:lvl4pPr>
              <a:buNone/>
              <a:defRPr sz="1725" b="0">
                <a:solidFill>
                  <a:srgbClr val="596875"/>
                </a:solidFill>
                <a:latin typeface="Yu Gothic"/>
                <a:ea typeface="Yu Gothic"/>
                <a:cs typeface="Yu Gothic"/>
              </a:defRPr>
            </a:lvl4pPr>
            <a:lvl5pPr>
              <a:buNone/>
              <a:defRPr sz="1725" b="0">
                <a:solidFill>
                  <a:srgbClr val="596875"/>
                </a:solidFill>
                <a:latin typeface="Yu Gothic"/>
                <a:ea typeface="Yu Gothic"/>
                <a:cs typeface="Yu Gothic"/>
              </a:defRPr>
            </a:lvl5pPr>
            <a:lvl6pPr>
              <a:buNone/>
              <a:defRPr sz="1725" b="0">
                <a:solidFill>
                  <a:srgbClr val="596875"/>
                </a:solidFill>
                <a:latin typeface="Yu Gothic"/>
                <a:ea typeface="Yu Gothic"/>
                <a:cs typeface="Yu Gothic"/>
              </a:defRPr>
            </a:lvl6pPr>
            <a:lvl7pPr>
              <a:buNone/>
              <a:defRPr sz="1725" b="0">
                <a:solidFill>
                  <a:srgbClr val="596875"/>
                </a:solidFill>
                <a:latin typeface="Yu Gothic"/>
                <a:ea typeface="Yu Gothic"/>
                <a:cs typeface="Yu Gothic"/>
              </a:defRPr>
            </a:lvl7pPr>
            <a:lvl8pPr>
              <a:buNone/>
              <a:defRPr sz="1725" b="0">
                <a:solidFill>
                  <a:srgbClr val="596875"/>
                </a:solidFill>
                <a:latin typeface="Yu Gothic"/>
                <a:ea typeface="Yu Gothic"/>
                <a:cs typeface="Yu Gothic"/>
              </a:defRPr>
            </a:lvl8pPr>
            <a:lvl9pPr>
              <a:buNone/>
              <a:defRPr sz="1725" b="0">
                <a:solidFill>
                  <a:srgbClr val="596875"/>
                </a:solidFill>
                <a:latin typeface="Yu Gothic"/>
                <a:ea typeface="Yu Gothic"/>
                <a:cs typeface="Yu Gothic"/>
              </a:defRPr>
            </a:lvl9pPr>
          </a:lstStyle>
          <a:p xmlns:a="http://schemas.openxmlformats.org/drawingml/2006/main">
            <a:pPr>
              <a:buNone/>
              <a:defRPr sz="1725" b="0">
                <a:solidFill>
                  <a:srgbClr val="596875"/>
                </a:solidFill>
                <a:latin typeface="Yu Gothic"/>
                <a:ea typeface="Yu Gothic"/>
                <a:cs typeface="Yu Gothic"/>
              </a:defRPr>
            </a:pPr>
            <a:r>
              <a:rPr sz="1725" b="0">
                <a:solidFill>
                  <a:srgbClr val="596875"/>
                </a:solidFill>
                <a:latin typeface="Yu Gothic"/>
                <a:ea typeface="Yu Gothic"/>
                <a:cs typeface="Yu Gothic"/>
              </a:rPr>
              <a:t>気象庁1991–2020年の月平均温湿度 → Wood Handbook式(4–5)で計算</a:t>
            </a:r>
          </a:p>
        </p:txBody>
      </p:sp>
      <p:sp>
        <p:nvSpPr>
          <p:cNvPr id="7" name="">
            <a:extLst xmlns:a="http://schemas.openxmlformats.org/drawingml/2006/main">
              <a:ext uri="{FF2B5EF4-FFF2-40B4-BE49-F238E27FC236}">
                <a16:creationId xmlns:a16="http://schemas.microsoft.com/office/drawing/2014/main" id="{0F5BB703-0D29-4CB1-80CF-E2309FEE3453}"/>
              </a:ext>
            </a:extLst>
          </p:cNvPr>
          <p:cNvSpPr>
            <a:spLocks xmlns:a="http://schemas.openxmlformats.org/drawingml/2006/main" noGrp="1"/>
          </p:cNvSpPr>
          <p:nvPr/>
        </p:nvSpPr>
        <p:spPr>
          <a:xfrm xmlns:a="http://schemas.openxmlformats.org/drawingml/2006/main">
            <a:off x="838200" y="58959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MCの実測・毎時EMCの月平均ではない。室内・降雨・応答遅れも含めない。</a:t>
            </a:r>
          </a:p>
        </p:txBody>
      </p:sp>
    </p:spTree>
    <p:extLst>
      <p:ext uri="{BB962C8B-B14F-4D97-AF65-F5344CB8AC3E}">
        <p14:creationId xmlns:p14="http://schemas.microsoft.com/office/powerpoint/2010/main" val="9406552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98E92B-2E2F-4EB7-BEDF-4FC3097C47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月別EMCと木片の質量</a:t>
            </a:r>
          </a:p>
        </p:txBody>
      </p:sp>
      <p:sp>
        <p:nvSpPr>
          <p:cNvPr id="2" name="">
            <a:extLst xmlns:a="http://schemas.openxmlformats.org/drawingml/2006/main">
              <a:ext uri="{FF2B5EF4-FFF2-40B4-BE49-F238E27FC236}">
                <a16:creationId xmlns:a16="http://schemas.microsoft.com/office/drawing/2014/main" id="{7DD07F00-2521-4E1A-AE7E-C7B78B9862B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DE2E88-C792-421C-8EBD-5030CD2C16A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FEA9B930-DA9B-4A17-AD4C-8C34399E123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BD2DAD73-CAB0-42CE-AEFA-754B25E608D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東京の推定EMC：1月9.7%、7月14.5%（丸めた計算値）</a:t>
            </a:r>
          </a:p>
        </p:txBody>
      </p:sp>
      <p:sp>
        <p:nvSpPr>
          <p:cNvPr id="6" name="">
            <a:extLst xmlns:a="http://schemas.openxmlformats.org/drawingml/2006/main">
              <a:ext uri="{FF2B5EF4-FFF2-40B4-BE49-F238E27FC236}">
                <a16:creationId xmlns:a16="http://schemas.microsoft.com/office/drawing/2014/main" id="{83664128-8DF9-4B1F-9EEA-481EF46A7F7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全乾質量50 g。各EMCへ十分近付いたと仮定</a:t>
            </a:r>
          </a:p>
        </p:txBody>
      </p:sp>
      <p:sp>
        <p:nvSpPr>
          <p:cNvPr id="7" name="">
            <a:extLst xmlns:a="http://schemas.openxmlformats.org/drawingml/2006/main">
              <a:ext uri="{FF2B5EF4-FFF2-40B4-BE49-F238E27FC236}">
                <a16:creationId xmlns:a16="http://schemas.microsoft.com/office/drawing/2014/main" id="{38EDD1EA-0FAC-4B09-939C-46B7B8BBAD0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水と全体の質量を求める</a:t>
            </a:r>
          </a:p>
        </p:txBody>
      </p:sp>
      <p:sp>
        <p:nvSpPr>
          <p:cNvPr id="8" name="">
            <a:extLst xmlns:a="http://schemas.openxmlformats.org/drawingml/2006/main">
              <a:ext uri="{FF2B5EF4-FFF2-40B4-BE49-F238E27FC236}">
                <a16:creationId xmlns:a16="http://schemas.microsoft.com/office/drawing/2014/main" id="{E72BA10C-64D9-41F0-A9C3-63A19E9A72EF}"/>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密度と、空調した室内の値も確定できるか</a:t>
            </a:r>
          </a:p>
        </p:txBody>
      </p:sp>
    </p:spTree>
    <p:extLst>
      <p:ext uri="{BB962C8B-B14F-4D97-AF65-F5344CB8AC3E}">
        <p14:creationId xmlns:p14="http://schemas.microsoft.com/office/powerpoint/2010/main" val="1308163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0E4B7C-C524-40A0-A264-7C62800B2D5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教室での測定計画を設計する</a:t>
            </a:r>
          </a:p>
        </p:txBody>
      </p:sp>
      <p:sp>
        <p:nvSpPr>
          <p:cNvPr id="2" name="">
            <a:extLst xmlns:a="http://schemas.openxmlformats.org/drawingml/2006/main">
              <a:ext uri="{FF2B5EF4-FFF2-40B4-BE49-F238E27FC236}">
                <a16:creationId xmlns:a16="http://schemas.microsoft.com/office/drawing/2014/main" id="{71017FD2-4CB2-4C16-A61C-7E29751E118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D08B53-79B3-4545-9214-FA21E73CC4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B1E8F7C-78B7-42E6-A673-E1D7429BA34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8F4B3168-52FF-4AF6-95E0-5D4F259C175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同じ材から取った2個の木片を、窓際と室内中央へ置く</a:t>
            </a:r>
          </a:p>
        </p:txBody>
      </p:sp>
      <p:sp>
        <p:nvSpPr>
          <p:cNvPr id="6" name="">
            <a:extLst xmlns:a="http://schemas.openxmlformats.org/drawingml/2006/main">
              <a:ext uri="{FF2B5EF4-FFF2-40B4-BE49-F238E27FC236}">
                <a16:creationId xmlns:a16="http://schemas.microsoft.com/office/drawing/2014/main" id="{CB85963A-69BA-4835-92F0-814AA4B9A1B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そろえる条件3つ、記録する条件3つ以上</a:t>
            </a:r>
          </a:p>
        </p:txBody>
      </p:sp>
      <p:sp>
        <p:nvSpPr>
          <p:cNvPr id="7" name="">
            <a:extLst xmlns:a="http://schemas.openxmlformats.org/drawingml/2006/main">
              <a:ext uri="{FF2B5EF4-FFF2-40B4-BE49-F238E27FC236}">
                <a16:creationId xmlns:a16="http://schemas.microsoft.com/office/drawing/2014/main" id="{74F0B72E-E6F9-4BA7-8A14-25C4F0E41AC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屋外気象からの推定と違う理由を挙げる</a:t>
            </a:r>
          </a:p>
        </p:txBody>
      </p:sp>
      <p:sp>
        <p:nvSpPr>
          <p:cNvPr id="8" name="">
            <a:extLst xmlns:a="http://schemas.openxmlformats.org/drawingml/2006/main">
              <a:ext uri="{FF2B5EF4-FFF2-40B4-BE49-F238E27FC236}">
                <a16:creationId xmlns:a16="http://schemas.microsoft.com/office/drawing/2014/main" id="{2BBE3574-523A-43A4-9092-61429C33497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平衡値と実際の値、応答の時間を区別する</a:t>
            </a:r>
          </a:p>
        </p:txBody>
      </p:sp>
    </p:spTree>
    <p:extLst>
      <p:ext uri="{BB962C8B-B14F-4D97-AF65-F5344CB8AC3E}">
        <p14:creationId xmlns:p14="http://schemas.microsoft.com/office/powerpoint/2010/main" val="127211722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6D932CC0-8AAD-41DB-8132-2D0952AD890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同じ大きさの木片を比べる</a:t>
            </a:r>
          </a:p>
        </p:txBody>
      </p:sp>
      <p:cxnSp>
        <p:nvCxnSpPr>
          <p:cNvPr id="2" name="直線矢印コネクタ 1">
            <a:extLst xmlns:a="http://schemas.openxmlformats.org/drawingml/2006/main">
              <a:ext uri="{FF2B5EF4-FFF2-40B4-BE49-F238E27FC236}">
                <a16:creationId xmlns:a16="http://schemas.microsoft.com/office/drawing/2014/main" id="{BABDF195-FF38-4F84-8EDD-9F316D31B5BF}"/>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8F8C053-B041-4108-A24B-05B15216ECB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C52173CC-DD98-457B-845A-FEBB4CFDAC2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正方形/長方形 4">
            <a:extLst xmlns:a="http://schemas.openxmlformats.org/drawingml/2006/main">
              <a:ext uri="{FF2B5EF4-FFF2-40B4-BE49-F238E27FC236}">
                <a16:creationId xmlns:a16="http://schemas.microsoft.com/office/drawing/2014/main" id="{1719119B-1AEE-478C-97B0-E9F69CC9B3A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同じ外形寸法の木片を持ち比べ、質量を測定する</a:t>
            </a:r>
          </a:p>
        </p:txBody>
      </p:sp>
      <p:sp>
        <p:nvSpPr>
          <p:cNvPr id="6" name="正方形/長方形 5">
            <a:extLst xmlns:a="http://schemas.openxmlformats.org/drawingml/2006/main">
              <a:ext uri="{FF2B5EF4-FFF2-40B4-BE49-F238E27FC236}">
                <a16:creationId xmlns:a16="http://schemas.microsoft.com/office/drawing/2014/main" id="{BB89B1A5-6B9A-4585-8E97-4D17A99169B3}"/>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密度へ換算し、体感した重さの違いを説明する</a:t>
            </a:r>
          </a:p>
        </p:txBody>
      </p:sp>
      <p:sp>
        <p:nvSpPr>
          <p:cNvPr id="7" name="正方形/長方形 6">
            <a:extLst xmlns:a="http://schemas.openxmlformats.org/drawingml/2006/main">
              <a:ext uri="{FF2B5EF4-FFF2-40B4-BE49-F238E27FC236}">
                <a16:creationId xmlns:a16="http://schemas.microsoft.com/office/drawing/2014/main" id="{E3233829-53A8-4E3D-B832-E04BB3CC6E4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記録欄：寸法、質量、樹種、保管環境や含水状態</a:t>
            </a:r>
          </a:p>
        </p:txBody>
      </p:sp>
      <p:sp>
        <p:nvSpPr>
          <p:cNvPr id="8" name="正方形/長方形 7">
            <a:extLst xmlns:a="http://schemas.openxmlformats.org/drawingml/2006/main">
              <a:ext uri="{FF2B5EF4-FFF2-40B4-BE49-F238E27FC236}">
                <a16:creationId xmlns:a16="http://schemas.microsoft.com/office/drawing/2014/main" id="{DDF0CF55-A6E5-4A29-BF96-357D614D8D1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発問：重い試料は、水が多いのか、壁の割合が高いのか</a:t>
            </a:r>
          </a:p>
        </p:txBody>
      </p:sp>
      <p:sp>
        <p:nvSpPr>
          <p:cNvPr id="9" name="正方形/長方形 8">
            <a:extLst xmlns:a="http://schemas.openxmlformats.org/drawingml/2006/main">
              <a:ext uri="{FF2B5EF4-FFF2-40B4-BE49-F238E27FC236}">
                <a16:creationId xmlns:a16="http://schemas.microsoft.com/office/drawing/2014/main" id="{2E66936E-9DCD-432A-A6B1-9D30CEC76E4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公開指導案：重さ等の観察を、特徴を生かす利用へ結ぶ（ガイド参照）</a:t>
            </a:r>
          </a:p>
        </p:txBody>
      </p:sp>
    </p:spTree>
    <p:extLst>
      <p:ext uri="{BB962C8B-B14F-4D97-AF65-F5344CB8AC3E}">
        <p14:creationId xmlns:p14="http://schemas.microsoft.com/office/powerpoint/2010/main" val="41543874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01FE0A-3A7D-41A7-B443-AFBCBA43962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測定表と教師の発問を作る</a:t>
            </a:r>
          </a:p>
        </p:txBody>
      </p:sp>
      <p:sp>
        <p:nvSpPr>
          <p:cNvPr id="2" name="">
            <a:extLst xmlns:a="http://schemas.openxmlformats.org/drawingml/2006/main">
              <a:ext uri="{FF2B5EF4-FFF2-40B4-BE49-F238E27FC236}">
                <a16:creationId xmlns:a16="http://schemas.microsoft.com/office/drawing/2014/main" id="{7DAB392C-A9A3-46FD-8EAC-C2259FF7D5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ED968B-9DC9-4DCE-885E-DC7FDDFC643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15619576-9E5F-4204-9E09-23805D547FB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7BFB3C32-819C-4199-A748-0EB79F5C3598}"/>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同じ外形を目標に、木片3種類を比較する</a:t>
            </a:r>
          </a:p>
        </p:txBody>
      </p:sp>
      <p:sp>
        <p:nvSpPr>
          <p:cNvPr id="6" name="">
            <a:extLst xmlns:a="http://schemas.openxmlformats.org/drawingml/2006/main">
              <a:ext uri="{FF2B5EF4-FFF2-40B4-BE49-F238E27FC236}">
                <a16:creationId xmlns:a16="http://schemas.microsoft.com/office/drawing/2014/main" id="{0E66440E-385E-4D9E-9FF4-C1D88406FE1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記録欄を6つ以上、計算用／解釈用に分ける</a:t>
            </a:r>
          </a:p>
        </p:txBody>
      </p:sp>
      <p:sp>
        <p:nvSpPr>
          <p:cNvPr id="7" name="">
            <a:extLst xmlns:a="http://schemas.openxmlformats.org/drawingml/2006/main">
              <a:ext uri="{FF2B5EF4-FFF2-40B4-BE49-F238E27FC236}">
                <a16:creationId xmlns:a16="http://schemas.microsoft.com/office/drawing/2014/main" id="{334E9F6B-F4A3-413D-9BC5-69CC99BD8DC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「重い＝どんな場合も強い」を修正する声掛け</a:t>
            </a:r>
          </a:p>
        </p:txBody>
      </p:sp>
      <p:sp>
        <p:nvSpPr>
          <p:cNvPr id="8" name="">
            <a:extLst xmlns:a="http://schemas.openxmlformats.org/drawingml/2006/main">
              <a:ext uri="{FF2B5EF4-FFF2-40B4-BE49-F238E27FC236}">
                <a16:creationId xmlns:a16="http://schemas.microsoft.com/office/drawing/2014/main" id="{F20ABB92-DB2C-4A70-A1DC-EF5948B14EC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同じ木片の再測定と、別試料の測定を区別</a:t>
            </a:r>
          </a:p>
        </p:txBody>
      </p:sp>
    </p:spTree>
    <p:extLst>
      <p:ext uri="{BB962C8B-B14F-4D97-AF65-F5344CB8AC3E}">
        <p14:creationId xmlns:p14="http://schemas.microsoft.com/office/powerpoint/2010/main" val="9011211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774104-0985-4555-A298-7DF92161F93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4864D47A-8E9A-4FF6-948D-247A60195FF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A7AA1B-B5F6-4020-8055-12768568E96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CDA75F26-A8DA-4DAD-A848-CEA40FA7BD0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C337EA74-14A8-4445-8531-5FAA182AC4A8}"/>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6F190AE9-693B-4173-9CF6-B9994ED848BA}"/>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9392BAA9-CF35-445A-A798-83603D24D3CC}"/>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802CF4E-A178-4C43-BEAB-A2C88A8ED444}"/>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密度・比重・気乾を説明するへ進みます。</a:t>
            </a:r>
          </a:p>
        </p:txBody>
      </p:sp>
    </p:spTree>
    <p:extLst>
      <p:ext uri="{BB962C8B-B14F-4D97-AF65-F5344CB8AC3E}">
        <p14:creationId xmlns:p14="http://schemas.microsoft.com/office/powerpoint/2010/main" val="35699027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D6D912-90AA-4B7F-93A9-8B988E18A20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密度・比重・気乾を説明する</a:t>
            </a:r>
          </a:p>
        </p:txBody>
      </p:sp>
      <p:sp>
        <p:nvSpPr>
          <p:cNvPr id="2" name="">
            <a:extLst xmlns:a="http://schemas.openxmlformats.org/drawingml/2006/main">
              <a:ext uri="{FF2B5EF4-FFF2-40B4-BE49-F238E27FC236}">
                <a16:creationId xmlns:a16="http://schemas.microsoft.com/office/drawing/2014/main" id="{EB0CABAB-73F8-47EB-8633-A1AD2352A30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8BE8C2-2D98-4625-8E61-A41A4F8C3DC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0DF7EE5E-D726-4CAC-BF85-6E65C0C9F84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199871D-F073-4B5B-AD45-FBAA2B5D300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「比重0.5 g/cm³」を、例を添えて修正する</a:t>
            </a:r>
          </a:p>
        </p:txBody>
      </p:sp>
      <p:sp>
        <p:nvSpPr>
          <p:cNvPr id="6" name="">
            <a:extLst xmlns:a="http://schemas.openxmlformats.org/drawingml/2006/main">
              <a:ext uri="{FF2B5EF4-FFF2-40B4-BE49-F238E27FC236}">
                <a16:creationId xmlns:a16="http://schemas.microsoft.com/office/drawing/2014/main" id="{984C906B-386A-464E-870A-3150035F3F9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「気乾なら、いつでもMC15%」を修正する</a:t>
            </a:r>
          </a:p>
        </p:txBody>
      </p:sp>
      <p:sp>
        <p:nvSpPr>
          <p:cNvPr id="7" name="">
            <a:extLst xmlns:a="http://schemas.openxmlformats.org/drawingml/2006/main">
              <a:ext uri="{FF2B5EF4-FFF2-40B4-BE49-F238E27FC236}">
                <a16:creationId xmlns:a16="http://schemas.microsoft.com/office/drawing/2014/main" id="{50EF9ECC-0A6E-4B6A-8041-7951001FC150}"/>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まず定義と根拠を説明し、中学生向けにも1分で言い換える</a:t>
            </a:r>
          </a:p>
        </p:txBody>
      </p:sp>
      <p:sp>
        <p:nvSpPr>
          <p:cNvPr id="8" name="">
            <a:extLst xmlns:a="http://schemas.openxmlformats.org/drawingml/2006/main">
              <a:ext uri="{FF2B5EF4-FFF2-40B4-BE49-F238E27FC236}">
                <a16:creationId xmlns:a16="http://schemas.microsoft.com/office/drawing/2014/main" id="{09C30261-066A-4AF7-B8E5-CBE5C19C081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理解を確かめる問いを1つ加える</a:t>
            </a:r>
          </a:p>
        </p:txBody>
      </p:sp>
    </p:spTree>
    <p:extLst>
      <p:ext uri="{BB962C8B-B14F-4D97-AF65-F5344CB8AC3E}">
        <p14:creationId xmlns:p14="http://schemas.microsoft.com/office/powerpoint/2010/main" val="120012308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600C10FF-C763-4733-913E-9CA1015D09D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直線矢印コネクタ 1">
            <a:extLst xmlns:a="http://schemas.openxmlformats.org/drawingml/2006/main">
              <a:ext uri="{FF2B5EF4-FFF2-40B4-BE49-F238E27FC236}">
                <a16:creationId xmlns:a16="http://schemas.microsoft.com/office/drawing/2014/main" id="{C8C6A2EE-0790-4EBF-9DB9-EB1540B01622}"/>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2C500634-3826-4AF3-8299-05D510AE531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BDC7CA55-A5AC-4611-ADDA-894980C2CB2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正方形/長方形 4">
            <a:extLst xmlns:a="http://schemas.openxmlformats.org/drawingml/2006/main">
              <a:ext uri="{FF2B5EF4-FFF2-40B4-BE49-F238E27FC236}">
                <a16:creationId xmlns:a16="http://schemas.microsoft.com/office/drawing/2014/main" id="{58BDC31D-26C0-497B-B2C1-18C34A6E3D7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比重にkg/m³を付けるか</a:t>
            </a:r>
          </a:p>
        </p:txBody>
      </p:sp>
      <p:sp>
        <p:nvSpPr>
          <p:cNvPr id="6" name="正方形/長方形 5">
            <a:extLst xmlns:a="http://schemas.openxmlformats.org/drawingml/2006/main">
              <a:ext uri="{FF2B5EF4-FFF2-40B4-BE49-F238E27FC236}">
                <a16:creationId xmlns:a16="http://schemas.microsoft.com/office/drawing/2014/main" id="{B5A65FA1-9214-4299-9C22-5CF71E1CB53E}"/>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基本密度の分子は何か</a:t>
            </a:r>
          </a:p>
        </p:txBody>
      </p:sp>
      <p:sp>
        <p:nvSpPr>
          <p:cNvPr id="7" name="正方形/長方形 6">
            <a:extLst xmlns:a="http://schemas.openxmlformats.org/drawingml/2006/main">
              <a:ext uri="{FF2B5EF4-FFF2-40B4-BE49-F238E27FC236}">
                <a16:creationId xmlns:a16="http://schemas.microsoft.com/office/drawing/2014/main" id="{041D1532-F66D-4952-B545-1B6163EE3F5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測定状態不明の密度を比較してよいか</a:t>
            </a:r>
          </a:p>
        </p:txBody>
      </p:sp>
    </p:spTree>
    <p:extLst>
      <p:ext uri="{BB962C8B-B14F-4D97-AF65-F5344CB8AC3E}">
        <p14:creationId xmlns:p14="http://schemas.microsoft.com/office/powerpoint/2010/main" val="92557330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0FEC764A-F475-4B47-B880-695115B6283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直線矢印コネクタ 1">
            <a:extLst xmlns:a="http://schemas.openxmlformats.org/drawingml/2006/main">
              <a:ext uri="{FF2B5EF4-FFF2-40B4-BE49-F238E27FC236}">
                <a16:creationId xmlns:a16="http://schemas.microsoft.com/office/drawing/2014/main" id="{D594D200-8593-4A67-881F-0271AC561CE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2BB6561-413C-4707-9B24-A9CF52A3380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F57AB482-BC13-4BE2-977C-E28F5800C27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35</a:t>
            </a:r>
          </a:p>
        </p:txBody>
      </p:sp>
      <p:sp>
        <p:nvSpPr>
          <p:cNvPr id="5" name="正方形/長方形 4">
            <a:extLst xmlns:a="http://schemas.openxmlformats.org/drawingml/2006/main">
              <a:ext uri="{FF2B5EF4-FFF2-40B4-BE49-F238E27FC236}">
                <a16:creationId xmlns:a16="http://schemas.microsoft.com/office/drawing/2014/main" id="{8A14DB24-65E6-41C4-ABC9-3151AB34757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絶乾質量80 g、全乾体積160 cm³、飽水体積180 cm³</a:t>
            </a:r>
          </a:p>
        </p:txBody>
      </p:sp>
      <p:sp>
        <p:nvSpPr>
          <p:cNvPr id="6" name="正方形/長方形 5">
            <a:extLst xmlns:a="http://schemas.openxmlformats.org/drawingml/2006/main">
              <a:ext uri="{FF2B5EF4-FFF2-40B4-BE49-F238E27FC236}">
                <a16:creationId xmlns:a16="http://schemas.microsoft.com/office/drawing/2014/main" id="{30BCFE66-D7E4-4E71-8987-2EF14EC8494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全乾密度・基本密度・基本比重を求める</a:t>
            </a:r>
          </a:p>
        </p:txBody>
      </p:sp>
      <p:sp>
        <p:nvSpPr>
          <p:cNvPr id="7" name="正方形/長方形 6">
            <a:extLst xmlns:a="http://schemas.openxmlformats.org/drawingml/2006/main">
              <a:ext uri="{FF2B5EF4-FFF2-40B4-BE49-F238E27FC236}">
                <a16:creationId xmlns:a16="http://schemas.microsoft.com/office/drawing/2014/main" id="{69AD9A44-E8B0-4A4F-A338-2B87CD1F06F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発展：全乾モデル・壁物質密度1.50 g/cm³で空隙率を求める</a:t>
            </a:r>
          </a:p>
        </p:txBody>
      </p:sp>
    </p:spTree>
    <p:extLst>
      <p:ext uri="{BB962C8B-B14F-4D97-AF65-F5344CB8AC3E}">
        <p14:creationId xmlns:p14="http://schemas.microsoft.com/office/powerpoint/2010/main" val="1905627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C2055A36-ECCC-4318-BE4B-46D26324847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直線矢印コネクタ 1">
            <a:extLst xmlns:a="http://schemas.openxmlformats.org/drawingml/2006/main">
              <a:ext uri="{FF2B5EF4-FFF2-40B4-BE49-F238E27FC236}">
                <a16:creationId xmlns:a16="http://schemas.microsoft.com/office/drawing/2014/main" id="{3BCDD2B8-038E-4574-91A2-A69294CD31F6}"/>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22C670D5-017F-4EA2-8537-92DFCDD4C60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3350B6F6-24DF-46DE-9405-2325805A442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a:t>
            </a:r>
          </a:p>
        </p:txBody>
      </p:sp>
      <p:sp>
        <p:nvSpPr>
          <p:cNvPr id="5" name="正方形/長方形 4">
            <a:extLst xmlns:a="http://schemas.openxmlformats.org/drawingml/2006/main">
              <a:ext uri="{FF2B5EF4-FFF2-40B4-BE49-F238E27FC236}">
                <a16:creationId xmlns:a16="http://schemas.microsoft.com/office/drawing/2014/main" id="{3DBA0092-302A-48E9-A6EA-554037BC568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密度は単位付き、比重は基準との比</a:t>
            </a:r>
          </a:p>
        </p:txBody>
      </p:sp>
      <p:sp>
        <p:nvSpPr>
          <p:cNvPr id="6" name="正方形/長方形 5">
            <a:extLst xmlns:a="http://schemas.openxmlformats.org/drawingml/2006/main">
              <a:ext uri="{FF2B5EF4-FFF2-40B4-BE49-F238E27FC236}">
                <a16:creationId xmlns:a16="http://schemas.microsoft.com/office/drawing/2014/main" id="{FCED2A43-3520-43FB-9813-C8CC7D8F7569}"/>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全乾・気乾・基本の定義を分ける</a:t>
            </a:r>
          </a:p>
        </p:txBody>
      </p:sp>
      <p:sp>
        <p:nvSpPr>
          <p:cNvPr id="7" name="正方形/長方形 6">
            <a:extLst xmlns:a="http://schemas.openxmlformats.org/drawingml/2006/main">
              <a:ext uri="{FF2B5EF4-FFF2-40B4-BE49-F238E27FC236}">
                <a16:creationId xmlns:a16="http://schemas.microsoft.com/office/drawing/2014/main" id="{8BD17E32-A209-4956-84B3-D6321DA9253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次は、含水率から水の量を扱う</a:t>
            </a:r>
          </a:p>
        </p:txBody>
      </p:sp>
    </p:spTree>
    <p:extLst>
      <p:ext uri="{BB962C8B-B14F-4D97-AF65-F5344CB8AC3E}">
        <p14:creationId xmlns:p14="http://schemas.microsoft.com/office/powerpoint/2010/main" val="121409956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正方形/長方形 11">
            <a:extLst xmlns:a="http://schemas.openxmlformats.org/drawingml/2006/main">
              <a:ext uri="{FF2B5EF4-FFF2-40B4-BE49-F238E27FC236}">
                <a16:creationId xmlns:a16="http://schemas.microsoft.com/office/drawing/2014/main" id="{DCD1AEA8-B877-4803-8A40-463479CC27F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直線矢印コネクタ 1">
            <a:extLst xmlns:a="http://schemas.openxmlformats.org/drawingml/2006/main">
              <a:ext uri="{FF2B5EF4-FFF2-40B4-BE49-F238E27FC236}">
                <a16:creationId xmlns:a16="http://schemas.microsoft.com/office/drawing/2014/main" id="{3848A397-5C6C-45A5-B2A6-CE578DA7F944}"/>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B630A7E-B172-43CA-AE25-D7C2C32B4A1C}"/>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4" name="正方形/長方形 3">
            <a:extLst xmlns:a="http://schemas.openxmlformats.org/drawingml/2006/main">
              <a:ext uri="{FF2B5EF4-FFF2-40B4-BE49-F238E27FC236}">
                <a16:creationId xmlns:a16="http://schemas.microsoft.com/office/drawing/2014/main" id="{FDB9443E-6C58-4B72-B542-4F8A5A65F538}"/>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5" name="正方形/長方形 4">
            <a:extLst xmlns:a="http://schemas.openxmlformats.org/drawingml/2006/main">
              <a:ext uri="{FF2B5EF4-FFF2-40B4-BE49-F238E27FC236}">
                <a16:creationId xmlns:a16="http://schemas.microsoft.com/office/drawing/2014/main" id="{E60DE9BE-B637-40FA-B24F-35E5EDF5B86C}"/>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正方形/長方形 5">
            <a:extLst xmlns:a="http://schemas.openxmlformats.org/drawingml/2006/main">
              <a:ext uri="{FF2B5EF4-FFF2-40B4-BE49-F238E27FC236}">
                <a16:creationId xmlns:a16="http://schemas.microsoft.com/office/drawing/2014/main" id="{94CD32EA-8EDA-46B2-B11A-57BEAA6B10DD}"/>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正方形/長方形 6">
            <a:extLst xmlns:a="http://schemas.openxmlformats.org/drawingml/2006/main">
              <a:ext uri="{FF2B5EF4-FFF2-40B4-BE49-F238E27FC236}">
                <a16:creationId xmlns:a16="http://schemas.microsoft.com/office/drawing/2014/main" id="{3F87937B-D868-4A96-8BD4-AA27442E5726}"/>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8" name="正方形/長方形 7">
            <a:extLst xmlns:a="http://schemas.openxmlformats.org/drawingml/2006/main">
              <a:ext uri="{FF2B5EF4-FFF2-40B4-BE49-F238E27FC236}">
                <a16:creationId xmlns:a16="http://schemas.microsoft.com/office/drawing/2014/main" id="{C40F1301-56DC-4350-9BD4-E0B8846EAA0B}"/>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9" name="正方形/長方形 8">
            <a:extLst xmlns:a="http://schemas.openxmlformats.org/drawingml/2006/main">
              <a:ext uri="{FF2B5EF4-FFF2-40B4-BE49-F238E27FC236}">
                <a16:creationId xmlns:a16="http://schemas.microsoft.com/office/drawing/2014/main" id="{63A3D24A-F389-49FF-8234-88F22E1AD24A}"/>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正方形/長方形 9">
            <a:extLst xmlns:a="http://schemas.openxmlformats.org/drawingml/2006/main">
              <a:ext uri="{FF2B5EF4-FFF2-40B4-BE49-F238E27FC236}">
                <a16:creationId xmlns:a16="http://schemas.microsoft.com/office/drawing/2014/main" id="{29949CCD-8461-42AC-8026-FEDCBEEA0BC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11" name="正方形/長方形 10">
            <a:extLst xmlns:a="http://schemas.openxmlformats.org/drawingml/2006/main">
              <a:ext uri="{FF2B5EF4-FFF2-40B4-BE49-F238E27FC236}">
                <a16:creationId xmlns:a16="http://schemas.microsoft.com/office/drawing/2014/main" id="{FE64F556-03D2-4740-89EC-4FD186D88EF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37</a:t>
            </a:r>
          </a:p>
        </p:txBody>
      </p:sp>
    </p:spTree>
    <p:extLst>
      <p:ext uri="{BB962C8B-B14F-4D97-AF65-F5344CB8AC3E}">
        <p14:creationId xmlns:p14="http://schemas.microsoft.com/office/powerpoint/2010/main" val="125362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2026-10-31T09:10:45.5790000Z</dcterms:created>
  <dcterms:modified xsi:type="dcterms:W3CDTF">2026-10-31T09:10:45.5790000Z</dcterms:modified>
</coreProperties>
</file>