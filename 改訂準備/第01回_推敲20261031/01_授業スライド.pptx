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7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1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2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3.xml" ContentType="application/vnd.openxmlformats-officedocument.drawingml.chart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20f5ab488b498a" /><Relationship Type="http://schemas.openxmlformats.org/officeDocument/2006/relationships/extended-properties" Target="/docProps/app.xml" Id="R0ef86f8a3eff4ab3" /><Relationship Type="http://schemas.openxmlformats.org/officeDocument/2006/relationships/officeDocument" Target="/ppt/presentation.xml" Id="R9f3eea009f8f43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f492d28ae64fbf"/>
    <p:sldMasterId xmlns:r="http://schemas.openxmlformats.org/officeDocument/2006/relationships" id="2147483655" r:id="R99d1223cda6742a3"/>
    <p:sldMasterId xmlns:r="http://schemas.openxmlformats.org/officeDocument/2006/relationships" id="2147483662" r:id="Rdcce401c4d304ab3"/>
    <p:sldMasterId xmlns:r="http://schemas.openxmlformats.org/officeDocument/2006/relationships" id="2147483669" r:id="Rc51e556a624044e6"/>
    <p:sldMasterId xmlns:r="http://schemas.openxmlformats.org/officeDocument/2006/relationships" id="2147483676" r:id="R2826f1f88c60401d"/>
  </p:sldMasterIdLst>
  <p:notesMasterIdLst>
    <p:notesMasterId xmlns:r="http://schemas.openxmlformats.org/officeDocument/2006/relationships" r:id="R43b00150d3fe4733"/>
  </p:notesMasterIdLst>
  <p:sldIdLst>
    <p:sldId xmlns:r="http://schemas.openxmlformats.org/officeDocument/2006/relationships" id="256" r:id="R3f3db2cf3a074cee"/>
    <p:sldId xmlns:r="http://schemas.openxmlformats.org/officeDocument/2006/relationships" id="257" r:id="Re874113533514e49"/>
    <p:sldId xmlns:r="http://schemas.openxmlformats.org/officeDocument/2006/relationships" id="258" r:id="Rf215c070a4634aa3"/>
    <p:sldId xmlns:r="http://schemas.openxmlformats.org/officeDocument/2006/relationships" id="259" r:id="Ra056f290054e470e"/>
    <p:sldId xmlns:r="http://schemas.openxmlformats.org/officeDocument/2006/relationships" id="260" r:id="Re2fa0a08974b4bfe"/>
    <p:sldId xmlns:r="http://schemas.openxmlformats.org/officeDocument/2006/relationships" id="261" r:id="Rfe132be70a9547c8"/>
    <p:sldId xmlns:r="http://schemas.openxmlformats.org/officeDocument/2006/relationships" id="262" r:id="R125b795ddb0444ba"/>
    <p:sldId xmlns:r="http://schemas.openxmlformats.org/officeDocument/2006/relationships" id="263" r:id="Rbf58a3a7f9bb4832"/>
    <p:sldId xmlns:r="http://schemas.openxmlformats.org/officeDocument/2006/relationships" id="264" r:id="R1c6183aac7574942"/>
    <p:sldId xmlns:r="http://schemas.openxmlformats.org/officeDocument/2006/relationships" id="265" r:id="R10c31f5fd5544a9b"/>
    <p:sldId xmlns:r="http://schemas.openxmlformats.org/officeDocument/2006/relationships" id="266" r:id="R6fcb18c801074888"/>
    <p:sldId xmlns:r="http://schemas.openxmlformats.org/officeDocument/2006/relationships" id="267" r:id="R30549815333041a5"/>
    <p:sldId xmlns:r="http://schemas.openxmlformats.org/officeDocument/2006/relationships" id="268" r:id="Rd968d672617449a1"/>
    <p:sldId xmlns:r="http://schemas.openxmlformats.org/officeDocument/2006/relationships" id="269" r:id="Rdf2ad1cda3a947b9"/>
    <p:sldId xmlns:r="http://schemas.openxmlformats.org/officeDocument/2006/relationships" id="270" r:id="Re94654023f4d4e8e"/>
    <p:sldId xmlns:r="http://schemas.openxmlformats.org/officeDocument/2006/relationships" id="271" r:id="R9e215792a0634d2b"/>
    <p:sldId xmlns:r="http://schemas.openxmlformats.org/officeDocument/2006/relationships" id="272" r:id="Rf8d5ea740d144421"/>
    <p:sldId xmlns:r="http://schemas.openxmlformats.org/officeDocument/2006/relationships" id="273" r:id="Rb0adc538af6346c4"/>
    <p:sldId xmlns:r="http://schemas.openxmlformats.org/officeDocument/2006/relationships" id="274" r:id="R7845eccbde494e13"/>
    <p:sldId xmlns:r="http://schemas.openxmlformats.org/officeDocument/2006/relationships" id="275" r:id="Ra6b13ed2d5bb4473"/>
    <p:sldId xmlns:r="http://schemas.openxmlformats.org/officeDocument/2006/relationships" id="276" r:id="Ra5375591c74d4141"/>
    <p:sldId xmlns:r="http://schemas.openxmlformats.org/officeDocument/2006/relationships" id="277" r:id="R615592e72a8e44d5"/>
    <p:sldId xmlns:r="http://schemas.openxmlformats.org/officeDocument/2006/relationships" id="278" r:id="Rb10f74e3d041434b"/>
    <p:sldId xmlns:r="http://schemas.openxmlformats.org/officeDocument/2006/relationships" id="279" r:id="Rf014f4f2674a42fd"/>
    <p:sldId xmlns:r="http://schemas.openxmlformats.org/officeDocument/2006/relationships" id="280" r:id="R176482441ac54231"/>
    <p:sldId xmlns:r="http://schemas.openxmlformats.org/officeDocument/2006/relationships" id="281" r:id="R1a0c44959dca40e9"/>
    <p:sldId xmlns:r="http://schemas.openxmlformats.org/officeDocument/2006/relationships" id="282" r:id="Rdab8f79398c444ca"/>
    <p:sldId xmlns:r="http://schemas.openxmlformats.org/officeDocument/2006/relationships" id="283" r:id="R19ed1c4f30714af1"/>
    <p:sldId xmlns:r="http://schemas.openxmlformats.org/officeDocument/2006/relationships" id="284" r:id="Ra63e96c70cf2482c"/>
    <p:sldId xmlns:r="http://schemas.openxmlformats.org/officeDocument/2006/relationships" id="285" r:id="Rdce6b92a1f514073"/>
    <p:sldId xmlns:r="http://schemas.openxmlformats.org/officeDocument/2006/relationships" id="286" r:id="R634b214353f24606"/>
    <p:sldId xmlns:r="http://schemas.openxmlformats.org/officeDocument/2006/relationships" id="287" r:id="R972b2597f85646ce"/>
    <p:sldId xmlns:r="http://schemas.openxmlformats.org/officeDocument/2006/relationships" id="288" r:id="Rd5dd6bc0da5b49df"/>
    <p:sldId xmlns:r="http://schemas.openxmlformats.org/officeDocument/2006/relationships" id="289" r:id="Rb4bb9457423846e5"/>
    <p:sldId xmlns:r="http://schemas.openxmlformats.org/officeDocument/2006/relationships" id="290" r:id="Ra6faa68231bb49dc"/>
    <p:sldId xmlns:r="http://schemas.openxmlformats.org/officeDocument/2006/relationships" id="291" r:id="R1b11d98f995043a4"/>
    <p:sldId xmlns:r="http://schemas.openxmlformats.org/officeDocument/2006/relationships" id="292" r:id="R3d9e87cfd6f04a9b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92c9f712204eb7" /><Relationship Type="http://schemas.openxmlformats.org/officeDocument/2006/relationships/slideMaster" Target="/ppt/slideMasters/slideMaster1.xml" Id="Rc8f492d28ae64fbf" /><Relationship Type="http://schemas.openxmlformats.org/officeDocument/2006/relationships/slideMaster" Target="/ppt/slideMasters/slideMaster2.xml" Id="R99d1223cda6742a3" /><Relationship Type="http://schemas.openxmlformats.org/officeDocument/2006/relationships/slideMaster" Target="/ppt/slideMasters/slideMaster3.xml" Id="Rdcce401c4d304ab3" /><Relationship Type="http://schemas.openxmlformats.org/officeDocument/2006/relationships/slideMaster" Target="/ppt/slideMasters/slideMaster4.xml" Id="Rc51e556a624044e6" /><Relationship Type="http://schemas.openxmlformats.org/officeDocument/2006/relationships/slideMaster" Target="/ppt/slideMasters/slideMaster5.xml" Id="R2826f1f88c60401d" /><Relationship Type="http://schemas.openxmlformats.org/officeDocument/2006/relationships/notesMaster" Target="/ppt/notesMasters/notesMaster1.xml" Id="R43b00150d3fe4733" /><Relationship Type="http://schemas.openxmlformats.org/officeDocument/2006/relationships/presProps" Target="/ppt/presProps.xml" Id="R8f0a8697d8b74c5d" /><Relationship Type="http://schemas.openxmlformats.org/officeDocument/2006/relationships/viewProps" Target="/ppt/viewProps.xml" Id="R5949ce74257a4999" /><Relationship Type="http://schemas.openxmlformats.org/officeDocument/2006/relationships/tableStyles" Target="/ppt/tableStyles.xml" Id="R3846f3e1a8424865" /><Relationship Type="http://schemas.openxmlformats.org/officeDocument/2006/relationships/slide" Target="/ppt/slides/slide1.xml" Id="R3f3db2cf3a074cee" /><Relationship Type="http://schemas.openxmlformats.org/officeDocument/2006/relationships/slide" Target="/ppt/slides/slide2.xml" Id="Re874113533514e49" /><Relationship Type="http://schemas.openxmlformats.org/officeDocument/2006/relationships/slide" Target="/ppt/slides/slide3.xml" Id="Rf215c070a4634aa3" /><Relationship Type="http://schemas.openxmlformats.org/officeDocument/2006/relationships/slide" Target="/ppt/slides/slide4.xml" Id="Ra056f290054e470e" /><Relationship Type="http://schemas.openxmlformats.org/officeDocument/2006/relationships/slide" Target="/ppt/slides/slide5.xml" Id="Re2fa0a08974b4bfe" /><Relationship Type="http://schemas.openxmlformats.org/officeDocument/2006/relationships/slide" Target="/ppt/slides/slide6.xml" Id="Rfe132be70a9547c8" /><Relationship Type="http://schemas.openxmlformats.org/officeDocument/2006/relationships/slide" Target="/ppt/slides/slide7.xml" Id="R125b795ddb0444ba" /><Relationship Type="http://schemas.openxmlformats.org/officeDocument/2006/relationships/slide" Target="/ppt/slides/slide8.xml" Id="Rbf58a3a7f9bb4832" /><Relationship Type="http://schemas.openxmlformats.org/officeDocument/2006/relationships/slide" Target="/ppt/slides/slide9.xml" Id="R1c6183aac7574942" /><Relationship Type="http://schemas.openxmlformats.org/officeDocument/2006/relationships/slide" Target="/ppt/slides/slide10.xml" Id="R10c31f5fd5544a9b" /><Relationship Type="http://schemas.openxmlformats.org/officeDocument/2006/relationships/slide" Target="/ppt/slides/slide11.xml" Id="R6fcb18c801074888" /><Relationship Type="http://schemas.openxmlformats.org/officeDocument/2006/relationships/slide" Target="/ppt/slides/slide12.xml" Id="R30549815333041a5" /><Relationship Type="http://schemas.openxmlformats.org/officeDocument/2006/relationships/slide" Target="/ppt/slides/slide13.xml" Id="Rd968d672617449a1" /><Relationship Type="http://schemas.openxmlformats.org/officeDocument/2006/relationships/slide" Target="/ppt/slides/slide14.xml" Id="Rdf2ad1cda3a947b9" /><Relationship Type="http://schemas.openxmlformats.org/officeDocument/2006/relationships/slide" Target="/ppt/slides/slide15.xml" Id="Re94654023f4d4e8e" /><Relationship Type="http://schemas.openxmlformats.org/officeDocument/2006/relationships/slide" Target="/ppt/slides/slide16.xml" Id="R9e215792a0634d2b" /><Relationship Type="http://schemas.openxmlformats.org/officeDocument/2006/relationships/slide" Target="/ppt/slides/slide17.xml" Id="Rf8d5ea740d144421" /><Relationship Type="http://schemas.openxmlformats.org/officeDocument/2006/relationships/slide" Target="/ppt/slides/slide18.xml" Id="Rb0adc538af6346c4" /><Relationship Type="http://schemas.openxmlformats.org/officeDocument/2006/relationships/slide" Target="/ppt/slides/slide19.xml" Id="R7845eccbde494e13" /><Relationship Type="http://schemas.openxmlformats.org/officeDocument/2006/relationships/slide" Target="/ppt/slides/slide20.xml" Id="Ra6b13ed2d5bb4473" /><Relationship Type="http://schemas.openxmlformats.org/officeDocument/2006/relationships/slide" Target="/ppt/slides/slide21.xml" Id="Ra5375591c74d4141" /><Relationship Type="http://schemas.openxmlformats.org/officeDocument/2006/relationships/slide" Target="/ppt/slides/slide22.xml" Id="R615592e72a8e44d5" /><Relationship Type="http://schemas.openxmlformats.org/officeDocument/2006/relationships/slide" Target="/ppt/slides/slide23.xml" Id="Rb10f74e3d041434b" /><Relationship Type="http://schemas.openxmlformats.org/officeDocument/2006/relationships/slide" Target="/ppt/slides/slide24.xml" Id="Rf014f4f2674a42fd" /><Relationship Type="http://schemas.openxmlformats.org/officeDocument/2006/relationships/slide" Target="/ppt/slides/slide25.xml" Id="R176482441ac54231" /><Relationship Type="http://schemas.openxmlformats.org/officeDocument/2006/relationships/slide" Target="/ppt/slides/slide26.xml" Id="R1a0c44959dca40e9" /><Relationship Type="http://schemas.openxmlformats.org/officeDocument/2006/relationships/slide" Target="/ppt/slides/slide27.xml" Id="Rdab8f79398c444ca" /><Relationship Type="http://schemas.openxmlformats.org/officeDocument/2006/relationships/slide" Target="/ppt/slides/slide28.xml" Id="R19ed1c4f30714af1" /><Relationship Type="http://schemas.openxmlformats.org/officeDocument/2006/relationships/slide" Target="/ppt/slides/slide29.xml" Id="Ra63e96c70cf2482c" /><Relationship Type="http://schemas.openxmlformats.org/officeDocument/2006/relationships/slide" Target="/ppt/slides/slide30.xml" Id="Rdce6b92a1f514073" /><Relationship Type="http://schemas.openxmlformats.org/officeDocument/2006/relationships/slide" Target="/ppt/slides/slide31.xml" Id="R634b214353f24606" /><Relationship Type="http://schemas.openxmlformats.org/officeDocument/2006/relationships/slide" Target="/ppt/slides/slide32.xml" Id="R972b2597f85646ce" /><Relationship Type="http://schemas.openxmlformats.org/officeDocument/2006/relationships/slide" Target="/ppt/slides/slide33.xml" Id="Rd5dd6bc0da5b49df" /><Relationship Type="http://schemas.openxmlformats.org/officeDocument/2006/relationships/slide" Target="/ppt/slides/slide34.xml" Id="Rb4bb9457423846e5" /><Relationship Type="http://schemas.openxmlformats.org/officeDocument/2006/relationships/slide" Target="/ppt/slides/slide35.xml" Id="Ra6faa68231bb49dc" /><Relationship Type="http://schemas.openxmlformats.org/officeDocument/2006/relationships/slide" Target="/ppt/slides/slide36.xml" Id="R1b11d98f995043a4" /><Relationship Type="http://schemas.openxmlformats.org/officeDocument/2006/relationships/slide" Target="/ppt/slides/slide37.xml" Id="R3d9e87cfd6f04a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7.xml" Id="Rfd04c13c0e6d45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28424bace545e9" /><Relationship Type="http://schemas.openxmlformats.org/officeDocument/2006/relationships/notesMaster" Target="/ppt/notesMasters/notesMaster1.xml" Id="R0e789c098c3e41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51ecf870f34827" /><Relationship Type="http://schemas.openxmlformats.org/officeDocument/2006/relationships/notesMaster" Target="/ppt/notesMasters/notesMaster1.xml" Id="Rdfc53314b5e34f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7dcf839196483d" /><Relationship Type="http://schemas.openxmlformats.org/officeDocument/2006/relationships/notesMaster" Target="/ppt/notesMasters/notesMaster1.xml" Id="R8516e825cb7540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33adbffc574021" /><Relationship Type="http://schemas.openxmlformats.org/officeDocument/2006/relationships/notesMaster" Target="/ppt/notesMasters/notesMaster1.xml" Id="R537a299f2dfc45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3add9abe0741fb" /><Relationship Type="http://schemas.openxmlformats.org/officeDocument/2006/relationships/notesMaster" Target="/ppt/notesMasters/notesMaster1.xml" Id="Ra467fbf9e24d40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2a4a04f3474548" /><Relationship Type="http://schemas.openxmlformats.org/officeDocument/2006/relationships/notesMaster" Target="/ppt/notesMasters/notesMaster1.xml" Id="R805e81fecd6049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93e9320e4c4f0a" /><Relationship Type="http://schemas.openxmlformats.org/officeDocument/2006/relationships/notesMaster" Target="/ppt/notesMasters/notesMaster1.xml" Id="Rd87cef259d0040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beccfdc99341fb" /><Relationship Type="http://schemas.openxmlformats.org/officeDocument/2006/relationships/notesMaster" Target="/ppt/notesMasters/notesMaster1.xml" Id="Rfd8e25b6cbf74e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d14bfddfd24220" /><Relationship Type="http://schemas.openxmlformats.org/officeDocument/2006/relationships/notesMaster" Target="/ppt/notesMasters/notesMaster1.xml" Id="R63fad1e06caa4f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c590a477404522" /><Relationship Type="http://schemas.openxmlformats.org/officeDocument/2006/relationships/notesMaster" Target="/ppt/notesMasters/notesMaster1.xml" Id="Ra7bf249de14147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9f16f38b54446f" /><Relationship Type="http://schemas.openxmlformats.org/officeDocument/2006/relationships/notesMaster" Target="/ppt/notesMasters/notesMaster1.xml" Id="Ra74c6276f5e842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32c725cf784da3" /><Relationship Type="http://schemas.openxmlformats.org/officeDocument/2006/relationships/notesMaster" Target="/ppt/notesMasters/notesMaster1.xml" Id="Refd117430499490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131257876f49ff" /><Relationship Type="http://schemas.openxmlformats.org/officeDocument/2006/relationships/notesMaster" Target="/ppt/notesMasters/notesMaster1.xml" Id="Re7f8a6883b4a441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a13b3c1e5a245e5" /><Relationship Type="http://schemas.openxmlformats.org/officeDocument/2006/relationships/notesMaster" Target="/ppt/notesMasters/notesMaster1.xml" Id="R93e71976079542b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dfc29eb0641448b" /><Relationship Type="http://schemas.openxmlformats.org/officeDocument/2006/relationships/notesMaster" Target="/ppt/notesMasters/notesMaster1.xml" Id="R4146b048aa434e9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e96a8ba120e42ad" /><Relationship Type="http://schemas.openxmlformats.org/officeDocument/2006/relationships/notesMaster" Target="/ppt/notesMasters/notesMaster1.xml" Id="Ra1eb52eb463d4c7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5ac4cdd39649a2" /><Relationship Type="http://schemas.openxmlformats.org/officeDocument/2006/relationships/notesMaster" Target="/ppt/notesMasters/notesMaster1.xml" Id="R9ff78b7b949949e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8ed2e88fa28462c" /><Relationship Type="http://schemas.openxmlformats.org/officeDocument/2006/relationships/notesMaster" Target="/ppt/notesMasters/notesMaster1.xml" Id="R7a81f40e50984aa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27e62193c974f3a" /><Relationship Type="http://schemas.openxmlformats.org/officeDocument/2006/relationships/notesMaster" Target="/ppt/notesMasters/notesMaster1.xml" Id="Rcd64fd23a719443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e303dc483b54880" /><Relationship Type="http://schemas.openxmlformats.org/officeDocument/2006/relationships/notesMaster" Target="/ppt/notesMasters/notesMaster1.xml" Id="R4949145aa702422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51974f7ddc14c10" /><Relationship Type="http://schemas.openxmlformats.org/officeDocument/2006/relationships/notesMaster" Target="/ppt/notesMasters/notesMaster1.xml" Id="R1171286e33d04ec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78b1b243b424200" /><Relationship Type="http://schemas.openxmlformats.org/officeDocument/2006/relationships/notesMaster" Target="/ppt/notesMasters/notesMaster1.xml" Id="Ree5f387713bb43d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bc8197bf7764686" /><Relationship Type="http://schemas.openxmlformats.org/officeDocument/2006/relationships/notesMaster" Target="/ppt/notesMasters/notesMaster1.xml" Id="R370ff1adb4f441f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ee71ab5eb4f4543" /><Relationship Type="http://schemas.openxmlformats.org/officeDocument/2006/relationships/notesMaster" Target="/ppt/notesMasters/notesMaster1.xml" Id="R0cd04be7a11a446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a2448ba6089483a" /><Relationship Type="http://schemas.openxmlformats.org/officeDocument/2006/relationships/notesMaster" Target="/ppt/notesMasters/notesMaster1.xml" Id="Rddaf0cbce8754de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668a74d60134b69" /><Relationship Type="http://schemas.openxmlformats.org/officeDocument/2006/relationships/notesMaster" Target="/ppt/notesMasters/notesMaster1.xml" Id="R47d6b8e571da458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16a9985ec9c48d5" /><Relationship Type="http://schemas.openxmlformats.org/officeDocument/2006/relationships/notesMaster" Target="/ppt/notesMasters/notesMaster1.xml" Id="R6e0e0caaa8cb431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7bef18050724906" /><Relationship Type="http://schemas.openxmlformats.org/officeDocument/2006/relationships/notesMaster" Target="/ppt/notesMasters/notesMaster1.xml" Id="Rb767d666090c498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d2be33dc7e14e16" /><Relationship Type="http://schemas.openxmlformats.org/officeDocument/2006/relationships/notesMaster" Target="/ppt/notesMasters/notesMaster1.xml" Id="R967d523fe62d4ae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bb1b05cb10f4776" /><Relationship Type="http://schemas.openxmlformats.org/officeDocument/2006/relationships/notesMaster" Target="/ppt/notesMasters/notesMaster1.xml" Id="R0dc273f25f774b4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7eb6ab271844146" /><Relationship Type="http://schemas.openxmlformats.org/officeDocument/2006/relationships/notesMaster" Target="/ppt/notesMasters/notesMaster1.xml" Id="R4b2c7b5a58d748f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d0196ac91c64173" /><Relationship Type="http://schemas.openxmlformats.org/officeDocument/2006/relationships/notesMaster" Target="/ppt/notesMasters/notesMaster1.xml" Id="R5f931125780346f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440ce9a1b6a47a9" /><Relationship Type="http://schemas.openxmlformats.org/officeDocument/2006/relationships/notesMaster" Target="/ppt/notesMasters/notesMaster1.xml" Id="R2856515432ac4df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ffdf4751f134797" /><Relationship Type="http://schemas.openxmlformats.org/officeDocument/2006/relationships/notesMaster" Target="/ppt/notesMasters/notesMaster1.xml" Id="R66902ebde41a400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f774c82c8354b63" /><Relationship Type="http://schemas.openxmlformats.org/officeDocument/2006/relationships/notesMaster" Target="/ppt/notesMasters/notesMaster1.xml" Id="Ref0ab3dce12d4dc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2ab9bc08e92423d" /><Relationship Type="http://schemas.openxmlformats.org/officeDocument/2006/relationships/notesMaster" Target="/ppt/notesMasters/notesMaster1.xml" Id="R519dd294c5664d1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d36fa09dc534d85" /><Relationship Type="http://schemas.openxmlformats.org/officeDocument/2006/relationships/notesMaster" Target="/ppt/notesMasters/notesMaster1.xml" Id="Re56654496a4246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科目情報は担当教員のコメント（2026年10月24日）による。シラバスURLは指定されたリンク。リンク先の個別科目の本文は未確認。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出典：Forest Products Laboratory (2021), Wood Handbook, Chapter 3. https://research.fs.usda.gov/treesearch/62242</a:t>
            </a:r>
          </a:p>
          <a:p xmlns:a="http://schemas.openxmlformats.org/drawingml/2006/main">
            <a:r>
              <a:t>図版について：図版再利用元：樹木の構造.pptx 9枚目。元資料の原図出典と公開利用条件は未確定。オンデマンド公開前に確認し、必要なら差し替える。</a:t>
            </a:r>
          </a:p>
          <a:p xmlns:a="http://schemas.openxmlformats.org/drawingml/2006/main">
            <a:r>
              <a:t>L01-S01：オンデマンド版。対面用の元スライド番号を維持。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出典：文部科学省 中学校学習指導要領（平成29年告示）解説 技術・家庭編、第2章 技術分野 A 材料と加工の技術。https://www.mext.go.jp/component/a_menu/education/micro_detail/__icsFiles/afieldfile/2019/03/18/1387018_009.pdf</a:t>
            </a:r>
          </a:p>
          <a:p xmlns:a="http://schemas.openxmlformats.org/drawingml/2006/main">
            <a:r>
              <a:t>L01-S02：オンデマンド版。対面用の元スライド番号を維持。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出典：文部科学省 中学校学習指導要領（平成29年告示）解説 技術・家庭編、第2章 技術分野 A 材料と加工の技術。https://www.mext.go.jp/component/a_menu/education/micro_detail/__icsFiles/afieldfile/2019/03/18/1387018_009.pdf</a:t>
            </a:r>
          </a:p>
          <a:p xmlns:a="http://schemas.openxmlformats.org/drawingml/2006/main">
            <a:r>
              <a:t>L01-S03：オンデマンド版。対面用の元スライド番号を維持。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L01-S04：オンデマンド版。対面用の元スライド番号を維持。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2026-10-29の再構成。第14回を資源・環境へ変更し、旧14・15回を第15回へ統合。文化は第1・8・11・14・15回に短く配置。学生公開動画はまだ旧構成であり、新版スライドと混在させない。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L01-S06：オンデマンド版。対面用の元スライド番号を維持。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  <a:p xmlns:a="http://schemas.openxmlformats.org/drawingml/2006/main">
            <a:r>
              <a:t>L01-S07：オンデマンド版。対面用の元スライド番号を維持。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出典：Forest Products Laboratory (2021), Wood Handbook, Chapter 3. https://research.fs.usda.gov/treesearch/62242</a:t>
            </a:r>
          </a:p>
          <a:p xmlns:a="http://schemas.openxmlformats.org/drawingml/2006/main">
            <a:r>
              <a:t>Glass and Zelinka (2021), Wood Handbook, Chapter 4. https://research.fs.usda.gov/treesearch/62243</a:t>
            </a:r>
          </a:p>
          <a:p xmlns:a="http://schemas.openxmlformats.org/drawingml/2006/main">
            <a:r>
              <a:t>Senalik and Farber (2021), Wood Handbook, Chapter 5. https://research.fs.usda.gov/treesearch/62244</a:t>
            </a:r>
          </a:p>
          <a:p xmlns:a="http://schemas.openxmlformats.org/drawingml/2006/main">
            <a:r>
              <a:t>Stark and Cai (2021), Wood Handbook, Chapter 11. https://research.fs.usda.gov/treesearch/62258</a:t>
            </a:r>
          </a:p>
          <a:p xmlns:a="http://schemas.openxmlformats.org/drawingml/2006/main">
            <a:r>
              <a:t>L01-S08：オンデマンド版。対面用の元スライド番号を維持。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  <a:p xmlns:a="http://schemas.openxmlformats.org/drawingml/2006/main">
            <a:r>
              <a:t>L01-S09：オンデマンド版。対面用の元スライド番号を維持。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出典：Forest Products Laboratory (2021), Wood Handbook, Chapter 3. https://research.fs.usda.gov/treesearch/62242</a:t>
            </a:r>
          </a:p>
          <a:p xmlns:a="http://schemas.openxmlformats.org/drawingml/2006/main">
            <a:r>
              <a:t>図版について：図版再利用元：樹木の構造.pptx 7枚目。元資料の原図出典と公開利用条件は未確定。オンデマンド公開前に確認し、必要なら差し替える。</a:t>
            </a:r>
          </a:p>
          <a:p xmlns:a="http://schemas.openxmlformats.org/drawingml/2006/main">
            <a:r>
              <a:t>L01-S10：オンデマンド版。対面用の元スライド番号を維持。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  <a:p xmlns:a="http://schemas.openxmlformats.org/drawingml/2006/main">
            <a:r>
              <a:t>L01-S11：オンデマンド版。対面用の元スライド番号を維持。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L01-R1：オンデマンド版。対面用の元スライド番号を維持。</a:t>
            </a:r>
          </a:p>
          <a:p xmlns:a="http://schemas.openxmlformats.org/drawingml/2006/main">
            <a:r>
              <a:t>ここで短い休憩を入れます。画面から目を離して、姿勢を変えましょう。肩を軽く上げて下ろす、手を開いて閉じるなど、できる範囲でかまいません。動作は任意です。再開するときには、声を掛けます。</a:t>
            </a:r>
          </a:p>
          <a:p xmlns:a="http://schemas.openxmlformats.org/drawingml/2006/main">
            <a:r>
              <a:t>それでは、再開します。形成層の働きから、三方向と三断面へ進みます。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出典：Forest Products Laboratory (2021), Wood Handbook, Chapter 3. https://research.fs.usda.gov/treesearch/62242</a:t>
            </a:r>
          </a:p>
          <a:p xmlns:a="http://schemas.openxmlformats.org/drawingml/2006/main">
            <a:r>
              <a:t>L01-S12：オンデマンド版。対面用の元スライド番号を維持。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  <a:p xmlns:a="http://schemas.openxmlformats.org/drawingml/2006/main">
            <a:r>
              <a:t>L01-S13：オンデマンド版。対面用の元スライド番号を維持。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出典：Forest Products Laboratory (2021), Wood Handbook, Chapter 3. https://research.fs.usda.gov/treesearch/62242</a:t>
            </a:r>
          </a:p>
          <a:p xmlns:a="http://schemas.openxmlformats.org/drawingml/2006/main">
            <a:r>
              <a:t>スギSEM画像：森林総合研究所 日本産木材データベース。スライド内リンク https://db.ffpri.go.jp/WoodDB/JWDB_SEM/detailB2_SEM.php?-action=browse&amp;-recid=201223</a:t>
            </a:r>
          </a:p>
          <a:p xmlns:a="http://schemas.openxmlformats.org/drawingml/2006/main">
            <a:r>
              <a:t>L01-S14：オンデマンド版。対面用の元スライド番号を維持。</a:t>
            </a:r>
          </a:p>
          <a:p xmlns:a="http://schemas.openxmlformats.org/drawingml/2006/main">
            <a:r>
              <a:t>【図の意図】丸太の外周から髄へ平行に製材すると、板目板から追い柾、柾目板へ移る。板の幅方向は主にTからR、厚さ方向は主にRからTへ変わる。板取りと異方性を結び、乾湿による幅・厚さの寸法変化や反りの違いを説明する。追い柾の幅はR・Tの中間。図の中心付近では、髄そのものの性質と柾目の方向性を区別する。参照：Wood Handbook 2021 第4章 https://research.fs.usda.gov/treesearch/62243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出典：Forest Products Laboratory (2021), Wood Handbook, Chapter 3. https://research.fs.usda.gov/treesearch/62242</a:t>
            </a:r>
          </a:p>
          <a:p xmlns:a="http://schemas.openxmlformats.org/drawingml/2006/main">
            <a:r>
              <a:t>L01-S15：オンデマンド版。対面用の元スライド番号を維持。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出典：Forest Products Laboratory (2021), Wood Handbook, Chapter 3. https://research.fs.usda.gov/treesearch/62242</a:t>
            </a:r>
          </a:p>
          <a:p xmlns:a="http://schemas.openxmlformats.org/drawingml/2006/main">
            <a:r>
              <a:t>画像：森林総合研究所 日本産木材データベース。カラマツ https://db.ffpri.go.jp/WoodDB/JWDB_OM/detailB1_OM.php?-action=browse&amp;-recid=340901</a:t>
            </a:r>
          </a:p>
          <a:p xmlns:a="http://schemas.openxmlformats.org/drawingml/2006/main">
            <a:r>
              <a:t>ブナ https://db.ffpri.go.jp/WoodDB/JWDB_OM/detailB1_OM.php?-action=browse&amp;-recid=340329</a:t>
            </a:r>
          </a:p>
          <a:p xmlns:a="http://schemas.openxmlformats.org/drawingml/2006/main">
            <a:r>
              <a:t>ケヤキ https://db.ffpri.go.jp/WoodDB/JWDB_OM/detailB1_OM.php?-action=browse&amp;-recid=338751</a:t>
            </a:r>
          </a:p>
          <a:p xmlns:a="http://schemas.openxmlformats.org/drawingml/2006/main">
            <a:r>
              <a:t>L01-S16：オンデマンド版。対面用の元スライド番号を維持。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第1回 改訂 2026-10-29</a:t>
            </a:r>
          </a:p>
          <a:p xmlns:a="http://schemas.openxmlformats.org/drawingml/2006/main">
            <a:r>
              <a:t>説明・活動の設計目安 2.5分（動画の実測時間ではない）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秋田の大館曲げわっぱを、木取りと薄板の加工の例として取り上げる。伝統的には柾目の薄板を用い、加熱して曲げ、樺で綴じる。長手の繊維を容器の周方向へ沿わせる概念図。幅方向のR/Tは木取りで変わるため、図の左右をそのままTと呼ばない。製品ごとの樹種・仕上げ・製法は一次資料で確認する。歴史全般は工業材料概論で扱い、本講義は材料特性を生かす仕組みに絞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出典（確認 2026-10-29）</a:t>
            </a:r>
          </a:p>
          <a:p xmlns:a="http://schemas.openxmlformats.org/drawingml/2006/main">
            <a:r>
              <a:t>大館市：大館曲げわっぱ</a:t>
            </a:r>
          </a:p>
          <a:p xmlns:a="http://schemas.openxmlformats.org/drawingml/2006/main">
            <a:r>
              <a:t>https://www.city.odate.lg.jp/city/kankou/bussan/magewappa</a:t>
            </a:r>
          </a:p>
          <a:p xmlns:a="http://schemas.openxmlformats.org/drawingml/2006/main">
            <a:r>
              <a:t>伝統的工芸品産業振興協会：大館曲げわっぱ</a:t>
            </a:r>
          </a:p>
          <a:p xmlns:a="http://schemas.openxmlformats.org/drawingml/2006/main">
            <a:r>
              <a:t>https://kougeihin.jp/craft/0604/</a:t>
            </a:r>
          </a:p>
          <a:p xmlns:a="http://schemas.openxmlformats.org/drawingml/2006/main">
            <a:r>
              <a:t>文部科学省：中学校学習指導要領解説 技術・家庭編（2017）、技術分野 A(1)、印刷頁28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正式課題A1〜A4の設問・配点は変更しない。追加問題は授業内・自主学修用。新しいページ順の動画・音声・字幕は未制作。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出典：Forest Products Laboratory (2021), Wood Handbook, Chapter 3. https://research.fs.usda.gov/treesearch/62242</a:t>
            </a:r>
          </a:p>
          <a:p xmlns:a="http://schemas.openxmlformats.org/drawingml/2006/main">
            <a:r>
              <a:t>Senalik and Farber (2021), Wood Handbook, Chapter 5. https://research.fs.usda.gov/treesearch/62244</a:t>
            </a:r>
          </a:p>
          <a:p xmlns:a="http://schemas.openxmlformats.org/drawingml/2006/main">
            <a:r>
              <a:t>L01-S17：オンデマンド版。対面用の元スライド番号を維持。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出典：Senalik and Farber (2021), Wood Handbook, Chapter 5. https://research.fs.usda.gov/treesearch/62244</a:t>
            </a:r>
          </a:p>
          <a:p xmlns:a="http://schemas.openxmlformats.org/drawingml/2006/main">
            <a:r>
              <a:t>L01-S18：オンデマンド版。対面用の元スライド番号を維持。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L01-R2：オンデマンド版。対面用の元スライド番号を維持。</a:t>
            </a:r>
          </a:p>
          <a:p xmlns:a="http://schemas.openxmlformats.org/drawingml/2006/main">
            <a:r>
              <a:t>ここで短い休憩を入れます。画面から目を離して、姿勢を変えましょう。肩を軽く上げて下ろす、手を開いて閉じるなど、できる範囲でかまいません。動作は任意です。再開するときには、声を掛けます。</a:t>
            </a:r>
          </a:p>
          <a:p xmlns:a="http://schemas.openxmlformats.org/drawingml/2006/main">
            <a:r>
              <a:t>それでは、再開します。多孔質・異方性を整理し、フックの法則を復習します。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出典：Forest Products Laboratory (2021), Wood Handbook, Chapter 3. https://research.fs.usda.gov/treesearch/62242</a:t>
            </a:r>
          </a:p>
          <a:p xmlns:a="http://schemas.openxmlformats.org/drawingml/2006/main">
            <a:r>
              <a:t>Senalik and Farber (2021), Wood Handbook, Chapter 5. https://research.fs.usda.gov/treesearch/62244</a:t>
            </a:r>
          </a:p>
          <a:p xmlns:a="http://schemas.openxmlformats.org/drawingml/2006/main">
            <a:r>
              <a:t>L01-S19：オンデマンド版。対面用の元スライド番号を維持。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第9章 式(9–1)・(9–2)、表9–1、図9–3 https://research.fs.usda.gov/treesearch/62251</a:t>
            </a:r>
          </a:p>
          <a:p xmlns:a="http://schemas.openxmlformats.org/drawingml/2006/main">
            <a:r>
              <a:t>L01-S20：オンデマンド版。対面用の元スライド番号を維持。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第9章 式(9–1)・(9–2)、表9–1、図9–3 https://research.fs.usda.gov/treesearch/62251</a:t>
            </a:r>
          </a:p>
          <a:p xmlns:a="http://schemas.openxmlformats.org/drawingml/2006/main">
            <a:r>
              <a:t>L01-S21：オンデマンド版。対面用の元スライド番号を維持。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出典：Senalik and Farber (2021), Wood Handbook, Chapter 5. https://research.fs.usda.gov/treesearch/62244</a:t>
            </a:r>
          </a:p>
          <a:p xmlns:a="http://schemas.openxmlformats.org/drawingml/2006/main">
            <a:r>
              <a:t>参考：MIT, Unit M4.4 Simple Beam Theory. https://web.mit.edu/16.unified/www/archives2006-2007/SPRING/materials/Lectures/M4%204-Unified07.pdf</a:t>
            </a:r>
          </a:p>
          <a:p xmlns:a="http://schemas.openxmlformats.org/drawingml/2006/main">
            <a:r>
              <a:t>L01-S22：オンデマンド版。対面用の元スライド番号を維持。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第9章 式(9–1)・(9–2)、表9–1、図9–3 https://research.fs.usda.gov/treesearch/62251</a:t>
            </a:r>
          </a:p>
          <a:p xmlns:a="http://schemas.openxmlformats.org/drawingml/2006/main">
            <a:r>
              <a:t>L01-S23：オンデマンド版。対面用の元スライド番号を維持。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第9章 式(9–1)・(9–2)、表9–1、図9–3 https://research.fs.usda.gov/treesearch/62251</a:t>
            </a:r>
          </a:p>
          <a:p xmlns:a="http://schemas.openxmlformats.org/drawingml/2006/main">
            <a:r>
              <a:t>L01-S24：オンデマンド版。対面用の元スライド番号を維持。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第9章 式(9–1)・(9–2)、表9–1、図9–3 https://research.fs.usda.gov/treesearch/62251</a:t>
            </a:r>
          </a:p>
          <a:p xmlns:a="http://schemas.openxmlformats.org/drawingml/2006/main">
            <a:r>
              <a:t>L01-S25：オンデマンド版。対面用の元スライド番号を維持。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出典：Senalik and Farber (2021), Wood Handbook, Chapter 5. https://research.fs.usda.gov/treesearch/62244</a:t>
            </a:r>
          </a:p>
          <a:p xmlns:a="http://schemas.openxmlformats.org/drawingml/2006/main">
            <a:r>
              <a:t>L01-S26：オンデマンド版。対面用の元スライド番号を維持。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L01-R3：オンデマンド版。対面用の元スライド番号を維持。</a:t>
            </a:r>
          </a:p>
          <a:p xmlns:a="http://schemas.openxmlformats.org/drawingml/2006/main">
            <a:r>
              <a:t>ここで短い休憩を入れます。画面から目を離して、姿勢を変えましょう。肩を軽く上げて下ろす、手を開いて閉じるなど、できる範囲でかまいません。動作は任意です。再開するときには、声を掛けます。</a:t>
            </a:r>
          </a:p>
          <a:p xmlns:a="http://schemas.openxmlformats.org/drawingml/2006/main">
            <a:r>
              <a:t>それでは、再開します。木質材料と、用途に合う材料の選び方へ進みます。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出典：Stark and Cai (2021), Wood Handbook, Chapter 11. https://research.fs.usda.gov/treesearch/62258</a:t>
            </a:r>
          </a:p>
          <a:p xmlns:a="http://schemas.openxmlformats.org/drawingml/2006/main">
            <a:r>
              <a:t>L01-S27：オンデマンド版。対面用の元スライド番号を維持。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出典：文部科学省 中学校学習指導要領（平成29年告示）解説 技術・家庭編、第2章 技術分野 A 材料と加工の技術。https://www.mext.go.jp/component/a_menu/education/micro_detail/__icsFiles/afieldfile/2019/03/18/1387018_009.pdf</a:t>
            </a:r>
          </a:p>
          <a:p xmlns:a="http://schemas.openxmlformats.org/drawingml/2006/main">
            <a:r>
              <a:t>Stark and Cai (2021), Wood Handbook, Chapter 11. https://research.fs.usda.gov/treesearch/62258</a:t>
            </a:r>
          </a:p>
          <a:p xmlns:a="http://schemas.openxmlformats.org/drawingml/2006/main">
            <a:r>
              <a:t>L01-S28：オンデマンド版。対面用の元スライド番号を維持。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出典：Brashaw and Bergman (2021), Wood Handbook, Chapter 1. https://research.fs.usda.gov/treesearch/62241</a:t>
            </a:r>
          </a:p>
          <a:p xmlns:a="http://schemas.openxmlformats.org/drawingml/2006/main">
            <a:r>
              <a:t>文部科学省 中学校学習指導要領（平成29年告示）解説 技術・家庭編、第2章 技術分野 A 材料と加工の技術。https://www.mext.go.jp/component/a_menu/education/micro_detail/__icsFiles/afieldfile/2019/03/18/1387018_009.pdf</a:t>
            </a:r>
          </a:p>
          <a:p xmlns:a="http://schemas.openxmlformats.org/drawingml/2006/main">
            <a:r>
              <a:t>L01-S29：オンデマンド版。対面用の元スライド番号を維持。</a:t>
            </a:r>
          </a:p>
          <a:p xmlns:a="http://schemas.openxmlformats.org/drawingml/2006/main">
            <a:r>
              <a:t>2026-10-29追記：この問いを新第14回で、森林収支・炭素貯蔵・寿命・循環利用から詳しく扱う。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出典：Forest Products Laboratory (2021), Wood Handbook, Chapter 3. https://research.fs.usda.gov/treesearch/62242</a:t>
            </a:r>
          </a:p>
          <a:p xmlns:a="http://schemas.openxmlformats.org/drawingml/2006/main">
            <a:r>
              <a:t>Senalik and Farber (2021), Wood Handbook, Chapter 5. https://research.fs.usda.gov/treesearch/62244</a:t>
            </a:r>
          </a:p>
          <a:p xmlns:a="http://schemas.openxmlformats.org/drawingml/2006/main">
            <a:r>
              <a:t>L01-S30：オンデマンド版。対面用の元スライド番号を維持。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L01-S31：オンデマンド版。対面用の元スライド番号を維持。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  <a:p xmlns:a="http://schemas.openxmlformats.org/drawingml/2006/main">
            <a:r>
              <a:t>L01-S32：オンデマンド版。対面用の元スライド番号を維持。</a:t>
            </a:r>
          </a:p>
          <a:p xmlns:a="http://schemas.openxmlformats.org/drawingml/2006/main">
            <a:r>
              <a:t>制作記録：城南SSH講義資料は担当教員本人の作成資料（2026-10-29本人確認）。学生がアクセスできないため、学生向け出典一覧ではなく本講義の該当ページを案内する。外部図版の原典は別に保持する。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b975c93d5b4d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72a2c08d4c46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b991f32d784e0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63ca663c7b4d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2675415f2643b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fef10c8b594f5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19d4a94af554dd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5642d7eabcc404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ab72da0d8b64ba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777beb18b5b499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a664fd31d844cc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d9fe7b59e144ae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c2dbe7358c7477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3bffe452e3d418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aa059b721d54caa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c744914585e4930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f95baae4707454d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53609bf8d114b15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de2af56379df4b72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5276a5bc16334550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0ceb66d8dbb646be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19275611abc44dd8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9945cf8700f6404b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03d55865b2b84520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e145fc6b4ce8458e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8b24f005ddd54bf9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79089a349329491f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ea8cfeb87e3344ba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73025a41cb214e0f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84183fb5aaf04b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1C7C26-445A-4D2B-B3C7-396867FB0B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B5D4EA-C627-40D7-9758-804A643458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CE61B8-28BB-4702-9732-28A9987AC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7F6E55-8690-47ED-864F-706BBEC8A7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069715-EF7B-4A71-8465-B50E0902B8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716BFF-F3DE-4802-9F20-2B36975A4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A92231-EE06-4908-81FE-DF5B09218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9D9F0F-98C8-41E8-B65D-12F25AED7F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15E71F-154A-4B4C-BE61-9E8765271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3A76AE-530B-471B-A6D0-E3B5D8D7B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79885E-84AD-4327-8A4F-B0C650742B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9AE28F0-FF06-4683-906C-C3D214AA53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902BCAD-F763-461A-B5BA-494FBAC82C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9B964C-EAC3-44D3-B19B-5238173475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94C6A02-4DC0-4D46-9AB2-95E4AC9F2A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A5E2505-2511-446D-B2B4-C8778DC045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E4D6DE-FC38-4DB8-ABFA-88C65A4094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E4D5F1F-1000-4968-9B87-40A24F1AF5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0C9317-54FD-4D0D-9B42-189D9F0A2A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2A4194-956D-448E-B845-CC43EBB4D6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2ECAF6-AFB3-44BA-A6E2-FFDF1F7E8B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6E04143-5FE6-4C02-94D3-C4D4715CAF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EAE70-3078-4577-9941-D8132BBF36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BE8F06-1DB2-4DD1-ABA5-FE5919FC0E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3750050-B434-4AA4-9228-718FAC83A1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71DE0E-6C52-4E48-92E0-1B05894D7B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82E626-1AEC-42F9-BDC7-A6BD823443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950E72C-19F3-40E3-932A-604FCCF85E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2A710F-F1F5-4B49-8146-218F557547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5D7369-AC6D-49C7-92A8-B076ACD9C0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374CDE-9E7B-40DA-8D7D-E184D028A3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B1D9FEF-0392-4148-96DD-D51237050C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5AB7F60-3A7E-4535-8639-0028AD774E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5241DD-70C8-4B8C-8135-585969A323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FF86B39-BA99-41FB-8DCB-64A58178D5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F0BC668-7856-4E17-B636-FF07783C30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C45C65-7DCA-4569-BC0C-7D7422BF16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C3F502B-938C-49DE-AAA6-41A3B5A8A24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A8BA00-8A30-45D9-B726-BE2ED0F766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C98362-BF07-4D7E-ACD9-357AE5F8CA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4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52F467-7DDA-4BC8-83D9-5F8C1D87D4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C0627D6-82CE-4EB9-83C9-5AE0FE45C78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6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75C9FB1-0BFB-40DE-8EA9-08884802F4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7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3562C6-6AE3-45AE-971A-2B7B61ADD3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74782C5-9776-4C62-BB06-08E1E45071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8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57BCC5-409F-4DD3-9EC4-AD684E1CA1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B7B45F-A9FE-4F49-A101-ECFA5889E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1C09729-126D-4273-A0DD-D8E2F9D85E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9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CB9975-BEA0-4C40-A015-A944973A09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2F6D6D-4FF3-4A49-A888-AA43F3BA2B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0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2a35b7bf9445e6" /><Relationship Type="http://schemas.openxmlformats.org/officeDocument/2006/relationships/slideLayout" Target="/ppt/slideLayouts/slideLayout1.xml" Id="Reb7bd2f8b1024b1f" /><Relationship Type="http://schemas.openxmlformats.org/officeDocument/2006/relationships/slideLayout" Target="/ppt/slideLayouts/slideLayout2.xml" Id="R6336c8f5fc7d46b4" /><Relationship Type="http://schemas.openxmlformats.org/officeDocument/2006/relationships/slideLayout" Target="/ppt/slideLayouts/slideLayout3.xml" Id="R54ba3c5cab7d4bbf" /><Relationship Type="http://schemas.openxmlformats.org/officeDocument/2006/relationships/slideLayout" Target="/ppt/slideLayouts/slideLayout4.xml" Id="R51480a2e0e404f2c" /><Relationship Type="http://schemas.openxmlformats.org/officeDocument/2006/relationships/slideLayout" Target="/ppt/slideLayouts/slideLayout5.xml" Id="Rca435477f42143ff" /><Relationship Type="http://schemas.openxmlformats.org/officeDocument/2006/relationships/slideLayout" Target="/ppt/slideLayouts/slideLayout6.xml" Id="R3fe6ae09a7b64c1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867e0879f184d96" /><Relationship Type="http://schemas.openxmlformats.org/officeDocument/2006/relationships/slideLayout" Target="/ppt/slideLayouts/slideLayout7.xml" Id="Re5c17ab2fafa4d69" /><Relationship Type="http://schemas.openxmlformats.org/officeDocument/2006/relationships/slideLayout" Target="/ppt/slideLayouts/slideLayout8.xml" Id="Reb87875ad9e6405c" /><Relationship Type="http://schemas.openxmlformats.org/officeDocument/2006/relationships/slideLayout" Target="/ppt/slideLayouts/slideLayout9.xml" Id="Re84cbb25074b4bc8" /><Relationship Type="http://schemas.openxmlformats.org/officeDocument/2006/relationships/slideLayout" Target="/ppt/slideLayouts/slideLayout10.xml" Id="R5ec0fe70beab4aef" /><Relationship Type="http://schemas.openxmlformats.org/officeDocument/2006/relationships/slideLayout" Target="/ppt/slideLayouts/slideLayout11.xml" Id="Re8252cba1aaf427a" /><Relationship Type="http://schemas.openxmlformats.org/officeDocument/2006/relationships/slideLayout" Target="/ppt/slideLayouts/slideLayout12.xml" Id="R0a0629f54817420c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c45cae5987b24f0d" /><Relationship Type="http://schemas.openxmlformats.org/officeDocument/2006/relationships/slideLayout" Target="/ppt/slideLayouts/slideLayout13.xml" Id="R5d2d4a14247c4593" /><Relationship Type="http://schemas.openxmlformats.org/officeDocument/2006/relationships/slideLayout" Target="/ppt/slideLayouts/slideLayout14.xml" Id="Re4549c66677e4900" /><Relationship Type="http://schemas.openxmlformats.org/officeDocument/2006/relationships/slideLayout" Target="/ppt/slideLayouts/slideLayout15.xml" Id="Ra914bacbf1214a73" /><Relationship Type="http://schemas.openxmlformats.org/officeDocument/2006/relationships/slideLayout" Target="/ppt/slideLayouts/slideLayout16.xml" Id="R25dd0017e51949a7" /><Relationship Type="http://schemas.openxmlformats.org/officeDocument/2006/relationships/slideLayout" Target="/ppt/slideLayouts/slideLayout17.xml" Id="R7b0055e1dc9e4ac9" /><Relationship Type="http://schemas.openxmlformats.org/officeDocument/2006/relationships/slideLayout" Target="/ppt/slideLayouts/slideLayout18.xml" Id="R73d6534271494470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f157631c8db343be" /><Relationship Type="http://schemas.openxmlformats.org/officeDocument/2006/relationships/slideLayout" Target="/ppt/slideLayouts/slideLayout19.xml" Id="R0b9d41903d724771" /><Relationship Type="http://schemas.openxmlformats.org/officeDocument/2006/relationships/slideLayout" Target="/ppt/slideLayouts/slideLayout20.xml" Id="R449e20c7159148a2" /><Relationship Type="http://schemas.openxmlformats.org/officeDocument/2006/relationships/slideLayout" Target="/ppt/slideLayouts/slideLayout21.xml" Id="R25e2c9087a7946a8" /><Relationship Type="http://schemas.openxmlformats.org/officeDocument/2006/relationships/slideLayout" Target="/ppt/slideLayouts/slideLayout22.xml" Id="Re8e457a8ba6946a0" /><Relationship Type="http://schemas.openxmlformats.org/officeDocument/2006/relationships/slideLayout" Target="/ppt/slideLayouts/slideLayout23.xml" Id="R4cf22586ea034e81" /><Relationship Type="http://schemas.openxmlformats.org/officeDocument/2006/relationships/slideLayout" Target="/ppt/slideLayouts/slideLayout24.xml" Id="R11edee5d950f421f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theme" Target="/ppt/slideMasters/theme/theme6.xml" Id="R0f8ba7804cd94be7" /><Relationship Type="http://schemas.openxmlformats.org/officeDocument/2006/relationships/slideLayout" Target="/ppt/slideLayouts/slideLayout25.xml" Id="Rd5752266b38a4cf9" /><Relationship Type="http://schemas.openxmlformats.org/officeDocument/2006/relationships/slideLayout" Target="/ppt/slideLayouts/slideLayout26.xml" Id="R40221f06918546d4" /><Relationship Type="http://schemas.openxmlformats.org/officeDocument/2006/relationships/slideLayout" Target="/ppt/slideLayouts/slideLayout27.xml" Id="R30e666c6610c41fb" /><Relationship Type="http://schemas.openxmlformats.org/officeDocument/2006/relationships/slideLayout" Target="/ppt/slideLayouts/slideLayout28.xml" Id="R069c7613fe304745" /><Relationship Type="http://schemas.openxmlformats.org/officeDocument/2006/relationships/slideLayout" Target="/ppt/slideLayouts/slideLayout29.xml" Id="Rcee90824f2594ec1" /><Relationship Type="http://schemas.openxmlformats.org/officeDocument/2006/relationships/slideLayout" Target="/ppt/slideLayouts/slideLayout30.xml" Id="R4f6be7fdf2e94b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7bd2f8b1024b1f"/>
    <p:sldLayoutId xmlns:r="http://schemas.openxmlformats.org/officeDocument/2006/relationships" id="2147483650" r:id="R6336c8f5fc7d46b4"/>
    <p:sldLayoutId xmlns:r="http://schemas.openxmlformats.org/officeDocument/2006/relationships" id="2147483651" r:id="R54ba3c5cab7d4bbf"/>
    <p:sldLayoutId xmlns:r="http://schemas.openxmlformats.org/officeDocument/2006/relationships" id="2147483652" r:id="R51480a2e0e404f2c"/>
    <p:sldLayoutId xmlns:r="http://schemas.openxmlformats.org/officeDocument/2006/relationships" id="2147483653" r:id="Rca435477f42143ff"/>
    <p:sldLayoutId xmlns:r="http://schemas.openxmlformats.org/officeDocument/2006/relationships" id="2147483654" r:id="R3fe6ae09a7b64c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e5c17ab2fafa4d69"/>
    <p:sldLayoutId xmlns:r="http://schemas.openxmlformats.org/officeDocument/2006/relationships" id="2147483657" r:id="Reb87875ad9e6405c"/>
    <p:sldLayoutId xmlns:r="http://schemas.openxmlformats.org/officeDocument/2006/relationships" id="2147483658" r:id="Re84cbb25074b4bc8"/>
    <p:sldLayoutId xmlns:r="http://schemas.openxmlformats.org/officeDocument/2006/relationships" id="2147483659" r:id="R5ec0fe70beab4aef"/>
    <p:sldLayoutId xmlns:r="http://schemas.openxmlformats.org/officeDocument/2006/relationships" id="2147483660" r:id="Re8252cba1aaf427a"/>
    <p:sldLayoutId xmlns:r="http://schemas.openxmlformats.org/officeDocument/2006/relationships" id="2147483661" r:id="R0a0629f5481742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5d2d4a14247c4593"/>
    <p:sldLayoutId xmlns:r="http://schemas.openxmlformats.org/officeDocument/2006/relationships" id="2147483664" r:id="Re4549c66677e4900"/>
    <p:sldLayoutId xmlns:r="http://schemas.openxmlformats.org/officeDocument/2006/relationships" id="2147483665" r:id="Ra914bacbf1214a73"/>
    <p:sldLayoutId xmlns:r="http://schemas.openxmlformats.org/officeDocument/2006/relationships" id="2147483666" r:id="R25dd0017e51949a7"/>
    <p:sldLayoutId xmlns:r="http://schemas.openxmlformats.org/officeDocument/2006/relationships" id="2147483667" r:id="R7b0055e1dc9e4ac9"/>
    <p:sldLayoutId xmlns:r="http://schemas.openxmlformats.org/officeDocument/2006/relationships" id="2147483668" r:id="R73d65342714944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0" r:id="R0b9d41903d724771"/>
    <p:sldLayoutId xmlns:r="http://schemas.openxmlformats.org/officeDocument/2006/relationships" id="2147483671" r:id="R449e20c7159148a2"/>
    <p:sldLayoutId xmlns:r="http://schemas.openxmlformats.org/officeDocument/2006/relationships" id="2147483672" r:id="R25e2c9087a7946a8"/>
    <p:sldLayoutId xmlns:r="http://schemas.openxmlformats.org/officeDocument/2006/relationships" id="2147483673" r:id="Re8e457a8ba6946a0"/>
    <p:sldLayoutId xmlns:r="http://schemas.openxmlformats.org/officeDocument/2006/relationships" id="2147483674" r:id="R4cf22586ea034e81"/>
    <p:sldLayoutId xmlns:r="http://schemas.openxmlformats.org/officeDocument/2006/relationships" id="2147483675" r:id="R11edee5d950f42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7" r:id="Rd5752266b38a4cf9"/>
    <p:sldLayoutId xmlns:r="http://schemas.openxmlformats.org/officeDocument/2006/relationships" id="2147483678" r:id="R40221f06918546d4"/>
    <p:sldLayoutId xmlns:r="http://schemas.openxmlformats.org/officeDocument/2006/relationships" id="2147483679" r:id="R30e666c6610c41fb"/>
    <p:sldLayoutId xmlns:r="http://schemas.openxmlformats.org/officeDocument/2006/relationships" id="2147483680" r:id="R069c7613fe304745"/>
    <p:sldLayoutId xmlns:r="http://schemas.openxmlformats.org/officeDocument/2006/relationships" id="2147483681" r:id="Rcee90824f2594ec1"/>
    <p:sldLayoutId xmlns:r="http://schemas.openxmlformats.org/officeDocument/2006/relationships" id="2147483682" r:id="R4f6be7fdf2e94b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0.xml" Id="R7eefe0e321194afc" /><Relationship Type="http://schemas.openxmlformats.org/officeDocument/2006/relationships/notesSlide" Target="/ppt/notesSlides/notesSlide1.xml" Id="Rbc1a39f71c8f4d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7a16cab7fc4258" /><Relationship Type="http://schemas.openxmlformats.org/officeDocument/2006/relationships/image" Target="/ppt/media/image.jpeg" Id="R186627f46ca54eac" /><Relationship Type="http://schemas.openxmlformats.org/officeDocument/2006/relationships/notesSlide" Target="/ppt/notesSlides/notesSlide2.xml" Id="R15288db3970043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c2233ebfdd4278" /><Relationship Type="http://schemas.openxmlformats.org/officeDocument/2006/relationships/notesSlide" Target="/ppt/notesSlides/notesSlide3.xml" Id="R55812134d76b41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f6ee483f6f4bce" /><Relationship Type="http://schemas.openxmlformats.org/officeDocument/2006/relationships/notesSlide" Target="/ppt/notesSlides/notesSlide4.xml" Id="Rc83a3070b76846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de7aa7744849e8" /><Relationship Type="http://schemas.openxmlformats.org/officeDocument/2006/relationships/notesSlide" Target="/ppt/notesSlides/notesSlide5.xml" Id="Rda3b078cd0d342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a82c2386eb4120" /><Relationship Type="http://schemas.openxmlformats.org/officeDocument/2006/relationships/notesSlide" Target="/ppt/notesSlides/notesSlide6.xml" Id="Rc596211d7bce4b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58e4d78ec37447a" /><Relationship Type="http://schemas.openxmlformats.org/officeDocument/2006/relationships/notesSlide" Target="/ppt/notesSlides/notesSlide7.xml" Id="R9f2e63bdf2b542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784884d4ba44aca" /><Relationship Type="http://schemas.openxmlformats.org/officeDocument/2006/relationships/notesSlide" Target="/ppt/notesSlides/notesSlide8.xml" Id="R23be31b9f3284c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e52188b2be4880" /><Relationship Type="http://schemas.openxmlformats.org/officeDocument/2006/relationships/notesSlide" Target="/ppt/notesSlides/notesSlide9.xml" Id="R22e1e607478248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3de80214dd249c1" /><Relationship Type="http://schemas.openxmlformats.org/officeDocument/2006/relationships/image" Target="/ppt/media/image2.jpeg" Id="R87eded5a22f7467a" /><Relationship Type="http://schemas.openxmlformats.org/officeDocument/2006/relationships/notesSlide" Target="/ppt/notesSlides/notesSlide10.xml" Id="Rb54891f321894d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4fb100a59e4cca" /><Relationship Type="http://schemas.openxmlformats.org/officeDocument/2006/relationships/image" Target="/ppt/media/image3.jpeg" Id="Ra1094a33f5294ec0" /><Relationship Type="http://schemas.openxmlformats.org/officeDocument/2006/relationships/notesSlide" Target="/ppt/notesSlides/notesSlide11.xml" Id="R7f58fb6fc2954c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d8c98e991f848ca" /><Relationship Type="http://schemas.openxmlformats.org/officeDocument/2006/relationships/image" Target="/ppt/media/image4.jpeg" Id="R2400f61a0b494d91" /><Relationship Type="http://schemas.openxmlformats.org/officeDocument/2006/relationships/notesSlide" Target="/ppt/notesSlides/notesSlide12.xml" Id="Rf0cc7d8e5e3046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8a228c87f5134b61" /><Relationship Type="http://schemas.openxmlformats.org/officeDocument/2006/relationships/notesSlide" Target="/ppt/notesSlides/notesSlide13.xml" Id="Rced392b6046a49c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bbf50eda51406d" /><Relationship Type="http://schemas.openxmlformats.org/officeDocument/2006/relationships/notesSlide" Target="/ppt/notesSlides/notesSlide14.xml" Id="R811ed1fa66de40a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37e65b37f34434a" /><Relationship Type="http://schemas.openxmlformats.org/officeDocument/2006/relationships/image" Target="/ppt/media/image3.jpeg" Id="Reb0989c305154420" /><Relationship Type="http://schemas.openxmlformats.org/officeDocument/2006/relationships/notesSlide" Target="/ppt/notesSlides/notesSlide15.xml" Id="R38741d1bfaa1454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8a73cfc94e41e5" /><Relationship Type="http://schemas.openxmlformats.org/officeDocument/2006/relationships/image" Target="/ppt/media/image5.jpeg" Id="Rcec8ed7e7ffb41f8" /><Relationship Type="http://schemas.openxmlformats.org/officeDocument/2006/relationships/hyperlink" Target="https://db.ffpri.go.jp/WoodDB/JWDB_SEM/detailB2_SEM.php?-action=browse&amp;-recid=201223" TargetMode="External" Id="R2eef2311026a4503" /><Relationship Type="http://schemas.openxmlformats.org/officeDocument/2006/relationships/notesSlide" Target="/ppt/notesSlides/notesSlide16.xml" Id="Rd747089321f5420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8d9888ad3a4d5b" /><Relationship Type="http://schemas.openxmlformats.org/officeDocument/2006/relationships/notesSlide" Target="/ppt/notesSlides/notesSlide17.xml" Id="R00f724ed3116480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b0d34a711449b8" /><Relationship Type="http://schemas.openxmlformats.org/officeDocument/2006/relationships/image" Target="/ppt/media/image6.jpeg" Id="R29fc10eabc4745b5" /><Relationship Type="http://schemas.openxmlformats.org/officeDocument/2006/relationships/hyperlink" Target="https://db.ffpri.go.jp/WoodDB/JWDB_SEM/detailB2_SEM.php?-action=browse&amp;-recid=201223" TargetMode="External" Id="Red5be4cf7e10438f" /><Relationship Type="http://schemas.openxmlformats.org/officeDocument/2006/relationships/image" Target="/ppt/media/image7.jpeg" Id="R798863787e41494e" /><Relationship Type="http://schemas.openxmlformats.org/officeDocument/2006/relationships/image" Target="/ppt/media/image8.jpeg" Id="Re4ee09dd9a4c42a7" /><Relationship Type="http://schemas.openxmlformats.org/officeDocument/2006/relationships/notesSlide" Target="/ppt/notesSlides/notesSlide18.xml" Id="R686cfd5b832a41c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8f415a82d543d4" /><Relationship Type="http://schemas.openxmlformats.org/officeDocument/2006/relationships/hyperlink" Target="https://kougeihin.jp/craft/0604/" TargetMode="External" Id="R72e9e7a71a36495c" /><Relationship Type="http://schemas.openxmlformats.org/officeDocument/2006/relationships/notesSlide" Target="/ppt/notesSlides/notesSlide19.xml" Id="Rbea5c2fa6e8e465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f4b19c4004434b" /><Relationship Type="http://schemas.openxmlformats.org/officeDocument/2006/relationships/notesSlide" Target="/ppt/notesSlides/notesSlide20.xml" Id="R9b6982737a1b446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2bab4d6188408c" /><Relationship Type="http://schemas.openxmlformats.org/officeDocument/2006/relationships/notesSlide" Target="/ppt/notesSlides/notesSlide21.xml" Id="Rdd0e9fe8864448f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4c5d1c71cb8d4535" /><Relationship Type="http://schemas.openxmlformats.org/officeDocument/2006/relationships/notesSlide" Target="/ppt/notesSlides/notesSlide22.xml" Id="Re4973ac4272a44f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7e3bdb5f5f47ae" /><Relationship Type="http://schemas.openxmlformats.org/officeDocument/2006/relationships/notesSlide" Target="/ppt/notesSlides/notesSlide23.xml" Id="R6874b74444b344d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5363b456ad1743d5" /><Relationship Type="http://schemas.openxmlformats.org/officeDocument/2006/relationships/chart" Target="/ppt/slides/charts/chart1.xml" Id="Rd69ccac83c6640a6" /><Relationship Type="http://schemas.openxmlformats.org/officeDocument/2006/relationships/notesSlide" Target="/ppt/notesSlides/notesSlide24.xml" Id="R4df4fdc88f74426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b7a8fa7862cb4c85" /><Relationship Type="http://schemas.openxmlformats.org/officeDocument/2006/relationships/chart" Target="/ppt/slides/charts/chart2.xml" Id="R1a0a829622ce4bff" /><Relationship Type="http://schemas.openxmlformats.org/officeDocument/2006/relationships/notesSlide" Target="/ppt/notesSlides/notesSlide25.xml" Id="R079dfa30afa64b5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9f510d68194c5d" /><Relationship Type="http://schemas.openxmlformats.org/officeDocument/2006/relationships/notesSlide" Target="/ppt/notesSlides/notesSlide26.xml" Id="R5d6cfa911fc94d8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93e99e6706494d36" /><Relationship Type="http://schemas.openxmlformats.org/officeDocument/2006/relationships/notesSlide" Target="/ppt/notesSlides/notesSlide27.xml" Id="Rdc461e6aeddf43d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40e5badf4494592" /><Relationship Type="http://schemas.openxmlformats.org/officeDocument/2006/relationships/chart" Target="/ppt/slides/charts/chart3.xml" Id="R466da535f4c24808" /><Relationship Type="http://schemas.openxmlformats.org/officeDocument/2006/relationships/notesSlide" Target="/ppt/notesSlides/notesSlide28.xml" Id="Rca47c64e5ad44f7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b0ecc4ed63cb4e55" /><Relationship Type="http://schemas.openxmlformats.org/officeDocument/2006/relationships/chart" Target="/ppt/slides/charts/chart4.xml" Id="R19c186d994c94e3f" /><Relationship Type="http://schemas.openxmlformats.org/officeDocument/2006/relationships/chart" Target="/ppt/slides/charts/chart5.xml" Id="R1b07dd1a204f4f5e" /><Relationship Type="http://schemas.openxmlformats.org/officeDocument/2006/relationships/notesSlide" Target="/ppt/notesSlides/notesSlide29.xml" Id="Rd3252340ba8b423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0b119c48e74cb7" /><Relationship Type="http://schemas.openxmlformats.org/officeDocument/2006/relationships/notesSlide" Target="/ppt/notesSlides/notesSlide30.xml" Id="R74dc8acf28824a0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c99cc6c903c04008" /><Relationship Type="http://schemas.openxmlformats.org/officeDocument/2006/relationships/notesSlide" Target="/ppt/notesSlides/notesSlide31.xml" Id="R9a66f6aef1d745c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764e9da4514417" /><Relationship Type="http://schemas.openxmlformats.org/officeDocument/2006/relationships/notesSlide" Target="/ppt/notesSlides/notesSlide32.xml" Id="R185dc9d1e1024b8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ecb215a2e84cbe" /><Relationship Type="http://schemas.openxmlformats.org/officeDocument/2006/relationships/notesSlide" Target="/ppt/notesSlides/notesSlide33.xml" Id="R4de7cfe3131f44e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0ace36256f4c5f" /><Relationship Type="http://schemas.openxmlformats.org/officeDocument/2006/relationships/notesSlide" Target="/ppt/notesSlides/notesSlide34.xml" Id="Rcf3568d8b3944d9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afa471290f48e7" /><Relationship Type="http://schemas.openxmlformats.org/officeDocument/2006/relationships/notesSlide" Target="/ppt/notesSlides/notesSlide35.xml" Id="Rf214c5120fc9479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a8532453b51429d" /><Relationship Type="http://schemas.openxmlformats.org/officeDocument/2006/relationships/notesSlide" Target="/ppt/notesSlides/notesSlide36.xml" Id="R95d34cce389d432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333fd3638ad47e4" /><Relationship Type="http://schemas.openxmlformats.org/officeDocument/2006/relationships/notesSlide" Target="/ppt/notesSlides/notesSlide37.xml" Id="R355c8bc94efd4a32" /></Relationships>
</file>

<file path=ppt/slides/charts/_rels/chart1.xml.rels><?xml version='1.0' encoding='UTF-8' standalone='yes'?>
<ns0:Relationships xmlns:ns0="http://schemas.openxmlformats.org/package/2006/relationships"><ns0:Relationship Id="rIdWorkbook" Type="http://schemas.openxmlformats.org/officeDocument/2006/relationships/package" Target="../../embeddings/v6_chart1.xlsx"/></ns0:Relationships>
</file>

<file path=ppt/slides/charts/_rels/chart2.xml.rels><?xml version='1.0' encoding='UTF-8' standalone='yes'?>
<ns0:Relationships xmlns:ns0="http://schemas.openxmlformats.org/package/2006/relationships"><ns0:Relationship Id="rIdWorkbook" Type="http://schemas.openxmlformats.org/officeDocument/2006/relationships/package" Target="../../embeddings/v6_chart2.xlsx"/></ns0:Relationships>
</file>

<file path=ppt/slides/charts/_rels/chart3.xml.rels><?xml version='1.0' encoding='UTF-8' standalone='yes'?>
<ns0:Relationships xmlns:ns0="http://schemas.openxmlformats.org/package/2006/relationships"><ns0:Relationship Id="rIdWorkbook" Type="http://schemas.openxmlformats.org/officeDocument/2006/relationships/package" Target="../../embeddings/v6_chart3.xlsx"/></ns0:Relationships>
</file>

<file path=ppt/slides/charts/_rels/chart4.xml.rels><?xml version='1.0' encoding='UTF-8' standalone='yes'?>
<ns0:Relationships xmlns:ns0="http://schemas.openxmlformats.org/package/2006/relationships"><ns0:Relationship Id="rIdWorkbook" Type="http://schemas.openxmlformats.org/officeDocument/2006/relationships/package" Target="../../embeddings/v6_chart4.xlsx"/></ns0:Relationships>
</file>

<file path=ppt/slides/charts/_rels/chart5.xml.rels><?xml version='1.0' encoding='UTF-8' standalone='yes'?>
<ns0:Relationships xmlns:ns0="http://schemas.openxmlformats.org/package/2006/relationships"><ns0:Relationship Id="rIdWorkbook" Type="http://schemas.openxmlformats.org/officeDocument/2006/relationships/package" Target="../../embeddings/v6_chart5.xlsx"/></ns0: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k = 10 N/mm</c:v>
          </c:tx>
          <c:spPr>
            <a:ln xmlns:a="http://schemas.openxmlformats.org/drawingml/2006/main" w="30480">
              <a:solidFill>
                <a:srgbClr val="245C98"/>
              </a:solidFill>
            </a:ln>
          </c:spPr>
          <c:marker>
            <c:symbol val="none"/>
          </c:marker>
          <c:xVal>
            <c:numRef>
              <c:f>Model!$A$2:$A$6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Model!$B$2:$B$6</c:f>
              <c:numCache>
                <c:formatCode>0.###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</c:numCache>
            </c:numRef>
          </c:yVal>
          <c:smooth val="0"/>
        </c:ser>
        <c:ser>
          <c:idx val="1"/>
          <c:order val="1"/>
          <c:tx>
            <c:v>k = 20 N/mm</c:v>
          </c:tx>
          <c:spPr>
            <a:ln xmlns:a="http://schemas.openxmlformats.org/drawingml/2006/main" w="30480">
              <a:solidFill>
                <a:srgbClr val="087E8B"/>
              </a:solidFill>
            </a:ln>
          </c:spPr>
          <c:marker>
            <c:symbol val="none"/>
          </c:marker>
          <c:xVal>
            <c:numRef>
              <c:f>Model!$C$2:$C$6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Model!$D$2:$D$6</c:f>
              <c:numCache>
                <c:formatCode>0.###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力 F /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4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伸び x / mm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Yu Gothic"/>
              <a:ea typeface="Yu Gothic"/>
              <a:cs typeface="Yu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xmlns:r="http://schemas.openxmlformats.org/officeDocument/2006/relationships" r:id="rIdWorkbook">
    <c:autoUpdate val="0"/>
  </c:externalData>
</c:chartSpace>
</file>

<file path=ppt/slides/charts/chart2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E = 5,000 MPa</c:v>
          </c:tx>
          <c:spPr>
            <a:ln xmlns:a="http://schemas.openxmlformats.org/drawingml/2006/main" w="30480">
              <a:solidFill>
                <a:srgbClr val="245C98"/>
              </a:solidFill>
            </a:ln>
          </c:spPr>
          <c:marker>
            <c:symbol val="none"/>
          </c:marker>
          <c:xVal>
            <c:numRef>
              <c:f>Model!$A$2:$A$6</c:f>
              <c:numCache>
                <c:formatCode>General</c:formatCode>
                <c:ptCount val="5"/>
                <c:pt idx="0">
                  <c:v>0</c:v>
                </c:pt>
                <c:pt idx="1">
                  <c:v>0.0005</c:v>
                </c:pt>
                <c:pt idx="2">
                  <c:v>0.001</c:v>
                </c:pt>
                <c:pt idx="3">
                  <c:v>0.0015</c:v>
                </c:pt>
                <c:pt idx="4">
                  <c:v>0.002</c:v>
                </c:pt>
              </c:numCache>
            </c:numRef>
          </c:xVal>
          <c:yVal>
            <c:numRef>
              <c:f>Model!$B$2:$B$6</c:f>
              <c:numCache>
                <c:formatCode>0.###</c:formatCode>
                <c:ptCount val="5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</c:numCache>
            </c:numRef>
          </c:yVal>
          <c:smooth val="0"/>
        </c:ser>
        <c:ser>
          <c:idx val="1"/>
          <c:order val="1"/>
          <c:tx>
            <c:v>E = 10,000 MPa</c:v>
          </c:tx>
          <c:spPr>
            <a:ln xmlns:a="http://schemas.openxmlformats.org/drawingml/2006/main" w="30480">
              <a:solidFill>
                <a:srgbClr val="087E8B"/>
              </a:solidFill>
            </a:ln>
          </c:spPr>
          <c:marker>
            <c:symbol val="none"/>
          </c:marker>
          <c:xVal>
            <c:numRef>
              <c:f>Model!$C$2:$C$6</c:f>
              <c:numCache>
                <c:formatCode>General</c:formatCode>
                <c:ptCount val="5"/>
                <c:pt idx="0">
                  <c:v>0</c:v>
                </c:pt>
                <c:pt idx="1">
                  <c:v>0.0005</c:v>
                </c:pt>
                <c:pt idx="2">
                  <c:v>0.001</c:v>
                </c:pt>
                <c:pt idx="3">
                  <c:v>0.0015</c:v>
                </c:pt>
                <c:pt idx="4">
                  <c:v>0.002</c:v>
                </c:pt>
              </c:numCache>
            </c:numRef>
          </c:xVal>
          <c:yVal>
            <c:numRef>
              <c:f>Model!$D$2:$D$6</c:f>
              <c:numCache>
                <c:formatCode>0.###</c:formatCode>
                <c:ptCount val="5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応力 σ / MPa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0.002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ひずみ ε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0.00%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  <c:majorUnit val="0.000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Yu Gothic"/>
              <a:ea typeface="Yu Gothic"/>
              <a:cs typeface="Yu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xmlns:r="http://schemas.openxmlformats.org/officeDocument/2006/relationships" r:id="rIdWorkbook">
    <c:autoUpdate val="0"/>
  </c:externalData>
</c:chartSpace>
</file>

<file path=ppt/slides/charts/chart3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幅40 × 高さ10 mm</c:v>
          </c:tx>
          <c:spPr>
            <a:ln xmlns:a="http://schemas.openxmlformats.org/drawingml/2006/main" w="30480">
              <a:solidFill>
                <a:srgbClr val="245C98"/>
              </a:solidFill>
            </a:ln>
          </c:spPr>
          <c:marker>
            <c:symbol val="none"/>
          </c:marker>
          <c:xVal>
            <c:numRef>
              <c:f>Model!$A$2:$A$10</c:f>
              <c:numCache>
                <c:formatCode>General</c:formatCode>
                <c:ptCount val="9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</c:numCache>
            </c:numRef>
          </c:xVal>
          <c:yVal>
            <c:numRef>
              <c:f>Model!$B$2:$B$10</c:f>
              <c:numCache>
                <c:formatCode>0.###</c:formatCode>
                <c:ptCount val="9"/>
                <c:pt idx="0">
                  <c:v>0</c:v>
                </c:pt>
                <c:pt idx="1">
                  <c:v>0.675</c:v>
                </c:pt>
                <c:pt idx="2">
                  <c:v>1.35</c:v>
                </c:pt>
                <c:pt idx="3">
                  <c:v>2.025</c:v>
                </c:pt>
                <c:pt idx="4">
                  <c:v>2.7</c:v>
                </c:pt>
                <c:pt idx="5">
                  <c:v>3.375</c:v>
                </c:pt>
                <c:pt idx="6">
                  <c:v>4.05</c:v>
                </c:pt>
                <c:pt idx="7">
                  <c:v>4.725</c:v>
                </c:pt>
                <c:pt idx="8">
                  <c:v>5.4</c:v>
                </c:pt>
              </c:numCache>
            </c:numRef>
          </c:yVal>
          <c:smooth val="0"/>
        </c:ser>
        <c:ser>
          <c:idx val="1"/>
          <c:order val="1"/>
          <c:tx>
            <c:v>幅20 × 高さ20 mm</c:v>
          </c:tx>
          <c:spPr>
            <a:ln xmlns:a="http://schemas.openxmlformats.org/drawingml/2006/main" w="30480">
              <a:solidFill>
                <a:srgbClr val="087E8B"/>
              </a:solidFill>
            </a:ln>
          </c:spPr>
          <c:marker>
            <c:symbol val="none"/>
          </c:marker>
          <c:xVal>
            <c:numRef>
              <c:f>Model!$C$2:$C$10</c:f>
              <c:numCache>
                <c:formatCode>General</c:formatCode>
                <c:ptCount val="9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</c:numCache>
            </c:numRef>
          </c:xVal>
          <c:yVal>
            <c:numRef>
              <c:f>Model!$D$2:$D$10</c:f>
              <c:numCache>
                <c:formatCode>0.###</c:formatCode>
                <c:ptCount val="9"/>
                <c:pt idx="0">
                  <c:v>0</c:v>
                </c:pt>
                <c:pt idx="1">
                  <c:v>0.16875</c:v>
                </c:pt>
                <c:pt idx="2">
                  <c:v>0.3375</c:v>
                </c:pt>
                <c:pt idx="3">
                  <c:v>0.50625</c:v>
                </c:pt>
                <c:pt idx="4">
                  <c:v>0.675</c:v>
                </c:pt>
                <c:pt idx="5">
                  <c:v>0.84375</c:v>
                </c:pt>
                <c:pt idx="6">
                  <c:v>1.0125</c:v>
                </c:pt>
                <c:pt idx="7">
                  <c:v>1.18125</c:v>
                </c:pt>
                <c:pt idx="8">
                  <c:v>1.35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中央たわみ δ / mm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力 F /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Yu Gothic"/>
              <a:ea typeface="Yu Gothic"/>
              <a:cs typeface="Yu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xmlns:r="http://schemas.openxmlformats.org/officeDocument/2006/relationships" r:id="rIdWorkbook">
    <c:autoUpdate val="0"/>
  </c:externalData>
</c:chartSpace>
</file>

<file path=ppt/slides/charts/chart4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δ = FL³/(48EI)</c:v>
          </c:tx>
          <c:spPr>
            <a:ln xmlns:a="http://schemas.openxmlformats.org/drawingml/2006/main" w="30480">
              <a:solidFill>
                <a:srgbClr val="245C98"/>
              </a:solidFill>
            </a:ln>
          </c:spPr>
          <c:marker>
            <c:symbol val="none"/>
          </c:marker>
          <c:xVal>
            <c:numRef>
              <c:f>Model!$A$2:$A$32</c:f>
              <c:numCache>
                <c:formatCode>General</c:formatCode>
                <c:ptCount val="31"/>
                <c:pt idx="0">
                  <c:v>300</c:v>
                </c:pt>
                <c:pt idx="1">
                  <c:v>320</c:v>
                </c:pt>
                <c:pt idx="2">
                  <c:v>340</c:v>
                </c:pt>
                <c:pt idx="3">
                  <c:v>360</c:v>
                </c:pt>
                <c:pt idx="4">
                  <c:v>380</c:v>
                </c:pt>
                <c:pt idx="5">
                  <c:v>400</c:v>
                </c:pt>
                <c:pt idx="6">
                  <c:v>420</c:v>
                </c:pt>
                <c:pt idx="7">
                  <c:v>440</c:v>
                </c:pt>
                <c:pt idx="8">
                  <c:v>460</c:v>
                </c:pt>
                <c:pt idx="9">
                  <c:v>480</c:v>
                </c:pt>
                <c:pt idx="10">
                  <c:v>500</c:v>
                </c:pt>
                <c:pt idx="11">
                  <c:v>520</c:v>
                </c:pt>
                <c:pt idx="12">
                  <c:v>540</c:v>
                </c:pt>
                <c:pt idx="13">
                  <c:v>560</c:v>
                </c:pt>
                <c:pt idx="14">
                  <c:v>580</c:v>
                </c:pt>
                <c:pt idx="15">
                  <c:v>600</c:v>
                </c:pt>
                <c:pt idx="16">
                  <c:v>620</c:v>
                </c:pt>
                <c:pt idx="17">
                  <c:v>640</c:v>
                </c:pt>
                <c:pt idx="18">
                  <c:v>660</c:v>
                </c:pt>
                <c:pt idx="19">
                  <c:v>680</c:v>
                </c:pt>
                <c:pt idx="20">
                  <c:v>700</c:v>
                </c:pt>
                <c:pt idx="21">
                  <c:v>720</c:v>
                </c:pt>
                <c:pt idx="22">
                  <c:v>740</c:v>
                </c:pt>
                <c:pt idx="23">
                  <c:v>760</c:v>
                </c:pt>
                <c:pt idx="24">
                  <c:v>780</c:v>
                </c:pt>
                <c:pt idx="25">
                  <c:v>800</c:v>
                </c:pt>
                <c:pt idx="26">
                  <c:v>820</c:v>
                </c:pt>
                <c:pt idx="27">
                  <c:v>840</c:v>
                </c:pt>
                <c:pt idx="28">
                  <c:v>860</c:v>
                </c:pt>
                <c:pt idx="29">
                  <c:v>880</c:v>
                </c:pt>
                <c:pt idx="30">
                  <c:v>900</c:v>
                </c:pt>
              </c:numCache>
            </c:numRef>
          </c:xVal>
          <c:yVal>
            <c:numRef>
              <c:f>Model!$B$2:$B$32</c:f>
              <c:numCache>
                <c:formatCode>0.###</c:formatCode>
                <c:ptCount val="31"/>
                <c:pt idx="0">
                  <c:v>0.3375</c:v>
                </c:pt>
                <c:pt idx="1">
                  <c:v>0.4096</c:v>
                </c:pt>
                <c:pt idx="2">
                  <c:v>0.4913</c:v>
                </c:pt>
                <c:pt idx="3">
                  <c:v>0.5832000000000001</c:v>
                </c:pt>
                <c:pt idx="4">
                  <c:v>0.6859</c:v>
                </c:pt>
                <c:pt idx="5">
                  <c:v>0.8</c:v>
                </c:pt>
                <c:pt idx="6">
                  <c:v>0.9261</c:v>
                </c:pt>
                <c:pt idx="7">
                  <c:v>1.0648</c:v>
                </c:pt>
                <c:pt idx="8">
                  <c:v>1.2167</c:v>
                </c:pt>
                <c:pt idx="9">
                  <c:v>1.3824</c:v>
                </c:pt>
                <c:pt idx="10">
                  <c:v>1.5625</c:v>
                </c:pt>
                <c:pt idx="11">
                  <c:v>1.7576</c:v>
                </c:pt>
                <c:pt idx="12">
                  <c:v>1.9683</c:v>
                </c:pt>
                <c:pt idx="13">
                  <c:v>2.1952</c:v>
                </c:pt>
                <c:pt idx="14">
                  <c:v>2.4389</c:v>
                </c:pt>
                <c:pt idx="15">
                  <c:v>2.7</c:v>
                </c:pt>
                <c:pt idx="16">
                  <c:v>2.9791</c:v>
                </c:pt>
                <c:pt idx="17">
                  <c:v>3.2768</c:v>
                </c:pt>
                <c:pt idx="18">
                  <c:v>3.5937</c:v>
                </c:pt>
                <c:pt idx="19">
                  <c:v>3.9304</c:v>
                </c:pt>
                <c:pt idx="20">
                  <c:v>4.2875</c:v>
                </c:pt>
                <c:pt idx="21">
                  <c:v>4.6656</c:v>
                </c:pt>
                <c:pt idx="22">
                  <c:v>5.0653</c:v>
                </c:pt>
                <c:pt idx="23">
                  <c:v>5.4872</c:v>
                </c:pt>
                <c:pt idx="24">
                  <c:v>5.9319</c:v>
                </c:pt>
                <c:pt idx="25">
                  <c:v>6.4</c:v>
                </c:pt>
                <c:pt idx="26">
                  <c:v>6.8921</c:v>
                </c:pt>
                <c:pt idx="27">
                  <c:v>7.4088</c:v>
                </c:pt>
                <c:pt idx="28">
                  <c:v>7.9507</c:v>
                </c:pt>
                <c:pt idx="29">
                  <c:v>8.5184</c:v>
                </c:pt>
                <c:pt idx="30">
                  <c:v>9.112500000000001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中央たわみ δ / mm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900"/>
          <c:min val="30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支点間距離 L / mm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  <c:majorUnit val="3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xmlns:r="http://schemas.openxmlformats.org/officeDocument/2006/relationships" r:id="rIdWorkbook">
    <c:autoUpdate val="0"/>
  </c:externalData>
</c:chartSpace>
</file>

<file path=ppt/slides/charts/chart5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δ = FL³/(48EI)</c:v>
          </c:tx>
          <c:spPr>
            <a:ln xmlns:a="http://schemas.openxmlformats.org/drawingml/2006/main" w="30480">
              <a:solidFill>
                <a:srgbClr val="087E8B"/>
              </a:solidFill>
            </a:ln>
          </c:spPr>
          <c:marker>
            <c:symbol val="none"/>
          </c:marker>
          <c:xVal>
            <c:numRef>
              <c:f>Model!$A$2:$A$32</c:f>
              <c:numCache>
                <c:formatCode>General</c:formatCode>
                <c:ptCount val="31"/>
                <c:pt idx="0">
                  <c:v>4000</c:v>
                </c:pt>
                <c:pt idx="1">
                  <c:v>4400</c:v>
                </c:pt>
                <c:pt idx="2">
                  <c:v>4800</c:v>
                </c:pt>
                <c:pt idx="3">
                  <c:v>5200</c:v>
                </c:pt>
                <c:pt idx="4">
                  <c:v>5600</c:v>
                </c:pt>
                <c:pt idx="5">
                  <c:v>6000</c:v>
                </c:pt>
                <c:pt idx="6">
                  <c:v>6400</c:v>
                </c:pt>
                <c:pt idx="7">
                  <c:v>6800</c:v>
                </c:pt>
                <c:pt idx="8">
                  <c:v>7200</c:v>
                </c:pt>
                <c:pt idx="9">
                  <c:v>7600</c:v>
                </c:pt>
                <c:pt idx="10">
                  <c:v>8000</c:v>
                </c:pt>
                <c:pt idx="11">
                  <c:v>8400</c:v>
                </c:pt>
                <c:pt idx="12">
                  <c:v>8800</c:v>
                </c:pt>
                <c:pt idx="13">
                  <c:v>9200</c:v>
                </c:pt>
                <c:pt idx="14">
                  <c:v>9600</c:v>
                </c:pt>
                <c:pt idx="15">
                  <c:v>10000</c:v>
                </c:pt>
                <c:pt idx="16">
                  <c:v>10400</c:v>
                </c:pt>
                <c:pt idx="17">
                  <c:v>10800</c:v>
                </c:pt>
                <c:pt idx="18">
                  <c:v>11200</c:v>
                </c:pt>
                <c:pt idx="19">
                  <c:v>11600</c:v>
                </c:pt>
                <c:pt idx="20">
                  <c:v>12000</c:v>
                </c:pt>
                <c:pt idx="21">
                  <c:v>12400</c:v>
                </c:pt>
                <c:pt idx="22">
                  <c:v>12800</c:v>
                </c:pt>
                <c:pt idx="23">
                  <c:v>13200</c:v>
                </c:pt>
                <c:pt idx="24">
                  <c:v>13600</c:v>
                </c:pt>
                <c:pt idx="25">
                  <c:v>14000</c:v>
                </c:pt>
                <c:pt idx="26">
                  <c:v>14400</c:v>
                </c:pt>
                <c:pt idx="27">
                  <c:v>14800</c:v>
                </c:pt>
                <c:pt idx="28">
                  <c:v>15200</c:v>
                </c:pt>
                <c:pt idx="29">
                  <c:v>15600</c:v>
                </c:pt>
                <c:pt idx="30">
                  <c:v>16000</c:v>
                </c:pt>
              </c:numCache>
            </c:numRef>
          </c:xVal>
          <c:yVal>
            <c:numRef>
              <c:f>Model!$B$2:$B$32</c:f>
              <c:numCache>
                <c:formatCode>0.###</c:formatCode>
                <c:ptCount val="31"/>
                <c:pt idx="0">
                  <c:v>6.75</c:v>
                </c:pt>
                <c:pt idx="1">
                  <c:v>6.136363636363637</c:v>
                </c:pt>
                <c:pt idx="2">
                  <c:v>5.625</c:v>
                </c:pt>
                <c:pt idx="3">
                  <c:v>5.192307692307693</c:v>
                </c:pt>
                <c:pt idx="4">
                  <c:v>4.821428571428571</c:v>
                </c:pt>
                <c:pt idx="5">
                  <c:v>4.5</c:v>
                </c:pt>
                <c:pt idx="6">
                  <c:v>4.21875</c:v>
                </c:pt>
                <c:pt idx="7">
                  <c:v>3.970588235294118</c:v>
                </c:pt>
                <c:pt idx="8">
                  <c:v>3.75</c:v>
                </c:pt>
                <c:pt idx="9">
                  <c:v>3.552631578947369</c:v>
                </c:pt>
                <c:pt idx="10">
                  <c:v>3.375</c:v>
                </c:pt>
                <c:pt idx="11">
                  <c:v>3.214285714285714</c:v>
                </c:pt>
                <c:pt idx="12">
                  <c:v>3.068181818181818</c:v>
                </c:pt>
                <c:pt idx="13">
                  <c:v>2.934782608695652</c:v>
                </c:pt>
                <c:pt idx="14">
                  <c:v>2.8125</c:v>
                </c:pt>
                <c:pt idx="15">
                  <c:v>2.7</c:v>
                </c:pt>
                <c:pt idx="16">
                  <c:v>2.596153846153846</c:v>
                </c:pt>
                <c:pt idx="17">
                  <c:v>2.5</c:v>
                </c:pt>
                <c:pt idx="18">
                  <c:v>2.410714285714286</c:v>
                </c:pt>
                <c:pt idx="19">
                  <c:v>2.327586206896552</c:v>
                </c:pt>
                <c:pt idx="20">
                  <c:v>2.25</c:v>
                </c:pt>
                <c:pt idx="21">
                  <c:v>2.17741935483871</c:v>
                </c:pt>
                <c:pt idx="22">
                  <c:v>2.109375</c:v>
                </c:pt>
                <c:pt idx="23">
                  <c:v>2.045454545454545</c:v>
                </c:pt>
                <c:pt idx="24">
                  <c:v>1.985294117647059</c:v>
                </c:pt>
                <c:pt idx="25">
                  <c:v>1.928571428571429</c:v>
                </c:pt>
                <c:pt idx="26">
                  <c:v>1.875</c:v>
                </c:pt>
                <c:pt idx="27">
                  <c:v>1.824324324324324</c:v>
                </c:pt>
                <c:pt idx="28">
                  <c:v>1.776315789473684</c:v>
                </c:pt>
                <c:pt idx="29">
                  <c:v>1.730769230769231</c:v>
                </c:pt>
                <c:pt idx="30">
                  <c:v>1.6875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中央たわみ δ / mm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16000"/>
          <c:min val="400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ヤング率 E / MPa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  <c:majorUnit val="40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xmlns:r="http://schemas.openxmlformats.org/officeDocument/2006/relationships" r:id="rIdWorkbook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908AB-CEB5-48A6-818B-0203B795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木材及び木質材料学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A22FC-71B6-46B3-B035-A93118B2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第1回　導入と外観的構造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7D102-1F5F-470F-880C-ED597D7C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98FD8-A395-4525-9747-60EF9500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科目コード：05240200　　科目種別：講義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A6666-2134-4843-B312-89C91AF5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科目区分：自由選択科目　　単位区分：選択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33F9A-5360-4FB6-BEDB-A1776995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標準履修年次：３年　　単位数：2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680C8-999B-46E6-B16A-E544E6FD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シラバス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58852-EA61-4B91-A0CB-ED2CB85B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https://lc-nue.naruto-u.ac.jp/lcu-web/SC_06001B00_22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4B193-F76D-4710-AC51-3679FA69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オンデマンド授業</a:t>
            </a:r>
          </a:p>
        </p:txBody>
      </p:sp>
    </p:spTree>
    <p:extLst>
      <p:ext uri="{BB962C8B-B14F-4D97-AF65-F5344CB8AC3E}">
        <p14:creationId xmlns:p14="http://schemas.microsoft.com/office/powerpoint/2010/main" val="10172792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8070DC0E-7905-4F14-A5E0-BB7B0015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木材及び木質材料学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4CBC378D-F44C-433C-B8EE-1D0D49D0144B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B320C4DD-4216-455D-82B1-534A3F45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FF8CD7CB-C689-4A00-B9DC-0465C7A4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F32986A9-9F93-4D4B-B613-674FA96E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第1回　導入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30CAAECF-C623-4CDC-941C-0F50B7C5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6286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木材の性質を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根拠から説明する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2B7681DB-1AFD-4AB4-9642-4F624CF8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観察・計算・材料選択を、技術科の授業へ</a:t>
            </a:r>
          </a:p>
        </p:txBody>
      </p:sp>
      <p:pic>
        <p:nvPicPr>
          <p:cNvPr id="8" name="図 7">
            <a:extLst xmlns:a="http://schemas.openxmlformats.org/drawingml/2006/main">
              <a:ext uri="{FF2B5EF4-FFF2-40B4-BE49-F238E27FC236}">
                <a16:creationId xmlns:a16="http://schemas.microsoft.com/office/drawing/2014/main" id="{30220295-0B7B-4F15-B227-9BC6701750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627f46ca54eac"/>
          <a:stretch xmlns:a="http://schemas.openxmlformats.org/drawingml/2006/main"/>
        </p:blipFill>
        <p:spPr>
          <a:xfrm xmlns:a="http://schemas.openxmlformats.org/drawingml/2006/main">
            <a:off x="7524750" y="1831181"/>
            <a:ext cx="3981450" cy="2986088"/>
          </a:xfrm>
          <a:prstGeom xmlns:a="http://schemas.openxmlformats.org/drawingml/2006/main" prst="rect">
            <a:avLst/>
          </a:prstGeom>
        </p:spPr>
      </p:pic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BF4B968C-74B2-4910-9CD5-D950F483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樹木の構造と、水分・方向・加工の関係から考える</a:t>
            </a:r>
          </a:p>
        </p:txBody>
      </p:sp>
    </p:spTree>
    <p:extLst>
      <p:ext uri="{BB962C8B-B14F-4D97-AF65-F5344CB8AC3E}">
        <p14:creationId xmlns:p14="http://schemas.microsoft.com/office/powerpoint/2010/main" val="15412620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06E1F23E-9DF7-4B83-B985-5F059DC4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身近な木製品の、どこを見るか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64488157-FF84-4179-BFC3-755BF21716BA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AD688416-4334-4DBE-ACD7-36548663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35E78AA2-3B60-4C5B-9CDC-3EA038F8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E77C6555-5455-4DA2-B1E2-93CDAFBD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棚板は、なぜこの向き・厚さなのか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8D4AF2D8-C42B-4ADD-AD43-92E63B33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机の天板は、木目が見えたら無垢材なのか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426470B1-D225-43A5-B021-786ABE0C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木の扉は、季節によって動き方が変わるのか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D6439968-98CD-42AA-9B57-DDBF5987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その説明を、中学生にどのような観察で確かめさせるか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412F1DBE-56D9-475D-92AE-80BFFDE7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まず1つ選び、「見えたこと」と「そう考えた理由」を分けて書く</a:t>
            </a:r>
          </a:p>
        </p:txBody>
      </p:sp>
    </p:spTree>
    <p:extLst>
      <p:ext uri="{BB962C8B-B14F-4D97-AF65-F5344CB8AC3E}">
        <p14:creationId xmlns:p14="http://schemas.microsoft.com/office/powerpoint/2010/main" val="10575814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A93DAE0D-61CD-4284-AB79-6CB365A1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この講義で身に付けること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14841EF6-F0E3-4AF5-973F-A2457358510D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D7459E36-8457-430C-AC3D-0E6A2DEE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A5B16E50-FBC3-48B3-8825-644883CB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3AD5D417-95F5-40C4-91BA-05A0A914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多孔質・異方性から、木材の性質を説明する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5BE1380E-85F1-40E4-BC64-871FC09A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密度・水分・強度・変形を、条件をそろえて扱う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360ED739-2D59-40FD-963F-379D69C4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繊維の向きや使用条件から、加工・接合を考える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FA360347-6601-4D20-91CF-6C2AA61F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観察や製作を通して理解できる、技術科の授業を考える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1DD1B20F-441D-4970-83BB-6FFBB29C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知っている用語の数だけでなく、理由を説明できることを目指す</a:t>
            </a:r>
          </a:p>
        </p:txBody>
      </p:sp>
    </p:spTree>
    <p:extLst>
      <p:ext uri="{BB962C8B-B14F-4D97-AF65-F5344CB8AC3E}">
        <p14:creationId xmlns:p14="http://schemas.microsoft.com/office/powerpoint/2010/main" val="11699259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6ACFDDA9-5FEE-4369-A691-7DB1A24B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関連する3つの講義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A1F2ACFC-9781-4594-B55F-821867CC3848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C8A1BDBD-8D62-49A1-9233-15E57E9D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1D049054-AAD6-40FC-8ADC-B65EC102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graphicFrame>
        <p:nvGraphicFramePr>
          <p:cNvPr id="5" name="表 4">
            <a:extLst xmlns:a="http://schemas.openxmlformats.org/drawingml/2006/main">
              <a:ext uri="{FF2B5EF4-FFF2-40B4-BE49-F238E27FC236}">
                <a16:creationId xmlns:a16="http://schemas.microsoft.com/office/drawing/2014/main" id="{5735011C-0BC8-46EA-B9DC-7E78F62D93D4}"/>
              </a:ext>
            </a:extLst>
          </p:cNvPr>
          <p:cNvGraphicFramePr/>
          <p:nvPr/>
        </p:nvGraphicFramePr>
        <p:xfrm>
          <a:off xmlns:a="http://schemas.openxmlformats.org/drawingml/2006/main" x="685800" y="1743075"/>
          <a:ext xmlns:a="http://schemas.openxmlformats.org/drawingml/2006/main" cx="10820400" cy="309562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7629525"/>
              </a:tblGrid>
              <a:tr h="77390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講義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中心になる問い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工業材料概論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材料をどう比べ、力と変形をどう扱うか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木材及び木質材料学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木材と木質材料の性能は、どの構造・製法から生じるか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生物育成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樹木はどう育ち、環境・資源とどう関わるか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</a:tbl>
          </a:graphicData>
        </a:graphic>
      </p:graphicFrame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7905EA14-BF2C-44A4-9EC0-5018B9A6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木質材料の製法・配向・利用条件は、この講義で詳しく扱う</a:t>
            </a:r>
          </a:p>
        </p:txBody>
      </p:sp>
    </p:spTree>
    <p:extLst>
      <p:ext uri="{BB962C8B-B14F-4D97-AF65-F5344CB8AC3E}">
        <p14:creationId xmlns:p14="http://schemas.microsoft.com/office/powerpoint/2010/main" val="710791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1E982-EA1D-4D98-A85F-06C03F09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15回でたどる流れ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7E0E6-6364-431B-BDCB-F780D411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602C4-9E24-401C-A2BC-72BCE7A0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DCE4F-44AE-4763-B716-C6D4D076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BB3F9-2D4E-4920-8D6E-9B3DF623266F}"/>
              </a:ext>
            </a:extLst>
          </p:cNvPr>
          <p:cNvGraphicFramePr/>
          <p:nvPr/>
        </p:nvGraphicFramePr>
        <p:xfrm>
          <a:off xmlns:a="http://schemas.openxmlformats.org/drawingml/2006/main" x="838200" y="1571625"/>
          <a:ext xmlns:a="http://schemas.openxmlformats.org/drawingml/2006/main" cx="104775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4857750"/>
                <a:gridCol w="4286250"/>
              </a:tblGrid>
              <a:tr h="578304"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回</a:t>
                      </a:r>
                    </a:p>
                  </a:txBody>
                  <a:tcPr marL="91440" marR="91440" marT="45720" marB="45720"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主題</a:t>
                      </a:r>
                    </a:p>
                  </a:txBody>
                  <a:tcPr marL="91440" marR="91440" marT="45720" marB="45720"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深める関係</a:t>
                      </a:r>
                    </a:p>
                  </a:txBody>
                  <a:tcPr marL="91440" marR="91440" marT="45720" marB="45720">
                    <a:solidFill>
                      <a:srgbClr val="18364F"/>
                    </a:solidFill>
                  </a:tcPr>
                </a:tc>
              </a:tr>
              <a:tr h="578304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1〜4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構造・組織・成分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多孔質・異方性の根拠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578304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5〜6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強度と異方性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方向・欠点・試験条件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7〜10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密度・水・寸法変化・劣化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使用状態と時間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578304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11〜12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樹木と木材の歴史・文化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進化・長寿・森林管理・建築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13〜14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木質材料の設計と大規模利用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製法・構造・資源と環境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578304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加工・材料選択と技術科への統合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根拠をそろえた判断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A2A58-CC45-4822-AABB-D3782768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6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6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6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6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6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6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6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6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6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第11・12回では、樹木の進化・長寿と、木材利用の歴史・文化を扱う。</a:t>
            </a:r>
          </a:p>
        </p:txBody>
      </p:sp>
    </p:spTree>
    <p:extLst>
      <p:ext uri="{BB962C8B-B14F-4D97-AF65-F5344CB8AC3E}">
        <p14:creationId xmlns:p14="http://schemas.microsoft.com/office/powerpoint/2010/main" val="9167952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B3F022AA-B101-4ABF-B697-8C870DA9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中学校の学習と本講義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488D8B70-9411-496D-82CD-109777C7E317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AD78E6B8-EBE0-47BC-9980-865D9BBB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86FAD287-C087-4C98-BE64-F2A8A85B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9EA89594-7151-4363-B6EF-75BA209E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中学校：材料の特性・加工法と、部材や構造を丈夫にする工夫を学ぶ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191BE5F6-667F-40FC-A85D-60C43D8C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本講義：木材の多孔質・異方性・水分から、その理由を説明する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50631ACC-417B-4479-8821-07F5A75B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細胞壁の構造は、木材の性質を説明する根拠として学ぶ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8F5F288E-472A-4BFE-9720-B82BB3D7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材料を選び、製作し、評価・改善する活動へ、科学的な根拠を結び付ける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8A9E6739-E1D7-4676-9564-08AD2C36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教科書の接点：材料の特性と加工／丈夫な部材・構造／問題解決</a:t>
            </a:r>
          </a:p>
        </p:txBody>
      </p:sp>
    </p:spTree>
    <p:extLst>
      <p:ext uri="{BB962C8B-B14F-4D97-AF65-F5344CB8AC3E}">
        <p14:creationId xmlns:p14="http://schemas.microsoft.com/office/powerpoint/2010/main" val="9277476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165852DF-FA99-4604-84CE-FB3F6F68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観察と説明の記録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D2772915-03DC-4959-B29A-B1CC7F6BE407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03F23E3C-5E6E-4ECE-9670-1CF0CFE1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097F443C-7547-4104-8BA8-B27D73FC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571C96E3-BF82-4A4F-885B-41BB86B2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例：同じ厚さの二つの板を比べ、一方だけ大きくたわんだ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C1728E54-34F1-4BE8-B615-6DCAE9C6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記録：樹種、繊維方向、幅・厚さ、支点間距離、荷重、含水状態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F163D8C5-2F0D-431F-8962-837D6C3F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説明：材料の弾性率と、長さ・断面の効果を分けて考える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6CF139EA-3BD4-4AFE-A05F-38D33323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再検討：比較条件をそろえ、同じ試料でもう一度確かめる</a:t>
            </a:r>
          </a:p>
        </p:txBody>
      </p:sp>
    </p:spTree>
    <p:extLst>
      <p:ext uri="{BB962C8B-B14F-4D97-AF65-F5344CB8AC3E}">
        <p14:creationId xmlns:p14="http://schemas.microsoft.com/office/powerpoint/2010/main" val="10419972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18B1905E-56CF-45B1-AAAA-54182A65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木材についての予想を確かめる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67CB1E9D-1068-4172-BD5C-F8E303B1F165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3FA30A7F-571B-4CC8-9328-6E8F961E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C011093B-4492-4B54-BE06-324B92CA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AAF74F6D-C2B1-47D5-9F76-3D09F324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木材の性質は、どの方向でも同じである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53686980-11D1-494D-A14E-11192B22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同じ樹種名なら、密度も強度も同じ値である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A8868C2E-8920-45C1-A0F3-F52F438B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含水率は、100％を超えることはない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020E43BA-75D2-4899-BE3C-5F90FF76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④ 木目のある天板は、必ず無垢材である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228277B4-E31F-46AD-8D88-BC0CA758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正しい／誤り／条件による、を選び、根拠も1行書く</a:t>
            </a:r>
          </a:p>
        </p:txBody>
      </p:sp>
    </p:spTree>
    <p:extLst>
      <p:ext uri="{BB962C8B-B14F-4D97-AF65-F5344CB8AC3E}">
        <p14:creationId xmlns:p14="http://schemas.microsoft.com/office/powerpoint/2010/main" val="3471579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EE8DADF4-22B7-4502-AEBE-2C9EAE0F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樹木と木材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3A95359D-E1E1-4F0D-AD1D-036B31D222E5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CDBC3271-1221-4397-819C-A636E64C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494CF33C-4066-418F-936B-1AD04891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pic>
        <p:nvPicPr>
          <p:cNvPr id="5" name="図 4">
            <a:extLst xmlns:a="http://schemas.openxmlformats.org/drawingml/2006/main">
              <a:ext uri="{FF2B5EF4-FFF2-40B4-BE49-F238E27FC236}">
                <a16:creationId xmlns:a16="http://schemas.microsoft.com/office/drawing/2014/main" id="{A4387C1B-D332-481E-B8B9-134D9BF7C7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ded5a22f7467a"/>
          <a:stretch xmlns:a="http://schemas.openxmlformats.org/drawingml/2006/main"/>
        </p:blipFill>
        <p:spPr>
          <a:xfrm xmlns:a="http://schemas.openxmlformats.org/drawingml/2006/main">
            <a:off x="2158732" y="1504950"/>
            <a:ext cx="2102386" cy="4362450"/>
          </a:xfrm>
          <a:prstGeom xmlns:a="http://schemas.openxmlformats.org/drawingml/2006/main" prst="rect">
            <a:avLst/>
          </a:prstGeom>
        </p:spPr>
      </p:pic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9C88B45F-6D14-4765-BA00-17073DA8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33525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樹木は、多年にわたり地上部に木化した幹や枝を保つ植物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A052F679-B962-4C56-BA24-8BBBEF91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62225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本講義では、典型的な針葉樹と広葉樹の二次木部を中心に扱う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5300B531-24C7-40A9-980D-0239193E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90925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樹冠の葉は光合成、幹・枝は支持と輸送、根は吸水と支持を担う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7E7D73A8-DA1E-44DE-90D7-B791A5E5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9625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木材は、樹木の生活を支えた構造を材料として利用するもの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D22D100E-9019-4DE1-8B70-BE6DDBAB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樹冠・幹・根系</a:t>
            </a:r>
            <a:endParaRPr sz="1575" b="0">
              <a:solidFill>
                <a:srgbClr val="596875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7878579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D0428E01-C24F-4399-9A06-62C94C6C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樹木の中で、木材は何をしているか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2DED1988-8F8E-4221-BC57-26C0366EBFBA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D5A582C0-15FD-4D8C-9754-ACA17A51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5751A8C3-2361-48A8-9379-4E3B9617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pic>
        <p:nvPicPr>
          <p:cNvPr id="5" name="図 4">
            <a:extLst xmlns:a="http://schemas.openxmlformats.org/drawingml/2006/main">
              <a:ext uri="{FF2B5EF4-FFF2-40B4-BE49-F238E27FC236}">
                <a16:creationId xmlns:a16="http://schemas.microsoft.com/office/drawing/2014/main" id="{8A334C67-6EE6-4FFD-B792-22BE4A56CA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94a33f5294ec0"/>
          <a:stretch xmlns:a="http://schemas.openxmlformats.org/drawingml/2006/main"/>
        </p:blipFill>
        <p:spPr>
          <a:xfrm xmlns:a="http://schemas.openxmlformats.org/drawingml/2006/main">
            <a:off x="692581" y="1609725"/>
            <a:ext cx="6044339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EC8E8421-CD17-49A5-BD5B-0EDF87A5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33575"/>
            <a:ext cx="3886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樹体を支える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6730706B-0B7C-471D-84AC-3F5A8E87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3886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水を通す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7295E0CA-F229-4961-8EF6-115CA68C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43275"/>
            <a:ext cx="3886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物質を蓄える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9457346D-B4B6-41DE-98B1-4B2AAB17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48125"/>
            <a:ext cx="3886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働きを支える構造が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3B3C344D-7D70-4C85-AD5F-15B4F4D9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52975"/>
            <a:ext cx="3886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材料の性質にも関わる</a:t>
            </a:r>
          </a:p>
        </p:txBody>
      </p:sp>
    </p:spTree>
    <p:extLst>
      <p:ext uri="{BB962C8B-B14F-4D97-AF65-F5344CB8AC3E}">
        <p14:creationId xmlns:p14="http://schemas.microsoft.com/office/powerpoint/2010/main" val="4286204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58E7D1E9-C422-4773-BE5F-195E96AA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一次成長と二次成長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1BF7BDDD-5248-4DA2-9971-434E5EE132F0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C994EF3A-42A1-4FDF-A43F-5F72AFD1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DD3A8FFD-8A6C-4225-9D01-706D5F10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pic>
        <p:nvPicPr>
          <p:cNvPr id="5" name="図 4">
            <a:extLst xmlns:a="http://schemas.openxmlformats.org/drawingml/2006/main">
              <a:ext uri="{FF2B5EF4-FFF2-40B4-BE49-F238E27FC236}">
                <a16:creationId xmlns:a16="http://schemas.microsoft.com/office/drawing/2014/main" id="{34B44CD3-AE03-4031-81C3-64F963C679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0f61a0b494d91"/>
          <a:stretch xmlns:a="http://schemas.openxmlformats.org/drawingml/2006/main"/>
        </p:blipFill>
        <p:spPr>
          <a:xfrm xmlns:a="http://schemas.openxmlformats.org/drawingml/2006/main">
            <a:off x="685800" y="1525260"/>
            <a:ext cx="5048250" cy="4321830"/>
          </a:xfrm>
          <a:prstGeom xmlns:a="http://schemas.openxmlformats.org/drawingml/2006/main" prst="rect">
            <a:avLst/>
          </a:prstGeom>
        </p:spPr>
      </p:pic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DAD2C5BB-D3CD-41C5-8835-7285366B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33525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一次成長：茎や根の先端側で伸長し、新しい葉や枝を展開する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B80DCCD6-B17F-41E7-AFCC-6589D5BC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62225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二次成長：維管束形成層の活動で幹・枝・根が太くなる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0DE6C52F-6D42-4B08-9A02-DFDBFDB2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90925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二次木部は形成層の内側でつくられ、既存木部の外側に加わる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0B44AB1F-CA77-4C0B-A6E5-22BB9083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9625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幹に付いた同じ位置の印が、木の成長で上へ移るわけではない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3244BDA1-C293-49D9-B185-2F6933F2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伸長と肥大を重ねて見る</a:t>
            </a:r>
          </a:p>
        </p:txBody>
      </p:sp>
    </p:spTree>
    <p:extLst>
      <p:ext uri="{BB962C8B-B14F-4D97-AF65-F5344CB8AC3E}">
        <p14:creationId xmlns:p14="http://schemas.microsoft.com/office/powerpoint/2010/main" val="4879815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A49C8-2870-4FC8-971B-4C7A6681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短い休憩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D4724-B733-437A-B72D-E63D703E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0BE1E-D5CB-49C8-A269-574266A6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画面から目を離し、姿勢を変えましょう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F566A-E2F9-4F47-9608-187D45DA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038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肩を軽く上げて下ろす</a:t>
            </a:r>
          </a:p>
          <a:p xmlns:a="http://schemas.openxmlformats.org/drawingml/2006/main">
            <a: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手を開いて閉じる</a:t>
            </a:r>
          </a:p>
          <a:p xmlns:a="http://schemas.openxmlformats.org/drawingml/2006/main">
            <a: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できる範囲で。動作は任意です。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04676-6F60-4156-AC18-858BC59B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006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再開したら：形成層の働きから、三方向と三断面へ進みます。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E2202-9FF3-4463-9D23-682540CB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第1回・オンデマンド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7647D-2295-4519-93BD-9B214DEB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休憩 1</a:t>
            </a:r>
          </a:p>
        </p:txBody>
      </p:sp>
    </p:spTree>
    <p:extLst>
      <p:ext uri="{BB962C8B-B14F-4D97-AF65-F5344CB8AC3E}">
        <p14:creationId xmlns:p14="http://schemas.microsoft.com/office/powerpoint/2010/main" val="12164013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F01D5B65-77C5-4AD0-AAA9-C6E65FE9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形成層から、新しい木部がつくられる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53956160-B56F-4654-8649-2742D0B74BAC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57F78ABA-EF10-40E3-AC6C-3A0CB73D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CE76ED6D-C20B-4AAC-BF0F-0D2EF5D2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5CF0A067-0112-455A-BC88-B74B495E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外側　←　師部｜形成層｜木部　→　内側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48E7B595-D8E8-44A8-9CE0-AADE3840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形成層の分裂によって、幹は太くなる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B4130A1C-3434-4305-B9BE-690052C9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木部の細胞は、形と働きが一様ではない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5DCF5CA9-0E11-4965-B360-650A9CBD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成長の変化は、断面に帯状の構造として残る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A6971317-70F2-4203-9F2A-CA787648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成長輪が1年に1つ形成される場合に「年輪」と呼ぶ</a:t>
            </a:r>
          </a:p>
        </p:txBody>
      </p:sp>
    </p:spTree>
    <p:extLst>
      <p:ext uri="{BB962C8B-B14F-4D97-AF65-F5344CB8AC3E}">
        <p14:creationId xmlns:p14="http://schemas.microsoft.com/office/powerpoint/2010/main" val="7549161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29821A43-2786-4DF0-87B5-990261D6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辺材と心材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D4F630D3-499E-49B7-8EC5-99ECE07A0E1F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F833F67C-7F64-4D46-87A8-13EC5B8C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63938A12-5221-4A61-AD28-629767C5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pic>
        <p:nvPicPr>
          <p:cNvPr id="5" name="図 4">
            <a:extLst xmlns:a="http://schemas.openxmlformats.org/drawingml/2006/main">
              <a:ext uri="{FF2B5EF4-FFF2-40B4-BE49-F238E27FC236}">
                <a16:creationId xmlns:a16="http://schemas.microsoft.com/office/drawing/2014/main" id="{EF11FF46-3739-4F36-95B5-C1150832FC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989c305154420"/>
          <a:stretch xmlns:a="http://schemas.openxmlformats.org/drawingml/2006/main"/>
        </p:blipFill>
        <p:spPr>
          <a:xfrm xmlns:a="http://schemas.openxmlformats.org/drawingml/2006/main">
            <a:off x="685800" y="1776901"/>
            <a:ext cx="5048250" cy="3818548"/>
          </a:xfrm>
          <a:prstGeom xmlns:a="http://schemas.openxmlformats.org/drawingml/2006/main" prst="rect">
            <a:avLst/>
          </a:prstGeom>
        </p:spPr>
      </p:pic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1E479F15-B552-4BBD-B09B-E12628B7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33525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形成層の内側にある木部が木材。新しい木部は既存木部の外側へ加わる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74E37FC5-645F-422D-9FE0-79CB542B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62225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辺材：幹の外寄り。通水と、生きた柔細胞による貯蔵などを担う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1D34E610-11CE-4734-AA52-E34C7C67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90925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心材：内寄り。通水しなくなり、抽出成分の蓄積などが進んだ部分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B36E197B-F0D2-4DCF-9FB6-BE867B78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9625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心材化で細胞壁が全面的に厚くなるわけではない。耐久性にも樹種差がある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CC4A7DCE-DFA6-45DE-A4E1-3E1372BB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髄・心材・辺材・形成層・師部</a:t>
            </a:r>
          </a:p>
        </p:txBody>
      </p:sp>
    </p:spTree>
    <p:extLst>
      <p:ext uri="{BB962C8B-B14F-4D97-AF65-F5344CB8AC3E}">
        <p14:creationId xmlns:p14="http://schemas.microsoft.com/office/powerpoint/2010/main" val="1702303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624E1F90-ACE0-4CF1-BC55-021F6953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三方向と三断面を区別する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F5E0137F-A155-48F4-A47F-64A60FCAFB9B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3DF83DAD-FB17-4F21-BE2E-F154D8A3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1A2678F8-35D2-449D-A79F-D089F26B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graphicFrame>
        <p:nvGraphicFramePr>
          <p:cNvPr id="7" name="表 6">
            <a:extLst xmlns:a="http://schemas.openxmlformats.org/drawingml/2006/main">
              <a:ext uri="{FF2B5EF4-FFF2-40B4-BE49-F238E27FC236}">
                <a16:creationId xmlns:a16="http://schemas.microsoft.com/office/drawing/2014/main" id="{B94AAF14-BEEC-4580-A6AA-0864FB99455D}"/>
              </a:ext>
            </a:extLst>
          </p:cNvPr>
          <p:cNvGraphicFramePr/>
          <p:nvPr/>
        </p:nvGraphicFramePr>
        <p:xfrm>
          <a:off xmlns:a="http://schemas.openxmlformats.org/drawingml/2006/main" x="4605546" y="3356398"/>
          <a:ext xmlns:a="http://schemas.openxmlformats.org/drawingml/2006/main" cx="3409953" cy="1508760"/>
        </p:xfrm>
        <a:graphic xmlns:a="http://schemas.openxmlformats.org/drawingml/2006/main">
          <a:graphicData uri="http://schemas.openxmlformats.org/drawingml/2006/table">
            <a:tbl>
              <a:tblPr firstCol="1"/>
              <a:tblGrid>
                <a:gridCol w="687000"/>
                <a:gridCol w="2722953"/>
              </a:tblGrid>
              <a:tr h="281358">
                <a:tc gridSpan="2"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断面の名称</a:t>
                      </a:r>
                      <a:endParaRPr sz="1875" b="1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 cmpd="sng">
                      <a:solidFill>
                        <a:srgbClr val="C8D3DD"/>
                      </a:solidFill>
                      <a:prstDash val="solid"/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 cmpd="sng">
                      <a:solidFill>
                        <a:srgbClr val="C8D3DD"/>
                      </a:solidFill>
                      <a:prstDash val="solid"/>
                    </a:lnB>
                    <a:solidFill>
                      <a:srgbClr val="EDF2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875" b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 cmpd="sng">
                      <a:solidFill>
                        <a:srgbClr val="C8D3DD"/>
                      </a:solidFill>
                      <a:prstDash val="solid"/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 cmpd="sng">
                      <a:solidFill>
                        <a:srgbClr val="C8D3DD"/>
                      </a:solidFill>
                      <a:prstDash val="solid"/>
                    </a:lnB>
                    <a:solidFill>
                      <a:srgbClr val="EDF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RT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 cmpd="sng">
                      <a:solidFill>
                        <a:srgbClr val="C8D3DD"/>
                      </a:solidFill>
                      <a:prstDash val="solid"/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木口面（横）</a:t>
                      </a:r>
                      <a:endParaRPr sz="1875" b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 cmpd="sng">
                      <a:solidFill>
                        <a:srgbClr val="C8D3DD"/>
                      </a:solidFill>
                      <a:prstDash val="solid"/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26535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LR</a:t>
                      </a:r>
                      <a:endParaRPr sz="1875" b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柾目面（縦）</a:t>
                      </a:r>
                      <a:endParaRPr sz="1875" b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9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LT</a:t>
                      </a:r>
                      <a:endParaRPr sz="1875" b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板目面（縦）</a:t>
                      </a:r>
                      <a:endParaRPr sz="1875" b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</a:tbl>
          </a:graphicData>
        </a:graphic>
      </p:graphicFrame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3350D58B-06A9-4FB1-8B92-9C149C76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547" y="5021023"/>
            <a:ext cx="3857624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木口面は横断面</a:t>
            </a:r>
            <a:endParaRPr sz="1800" b="0">
              <a:solidFill>
                <a:srgbClr val="253C4D"/>
              </a:solidFill>
              <a:latin typeface="Yu Gothic"/>
              <a:ea typeface="Yu Gothic"/>
              <a:cs typeface="Yu Gothic"/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柾目面と板目面は、どちらも縦断面</a:t>
            </a:r>
            <a:endParaRPr sz="1800" b="0">
              <a:solidFill>
                <a:srgbClr val="253C4D"/>
              </a:solidFill>
              <a:latin typeface="Yu Gothic"/>
              <a:ea typeface="Yu Gothic"/>
              <a:cs typeface="Yu Gothic"/>
            </a:endParaRPr>
          </a:p>
        </p:txBody>
      </p:sp>
      <p:pic>
        <p:nvPicPr>
          <p:cNvPr id="10" name="図 9">
            <a:extLst xmlns:a="http://schemas.openxmlformats.org/drawingml/2006/main">
              <a:ext uri="{FF2B5EF4-FFF2-40B4-BE49-F238E27FC236}">
                <a16:creationId xmlns:a16="http://schemas.microsoft.com/office/drawing/2014/main" id="{0C47B38E-8EB7-4F06-BAB2-96D66CAE4D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8ed7e7ffb41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86656" y="1657349"/>
            <a:ext cx="3307047" cy="4021245"/>
          </a:xfrm>
          <a:prstGeom xmlns:a="http://schemas.openxmlformats.org/drawingml/2006/main" prst="rect">
            <a:avLst/>
          </a:prstGeom>
        </p:spPr>
      </p:pic>
      <p:sp>
        <p:nvSpPr>
          <p:cNvPr id="11" name="テキスト ボックス 10">
            <a:extLst xmlns:a="http://schemas.openxmlformats.org/drawingml/2006/main">
              <a:ext uri="{FF2B5EF4-FFF2-40B4-BE49-F238E27FC236}">
                <a16:creationId xmlns:a16="http://schemas.microsoft.com/office/drawing/2014/main" id="{795D3D12-58C5-9F12-12B2-E3717FC3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6656" y="5678594"/>
            <a:ext cx="3307047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スギ（</a:t>
            </a:r>
            <a:r>
              <a:rPr sz="1100" i="1"/>
              <a:t>Cryptomeria japonica</a:t>
            </a:r>
            <a:r>
              <a:rPr sz="1100"/>
              <a:t>）（</a:t>
            </a:r>
            <a:r>
              <a:rPr sz="1100">
                <a:hlinkClick xmlns:r="http://schemas.openxmlformats.org/officeDocument/2006/relationships" r:id="R2eef2311026a4503"/>
              </a:rPr>
              <a:t>森林総合研究所・日本産木材データベース</a:t>
            </a:r>
            <a:r>
              <a:rPr sz="1100"/>
              <a:t>）</a:t>
            </a:r>
          </a:p>
        </p:txBody>
      </p:sp>
      <p:sp>
        <p:nvSpPr>
          <p:cNvPr id="13" name="矢印: 右 12">
            <a:extLst xmlns:a="http://schemas.openxmlformats.org/drawingml/2006/main">
              <a:ext uri="{FF2B5EF4-FFF2-40B4-BE49-F238E27FC236}">
                <a16:creationId xmlns:a16="http://schemas.microsoft.com/office/drawing/2014/main" id="{FF84B03D-59EB-BEE0-6DE4-E7AB63D0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77942" flipH="0" flipV="0">
            <a:off x="1962978" y="3384894"/>
            <a:ext cx="949187" cy="149087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テキスト ボックス 13">
            <a:extLst xmlns:a="http://schemas.openxmlformats.org/drawingml/2006/main">
              <a:ext uri="{FF2B5EF4-FFF2-40B4-BE49-F238E27FC236}">
                <a16:creationId xmlns:a16="http://schemas.microsoft.com/office/drawing/2014/main" id="{A27717D5-C6E6-EB13-4C40-8794A302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96101" y="3800475"/>
            <a:ext cx="293205" cy="36933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/>
              <a:t>T</a:t>
            </a:r>
            <a:endParaRPr b="1"/>
          </a:p>
        </p:txBody>
      </p:sp>
      <p:sp>
        <p:nvSpPr>
          <p:cNvPr id="17" name="矢印: 右 16">
            <a:extLst xmlns:a="http://schemas.openxmlformats.org/drawingml/2006/main">
              <a:ext uri="{FF2B5EF4-FFF2-40B4-BE49-F238E27FC236}">
                <a16:creationId xmlns:a16="http://schemas.microsoft.com/office/drawing/2014/main" id="{37923432-0842-FAED-4311-D47015B5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661315" flipH="0" flipV="0">
            <a:off x="1536354" y="2521069"/>
            <a:ext cx="949187" cy="149087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テキスト ボックス 17">
            <a:extLst xmlns:a="http://schemas.openxmlformats.org/drawingml/2006/main">
              <a:ext uri="{FF2B5EF4-FFF2-40B4-BE49-F238E27FC236}">
                <a16:creationId xmlns:a16="http://schemas.microsoft.com/office/drawing/2014/main" id="{FE6123A5-16F3-ECDF-7459-6179023D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37571" y="1922357"/>
            <a:ext cx="293205" cy="36933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/>
              <a:t>R</a:t>
            </a:r>
            <a:endParaRPr b="1"/>
          </a:p>
        </p:txBody>
      </p:sp>
      <p:sp>
        <p:nvSpPr>
          <p:cNvPr id="20" name="矢印: 右 19">
            <a:extLst xmlns:a="http://schemas.openxmlformats.org/drawingml/2006/main">
              <a:ext uri="{FF2B5EF4-FFF2-40B4-BE49-F238E27FC236}">
                <a16:creationId xmlns:a16="http://schemas.microsoft.com/office/drawing/2014/main" id="{FE2B34CD-C436-145B-EC34-0CCE3EE2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1169947" y="4650101"/>
            <a:ext cx="949187" cy="149087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テキスト ボックス 20">
            <a:extLst xmlns:a="http://schemas.openxmlformats.org/drawingml/2006/main">
              <a:ext uri="{FF2B5EF4-FFF2-40B4-BE49-F238E27FC236}">
                <a16:creationId xmlns:a16="http://schemas.microsoft.com/office/drawing/2014/main" id="{8CE396A6-D63B-D968-6DD3-D5C8E31E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8499" y="3741446"/>
            <a:ext cx="293205" cy="36933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/>
              <a:t>L</a:t>
            </a:r>
            <a:endParaRPr b="1"/>
          </a:p>
        </p:txBody>
      </p:sp>
      <p:graphicFrame>
        <p:nvGraphicFramePr>
          <p:cNvPr id="24" name="表 23">
            <a:extLst xmlns:a="http://schemas.openxmlformats.org/drawingml/2006/main">
              <a:ext uri="{FF2B5EF4-FFF2-40B4-BE49-F238E27FC236}">
                <a16:creationId xmlns:a16="http://schemas.microsoft.com/office/drawing/2014/main" id="{F2C57623-EC02-4108-A5F2-9CAE333B4F85}"/>
              </a:ext>
            </a:extLst>
          </p:cNvPr>
          <p:cNvGraphicFramePr/>
          <p:nvPr/>
        </p:nvGraphicFramePr>
        <p:xfrm>
          <a:off xmlns:a="http://schemas.openxmlformats.org/drawingml/2006/main" x="4605546" y="1657349"/>
          <a:ext xmlns:a="http://schemas.openxmlformats.org/drawingml/2006/main" cx="3410363" cy="1508760"/>
        </p:xfrm>
        <a:graphic xmlns:a="http://schemas.openxmlformats.org/drawingml/2006/main">
          <a:graphicData uri="http://schemas.openxmlformats.org/drawingml/2006/table">
            <a:tbl>
              <a:tblPr firstCol="1"/>
              <a:tblGrid>
                <a:gridCol w="508929"/>
                <a:gridCol w="2901434"/>
              </a:tblGrid>
              <a:tr h="375147">
                <a:tc gridSpan="2"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方向の名称</a:t>
                      </a:r>
                      <a:endParaRPr sz="1875" b="1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 cmpd="sng">
                      <a:solidFill>
                        <a:srgbClr val="C8D3DD"/>
                      </a:solidFill>
                      <a:prstDash val="solid"/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 cmpd="sng">
                      <a:solidFill>
                        <a:srgbClr val="C8D3DD"/>
                      </a:solidFill>
                      <a:prstDash val="solid"/>
                    </a:lnB>
                    <a:solidFill>
                      <a:srgbClr val="EDF2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875" b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 cmpd="sng">
                      <a:solidFill>
                        <a:srgbClr val="C8D3DD"/>
                      </a:solidFill>
                      <a:prstDash val="solid"/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 cmpd="sng">
                      <a:solidFill>
                        <a:srgbClr val="C8D3DD"/>
                      </a:solidFill>
                      <a:prstDash val="solid"/>
                    </a:lnB>
                    <a:solidFill>
                      <a:srgbClr val="EDF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L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 cmpd="sng">
                      <a:solidFill>
                        <a:srgbClr val="C8D3DD"/>
                      </a:solidFill>
                      <a:prstDash val="solid"/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繊維方向 </a:t>
                      </a:r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(longitudinal)</a:t>
                      </a:r>
                      <a:endParaRPr sz="1875" b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 cmpd="sng">
                      <a:solidFill>
                        <a:srgbClr val="C8D3DD"/>
                      </a:solidFill>
                      <a:prstDash val="solid"/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26535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R</a:t>
                      </a:r>
                      <a:endParaRPr sz="1875" b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放射方向 </a:t>
                      </a:r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(radial)</a:t>
                      </a:r>
                      <a:endParaRPr sz="1875" b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9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T</a:t>
                      </a:r>
                      <a:endParaRPr sz="1875" b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接線方向 </a:t>
                      </a:r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(tangential)</a:t>
                      </a:r>
                      <a:endParaRPr sz="1875" b="0">
                        <a:solidFill>
                          <a:srgbClr val="253C4D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</a:tbl>
          </a:graphicData>
        </a:graphic>
      </p:graphicFrame>
      <p:sp>
        <p:nvSpPr>
          <p:cNvPr id="25" name="楕円 24">
            <a:extLst xmlns:a="http://schemas.openxmlformats.org/drawingml/2006/main">
              <a:ext uri="{FF2B5EF4-FFF2-40B4-BE49-F238E27FC236}">
                <a16:creationId xmlns:a16="http://schemas.microsoft.com/office/drawing/2014/main" id="{78EA2F9F-8B2A-E531-412C-398D633D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2400" y="2007997"/>
            <a:ext cx="1620000" cy="1620000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楕円 28">
            <a:extLst xmlns:a="http://schemas.openxmlformats.org/drawingml/2006/main">
              <a:ext uri="{FF2B5EF4-FFF2-40B4-BE49-F238E27FC236}">
                <a16:creationId xmlns:a16="http://schemas.microsoft.com/office/drawing/2014/main" id="{01FA12D9-0AB0-77C1-DE5F-84F53D9F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32400" y="2097997"/>
            <a:ext cx="1440000" cy="1440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/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楕円 31">
            <a:extLst xmlns:a="http://schemas.openxmlformats.org/drawingml/2006/main">
              <a:ext uri="{FF2B5EF4-FFF2-40B4-BE49-F238E27FC236}">
                <a16:creationId xmlns:a16="http://schemas.microsoft.com/office/drawing/2014/main" id="{5577220A-8A43-2552-CE99-A8803C45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22400" y="2187997"/>
            <a:ext cx="1260000" cy="1260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/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楕円 26">
            <a:extLst xmlns:a="http://schemas.openxmlformats.org/drawingml/2006/main">
              <a:ext uri="{FF2B5EF4-FFF2-40B4-BE49-F238E27FC236}">
                <a16:creationId xmlns:a16="http://schemas.microsoft.com/office/drawing/2014/main" id="{BDF2C425-6E6B-480E-F3D2-95751537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12400" y="2273005"/>
            <a:ext cx="1080000" cy="1080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/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楕円 37">
            <a:extLst xmlns:a="http://schemas.openxmlformats.org/drawingml/2006/main">
              <a:ext uri="{FF2B5EF4-FFF2-40B4-BE49-F238E27FC236}">
                <a16:creationId xmlns:a16="http://schemas.microsoft.com/office/drawing/2014/main" id="{FA195B91-3437-F371-03A5-06578840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02400" y="2372431"/>
            <a:ext cx="900000" cy="900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/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楕円 40">
            <a:extLst xmlns:a="http://schemas.openxmlformats.org/drawingml/2006/main">
              <a:ext uri="{FF2B5EF4-FFF2-40B4-BE49-F238E27FC236}">
                <a16:creationId xmlns:a16="http://schemas.microsoft.com/office/drawing/2014/main" id="{6B343101-5432-E9F8-D795-4FEB80C7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92400" y="2462431"/>
            <a:ext cx="720000" cy="720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/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楕円 43">
            <a:extLst xmlns:a="http://schemas.openxmlformats.org/drawingml/2006/main">
              <a:ext uri="{FF2B5EF4-FFF2-40B4-BE49-F238E27FC236}">
                <a16:creationId xmlns:a16="http://schemas.microsoft.com/office/drawing/2014/main" id="{18C796ED-7079-E557-CD2A-95184238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82400" y="2552431"/>
            <a:ext cx="540000" cy="540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/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7" name="楕円 46">
            <a:extLst xmlns:a="http://schemas.openxmlformats.org/drawingml/2006/main">
              <a:ext uri="{FF2B5EF4-FFF2-40B4-BE49-F238E27FC236}">
                <a16:creationId xmlns:a16="http://schemas.microsoft.com/office/drawing/2014/main" id="{474AC31F-DF96-9DD9-3882-77E3B4AF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72400" y="2642337"/>
            <a:ext cx="360000" cy="360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/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正方形/長方形 48">
            <a:extLst xmlns:a="http://schemas.openxmlformats.org/drawingml/2006/main">
              <a:ext uri="{FF2B5EF4-FFF2-40B4-BE49-F238E27FC236}">
                <a16:creationId xmlns:a16="http://schemas.microsoft.com/office/drawing/2014/main" id="{1BAD474E-2A15-4718-3B2E-43426564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2400" y="2050224"/>
            <a:ext cx="1620000" cy="18038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正方形/長方形 52">
            <a:extLst xmlns:a="http://schemas.openxmlformats.org/drawingml/2006/main">
              <a:ext uri="{FF2B5EF4-FFF2-40B4-BE49-F238E27FC236}">
                <a16:creationId xmlns:a16="http://schemas.microsoft.com/office/drawing/2014/main" id="{14DA7564-3614-4B57-4852-57CA7143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5658" y="2378288"/>
            <a:ext cx="1620000" cy="1800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正方形/長方形 54">
            <a:extLst xmlns:a="http://schemas.openxmlformats.org/drawingml/2006/main">
              <a:ext uri="{FF2B5EF4-FFF2-40B4-BE49-F238E27FC236}">
                <a16:creationId xmlns:a16="http://schemas.microsoft.com/office/drawing/2014/main" id="{7099E116-0DA9-1209-6CED-A52A31FD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2400" y="2711590"/>
            <a:ext cx="1620000" cy="1800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4" name="正方形/長方形 63">
            <a:extLst xmlns:a="http://schemas.openxmlformats.org/drawingml/2006/main">
              <a:ext uri="{FF2B5EF4-FFF2-40B4-BE49-F238E27FC236}">
                <a16:creationId xmlns:a16="http://schemas.microsoft.com/office/drawing/2014/main" id="{07409A2D-05D0-478E-7D6D-ED4E0189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53054" y="4171714"/>
            <a:ext cx="1620000" cy="180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0" name="フリーフォーム: 図形 69">
            <a:extLst xmlns:a="http://schemas.openxmlformats.org/drawingml/2006/main">
              <a:ext uri="{FF2B5EF4-FFF2-40B4-BE49-F238E27FC236}">
                <a16:creationId xmlns:a16="http://schemas.microsoft.com/office/drawing/2014/main" id="{04A5D457-97DE-50E6-065E-8201C59D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18663" y="4291674"/>
            <a:ext cx="491066" cy="65537"/>
          </a:xfrm>
          <a:custGeom xmlns:a="http://schemas.openxmlformats.org/drawingml/2006/main">
            <a:gdLst>
              <a:gd name="csX0" fmla="*/ 0 w 491066"/>
              <a:gd name="csY0" fmla="*/ 50800 h 50800"/>
              <a:gd name="csX1" fmla="*/ 245533 w 491066"/>
              <a:gd name="csY1" fmla="*/ 0 h 50800"/>
              <a:gd name="csX2" fmla="*/ 491066 w 491066"/>
              <a:gd name="csY2" fmla="*/ 50800 h 50800"/>
            </a:gdLst>
            <a:rect l="l" t="t" r="r" b="b"/>
            <a:pathLst>
              <a:path w="491066" h="50800">
                <a:moveTo>
                  <a:pt x="0" y="50800"/>
                </a:moveTo>
                <a:cubicBezTo>
                  <a:pt x="81844" y="25400"/>
                  <a:pt x="163689" y="0"/>
                  <a:pt x="245533" y="0"/>
                </a:cubicBezTo>
                <a:cubicBezTo>
                  <a:pt x="327377" y="0"/>
                  <a:pt x="409221" y="25400"/>
                  <a:pt x="491066" y="50800"/>
                </a:cubicBezTo>
              </a:path>
            </a:pathLst>
          </a:cu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2" name="フリーフォーム: 図形 71">
            <a:extLst xmlns:a="http://schemas.openxmlformats.org/drawingml/2006/main">
              <a:ext uri="{FF2B5EF4-FFF2-40B4-BE49-F238E27FC236}">
                <a16:creationId xmlns:a16="http://schemas.microsoft.com/office/drawing/2014/main" id="{D03B5710-0F08-4F86-CDF9-88E5E23C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13054" y="4243486"/>
            <a:ext cx="900000" cy="114244"/>
          </a:xfrm>
          <a:custGeom xmlns:a="http://schemas.openxmlformats.org/drawingml/2006/main">
            <a:gdLst>
              <a:gd name="csX0" fmla="*/ 0 w 491066"/>
              <a:gd name="csY0" fmla="*/ 50800 h 50800"/>
              <a:gd name="csX1" fmla="*/ 245533 w 491066"/>
              <a:gd name="csY1" fmla="*/ 0 h 50800"/>
              <a:gd name="csX2" fmla="*/ 491066 w 491066"/>
              <a:gd name="csY2" fmla="*/ 50800 h 50800"/>
            </a:gdLst>
            <a:rect l="l" t="t" r="r" b="b"/>
            <a:pathLst>
              <a:path w="491066" h="50800">
                <a:moveTo>
                  <a:pt x="0" y="50800"/>
                </a:moveTo>
                <a:cubicBezTo>
                  <a:pt x="81844" y="25400"/>
                  <a:pt x="163689" y="0"/>
                  <a:pt x="245533" y="0"/>
                </a:cubicBezTo>
                <a:cubicBezTo>
                  <a:pt x="327377" y="0"/>
                  <a:pt x="409221" y="25400"/>
                  <a:pt x="491066" y="50800"/>
                </a:cubicBezTo>
              </a:path>
            </a:pathLst>
          </a:cu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4" name="フリーフォーム: 図形 73">
            <a:extLst xmlns:a="http://schemas.openxmlformats.org/drawingml/2006/main">
              <a:ext uri="{FF2B5EF4-FFF2-40B4-BE49-F238E27FC236}">
                <a16:creationId xmlns:a16="http://schemas.microsoft.com/office/drawing/2014/main" id="{1FF0EC2C-381E-05AA-ADB6-27735229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3063" y="4201085"/>
            <a:ext cx="1193799" cy="151010"/>
          </a:xfrm>
          <a:custGeom xmlns:a="http://schemas.openxmlformats.org/drawingml/2006/main">
            <a:gdLst>
              <a:gd name="csX0" fmla="*/ 0 w 491066"/>
              <a:gd name="csY0" fmla="*/ 50800 h 50800"/>
              <a:gd name="csX1" fmla="*/ 245533 w 491066"/>
              <a:gd name="csY1" fmla="*/ 0 h 50800"/>
              <a:gd name="csX2" fmla="*/ 491066 w 491066"/>
              <a:gd name="csY2" fmla="*/ 50800 h 50800"/>
            </a:gdLst>
            <a:rect l="l" t="t" r="r" b="b"/>
            <a:pathLst>
              <a:path w="491066" h="50800">
                <a:moveTo>
                  <a:pt x="0" y="50800"/>
                </a:moveTo>
                <a:cubicBezTo>
                  <a:pt x="81844" y="25400"/>
                  <a:pt x="163689" y="0"/>
                  <a:pt x="245533" y="0"/>
                </a:cubicBezTo>
                <a:cubicBezTo>
                  <a:pt x="327377" y="0"/>
                  <a:pt x="409221" y="25400"/>
                  <a:pt x="491066" y="50800"/>
                </a:cubicBezTo>
              </a:path>
            </a:pathLst>
          </a:cu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5" name="フリーフォーム: 図形 74">
            <a:extLst xmlns:a="http://schemas.openxmlformats.org/drawingml/2006/main">
              <a:ext uri="{FF2B5EF4-FFF2-40B4-BE49-F238E27FC236}">
                <a16:creationId xmlns:a16="http://schemas.microsoft.com/office/drawing/2014/main" id="{A9FCBAB6-93C7-E839-5136-6560FBEE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30010" y="4173147"/>
            <a:ext cx="450993" cy="169640"/>
          </a:xfrm>
          <a:custGeom xmlns:a="http://schemas.openxmlformats.org/drawingml/2006/main">
            <a:gdLst>
              <a:gd name="csX0" fmla="*/ 0 w 450993"/>
              <a:gd name="csY0" fmla="*/ 169640 h 169640"/>
              <a:gd name="csX1" fmla="*/ 215153 w 450993"/>
              <a:gd name="csY1" fmla="*/ 66201 h 169640"/>
              <a:gd name="csX2" fmla="*/ 450993 w 450993"/>
              <a:gd name="csY2" fmla="*/ 0 h 169640"/>
            </a:gdLst>
            <a:rect l="l" t="t" r="r" b="b"/>
            <a:pathLst>
              <a:path w="450993" h="169640">
                <a:moveTo>
                  <a:pt x="0" y="169640"/>
                </a:moveTo>
                <a:cubicBezTo>
                  <a:pt x="69994" y="132057"/>
                  <a:pt x="139988" y="94474"/>
                  <a:pt x="215153" y="66201"/>
                </a:cubicBezTo>
                <a:cubicBezTo>
                  <a:pt x="290318" y="37928"/>
                  <a:pt x="370655" y="18964"/>
                  <a:pt x="450993" y="0"/>
                </a:cubicBezTo>
              </a:path>
            </a:pathLst>
          </a:cu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7" name="フリーフォーム: 図形 76">
            <a:extLst xmlns:a="http://schemas.openxmlformats.org/drawingml/2006/main">
              <a:ext uri="{FF2B5EF4-FFF2-40B4-BE49-F238E27FC236}">
                <a16:creationId xmlns:a16="http://schemas.microsoft.com/office/drawing/2014/main" id="{678601D3-D813-B280-E422-77D44512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0252386" y="4169807"/>
            <a:ext cx="399651" cy="169640"/>
          </a:xfrm>
          <a:custGeom xmlns:a="http://schemas.openxmlformats.org/drawingml/2006/main">
            <a:gdLst>
              <a:gd name="csX0" fmla="*/ 0 w 450993"/>
              <a:gd name="csY0" fmla="*/ 169640 h 169640"/>
              <a:gd name="csX1" fmla="*/ 215153 w 450993"/>
              <a:gd name="csY1" fmla="*/ 66201 h 169640"/>
              <a:gd name="csX2" fmla="*/ 450993 w 450993"/>
              <a:gd name="csY2" fmla="*/ 0 h 169640"/>
            </a:gdLst>
            <a:rect l="l" t="t" r="r" b="b"/>
            <a:pathLst>
              <a:path w="450993" h="169640">
                <a:moveTo>
                  <a:pt x="0" y="169640"/>
                </a:moveTo>
                <a:cubicBezTo>
                  <a:pt x="69994" y="132057"/>
                  <a:pt x="139988" y="94474"/>
                  <a:pt x="215153" y="66201"/>
                </a:cubicBezTo>
                <a:cubicBezTo>
                  <a:pt x="290318" y="37928"/>
                  <a:pt x="370655" y="18964"/>
                  <a:pt x="450993" y="0"/>
                </a:cubicBezTo>
              </a:path>
            </a:pathLst>
          </a:cu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9" name="フリーフォーム: 図形 78">
            <a:extLst xmlns:a="http://schemas.openxmlformats.org/drawingml/2006/main">
              <a:ext uri="{FF2B5EF4-FFF2-40B4-BE49-F238E27FC236}">
                <a16:creationId xmlns:a16="http://schemas.microsoft.com/office/drawing/2014/main" id="{B584BFD0-7E9A-A81F-4CD6-902F28D8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0447530" y="4182452"/>
            <a:ext cx="325524" cy="169641"/>
          </a:xfrm>
          <a:custGeom xmlns:a="http://schemas.openxmlformats.org/drawingml/2006/main">
            <a:gdLst>
              <a:gd name="csX0" fmla="*/ 0 w 450993"/>
              <a:gd name="csY0" fmla="*/ 169640 h 169640"/>
              <a:gd name="csX1" fmla="*/ 215153 w 450993"/>
              <a:gd name="csY1" fmla="*/ 66201 h 169640"/>
              <a:gd name="csX2" fmla="*/ 450993 w 450993"/>
              <a:gd name="csY2" fmla="*/ 0 h 169640"/>
            </a:gdLst>
            <a:rect l="l" t="t" r="r" b="b"/>
            <a:pathLst>
              <a:path w="450993" h="169640">
                <a:moveTo>
                  <a:pt x="0" y="169640"/>
                </a:moveTo>
                <a:cubicBezTo>
                  <a:pt x="69994" y="132057"/>
                  <a:pt x="139988" y="94474"/>
                  <a:pt x="215153" y="66201"/>
                </a:cubicBezTo>
                <a:cubicBezTo>
                  <a:pt x="290318" y="37928"/>
                  <a:pt x="370655" y="18964"/>
                  <a:pt x="450993" y="0"/>
                </a:cubicBezTo>
              </a:path>
            </a:pathLst>
          </a:cu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3" name="正方形/長方形 82">
            <a:extLst xmlns:a="http://schemas.openxmlformats.org/drawingml/2006/main">
              <a:ext uri="{FF2B5EF4-FFF2-40B4-BE49-F238E27FC236}">
                <a16:creationId xmlns:a16="http://schemas.microsoft.com/office/drawing/2014/main" id="{B9E1FC53-2FB2-B052-5999-87910E0E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53054" y="3764406"/>
            <a:ext cx="1620000" cy="180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7" name="フリーフォーム: 図形 86">
            <a:extLst xmlns:a="http://schemas.openxmlformats.org/drawingml/2006/main">
              <a:ext uri="{FF2B5EF4-FFF2-40B4-BE49-F238E27FC236}">
                <a16:creationId xmlns:a16="http://schemas.microsoft.com/office/drawing/2014/main" id="{8EB6F76A-87F6-47E6-A94F-541C14DA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76569" flipH="1" flipV="0">
            <a:off x="10570101" y="3816251"/>
            <a:ext cx="157353" cy="80375"/>
          </a:xfrm>
          <a:custGeom xmlns:a="http://schemas.openxmlformats.org/drawingml/2006/main">
            <a:gdLst>
              <a:gd name="csX0" fmla="*/ 0 w 450993"/>
              <a:gd name="csY0" fmla="*/ 169640 h 169640"/>
              <a:gd name="csX1" fmla="*/ 215153 w 450993"/>
              <a:gd name="csY1" fmla="*/ 66201 h 169640"/>
              <a:gd name="csX2" fmla="*/ 450993 w 450993"/>
              <a:gd name="csY2" fmla="*/ 0 h 169640"/>
            </a:gdLst>
            <a:rect l="l" t="t" r="r" b="b"/>
            <a:pathLst>
              <a:path w="450993" h="169640">
                <a:moveTo>
                  <a:pt x="0" y="169640"/>
                </a:moveTo>
                <a:cubicBezTo>
                  <a:pt x="69994" y="132057"/>
                  <a:pt x="139988" y="94474"/>
                  <a:pt x="215153" y="66201"/>
                </a:cubicBezTo>
                <a:cubicBezTo>
                  <a:pt x="290318" y="37928"/>
                  <a:pt x="370655" y="18964"/>
                  <a:pt x="450993" y="0"/>
                </a:cubicBezTo>
              </a:path>
            </a:pathLst>
          </a:cu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9" name="フリーフォーム: 図形 88">
            <a:extLst xmlns:a="http://schemas.openxmlformats.org/drawingml/2006/main">
              <a:ext uri="{FF2B5EF4-FFF2-40B4-BE49-F238E27FC236}">
                <a16:creationId xmlns:a16="http://schemas.microsoft.com/office/drawing/2014/main" id="{4913E009-33D8-F25C-85DF-F708D3CC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76569" flipH="1" flipV="0">
            <a:off x="10476145" y="3810708"/>
            <a:ext cx="157353" cy="80375"/>
          </a:xfrm>
          <a:custGeom xmlns:a="http://schemas.openxmlformats.org/drawingml/2006/main">
            <a:gdLst>
              <a:gd name="csX0" fmla="*/ 0 w 450993"/>
              <a:gd name="csY0" fmla="*/ 169640 h 169640"/>
              <a:gd name="csX1" fmla="*/ 215153 w 450993"/>
              <a:gd name="csY1" fmla="*/ 66201 h 169640"/>
              <a:gd name="csX2" fmla="*/ 450993 w 450993"/>
              <a:gd name="csY2" fmla="*/ 0 h 169640"/>
            </a:gdLst>
            <a:rect l="l" t="t" r="r" b="b"/>
            <a:pathLst>
              <a:path w="450993" h="169640">
                <a:moveTo>
                  <a:pt x="0" y="169640"/>
                </a:moveTo>
                <a:cubicBezTo>
                  <a:pt x="69994" y="132057"/>
                  <a:pt x="139988" y="94474"/>
                  <a:pt x="215153" y="66201"/>
                </a:cubicBezTo>
                <a:cubicBezTo>
                  <a:pt x="290318" y="37928"/>
                  <a:pt x="370655" y="18964"/>
                  <a:pt x="450993" y="0"/>
                </a:cubicBezTo>
              </a:path>
            </a:pathLst>
          </a:cu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1" name="フリーフォーム: 図形 90">
            <a:extLst xmlns:a="http://schemas.openxmlformats.org/drawingml/2006/main">
              <a:ext uri="{FF2B5EF4-FFF2-40B4-BE49-F238E27FC236}">
                <a16:creationId xmlns:a16="http://schemas.microsoft.com/office/drawing/2014/main" id="{A860701A-ED8A-019B-E1D5-C60F5835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76569" flipH="1" flipV="0">
            <a:off x="10643885" y="3823837"/>
            <a:ext cx="157353" cy="80375"/>
          </a:xfrm>
          <a:custGeom xmlns:a="http://schemas.openxmlformats.org/drawingml/2006/main">
            <a:gdLst>
              <a:gd name="csX0" fmla="*/ 0 w 450993"/>
              <a:gd name="csY0" fmla="*/ 169640 h 169640"/>
              <a:gd name="csX1" fmla="*/ 215153 w 450993"/>
              <a:gd name="csY1" fmla="*/ 66201 h 169640"/>
              <a:gd name="csX2" fmla="*/ 450993 w 450993"/>
              <a:gd name="csY2" fmla="*/ 0 h 169640"/>
            </a:gdLst>
            <a:rect l="l" t="t" r="r" b="b"/>
            <a:pathLst>
              <a:path w="450993" h="169640">
                <a:moveTo>
                  <a:pt x="0" y="169640"/>
                </a:moveTo>
                <a:cubicBezTo>
                  <a:pt x="69994" y="132057"/>
                  <a:pt x="139988" y="94474"/>
                  <a:pt x="215153" y="66201"/>
                </a:cubicBezTo>
                <a:cubicBezTo>
                  <a:pt x="290318" y="37928"/>
                  <a:pt x="370655" y="18964"/>
                  <a:pt x="450993" y="0"/>
                </a:cubicBezTo>
              </a:path>
            </a:pathLst>
          </a:cu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7" name="フリーフォーム: 図形 96">
            <a:extLst xmlns:a="http://schemas.openxmlformats.org/drawingml/2006/main">
              <a:ext uri="{FF2B5EF4-FFF2-40B4-BE49-F238E27FC236}">
                <a16:creationId xmlns:a16="http://schemas.microsoft.com/office/drawing/2014/main" id="{5CA9A368-FD01-B1C0-4B93-766FD919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0001062" y="3835887"/>
            <a:ext cx="180000" cy="36000"/>
          </a:xfrm>
          <a:custGeom xmlns:a="http://schemas.openxmlformats.org/drawingml/2006/main">
            <a:gdLst>
              <a:gd name="csX0" fmla="*/ 0 w 491066"/>
              <a:gd name="csY0" fmla="*/ 50800 h 50800"/>
              <a:gd name="csX1" fmla="*/ 245533 w 491066"/>
              <a:gd name="csY1" fmla="*/ 0 h 50800"/>
              <a:gd name="csX2" fmla="*/ 491066 w 491066"/>
              <a:gd name="csY2" fmla="*/ 50800 h 50800"/>
            </a:gdLst>
            <a:rect l="l" t="t" r="r" b="b"/>
            <a:pathLst>
              <a:path w="491066" h="50800">
                <a:moveTo>
                  <a:pt x="0" y="50800"/>
                </a:moveTo>
                <a:cubicBezTo>
                  <a:pt x="81844" y="25400"/>
                  <a:pt x="163689" y="0"/>
                  <a:pt x="245533" y="0"/>
                </a:cubicBezTo>
                <a:cubicBezTo>
                  <a:pt x="327377" y="0"/>
                  <a:pt x="409221" y="25400"/>
                  <a:pt x="491066" y="50800"/>
                </a:cubicBezTo>
              </a:path>
            </a:pathLst>
          </a:cu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9" name="フリーフォーム: 図形 98">
            <a:extLst xmlns:a="http://schemas.openxmlformats.org/drawingml/2006/main">
              <a:ext uri="{FF2B5EF4-FFF2-40B4-BE49-F238E27FC236}">
                <a16:creationId xmlns:a16="http://schemas.microsoft.com/office/drawing/2014/main" id="{73B331A6-8861-49CE-2467-BE9E2E49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0215526" y="3835196"/>
            <a:ext cx="180000" cy="36000"/>
          </a:xfrm>
          <a:custGeom xmlns:a="http://schemas.openxmlformats.org/drawingml/2006/main">
            <a:gdLst>
              <a:gd name="csX0" fmla="*/ 0 w 491066"/>
              <a:gd name="csY0" fmla="*/ 50800 h 50800"/>
              <a:gd name="csX1" fmla="*/ 245533 w 491066"/>
              <a:gd name="csY1" fmla="*/ 0 h 50800"/>
              <a:gd name="csX2" fmla="*/ 491066 w 491066"/>
              <a:gd name="csY2" fmla="*/ 50800 h 50800"/>
            </a:gdLst>
            <a:rect l="l" t="t" r="r" b="b"/>
            <a:pathLst>
              <a:path w="491066" h="50800">
                <a:moveTo>
                  <a:pt x="0" y="50800"/>
                </a:moveTo>
                <a:cubicBezTo>
                  <a:pt x="81844" y="25400"/>
                  <a:pt x="163689" y="0"/>
                  <a:pt x="245533" y="0"/>
                </a:cubicBezTo>
                <a:cubicBezTo>
                  <a:pt x="327377" y="0"/>
                  <a:pt x="409221" y="25400"/>
                  <a:pt x="491066" y="50800"/>
                </a:cubicBezTo>
              </a:path>
            </a:pathLst>
          </a:cu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1" name="フリーフォーム: 図形 100">
            <a:extLst xmlns:a="http://schemas.openxmlformats.org/drawingml/2006/main">
              <a:ext uri="{FF2B5EF4-FFF2-40B4-BE49-F238E27FC236}">
                <a16:creationId xmlns:a16="http://schemas.microsoft.com/office/drawing/2014/main" id="{919CD237-EED4-DA80-9BC2-077092DF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0336624" y="3848714"/>
            <a:ext cx="180000" cy="32400"/>
          </a:xfrm>
          <a:custGeom xmlns:a="http://schemas.openxmlformats.org/drawingml/2006/main">
            <a:gdLst>
              <a:gd name="csX0" fmla="*/ 0 w 491066"/>
              <a:gd name="csY0" fmla="*/ 50800 h 50800"/>
              <a:gd name="csX1" fmla="*/ 245533 w 491066"/>
              <a:gd name="csY1" fmla="*/ 0 h 50800"/>
              <a:gd name="csX2" fmla="*/ 491066 w 491066"/>
              <a:gd name="csY2" fmla="*/ 50800 h 50800"/>
            </a:gdLst>
            <a:rect l="l" t="t" r="r" b="b"/>
            <a:pathLst>
              <a:path w="491066" h="50800">
                <a:moveTo>
                  <a:pt x="0" y="50800"/>
                </a:moveTo>
                <a:cubicBezTo>
                  <a:pt x="81844" y="25400"/>
                  <a:pt x="163689" y="0"/>
                  <a:pt x="245533" y="0"/>
                </a:cubicBezTo>
                <a:cubicBezTo>
                  <a:pt x="327377" y="0"/>
                  <a:pt x="409221" y="25400"/>
                  <a:pt x="491066" y="50800"/>
                </a:cubicBezTo>
              </a:path>
            </a:pathLst>
          </a:cu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5" name="フリーフォーム: 図形 104">
            <a:extLst xmlns:a="http://schemas.openxmlformats.org/drawingml/2006/main">
              <a:ext uri="{FF2B5EF4-FFF2-40B4-BE49-F238E27FC236}">
                <a16:creationId xmlns:a16="http://schemas.microsoft.com/office/drawing/2014/main" id="{3A34CCC6-72E9-5642-2078-347E2782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76569" flipH="0" flipV="0">
            <a:off x="-18036421" y="3815604"/>
            <a:ext cx="206961" cy="80375"/>
          </a:xfrm>
          <a:custGeom xmlns:a="http://schemas.openxmlformats.org/drawingml/2006/main">
            <a:gdLst>
              <a:gd name="csX0" fmla="*/ 0 w 450993"/>
              <a:gd name="csY0" fmla="*/ 169640 h 169640"/>
              <a:gd name="csX1" fmla="*/ 215153 w 450993"/>
              <a:gd name="csY1" fmla="*/ 66201 h 169640"/>
              <a:gd name="csX2" fmla="*/ 450993 w 450993"/>
              <a:gd name="csY2" fmla="*/ 0 h 169640"/>
            </a:gdLst>
            <a:rect l="l" t="t" r="r" b="b"/>
            <a:pathLst>
              <a:path w="450993" h="169640">
                <a:moveTo>
                  <a:pt x="0" y="169640"/>
                </a:moveTo>
                <a:cubicBezTo>
                  <a:pt x="69994" y="132057"/>
                  <a:pt x="139988" y="94474"/>
                  <a:pt x="215153" y="66201"/>
                </a:cubicBezTo>
                <a:cubicBezTo>
                  <a:pt x="290318" y="37928"/>
                  <a:pt x="370655" y="18964"/>
                  <a:pt x="450993" y="0"/>
                </a:cubicBezTo>
              </a:path>
            </a:pathLst>
          </a:cu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7" name="フリーフォーム: 図形 106">
            <a:extLst xmlns:a="http://schemas.openxmlformats.org/drawingml/2006/main">
              <a:ext uri="{FF2B5EF4-FFF2-40B4-BE49-F238E27FC236}">
                <a16:creationId xmlns:a16="http://schemas.microsoft.com/office/drawing/2014/main" id="{EF3DBFD9-00C2-5E26-6C7E-1529D3AC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76569" flipH="0" flipV="0">
            <a:off x="-17912844" y="3810061"/>
            <a:ext cx="206961" cy="80375"/>
          </a:xfrm>
          <a:custGeom xmlns:a="http://schemas.openxmlformats.org/drawingml/2006/main">
            <a:gdLst>
              <a:gd name="csX0" fmla="*/ 0 w 450993"/>
              <a:gd name="csY0" fmla="*/ 169640 h 169640"/>
              <a:gd name="csX1" fmla="*/ 215153 w 450993"/>
              <a:gd name="csY1" fmla="*/ 66201 h 169640"/>
              <a:gd name="csX2" fmla="*/ 450993 w 450993"/>
              <a:gd name="csY2" fmla="*/ 0 h 169640"/>
            </a:gdLst>
            <a:rect l="l" t="t" r="r" b="b"/>
            <a:pathLst>
              <a:path w="450993" h="169640">
                <a:moveTo>
                  <a:pt x="0" y="169640"/>
                </a:moveTo>
                <a:cubicBezTo>
                  <a:pt x="69994" y="132057"/>
                  <a:pt x="139988" y="94474"/>
                  <a:pt x="215153" y="66201"/>
                </a:cubicBezTo>
                <a:cubicBezTo>
                  <a:pt x="290318" y="37928"/>
                  <a:pt x="370655" y="18964"/>
                  <a:pt x="450993" y="0"/>
                </a:cubicBezTo>
              </a:path>
            </a:pathLst>
          </a:cu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9" name="フリーフォーム: 図形 108">
            <a:extLst xmlns:a="http://schemas.openxmlformats.org/drawingml/2006/main">
              <a:ext uri="{FF2B5EF4-FFF2-40B4-BE49-F238E27FC236}">
                <a16:creationId xmlns:a16="http://schemas.microsoft.com/office/drawing/2014/main" id="{D997DC04-C94E-CC62-1BF7-495BFDA8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76569" flipH="0" flipV="0">
            <a:off x="-18133466" y="3823190"/>
            <a:ext cx="206961" cy="80375"/>
          </a:xfrm>
          <a:custGeom xmlns:a="http://schemas.openxmlformats.org/drawingml/2006/main">
            <a:gdLst>
              <a:gd name="csX0" fmla="*/ 0 w 450993"/>
              <a:gd name="csY0" fmla="*/ 169640 h 169640"/>
              <a:gd name="csX1" fmla="*/ 215153 w 450993"/>
              <a:gd name="csY1" fmla="*/ 66201 h 169640"/>
              <a:gd name="csX2" fmla="*/ 450993 w 450993"/>
              <a:gd name="csY2" fmla="*/ 0 h 169640"/>
            </a:gdLst>
            <a:rect l="l" t="t" r="r" b="b"/>
            <a:pathLst>
              <a:path w="450993" h="169640">
                <a:moveTo>
                  <a:pt x="0" y="169640"/>
                </a:moveTo>
                <a:cubicBezTo>
                  <a:pt x="69994" y="132057"/>
                  <a:pt x="139988" y="94474"/>
                  <a:pt x="215153" y="66201"/>
                </a:cubicBezTo>
                <a:cubicBezTo>
                  <a:pt x="290318" y="37928"/>
                  <a:pt x="370655" y="18964"/>
                  <a:pt x="450993" y="0"/>
                </a:cubicBezTo>
              </a:path>
            </a:pathLst>
          </a:cu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1" name="フリーフォーム: 図形 110">
            <a:extLst xmlns:a="http://schemas.openxmlformats.org/drawingml/2006/main">
              <a:ext uri="{FF2B5EF4-FFF2-40B4-BE49-F238E27FC236}">
                <a16:creationId xmlns:a16="http://schemas.microsoft.com/office/drawing/2014/main" id="{17922AB3-EFE4-3DF5-E9DD-52F1C20C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-17462132" y="3835240"/>
            <a:ext cx="236747" cy="36000"/>
          </a:xfrm>
          <a:custGeom xmlns:a="http://schemas.openxmlformats.org/drawingml/2006/main">
            <a:gdLst>
              <a:gd name="csX0" fmla="*/ 0 w 491066"/>
              <a:gd name="csY0" fmla="*/ 50800 h 50800"/>
              <a:gd name="csX1" fmla="*/ 245533 w 491066"/>
              <a:gd name="csY1" fmla="*/ 0 h 50800"/>
              <a:gd name="csX2" fmla="*/ 491066 w 491066"/>
              <a:gd name="csY2" fmla="*/ 50800 h 50800"/>
            </a:gdLst>
            <a:rect l="l" t="t" r="r" b="b"/>
            <a:pathLst>
              <a:path w="491066" h="50800">
                <a:moveTo>
                  <a:pt x="0" y="50800"/>
                </a:moveTo>
                <a:cubicBezTo>
                  <a:pt x="81844" y="25400"/>
                  <a:pt x="163689" y="0"/>
                  <a:pt x="245533" y="0"/>
                </a:cubicBezTo>
                <a:cubicBezTo>
                  <a:pt x="327377" y="0"/>
                  <a:pt x="409221" y="25400"/>
                  <a:pt x="491066" y="50800"/>
                </a:cubicBezTo>
              </a:path>
            </a:pathLst>
          </a:cu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3" name="フリーフォーム: 図形 112">
            <a:extLst xmlns:a="http://schemas.openxmlformats.org/drawingml/2006/main">
              <a:ext uri="{FF2B5EF4-FFF2-40B4-BE49-F238E27FC236}">
                <a16:creationId xmlns:a16="http://schemas.microsoft.com/office/drawing/2014/main" id="{46C02F62-3039-CB51-5B2C-6B765541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-17570060" y="3834549"/>
            <a:ext cx="236747" cy="36000"/>
          </a:xfrm>
          <a:custGeom xmlns:a="http://schemas.openxmlformats.org/drawingml/2006/main">
            <a:gdLst>
              <a:gd name="csX0" fmla="*/ 0 w 491066"/>
              <a:gd name="csY0" fmla="*/ 50800 h 50800"/>
              <a:gd name="csX1" fmla="*/ 245533 w 491066"/>
              <a:gd name="csY1" fmla="*/ 0 h 50800"/>
              <a:gd name="csX2" fmla="*/ 491066 w 491066"/>
              <a:gd name="csY2" fmla="*/ 50800 h 50800"/>
            </a:gdLst>
            <a:rect l="l" t="t" r="r" b="b"/>
            <a:pathLst>
              <a:path w="491066" h="50800">
                <a:moveTo>
                  <a:pt x="0" y="50800"/>
                </a:moveTo>
                <a:cubicBezTo>
                  <a:pt x="81844" y="25400"/>
                  <a:pt x="163689" y="0"/>
                  <a:pt x="245533" y="0"/>
                </a:cubicBezTo>
                <a:cubicBezTo>
                  <a:pt x="327377" y="0"/>
                  <a:pt x="409221" y="25400"/>
                  <a:pt x="491066" y="50800"/>
                </a:cubicBezTo>
              </a:path>
            </a:pathLst>
          </a:cu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5" name="フリーフォーム: 図形 114">
            <a:extLst xmlns:a="http://schemas.openxmlformats.org/drawingml/2006/main">
              <a:ext uri="{FF2B5EF4-FFF2-40B4-BE49-F238E27FC236}">
                <a16:creationId xmlns:a16="http://schemas.microsoft.com/office/drawing/2014/main" id="{4529AA10-C7D4-9229-2E1E-A0AE23D8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-17729336" y="3848067"/>
            <a:ext cx="236747" cy="32400"/>
          </a:xfrm>
          <a:custGeom xmlns:a="http://schemas.openxmlformats.org/drawingml/2006/main">
            <a:gdLst>
              <a:gd name="csX0" fmla="*/ 0 w 491066"/>
              <a:gd name="csY0" fmla="*/ 50800 h 50800"/>
              <a:gd name="csX1" fmla="*/ 245533 w 491066"/>
              <a:gd name="csY1" fmla="*/ 0 h 50800"/>
              <a:gd name="csX2" fmla="*/ 491066 w 491066"/>
              <a:gd name="csY2" fmla="*/ 50800 h 50800"/>
            </a:gdLst>
            <a:rect l="l" t="t" r="r" b="b"/>
            <a:pathLst>
              <a:path w="491066" h="50800">
                <a:moveTo>
                  <a:pt x="0" y="50800"/>
                </a:moveTo>
                <a:cubicBezTo>
                  <a:pt x="81844" y="25400"/>
                  <a:pt x="163689" y="0"/>
                  <a:pt x="245533" y="0"/>
                </a:cubicBezTo>
                <a:cubicBezTo>
                  <a:pt x="327377" y="0"/>
                  <a:pt x="409221" y="25400"/>
                  <a:pt x="491066" y="50800"/>
                </a:cubicBezTo>
              </a:path>
            </a:pathLst>
          </a:cu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8" name="楕円 117">
            <a:extLst xmlns:a="http://schemas.openxmlformats.org/drawingml/2006/main">
              <a:ext uri="{FF2B5EF4-FFF2-40B4-BE49-F238E27FC236}">
                <a16:creationId xmlns:a16="http://schemas.microsoft.com/office/drawing/2014/main" id="{5835EBA8-0D10-BC7E-477A-D347DECE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1254" y="3798320"/>
            <a:ext cx="108000" cy="108000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7" name="楕円 176">
            <a:extLst xmlns:a="http://schemas.openxmlformats.org/drawingml/2006/main">
              <a:ext uri="{FF2B5EF4-FFF2-40B4-BE49-F238E27FC236}">
                <a16:creationId xmlns:a16="http://schemas.microsoft.com/office/drawing/2014/main" id="{8A09E8FD-F8CA-27D0-752D-BDA7E80C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53054" y="4569540"/>
            <a:ext cx="1620000" cy="1620000"/>
          </a:xfrm>
          <a:prstGeom xmlns:a="http://schemas.openxmlformats.org/drawingml/2006/main" prst="ellipse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6" name="楕円 175">
            <a:extLst xmlns:a="http://schemas.openxmlformats.org/drawingml/2006/main">
              <a:ext uri="{FF2B5EF4-FFF2-40B4-BE49-F238E27FC236}">
                <a16:creationId xmlns:a16="http://schemas.microsoft.com/office/drawing/2014/main" id="{5F516269-D04B-A73A-9D70-40D57F2B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3054" y="4749540"/>
            <a:ext cx="1260000" cy="1260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/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2" name="楕円 171">
            <a:extLst xmlns:a="http://schemas.openxmlformats.org/drawingml/2006/main">
              <a:ext uri="{FF2B5EF4-FFF2-40B4-BE49-F238E27FC236}">
                <a16:creationId xmlns:a16="http://schemas.microsoft.com/office/drawing/2014/main" id="{1DAB0EE9-8006-2352-B1D1-36440BFC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13054" y="4933974"/>
            <a:ext cx="900000" cy="900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/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8" name="楕円 167">
            <a:extLst xmlns:a="http://schemas.openxmlformats.org/drawingml/2006/main">
              <a:ext uri="{FF2B5EF4-FFF2-40B4-BE49-F238E27FC236}">
                <a16:creationId xmlns:a16="http://schemas.microsoft.com/office/drawing/2014/main" id="{2FD56A16-9C2E-A5E9-5CF0-CCDFADA9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93054" y="5113974"/>
            <a:ext cx="540000" cy="540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/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6" name="楕円 165">
            <a:extLst xmlns:a="http://schemas.openxmlformats.org/drawingml/2006/main">
              <a:ext uri="{FF2B5EF4-FFF2-40B4-BE49-F238E27FC236}">
                <a16:creationId xmlns:a16="http://schemas.microsoft.com/office/drawing/2014/main" id="{2AD9E23F-7720-A0BA-969D-2F643F51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75849" y="5293974"/>
            <a:ext cx="180000" cy="180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/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9" name="矢印: 右 178">
            <a:extLst xmlns:a="http://schemas.openxmlformats.org/drawingml/2006/main">
              <a:ext uri="{FF2B5EF4-FFF2-40B4-BE49-F238E27FC236}">
                <a16:creationId xmlns:a16="http://schemas.microsoft.com/office/drawing/2014/main" id="{5BC4E4D6-D50F-1AA1-8169-8D6211E2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93054" y="5002718"/>
            <a:ext cx="540000" cy="108000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3" name="矢印: 右 182">
            <a:extLst xmlns:a="http://schemas.openxmlformats.org/drawingml/2006/main">
              <a:ext uri="{FF2B5EF4-FFF2-40B4-BE49-F238E27FC236}">
                <a16:creationId xmlns:a16="http://schemas.microsoft.com/office/drawing/2014/main" id="{6FACF449-3F24-CE75-F226-EB90A328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 flipH="0" flipV="0">
            <a:off x="10196275" y="4891334"/>
            <a:ext cx="540000" cy="108000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5" name="矢印: 右 184">
            <a:extLst xmlns:a="http://schemas.openxmlformats.org/drawingml/2006/main">
              <a:ext uri="{FF2B5EF4-FFF2-40B4-BE49-F238E27FC236}">
                <a16:creationId xmlns:a16="http://schemas.microsoft.com/office/drawing/2014/main" id="{E8592651-A2A2-0077-18B5-3F953C3D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0" flipH="0" flipV="0">
            <a:off x="9327999" y="5904558"/>
            <a:ext cx="540000" cy="108000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7" name="矢印: 右 186">
            <a:extLst xmlns:a="http://schemas.openxmlformats.org/drawingml/2006/main">
              <a:ext uri="{FF2B5EF4-FFF2-40B4-BE49-F238E27FC236}">
                <a16:creationId xmlns:a16="http://schemas.microsoft.com/office/drawing/2014/main" id="{10C13D62-5413-DE5F-6923-22FDA9CB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94614" y="5245943"/>
            <a:ext cx="540000" cy="108000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3">
            <a:schemeClr val="accent2"/>
          </a:fillRef>
          <a:effectRef xmlns:a="http://schemas.openxmlformats.org/drawingml/2006/main" idx="2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cxnSp>
        <p:nvCxnSpPr>
          <p:cNvPr id="198" name="コネクタ: カギ線 197">
            <a:extLst xmlns:a="http://schemas.openxmlformats.org/drawingml/2006/main">
              <a:ext uri="{FF2B5EF4-FFF2-40B4-BE49-F238E27FC236}">
                <a16:creationId xmlns:a16="http://schemas.microsoft.com/office/drawing/2014/main" id="{E5B2B21C-9644-4814-89AA-5216A471F4D5}"/>
              </a:ext>
            </a:extLst>
          </p:cNvPr>
          <p:cNvCxnSpPr/>
          <p:nvPr/>
        </p:nvCxnSpPr>
        <p:spPr>
          <a:xfrm xmlns:a="http://schemas.openxmlformats.org/drawingml/2006/main">
            <a:off x="10820330" y="2801590"/>
            <a:ext cx="10654" cy="1053006"/>
          </a:xfrm>
          <a:prstGeom xmlns:a="http://schemas.openxmlformats.org/drawingml/2006/main" prst="bentConnector3">
            <a:avLst>
              <a:gd name="adj1" fmla="val 2245673"/>
            </a:avLst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06" name="コネクタ: カギ線 205">
            <a:extLst xmlns:a="http://schemas.openxmlformats.org/drawingml/2006/main">
              <a:ext uri="{FF2B5EF4-FFF2-40B4-BE49-F238E27FC236}">
                <a16:creationId xmlns:a16="http://schemas.microsoft.com/office/drawing/2014/main" id="{363D8B21-5A17-49A5-A228-C492BB6A9F63}"/>
              </a:ext>
            </a:extLst>
          </p:cNvPr>
          <p:cNvCxnSpPr/>
          <p:nvPr/>
        </p:nvCxnSpPr>
        <p:spPr>
          <a:xfrm xmlns:a="http://schemas.openxmlformats.org/drawingml/2006/main" rot="10800000" flipH="1" flipV="1">
            <a:off x="9096882" y="2140414"/>
            <a:ext cx="10654" cy="2121490"/>
          </a:xfrm>
          <a:prstGeom xmlns:a="http://schemas.openxmlformats.org/drawingml/2006/main" prst="bentConnector3">
            <a:avLst>
              <a:gd name="adj1" fmla="val -2145673"/>
            </a:avLst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5" name="思考の吹き出し: 雲形 4">
            <a:extLst xmlns:a="http://schemas.openxmlformats.org/drawingml/2006/main">
              <a:ext uri="{FF2B5EF4-FFF2-40B4-BE49-F238E27FC236}">
                <a16:creationId xmlns:a16="http://schemas.microsoft.com/office/drawing/2014/main" id="{159091F1-F3C8-1B2F-B801-4DB8F2BF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299" y="5920514"/>
            <a:ext cx="1342696" cy="766036"/>
          </a:xfrm>
          <a:prstGeom xmlns:a="http://schemas.openxmlformats.org/drawingml/2006/main" prst="cloudCallout">
            <a:avLst>
              <a:gd name="adj1" fmla="val 59177"/>
              <a:gd name="adj2" fmla="val -48434"/>
            </a:avLst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/>
              <a:t>いずれも</a:t>
            </a:r>
            <a:r>
              <a:rPr sz="1400"/>
              <a:t>T</a:t>
            </a:r>
            <a:r>
              <a:rPr sz="1400"/>
              <a:t>方向</a:t>
            </a:r>
          </a:p>
        </p:txBody>
      </p:sp>
      <p:sp>
        <p:nvSpPr>
          <p:cNvPr id="6" name="吹き出し: 折線 5">
            <a:extLst xmlns:a="http://schemas.openxmlformats.org/drawingml/2006/main">
              <a:ext uri="{FF2B5EF4-FFF2-40B4-BE49-F238E27FC236}">
                <a16:creationId xmlns:a16="http://schemas.microsoft.com/office/drawing/2014/main" id="{32BEF2BC-FFE8-89BD-572C-2F2D8C01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499" y="5653974"/>
            <a:ext cx="1169309" cy="486349"/>
          </a:xfrm>
          <a:prstGeom xmlns:a="http://schemas.openxmlformats.org/drawingml/2006/main"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43837"/>
              <a:gd name="adj6" fmla="val -53467"/>
            </a:avLst>
          </a:prstGeom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これは？</a:t>
            </a:r>
          </a:p>
        </p:txBody>
      </p:sp>
      <p:sp>
        <p:nvSpPr>
          <p:cNvPr id="23" name="テキスト ボックス 22">
            <a:extLst xmlns:a="http://schemas.openxmlformats.org/drawingml/2006/main">
              <a:ext uri="{FF2B5EF4-FFF2-40B4-BE49-F238E27FC236}">
                <a16:creationId xmlns:a16="http://schemas.microsoft.com/office/drawing/2014/main" id="{49A10476-719B-F94B-7520-3ABA4B12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7393" y="1575352"/>
            <a:ext cx="2497951" cy="36933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2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T</a:t>
            </a:r>
            <a:r>
              <a:t>方向は案外、難しい</a:t>
            </a:r>
          </a:p>
        </p:txBody>
      </p:sp>
    </p:spTree>
    <p:extLst>
      <p:ext uri="{BB962C8B-B14F-4D97-AF65-F5344CB8AC3E}">
        <p14:creationId xmlns:p14="http://schemas.microsoft.com/office/powerpoint/2010/main" val="19189707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A9E110E4-61EB-409E-B32A-C2262000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観察：木片に、方向と面の名前を付ける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3E765A4E-BB00-4D3E-AB77-ABC051675AD5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047F1CC3-FEC7-4675-B477-A2A7F4B0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B3FE6178-B3D2-47C9-9BF2-8A69945F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A1B303B4-44B7-44A5-9004-542B5E96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繊維に沿う方向 L を、矢印で描く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16048645-685E-4B4F-8500-2637D564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木口面で、R と T の向きを示す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98A8A6ED-FDF3-47AD-8702-D47C7209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木口面・柾目面・板目面を、図に書き入れる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54F9BDF4-3C9B-4E9B-8C1A-1A1D92A9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④ 見えた模様と、切る面の関係を説明する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495B5636-6484-4FB9-9CEA-0F9DF1A3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L・R・TとRT・LR・LTを、木片の同じ位置に記入する</a:t>
            </a:r>
          </a:p>
        </p:txBody>
      </p:sp>
    </p:spTree>
    <p:extLst>
      <p:ext uri="{BB962C8B-B14F-4D97-AF65-F5344CB8AC3E}">
        <p14:creationId xmlns:p14="http://schemas.microsoft.com/office/powerpoint/2010/main" val="12629850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0C8BA4B3-E9F0-4CD0-B9C8-3BDB97DE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木口面の組織は、樹種群によって違う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978AF6BF-97DA-42DB-98E1-9740F103B8A6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FCD41A87-1786-455F-89D6-6B554D9E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1FDD91DF-7D0C-421E-AA35-40FC71EF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81B798C2-6DAA-4BF8-910B-FEEE265F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0891"/>
            <a:ext cx="287999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針葉樹材</a:t>
            </a:r>
            <a:endParaRPr sz="2025" b="1">
              <a:solidFill>
                <a:srgbClr val="18364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74C83B65-94EE-4F7D-9D6A-4BBB5414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4787" y="1640891"/>
            <a:ext cx="239280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t>広葉樹材・</a:t>
            </a: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散孔材</a:t>
            </a:r>
            <a:endParaRPr sz="2025" b="1">
              <a:solidFill>
                <a:srgbClr val="18364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59FC8EAD-51A8-4761-BBD7-720106A5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573" y="1663930"/>
            <a:ext cx="287999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t>広葉樹材・</a:t>
            </a: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環孔材</a:t>
            </a:r>
            <a:endParaRPr sz="2025" b="1">
              <a:solidFill>
                <a:srgbClr val="18364F"/>
              </a:solidFill>
              <a:latin typeface="Yu Gothic"/>
              <a:ea typeface="Yu Gothic"/>
              <a:cs typeface="Yu Gothic"/>
            </a:endParaRPr>
          </a:p>
        </p:txBody>
      </p:sp>
      <p:pic>
        <p:nvPicPr>
          <p:cNvPr id="13" name="図 12">
            <a:extLst xmlns:a="http://schemas.openxmlformats.org/drawingml/2006/main">
              <a:ext uri="{FF2B5EF4-FFF2-40B4-BE49-F238E27FC236}">
                <a16:creationId xmlns:a16="http://schemas.microsoft.com/office/drawing/2014/main" id="{E711167B-5BF0-4C20-AEAA-C6DE4525DD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fc10eabc4745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74786" y="2040941"/>
            <a:ext cx="2392801" cy="3600000"/>
          </a:xfrm>
          <a:prstGeom xmlns:a="http://schemas.openxmlformats.org/drawingml/2006/main" prst="rect">
            <a:avLst/>
          </a:prstGeom>
        </p:spPr>
      </p:pic>
      <p:sp>
        <p:nvSpPr>
          <p:cNvPr id="14" name="テキスト ボックス 13">
            <a:extLst xmlns:a="http://schemas.openxmlformats.org/drawingml/2006/main">
              <a:ext uri="{FF2B5EF4-FFF2-40B4-BE49-F238E27FC236}">
                <a16:creationId xmlns:a16="http://schemas.microsoft.com/office/drawing/2014/main" id="{CBB3E41E-4806-0618-4746-C704AED4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74786" y="5640941"/>
            <a:ext cx="239280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ブナ </a:t>
            </a:r>
            <a:r>
              <a:t>(</a:t>
            </a:r>
            <a:r>
              <a:rPr i="1"/>
              <a:t>Fagus crenata</a:t>
            </a:r>
            <a:r>
              <a:t>)</a:t>
            </a:r>
            <a:endParaRPr/>
          </a:p>
        </p:txBody>
      </p:sp>
      <p:sp>
        <p:nvSpPr>
          <p:cNvPr id="17" name="テキスト ボックス 16">
            <a:extLst xmlns:a="http://schemas.openxmlformats.org/drawingml/2006/main">
              <a:ext uri="{FF2B5EF4-FFF2-40B4-BE49-F238E27FC236}">
                <a16:creationId xmlns:a16="http://schemas.microsoft.com/office/drawing/2014/main" id="{577BC9CE-660C-417C-D1A1-55F8B106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9153" y="6355720"/>
            <a:ext cx="3307047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hlinkClick xmlns:r="http://schemas.openxmlformats.org/officeDocument/2006/relationships" r:id="Red5be4cf7e10438f"/>
              </a:rPr>
              <a:t>森林総合研究所・日本産木材データベース</a:t>
            </a:r>
            <a:endParaRPr sz="1100"/>
          </a:p>
        </p:txBody>
      </p:sp>
      <p:pic>
        <p:nvPicPr>
          <p:cNvPr id="18" name="図 17">
            <a:extLst xmlns:a="http://schemas.openxmlformats.org/drawingml/2006/main">
              <a:ext uri="{FF2B5EF4-FFF2-40B4-BE49-F238E27FC236}">
                <a16:creationId xmlns:a16="http://schemas.microsoft.com/office/drawing/2014/main" id="{4148B1AB-87A4-4E3B-AD85-F5ACCAACA9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863787e4149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176573" y="2056301"/>
            <a:ext cx="2880000" cy="3600000"/>
          </a:xfrm>
          <a:prstGeom xmlns:a="http://schemas.openxmlformats.org/drawingml/2006/main" prst="rect">
            <a:avLst/>
          </a:prstGeom>
        </p:spPr>
      </p:pic>
      <p:sp>
        <p:nvSpPr>
          <p:cNvPr id="20" name="テキスト ボックス 19">
            <a:extLst xmlns:a="http://schemas.openxmlformats.org/drawingml/2006/main">
              <a:ext uri="{FF2B5EF4-FFF2-40B4-BE49-F238E27FC236}">
                <a16:creationId xmlns:a16="http://schemas.microsoft.com/office/drawing/2014/main" id="{45BF9C01-3357-F055-81B5-8330091B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6573" y="5656301"/>
            <a:ext cx="28800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ケヤキ </a:t>
            </a:r>
            <a:r>
              <a:t>(Zelkova serrata)</a:t>
            </a:r>
            <a:endParaRPr/>
          </a:p>
        </p:txBody>
      </p:sp>
      <p:pic>
        <p:nvPicPr>
          <p:cNvPr id="22" name="図 21">
            <a:extLst xmlns:a="http://schemas.openxmlformats.org/drawingml/2006/main">
              <a:ext uri="{FF2B5EF4-FFF2-40B4-BE49-F238E27FC236}">
                <a16:creationId xmlns:a16="http://schemas.microsoft.com/office/drawing/2014/main" id="{A79097E0-1017-45C7-A092-8371FDBEE9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e09dd9a4c42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85800" y="2040942"/>
            <a:ext cx="2880000" cy="3600000"/>
          </a:xfrm>
          <a:prstGeom xmlns:a="http://schemas.openxmlformats.org/drawingml/2006/main" prst="rect">
            <a:avLst/>
          </a:prstGeom>
        </p:spPr>
      </p:pic>
      <p:sp>
        <p:nvSpPr>
          <p:cNvPr id="24" name="テキスト ボックス 23">
            <a:extLst xmlns:a="http://schemas.openxmlformats.org/drawingml/2006/main">
              <a:ext uri="{FF2B5EF4-FFF2-40B4-BE49-F238E27FC236}">
                <a16:creationId xmlns:a16="http://schemas.microsoft.com/office/drawing/2014/main" id="{5A8D51C7-B281-7BD9-AA46-39F22253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5640942"/>
            <a:ext cx="287999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カラマツ </a:t>
            </a:r>
            <a:r>
              <a:t>(L</a:t>
            </a:r>
            <a:r>
              <a:rPr i="1"/>
              <a:t>arix </a:t>
            </a:r>
            <a:r>
              <a:rPr i="1"/>
              <a:t>kaempferi</a:t>
            </a:r>
            <a:r>
              <a:t>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758862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C37016-7200-478F-8914-6ED31F11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木の文化：曲げわっぱの木取りと形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BC27C-19A0-4B70-A7B8-68E0117E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CE032-F237-4BFB-B322-525D6D5E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EF754-D37E-4647-A0A6-748E1C88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2AF2C-71C3-4036-81FB-8E1433DE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00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400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400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400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400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400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400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400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400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400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薄い柾目板を、加熱して曲げる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BCD33-A08B-4D6C-AB56-FB205596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28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D7B8"/>
          </a:solidFill>
          <a:ln xmlns:a="http://schemas.openxmlformats.org/drawingml/2006/main" w="19050">
            <a:solidFill>
              <a:srgbClr val="18364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DEDE1-4EB3-4116-846D-A7521236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67050"/>
            <a:ext cx="4076700" cy="9525"/>
          </a:xfrm>
          <a:custGeom xmlns:a="http://schemas.openxmlformats.org/drawingml/2006/main">
            <a:pathLst>
              <a:path w="4076700" h="9525">
                <a:moveTo>
                  <a:pt x="0" y="0"/>
                </a:moveTo>
                <a:lnTo>
                  <a:pt x="407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67A4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80683-B41A-4FBE-AC27-2C306A23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38500"/>
            <a:ext cx="4076700" cy="9525"/>
          </a:xfrm>
          <a:custGeom xmlns:a="http://schemas.openxmlformats.org/drawingml/2006/main">
            <a:pathLst>
              <a:path w="4076700" h="9525">
                <a:moveTo>
                  <a:pt x="0" y="0"/>
                </a:moveTo>
                <a:lnTo>
                  <a:pt x="407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67A4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F67A4-1794-4529-9168-8DE1CBDA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409950"/>
            <a:ext cx="4076700" cy="9525"/>
          </a:xfrm>
          <a:custGeom xmlns:a="http://schemas.openxmlformats.org/drawingml/2006/main">
            <a:pathLst>
              <a:path w="4076700" h="9525">
                <a:moveTo>
                  <a:pt x="0" y="0"/>
                </a:moveTo>
                <a:lnTo>
                  <a:pt x="407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67A4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896D0-3867-43D1-8852-88ED90D9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581400"/>
            <a:ext cx="4076700" cy="9525"/>
          </a:xfrm>
          <a:custGeom xmlns:a="http://schemas.openxmlformats.org/drawingml/2006/main">
            <a:pathLst>
              <a:path w="4076700" h="9525">
                <a:moveTo>
                  <a:pt x="0" y="0"/>
                </a:moveTo>
                <a:lnTo>
                  <a:pt x="407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67A4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EC3D3B-F92A-430F-95AA-AAE88023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33875"/>
            <a:ext cx="3619500" cy="9525"/>
          </a:xfrm>
          <a:custGeom xmlns:a="http://schemas.openxmlformats.org/drawingml/2006/main">
            <a:pathLst>
              <a:path w="3619500" h="9525">
                <a:moveTo>
                  <a:pt x="0" y="0"/>
                </a:moveTo>
                <a:lnTo>
                  <a:pt x="361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87E8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A0F8F-9005-4EB6-BB44-01454A1E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691" y="4333875"/>
            <a:ext cx="113684" cy="69700"/>
          </a:xfrm>
          <a:custGeom xmlns:a="http://schemas.openxmlformats.org/drawingml/2006/main">
            <a:pathLst>
              <a:path w="113684" h="69700">
                <a:moveTo>
                  <a:pt x="113684" y="0"/>
                </a:moveTo>
                <a:lnTo>
                  <a:pt x="0" y="697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87E8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E0D08-580F-4133-93BD-2236A670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691" y="4264175"/>
            <a:ext cx="113684" cy="69700"/>
          </a:xfrm>
          <a:custGeom xmlns:a="http://schemas.openxmlformats.org/drawingml/2006/main">
            <a:pathLst>
              <a:path w="113684" h="69700">
                <a:moveTo>
                  <a:pt x="113684" y="697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87E8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9947C3-7A46-4751-B80C-E7D37CFC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62475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0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0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0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0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0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0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0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0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0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長手に沿う繊維 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96D96F-0F81-419A-A97B-FF0F055F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33750"/>
            <a:ext cx="1219200" cy="9525"/>
          </a:xfrm>
          <a:custGeom xmlns:a="http://schemas.openxmlformats.org/drawingml/2006/main">
            <a:pathLst>
              <a:path w="1219200" h="9525">
                <a:moveTo>
                  <a:pt x="0" y="0"/>
                </a:moveTo>
                <a:lnTo>
                  <a:pt x="1219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876A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BC02F8-9220-49AF-8F8F-1B53882B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7166" y="3333750"/>
            <a:ext cx="113684" cy="69700"/>
          </a:xfrm>
          <a:custGeom xmlns:a="http://schemas.openxmlformats.org/drawingml/2006/main">
            <a:pathLst>
              <a:path w="113684" h="69700">
                <a:moveTo>
                  <a:pt x="113684" y="0"/>
                </a:moveTo>
                <a:lnTo>
                  <a:pt x="0" y="697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876A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6F670-07F6-4EA9-9CC0-1FC2997D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7166" y="3264050"/>
            <a:ext cx="113684" cy="69700"/>
          </a:xfrm>
          <a:custGeom xmlns:a="http://schemas.openxmlformats.org/drawingml/2006/main">
            <a:pathLst>
              <a:path w="113684" h="69700">
                <a:moveTo>
                  <a:pt x="113684" y="697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876A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79C69B-1B76-43EC-8396-6FA8CF47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14625"/>
            <a:ext cx="3190875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D7B8"/>
          </a:solidFill>
          <a:ln xmlns:a="http://schemas.openxmlformats.org/drawingml/2006/main" w="19050">
            <a:solidFill>
              <a:srgbClr val="18364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5075C9-D085-4CFC-B7F4-2A28FBB7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09875"/>
            <a:ext cx="3000375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64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5072BA-2E8D-4EC8-BB3B-8B0F008F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6725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周方向へ曲げる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A09238-C7BC-40E3-9CFD-5E577D1E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816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木取り・薄さ・繊維方向を、使う形と結び付ける。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8B9C00-4C00-44D5-8701-6C03E4D0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2876A8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275" b="0">
                <a:solidFill>
                  <a:srgbClr val="2876A8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275" b="0">
                <a:solidFill>
                  <a:srgbClr val="2876A8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275" b="0">
                <a:solidFill>
                  <a:srgbClr val="2876A8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275" b="0">
                <a:solidFill>
                  <a:srgbClr val="2876A8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275" b="0">
                <a:solidFill>
                  <a:srgbClr val="2876A8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275" b="0">
                <a:solidFill>
                  <a:srgbClr val="2876A8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275" b="0">
                <a:solidFill>
                  <a:srgbClr val="2876A8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275" b="0">
                <a:solidFill>
                  <a:srgbClr val="2876A8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275" b="0">
                <a:solidFill>
                  <a:srgbClr val="2876A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2876A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2876A8"/>
                </a:solidFill>
                <a:latin typeface="Yu Gothic"/>
                <a:ea typeface="Yu Gothic"/>
                <a:cs typeface="Yu Gothic"/>
                <a:hlinkClick xmlns:r="http://schemas.openxmlformats.org/officeDocument/2006/relationships" r:id="R72e9e7a71a36495c"/>
              </a:rPr>
              <a:t>出典：伝統的工芸品産業振興協会：大館曲げわっぱ</a:t>
            </a:r>
          </a:p>
        </p:txBody>
      </p:sp>
    </p:spTree>
    <p:extLst>
      <p:ext uri="{BB962C8B-B14F-4D97-AF65-F5344CB8AC3E}">
        <p14:creationId xmlns:p14="http://schemas.microsoft.com/office/powerpoint/2010/main" val="7368085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4B8A69B2-3E9D-4A1C-88D9-86DBD83D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節・目切れ・割れを、外観から観察する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3886B04E-FC77-49DE-8C90-F3BAD9697F99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4B8E950C-2111-4AB4-B7F1-FFCB17F7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043E8C09-A2B2-419A-B19E-D18CF0AC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F2BC7F5A-4F88-48EE-BC21-6525B72D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節：枝の跡。周囲では繊維の向きも変わる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FA882AD6-EC87-4BCA-A232-8823882C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目切れ：材の軸と、繊維の方向がずれる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68C60E44-7181-47A9-B1AB-FF9ADF40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割れ：位置・向き・深さを確かめる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AD9F42D9-6832-4872-AF0C-DA3F9EF0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用途と荷重を決めて、利用上の影響を考える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9C51C940-4147-43A2-99B7-C5C56EC5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見える特徴を記録し、強度への影響は後の回で確かめる</a:t>
            </a:r>
          </a:p>
        </p:txBody>
      </p:sp>
    </p:spTree>
    <p:extLst>
      <p:ext uri="{BB962C8B-B14F-4D97-AF65-F5344CB8AC3E}">
        <p14:creationId xmlns:p14="http://schemas.microsoft.com/office/powerpoint/2010/main" val="96268597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正方形/長方形 24">
            <a:extLst xmlns:a="http://schemas.openxmlformats.org/drawingml/2006/main">
              <a:ext uri="{FF2B5EF4-FFF2-40B4-BE49-F238E27FC236}">
                <a16:creationId xmlns:a16="http://schemas.microsoft.com/office/drawing/2014/main" id="{12FC7E8A-1ED5-4024-9696-0C94A16B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節の周囲では、繊維の向きが変わる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384DC869-F5D3-46DC-A076-36C8381FD57B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9F29413F-9A74-4BE8-B661-4C4C9E82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2301B3BA-7AA6-478D-ADEE-E30F7F4F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3746399B-6E7F-4AAD-826E-84F9AEF6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繊維の向きがそろう部分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7641F87A-DBF5-4192-9320-AA3FBFF9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906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節の周囲の例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1A87294E-F82D-4465-945E-EB996798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572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3335">
            <a:solidFill>
              <a:srgbClr val="B1A18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45320BDF-313B-402A-964B-0ED0A066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52700"/>
            <a:ext cx="4572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3335">
            <a:solidFill>
              <a:srgbClr val="B1A18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9" name="直線矢印コネクタ 8">
            <a:extLst xmlns:a="http://schemas.openxmlformats.org/drawingml/2006/main">
              <a:ext uri="{FF2B5EF4-FFF2-40B4-BE49-F238E27FC236}">
                <a16:creationId xmlns:a16="http://schemas.microsoft.com/office/drawing/2014/main" id="{339C72FD-9508-4505-BE0E-AFF9207F493B}"/>
              </a:ext>
            </a:extLst>
          </p:cNvPr>
          <p:cNvCxnSpPr/>
          <p:nvPr/>
        </p:nvCxnSpPr>
        <p:spPr>
          <a:xfrm xmlns:a="http://schemas.openxmlformats.org/drawingml/2006/main">
            <a:off x="1057275" y="2781300"/>
            <a:ext cx="421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6D48"/>
            </a:solidFill>
            <a:prstDash val="solid"/>
          </a:ln>
        </p:spPr>
      </p:cxnSp>
      <p:cxnSp>
        <p:nvCxnSpPr>
          <p:cNvPr id="10" name="直線矢印コネクタ 9">
            <a:extLst xmlns:a="http://schemas.openxmlformats.org/drawingml/2006/main">
              <a:ext uri="{FF2B5EF4-FFF2-40B4-BE49-F238E27FC236}">
                <a16:creationId xmlns:a16="http://schemas.microsoft.com/office/drawing/2014/main" id="{23D213BD-9EF1-4C69-B83F-FF9F4DDC2F29}"/>
              </a:ext>
            </a:extLst>
          </p:cNvPr>
          <p:cNvCxnSpPr/>
          <p:nvPr/>
        </p:nvCxnSpPr>
        <p:spPr>
          <a:xfrm xmlns:a="http://schemas.openxmlformats.org/drawingml/2006/main">
            <a:off x="1057275" y="3048000"/>
            <a:ext cx="421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6D48"/>
            </a:solidFill>
            <a:prstDash val="solid"/>
          </a:ln>
        </p:spPr>
      </p:cxnSp>
      <p:cxnSp>
        <p:nvCxnSpPr>
          <p:cNvPr id="11" name="直線矢印コネクタ 10">
            <a:extLst xmlns:a="http://schemas.openxmlformats.org/drawingml/2006/main">
              <a:ext uri="{FF2B5EF4-FFF2-40B4-BE49-F238E27FC236}">
                <a16:creationId xmlns:a16="http://schemas.microsoft.com/office/drawing/2014/main" id="{DA4520B7-FD92-42F2-989A-523E91F96017}"/>
              </a:ext>
            </a:extLst>
          </p:cNvPr>
          <p:cNvCxnSpPr/>
          <p:nvPr/>
        </p:nvCxnSpPr>
        <p:spPr>
          <a:xfrm xmlns:a="http://schemas.openxmlformats.org/drawingml/2006/main">
            <a:off x="1057275" y="3314700"/>
            <a:ext cx="421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6D48"/>
            </a:solidFill>
            <a:prstDash val="solid"/>
          </a:ln>
        </p:spPr>
      </p:cxnSp>
      <p:cxnSp>
        <p:nvCxnSpPr>
          <p:cNvPr id="12" name="直線矢印コネクタ 11">
            <a:extLst xmlns:a="http://schemas.openxmlformats.org/drawingml/2006/main">
              <a:ext uri="{FF2B5EF4-FFF2-40B4-BE49-F238E27FC236}">
                <a16:creationId xmlns:a16="http://schemas.microsoft.com/office/drawing/2014/main" id="{A8514BC2-1606-4297-A1FD-0FB5E98FD687}"/>
              </a:ext>
            </a:extLst>
          </p:cNvPr>
          <p:cNvCxnSpPr/>
          <p:nvPr/>
        </p:nvCxnSpPr>
        <p:spPr>
          <a:xfrm xmlns:a="http://schemas.openxmlformats.org/drawingml/2006/main">
            <a:off x="1057275" y="3581400"/>
            <a:ext cx="421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6D48"/>
            </a:solidFill>
            <a:prstDash val="solid"/>
          </a:ln>
        </p:spPr>
      </p:cxnSp>
      <p:cxnSp>
        <p:nvCxnSpPr>
          <p:cNvPr id="13" name="直線矢印コネクタ 12">
            <a:extLst xmlns:a="http://schemas.openxmlformats.org/drawingml/2006/main">
              <a:ext uri="{FF2B5EF4-FFF2-40B4-BE49-F238E27FC236}">
                <a16:creationId xmlns:a16="http://schemas.microsoft.com/office/drawing/2014/main" id="{7CAD79AC-2DD2-43E3-BD86-D524579FADDE}"/>
              </a:ext>
            </a:extLst>
          </p:cNvPr>
          <p:cNvCxnSpPr/>
          <p:nvPr/>
        </p:nvCxnSpPr>
        <p:spPr>
          <a:xfrm xmlns:a="http://schemas.openxmlformats.org/drawingml/2006/main">
            <a:off x="1057275" y="3848100"/>
            <a:ext cx="421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6D48"/>
            </a:solidFill>
            <a:prstDash val="solid"/>
          </a:ln>
        </p:spPr>
      </p:cxnSp>
      <p:cxnSp>
        <p:nvCxnSpPr>
          <p:cNvPr id="14" name="直線矢印コネクタ 13">
            <a:extLst xmlns:a="http://schemas.openxmlformats.org/drawingml/2006/main">
              <a:ext uri="{FF2B5EF4-FFF2-40B4-BE49-F238E27FC236}">
                <a16:creationId xmlns:a16="http://schemas.microsoft.com/office/drawing/2014/main" id="{4C35D974-99A9-40C8-A502-5F8FDD924F9A}"/>
              </a:ext>
            </a:extLst>
          </p:cNvPr>
          <p:cNvCxnSpPr/>
          <p:nvPr/>
        </p:nvCxnSpPr>
        <p:spPr>
          <a:xfrm xmlns:a="http://schemas.openxmlformats.org/drawingml/2006/main">
            <a:off x="1057275" y="4114800"/>
            <a:ext cx="421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6D48"/>
            </a:solidFill>
            <a:prstDash val="solid"/>
          </a:ln>
        </p:spPr>
      </p:cxnSp>
      <p:cxnSp>
        <p:nvCxnSpPr>
          <p:cNvPr id="15" name="直線矢印コネクタ 14">
            <a:extLst xmlns:a="http://schemas.openxmlformats.org/drawingml/2006/main">
              <a:ext uri="{FF2B5EF4-FFF2-40B4-BE49-F238E27FC236}">
                <a16:creationId xmlns:a16="http://schemas.microsoft.com/office/drawing/2014/main" id="{6778AA20-05BF-4619-BA89-3FB91D8A9EAA}"/>
              </a:ext>
            </a:extLst>
          </p:cNvPr>
          <p:cNvCxnSpPr/>
          <p:nvPr/>
        </p:nvCxnSpPr>
        <p:spPr>
          <a:xfrm xmlns:a="http://schemas.openxmlformats.org/drawingml/2006/main">
            <a:off x="1057275" y="4381500"/>
            <a:ext cx="421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6D48"/>
            </a:solidFill>
            <a:prstDash val="solid"/>
          </a:ln>
        </p:spPr>
      </p:cxnSp>
      <p:sp>
        <p:nvSpPr>
          <p:cNvPr id="16" name="楕円 15">
            <a:extLst xmlns:a="http://schemas.openxmlformats.org/drawingml/2006/main">
              <a:ext uri="{FF2B5EF4-FFF2-40B4-BE49-F238E27FC236}">
                <a16:creationId xmlns:a16="http://schemas.microsoft.com/office/drawing/2014/main" id="{B6E62090-7D5D-4113-A2D3-A653F471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171825"/>
            <a:ext cx="95250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E9C"/>
          </a:solidFill>
          <a:ln xmlns:a="http://schemas.openxmlformats.org/drawingml/2006/main" w="19050">
            <a:solidFill>
              <a:srgbClr val="8A6D4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フリーフォーム: 図形 16">
            <a:extLst xmlns:a="http://schemas.openxmlformats.org/drawingml/2006/main">
              <a:ext uri="{FF2B5EF4-FFF2-40B4-BE49-F238E27FC236}">
                <a16:creationId xmlns:a16="http://schemas.microsoft.com/office/drawing/2014/main" id="{75F2FA8E-BFD3-449F-A692-ACF2D92F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52700"/>
            <a:ext cx="4219575" cy="228600"/>
          </a:xfrm>
          <a:custGeom xmlns:a="http://schemas.openxmlformats.org/drawingml/2006/main">
            <a:rect l="0" t="0" r="0" b="0"/>
            <a:pathLst>
              <a:path w="4219575" h="228600">
                <a:moveTo>
                  <a:pt x="0" y="228600"/>
                </a:moveTo>
                <a:lnTo>
                  <a:pt x="1038225" y="228600"/>
                </a:lnTo>
                <a:lnTo>
                  <a:pt x="1752600" y="0"/>
                </a:lnTo>
                <a:lnTo>
                  <a:pt x="2524125" y="0"/>
                </a:lnTo>
                <a:lnTo>
                  <a:pt x="3133725" y="228600"/>
                </a:lnTo>
                <a:lnTo>
                  <a:pt x="4219575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A6D4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フリーフォーム: 図形 17">
            <a:extLst xmlns:a="http://schemas.openxmlformats.org/drawingml/2006/main">
              <a:ext uri="{FF2B5EF4-FFF2-40B4-BE49-F238E27FC236}">
                <a16:creationId xmlns:a16="http://schemas.microsoft.com/office/drawing/2014/main" id="{C8CF652E-F134-4FDF-8872-D1CC8607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09875"/>
            <a:ext cx="4219575" cy="228600"/>
          </a:xfrm>
          <a:custGeom xmlns:a="http://schemas.openxmlformats.org/drawingml/2006/main">
            <a:rect l="0" t="0" r="0" b="0"/>
            <a:pathLst>
              <a:path w="4219575" h="228600">
                <a:moveTo>
                  <a:pt x="0" y="228600"/>
                </a:moveTo>
                <a:lnTo>
                  <a:pt x="1038225" y="228600"/>
                </a:lnTo>
                <a:lnTo>
                  <a:pt x="1752600" y="0"/>
                </a:lnTo>
                <a:lnTo>
                  <a:pt x="2524125" y="0"/>
                </a:lnTo>
                <a:lnTo>
                  <a:pt x="3133725" y="228600"/>
                </a:lnTo>
                <a:lnTo>
                  <a:pt x="4219575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A6D4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フリーフォーム: 図形 18">
            <a:extLst xmlns:a="http://schemas.openxmlformats.org/drawingml/2006/main">
              <a:ext uri="{FF2B5EF4-FFF2-40B4-BE49-F238E27FC236}">
                <a16:creationId xmlns:a16="http://schemas.microsoft.com/office/drawing/2014/main" id="{74E63B80-2E48-47B3-B2F2-AD3678A0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67050"/>
            <a:ext cx="4219575" cy="228600"/>
          </a:xfrm>
          <a:custGeom xmlns:a="http://schemas.openxmlformats.org/drawingml/2006/main">
            <a:rect l="0" t="0" r="0" b="0"/>
            <a:pathLst>
              <a:path w="4219575" h="228600">
                <a:moveTo>
                  <a:pt x="0" y="228600"/>
                </a:moveTo>
                <a:lnTo>
                  <a:pt x="1038225" y="228600"/>
                </a:lnTo>
                <a:lnTo>
                  <a:pt x="1752600" y="0"/>
                </a:lnTo>
                <a:lnTo>
                  <a:pt x="2524125" y="0"/>
                </a:lnTo>
                <a:lnTo>
                  <a:pt x="3133725" y="228600"/>
                </a:lnTo>
                <a:lnTo>
                  <a:pt x="4219575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A6D4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フリーフォーム: 図形 19">
            <a:extLst xmlns:a="http://schemas.openxmlformats.org/drawingml/2006/main">
              <a:ext uri="{FF2B5EF4-FFF2-40B4-BE49-F238E27FC236}">
                <a16:creationId xmlns:a16="http://schemas.microsoft.com/office/drawing/2014/main" id="{378BE91C-AD7E-4B62-9F17-E4FB526E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76675"/>
            <a:ext cx="4219575" cy="228600"/>
          </a:xfrm>
          <a:custGeom xmlns:a="http://schemas.openxmlformats.org/drawingml/2006/main">
            <a:rect l="0" t="0" r="0" b="0"/>
            <a:pathLst>
              <a:path w="4219575" h="228600">
                <a:moveTo>
                  <a:pt x="0" y="0"/>
                </a:moveTo>
                <a:lnTo>
                  <a:pt x="1038225" y="0"/>
                </a:lnTo>
                <a:lnTo>
                  <a:pt x="1752600" y="228600"/>
                </a:lnTo>
                <a:lnTo>
                  <a:pt x="2524125" y="228600"/>
                </a:lnTo>
                <a:lnTo>
                  <a:pt x="3133725" y="0"/>
                </a:lnTo>
                <a:lnTo>
                  <a:pt x="4219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A6D4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フリーフォーム: 図形 20">
            <a:extLst xmlns:a="http://schemas.openxmlformats.org/drawingml/2006/main">
              <a:ext uri="{FF2B5EF4-FFF2-40B4-BE49-F238E27FC236}">
                <a16:creationId xmlns:a16="http://schemas.microsoft.com/office/drawing/2014/main" id="{0D4E138A-5C81-4FA9-9522-3DD640E0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33850"/>
            <a:ext cx="4219575" cy="228600"/>
          </a:xfrm>
          <a:custGeom xmlns:a="http://schemas.openxmlformats.org/drawingml/2006/main">
            <a:rect l="0" t="0" r="0" b="0"/>
            <a:pathLst>
              <a:path w="4219575" h="228600">
                <a:moveTo>
                  <a:pt x="0" y="0"/>
                </a:moveTo>
                <a:lnTo>
                  <a:pt x="1038225" y="0"/>
                </a:lnTo>
                <a:lnTo>
                  <a:pt x="1752600" y="228600"/>
                </a:lnTo>
                <a:lnTo>
                  <a:pt x="2524125" y="228600"/>
                </a:lnTo>
                <a:lnTo>
                  <a:pt x="3133725" y="0"/>
                </a:lnTo>
                <a:lnTo>
                  <a:pt x="4219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A6D4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フリーフォーム: 図形 21">
            <a:extLst xmlns:a="http://schemas.openxmlformats.org/drawingml/2006/main">
              <a:ext uri="{FF2B5EF4-FFF2-40B4-BE49-F238E27FC236}">
                <a16:creationId xmlns:a16="http://schemas.microsoft.com/office/drawing/2014/main" id="{B3FB5C27-BF9A-4D3E-8AF3-8DCE6227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91025"/>
            <a:ext cx="4219575" cy="228600"/>
          </a:xfrm>
          <a:custGeom xmlns:a="http://schemas.openxmlformats.org/drawingml/2006/main">
            <a:rect l="0" t="0" r="0" b="0"/>
            <a:pathLst>
              <a:path w="4219575" h="228600">
                <a:moveTo>
                  <a:pt x="0" y="0"/>
                </a:moveTo>
                <a:lnTo>
                  <a:pt x="1038225" y="0"/>
                </a:lnTo>
                <a:lnTo>
                  <a:pt x="1752600" y="228600"/>
                </a:lnTo>
                <a:lnTo>
                  <a:pt x="2524125" y="228600"/>
                </a:lnTo>
                <a:lnTo>
                  <a:pt x="3133725" y="0"/>
                </a:lnTo>
                <a:lnTo>
                  <a:pt x="4219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A6D4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正方形/長方形 22">
            <a:extLst xmlns:a="http://schemas.openxmlformats.org/drawingml/2006/main">
              <a:ext uri="{FF2B5EF4-FFF2-40B4-BE49-F238E27FC236}">
                <a16:creationId xmlns:a16="http://schemas.microsoft.com/office/drawing/2014/main" id="{84C3AD50-378E-4823-BA71-38E5238F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主な繊維の方向を、矢印で描こう</a:t>
            </a:r>
          </a:p>
        </p:txBody>
      </p:sp>
      <p:sp>
        <p:nvSpPr>
          <p:cNvPr id="24" name="正方形/長方形 23">
            <a:extLst xmlns:a="http://schemas.openxmlformats.org/drawingml/2006/main">
              <a:ext uri="{FF2B5EF4-FFF2-40B4-BE49-F238E27FC236}">
                <a16:creationId xmlns:a16="http://schemas.microsoft.com/office/drawing/2014/main" id="{B8392BFB-BE0E-47ED-B607-C0833597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節のある位置・大きさ・荷重方向で、利用上の影響は変わる</a:t>
            </a:r>
          </a:p>
        </p:txBody>
      </p:sp>
    </p:spTree>
    <p:extLst>
      <p:ext uri="{BB962C8B-B14F-4D97-AF65-F5344CB8AC3E}">
        <p14:creationId xmlns:p14="http://schemas.microsoft.com/office/powerpoint/2010/main" val="162172832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58E13-8E8E-4454-9AB0-A9F4EABB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短い休憩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70EE0-F3CC-4B6B-9A92-34155A84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A513D-5EF8-4B43-8572-F72CA562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画面から目を離し、姿勢を変えましょう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E6624-319E-4D98-98BF-DC42775D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038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肩を軽く上げて下ろす</a:t>
            </a:r>
          </a:p>
          <a:p xmlns:a="http://schemas.openxmlformats.org/drawingml/2006/main">
            <a: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手を開いて閉じる</a:t>
            </a:r>
          </a:p>
          <a:p xmlns:a="http://schemas.openxmlformats.org/drawingml/2006/main">
            <a: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できる範囲で。動作は任意です。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3DA94-908D-4EC0-9108-6DE91928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006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再開したら：多孔質・異方性を整理し、フックの法則を復習します。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49961-0421-40A6-92AE-98374560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第1回・オンデマンド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2A4CE-7EB8-45E7-98AA-B5F96BD6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休憩 2</a:t>
            </a:r>
          </a:p>
        </p:txBody>
      </p:sp>
    </p:spTree>
    <p:extLst>
      <p:ext uri="{BB962C8B-B14F-4D97-AF65-F5344CB8AC3E}">
        <p14:creationId xmlns:p14="http://schemas.microsoft.com/office/powerpoint/2010/main" val="666464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06F7D467-BC00-4D1D-A056-FEA2FAB4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多孔質・異方性から、材質を考える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557A1D5C-07DA-464C-A45F-2561FC8CA144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7969BC92-F566-416D-BC53-1D45C1C2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645D83B2-408A-481C-BADF-F684CFC1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8789582A-2AA5-4C5F-852A-5CDCB3E3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壁と空隙の割合は、密度とどう関わるか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D80C7CE3-E3AF-4F6C-BBD1-2D2D59C9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細胞の配列は、方向別の強度とどう関わるか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EDCEE920-CF1B-4007-B04E-EEDB8197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切る・削る・接合する向きは、どこを見て決めるか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027F6668-14C5-4E25-872A-F911D963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年輪や節の観察を、加工・使い方の説明へ結ぶ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47655D59-A48A-44A7-AFDA-57D905E6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次に、たわみに関わる材質・形・支え方を分けて考える</a:t>
            </a:r>
          </a:p>
        </p:txBody>
      </p:sp>
    </p:spTree>
    <p:extLst>
      <p:ext uri="{BB962C8B-B14F-4D97-AF65-F5344CB8AC3E}">
        <p14:creationId xmlns:p14="http://schemas.microsoft.com/office/powerpoint/2010/main" val="21819383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3C7D9-1759-4FB1-848E-9E1D817A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復習：ばねのフックの法則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62E40-F99C-43B1-8438-74502BD769C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4BAAF-10D7-4D4B-826B-C9B59A90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DC81F-0036-4C53-84E8-0EDC3769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0FC56-649F-48C8-A8C4-099262FC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38300"/>
            <a:ext cx="438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F = kx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FE1DC-C1E1-4262-80FC-9D0A7003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F：ばねを引く力 / N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x：元の長さからの伸び / mm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k：ばね定数 / (N/mm)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90500-7FE8-490D-A1CF-637A768B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672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線形弾性の範囲では、力と伸びが比例する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1EA54-DB22-48BD-9E49-51B7B31B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x = F/k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D0E52EBC-0EE6-4B36-A671-C2941D032100}"/>
              </a:ext>
            </a:extLst>
          </p:cNvPr>
          <p:cNvGraphicFramePr/>
          <p:nvPr/>
        </p:nvGraphicFramePr>
        <p:xfrm>
          <a:off xmlns:a="http://schemas.openxmlformats.org/drawingml/2006/main" x="5810250" y="1609725"/>
          <a:ext xmlns:a="http://schemas.openxmlformats.org/drawingml/2006/main" cx="55435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9ccac83c6640a6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89A4E-0AEC-4F70-8B0F-68B1AC6C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62625"/>
            <a:ext cx="554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同じ力なら、k が大きいほど伸びは小さい</a:t>
            </a:r>
          </a:p>
        </p:txBody>
      </p:sp>
    </p:spTree>
    <p:extLst>
      <p:ext uri="{BB962C8B-B14F-4D97-AF65-F5344CB8AC3E}">
        <p14:creationId xmlns:p14="http://schemas.microsoft.com/office/powerpoint/2010/main" val="29470952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F5037-CF92-4993-98D5-A65B8196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復習：棒の変形とヤング率 E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58B86-E3C6-48F7-9B16-20FE2A86300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F1A0D-DF41-437D-B960-C476810B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59594-03F7-4090-B347-810ADF39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E3B96-28D9-41F6-BECE-8C83B3EC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191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応力 σ = F/A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9A2E1-0222-4C33-AE28-62253C67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5191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ひずみ ε = Δl/l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9E249-8D25-448C-8A3E-65C98680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フックの法則　σ = Eε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ADAB7-C149-41AD-A52F-3A04EE61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F/A = E(Δl/l)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B190B-F6E6-4BD8-B061-D67896C1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Δl = Fl/(EA)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733E0-9732-45C2-AE3D-D56FA53A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棒全体のばね定数は k = EA/l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ADF95A9E-41D6-4A83-974E-2FEEC0173458}"/>
              </a:ext>
            </a:extLst>
          </p:cNvPr>
          <p:cNvGraphicFramePr/>
          <p:nvPr/>
        </p:nvGraphicFramePr>
        <p:xfrm>
          <a:off xmlns:a="http://schemas.openxmlformats.org/drawingml/2006/main" x="6096000" y="1619250"/>
          <a:ext xmlns:a="http://schemas.openxmlformats.org/drawingml/2006/main" cx="52578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0a829622ce4bff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3BA2C-A4EF-4AC8-816A-1F055B47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81650"/>
            <a:ext cx="525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E：線形弾性の範囲で、応力とひずみの比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単位は MPa（= N/mm²）</a:t>
            </a:r>
          </a:p>
        </p:txBody>
      </p:sp>
    </p:spTree>
    <p:extLst>
      <p:ext uri="{BB962C8B-B14F-4D97-AF65-F5344CB8AC3E}">
        <p14:creationId xmlns:p14="http://schemas.microsoft.com/office/powerpoint/2010/main" val="4217830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正方形/長方形 13">
            <a:extLst xmlns:a="http://schemas.openxmlformats.org/drawingml/2006/main">
              <a:ext uri="{FF2B5EF4-FFF2-40B4-BE49-F238E27FC236}">
                <a16:creationId xmlns:a16="http://schemas.microsoft.com/office/drawing/2014/main" id="{07C15FF9-D95B-47B0-9AC6-ACFAA12C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同じ断面積の棚板：高さを変えると？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0BA2F0C6-636E-41DD-922B-ECA8C190C3C6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A0D3934B-838F-4CFB-B0FE-EE79869A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6F76C727-6AD9-4E9B-97F7-43EF4EC1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02E7FBAD-0141-4D0B-8F8A-7F4D24E8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同じ材料・同じ長さ・同じ荷重・同じ支え方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E1BB35D6-7B4D-4821-B9D5-D9C8DAA2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43250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13335">
            <a:solidFill>
              <a:srgbClr val="C8D3D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7" name="直線矢印コネクタ 6">
            <a:extLst xmlns:a="http://schemas.openxmlformats.org/drawingml/2006/main">
              <a:ext uri="{FF2B5EF4-FFF2-40B4-BE49-F238E27FC236}">
                <a16:creationId xmlns:a16="http://schemas.microsoft.com/office/drawing/2014/main" id="{9BF6C194-D8E7-4F42-8339-5C6B2B30E979}"/>
              </a:ext>
            </a:extLst>
          </p:cNvPr>
          <p:cNvCxnSpPr/>
          <p:nvPr/>
        </p:nvCxnSpPr>
        <p:spPr>
          <a:xfrm xmlns:a="http://schemas.openxmlformats.org/drawingml/2006/main">
            <a:off x="1333500" y="3524250"/>
            <a:ext cx="3810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C78"/>
            </a:solidFill>
            <a:prstDash val="dash"/>
          </a:ln>
        </p:spPr>
      </p:cxn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BE50F8AA-FC28-4FF6-96FF-0CAE21F6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13335">
            <a:solidFill>
              <a:srgbClr val="C8D3D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9" name="直線矢印コネクタ 8">
            <a:extLst xmlns:a="http://schemas.openxmlformats.org/drawingml/2006/main">
              <a:ext uri="{FF2B5EF4-FFF2-40B4-BE49-F238E27FC236}">
                <a16:creationId xmlns:a16="http://schemas.microsoft.com/office/drawing/2014/main" id="{1EEAF2C5-6130-4DF3-BAFE-3CCDBDAEC5DA}"/>
              </a:ext>
            </a:extLst>
          </p:cNvPr>
          <p:cNvCxnSpPr/>
          <p:nvPr/>
        </p:nvCxnSpPr>
        <p:spPr>
          <a:xfrm xmlns:a="http://schemas.openxmlformats.org/drawingml/2006/main">
            <a:off x="7239000" y="3524250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C78"/>
            </a:solidFill>
            <a:prstDash val="dash"/>
          </a:ln>
        </p:spPr>
      </p:cxn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2264C42D-47CE-4AB2-ADF3-B40E58BA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523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幅40 mm、高さ10 mm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202D6CDF-721A-452D-93B8-7EF2741D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05325"/>
            <a:ext cx="498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幅20 mm、高さ20 mm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CD4451B1-F9A0-4C72-8FE7-C9E67151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断面積は、どちらも400 mm²。たわみは同じだろうか？</a:t>
            </a:r>
          </a:p>
        </p:txBody>
      </p:sp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B8D44703-45BB-473B-85BB-C92340BF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断面の水平な図心軸について比べる。E が同じという仮定も確認する</a:t>
            </a:r>
          </a:p>
        </p:txBody>
      </p:sp>
    </p:spTree>
    <p:extLst>
      <p:ext uri="{BB962C8B-B14F-4D97-AF65-F5344CB8AC3E}">
        <p14:creationId xmlns:p14="http://schemas.microsoft.com/office/powerpoint/2010/main" val="10743448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843264D-4212-4423-95F5-C6C9C210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単純支持ばりの中央たわみ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5BD15-FD8B-4BEF-AF49-2AFCE9C5EA3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F757E-3FDE-4C9E-A3E4-A75CD844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D8E1C-A2FF-4585-BF66-D2BD06F5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B4645-671B-4C5A-BBBB-C1F7BCF4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中央に力 F を加える。δ は中央が下がる量</a:t>
            </a:r>
          </a:p>
        </p:txBody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1DFD6-A988-42FA-B2E5-CFF0B5EC123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" y="2552700"/>
            <a:ext cx="6381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96875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D6FB9-9C45-4BCB-A7BB-12C07936AA4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29125" y="1924050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53D3D"/>
            </a:solidFill>
            <a:tailEnd type="triangle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80336-A59F-4C3A-9FDF-FB908434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98120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rPr>
              <a:t>F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7E91D-E5F3-46C2-8D3D-24DC5A158A59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057275" y="2600325"/>
            <a:ext cx="18097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C98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8E4B6-07E1-4ECE-AE20-92381519A74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" y="2600325"/>
            <a:ext cx="18097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C98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3294C-E259-4721-AB5B-86A5C408487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00125" y="30099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4ED65F-396D-4638-94EF-6710506606A2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439025" y="2600325"/>
            <a:ext cx="18097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C98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949C7D-E70E-4431-B90B-0B0EFE99A47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0" y="2600325"/>
            <a:ext cx="18097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C98"/>
            </a:solidFill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5E6AED-8224-4E53-860C-99F37C7F7D6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81875" y="30099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6903F7-6B5D-4D2B-AEB9-FE92E710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45C9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79108E-9B35-429E-88DB-E0FBD755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45C98"/>
            </a:solidFill>
          </a:ln>
        </p:spPr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28DDF6-AD0D-47D1-9940-EC9346B59A9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62825" y="31908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B7B2E2-EA98-4BAF-9C27-81D4C6255B1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" y="3343275"/>
            <a:ext cx="6381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96875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E32136-1749-43E3-8399-9B38CEBC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8137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L：支点間距離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885055-DE06-42C4-AE34-611ACEEF09C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" y="2552700"/>
            <a:ext cx="159544" cy="3069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F3DE3F-EF0F-435B-A775-2318520AF53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97794" y="2583393"/>
            <a:ext cx="159544" cy="3053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DF5E14-0988-495C-8298-D81F1F4DB51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57338" y="2613931"/>
            <a:ext cx="159544" cy="3023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9FC947-D208-48A4-B8A4-6728253D7A7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16881" y="2644163"/>
            <a:ext cx="159544" cy="2977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B90174-0F49-44B2-A977-AD5ACC0B2E9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876425" y="2673934"/>
            <a:ext cx="159544" cy="2915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AE281A-EE38-4B2E-9DFD-66E0BA5AE9B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35969" y="2703091"/>
            <a:ext cx="159544" cy="2838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867D34-1077-4820-BCDB-44FC7B374AF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95513" y="2731479"/>
            <a:ext cx="159544" cy="2746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9066AC-05CE-412F-B820-DC6422B13F6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55056" y="2758947"/>
            <a:ext cx="159544" cy="2639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25A146-F146-42B0-9DFA-FDC30A1DF27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514600" y="2785339"/>
            <a:ext cx="159544" cy="251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F6260B-FF9D-4CC4-88A7-AE332752BC8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674144" y="2810502"/>
            <a:ext cx="159544" cy="2378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F42AA9-DC4A-405E-8152-BFAC444370D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33688" y="2834283"/>
            <a:ext cx="159544" cy="2224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DAD9B3-0F40-4B5C-AA4D-B88E8A4F85F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993231" y="2856528"/>
            <a:ext cx="159544" cy="2055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6554D1-D2F5-4897-ADA0-BE436D8F713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52775" y="2877083"/>
            <a:ext cx="159544" cy="1871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8F7D7C-5409-414D-9FAE-F47C919FF58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12319" y="2895796"/>
            <a:ext cx="159544" cy="1671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28C79D-78D3-41A3-84A7-DC9B02A8EB7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471863" y="2912512"/>
            <a:ext cx="159544" cy="1456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01A246-F8EA-49F2-BB8A-443420CB5BA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631406" y="2927077"/>
            <a:ext cx="159544" cy="1226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A91E79-C0C2-43ED-9E5E-977DC8ECC32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790950" y="2939339"/>
            <a:ext cx="159544" cy="9804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8AB820-AC0D-41CF-AF93-189F8669057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50494" y="2949143"/>
            <a:ext cx="159544" cy="719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3015E1-0AB5-4F42-9A68-6B5E9E5D1DC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10038" y="2956336"/>
            <a:ext cx="159544" cy="442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A15837-6C01-463C-8E20-F7BF0CFF9F9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269581" y="2960765"/>
            <a:ext cx="159544" cy="151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DC9A30-6754-44CE-AD0C-A7D0B1F8BF2D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429125" y="2960765"/>
            <a:ext cx="159544" cy="151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22ECC9-F604-48C7-BB79-6E7D53C8115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588669" y="2956336"/>
            <a:ext cx="159544" cy="442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CF3B25-587B-4ED8-95EB-77E5238E170D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748213" y="2949143"/>
            <a:ext cx="159544" cy="719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63A2FA-6EAD-476B-8B4C-B3B8D6891EE2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907756" y="2939339"/>
            <a:ext cx="159544" cy="9804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BDF0DA-8B34-4C0E-A4B6-0A761646DB0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067300" y="2927077"/>
            <a:ext cx="159544" cy="1226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4BA658-FE5C-4586-B94C-89AB2CBF76D9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226844" y="2912512"/>
            <a:ext cx="159544" cy="1456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3D767D-E71E-4F4B-8491-4169BC0387E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386388" y="2895796"/>
            <a:ext cx="159544" cy="1671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6C8FA9-3F82-4A5A-878C-87C6F070B3A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545931" y="2877083"/>
            <a:ext cx="159544" cy="1871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1AAD17-FD58-4C72-AF56-FF605D39B87C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705475" y="2856528"/>
            <a:ext cx="159544" cy="2055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E60256-6CC4-460D-A8C0-E295584CD2E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865019" y="2834283"/>
            <a:ext cx="159544" cy="2224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A44A719-F6A4-4F0E-BEA8-C3FCDCB4C259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024563" y="2810502"/>
            <a:ext cx="159544" cy="2378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026F6F-3186-4A8B-B110-482FFF4C3BF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184106" y="2785339"/>
            <a:ext cx="159544" cy="251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C1AA8C-A4F0-4200-82C4-D32D98DF78E5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343650" y="2758947"/>
            <a:ext cx="159544" cy="2639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7734BD2-4FC8-4E22-B6FF-D687EE1F21FC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503194" y="2731479"/>
            <a:ext cx="159544" cy="2746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CE1F91D-ECBA-41C2-B159-294A967E358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662738" y="2703091"/>
            <a:ext cx="159544" cy="2838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B1F73D0-0F94-411C-9A46-3C545264E78A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822281" y="2673934"/>
            <a:ext cx="159544" cy="2915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C037D28-9910-402F-B3BE-79093D66A6D5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981825" y="2644163"/>
            <a:ext cx="159544" cy="2977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1798AFA-188B-490F-BFFA-A297EE07AFBA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141369" y="2613931"/>
            <a:ext cx="159544" cy="3023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64B3D4B-86A0-4230-8A93-0A55AB321F2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300913" y="2583393"/>
            <a:ext cx="159544" cy="3053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8829786-083E-4781-8E91-509AC23A5922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460456" y="2552700"/>
            <a:ext cx="159544" cy="3069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1452A7B-9A6C-45B7-A92A-62ACDFB20E2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29125" y="2571750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B"/>
            </a:solidFill>
            <a:tailEnd type="triangle" w="med" len="me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5558B93-9C9C-4ABB-9178-908E7730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6860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δ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5E341C0-C5F9-46AD-A245-30EF3D32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14550"/>
            <a:ext cx="1476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12383">
            <a:solidFill>
              <a:srgbClr val="245C98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D9AA34A-9733-4CE7-BE26-3EEE74B6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4322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b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A3E8454-9A5A-452A-B5D2-AEE7273F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27647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h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E36612B-2DC7-4D50-9713-A098D0E6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57575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I = bh³/12 = Ah²/12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253C9F5-F899-49B9-80BB-7C565EA0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742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δ = FL³/(48EI)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DD47572-524D-4A56-A322-B7930925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F：N、L：mm、E：N/mm²、I：mm⁴ → δ：mm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7BE1A2E-638C-43FE-A447-0F7F9BF5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同じ断面積 A で高さ2倍なら、I は4倍、δ は1/4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C105897-7B14-4706-9634-6934B29A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単純支持・一定断面・小変形・線形弾性。せん断変形と自重を省く</a:t>
            </a:r>
          </a:p>
        </p:txBody>
      </p:sp>
    </p:spTree>
    <p:extLst>
      <p:ext uri="{BB962C8B-B14F-4D97-AF65-F5344CB8AC3E}">
        <p14:creationId xmlns:p14="http://schemas.microsoft.com/office/powerpoint/2010/main" val="29051930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42FCBF-1EAE-44DD-8C37-FF63C960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同じ断面積で比べる、荷重とたわみ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B04ED-2261-420D-9C48-FAF5D82F78F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42749-6547-4AB8-AD54-960A3295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8E9C4-2FAE-4DA4-860D-473FAF90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0A932-1D7B-4245-AFC4-BB7FB7E5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計算条件：E = 10,000 MPa、L = 600 mm、中央集中荷重・単純支持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DF4E8EE6-D972-4E95-841E-ADE1980C1CC6}"/>
              </a:ext>
            </a:extLst>
          </p:cNvPr>
          <p:cNvGraphicFramePr/>
          <p:nvPr/>
        </p:nvGraphicFramePr>
        <p:xfrm>
          <a:off xmlns:a="http://schemas.openxmlformats.org/drawingml/2006/main" x="685800" y="2266950"/>
          <a:ext xmlns:a="http://schemas.openxmlformats.org/drawingml/2006/main" cx="68294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6da535f4c2480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33404-619F-4C23-9872-C3D9BB59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28850"/>
            <a:ext cx="346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F = 20 N のとき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C07D0-8EDE-4BEF-86A3-AB9CEB75FFCB}"/>
              </a:ext>
            </a:extLst>
          </p:cNvPr>
          <p:cNvGraphicFramePr/>
          <p:nvPr/>
        </p:nvGraphicFramePr>
        <p:xfrm>
          <a:off xmlns:a="http://schemas.openxmlformats.org/drawingml/2006/main" x="8039100" y="2857500"/>
          <a:ext xmlns:a="http://schemas.openxmlformats.org/drawingml/2006/main" cx="3467100" cy="2114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00150"/>
                <a:gridCol w="1257300"/>
                <a:gridCol w="1009650"/>
              </a:tblGrid>
              <a:tr h="704850">
                <a:tc>
                  <a:txBody>
                    <a:bodyPr lIns="76200" tIns="76200" rIns="762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b × h</a:t>
                      </a:r>
                    </a:p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mm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I</a:t>
                      </a:r>
                    </a:p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mm⁴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δ</a:t>
                      </a:r>
                    </a:p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mm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704850"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40 × 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3.33×10³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2.700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704850"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20 × 20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1.33×10⁴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0.675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F57D4-F8D4-42C4-9031-9E0CA86C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81600"/>
            <a:ext cx="346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I が4倍なので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たわみは 1/4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8067E-F2B1-476C-AEDC-2FDFECAD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685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δ は F に比例。傾きは L³/(48EI)</a:t>
            </a:r>
          </a:p>
        </p:txBody>
      </p:sp>
    </p:spTree>
    <p:extLst>
      <p:ext uri="{BB962C8B-B14F-4D97-AF65-F5344CB8AC3E}">
        <p14:creationId xmlns:p14="http://schemas.microsoft.com/office/powerpoint/2010/main" val="21489977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DDE70-49DA-4ACB-BDFE-BB6FD26E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支点間距離と E による、たわみの変化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78970-C8B1-420D-9B69-76730913733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3C50E-863B-4A31-BBA9-A4E83E2D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88829-3508-4ECA-AD6C-58335CCC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4DD26-F043-48CF-B18C-03EAAEF2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共通条件：F = 20 N、幅40 mm × 高さ10 mm、中央集中荷重・単純支持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0F9DC-CDF5-4ACF-B4DD-8073FC78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5257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E = 10,000 MPa で、L を変える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64341-53D3-4533-A365-8868D35E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05025"/>
            <a:ext cx="5257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L = 600 mm で、E を変える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D1F02D56-1233-435D-99C8-C6124D697DC3}"/>
              </a:ext>
            </a:extLst>
          </p:cNvPr>
          <p:cNvGraphicFramePr/>
          <p:nvPr/>
        </p:nvGraphicFramePr>
        <p:xfrm>
          <a:off xmlns:a="http://schemas.openxmlformats.org/drawingml/2006/main" x="685800" y="2667000"/>
          <a:ext xmlns:a="http://schemas.openxmlformats.org/drawingml/2006/main" cx="5257800" cy="2905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c186d994c94e3f"/>
          </a:graphicData>
        </a:graphic>
      </p:graphicFrame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42A8F7A3-F7EC-4E6A-9C75-F4EC74BC5A1C}"/>
              </a:ext>
            </a:extLst>
          </p:cNvPr>
          <p:cNvGraphicFramePr/>
          <p:nvPr/>
        </p:nvGraphicFramePr>
        <p:xfrm>
          <a:off xmlns:a="http://schemas.openxmlformats.org/drawingml/2006/main" x="6248400" y="2667000"/>
          <a:ext xmlns:a="http://schemas.openxmlformats.org/drawingml/2006/main" cx="5257800" cy="2905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07dd1a204f4f5e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66BCE-5A8D-4737-B1B4-4C353E97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525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δ ∝ L³　L を2倍にすると8倍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36286-EE9A-4689-AECE-FE5ADAFB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24525"/>
            <a:ext cx="525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δ ∝ 1/E　E を2倍にすると1/2</a:t>
            </a:r>
          </a:p>
        </p:txBody>
      </p:sp>
    </p:spTree>
    <p:extLst>
      <p:ext uri="{BB962C8B-B14F-4D97-AF65-F5344CB8AC3E}">
        <p14:creationId xmlns:p14="http://schemas.microsoft.com/office/powerpoint/2010/main" val="128090128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770B9374-BD32-4CFE-AC18-6535BFF0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E・強度・硬さは、同じ量ではない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A4619426-75C3-4346-8DCD-123E14343825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C50EA716-1D1D-4EBC-9C82-C76536B3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F6421FC4-C910-4225-B775-EAA39F30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  <p:graphicFrame>
        <p:nvGraphicFramePr>
          <p:cNvPr id="5" name="表 4">
            <a:extLst xmlns:a="http://schemas.openxmlformats.org/drawingml/2006/main">
              <a:ext uri="{FF2B5EF4-FFF2-40B4-BE49-F238E27FC236}">
                <a16:creationId xmlns:a16="http://schemas.microsoft.com/office/drawing/2014/main" id="{F173ABE2-9F3F-4E0C-9A98-62D8864A4D80}"/>
              </a:ext>
            </a:extLst>
          </p:cNvPr>
          <p:cNvGraphicFramePr/>
          <p:nvPr/>
        </p:nvGraphicFramePr>
        <p:xfrm>
          <a:off xmlns:a="http://schemas.openxmlformats.org/drawingml/2006/main" x="685800" y="1790700"/>
          <a:ext xmlns:a="http://schemas.openxmlformats.org/drawingml/2006/main" cx="10820400" cy="292417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6343650"/>
              </a:tblGrid>
              <a:tr h="7310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比べたいこと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確かめる量・条件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73104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変形しにくいか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E、部材の長さ・断面・支え方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73104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破壊等に耐えられるか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強度と作用する応力、評価条件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04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表面がへこみにくいか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硬さの試験方法と方向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</a:tbl>
          </a:graphicData>
        </a:graphic>
      </p:graphicFrame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B81F399D-60FE-4DB3-B83D-2E95B96E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木材では、方向・水分・欠点も比較条件になる</a:t>
            </a:r>
          </a:p>
        </p:txBody>
      </p:sp>
    </p:spTree>
    <p:extLst>
      <p:ext uri="{BB962C8B-B14F-4D97-AF65-F5344CB8AC3E}">
        <p14:creationId xmlns:p14="http://schemas.microsoft.com/office/powerpoint/2010/main" val="89081740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431E2-9645-4111-B200-BB354867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短い休憩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C74BA-2342-4019-B9AD-BE6A0571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694E1-34D6-48D1-94D4-BC8A37F4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画面から目を離し、姿勢を変えましょう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A8B82-334C-40B9-9A41-D8963EF2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038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肩を軽く上げて下ろす</a:t>
            </a:r>
          </a:p>
          <a:p xmlns:a="http://schemas.openxmlformats.org/drawingml/2006/main">
            <a: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手を開いて閉じる</a:t>
            </a:r>
          </a:p>
          <a:p xmlns:a="http://schemas.openxmlformats.org/drawingml/2006/main">
            <a:pPr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できる範囲で。動作は任意です。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325A8-6E31-468C-AAD5-144977A4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006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再開したら：木質材料と、用途に合う材料の選び方へ進みます。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DD87B-A027-4802-8A34-7EC06231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第1回・オンデマンド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B75C2-89EC-4741-B534-98CA25C1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休憩 3</a:t>
            </a:r>
          </a:p>
        </p:txBody>
      </p:sp>
    </p:spTree>
    <p:extLst>
      <p:ext uri="{BB962C8B-B14F-4D97-AF65-F5344CB8AC3E}">
        <p14:creationId xmlns:p14="http://schemas.microsoft.com/office/powerpoint/2010/main" val="36209913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07B3F2AE-95D2-44D0-B1C2-8F483DD8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木質材料は、木を組み直した材料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844A495B-F453-4F9B-917A-53ED9097B04F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4D58FE90-DAA9-4D1E-A4F0-4C0494D0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D3DC7B89-46EF-4961-AB6E-07F9494B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32</a:t>
            </a:r>
          </a:p>
        </p:txBody>
      </p:sp>
      <p:graphicFrame>
        <p:nvGraphicFramePr>
          <p:cNvPr id="5" name="表 4">
            <a:extLst xmlns:a="http://schemas.openxmlformats.org/drawingml/2006/main">
              <a:ext uri="{FF2B5EF4-FFF2-40B4-BE49-F238E27FC236}">
                <a16:creationId xmlns:a16="http://schemas.microsoft.com/office/drawing/2014/main" id="{4F2048B1-FFF7-4CA3-A6AA-40A8B20377DB}"/>
              </a:ext>
            </a:extLst>
          </p:cNvPr>
          <p:cNvGraphicFramePr/>
          <p:nvPr/>
        </p:nvGraphicFramePr>
        <p:xfrm>
          <a:off xmlns:a="http://schemas.openxmlformats.org/drawingml/2006/main" x="685800" y="1704975"/>
          <a:ext xmlns:a="http://schemas.openxmlformats.org/drawingml/2006/main" cx="10820400" cy="314325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3286125"/>
                <a:gridCol w="4772025"/>
              </a:tblGrid>
              <a:tr h="7858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材料の例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主な構成要素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見るポイント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合板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単板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繊維方向の重ね方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LVL・集成材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単板・ひき板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要素と配向、接着の条件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繊維板・パーティクルボード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繊維・小片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要素の大きさと製法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</a:tbl>
          </a:graphicData>
        </a:graphic>
      </p:graphicFrame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5919DA2C-7BED-442B-8B3C-4B1CA1B1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表面の木目だけで決めず、断面・製法・使用条件も調べる</a:t>
            </a:r>
          </a:p>
        </p:txBody>
      </p:sp>
    </p:spTree>
    <p:extLst>
      <p:ext uri="{BB962C8B-B14F-4D97-AF65-F5344CB8AC3E}">
        <p14:creationId xmlns:p14="http://schemas.microsoft.com/office/powerpoint/2010/main" val="122392957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5EA1FC16-65A4-426B-BA87-40112963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材料選択：教室用の小物棚を考える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AD3CF508-9334-4E5B-BF10-85CC36245947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D3FAECD5-58C7-4336-85B5-A0DAC313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3C9BC03B-3FCE-4179-9C29-07F11EE6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33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07AD4E11-E4E0-4FDC-AEEA-3697E18C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候補：無垢材／合板／繊維板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235F9FC1-E5B7-48BC-9976-01D63DC7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どんな使用条件を、先に決める必要があるか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A2832579-23A4-4FB1-9F50-A8C6A348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材料選びのために、どんな性質・データを調べたいか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19EECD09-6FDC-4E42-B46F-C08E23F8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今の選択と、その理由を記録する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E9CE332A-1B05-4FA4-90A5-D2C91BEA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「よい材料」を一つ決めるのでなく、用途に合う理由を説明する</a:t>
            </a:r>
          </a:p>
        </p:txBody>
      </p:sp>
    </p:spTree>
    <p:extLst>
      <p:ext uri="{BB962C8B-B14F-4D97-AF65-F5344CB8AC3E}">
        <p14:creationId xmlns:p14="http://schemas.microsoft.com/office/powerpoint/2010/main" val="70751607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CCD41D8C-4280-4FB6-9B1E-E5F78A61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木材利用を、資源と環境から考える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48DA2AE4-EF00-4456-81C9-F1D0692A3017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8912428A-361A-42CA-963A-31C18751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757221B4-C1DE-4D8A-B585-311FEFD6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34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29BA1D0A-C44A-4E7A-98A9-76EED4C6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どこで育ち、どう生産・加工されたか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DF721A58-836D-4DF2-A28E-A501F6F0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どれくらい使い、どう手入れするか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B1345930-FCC4-4789-AEB0-35673E70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使い終わったあと、どう再利用・処理するか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256075B3-79E6-4806-B4F1-A8A23637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同じ機能と使用期間で、比較できているか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43214D26-7009-452E-A0BA-C02DE783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材料名だけで結論を出さず、生産から使用後までの条件を見る</a:t>
            </a:r>
          </a:p>
        </p:txBody>
      </p:sp>
    </p:spTree>
    <p:extLst>
      <p:ext uri="{BB962C8B-B14F-4D97-AF65-F5344CB8AC3E}">
        <p14:creationId xmlns:p14="http://schemas.microsoft.com/office/powerpoint/2010/main" val="44084760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FE87ECE5-50C0-4A45-8F23-38828EF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今日の確認と、次回への問い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335E8159-38F9-45B2-A879-4C216E39E5E0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48D0C434-1B2F-47E4-A47B-CB1A08E8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4606409C-4A1F-40D5-AA9C-D969D54B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35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E770ED33-8577-4A84-953E-A4DFD10D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三方向と三断面を、図で区別して説明する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3E27A538-E92D-4A8A-B886-989A5D1C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節の周囲で、何を観察すればよいか述べる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F1A5FD16-2974-4262-8533-B80EF18C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同じ断面積でも、棚板のたわみが違う理由を述べる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E4FD7EE8-E3BD-4287-83D5-DE272965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④ 最初の予想から変わった説明を、1つ書く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D7A625B7-1F0A-4517-9A10-8BA67734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次回：樹木の成長と断面の構造を、観察で確かめる</a:t>
            </a:r>
          </a:p>
        </p:txBody>
      </p:sp>
    </p:spTree>
    <p:extLst>
      <p:ext uri="{BB962C8B-B14F-4D97-AF65-F5344CB8AC3E}">
        <p14:creationId xmlns:p14="http://schemas.microsoft.com/office/powerpoint/2010/main" val="42293870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正方形/長方形 13">
            <a:extLst xmlns:a="http://schemas.openxmlformats.org/drawingml/2006/main">
              <a:ext uri="{FF2B5EF4-FFF2-40B4-BE49-F238E27FC236}">
                <a16:creationId xmlns:a16="http://schemas.microsoft.com/office/drawing/2014/main" id="{8D68851B-7BFB-4D73-A8CD-CA09E95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参考資料と読み進め方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6CA361EB-A74E-4C65-84F9-1F1C131FE109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7FB4E818-26CE-457B-AE3A-02C122BF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第3章 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FFE27735-80F0-4DEF-AB3A-550DD5AE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https://research.fs.usda.gov/treesearch/62242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176076F1-BB4E-41F8-9941-EF702B70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第4章 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52030B58-24B0-4428-978E-854F312E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https://research.fs.usda.gov/treesearch/62243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34DF8D82-87A4-440B-9B4D-7AF5D16C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第5章 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1A0F9331-54F6-400F-A188-EA6003E3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https://research.fs.usda.gov/treesearch/62244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9A41EAC7-DD64-43E4-94F4-CA998F35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森林総合研究所 日本産木材データベース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33DD25F2-5141-4804-ABEC-DC0AF12F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https://db.ffpri.go.jp/WoodDB/</a:t>
            </a:r>
          </a:p>
        </p:txBody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516A2C14-AC2F-415C-906A-D22CA3EE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0A28579A-E87E-4B65-BCF0-4F062CA5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0AA9221D-C9CD-426B-94CF-D3E4CFF8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92363591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209C450C-51C4-4B38-9F30-EE008A65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参考資料と調べ学習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206061A1-1556-47A5-8962-561A1E22E3B6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9FED99C3-45CE-4E85-BDAB-66E8246B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樹木の構造と成長：本講義のスライド10〜15を復習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7AADAE54-A2B3-46DF-A14F-1892981E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学習指導要領解説 A 材料と加工の技術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7C60B0DB-DF81-48F3-82B8-215C51AF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https://www.mext.go.jp/component/a_menu/education/micro_detail/__icsFiles/afieldfile/2019/03/18/1387018_009.pdf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8830F257-2551-4F1A-9FE1-012B8384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東京書籍 R7年間指導計画 PDF3～5頁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78C10DFF-02D6-4F85-9AF3-9D6D107B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https://ten.tokyo-shoseki.co.jp/text/chu/gijutsu/download/documents/R7gijutsu_keikaku.pdf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258FE859-23AE-4C9C-BAB0-153DAE1B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D3517560-58C4-4B26-86BA-850E226E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491557CD-3520-405D-9E10-7C4B5914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334632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2026-10-31T08:25:17.7480000Z</dcterms:created>
  <dcterms:modified xsi:type="dcterms:W3CDTF">2026-10-31T08:25:17.7480000Z</dcterms:modified>
</coreProperties>
</file>