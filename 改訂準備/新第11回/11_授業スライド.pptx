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6db30161d7b4e6a" /><Relationship Type="http://schemas.openxmlformats.org/officeDocument/2006/relationships/extended-properties" Target="/docProps/app.xml" Id="Rd4c240d5102d4ba3" /><Relationship Type="http://schemas.openxmlformats.org/officeDocument/2006/relationships/officeDocument" Target="/ppt/presentation.xml" Id="Re788a30551864255" /></Relationships>
</file>

<file path=ppt/presentation.xml><?xml version="1.0" encoding="utf-8"?>
<p:presentation xmlns:p="http://schemas.openxmlformats.org/presentationml/2006/main">
  <p:sldMasterIdLst>
    <p:sldMasterId xmlns:r="http://schemas.openxmlformats.org/officeDocument/2006/relationships" id="2147483648" r:id="Rfc603f0ef3d84cef"/>
  </p:sldMasterIdLst>
  <p:notesMasterIdLst>
    <p:notesMasterId xmlns:r="http://schemas.openxmlformats.org/officeDocument/2006/relationships" r:id="R69c71862fb344a19"/>
  </p:notesMasterIdLst>
  <p:sldIdLst>
    <p:sldId xmlns:r="http://schemas.openxmlformats.org/officeDocument/2006/relationships" id="256" r:id="Re10ddb5959ab4f49"/>
    <p:sldId xmlns:r="http://schemas.openxmlformats.org/officeDocument/2006/relationships" id="257" r:id="R0e0fe2e0a2724f6a"/>
    <p:sldId xmlns:r="http://schemas.openxmlformats.org/officeDocument/2006/relationships" id="258" r:id="Re27116d590354f6b"/>
    <p:sldId xmlns:r="http://schemas.openxmlformats.org/officeDocument/2006/relationships" id="259" r:id="R39577bf9dbb44f5a"/>
    <p:sldId xmlns:r="http://schemas.openxmlformats.org/officeDocument/2006/relationships" id="260" r:id="Rff637a07195b4b9d"/>
    <p:sldId xmlns:r="http://schemas.openxmlformats.org/officeDocument/2006/relationships" id="261" r:id="R57d70edae2ba4e03"/>
    <p:sldId xmlns:r="http://schemas.openxmlformats.org/officeDocument/2006/relationships" id="262" r:id="R2ab3f3e025f4469b"/>
    <p:sldId xmlns:r="http://schemas.openxmlformats.org/officeDocument/2006/relationships" id="263" r:id="Rbc9101227d4e4f8e"/>
    <p:sldId xmlns:r="http://schemas.openxmlformats.org/officeDocument/2006/relationships" id="264" r:id="R6fc1930e69e44314"/>
    <p:sldId xmlns:r="http://schemas.openxmlformats.org/officeDocument/2006/relationships" id="265" r:id="Rb502aa2806d7498e"/>
    <p:sldId xmlns:r="http://schemas.openxmlformats.org/officeDocument/2006/relationships" id="266" r:id="R944b22270c424c45"/>
    <p:sldId xmlns:r="http://schemas.openxmlformats.org/officeDocument/2006/relationships" id="267" r:id="Rae91796b7f2740ef"/>
    <p:sldId xmlns:r="http://schemas.openxmlformats.org/officeDocument/2006/relationships" id="268" r:id="Rdd907de74c364eb3"/>
    <p:sldId xmlns:r="http://schemas.openxmlformats.org/officeDocument/2006/relationships" id="269" r:id="R506099b6aae24ad8"/>
    <p:sldId xmlns:r="http://schemas.openxmlformats.org/officeDocument/2006/relationships" id="270" r:id="Ra7072efa3cf34a6b"/>
    <p:sldId xmlns:r="http://schemas.openxmlformats.org/officeDocument/2006/relationships" id="271" r:id="R71bbb256fff244c8"/>
    <p:sldId xmlns:r="http://schemas.openxmlformats.org/officeDocument/2006/relationships" id="272" r:id="Rba27693cf42e431b"/>
    <p:sldId xmlns:r="http://schemas.openxmlformats.org/officeDocument/2006/relationships" id="273" r:id="R5b22b619141940c1"/>
    <p:sldId xmlns:r="http://schemas.openxmlformats.org/officeDocument/2006/relationships" id="274" r:id="Rebe5146cd0334bf1"/>
    <p:sldId xmlns:r="http://schemas.openxmlformats.org/officeDocument/2006/relationships" id="275" r:id="R35808aaaa9f24f7a"/>
    <p:sldId xmlns:r="http://schemas.openxmlformats.org/officeDocument/2006/relationships" id="276" r:id="R04a58461262348bc"/>
    <p:sldId xmlns:r="http://schemas.openxmlformats.org/officeDocument/2006/relationships" id="277" r:id="Rd07857c6a85b4ffb"/>
    <p:sldId xmlns:r="http://schemas.openxmlformats.org/officeDocument/2006/relationships" id="278" r:id="R45cffd86731348fc"/>
    <p:sldId xmlns:r="http://schemas.openxmlformats.org/officeDocument/2006/relationships" id="279" r:id="R53df2929f5e546f2"/>
    <p:sldId xmlns:r="http://schemas.openxmlformats.org/officeDocument/2006/relationships" id="280" r:id="R720fabddd2114e47"/>
    <p:sldId xmlns:r="http://schemas.openxmlformats.org/officeDocument/2006/relationships" id="281" r:id="R5607c81fc6424daf"/>
    <p:sldId xmlns:r="http://schemas.openxmlformats.org/officeDocument/2006/relationships" id="282" r:id="R612a8470e4c94502"/>
    <p:sldId xmlns:r="http://schemas.openxmlformats.org/officeDocument/2006/relationships" id="283" r:id="R9a648d3dc3904b6f"/>
    <p:sldId xmlns:r="http://schemas.openxmlformats.org/officeDocument/2006/relationships" id="284" r:id="R0fb35095c98341ff"/>
    <p:sldId xmlns:r="http://schemas.openxmlformats.org/officeDocument/2006/relationships" id="285" r:id="Rcc41315ddbc247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59b9a5e0e54928" /><Relationship Type="http://schemas.openxmlformats.org/officeDocument/2006/relationships/slideMaster" Target="/ppt/slideMasters/slideMaster1.xml" Id="Rfc603f0ef3d84cef" /><Relationship Type="http://schemas.openxmlformats.org/officeDocument/2006/relationships/notesMaster" Target="/ppt/notesMasters/notesMaster1.xml" Id="R69c71862fb344a19" /><Relationship Type="http://schemas.openxmlformats.org/officeDocument/2006/relationships/presProps" Target="/ppt/presProps.xml" Id="Rc7b31765dc1f433b" /><Relationship Type="http://schemas.openxmlformats.org/officeDocument/2006/relationships/tableStyles" Target="/ppt/tableStyles.xml" Id="Rff93841c2c1e45a6" /><Relationship Type="http://schemas.openxmlformats.org/officeDocument/2006/relationships/slide" Target="/ppt/slides/slide1.xml" Id="Re10ddb5959ab4f49" /><Relationship Type="http://schemas.openxmlformats.org/officeDocument/2006/relationships/slide" Target="/ppt/slides/slide2.xml" Id="R0e0fe2e0a2724f6a" /><Relationship Type="http://schemas.openxmlformats.org/officeDocument/2006/relationships/slide" Target="/ppt/slides/slide3.xml" Id="Re27116d590354f6b" /><Relationship Type="http://schemas.openxmlformats.org/officeDocument/2006/relationships/slide" Target="/ppt/slides/slide4.xml" Id="R39577bf9dbb44f5a" /><Relationship Type="http://schemas.openxmlformats.org/officeDocument/2006/relationships/slide" Target="/ppt/slides/slide5.xml" Id="Rff637a07195b4b9d" /><Relationship Type="http://schemas.openxmlformats.org/officeDocument/2006/relationships/slide" Target="/ppt/slides/slide6.xml" Id="R57d70edae2ba4e03" /><Relationship Type="http://schemas.openxmlformats.org/officeDocument/2006/relationships/slide" Target="/ppt/slides/slide7.xml" Id="R2ab3f3e025f4469b" /><Relationship Type="http://schemas.openxmlformats.org/officeDocument/2006/relationships/slide" Target="/ppt/slides/slide8.xml" Id="Rbc9101227d4e4f8e" /><Relationship Type="http://schemas.openxmlformats.org/officeDocument/2006/relationships/slide" Target="/ppt/slides/slide9.xml" Id="R6fc1930e69e44314" /><Relationship Type="http://schemas.openxmlformats.org/officeDocument/2006/relationships/slide" Target="/ppt/slides/slide10.xml" Id="Rb502aa2806d7498e" /><Relationship Type="http://schemas.openxmlformats.org/officeDocument/2006/relationships/slide" Target="/ppt/slides/slide11.xml" Id="R944b22270c424c45" /><Relationship Type="http://schemas.openxmlformats.org/officeDocument/2006/relationships/slide" Target="/ppt/slides/slide12.xml" Id="Rae91796b7f2740ef" /><Relationship Type="http://schemas.openxmlformats.org/officeDocument/2006/relationships/slide" Target="/ppt/slides/slide13.xml" Id="Rdd907de74c364eb3" /><Relationship Type="http://schemas.openxmlformats.org/officeDocument/2006/relationships/slide" Target="/ppt/slides/slide14.xml" Id="R506099b6aae24ad8" /><Relationship Type="http://schemas.openxmlformats.org/officeDocument/2006/relationships/slide" Target="/ppt/slides/slide15.xml" Id="Ra7072efa3cf34a6b" /><Relationship Type="http://schemas.openxmlformats.org/officeDocument/2006/relationships/slide" Target="/ppt/slides/slide16.xml" Id="R71bbb256fff244c8" /><Relationship Type="http://schemas.openxmlformats.org/officeDocument/2006/relationships/slide" Target="/ppt/slides/slide17.xml" Id="Rba27693cf42e431b" /><Relationship Type="http://schemas.openxmlformats.org/officeDocument/2006/relationships/slide" Target="/ppt/slides/slide18.xml" Id="R5b22b619141940c1" /><Relationship Type="http://schemas.openxmlformats.org/officeDocument/2006/relationships/slide" Target="/ppt/slides/slide19.xml" Id="Rebe5146cd0334bf1" /><Relationship Type="http://schemas.openxmlformats.org/officeDocument/2006/relationships/slide" Target="/ppt/slides/slide20.xml" Id="R35808aaaa9f24f7a" /><Relationship Type="http://schemas.openxmlformats.org/officeDocument/2006/relationships/slide" Target="/ppt/slides/slide21.xml" Id="R04a58461262348bc" /><Relationship Type="http://schemas.openxmlformats.org/officeDocument/2006/relationships/slide" Target="/ppt/slides/slide22.xml" Id="Rd07857c6a85b4ffb" /><Relationship Type="http://schemas.openxmlformats.org/officeDocument/2006/relationships/slide" Target="/ppt/slides/slide23.xml" Id="R45cffd86731348fc" /><Relationship Type="http://schemas.openxmlformats.org/officeDocument/2006/relationships/slide" Target="/ppt/slides/slide24.xml" Id="R53df2929f5e546f2" /><Relationship Type="http://schemas.openxmlformats.org/officeDocument/2006/relationships/slide" Target="/ppt/slides/slide25.xml" Id="R720fabddd2114e47" /><Relationship Type="http://schemas.openxmlformats.org/officeDocument/2006/relationships/slide" Target="/ppt/slides/slide26.xml" Id="R5607c81fc6424daf" /><Relationship Type="http://schemas.openxmlformats.org/officeDocument/2006/relationships/slide" Target="/ppt/slides/slide27.xml" Id="R612a8470e4c94502" /><Relationship Type="http://schemas.openxmlformats.org/officeDocument/2006/relationships/slide" Target="/ppt/slides/slide28.xml" Id="R9a648d3dc3904b6f" /><Relationship Type="http://schemas.openxmlformats.org/officeDocument/2006/relationships/slide" Target="/ppt/slides/slide29.xml" Id="R0fb35095c98341ff" /><Relationship Type="http://schemas.openxmlformats.org/officeDocument/2006/relationships/slide" Target="/ppt/slides/slide30.xml" Id="Rcc41315ddbc247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613a09a6b442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9e412c77664e73" /><Relationship Type="http://schemas.openxmlformats.org/officeDocument/2006/relationships/notesMaster" Target="/ppt/notesMasters/notesMaster1.xml" Id="R3e4e02524f4a44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98d9ba861a4b20" /><Relationship Type="http://schemas.openxmlformats.org/officeDocument/2006/relationships/notesMaster" Target="/ppt/notesMasters/notesMaster1.xml" Id="R56da076d038047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93dbf1ef094a77" /><Relationship Type="http://schemas.openxmlformats.org/officeDocument/2006/relationships/notesMaster" Target="/ppt/notesMasters/notesMaster1.xml" Id="Re768f4b58c394d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9f10fb5c834025" /><Relationship Type="http://schemas.openxmlformats.org/officeDocument/2006/relationships/notesMaster" Target="/ppt/notesMasters/notesMaster1.xml" Id="R808ca719211b4f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a641ffe2bb405b" /><Relationship Type="http://schemas.openxmlformats.org/officeDocument/2006/relationships/notesMaster" Target="/ppt/notesMasters/notesMaster1.xml" Id="R3603119b69db42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bea95a82984005" /><Relationship Type="http://schemas.openxmlformats.org/officeDocument/2006/relationships/notesMaster" Target="/ppt/notesMasters/notesMaster1.xml" Id="R1c2ffa1aeea94b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3d3c5e6a9234c6a" /><Relationship Type="http://schemas.openxmlformats.org/officeDocument/2006/relationships/notesMaster" Target="/ppt/notesMasters/notesMaster1.xml" Id="Rc4da6a1f76024d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9aac2aef24435b" /><Relationship Type="http://schemas.openxmlformats.org/officeDocument/2006/relationships/notesMaster" Target="/ppt/notesMasters/notesMaster1.xml" Id="Rca331f2d8e6b4f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c7d9923baf435b" /><Relationship Type="http://schemas.openxmlformats.org/officeDocument/2006/relationships/notesMaster" Target="/ppt/notesMasters/notesMaster1.xml" Id="Rd70e83856f2d4f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ec71a364e640d6" /><Relationship Type="http://schemas.openxmlformats.org/officeDocument/2006/relationships/notesMaster" Target="/ppt/notesMasters/notesMaster1.xml" Id="R23998026d2d242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1926eeaf0a4cca" /><Relationship Type="http://schemas.openxmlformats.org/officeDocument/2006/relationships/notesMaster" Target="/ppt/notesMasters/notesMaster1.xml" Id="R036f76f44a874e2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3aaa9df8c0343cc" /><Relationship Type="http://schemas.openxmlformats.org/officeDocument/2006/relationships/notesMaster" Target="/ppt/notesMasters/notesMaster1.xml" Id="Ra0cf6574c28a48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79bdfcdd954ce0" /><Relationship Type="http://schemas.openxmlformats.org/officeDocument/2006/relationships/notesMaster" Target="/ppt/notesMasters/notesMaster1.xml" Id="Rd629d854fba945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b6df095fab45a4" /><Relationship Type="http://schemas.openxmlformats.org/officeDocument/2006/relationships/notesMaster" Target="/ppt/notesMasters/notesMaster1.xml" Id="R4d9b47f16af44ad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c5aa5df9248474f" /><Relationship Type="http://schemas.openxmlformats.org/officeDocument/2006/relationships/notesMaster" Target="/ppt/notesMasters/notesMaster1.xml" Id="R26bd088fa1a24e7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394cca4eeb452a" /><Relationship Type="http://schemas.openxmlformats.org/officeDocument/2006/relationships/notesMaster" Target="/ppt/notesMasters/notesMaster1.xml" Id="Re8b10b07a82b4d0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eeb6f884296407b" /><Relationship Type="http://schemas.openxmlformats.org/officeDocument/2006/relationships/notesMaster" Target="/ppt/notesMasters/notesMaster1.xml" Id="R83d0badc98ba4d7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55dbaf42ca0438d" /><Relationship Type="http://schemas.openxmlformats.org/officeDocument/2006/relationships/notesMaster" Target="/ppt/notesMasters/notesMaster1.xml" Id="Rc972ac4923b9415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a460c7790a747c9" /><Relationship Type="http://schemas.openxmlformats.org/officeDocument/2006/relationships/notesMaster" Target="/ppt/notesMasters/notesMaster1.xml" Id="R52b12ee2b1fd42d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69a85159f4449d5" /><Relationship Type="http://schemas.openxmlformats.org/officeDocument/2006/relationships/notesMaster" Target="/ppt/notesMasters/notesMaster1.xml" Id="R3f8bdffebca5496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b1afef5f1c84727" /><Relationship Type="http://schemas.openxmlformats.org/officeDocument/2006/relationships/notesMaster" Target="/ppt/notesMasters/notesMaster1.xml" Id="R5f6218a615e249c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2d3eb38ee8c4466" /><Relationship Type="http://schemas.openxmlformats.org/officeDocument/2006/relationships/notesMaster" Target="/ppt/notesMasters/notesMaster1.xml" Id="R9b0b2e5f960740b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d98bc8005a74e25" /><Relationship Type="http://schemas.openxmlformats.org/officeDocument/2006/relationships/notesMaster" Target="/ppt/notesMasters/notesMaster1.xml" Id="R6339715df5d146a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53d610f89644c72" /><Relationship Type="http://schemas.openxmlformats.org/officeDocument/2006/relationships/notesMaster" Target="/ppt/notesMasters/notesMaster1.xml" Id="R878098673e3f475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2abca531f2146fe" /><Relationship Type="http://schemas.openxmlformats.org/officeDocument/2006/relationships/notesMaster" Target="/ppt/notesMasters/notesMaster1.xml" Id="R29d382856670449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d718da2011840a4" /><Relationship Type="http://schemas.openxmlformats.org/officeDocument/2006/relationships/notesMaster" Target="/ppt/notesMasters/notesMaster1.xml" Id="R03d7aeeb006842f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a5656a96d564549" /><Relationship Type="http://schemas.openxmlformats.org/officeDocument/2006/relationships/notesMaster" Target="/ppt/notesMasters/notesMaster1.xml" Id="R2e925ebfad66498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f38b6ee06a14184" /><Relationship Type="http://schemas.openxmlformats.org/officeDocument/2006/relationships/notesMaster" Target="/ppt/notesMasters/notesMaster1.xml" Id="Rfa011748af064de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3809c5a95c04120" /><Relationship Type="http://schemas.openxmlformats.org/officeDocument/2006/relationships/notesMaster" Target="/ppt/notesMasters/notesMaster1.xml" Id="R6ab7739ea04544a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b16b54b8cb4482d" /><Relationship Type="http://schemas.openxmlformats.org/officeDocument/2006/relationships/notesMaster" Target="/ppt/notesMasters/notesMaster1.xml" Id="R441d658f19454a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講義は二部構成です。前半は植物の体とその進化、後半は人による樹木と木材の利用を扱います。両者を一続きの進歩の物語にする必要はありません。資料を読み、図や説明を書く活動を含めて約90分を計画しています。正式な課題の配信と提出はTeamsで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部は約60分、第2部は約25分、整理は約5分の活動設計です。動画の再生時間と学修時間は異なります。演習では一時停止し、配布資料に記入してください。維管束、木部、師部、形成層、二次木部は用語と図を対応させ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前半を始めます。人のために木材が生じたという説明はしません。陸上で生きる植物の体と生活の多様化を考えます。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大径木と細い古木の模式図を比べる。大きさだけで樹齢がわかるか、樹齢が高ければ木材の強度が高いかを予想する。樹木という個体が生きる時間、細胞が生きる時間、伐採後に木材が使われる時間を、別々の時計として示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光合成一般と、酸素を発生する光合成を区別する。酸素発生型光合成は樹木の登場よりはるかに古い。酸素がつくられても、還元的な物質との反応などで消費されるため、そのまま大気に蓄積するとは限らない。大酸化イベントはおよそ24億年前を中心とする大気の変化として示し、光合成の誕生年としない。[1]</a:t>
            </a:r>
          </a:p>
          <a:p xmlns:a="http://schemas.openxmlformats.org/drawingml/2006/main">
            <a:r>
              <a:t/>
            </a:r>
          </a:p>
          <a:p xmlns:a="http://schemas.openxmlformats.org/drawingml/2006/main">
            <a:r>
              <a:t>酸素から光化学反応を通してオゾンが生じ、紫外線環境に関わることを概念図で示す。オゾン層が一度に完成して植物を上陸させた、という一本の矢印にはしない。地球史の時間軸は大気変化と陸上植物の拡大で尺度を分ける。[2]</a:t>
            </a:r>
          </a:p>
          <a:p xmlns:a="http://schemas.openxmlformats.org/drawingml/2006/main">
            <a:r>
              <a:t/>
            </a:r>
          </a:p>
          <a:p xmlns:a="http://schemas.openxmlformats.org/drawingml/2006/main">
            <a:r>
              <a:t>確認：酸素の「発生量」と「大気中への蓄積」を同じと考えてよいか。生成と消費の両方を図に書き足す。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Woganほか（2022）大酸化イベント</a:t>
            </a:r>
          </a:p>
          <a:p xmlns:a="http://schemas.openxmlformats.org/drawingml/2006/main">
            <a:r>
              <a:t>https://pmc.ncbi.nlm.nih.gov/articles/PMC9477391/</a:t>
            </a:r>
          </a:p>
          <a:p xmlns:a="http://schemas.openxmlformats.org/drawingml/2006/main">
            <a:r>
              <a:t/>
            </a:r>
          </a:p>
          <a:p xmlns:a="http://schemas.openxmlformats.org/drawingml/2006/main">
            <a:r>
              <a:t>Cookeほか（2022）酸素とオゾンのモデル</a:t>
            </a:r>
          </a:p>
          <a:p xmlns:a="http://schemas.openxmlformats.org/drawingml/2006/main">
            <a:r>
              <a:t>https://pmc.ncbi.nlm.nih.gov/articles/PMC8728182/</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光合成によって酸素が生じても、すべてが大気に蓄積するとは限りません。還元的な物質との反応など、消費する過程もあります。生成の矢印だけを描かず、入る量と出る量を区別しましょう。これは収支を考える模式図であり、特定時代の濃度のグラフではありません。</a:t>
            </a:r>
          </a:p>
          <a:p xmlns:a="http://schemas.openxmlformats.org/drawingml/2006/main">
            <a:r>
              <a:t/>
            </a:r>
          </a:p>
          <a:p xmlns:a="http://schemas.openxmlformats.org/drawingml/2006/main">
            <a:r>
              <a:t/>
            </a:r>
          </a:p>
          <a:p xmlns:a="http://schemas.openxmlformats.org/drawingml/2006/main">
            <a:r>
              <a:t>出典</a:t>
            </a:r>
          </a:p>
          <a:p xmlns:a="http://schemas.openxmlformats.org/drawingml/2006/main">
            <a:r>
              <a:t>Woganほか（2022）大酸化イベント</a:t>
            </a:r>
          </a:p>
          <a:p xmlns:a="http://schemas.openxmlformats.org/drawingml/2006/main">
            <a:r>
              <a:t>https://pmc.ncbi.nlm.nih.gov/articles/PMC9477391/</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酸素とオゾンは同じ分子ではありません。酸素の変化は紫外線環境へも影響します。ただし、その過程を一度に完成した装置として描くと、地球環境の変化の複雑さを失います。大酸化イベントを、光合成の始まりの日や植物上陸の日として扱わないことも大切で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Woganほか（2022）大酸化イベント</a:t>
            </a:r>
          </a:p>
          <a:p xmlns:a="http://schemas.openxmlformats.org/drawingml/2006/main">
            <a:r>
              <a:t>https://pmc.ncbi.nlm.nih.gov/articles/PMC9477391/</a:t>
            </a:r>
          </a:p>
          <a:p xmlns:a="http://schemas.openxmlformats.org/drawingml/2006/main">
            <a:r>
              <a:t/>
            </a:r>
          </a:p>
          <a:p xmlns:a="http://schemas.openxmlformats.org/drawingml/2006/main">
            <a:r>
              <a:t>Cookeほか（2022）酸素とオゾンのモデル</a:t>
            </a:r>
          </a:p>
          <a:p xmlns:a="http://schemas.openxmlformats.org/drawingml/2006/main">
            <a:r>
              <a:t>https://pmc.ncbi.nlm.nih.gov/articles/PMC8728182/</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は年代の暗記よりも、時間の尺度が異なることを確認します。最初の光合成の年代や陸上植物の起源には、記録と推定の違いがあります。地球史と人類史を同じ長さの矢印で並べる場合は、縮尺が違うと明記し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Woganほか（2022）大酸化イベント</a:t>
            </a:r>
          </a:p>
          <a:p xmlns:a="http://schemas.openxmlformats.org/drawingml/2006/main">
            <a:r>
              <a:t>https://pmc.ncbi.nlm.nih.gov/articles/PMC9477391/</a:t>
            </a:r>
          </a:p>
          <a:p xmlns:a="http://schemas.openxmlformats.org/drawingml/2006/main">
            <a:r>
              <a:t/>
            </a:r>
          </a:p>
          <a:p xmlns:a="http://schemas.openxmlformats.org/drawingml/2006/main">
            <a:r>
              <a:t>Lentonほか（2016）初期陸上植物と酸素</a:t>
            </a:r>
          </a:p>
          <a:p xmlns:a="http://schemas.openxmlformats.org/drawingml/2006/main">
            <a:r>
              <a:t>https://pmc.ncbi.nlm.nih.gov/articles/PMC5024600/</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植物の陸上進出を、シダ類が最初に上陸したと説明しない。初期の非維管束植物的な植生、その後の維管束植物の展開を、乾燥への対応・支持・水や同化産物の輸送と関連付ける。木部は主に水・無機養分の輸送に、師部は糖などの同化産物の輸送に関わる。師部の移動を常に上から下という一方向の図にせず、供給する部位と利用・貯蔵する部位の関係で示す。維管束を持たない植物にも水や物質の移動はある。現生のコケをそのまま現生のシダや樹木の直接祖先として並べない。年代の最古記録と実際の起源も区別する。[3]</a:t>
            </a:r>
          </a:p>
          <a:p xmlns:a="http://schemas.openxmlformats.org/drawingml/2006/main">
            <a:r>
              <a:t/>
            </a:r>
          </a:p>
          <a:p xmlns:a="http://schemas.openxmlformats.org/drawingml/2006/main">
            <a:r>
              <a:t>日照をめぐる競争は、高い位置に葉を置く利点を考える入口となる。一方で、高くなるほど支持と水輸送の制約が大きくなる。第3・5・8回の図を再利用し、支持、通水、葉の配置の三つを記入させる。</a:t>
            </a:r>
          </a:p>
          <a:p xmlns:a="http://schemas.openxmlformats.org/drawingml/2006/main">
            <a:r>
              <a:t/>
            </a:r>
          </a:p>
          <a:p xmlns:a="http://schemas.openxmlformats.org/drawingml/2006/main">
            <a:r>
              <a:t/>
            </a:r>
          </a:p>
          <a:p xmlns:a="http://schemas.openxmlformats.org/drawingml/2006/main">
            <a:r>
              <a:t>出典</a:t>
            </a:r>
          </a:p>
          <a:p xmlns:a="http://schemas.openxmlformats.org/drawingml/2006/main">
            <a:r>
              <a:t>Lentonほか（2016）初期陸上植物と酸素</a:t>
            </a:r>
          </a:p>
          <a:p xmlns:a="http://schemas.openxmlformats.org/drawingml/2006/main">
            <a:r>
              <a:t>https://pmc.ncbi.nlm.nih.gov/articles/PMC5024600/</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維管束は重要なキーワードです。木部と師部をセットで考えましょう。師部の輸送を常に上から下と覚えるのではなく、供給する部位と利用・貯蔵する部位の関係で考えます。維管束を持たない植物でも、水や物質の移動はあります。この図は植物全体の輸送を示す模式図で、茎の実際の横断面配置ではありません。</a:t>
            </a:r>
          </a:p>
          <a:p xmlns:a="http://schemas.openxmlformats.org/drawingml/2006/main">
            <a:r>
              <a:t/>
            </a:r>
          </a:p>
          <a:p xmlns:a="http://schemas.openxmlformats.org/drawingml/2006/main">
            <a:r>
              <a:t/>
            </a:r>
          </a:p>
          <a:p xmlns:a="http://schemas.openxmlformats.org/drawingml/2006/main">
            <a:r>
              <a:t>出典</a:t>
            </a:r>
          </a:p>
          <a:p xmlns:a="http://schemas.openxmlformats.org/drawingml/2006/main">
            <a:r>
              <a:t>Lentonほか（2016）初期陸上植物と酸素</a:t>
            </a:r>
          </a:p>
          <a:p xmlns:a="http://schemas.openxmlformats.org/drawingml/2006/main">
            <a:r>
              <a:t>https://pmc.ncbi.nlm.nih.gov/articles/PMC5024600/</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見られる植物群は、それぞれ進化してきた系統です。コケからシダ、シダから今の樹木へ、現生種そのものが順番に変身したかのように描かないようにします。また、維管束の獲得と木材形成は同じ出来事ではありません。</a:t>
            </a:r>
          </a:p>
          <a:p xmlns:a="http://schemas.openxmlformats.org/drawingml/2006/main">
            <a:r>
              <a:t/>
            </a:r>
          </a:p>
          <a:p xmlns:a="http://schemas.openxmlformats.org/drawingml/2006/main">
            <a:r>
              <a:t/>
            </a:r>
          </a:p>
          <a:p xmlns:a="http://schemas.openxmlformats.org/drawingml/2006/main">
            <a:r>
              <a:t>出典</a:t>
            </a:r>
          </a:p>
          <a:p xmlns:a="http://schemas.openxmlformats.org/drawingml/2006/main">
            <a:r>
              <a:t>Lentonほか（2016）初期陸上植物と酸素</a:t>
            </a:r>
          </a:p>
          <a:p xmlns:a="http://schemas.openxmlformats.org/drawingml/2006/main">
            <a:r>
              <a:t>https://pmc.ncbi.nlm.nih.gov/articles/PMC5024600/</a:t>
            </a:r>
          </a:p>
          <a:p xmlns:a="http://schemas.openxmlformats.org/drawingml/2006/main">
            <a:r>
              <a:t/>
            </a:r>
          </a:p>
          <a:p xmlns:a="http://schemas.openxmlformats.org/drawingml/2006/main">
            <a:r>
              <a:t>Gerrienneほか（2011）小型植物の初期木材</a:t>
            </a:r>
          </a:p>
          <a:p xmlns:a="http://schemas.openxmlformats.org/drawingml/2006/main">
            <a:r>
              <a:t>https://pubmed.ncbi.nlm.nih.gov/21836008/</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ず木部と師部の位置・役割を模式断面で確認する。一次成長でつくられる木部と、維管束形成層が内側へつくる二次木部を区別し、木材を後者として位置付ける。維管束の獲得と木材形成を同じ進化上の出来事にはしない。木化した細胞壁、木部、二次木部は同じ語ではない。初期デボン紀の小型植物にも二次木部が報告されている。木材形成を巨木になった後だけの現象としない。[4]</a:t>
            </a:r>
          </a:p>
          <a:p xmlns:a="http://schemas.openxmlformats.org/drawingml/2006/main">
            <a:r>
              <a:t/>
            </a:r>
          </a:p>
          <a:p xmlns:a="http://schemas.openxmlformats.org/drawingml/2006/main">
            <a:r>
              <a:t>木材は支持と通水を担うが、両機能の配分は構造に依存する。樹木型の体は複数の系統で成立しており、現生の木性シダなどを現生の針葉樹と同じ肥大成長の仕組みとしない。年代の細部より、「高くなる利点と必要な仕組み」を理解させる。</a:t>
            </a:r>
          </a:p>
          <a:p xmlns:a="http://schemas.openxmlformats.org/drawingml/2006/main">
            <a:r>
              <a:t/>
            </a:r>
          </a:p>
          <a:p xmlns:a="http://schemas.openxmlformats.org/drawingml/2006/main">
            <a:r>
              <a:t>演習：支持だけが強くても高い樹冠を維持できない理由を、水の移動と葉の働きから説明する。巨木化→長寿化→木材形成という順序を、条件が相互に関わる図へ書き直す。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Gerrienneほか（2011）小型植物の初期木材</a:t>
            </a:r>
          </a:p>
          <a:p xmlns:a="http://schemas.openxmlformats.org/drawingml/2006/main">
            <a:r>
              <a:t>https://pubmed.ncbi.nlm.nih.gov/21836008/</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部という語と、木材という語を区別します。木化した細胞壁があることだけで、すべてを二次木部とは呼びません。図では既存の木部、形成層、新たに形成される木部と師部の位置関係を示します。特定の樹種の厚さ比や成長速度の実測ではありません。</a:t>
            </a:r>
          </a:p>
          <a:p xmlns:a="http://schemas.openxmlformats.org/drawingml/2006/main">
            <a:r>
              <a:t/>
            </a:r>
          </a:p>
          <a:p xmlns:a="http://schemas.openxmlformats.org/drawingml/2006/main">
            <a:r>
              <a:t/>
            </a:r>
          </a:p>
          <a:p xmlns:a="http://schemas.openxmlformats.org/drawingml/2006/main">
            <a:r>
              <a:t>出典</a:t>
            </a:r>
          </a:p>
          <a:p xmlns:a="http://schemas.openxmlformats.org/drawingml/2006/main">
            <a:r>
              <a:t>Gerrienneほか（2011）小型植物の初期木材</a:t>
            </a:r>
          </a:p>
          <a:p xmlns:a="http://schemas.openxmlformats.org/drawingml/2006/main">
            <a:r>
              <a:t>https://pubmed.ncbi.nlm.nih.gov/21836008/</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rrienneらの2011年の報告では、小型の初期デボン紀植物に二次木部が記載されています。この事例から、巨大化した後に初めて木材ができたという順序にはできません。現代の材と同じ構造や性能を持っていたとも決め付けません。</a:t>
            </a:r>
          </a:p>
          <a:p xmlns:a="http://schemas.openxmlformats.org/drawingml/2006/main">
            <a:r>
              <a:t/>
            </a:r>
          </a:p>
          <a:p xmlns:a="http://schemas.openxmlformats.org/drawingml/2006/main">
            <a:r>
              <a:t/>
            </a:r>
          </a:p>
          <a:p xmlns:a="http://schemas.openxmlformats.org/drawingml/2006/main">
            <a:r>
              <a:t>出典</a:t>
            </a:r>
          </a:p>
          <a:p xmlns:a="http://schemas.openxmlformats.org/drawingml/2006/main">
            <a:r>
              <a:t>Gerrienneほか（2011）小型植物の初期木材</a:t>
            </a:r>
          </a:p>
          <a:p xmlns:a="http://schemas.openxmlformats.org/drawingml/2006/main">
            <a:r>
              <a:t>https://pubmed.ncbi.nlm.nih.gov/21836008/</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ここで動画を止めて、配布資料の演習1に取り組んでください。正解の用語を並べるだけでなく、葉が働くための水と、体を保つための構造を関係付けます。</a:t>
            </a:r>
          </a:p>
          <a:p xmlns:a="http://schemas.openxmlformats.org/drawingml/2006/main">
            <a:r>
              <a:t/>
            </a:r>
          </a:p>
          <a:p xmlns:a="http://schemas.openxmlformats.org/drawingml/2006/main">
            <a:r>
              <a:t>自己確認の解説</a:t>
            </a:r>
          </a:p>
          <a:p xmlns:a="http://schemas.openxmlformats.org/drawingml/2006/main">
            <a:r>
              <a:t>支持だけでは高い葉を維持できません。水や無機養分を供給する仕組みも必要です。高くなる利点と、支持・輸送の負担を合わせて説明できれば基本達成です。</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長寿を、単に体が巨大だから、または成長が遅いからと一因だけで説明しない。分裂組織による成長、枝葉の更新、体が部分に分かれていること、損傷への対応、環境条件、外部からの死亡要因を関連付ける。形成層・年輪の復習を行い、古い幹全体の細胞が同じ年齢で生き続けるという誤解を避ける。[5]</a:t>
            </a:r>
          </a:p>
          <a:p xmlns:a="http://schemas.openxmlformats.org/drawingml/2006/main">
            <a:r>
              <a:t/>
            </a:r>
          </a:p>
          <a:p xmlns:a="http://schemas.openxmlformats.org/drawingml/2006/main">
            <a:r>
              <a:t>成熟した通水・支持細胞には死細胞が多いが、木部には生きた柔細胞もある。個体が生きることと木材中の各細胞が生きることを分ける。樹木を不死と断定せず、最大寿命と実際に到達する年齢を区別する。胸高の年輪数は、その高さに達するまでの時間を含まない。腐朽や欠損も年代推定に関わる。</a:t>
            </a:r>
          </a:p>
          <a:p xmlns:a="http://schemas.openxmlformats.org/drawingml/2006/main">
            <a:r>
              <a:t/>
            </a:r>
          </a:p>
          <a:p xmlns:a="http://schemas.openxmlformats.org/drawingml/2006/main">
            <a:r>
              <a:t>演習：発芽年が記録されている仮想の2個体を示す。Aは50年で半径20 cm、Bは200年で半径10 cm。平均の半径増加はAが4 mm/年、Bが0.5 mm/年。実際の成長は一定ではない。大きさと年齢を区別し、この2例だけから全樹種の成長と寿命の法則を証明できるか考える。外観、年輪、植栽記録のそれぞれから何がわかるかを表にする。</a:t>
            </a:r>
          </a:p>
          <a:p xmlns:a="http://schemas.openxmlformats.org/drawingml/2006/main">
            <a:r>
              <a:t/>
            </a:r>
          </a:p>
          <a:p xmlns:a="http://schemas.openxmlformats.org/drawingml/2006/main">
            <a:r>
              <a:t>個体の年齢、種の最大寿命、地下部を共有するクローンの持続年数は別欄で表示する。世界最長寿の順位は主題にせず、測定対象と根拠を読む。寿命が長いことと、伐採後の材が腐りにくいこと・強いことも同義ではない。</a:t>
            </a:r>
          </a:p>
          <a:p xmlns:a="http://schemas.openxmlformats.org/drawingml/2006/main">
            <a:r>
              <a:t/>
            </a:r>
          </a:p>
          <a:p xmlns:a="http://schemas.openxmlformats.org/drawingml/2006/main">
            <a:r>
              <a:t/>
            </a:r>
          </a:p>
          <a:p xmlns:a="http://schemas.openxmlformats.org/drawingml/2006/main">
            <a:r>
              <a:t>出典</a:t>
            </a:r>
          </a:p>
          <a:p xmlns:a="http://schemas.openxmlformats.org/drawingml/2006/main">
            <a:r>
              <a:t>Piovesan・Biondi（2021）On tree longevity</a:t>
            </a:r>
          </a:p>
          <a:p xmlns:a="http://schemas.openxmlformats.org/drawingml/2006/main">
            <a:r>
              <a:t>https://nph.onlinelibrary.wiley.com/doi/full/10.1111/nph.17148</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個体の年齢と、部分の年齢は同じではありません。長寿の樹木でも、すべての葉や細胞が同じ年月を生きてきたわけではありません。成熟した通水・支持細胞には死細胞が多い一方、木部には生きた柔細胞もあります。木材全体を単純に生きた細胞だけ、または死細胞だけとは説明しません。</a:t>
            </a:r>
          </a:p>
          <a:p xmlns:a="http://schemas.openxmlformats.org/drawingml/2006/main">
            <a:r>
              <a:t/>
            </a:r>
          </a:p>
          <a:p xmlns:a="http://schemas.openxmlformats.org/drawingml/2006/main">
            <a:r>
              <a:t/>
            </a:r>
          </a:p>
          <a:p xmlns:a="http://schemas.openxmlformats.org/drawingml/2006/main">
            <a:r>
              <a:t>出典</a:t>
            </a:r>
          </a:p>
          <a:p xmlns:a="http://schemas.openxmlformats.org/drawingml/2006/main">
            <a:r>
              <a:t>Piovesan・Biondi（2021）On tree longevity</a:t>
            </a:r>
          </a:p>
          <a:p xmlns:a="http://schemas.openxmlformats.org/drawingml/2006/main">
            <a:r>
              <a:t>https://nph.onlinelibrary.wiley.com/doi/full/10.1111/nph.17148</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長寿を体の大きさだけから説明することはできません。分裂組織の働きや部分の更新に加えて、外部の死亡要因を避けられる条件が重要です。樹木は不死であると断定せず、長く生きられる可能性と、その年齢まで実際に生き残ることを分けて考えましょう。</a:t>
            </a:r>
          </a:p>
          <a:p xmlns:a="http://schemas.openxmlformats.org/drawingml/2006/main">
            <a:r>
              <a:t/>
            </a:r>
          </a:p>
          <a:p xmlns:a="http://schemas.openxmlformats.org/drawingml/2006/main">
            <a:r>
              <a:t/>
            </a:r>
          </a:p>
          <a:p xmlns:a="http://schemas.openxmlformats.org/drawingml/2006/main">
            <a:r>
              <a:t>出典</a:t>
            </a:r>
          </a:p>
          <a:p xmlns:a="http://schemas.openxmlformats.org/drawingml/2006/main">
            <a:r>
              <a:t>Piovesan・Biondi（2021）On tree longevity</a:t>
            </a:r>
          </a:p>
          <a:p xmlns:a="http://schemas.openxmlformats.org/drawingml/2006/main">
            <a:r>
              <a:t>https://nph.onlinelibrary.wiley.com/doi/full/10.1111/nph.17148</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年輪で年齢を調べるときは、採取した位置と、どの年輪まで含まれているかが大切です。地上の一定の高さの年輪数は、その高さまで成長する前の時間を含みません。クローンの持続年数を一本の幹の年齢と同じ欄へ書くことも避け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Piovesan・Biondi（2021）On tree longevity</a:t>
            </a:r>
          </a:p>
          <a:p xmlns:a="http://schemas.openxmlformats.org/drawingml/2006/main">
            <a:r>
              <a:t>https://nph.onlinelibrary.wiley.com/doi/full/10.1111/nph.17148</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実在の樹種データではなく、発芽年が記録された仮想個体です。平均の半径増加をミリメートル毎年で求めてください。実際の毎年の成長が一定だったとは仮定しません。</a:t>
            </a:r>
          </a:p>
          <a:p xmlns:a="http://schemas.openxmlformats.org/drawingml/2006/main">
            <a:r>
              <a:t/>
            </a:r>
          </a:p>
          <a:p xmlns:a="http://schemas.openxmlformats.org/drawingml/2006/main">
            <a:r>
              <a:t>自己確認の解説</a:t>
            </a:r>
          </a:p>
          <a:p xmlns:a="http://schemas.openxmlformats.org/drawingml/2006/main">
            <a:r>
              <a:t>Aは200ミリメートルを50年で割り、平均4ミリメートル毎年です。Bは100ミリメートルを200年で割り、平均0.5ミリメートル毎年です。大きいAが年齢も高いという結論にはなりません。</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求めたのは半径の平均増加であって、直径の平均増加ではありません。年ごとの変動や環境条件は、この計算からはわかりません。年齢、大きさ、成長速度を別々に記述できるか確認してください。</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半を整理します。自分の図で木部と師部を指し、働きを説明してください。次に、個体が長く生きることと、細胞が同じ期間生きることが違う理由を書きます。ここで区切りをつけ、後半では問いを切り替え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ここからは人類史です。前半の進化を、人が木材を使うための準備段階とは考えません。道具や建物の用途と、残された資料を手掛かりに考えます。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道具の柄・容器・柱・燃料を、用途と必要な性質で整理する。木製品は保存されにくい条件もあるため、出土点数だけで利用の少なさを決めない。平城宮の埋蔵木製品の保存環境を第8・10回と結ぶ。[6]</a:t>
            </a:r>
          </a:p>
          <a:p xmlns:a="http://schemas.openxmlformats.org/drawingml/2006/main">
            <a:r>
              <a:t/>
            </a:r>
          </a:p>
          <a:p xmlns:a="http://schemas.openxmlformats.org/drawingml/2006/main">
            <a:r>
              <a:t>シェーニンゲンの木製狩猟具を、材料選択・加工を考える例とする。年代には2025年の約20万年前という再評価があり、旧案内の約30万年前と混ぜない。木材利用の開始年とも断定しない。[7] 詳しい生活史・地域事例・建築更新と森林管理は新12回へつなぐ。</a:t>
            </a:r>
          </a:p>
          <a:p xmlns:a="http://schemas.openxmlformats.org/drawingml/2006/main">
            <a:r>
              <a:t/>
            </a:r>
          </a:p>
          <a:p xmlns:a="http://schemas.openxmlformats.org/drawingml/2006/main">
            <a:r>
              <a:t/>
            </a:r>
          </a:p>
          <a:p xmlns:a="http://schemas.openxmlformats.org/drawingml/2006/main">
            <a:r>
              <a:t>出典</a:t>
            </a:r>
          </a:p>
          <a:p xmlns:a="http://schemas.openxmlformats.org/drawingml/2006/main">
            <a:r>
              <a:t>奈良文化財研究所（2018）埋蔵文化財の保存</a:t>
            </a:r>
          </a:p>
          <a:p xmlns:a="http://schemas.openxmlformats.org/drawingml/2006/main">
            <a:r>
              <a:t>https://www.nabunken.go.jp/nabunkenblog/2018/02/tanken184.html</a:t>
            </a:r>
          </a:p>
          <a:p xmlns:a="http://schemas.openxmlformats.org/drawingml/2006/main">
            <a:r>
              <a:t/>
            </a:r>
          </a:p>
          <a:p xmlns:a="http://schemas.openxmlformats.org/drawingml/2006/main">
            <a:r>
              <a:t>Hutsonほか（2025）木製狩猟具の年代再評価</a:t>
            </a:r>
          </a:p>
          <a:p xmlns:a="http://schemas.openxmlformats.org/drawingml/2006/main">
            <a:r>
              <a:t>https://pmc.ncbi.nlm.nih.gov/articles/PMC12063642/</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奈良文化財研究所の説明では、地下水を含む木製品が粘土層に守られて保存される事例を扱っています。木製品が少ないことを、そのまま利用が少なかった証拠とはできません。保存される条件と調査で見つかる条件を区別し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奈良文化財研究所（2018）埋蔵文化財の保存</a:t>
            </a:r>
          </a:p>
          <a:p xmlns:a="http://schemas.openxmlformats.org/drawingml/2006/main">
            <a:r>
              <a:t>https://www.nabunken.go.jp/nabunkenblog/2018/02/tanken184.html</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シェーニンゲンの事例には2025年の研究による約20万年前という年代の再評価があります。以前の約30万年前という説明と混ぜず、根拠が更新されることを示します。これを人の木材利用が始まった年と断定しないようにし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Hutsonほか（2025）木製狩猟具の年代再評価</a:t>
            </a:r>
          </a:p>
          <a:p xmlns:a="http://schemas.openxmlformats.org/drawingml/2006/main">
            <a:r>
              <a:t>https://pmc.ncbi.nlm.nih.gov/articles/PMC12063642/</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①樹木個体の寿命、②構成する細胞や器官の更新、③製品の使用期間を別の線で描く。「千年生きた木からつくった製品は千年もつ」「太い木は古い」「長寿のために木材が生まれた」の三文を、条件と根拠を付けた説明へ書き直す。長寿命を尊重する価値判断と、材質の測定結果は分ける。</a:t>
            </a:r>
          </a:p>
          <a:p xmlns:a="http://schemas.openxmlformats.org/drawingml/2006/main">
            <a:r>
              <a:t/>
            </a:r>
          </a:p>
          <a:p xmlns:a="http://schemas.openxmlformats.org/drawingml/2006/main">
            <a:r>
              <a:t>自己確認の解説</a:t>
            </a:r>
          </a:p>
          <a:p xmlns:a="http://schemas.openxmlformats.org/drawingml/2006/main">
            <a:r>
              <a:t>樹木の寿命と製品の耐久性は測定する対象が違います。太さから年齢を判断するには成長条件などの確認が必要です。木材の形成を長寿化だけを目的とする一本道の過程にせず、支持や輸送、生活史の多様化から説明します。</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部は維管束の働きと個体の長寿について、第2部は出土資料と用途について、それぞれ一つ説明を書く。進化史から人類史への必然的な流れを作ることは求めない。次回は日本の木の文化を、修理・技術の継承・森林を育てる時間から考える。</a:t>
            </a:r>
          </a:p>
          <a:p xmlns:a="http://schemas.openxmlformats.org/drawingml/2006/main">
            <a:r>
              <a:t/>
            </a:r>
          </a:p>
          <a:p xmlns:a="http://schemas.openxmlformats.org/drawingml/2006/main">
            <a:r>
              <a:t/>
            </a:r>
          </a:p>
          <a:p xmlns:a="http://schemas.openxmlformats.org/drawingml/2006/main">
            <a:r>
              <a:t>出典</a:t>
            </a:r>
          </a:p>
          <a:p xmlns:a="http://schemas.openxmlformats.org/drawingml/2006/main">
            <a:r>
              <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参照した資料です。オゾン論文は全文取得が制限されたため、数値や図は採用していません。初期木材の論文は抄録で確認した範囲を扱います。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Woganほか（2022）大酸化イベント</a:t>
            </a:r>
          </a:p>
          <a:p xmlns:a="http://schemas.openxmlformats.org/drawingml/2006/main">
            <a:r>
              <a:t>https://pmc.ncbi.nlm.nih.gov/articles/PMC9477391/</a:t>
            </a:r>
          </a:p>
          <a:p xmlns:a="http://schemas.openxmlformats.org/drawingml/2006/main">
            <a:r>
              <a:t/>
            </a:r>
          </a:p>
          <a:p xmlns:a="http://schemas.openxmlformats.org/drawingml/2006/main">
            <a:r>
              <a:t>Cookeほか（2022）酸素とオゾンのモデル</a:t>
            </a:r>
          </a:p>
          <a:p xmlns:a="http://schemas.openxmlformats.org/drawingml/2006/main">
            <a:r>
              <a:t>https://pmc.ncbi.nlm.nih.gov/articles/PMC8728182/</a:t>
            </a:r>
          </a:p>
          <a:p xmlns:a="http://schemas.openxmlformats.org/drawingml/2006/main">
            <a:r>
              <a:t/>
            </a:r>
          </a:p>
          <a:p xmlns:a="http://schemas.openxmlformats.org/drawingml/2006/main">
            <a:r>
              <a:t>Lentonほか（2016）初期陸上植物と酸素</a:t>
            </a:r>
          </a:p>
          <a:p xmlns:a="http://schemas.openxmlformats.org/drawingml/2006/main">
            <a:r>
              <a:t>https://pmc.ncbi.nlm.nih.gov/articles/PMC5024600/</a:t>
            </a:r>
          </a:p>
          <a:p xmlns:a="http://schemas.openxmlformats.org/drawingml/2006/main">
            <a:r>
              <a:t/>
            </a:r>
          </a:p>
          <a:p xmlns:a="http://schemas.openxmlformats.org/drawingml/2006/main">
            <a:r>
              <a:t>Gerrienneほか（2011）小型植物の初期木材</a:t>
            </a:r>
          </a:p>
          <a:p xmlns:a="http://schemas.openxmlformats.org/drawingml/2006/main">
            <a:r>
              <a:t>https://pubmed.ncbi.nlm.nih.gov/21836008/</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参照した資料です。オゾン論文は全文取得が制限されたため、数値や図は採用していません。初期木材の論文は抄録で確認した範囲を扱います。</a:t>
            </a:r>
          </a:p>
          <a:p xmlns:a="http://schemas.openxmlformats.org/drawingml/2006/main">
            <a:r>
              <a:t/>
            </a:r>
          </a:p>
          <a:p xmlns:a="http://schemas.openxmlformats.org/drawingml/2006/main">
            <a:r>
              <a:t/>
            </a:r>
          </a:p>
          <a:p xmlns:a="http://schemas.openxmlformats.org/drawingml/2006/main">
            <a:r>
              <a:t>出典</a:t>
            </a:r>
          </a:p>
          <a:p xmlns:a="http://schemas.openxmlformats.org/drawingml/2006/main">
            <a:r>
              <a:t>Piovesan・Biondi（2021）On tree longevity</a:t>
            </a:r>
          </a:p>
          <a:p xmlns:a="http://schemas.openxmlformats.org/drawingml/2006/main">
            <a:r>
              <a:t>https://nph.onlinelibrary.wiley.com/doi/full/10.1111/nph.17148</a:t>
            </a:r>
          </a:p>
          <a:p xmlns:a="http://schemas.openxmlformats.org/drawingml/2006/main">
            <a:r>
              <a:t/>
            </a:r>
          </a:p>
          <a:p xmlns:a="http://schemas.openxmlformats.org/drawingml/2006/main">
            <a:r>
              <a:t>奈良文化財研究所（2018）埋蔵文化財の保存</a:t>
            </a:r>
          </a:p>
          <a:p xmlns:a="http://schemas.openxmlformats.org/drawingml/2006/main">
            <a:r>
              <a:t>https://www.nabunken.go.jp/nabunkenblog/2018/02/tanken184.html</a:t>
            </a:r>
          </a:p>
          <a:p xmlns:a="http://schemas.openxmlformats.org/drawingml/2006/main">
            <a:r>
              <a:t/>
            </a:r>
          </a:p>
          <a:p xmlns:a="http://schemas.openxmlformats.org/drawingml/2006/main">
            <a:r>
              <a:t>Hutsonほか（2025）木製狩猟具の年代再評価</a:t>
            </a:r>
          </a:p>
          <a:p xmlns:a="http://schemas.openxmlformats.org/drawingml/2006/main">
            <a:r>
              <a:t>https://pmc.ncbi.nlm.nih.gov/articles/PMC12063642/</a:t>
            </a:r>
          </a:p>
          <a:p xmlns:a="http://schemas.openxmlformats.org/drawingml/2006/main">
            <a:r>
              <a:t/>
            </a:r>
          </a:p>
          <a:p xmlns:a="http://schemas.openxmlformats.org/drawingml/2006/main">
            <a:r>
              <a:t>学修時間は配布資料の活動を含む計画。動画の実測時間ではない。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94bed2f73642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d469a8b19c459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b7fdef3a5244a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cd6a13d2bf4a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914707d39af450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dddfd0a567241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65D536-46BD-40B6-8399-89FE0B8C567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50B4FC9-99F1-4858-A66E-E21DF938301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B67F0C2-CE96-4DD5-8660-92B0E47AE00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139017-DE0A-4026-8F42-42BC5120F3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B3CC3CA-9B7B-4038-9181-182DE78FF50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8DE706E-6CA1-4FB6-AFA4-BC18C8A0EA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330FD7-2E5F-43CE-96A5-5889A9000B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DC4503D-20C9-40D5-8C30-6897D50E9C4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0EB2CD-81C2-4BBB-8679-0723CDB443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2FF7D1-64D8-46DA-B51B-7B41DF0166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aa7fe294b24cc1" /><Relationship Type="http://schemas.openxmlformats.org/officeDocument/2006/relationships/slideLayout" Target="/ppt/slideLayouts/slideLayout1.xml" Id="R2651d2fd7bab4309" /><Relationship Type="http://schemas.openxmlformats.org/officeDocument/2006/relationships/slideLayout" Target="/ppt/slideLayouts/slideLayout2.xml" Id="R8132e0c9f1204889" /><Relationship Type="http://schemas.openxmlformats.org/officeDocument/2006/relationships/slideLayout" Target="/ppt/slideLayouts/slideLayout3.xml" Id="R05e77ab4702a4b5b" /><Relationship Type="http://schemas.openxmlformats.org/officeDocument/2006/relationships/slideLayout" Target="/ppt/slideLayouts/slideLayout4.xml" Id="Rb5fc3ed3a1be444b" /><Relationship Type="http://schemas.openxmlformats.org/officeDocument/2006/relationships/slideLayout" Target="/ppt/slideLayouts/slideLayout5.xml" Id="R3e934f2021f54431" /><Relationship Type="http://schemas.openxmlformats.org/officeDocument/2006/relationships/slideLayout" Target="/ppt/slideLayouts/slideLayout6.xml" Id="Rd4f6c79a2b4340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51d2fd7bab4309"/>
    <p:sldLayoutId xmlns:r="http://schemas.openxmlformats.org/officeDocument/2006/relationships" id="2147483650" r:id="R8132e0c9f1204889"/>
    <p:sldLayoutId xmlns:r="http://schemas.openxmlformats.org/officeDocument/2006/relationships" id="2147483651" r:id="R05e77ab4702a4b5b"/>
    <p:sldLayoutId xmlns:r="http://schemas.openxmlformats.org/officeDocument/2006/relationships" id="2147483652" r:id="Rb5fc3ed3a1be444b"/>
    <p:sldLayoutId xmlns:r="http://schemas.openxmlformats.org/officeDocument/2006/relationships" id="2147483653" r:id="R3e934f2021f54431"/>
    <p:sldLayoutId xmlns:r="http://schemas.openxmlformats.org/officeDocument/2006/relationships" id="2147483654" r:id="Rd4f6c79a2b4340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c227134d52e455a" /><Relationship Type="http://schemas.openxmlformats.org/officeDocument/2006/relationships/notesSlide" Target="/ppt/notesSlides/notesSlide1.xml" Id="Re2638621891f47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a2b21c396c4f58" /><Relationship Type="http://schemas.openxmlformats.org/officeDocument/2006/relationships/notesSlide" Target="/ppt/notesSlides/notesSlide2.xml" Id="Rad18ffb926f44f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715b48c38e14f72" /><Relationship Type="http://schemas.openxmlformats.org/officeDocument/2006/relationships/notesSlide" Target="/ppt/notesSlides/notesSlide3.xml" Id="Ra74aff71feb943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5698f19620e405c" /><Relationship Type="http://schemas.openxmlformats.org/officeDocument/2006/relationships/notesSlide" Target="/ppt/notesSlides/notesSlide4.xml" Id="R7bf6fe8413d84c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ad39330fb5e4d54" /><Relationship Type="http://schemas.openxmlformats.org/officeDocument/2006/relationships/notesSlide" Target="/ppt/notesSlides/notesSlide5.xml" Id="R0615d0ef6fcd48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3d57652f135443b" /><Relationship Type="http://schemas.openxmlformats.org/officeDocument/2006/relationships/notesSlide" Target="/ppt/notesSlides/notesSlide6.xml" Id="R1b229b4c3d334f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b26ed1303f5486b" /><Relationship Type="http://schemas.openxmlformats.org/officeDocument/2006/relationships/notesSlide" Target="/ppt/notesSlides/notesSlide7.xml" Id="R2a4542576e044d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0040a7e214a401b" /><Relationship Type="http://schemas.openxmlformats.org/officeDocument/2006/relationships/notesSlide" Target="/ppt/notesSlides/notesSlide8.xml" Id="R1f4897b6b83747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bd043e7597d4ebf" /><Relationship Type="http://schemas.openxmlformats.org/officeDocument/2006/relationships/notesSlide" Target="/ppt/notesSlides/notesSlide9.xml" Id="R3b815343647b44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5fe7221fa914ad4" /><Relationship Type="http://schemas.openxmlformats.org/officeDocument/2006/relationships/notesSlide" Target="/ppt/notesSlides/notesSlide10.xml" Id="Rf752d374135a4e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c90ace700f143c9" /><Relationship Type="http://schemas.openxmlformats.org/officeDocument/2006/relationships/notesSlide" Target="/ppt/notesSlides/notesSlide11.xml" Id="R00a6f83a5b7743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9ca88a330ac4a8e" /><Relationship Type="http://schemas.openxmlformats.org/officeDocument/2006/relationships/notesSlide" Target="/ppt/notesSlides/notesSlide12.xml" Id="R3ab7effb0c4e4a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32581e2404a4aa1" /><Relationship Type="http://schemas.openxmlformats.org/officeDocument/2006/relationships/notesSlide" Target="/ppt/notesSlides/notesSlide13.xml" Id="R728a5b66e545421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9133d583e564ce1" /><Relationship Type="http://schemas.openxmlformats.org/officeDocument/2006/relationships/notesSlide" Target="/ppt/notesSlides/notesSlide14.xml" Id="R2bc8026efe5a42d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78024a242944ba3" /><Relationship Type="http://schemas.openxmlformats.org/officeDocument/2006/relationships/notesSlide" Target="/ppt/notesSlides/notesSlide15.xml" Id="R3a986fec3401468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8cf257b36a44cfc" /><Relationship Type="http://schemas.openxmlformats.org/officeDocument/2006/relationships/notesSlide" Target="/ppt/notesSlides/notesSlide16.xml" Id="Rab40da2222bc4a6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bb740e01f1f4608" /><Relationship Type="http://schemas.openxmlformats.org/officeDocument/2006/relationships/notesSlide" Target="/ppt/notesSlides/notesSlide17.xml" Id="Ra3f1a1e6856446b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87edc4a452941f7" /><Relationship Type="http://schemas.openxmlformats.org/officeDocument/2006/relationships/notesSlide" Target="/ppt/notesSlides/notesSlide18.xml" Id="Ra94a61ee69ba481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72567dd6a9642f3" /><Relationship Type="http://schemas.openxmlformats.org/officeDocument/2006/relationships/notesSlide" Target="/ppt/notesSlides/notesSlide19.xml" Id="Rde87484c9497402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8e079ff3b0d4fe9" /><Relationship Type="http://schemas.openxmlformats.org/officeDocument/2006/relationships/notesSlide" Target="/ppt/notesSlides/notesSlide20.xml" Id="Rc90a1bc9969b412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193f73060154c69" /><Relationship Type="http://schemas.openxmlformats.org/officeDocument/2006/relationships/notesSlide" Target="/ppt/notesSlides/notesSlide21.xml" Id="R6338d78d5e59473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97491a545724eea" /><Relationship Type="http://schemas.openxmlformats.org/officeDocument/2006/relationships/notesSlide" Target="/ppt/notesSlides/notesSlide22.xml" Id="R78cd44b5b24049d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f6e4db4773847cb" /><Relationship Type="http://schemas.openxmlformats.org/officeDocument/2006/relationships/notesSlide" Target="/ppt/notesSlides/notesSlide23.xml" Id="Rda43fb4c2bc44fd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6e35d4e82744369" /><Relationship Type="http://schemas.openxmlformats.org/officeDocument/2006/relationships/notesSlide" Target="/ppt/notesSlides/notesSlide24.xml" Id="R2382bd003aa549c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ce44237974944d6" /><Relationship Type="http://schemas.openxmlformats.org/officeDocument/2006/relationships/notesSlide" Target="/ppt/notesSlides/notesSlide25.xml" Id="R1d6b8d68c2414dc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a52e804393747ac" /><Relationship Type="http://schemas.openxmlformats.org/officeDocument/2006/relationships/notesSlide" Target="/ppt/notesSlides/notesSlide26.xml" Id="R4885bd0878134ae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6515a7b7a40417d" /><Relationship Type="http://schemas.openxmlformats.org/officeDocument/2006/relationships/notesSlide" Target="/ppt/notesSlides/notesSlide27.xml" Id="Rbdb322295b95457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b82a20172db4b8f" /><Relationship Type="http://schemas.openxmlformats.org/officeDocument/2006/relationships/notesSlide" Target="/ppt/notesSlides/notesSlide28.xml" Id="Rce3d88ef4f5c466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4835b567f264d1c" /><Relationship Type="http://schemas.openxmlformats.org/officeDocument/2006/relationships/hyperlink" Target="https://pmc.ncbi.nlm.nih.gov/articles/PMC9477391/" TargetMode="External" Id="Rdc009d00512e4d3d" /><Relationship Type="http://schemas.openxmlformats.org/officeDocument/2006/relationships/hyperlink" Target="https://pmc.ncbi.nlm.nih.gov/articles/PMC8728182/" TargetMode="External" Id="Rebb38bd1cce643b2" /><Relationship Type="http://schemas.openxmlformats.org/officeDocument/2006/relationships/hyperlink" Target="https://pmc.ncbi.nlm.nih.gov/articles/PMC5024600/" TargetMode="External" Id="R7eab6763c53345ba" /><Relationship Type="http://schemas.openxmlformats.org/officeDocument/2006/relationships/hyperlink" Target="https://pubmed.ncbi.nlm.nih.gov/21836008/" TargetMode="External" Id="R484552110f5c4ab6" /><Relationship Type="http://schemas.openxmlformats.org/officeDocument/2006/relationships/notesSlide" Target="/ppt/notesSlides/notesSlide29.xml" Id="Rf62d61ea55224cf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cfb7f70de2e4c52" /><Relationship Type="http://schemas.openxmlformats.org/officeDocument/2006/relationships/hyperlink" Target="https://nph.onlinelibrary.wiley.com/doi/full/10.1111/nph.17148" TargetMode="External" Id="R37ef38ee28174504" /><Relationship Type="http://schemas.openxmlformats.org/officeDocument/2006/relationships/hyperlink" Target="https://www.nabunken.go.jp/nabunkenblog/2018/02/tanken184.html" TargetMode="External" Id="R439e8c83ed524d82" /><Relationship Type="http://schemas.openxmlformats.org/officeDocument/2006/relationships/hyperlink" Target="https://pmc.ncbi.nlm.nih.gov/articles/PMC12063642/" TargetMode="External" Id="Rc190c2c671604af9" /><Relationship Type="http://schemas.openxmlformats.org/officeDocument/2006/relationships/notesSlide" Target="/ppt/notesSlides/notesSlide30.xml" Id="R12b19392a908424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F510D63-A41D-4DCC-82F3-020BD01DA2F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地球史・進化史と人類史における樹木と木材</a:t>
            </a:r>
          </a:p>
        </p:txBody>
      </p:sp>
      <p:sp>
        <p:nvSpPr>
          <p:cNvPr id="2" name="">
            <a:extLst xmlns:a="http://schemas.openxmlformats.org/drawingml/2006/main">
              <a:ext uri="{FF2B5EF4-FFF2-40B4-BE49-F238E27FC236}">
                <a16:creationId xmlns:a16="http://schemas.microsoft.com/office/drawing/2014/main" id="{9F495EE0-C52A-4529-AA39-E7B4D1E22C6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56924C9-06BC-473E-806E-EE3E08E84CB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90081070-CC19-4C58-BDD0-CEF2A3F354B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a:t>
            </a:r>
          </a:p>
        </p:txBody>
      </p:sp>
      <p:sp>
        <p:nvSpPr>
          <p:cNvPr id="5" name="">
            <a:extLst xmlns:a="http://schemas.openxmlformats.org/drawingml/2006/main">
              <a:ext uri="{FF2B5EF4-FFF2-40B4-BE49-F238E27FC236}">
                <a16:creationId xmlns:a16="http://schemas.microsoft.com/office/drawing/2014/main" id="{51F43693-74C6-4241-871F-16E7447A8036}"/>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第11回　木材及び木質材料学</a:t>
            </a:r>
          </a:p>
        </p:txBody>
      </p:sp>
      <p:sp>
        <p:nvSpPr>
          <p:cNvPr id="6" name="">
            <a:extLst xmlns:a="http://schemas.openxmlformats.org/drawingml/2006/main">
              <a:ext uri="{FF2B5EF4-FFF2-40B4-BE49-F238E27FC236}">
                <a16:creationId xmlns:a16="http://schemas.microsoft.com/office/drawing/2014/main" id="{DB1CEE8C-824D-4686-8908-BF31E19F884B}"/>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第1部　植物の進化と樹木の長寿</a:t>
            </a:r>
          </a:p>
        </p:txBody>
      </p:sp>
      <p:sp>
        <p:nvSpPr>
          <p:cNvPr id="7" name="">
            <a:extLst xmlns:a="http://schemas.openxmlformats.org/drawingml/2006/main">
              <a:ext uri="{FF2B5EF4-FFF2-40B4-BE49-F238E27FC236}">
                <a16:creationId xmlns:a16="http://schemas.microsoft.com/office/drawing/2014/main" id="{234A4A55-E86D-4F4A-A503-80D897B1577D}"/>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第2部　人類史における樹木・木材</a:t>
            </a:r>
          </a:p>
        </p:txBody>
      </p:sp>
    </p:spTree>
    <p:extLst>
      <p:ext uri="{BB962C8B-B14F-4D97-AF65-F5344CB8AC3E}">
        <p14:creationId xmlns:p14="http://schemas.microsoft.com/office/powerpoint/2010/main" val="20119676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8F2CE2D-077A-4AA7-AB7D-115D03C2221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二つの問いと学び方</a:t>
            </a:r>
          </a:p>
        </p:txBody>
      </p:sp>
      <p:sp>
        <p:nvSpPr>
          <p:cNvPr id="2" name="">
            <a:extLst xmlns:a="http://schemas.openxmlformats.org/drawingml/2006/main">
              <a:ext uri="{FF2B5EF4-FFF2-40B4-BE49-F238E27FC236}">
                <a16:creationId xmlns:a16="http://schemas.microsoft.com/office/drawing/2014/main" id="{39132DD5-1620-409F-AA9B-DAE017D05CD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BCE4D4A-0C6F-4ADF-A630-B63279CDB25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7F52E883-16FE-4D2A-BD1D-F42071654B0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a:t>
            </a:r>
          </a:p>
        </p:txBody>
      </p:sp>
      <p:sp>
        <p:nvSpPr>
          <p:cNvPr id="5" name="">
            <a:extLst xmlns:a="http://schemas.openxmlformats.org/drawingml/2006/main">
              <a:ext uri="{FF2B5EF4-FFF2-40B4-BE49-F238E27FC236}">
                <a16:creationId xmlns:a16="http://schemas.microsoft.com/office/drawing/2014/main" id="{06098D8B-ADD7-4ED1-A74E-DF175D6D7EC7}"/>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植物は陸上でどのように体をつくるか</a:t>
            </a:r>
          </a:p>
        </p:txBody>
      </p:sp>
      <p:sp>
        <p:nvSpPr>
          <p:cNvPr id="6" name="">
            <a:extLst xmlns:a="http://schemas.openxmlformats.org/drawingml/2006/main">
              <a:ext uri="{FF2B5EF4-FFF2-40B4-BE49-F238E27FC236}">
                <a16:creationId xmlns:a16="http://schemas.microsoft.com/office/drawing/2014/main" id="{D6EC29D3-6FA1-4E16-8741-30E131B1DE5C}"/>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樹木はなぜ長く生きられるか</a:t>
            </a:r>
          </a:p>
        </p:txBody>
      </p:sp>
      <p:sp>
        <p:nvSpPr>
          <p:cNvPr id="7" name="">
            <a:extLst xmlns:a="http://schemas.openxmlformats.org/drawingml/2006/main">
              <a:ext uri="{FF2B5EF4-FFF2-40B4-BE49-F238E27FC236}">
                <a16:creationId xmlns:a16="http://schemas.microsoft.com/office/drawing/2014/main" id="{1E382357-026A-4ADA-BBAC-5AD3592B4874}"/>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人は木材をどのような根拠で選ぶか</a:t>
            </a:r>
          </a:p>
        </p:txBody>
      </p:sp>
    </p:spTree>
    <p:extLst>
      <p:ext uri="{BB962C8B-B14F-4D97-AF65-F5344CB8AC3E}">
        <p14:creationId xmlns:p14="http://schemas.microsoft.com/office/powerpoint/2010/main" val="7169147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29AAE6D-2589-419F-A3A5-9CF2017F4E7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第1部　植物の進化と樹木の長寿</a:t>
            </a:r>
          </a:p>
        </p:txBody>
      </p:sp>
      <p:sp>
        <p:nvSpPr>
          <p:cNvPr id="2" name="">
            <a:extLst xmlns:a="http://schemas.openxmlformats.org/drawingml/2006/main">
              <a:ext uri="{FF2B5EF4-FFF2-40B4-BE49-F238E27FC236}">
                <a16:creationId xmlns:a16="http://schemas.microsoft.com/office/drawing/2014/main" id="{0E320F61-AEBC-4C75-9E63-367BEC7D12A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1C29DDC-CC07-4792-B95C-2CDF70689E3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B76090F2-8326-4741-A6B3-373259AFA84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a:t>
            </a:r>
          </a:p>
        </p:txBody>
      </p:sp>
      <p:sp>
        <p:nvSpPr>
          <p:cNvPr id="5" name="">
            <a:extLst xmlns:a="http://schemas.openxmlformats.org/drawingml/2006/main">
              <a:ext uri="{FF2B5EF4-FFF2-40B4-BE49-F238E27FC236}">
                <a16:creationId xmlns:a16="http://schemas.microsoft.com/office/drawing/2014/main" id="{5D99A581-24EA-47A4-B85E-95B18F5C3289}"/>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支持と輸送から植物の体を考える</a:t>
            </a:r>
          </a:p>
        </p:txBody>
      </p:sp>
      <p:sp>
        <p:nvSpPr>
          <p:cNvPr id="6" name="">
            <a:extLst xmlns:a="http://schemas.openxmlformats.org/drawingml/2006/main">
              <a:ext uri="{FF2B5EF4-FFF2-40B4-BE49-F238E27FC236}">
                <a16:creationId xmlns:a16="http://schemas.microsoft.com/office/drawing/2014/main" id="{23A427D9-6383-49C6-A439-DCE32B7F5832}"/>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個体の寿命と、部分の更新を分ける</a:t>
            </a:r>
          </a:p>
        </p:txBody>
      </p:sp>
    </p:spTree>
    <p:extLst>
      <p:ext uri="{BB962C8B-B14F-4D97-AF65-F5344CB8AC3E}">
        <p14:creationId xmlns:p14="http://schemas.microsoft.com/office/powerpoint/2010/main" val="12701970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848DA2-A942-476D-9345-2148AB41019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大きさだけで樹齢を判断できるか</a:t>
            </a:r>
          </a:p>
        </p:txBody>
      </p:sp>
      <p:sp>
        <p:nvSpPr>
          <p:cNvPr id="2" name="">
            <a:extLst xmlns:a="http://schemas.openxmlformats.org/drawingml/2006/main">
              <a:ext uri="{FF2B5EF4-FFF2-40B4-BE49-F238E27FC236}">
                <a16:creationId xmlns:a16="http://schemas.microsoft.com/office/drawing/2014/main" id="{8C4EFD61-2250-408B-89D1-D8698FE50BA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1E277E2-9A98-4AF6-A097-B68D9729613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DE58E1BD-C1FA-4766-B310-42B486ECBC0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
            <a:extLst xmlns:a="http://schemas.openxmlformats.org/drawingml/2006/main">
              <a:ext uri="{FF2B5EF4-FFF2-40B4-BE49-F238E27FC236}">
                <a16:creationId xmlns:a16="http://schemas.microsoft.com/office/drawing/2014/main" id="{FC048BAE-E83C-4A9E-BDD6-2FAA06DF88F2}"/>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太い木と細い木を比べてみよう</a:t>
            </a:r>
          </a:p>
        </p:txBody>
      </p:sp>
      <p:sp>
        <p:nvSpPr>
          <p:cNvPr id="6" name="">
            <a:extLst xmlns:a="http://schemas.openxmlformats.org/drawingml/2006/main">
              <a:ext uri="{FF2B5EF4-FFF2-40B4-BE49-F238E27FC236}">
                <a16:creationId xmlns:a16="http://schemas.microsoft.com/office/drawing/2014/main" id="{2DD84B96-58C8-40B9-BE1F-88BA6C0F83A5}"/>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大きさ、年齢、成長の速さを区別する</a:t>
            </a:r>
          </a:p>
        </p:txBody>
      </p:sp>
      <p:sp>
        <p:nvSpPr>
          <p:cNvPr id="7" name="">
            <a:extLst xmlns:a="http://schemas.openxmlformats.org/drawingml/2006/main">
              <a:ext uri="{FF2B5EF4-FFF2-40B4-BE49-F238E27FC236}">
                <a16:creationId xmlns:a16="http://schemas.microsoft.com/office/drawing/2014/main" id="{E6B5DDCE-6022-4A1F-87DD-693F9B376A71}"/>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予想と、その根拠を書き残す</a:t>
            </a:r>
          </a:p>
        </p:txBody>
      </p:sp>
    </p:spTree>
    <p:extLst>
      <p:ext uri="{BB962C8B-B14F-4D97-AF65-F5344CB8AC3E}">
        <p14:creationId xmlns:p14="http://schemas.microsoft.com/office/powerpoint/2010/main" val="9415231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1A07B7E-81BF-4EA9-93F8-0B20E439489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光合成による酸素発生と大気への蓄積</a:t>
            </a:r>
          </a:p>
        </p:txBody>
      </p:sp>
      <p:sp>
        <p:nvSpPr>
          <p:cNvPr id="2" name="">
            <a:extLst xmlns:a="http://schemas.openxmlformats.org/drawingml/2006/main">
              <a:ext uri="{FF2B5EF4-FFF2-40B4-BE49-F238E27FC236}">
                <a16:creationId xmlns:a16="http://schemas.microsoft.com/office/drawing/2014/main" id="{C4C0CAEF-BF1B-4A40-8400-62BF1EE3C1B8}"/>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B75408-2719-498F-AAD4-E2076EE1CA0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843FF06D-1399-43D7-818F-ADB9821DC2E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sp>
        <p:nvSpPr>
          <p:cNvPr id="5" name="">
            <a:extLst xmlns:a="http://schemas.openxmlformats.org/drawingml/2006/main">
              <a:ext uri="{FF2B5EF4-FFF2-40B4-BE49-F238E27FC236}">
                <a16:creationId xmlns:a16="http://schemas.microsoft.com/office/drawing/2014/main" id="{D75312AE-A8A6-432F-995C-5DD584747D2F}"/>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酸素発生型光合成は、樹木より古い</a:t>
            </a:r>
          </a:p>
        </p:txBody>
      </p:sp>
      <p:sp>
        <p:nvSpPr>
          <p:cNvPr id="6" name="">
            <a:extLst xmlns:a="http://schemas.openxmlformats.org/drawingml/2006/main">
              <a:ext uri="{FF2B5EF4-FFF2-40B4-BE49-F238E27FC236}">
                <a16:creationId xmlns:a16="http://schemas.microsoft.com/office/drawing/2014/main" id="{6645518D-C43A-4ED7-B454-FC220C20125B}"/>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生じた酸素の一部は反応で消費される</a:t>
            </a:r>
          </a:p>
        </p:txBody>
      </p:sp>
      <p:sp>
        <p:nvSpPr>
          <p:cNvPr id="7" name="">
            <a:extLst xmlns:a="http://schemas.openxmlformats.org/drawingml/2006/main">
              <a:ext uri="{FF2B5EF4-FFF2-40B4-BE49-F238E27FC236}">
                <a16:creationId xmlns:a16="http://schemas.microsoft.com/office/drawing/2014/main" id="{A50739AA-621A-4125-82DA-FB4EFBC1A404}"/>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生成と消費の収支が蓄積に関わる</a:t>
            </a:r>
          </a:p>
        </p:txBody>
      </p:sp>
      <p:sp>
        <p:nvSpPr>
          <p:cNvPr id="8" name="">
            <a:extLst xmlns:a="http://schemas.openxmlformats.org/drawingml/2006/main">
              <a:ext uri="{FF2B5EF4-FFF2-40B4-BE49-F238E27FC236}">
                <a16:creationId xmlns:a16="http://schemas.microsoft.com/office/drawing/2014/main" id="{38196D74-D7E9-402F-A004-CF1FAF82478E}"/>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出典：[1] [2]　末尾の参照資料へ</a:t>
            </a:r>
          </a:p>
        </p:txBody>
      </p:sp>
    </p:spTree>
    <p:extLst>
      <p:ext uri="{BB962C8B-B14F-4D97-AF65-F5344CB8AC3E}">
        <p14:creationId xmlns:p14="http://schemas.microsoft.com/office/powerpoint/2010/main" val="19207283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5920D47-3404-452E-9B80-71BDDEDA437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酸素の収支を図にする</a:t>
            </a:r>
          </a:p>
        </p:txBody>
      </p:sp>
      <p:sp>
        <p:nvSpPr>
          <p:cNvPr id="2" name="">
            <a:extLst xmlns:a="http://schemas.openxmlformats.org/drawingml/2006/main">
              <a:ext uri="{FF2B5EF4-FFF2-40B4-BE49-F238E27FC236}">
                <a16:creationId xmlns:a16="http://schemas.microsoft.com/office/drawing/2014/main" id="{6F1A8EC3-1515-4717-B424-A916A8E30E8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F8CBBE0-05D3-4151-8B60-6FB943427E9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05A73392-F9CE-4A69-B303-C70A642322C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6</a:t>
            </a:r>
          </a:p>
        </p:txBody>
      </p:sp>
      <p:sp>
        <p:nvSpPr>
          <p:cNvPr id="5" name="">
            <a:extLst xmlns:a="http://schemas.openxmlformats.org/drawingml/2006/main">
              <a:ext uri="{FF2B5EF4-FFF2-40B4-BE49-F238E27FC236}">
                <a16:creationId xmlns:a16="http://schemas.microsoft.com/office/drawing/2014/main" id="{9F89F0EE-5AF9-4B38-8AA9-F178E29A0ECC}"/>
              </a:ext>
            </a:extLst>
          </p:cNvPr>
          <p:cNvSpPr>
            <a:spLocks xmlns:a="http://schemas.openxmlformats.org/drawingml/2006/main" noGrp="1"/>
          </p:cNvSpPr>
          <p:nvPr/>
        </p:nvSpPr>
        <p:spPr>
          <a:xfrm xmlns:a="http://schemas.openxmlformats.org/drawingml/2006/main">
            <a:off x="857250" y="2476500"/>
            <a:ext cx="3048000" cy="1238250"/>
          </a:xfrm>
          <a:prstGeom xmlns:a="http://schemas.openxmlformats.org/drawingml/2006/main" prst="rect">
            <a:avLst/>
          </a:prstGeom>
          <a:solidFill xmlns:a="http://schemas.openxmlformats.org/drawingml/2006/main">
            <a:srgbClr val="F0F5F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D9E2025-77F7-4FE5-B42A-318899FE25DE}"/>
              </a:ext>
            </a:extLst>
          </p:cNvPr>
          <p:cNvSpPr>
            <a:spLocks xmlns:a="http://schemas.openxmlformats.org/drawingml/2006/main" noGrp="1"/>
          </p:cNvSpPr>
          <p:nvPr/>
        </p:nvSpPr>
        <p:spPr>
          <a:xfrm xmlns:a="http://schemas.openxmlformats.org/drawingml/2006/main">
            <a:off x="971550" y="2714625"/>
            <a:ext cx="2819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087E8B"/>
                </a:solidFill>
                <a:latin typeface="Yu Gothic"/>
                <a:ea typeface="Yu Gothic"/>
                <a:cs typeface="Yu Gothic"/>
              </a:defRPr>
            </a:defPPr>
            <a:lvl1pPr>
              <a:defRPr sz="2100" b="0">
                <a:solidFill>
                  <a:srgbClr val="087E8B"/>
                </a:solidFill>
                <a:latin typeface="Yu Gothic"/>
                <a:ea typeface="Yu Gothic"/>
                <a:cs typeface="Yu Gothic"/>
              </a:defRPr>
            </a:lvl1pPr>
            <a:lvl2pPr>
              <a:defRPr sz="2100" b="0">
                <a:solidFill>
                  <a:srgbClr val="087E8B"/>
                </a:solidFill>
                <a:latin typeface="Yu Gothic"/>
                <a:ea typeface="Yu Gothic"/>
                <a:cs typeface="Yu Gothic"/>
              </a:defRPr>
            </a:lvl2pPr>
            <a:lvl3pPr>
              <a:defRPr sz="2100" b="0">
                <a:solidFill>
                  <a:srgbClr val="087E8B"/>
                </a:solidFill>
                <a:latin typeface="Yu Gothic"/>
                <a:ea typeface="Yu Gothic"/>
                <a:cs typeface="Yu Gothic"/>
              </a:defRPr>
            </a:lvl3pPr>
            <a:lvl4pPr>
              <a:defRPr sz="2100" b="0">
                <a:solidFill>
                  <a:srgbClr val="087E8B"/>
                </a:solidFill>
                <a:latin typeface="Yu Gothic"/>
                <a:ea typeface="Yu Gothic"/>
                <a:cs typeface="Yu Gothic"/>
              </a:defRPr>
            </a:lvl4pPr>
            <a:lvl5pPr>
              <a:defRPr sz="2100" b="0">
                <a:solidFill>
                  <a:srgbClr val="087E8B"/>
                </a:solidFill>
                <a:latin typeface="Yu Gothic"/>
                <a:ea typeface="Yu Gothic"/>
                <a:cs typeface="Yu Gothic"/>
              </a:defRPr>
            </a:lvl5pPr>
            <a:lvl6pPr>
              <a:defRPr sz="2100" b="0">
                <a:solidFill>
                  <a:srgbClr val="087E8B"/>
                </a:solidFill>
                <a:latin typeface="Yu Gothic"/>
                <a:ea typeface="Yu Gothic"/>
                <a:cs typeface="Yu Gothic"/>
              </a:defRPr>
            </a:lvl6pPr>
            <a:lvl7pPr>
              <a:defRPr sz="2100" b="0">
                <a:solidFill>
                  <a:srgbClr val="087E8B"/>
                </a:solidFill>
                <a:latin typeface="Yu Gothic"/>
                <a:ea typeface="Yu Gothic"/>
                <a:cs typeface="Yu Gothic"/>
              </a:defRPr>
            </a:lvl7pPr>
            <a:lvl8pPr>
              <a:defRPr sz="2100" b="0">
                <a:solidFill>
                  <a:srgbClr val="087E8B"/>
                </a:solidFill>
                <a:latin typeface="Yu Gothic"/>
                <a:ea typeface="Yu Gothic"/>
                <a:cs typeface="Yu Gothic"/>
              </a:defRPr>
            </a:lvl8pPr>
            <a:lvl9pPr>
              <a:defRPr sz="2100" b="0">
                <a:solidFill>
                  <a:srgbClr val="087E8B"/>
                </a:solidFill>
                <a:latin typeface="Yu Gothic"/>
                <a:ea typeface="Yu Gothic"/>
                <a:cs typeface="Yu Gothic"/>
              </a:defRPr>
            </a:lvl9pPr>
          </a:lstStyle>
          <a:p xmlns:a="http://schemas.openxmlformats.org/drawingml/2006/main">
            <a:pPr>
              <a:defRPr sz="2100" b="0">
                <a:solidFill>
                  <a:srgbClr val="087E8B"/>
                </a:solidFill>
                <a:latin typeface="Yu Gothic"/>
                <a:ea typeface="Yu Gothic"/>
                <a:cs typeface="Yu Gothic"/>
              </a:defRPr>
            </a:pPr>
            <a:r>
              <a:rPr sz="2100" b="0">
                <a:solidFill>
                  <a:srgbClr val="087E8B"/>
                </a:solidFill>
                <a:latin typeface="Yu Gothic"/>
                <a:ea typeface="Yu Gothic"/>
                <a:cs typeface="Yu Gothic"/>
              </a:rPr>
              <a:t>光合成による生成</a:t>
            </a:r>
          </a:p>
        </p:txBody>
      </p:sp>
      <p:sp>
        <p:nvSpPr>
          <p:cNvPr id="7" name="">
            <a:extLst xmlns:a="http://schemas.openxmlformats.org/drawingml/2006/main">
              <a:ext uri="{FF2B5EF4-FFF2-40B4-BE49-F238E27FC236}">
                <a16:creationId xmlns:a16="http://schemas.microsoft.com/office/drawing/2014/main" id="{44957143-725C-42F0-B09C-15BD4C8B5DF2}"/>
              </a:ext>
            </a:extLst>
          </p:cNvPr>
          <p:cNvSpPr>
            <a:spLocks xmlns:a="http://schemas.openxmlformats.org/drawingml/2006/main" noGrp="1"/>
          </p:cNvSpPr>
          <p:nvPr/>
        </p:nvSpPr>
        <p:spPr>
          <a:xfrm xmlns:a="http://schemas.openxmlformats.org/drawingml/2006/main">
            <a:off x="4524375" y="2476500"/>
            <a:ext cx="3048000" cy="1238250"/>
          </a:xfrm>
          <a:prstGeom xmlns:a="http://schemas.openxmlformats.org/drawingml/2006/main" prst="rect">
            <a:avLst/>
          </a:prstGeom>
          <a:solidFill xmlns:a="http://schemas.openxmlformats.org/drawingml/2006/main">
            <a:srgbClr val="F0F5F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4DDAA6D-9CAA-4083-9F95-C7683084E5CF}"/>
              </a:ext>
            </a:extLst>
          </p:cNvPr>
          <p:cNvSpPr>
            <a:spLocks xmlns:a="http://schemas.openxmlformats.org/drawingml/2006/main" noGrp="1"/>
          </p:cNvSpPr>
          <p:nvPr/>
        </p:nvSpPr>
        <p:spPr>
          <a:xfrm xmlns:a="http://schemas.openxmlformats.org/drawingml/2006/main">
            <a:off x="4638675" y="2714625"/>
            <a:ext cx="2819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876A8"/>
                </a:solidFill>
                <a:latin typeface="Yu Gothic"/>
                <a:ea typeface="Yu Gothic"/>
                <a:cs typeface="Yu Gothic"/>
              </a:defRPr>
            </a:defPPr>
            <a:lvl1pPr>
              <a:defRPr sz="2100" b="0">
                <a:solidFill>
                  <a:srgbClr val="2876A8"/>
                </a:solidFill>
                <a:latin typeface="Yu Gothic"/>
                <a:ea typeface="Yu Gothic"/>
                <a:cs typeface="Yu Gothic"/>
              </a:defRPr>
            </a:lvl1pPr>
            <a:lvl2pPr>
              <a:defRPr sz="2100" b="0">
                <a:solidFill>
                  <a:srgbClr val="2876A8"/>
                </a:solidFill>
                <a:latin typeface="Yu Gothic"/>
                <a:ea typeface="Yu Gothic"/>
                <a:cs typeface="Yu Gothic"/>
              </a:defRPr>
            </a:lvl2pPr>
            <a:lvl3pPr>
              <a:defRPr sz="2100" b="0">
                <a:solidFill>
                  <a:srgbClr val="2876A8"/>
                </a:solidFill>
                <a:latin typeface="Yu Gothic"/>
                <a:ea typeface="Yu Gothic"/>
                <a:cs typeface="Yu Gothic"/>
              </a:defRPr>
            </a:lvl3pPr>
            <a:lvl4pPr>
              <a:defRPr sz="2100" b="0">
                <a:solidFill>
                  <a:srgbClr val="2876A8"/>
                </a:solidFill>
                <a:latin typeface="Yu Gothic"/>
                <a:ea typeface="Yu Gothic"/>
                <a:cs typeface="Yu Gothic"/>
              </a:defRPr>
            </a:lvl4pPr>
            <a:lvl5pPr>
              <a:defRPr sz="2100" b="0">
                <a:solidFill>
                  <a:srgbClr val="2876A8"/>
                </a:solidFill>
                <a:latin typeface="Yu Gothic"/>
                <a:ea typeface="Yu Gothic"/>
                <a:cs typeface="Yu Gothic"/>
              </a:defRPr>
            </a:lvl5pPr>
            <a:lvl6pPr>
              <a:defRPr sz="2100" b="0">
                <a:solidFill>
                  <a:srgbClr val="2876A8"/>
                </a:solidFill>
                <a:latin typeface="Yu Gothic"/>
                <a:ea typeface="Yu Gothic"/>
                <a:cs typeface="Yu Gothic"/>
              </a:defRPr>
            </a:lvl6pPr>
            <a:lvl7pPr>
              <a:defRPr sz="2100" b="0">
                <a:solidFill>
                  <a:srgbClr val="2876A8"/>
                </a:solidFill>
                <a:latin typeface="Yu Gothic"/>
                <a:ea typeface="Yu Gothic"/>
                <a:cs typeface="Yu Gothic"/>
              </a:defRPr>
            </a:lvl7pPr>
            <a:lvl8pPr>
              <a:defRPr sz="2100" b="0">
                <a:solidFill>
                  <a:srgbClr val="2876A8"/>
                </a:solidFill>
                <a:latin typeface="Yu Gothic"/>
                <a:ea typeface="Yu Gothic"/>
                <a:cs typeface="Yu Gothic"/>
              </a:defRPr>
            </a:lvl8pPr>
            <a:lvl9pPr>
              <a:defRPr sz="2100" b="0">
                <a:solidFill>
                  <a:srgbClr val="2876A8"/>
                </a:solidFill>
                <a:latin typeface="Yu Gothic"/>
                <a:ea typeface="Yu Gothic"/>
                <a:cs typeface="Yu Gothic"/>
              </a:defRPr>
            </a:lvl9pPr>
          </a:lstStyle>
          <a:p xmlns:a="http://schemas.openxmlformats.org/drawingml/2006/main">
            <a:pPr>
              <a:defRPr sz="2100" b="0">
                <a:solidFill>
                  <a:srgbClr val="2876A8"/>
                </a:solidFill>
                <a:latin typeface="Yu Gothic"/>
                <a:ea typeface="Yu Gothic"/>
                <a:cs typeface="Yu Gothic"/>
              </a:defRPr>
            </a:pPr>
            <a:r>
              <a:rPr sz="2100" b="0">
                <a:solidFill>
                  <a:srgbClr val="2876A8"/>
                </a:solidFill>
                <a:latin typeface="Yu Gothic"/>
                <a:ea typeface="Yu Gothic"/>
                <a:cs typeface="Yu Gothic"/>
              </a:rPr>
              <a:t>大気中の酸素</a:t>
            </a:r>
          </a:p>
        </p:txBody>
      </p:sp>
      <p:sp>
        <p:nvSpPr>
          <p:cNvPr id="9" name="">
            <a:extLst xmlns:a="http://schemas.openxmlformats.org/drawingml/2006/main">
              <a:ext uri="{FF2B5EF4-FFF2-40B4-BE49-F238E27FC236}">
                <a16:creationId xmlns:a16="http://schemas.microsoft.com/office/drawing/2014/main" id="{0F73A16D-8C80-4E53-A6EB-103C80BDCB62}"/>
              </a:ext>
            </a:extLst>
          </p:cNvPr>
          <p:cNvSpPr>
            <a:spLocks xmlns:a="http://schemas.openxmlformats.org/drawingml/2006/main" noGrp="1"/>
          </p:cNvSpPr>
          <p:nvPr/>
        </p:nvSpPr>
        <p:spPr>
          <a:xfrm xmlns:a="http://schemas.openxmlformats.org/drawingml/2006/main">
            <a:off x="8191500" y="2476500"/>
            <a:ext cx="3048000" cy="1238250"/>
          </a:xfrm>
          <a:prstGeom xmlns:a="http://schemas.openxmlformats.org/drawingml/2006/main" prst="rect">
            <a:avLst/>
          </a:prstGeom>
          <a:solidFill xmlns:a="http://schemas.openxmlformats.org/drawingml/2006/main">
            <a:srgbClr val="F0F5F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F69A779-D050-4F3D-B72C-A84D61A8F4CD}"/>
              </a:ext>
            </a:extLst>
          </p:cNvPr>
          <p:cNvSpPr>
            <a:spLocks xmlns:a="http://schemas.openxmlformats.org/drawingml/2006/main" noGrp="1"/>
          </p:cNvSpPr>
          <p:nvPr/>
        </p:nvSpPr>
        <p:spPr>
          <a:xfrm xmlns:a="http://schemas.openxmlformats.org/drawingml/2006/main">
            <a:off x="8305800" y="2714625"/>
            <a:ext cx="2819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C4483C"/>
                </a:solidFill>
                <a:latin typeface="Yu Gothic"/>
                <a:ea typeface="Yu Gothic"/>
                <a:cs typeface="Yu Gothic"/>
              </a:defRPr>
            </a:defPPr>
            <a:lvl1pPr>
              <a:defRPr sz="2100" b="0">
                <a:solidFill>
                  <a:srgbClr val="C4483C"/>
                </a:solidFill>
                <a:latin typeface="Yu Gothic"/>
                <a:ea typeface="Yu Gothic"/>
                <a:cs typeface="Yu Gothic"/>
              </a:defRPr>
            </a:lvl1pPr>
            <a:lvl2pPr>
              <a:defRPr sz="2100" b="0">
                <a:solidFill>
                  <a:srgbClr val="C4483C"/>
                </a:solidFill>
                <a:latin typeface="Yu Gothic"/>
                <a:ea typeface="Yu Gothic"/>
                <a:cs typeface="Yu Gothic"/>
              </a:defRPr>
            </a:lvl2pPr>
            <a:lvl3pPr>
              <a:defRPr sz="2100" b="0">
                <a:solidFill>
                  <a:srgbClr val="C4483C"/>
                </a:solidFill>
                <a:latin typeface="Yu Gothic"/>
                <a:ea typeface="Yu Gothic"/>
                <a:cs typeface="Yu Gothic"/>
              </a:defRPr>
            </a:lvl3pPr>
            <a:lvl4pPr>
              <a:defRPr sz="2100" b="0">
                <a:solidFill>
                  <a:srgbClr val="C4483C"/>
                </a:solidFill>
                <a:latin typeface="Yu Gothic"/>
                <a:ea typeface="Yu Gothic"/>
                <a:cs typeface="Yu Gothic"/>
              </a:defRPr>
            </a:lvl4pPr>
            <a:lvl5pPr>
              <a:defRPr sz="2100" b="0">
                <a:solidFill>
                  <a:srgbClr val="C4483C"/>
                </a:solidFill>
                <a:latin typeface="Yu Gothic"/>
                <a:ea typeface="Yu Gothic"/>
                <a:cs typeface="Yu Gothic"/>
              </a:defRPr>
            </a:lvl5pPr>
            <a:lvl6pPr>
              <a:defRPr sz="2100" b="0">
                <a:solidFill>
                  <a:srgbClr val="C4483C"/>
                </a:solidFill>
                <a:latin typeface="Yu Gothic"/>
                <a:ea typeface="Yu Gothic"/>
                <a:cs typeface="Yu Gothic"/>
              </a:defRPr>
            </a:lvl6pPr>
            <a:lvl7pPr>
              <a:defRPr sz="2100" b="0">
                <a:solidFill>
                  <a:srgbClr val="C4483C"/>
                </a:solidFill>
                <a:latin typeface="Yu Gothic"/>
                <a:ea typeface="Yu Gothic"/>
                <a:cs typeface="Yu Gothic"/>
              </a:defRPr>
            </a:lvl7pPr>
            <a:lvl8pPr>
              <a:defRPr sz="2100" b="0">
                <a:solidFill>
                  <a:srgbClr val="C4483C"/>
                </a:solidFill>
                <a:latin typeface="Yu Gothic"/>
                <a:ea typeface="Yu Gothic"/>
                <a:cs typeface="Yu Gothic"/>
              </a:defRPr>
            </a:lvl8pPr>
            <a:lvl9pPr>
              <a:defRPr sz="2100" b="0">
                <a:solidFill>
                  <a:srgbClr val="C4483C"/>
                </a:solidFill>
                <a:latin typeface="Yu Gothic"/>
                <a:ea typeface="Yu Gothic"/>
                <a:cs typeface="Yu Gothic"/>
              </a:defRPr>
            </a:lvl9pPr>
          </a:lstStyle>
          <a:p xmlns:a="http://schemas.openxmlformats.org/drawingml/2006/main">
            <a:pPr>
              <a:defRPr sz="2100" b="0">
                <a:solidFill>
                  <a:srgbClr val="C4483C"/>
                </a:solidFill>
                <a:latin typeface="Yu Gothic"/>
                <a:ea typeface="Yu Gothic"/>
                <a:cs typeface="Yu Gothic"/>
              </a:defRPr>
            </a:pPr>
            <a:r>
              <a:rPr sz="2100" b="0">
                <a:solidFill>
                  <a:srgbClr val="C4483C"/>
                </a:solidFill>
                <a:latin typeface="Yu Gothic"/>
                <a:ea typeface="Yu Gothic"/>
                <a:cs typeface="Yu Gothic"/>
              </a:rPr>
              <a:t>反応による消費</a:t>
            </a:r>
          </a:p>
        </p:txBody>
      </p:sp>
      <p:sp>
        <p:nvSpPr>
          <p:cNvPr id="11" name="">
            <a:extLst xmlns:a="http://schemas.openxmlformats.org/drawingml/2006/main">
              <a:ext uri="{FF2B5EF4-FFF2-40B4-BE49-F238E27FC236}">
                <a16:creationId xmlns:a16="http://schemas.microsoft.com/office/drawing/2014/main" id="{F70BF2BF-0A83-45DE-9F88-803B265644F0}"/>
              </a:ext>
            </a:extLst>
          </p:cNvPr>
          <p:cNvSpPr>
            <a:spLocks xmlns:a="http://schemas.openxmlformats.org/drawingml/2006/main" noGrp="1"/>
          </p:cNvSpPr>
          <p:nvPr/>
        </p:nvSpPr>
        <p:spPr>
          <a:xfrm xmlns:a="http://schemas.openxmlformats.org/drawingml/2006/main">
            <a:off x="4000500" y="3095625"/>
            <a:ext cx="381000" cy="9525"/>
          </a:xfrm>
          <a:custGeom xmlns:a="http://schemas.openxmlformats.org/drawingml/2006/main">
            <a:pathLst>
              <a:path w="381000" h="9525">
                <a:moveTo>
                  <a:pt x="0" y="0"/>
                </a:moveTo>
                <a:lnTo>
                  <a:pt x="381000" y="0"/>
                </a:lnTo>
              </a:path>
            </a:pathLst>
          </a:custGeom>
          <a:noFill xmlns:a="http://schemas.openxmlformats.org/drawingml/2006/main"/>
          <a:ln xmlns:a="http://schemas.openxmlformats.org/drawingml/2006/main" w="47625">
            <a:solidFill>
              <a:srgbClr val="087E8B"/>
            </a:solidFill>
          </a:ln>
        </p:spPr>
      </p:sp>
      <p:sp>
        <p:nvSpPr>
          <p:cNvPr id="12" name="">
            <a:extLst xmlns:a="http://schemas.openxmlformats.org/drawingml/2006/main">
              <a:ext uri="{FF2B5EF4-FFF2-40B4-BE49-F238E27FC236}">
                <a16:creationId xmlns:a16="http://schemas.microsoft.com/office/drawing/2014/main" id="{86DA77DC-0E03-4225-90AB-AAEB428B225D}"/>
              </a:ext>
            </a:extLst>
          </p:cNvPr>
          <p:cNvSpPr>
            <a:spLocks xmlns:a="http://schemas.openxmlformats.org/drawingml/2006/main" noGrp="1"/>
          </p:cNvSpPr>
          <p:nvPr/>
        </p:nvSpPr>
        <p:spPr>
          <a:xfrm xmlns:a="http://schemas.openxmlformats.org/drawingml/2006/main">
            <a:off x="4231038" y="3095625"/>
            <a:ext cx="150462" cy="82198"/>
          </a:xfrm>
          <a:custGeom xmlns:a="http://schemas.openxmlformats.org/drawingml/2006/main">
            <a:pathLst>
              <a:path w="150462" h="82198">
                <a:moveTo>
                  <a:pt x="150462" y="0"/>
                </a:moveTo>
                <a:lnTo>
                  <a:pt x="0" y="82198"/>
                </a:lnTo>
              </a:path>
            </a:pathLst>
          </a:custGeom>
          <a:noFill xmlns:a="http://schemas.openxmlformats.org/drawingml/2006/main"/>
          <a:ln xmlns:a="http://schemas.openxmlformats.org/drawingml/2006/main" w="47625">
            <a:solidFill>
              <a:srgbClr val="087E8B"/>
            </a:solidFill>
          </a:ln>
        </p:spPr>
      </p:sp>
      <p:sp>
        <p:nvSpPr>
          <p:cNvPr id="13" name="">
            <a:extLst xmlns:a="http://schemas.openxmlformats.org/drawingml/2006/main">
              <a:ext uri="{FF2B5EF4-FFF2-40B4-BE49-F238E27FC236}">
                <a16:creationId xmlns:a16="http://schemas.microsoft.com/office/drawing/2014/main" id="{9B463ADD-5071-43F7-9047-B3AE2426F722}"/>
              </a:ext>
            </a:extLst>
          </p:cNvPr>
          <p:cNvSpPr>
            <a:spLocks xmlns:a="http://schemas.openxmlformats.org/drawingml/2006/main" noGrp="1"/>
          </p:cNvSpPr>
          <p:nvPr/>
        </p:nvSpPr>
        <p:spPr>
          <a:xfrm xmlns:a="http://schemas.openxmlformats.org/drawingml/2006/main">
            <a:off x="4231038" y="3013427"/>
            <a:ext cx="150462" cy="82198"/>
          </a:xfrm>
          <a:custGeom xmlns:a="http://schemas.openxmlformats.org/drawingml/2006/main">
            <a:pathLst>
              <a:path w="150462" h="82198">
                <a:moveTo>
                  <a:pt x="150462" y="82198"/>
                </a:moveTo>
                <a:lnTo>
                  <a:pt x="0" y="0"/>
                </a:lnTo>
              </a:path>
            </a:pathLst>
          </a:custGeom>
          <a:noFill xmlns:a="http://schemas.openxmlformats.org/drawingml/2006/main"/>
          <a:ln xmlns:a="http://schemas.openxmlformats.org/drawingml/2006/main" w="47625">
            <a:solidFill>
              <a:srgbClr val="087E8B"/>
            </a:solidFill>
          </a:ln>
        </p:spPr>
      </p:sp>
      <p:sp>
        <p:nvSpPr>
          <p:cNvPr id="14" name="">
            <a:extLst xmlns:a="http://schemas.openxmlformats.org/drawingml/2006/main">
              <a:ext uri="{FF2B5EF4-FFF2-40B4-BE49-F238E27FC236}">
                <a16:creationId xmlns:a16="http://schemas.microsoft.com/office/drawing/2014/main" id="{4B0FD41A-5FE0-4410-8824-9F87488094F7}"/>
              </a:ext>
            </a:extLst>
          </p:cNvPr>
          <p:cNvSpPr>
            <a:spLocks xmlns:a="http://schemas.openxmlformats.org/drawingml/2006/main" noGrp="1"/>
          </p:cNvSpPr>
          <p:nvPr/>
        </p:nvSpPr>
        <p:spPr>
          <a:xfrm xmlns:a="http://schemas.openxmlformats.org/drawingml/2006/main">
            <a:off x="7667625" y="3095625"/>
            <a:ext cx="428625" cy="9525"/>
          </a:xfrm>
          <a:custGeom xmlns:a="http://schemas.openxmlformats.org/drawingml/2006/main">
            <a:pathLst>
              <a:path w="428625" h="9525">
                <a:moveTo>
                  <a:pt x="0" y="0"/>
                </a:moveTo>
                <a:lnTo>
                  <a:pt x="428625" y="0"/>
                </a:lnTo>
              </a:path>
            </a:pathLst>
          </a:custGeom>
          <a:noFill xmlns:a="http://schemas.openxmlformats.org/drawingml/2006/main"/>
          <a:ln xmlns:a="http://schemas.openxmlformats.org/drawingml/2006/main" w="47625">
            <a:solidFill>
              <a:srgbClr val="C4483C"/>
            </a:solidFill>
          </a:ln>
        </p:spPr>
      </p:sp>
      <p:sp>
        <p:nvSpPr>
          <p:cNvPr id="15" name="">
            <a:extLst xmlns:a="http://schemas.openxmlformats.org/drawingml/2006/main">
              <a:ext uri="{FF2B5EF4-FFF2-40B4-BE49-F238E27FC236}">
                <a16:creationId xmlns:a16="http://schemas.microsoft.com/office/drawing/2014/main" id="{2871F22F-F0B2-403B-8853-065E88066E51}"/>
              </a:ext>
            </a:extLst>
          </p:cNvPr>
          <p:cNvSpPr>
            <a:spLocks xmlns:a="http://schemas.openxmlformats.org/drawingml/2006/main" noGrp="1"/>
          </p:cNvSpPr>
          <p:nvPr/>
        </p:nvSpPr>
        <p:spPr>
          <a:xfrm xmlns:a="http://schemas.openxmlformats.org/drawingml/2006/main">
            <a:off x="7945788" y="3095625"/>
            <a:ext cx="150462" cy="82198"/>
          </a:xfrm>
          <a:custGeom xmlns:a="http://schemas.openxmlformats.org/drawingml/2006/main">
            <a:pathLst>
              <a:path w="150462" h="82198">
                <a:moveTo>
                  <a:pt x="150462" y="0"/>
                </a:moveTo>
                <a:lnTo>
                  <a:pt x="0" y="82198"/>
                </a:lnTo>
              </a:path>
            </a:pathLst>
          </a:custGeom>
          <a:noFill xmlns:a="http://schemas.openxmlformats.org/drawingml/2006/main"/>
          <a:ln xmlns:a="http://schemas.openxmlformats.org/drawingml/2006/main" w="47625">
            <a:solidFill>
              <a:srgbClr val="C4483C"/>
            </a:solidFill>
          </a:ln>
        </p:spPr>
      </p:sp>
      <p:sp>
        <p:nvSpPr>
          <p:cNvPr id="16" name="">
            <a:extLst xmlns:a="http://schemas.openxmlformats.org/drawingml/2006/main">
              <a:ext uri="{FF2B5EF4-FFF2-40B4-BE49-F238E27FC236}">
                <a16:creationId xmlns:a16="http://schemas.microsoft.com/office/drawing/2014/main" id="{29C12751-5190-4EB7-A17D-A09CBAB7FC47}"/>
              </a:ext>
            </a:extLst>
          </p:cNvPr>
          <p:cNvSpPr>
            <a:spLocks xmlns:a="http://schemas.openxmlformats.org/drawingml/2006/main" noGrp="1"/>
          </p:cNvSpPr>
          <p:nvPr/>
        </p:nvSpPr>
        <p:spPr>
          <a:xfrm xmlns:a="http://schemas.openxmlformats.org/drawingml/2006/main">
            <a:off x="7945788" y="3013427"/>
            <a:ext cx="150462" cy="82198"/>
          </a:xfrm>
          <a:custGeom xmlns:a="http://schemas.openxmlformats.org/drawingml/2006/main">
            <a:pathLst>
              <a:path w="150462" h="82198">
                <a:moveTo>
                  <a:pt x="150462" y="82198"/>
                </a:moveTo>
                <a:lnTo>
                  <a:pt x="0" y="0"/>
                </a:lnTo>
              </a:path>
            </a:pathLst>
          </a:custGeom>
          <a:noFill xmlns:a="http://schemas.openxmlformats.org/drawingml/2006/main"/>
          <a:ln xmlns:a="http://schemas.openxmlformats.org/drawingml/2006/main" w="47625">
            <a:solidFill>
              <a:srgbClr val="C4483C"/>
            </a:solidFill>
          </a:ln>
        </p:spPr>
      </p:sp>
      <p:sp>
        <p:nvSpPr>
          <p:cNvPr id="17" name="">
            <a:extLst xmlns:a="http://schemas.openxmlformats.org/drawingml/2006/main">
              <a:ext uri="{FF2B5EF4-FFF2-40B4-BE49-F238E27FC236}">
                <a16:creationId xmlns:a16="http://schemas.microsoft.com/office/drawing/2014/main" id="{74C3A92E-3DD6-4E71-B2C6-0456650CB2D8}"/>
              </a:ext>
            </a:extLst>
          </p:cNvPr>
          <p:cNvSpPr>
            <a:spLocks xmlns:a="http://schemas.openxmlformats.org/drawingml/2006/main" noGrp="1"/>
          </p:cNvSpPr>
          <p:nvPr/>
        </p:nvSpPr>
        <p:spPr>
          <a:xfrm xmlns:a="http://schemas.openxmlformats.org/drawingml/2006/main">
            <a:off x="838200" y="4476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入る量と出る量を分ける収支の模式図</a:t>
            </a:r>
          </a:p>
        </p:txBody>
      </p:sp>
      <p:sp>
        <p:nvSpPr>
          <p:cNvPr id="18" name="">
            <a:extLst xmlns:a="http://schemas.openxmlformats.org/drawingml/2006/main">
              <a:ext uri="{FF2B5EF4-FFF2-40B4-BE49-F238E27FC236}">
                <a16:creationId xmlns:a16="http://schemas.microsoft.com/office/drawing/2014/main" id="{F7682B26-E8DF-47D4-B410-503CA16ED267}"/>
              </a:ext>
            </a:extLst>
          </p:cNvPr>
          <p:cNvSpPr>
            <a:spLocks xmlns:a="http://schemas.openxmlformats.org/drawingml/2006/main" noGrp="1"/>
          </p:cNvSpPr>
          <p:nvPr/>
        </p:nvSpPr>
        <p:spPr>
          <a:xfrm xmlns:a="http://schemas.openxmlformats.org/drawingml/2006/main">
            <a:off x="838200" y="52387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596875"/>
                </a:solidFill>
                <a:latin typeface="Yu Gothic"/>
                <a:ea typeface="Yu Gothic"/>
                <a:cs typeface="Yu Gothic"/>
              </a:defRPr>
            </a:defPPr>
            <a:lvl1pPr>
              <a:defRPr sz="1800" b="0">
                <a:solidFill>
                  <a:srgbClr val="596875"/>
                </a:solidFill>
                <a:latin typeface="Yu Gothic"/>
                <a:ea typeface="Yu Gothic"/>
                <a:cs typeface="Yu Gothic"/>
              </a:defRPr>
            </a:lvl1pPr>
            <a:lvl2pPr>
              <a:defRPr sz="1800" b="0">
                <a:solidFill>
                  <a:srgbClr val="596875"/>
                </a:solidFill>
                <a:latin typeface="Yu Gothic"/>
                <a:ea typeface="Yu Gothic"/>
                <a:cs typeface="Yu Gothic"/>
              </a:defRPr>
            </a:lvl2pPr>
            <a:lvl3pPr>
              <a:defRPr sz="1800" b="0">
                <a:solidFill>
                  <a:srgbClr val="596875"/>
                </a:solidFill>
                <a:latin typeface="Yu Gothic"/>
                <a:ea typeface="Yu Gothic"/>
                <a:cs typeface="Yu Gothic"/>
              </a:defRPr>
            </a:lvl3pPr>
            <a:lvl4pPr>
              <a:defRPr sz="1800" b="0">
                <a:solidFill>
                  <a:srgbClr val="596875"/>
                </a:solidFill>
                <a:latin typeface="Yu Gothic"/>
                <a:ea typeface="Yu Gothic"/>
                <a:cs typeface="Yu Gothic"/>
              </a:defRPr>
            </a:lvl4pPr>
            <a:lvl5pPr>
              <a:defRPr sz="1800" b="0">
                <a:solidFill>
                  <a:srgbClr val="596875"/>
                </a:solidFill>
                <a:latin typeface="Yu Gothic"/>
                <a:ea typeface="Yu Gothic"/>
                <a:cs typeface="Yu Gothic"/>
              </a:defRPr>
            </a:lvl5pPr>
            <a:lvl6pPr>
              <a:defRPr sz="1800" b="0">
                <a:solidFill>
                  <a:srgbClr val="596875"/>
                </a:solidFill>
                <a:latin typeface="Yu Gothic"/>
                <a:ea typeface="Yu Gothic"/>
                <a:cs typeface="Yu Gothic"/>
              </a:defRPr>
            </a:lvl6pPr>
            <a:lvl7pPr>
              <a:defRPr sz="1800" b="0">
                <a:solidFill>
                  <a:srgbClr val="596875"/>
                </a:solidFill>
                <a:latin typeface="Yu Gothic"/>
                <a:ea typeface="Yu Gothic"/>
                <a:cs typeface="Yu Gothic"/>
              </a:defRPr>
            </a:lvl7pPr>
            <a:lvl8pPr>
              <a:defRPr sz="1800" b="0">
                <a:solidFill>
                  <a:srgbClr val="596875"/>
                </a:solidFill>
                <a:latin typeface="Yu Gothic"/>
                <a:ea typeface="Yu Gothic"/>
                <a:cs typeface="Yu Gothic"/>
              </a:defRPr>
            </a:lvl8pPr>
            <a:lvl9pPr>
              <a:defRPr sz="1800" b="0">
                <a:solidFill>
                  <a:srgbClr val="596875"/>
                </a:solidFill>
                <a:latin typeface="Yu Gothic"/>
                <a:ea typeface="Yu Gothic"/>
                <a:cs typeface="Yu Gothic"/>
              </a:defRPr>
            </a:lvl9pPr>
          </a:lstStyle>
          <a:p xmlns:a="http://schemas.openxmlformats.org/drawingml/2006/main">
            <a:pPr>
              <a:defRPr sz="1800" b="0">
                <a:solidFill>
                  <a:srgbClr val="596875"/>
                </a:solidFill>
                <a:latin typeface="Yu Gothic"/>
                <a:ea typeface="Yu Gothic"/>
                <a:cs typeface="Yu Gothic"/>
              </a:defRPr>
            </a:pPr>
            <a:r>
              <a:rPr sz="1800" b="0">
                <a:solidFill>
                  <a:srgbClr val="596875"/>
                </a:solidFill>
                <a:latin typeface="Yu Gothic"/>
                <a:ea typeface="Yu Gothic"/>
                <a:cs typeface="Yu Gothic"/>
              </a:rPr>
              <a:t>酸素濃度の実測グラフではない</a:t>
            </a:r>
          </a:p>
        </p:txBody>
      </p:sp>
      <p:sp>
        <p:nvSpPr>
          <p:cNvPr id="19" name="">
            <a:extLst xmlns:a="http://schemas.openxmlformats.org/drawingml/2006/main">
              <a:ext uri="{FF2B5EF4-FFF2-40B4-BE49-F238E27FC236}">
                <a16:creationId xmlns:a16="http://schemas.microsoft.com/office/drawing/2014/main" id="{C9872AA3-F4F6-4488-8C87-0D5FB02E9965}"/>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出典：[1]　末尾の参照資料へ</a:t>
            </a:r>
          </a:p>
        </p:txBody>
      </p:sp>
    </p:spTree>
    <p:extLst>
      <p:ext uri="{BB962C8B-B14F-4D97-AF65-F5344CB8AC3E}">
        <p14:creationId xmlns:p14="http://schemas.microsoft.com/office/powerpoint/2010/main" val="5543661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D2DB4B-B40E-4393-91D6-53F0A3E7496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酸素・オゾンと紫外線環境</a:t>
            </a:r>
          </a:p>
        </p:txBody>
      </p:sp>
      <p:sp>
        <p:nvSpPr>
          <p:cNvPr id="2" name="">
            <a:extLst xmlns:a="http://schemas.openxmlformats.org/drawingml/2006/main">
              <a:ext uri="{FF2B5EF4-FFF2-40B4-BE49-F238E27FC236}">
                <a16:creationId xmlns:a16="http://schemas.microsoft.com/office/drawing/2014/main" id="{03B46E1D-8BBF-4964-BA95-893082E9908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4A97C68-C1C2-4967-A930-CC0FE31FD5D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3C5647D7-EB43-4FA4-A9AF-86D5BDFE1C3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7</a:t>
            </a:r>
          </a:p>
        </p:txBody>
      </p:sp>
      <p:sp>
        <p:nvSpPr>
          <p:cNvPr id="5" name="">
            <a:extLst xmlns:a="http://schemas.openxmlformats.org/drawingml/2006/main">
              <a:ext uri="{FF2B5EF4-FFF2-40B4-BE49-F238E27FC236}">
                <a16:creationId xmlns:a16="http://schemas.microsoft.com/office/drawing/2014/main" id="{90A2C75A-B2A3-4F2B-B41D-EE52E3E50992}"/>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酸素から光化学反応を通してオゾンが生じる</a:t>
            </a:r>
          </a:p>
        </p:txBody>
      </p:sp>
      <p:sp>
        <p:nvSpPr>
          <p:cNvPr id="6" name="">
            <a:extLst xmlns:a="http://schemas.openxmlformats.org/drawingml/2006/main">
              <a:ext uri="{FF2B5EF4-FFF2-40B4-BE49-F238E27FC236}">
                <a16:creationId xmlns:a16="http://schemas.microsoft.com/office/drawing/2014/main" id="{03F5F66F-755D-4981-A21C-DA22BC270818}"/>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オゾンは紫外線環境に関わる</a:t>
            </a:r>
          </a:p>
        </p:txBody>
      </p:sp>
      <p:sp>
        <p:nvSpPr>
          <p:cNvPr id="7" name="">
            <a:extLst xmlns:a="http://schemas.openxmlformats.org/drawingml/2006/main">
              <a:ext uri="{FF2B5EF4-FFF2-40B4-BE49-F238E27FC236}">
                <a16:creationId xmlns:a16="http://schemas.microsoft.com/office/drawing/2014/main" id="{32BCBBAE-AA3C-4AEC-BA15-09200E21E6A7}"/>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「完成したオゾン層が上陸を起こした」と単純化しない</a:t>
            </a:r>
          </a:p>
        </p:txBody>
      </p:sp>
      <p:sp>
        <p:nvSpPr>
          <p:cNvPr id="8" name="">
            <a:extLst xmlns:a="http://schemas.openxmlformats.org/drawingml/2006/main">
              <a:ext uri="{FF2B5EF4-FFF2-40B4-BE49-F238E27FC236}">
                <a16:creationId xmlns:a16="http://schemas.microsoft.com/office/drawing/2014/main" id="{EE178830-8F0A-4FB4-86C0-9A5EB26C3176}"/>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出典：[1] [2]　末尾の参照資料へ</a:t>
            </a:r>
          </a:p>
        </p:txBody>
      </p:sp>
    </p:spTree>
    <p:extLst>
      <p:ext uri="{BB962C8B-B14F-4D97-AF65-F5344CB8AC3E}">
        <p14:creationId xmlns:p14="http://schemas.microsoft.com/office/powerpoint/2010/main" val="5049314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D08FEF-4A5E-4369-9333-F3B4379754D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地球史と人類史の時間尺度</a:t>
            </a:r>
          </a:p>
        </p:txBody>
      </p:sp>
      <p:sp>
        <p:nvSpPr>
          <p:cNvPr id="2" name="">
            <a:extLst xmlns:a="http://schemas.openxmlformats.org/drawingml/2006/main">
              <a:ext uri="{FF2B5EF4-FFF2-40B4-BE49-F238E27FC236}">
                <a16:creationId xmlns:a16="http://schemas.microsoft.com/office/drawing/2014/main" id="{8637D473-5477-4F4E-BB85-00B31C9B800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D69AEF-D816-455D-B25C-03939513411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EBD6BC67-4DDB-47F3-942A-C2EA4F44818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8</a:t>
            </a:r>
          </a:p>
        </p:txBody>
      </p:sp>
      <p:sp>
        <p:nvSpPr>
          <p:cNvPr id="5" name="">
            <a:extLst xmlns:a="http://schemas.openxmlformats.org/drawingml/2006/main">
              <a:ext uri="{FF2B5EF4-FFF2-40B4-BE49-F238E27FC236}">
                <a16:creationId xmlns:a16="http://schemas.microsoft.com/office/drawing/2014/main" id="{AB22E031-7D23-4E78-8805-0DB9A803BD67}"/>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約24億年前を中心とする大気の大きな変化</a:t>
            </a:r>
          </a:p>
        </p:txBody>
      </p:sp>
      <p:sp>
        <p:nvSpPr>
          <p:cNvPr id="6" name="">
            <a:extLst xmlns:a="http://schemas.openxmlformats.org/drawingml/2006/main">
              <a:ext uri="{FF2B5EF4-FFF2-40B4-BE49-F238E27FC236}">
                <a16:creationId xmlns:a16="http://schemas.microsoft.com/office/drawing/2014/main" id="{10061AFE-7A16-4D0E-BD8B-F9CA5D0BD195}"/>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陸上植物の展開は、はるかに後の出来事</a:t>
            </a:r>
          </a:p>
        </p:txBody>
      </p:sp>
      <p:sp>
        <p:nvSpPr>
          <p:cNvPr id="7" name="">
            <a:extLst xmlns:a="http://schemas.openxmlformats.org/drawingml/2006/main">
              <a:ext uri="{FF2B5EF4-FFF2-40B4-BE49-F238E27FC236}">
                <a16:creationId xmlns:a16="http://schemas.microsoft.com/office/drawing/2014/main" id="{5C07936E-2600-48C5-A405-0CCE21F46EEB}"/>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人の木材利用は、さらに異なる時間尺度</a:t>
            </a:r>
          </a:p>
        </p:txBody>
      </p:sp>
      <p:sp>
        <p:nvSpPr>
          <p:cNvPr id="8" name="">
            <a:extLst xmlns:a="http://schemas.openxmlformats.org/drawingml/2006/main">
              <a:ext uri="{FF2B5EF4-FFF2-40B4-BE49-F238E27FC236}">
                <a16:creationId xmlns:a16="http://schemas.microsoft.com/office/drawing/2014/main" id="{94C8004F-16C9-476B-953D-59DB963A96CA}"/>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出典：[1] [3]　末尾の参照資料へ</a:t>
            </a:r>
          </a:p>
        </p:txBody>
      </p:sp>
    </p:spTree>
    <p:extLst>
      <p:ext uri="{BB962C8B-B14F-4D97-AF65-F5344CB8AC3E}">
        <p14:creationId xmlns:p14="http://schemas.microsoft.com/office/powerpoint/2010/main" val="4248871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93DF43-7A89-4573-90D3-3D58067D7DE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陸上生活にはどんな課題があるか</a:t>
            </a:r>
          </a:p>
        </p:txBody>
      </p:sp>
      <p:sp>
        <p:nvSpPr>
          <p:cNvPr id="2" name="">
            <a:extLst xmlns:a="http://schemas.openxmlformats.org/drawingml/2006/main">
              <a:ext uri="{FF2B5EF4-FFF2-40B4-BE49-F238E27FC236}">
                <a16:creationId xmlns:a16="http://schemas.microsoft.com/office/drawing/2014/main" id="{1919638D-A280-442E-8E24-16CB8FDA34D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8B5EE72-5F28-4CF7-912E-31A0F288666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C3E84E52-0E3D-453D-BB73-41C33BF120F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sp>
        <p:nvSpPr>
          <p:cNvPr id="5" name="">
            <a:extLst xmlns:a="http://schemas.openxmlformats.org/drawingml/2006/main">
              <a:ext uri="{FF2B5EF4-FFF2-40B4-BE49-F238E27FC236}">
                <a16:creationId xmlns:a16="http://schemas.microsoft.com/office/drawing/2014/main" id="{5B69C9E0-2454-404C-AFBB-510AC3A8D2DC}"/>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乾燥への対応</a:t>
            </a:r>
          </a:p>
        </p:txBody>
      </p:sp>
      <p:sp>
        <p:nvSpPr>
          <p:cNvPr id="6" name="">
            <a:extLst xmlns:a="http://schemas.openxmlformats.org/drawingml/2006/main">
              <a:ext uri="{FF2B5EF4-FFF2-40B4-BE49-F238E27FC236}">
                <a16:creationId xmlns:a16="http://schemas.microsoft.com/office/drawing/2014/main" id="{1F19C711-1CFD-41A3-92FD-69ECD6CF8A57}"/>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体を支え、葉を配置すること</a:t>
            </a:r>
          </a:p>
        </p:txBody>
      </p:sp>
      <p:sp>
        <p:nvSpPr>
          <p:cNvPr id="7" name="">
            <a:extLst xmlns:a="http://schemas.openxmlformats.org/drawingml/2006/main">
              <a:ext uri="{FF2B5EF4-FFF2-40B4-BE49-F238E27FC236}">
                <a16:creationId xmlns:a16="http://schemas.microsoft.com/office/drawing/2014/main" id="{E2B9ABB6-FAE6-4A8A-83CA-0D6AA97B6A2C}"/>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水・無機養分・同化産物の輸送</a:t>
            </a:r>
          </a:p>
        </p:txBody>
      </p:sp>
      <p:sp>
        <p:nvSpPr>
          <p:cNvPr id="8" name="">
            <a:extLst xmlns:a="http://schemas.openxmlformats.org/drawingml/2006/main">
              <a:ext uri="{FF2B5EF4-FFF2-40B4-BE49-F238E27FC236}">
                <a16:creationId xmlns:a16="http://schemas.microsoft.com/office/drawing/2014/main" id="{567D6187-2F63-48F3-AADB-D06C34387318}"/>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出典：[3]　末尾の参照資料へ</a:t>
            </a:r>
          </a:p>
        </p:txBody>
      </p:sp>
    </p:spTree>
    <p:extLst>
      <p:ext uri="{BB962C8B-B14F-4D97-AF65-F5344CB8AC3E}">
        <p14:creationId xmlns:p14="http://schemas.microsoft.com/office/powerpoint/2010/main" val="2547530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BF172AD-E4B1-436D-9956-6950B10AB77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維管束の木部と師部</a:t>
            </a:r>
          </a:p>
        </p:txBody>
      </p:sp>
      <p:sp>
        <p:nvSpPr>
          <p:cNvPr id="2" name="">
            <a:extLst xmlns:a="http://schemas.openxmlformats.org/drawingml/2006/main">
              <a:ext uri="{FF2B5EF4-FFF2-40B4-BE49-F238E27FC236}">
                <a16:creationId xmlns:a16="http://schemas.microsoft.com/office/drawing/2014/main" id="{5B30D165-89BA-4108-8EDF-B27CF5E1CBB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F2BAD1E-984F-41E2-B5E1-EE781272D879}"/>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A4F864E7-B173-41CF-9F60-F559E375C5E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93922466-B9A2-4CDB-A583-4391CA0B878E}"/>
              </a:ext>
            </a:extLst>
          </p:cNvPr>
          <p:cNvSpPr>
            <a:spLocks xmlns:a="http://schemas.openxmlformats.org/drawingml/2006/main" noGrp="1"/>
          </p:cNvSpPr>
          <p:nvPr/>
        </p:nvSpPr>
        <p:spPr>
          <a:xfrm xmlns:a="http://schemas.openxmlformats.org/drawingml/2006/main">
            <a:off x="838200" y="157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植物全体の輸送を示す模式図</a:t>
            </a:r>
          </a:p>
        </p:txBody>
      </p:sp>
      <p:sp>
        <p:nvSpPr>
          <p:cNvPr id="6" name="">
            <a:extLst xmlns:a="http://schemas.openxmlformats.org/drawingml/2006/main">
              <a:ext uri="{FF2B5EF4-FFF2-40B4-BE49-F238E27FC236}">
                <a16:creationId xmlns:a16="http://schemas.microsoft.com/office/drawing/2014/main" id="{A2A422D1-5B6A-4DE4-88F5-940F00DCFF9E}"/>
              </a:ext>
            </a:extLst>
          </p:cNvPr>
          <p:cNvSpPr>
            <a:spLocks xmlns:a="http://schemas.openxmlformats.org/drawingml/2006/main" noGrp="1"/>
          </p:cNvSpPr>
          <p:nvPr/>
        </p:nvSpPr>
        <p:spPr>
          <a:xfrm xmlns:a="http://schemas.openxmlformats.org/drawingml/2006/main">
            <a:off x="1619250" y="2381250"/>
            <a:ext cx="2667000" cy="2190750"/>
          </a:xfrm>
          <a:prstGeom xmlns:a="http://schemas.openxmlformats.org/drawingml/2006/main" prst="rect">
            <a:avLst/>
          </a:prstGeom>
          <a:solidFill xmlns:a="http://schemas.openxmlformats.org/drawingml/2006/main">
            <a:srgbClr val="E7F1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BDD217E-9DF1-49F7-A286-D863E72E2AC4}"/>
              </a:ext>
            </a:extLst>
          </p:cNvPr>
          <p:cNvSpPr>
            <a:spLocks xmlns:a="http://schemas.openxmlformats.org/drawingml/2006/main" noGrp="1"/>
          </p:cNvSpPr>
          <p:nvPr/>
        </p:nvSpPr>
        <p:spPr>
          <a:xfrm xmlns:a="http://schemas.openxmlformats.org/drawingml/2006/main">
            <a:off x="7239000" y="2381250"/>
            <a:ext cx="3238500" cy="2190750"/>
          </a:xfrm>
          <a:prstGeom xmlns:a="http://schemas.openxmlformats.org/drawingml/2006/main" prst="rect">
            <a:avLst/>
          </a:prstGeom>
          <a:solidFill xmlns:a="http://schemas.openxmlformats.org/drawingml/2006/main">
            <a:srgbClr val="E8F3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15D5216-8659-402D-ABF0-D612095A8A31}"/>
              </a:ext>
            </a:extLst>
          </p:cNvPr>
          <p:cNvSpPr>
            <a:spLocks xmlns:a="http://schemas.openxmlformats.org/drawingml/2006/main" noGrp="1"/>
          </p:cNvSpPr>
          <p:nvPr/>
        </p:nvSpPr>
        <p:spPr>
          <a:xfrm xmlns:a="http://schemas.openxmlformats.org/drawingml/2006/main">
            <a:off x="2952750" y="2619375"/>
            <a:ext cx="9525" cy="1714500"/>
          </a:xfrm>
          <a:custGeom xmlns:a="http://schemas.openxmlformats.org/drawingml/2006/main">
            <a:pathLst>
              <a:path w="9525" h="1714500">
                <a:moveTo>
                  <a:pt x="0" y="1714500"/>
                </a:moveTo>
                <a:lnTo>
                  <a:pt x="0" y="0"/>
                </a:lnTo>
              </a:path>
            </a:pathLst>
          </a:custGeom>
          <a:noFill xmlns:a="http://schemas.openxmlformats.org/drawingml/2006/main"/>
          <a:ln xmlns:a="http://schemas.openxmlformats.org/drawingml/2006/main" w="47625">
            <a:solidFill>
              <a:srgbClr val="2876A8"/>
            </a:solidFill>
          </a:ln>
        </p:spPr>
      </p:sp>
      <p:sp>
        <p:nvSpPr>
          <p:cNvPr id="9" name="">
            <a:extLst xmlns:a="http://schemas.openxmlformats.org/drawingml/2006/main">
              <a:ext uri="{FF2B5EF4-FFF2-40B4-BE49-F238E27FC236}">
                <a16:creationId xmlns:a16="http://schemas.microsoft.com/office/drawing/2014/main" id="{44272690-5ABF-40BA-B708-B5D3E46895BB}"/>
              </a:ext>
            </a:extLst>
          </p:cNvPr>
          <p:cNvSpPr>
            <a:spLocks xmlns:a="http://schemas.openxmlformats.org/drawingml/2006/main" noGrp="1"/>
          </p:cNvSpPr>
          <p:nvPr/>
        </p:nvSpPr>
        <p:spPr>
          <a:xfrm xmlns:a="http://schemas.openxmlformats.org/drawingml/2006/main">
            <a:off x="2952750" y="2619375"/>
            <a:ext cx="82198" cy="150462"/>
          </a:xfrm>
          <a:custGeom xmlns:a="http://schemas.openxmlformats.org/drawingml/2006/main">
            <a:pathLst>
              <a:path w="82198" h="150462">
                <a:moveTo>
                  <a:pt x="0" y="0"/>
                </a:moveTo>
                <a:lnTo>
                  <a:pt x="82198" y="150462"/>
                </a:lnTo>
              </a:path>
            </a:pathLst>
          </a:custGeom>
          <a:noFill xmlns:a="http://schemas.openxmlformats.org/drawingml/2006/main"/>
          <a:ln xmlns:a="http://schemas.openxmlformats.org/drawingml/2006/main" w="47625">
            <a:solidFill>
              <a:srgbClr val="2876A8"/>
            </a:solidFill>
          </a:ln>
        </p:spPr>
      </p:sp>
      <p:sp>
        <p:nvSpPr>
          <p:cNvPr id="10" name="">
            <a:extLst xmlns:a="http://schemas.openxmlformats.org/drawingml/2006/main">
              <a:ext uri="{FF2B5EF4-FFF2-40B4-BE49-F238E27FC236}">
                <a16:creationId xmlns:a16="http://schemas.microsoft.com/office/drawing/2014/main" id="{0E824CDD-F9C2-4E3B-9AF3-03DB55D2C9DD}"/>
              </a:ext>
            </a:extLst>
          </p:cNvPr>
          <p:cNvSpPr>
            <a:spLocks xmlns:a="http://schemas.openxmlformats.org/drawingml/2006/main" noGrp="1"/>
          </p:cNvSpPr>
          <p:nvPr/>
        </p:nvSpPr>
        <p:spPr>
          <a:xfrm xmlns:a="http://schemas.openxmlformats.org/drawingml/2006/main">
            <a:off x="2870552" y="2619375"/>
            <a:ext cx="82198" cy="150462"/>
          </a:xfrm>
          <a:custGeom xmlns:a="http://schemas.openxmlformats.org/drawingml/2006/main">
            <a:pathLst>
              <a:path w="82198" h="150462">
                <a:moveTo>
                  <a:pt x="82198" y="0"/>
                </a:moveTo>
                <a:lnTo>
                  <a:pt x="0" y="150462"/>
                </a:lnTo>
              </a:path>
            </a:pathLst>
          </a:custGeom>
          <a:noFill xmlns:a="http://schemas.openxmlformats.org/drawingml/2006/main"/>
          <a:ln xmlns:a="http://schemas.openxmlformats.org/drawingml/2006/main" w="47625">
            <a:solidFill>
              <a:srgbClr val="2876A8"/>
            </a:solidFill>
          </a:ln>
        </p:spPr>
      </p:sp>
      <p:sp>
        <p:nvSpPr>
          <p:cNvPr id="11" name="">
            <a:extLst xmlns:a="http://schemas.openxmlformats.org/drawingml/2006/main">
              <a:ext uri="{FF2B5EF4-FFF2-40B4-BE49-F238E27FC236}">
                <a16:creationId xmlns:a16="http://schemas.microsoft.com/office/drawing/2014/main" id="{2EEE75B1-D21D-478A-A26C-86B1C2A96E3E}"/>
              </a:ext>
            </a:extLst>
          </p:cNvPr>
          <p:cNvSpPr>
            <a:spLocks xmlns:a="http://schemas.openxmlformats.org/drawingml/2006/main" noGrp="1"/>
          </p:cNvSpPr>
          <p:nvPr/>
        </p:nvSpPr>
        <p:spPr>
          <a:xfrm xmlns:a="http://schemas.openxmlformats.org/drawingml/2006/main">
            <a:off x="8001000" y="2714625"/>
            <a:ext cx="9525" cy="1285875"/>
          </a:xfrm>
          <a:custGeom xmlns:a="http://schemas.openxmlformats.org/drawingml/2006/main">
            <a:pathLst>
              <a:path w="9525" h="1285875">
                <a:moveTo>
                  <a:pt x="0" y="1285875"/>
                </a:moveTo>
                <a:lnTo>
                  <a:pt x="0" y="0"/>
                </a:lnTo>
              </a:path>
            </a:pathLst>
          </a:custGeom>
          <a:noFill xmlns:a="http://schemas.openxmlformats.org/drawingml/2006/main"/>
          <a:ln xmlns:a="http://schemas.openxmlformats.org/drawingml/2006/main" w="47625">
            <a:solidFill>
              <a:srgbClr val="087E8B"/>
            </a:solidFill>
          </a:ln>
        </p:spPr>
      </p:sp>
      <p:sp>
        <p:nvSpPr>
          <p:cNvPr id="12" name="">
            <a:extLst xmlns:a="http://schemas.openxmlformats.org/drawingml/2006/main">
              <a:ext uri="{FF2B5EF4-FFF2-40B4-BE49-F238E27FC236}">
                <a16:creationId xmlns:a16="http://schemas.microsoft.com/office/drawing/2014/main" id="{A89EBA31-9693-483E-B84A-16316BDDE31D}"/>
              </a:ext>
            </a:extLst>
          </p:cNvPr>
          <p:cNvSpPr>
            <a:spLocks xmlns:a="http://schemas.openxmlformats.org/drawingml/2006/main" noGrp="1"/>
          </p:cNvSpPr>
          <p:nvPr/>
        </p:nvSpPr>
        <p:spPr>
          <a:xfrm xmlns:a="http://schemas.openxmlformats.org/drawingml/2006/main">
            <a:off x="8001000" y="2714625"/>
            <a:ext cx="82198" cy="150462"/>
          </a:xfrm>
          <a:custGeom xmlns:a="http://schemas.openxmlformats.org/drawingml/2006/main">
            <a:pathLst>
              <a:path w="82198" h="150462">
                <a:moveTo>
                  <a:pt x="0" y="0"/>
                </a:moveTo>
                <a:lnTo>
                  <a:pt x="82198" y="150462"/>
                </a:lnTo>
              </a:path>
            </a:pathLst>
          </a:custGeom>
          <a:noFill xmlns:a="http://schemas.openxmlformats.org/drawingml/2006/main"/>
          <a:ln xmlns:a="http://schemas.openxmlformats.org/drawingml/2006/main" w="47625">
            <a:solidFill>
              <a:srgbClr val="087E8B"/>
            </a:solidFill>
          </a:ln>
        </p:spPr>
      </p:sp>
      <p:sp>
        <p:nvSpPr>
          <p:cNvPr id="13" name="">
            <a:extLst xmlns:a="http://schemas.openxmlformats.org/drawingml/2006/main">
              <a:ext uri="{FF2B5EF4-FFF2-40B4-BE49-F238E27FC236}">
                <a16:creationId xmlns:a16="http://schemas.microsoft.com/office/drawing/2014/main" id="{AC1B9061-D1AD-4C1E-99AC-3D6F0CE5F6D4}"/>
              </a:ext>
            </a:extLst>
          </p:cNvPr>
          <p:cNvSpPr>
            <a:spLocks xmlns:a="http://schemas.openxmlformats.org/drawingml/2006/main" noGrp="1"/>
          </p:cNvSpPr>
          <p:nvPr/>
        </p:nvSpPr>
        <p:spPr>
          <a:xfrm xmlns:a="http://schemas.openxmlformats.org/drawingml/2006/main">
            <a:off x="7918802" y="2714625"/>
            <a:ext cx="82198" cy="150462"/>
          </a:xfrm>
          <a:custGeom xmlns:a="http://schemas.openxmlformats.org/drawingml/2006/main">
            <a:pathLst>
              <a:path w="82198" h="150462">
                <a:moveTo>
                  <a:pt x="82198" y="0"/>
                </a:moveTo>
                <a:lnTo>
                  <a:pt x="0" y="150462"/>
                </a:lnTo>
              </a:path>
            </a:pathLst>
          </a:custGeom>
          <a:noFill xmlns:a="http://schemas.openxmlformats.org/drawingml/2006/main"/>
          <a:ln xmlns:a="http://schemas.openxmlformats.org/drawingml/2006/main" w="47625">
            <a:solidFill>
              <a:srgbClr val="087E8B"/>
            </a:solidFill>
          </a:ln>
        </p:spPr>
      </p:sp>
      <p:sp>
        <p:nvSpPr>
          <p:cNvPr id="14" name="">
            <a:extLst xmlns:a="http://schemas.openxmlformats.org/drawingml/2006/main">
              <a:ext uri="{FF2B5EF4-FFF2-40B4-BE49-F238E27FC236}">
                <a16:creationId xmlns:a16="http://schemas.microsoft.com/office/drawing/2014/main" id="{E0BECE76-A240-4DF8-AFDF-1B42025FE162}"/>
              </a:ext>
            </a:extLst>
          </p:cNvPr>
          <p:cNvSpPr>
            <a:spLocks xmlns:a="http://schemas.openxmlformats.org/drawingml/2006/main" noGrp="1"/>
          </p:cNvSpPr>
          <p:nvPr/>
        </p:nvSpPr>
        <p:spPr>
          <a:xfrm xmlns:a="http://schemas.openxmlformats.org/drawingml/2006/main">
            <a:off x="9620250" y="2714625"/>
            <a:ext cx="9525" cy="1285875"/>
          </a:xfrm>
          <a:custGeom xmlns:a="http://schemas.openxmlformats.org/drawingml/2006/main">
            <a:pathLst>
              <a:path w="9525" h="1285875">
                <a:moveTo>
                  <a:pt x="0" y="0"/>
                </a:moveTo>
                <a:lnTo>
                  <a:pt x="0" y="1285875"/>
                </a:lnTo>
              </a:path>
            </a:pathLst>
          </a:custGeom>
          <a:noFill xmlns:a="http://schemas.openxmlformats.org/drawingml/2006/main"/>
          <a:ln xmlns:a="http://schemas.openxmlformats.org/drawingml/2006/main" w="47625">
            <a:solidFill>
              <a:srgbClr val="087E8B"/>
            </a:solidFill>
          </a:ln>
        </p:spPr>
      </p:sp>
      <p:sp>
        <p:nvSpPr>
          <p:cNvPr id="15" name="">
            <a:extLst xmlns:a="http://schemas.openxmlformats.org/drawingml/2006/main">
              <a:ext uri="{FF2B5EF4-FFF2-40B4-BE49-F238E27FC236}">
                <a16:creationId xmlns:a16="http://schemas.microsoft.com/office/drawing/2014/main" id="{E86BE30B-E7F6-451E-A13E-539B8CA45294}"/>
              </a:ext>
            </a:extLst>
          </p:cNvPr>
          <p:cNvSpPr>
            <a:spLocks xmlns:a="http://schemas.openxmlformats.org/drawingml/2006/main" noGrp="1"/>
          </p:cNvSpPr>
          <p:nvPr/>
        </p:nvSpPr>
        <p:spPr>
          <a:xfrm xmlns:a="http://schemas.openxmlformats.org/drawingml/2006/main">
            <a:off x="9538052" y="3850038"/>
            <a:ext cx="82198" cy="150462"/>
          </a:xfrm>
          <a:custGeom xmlns:a="http://schemas.openxmlformats.org/drawingml/2006/main">
            <a:pathLst>
              <a:path w="82198" h="150462">
                <a:moveTo>
                  <a:pt x="82198" y="150462"/>
                </a:moveTo>
                <a:lnTo>
                  <a:pt x="0" y="0"/>
                </a:lnTo>
              </a:path>
            </a:pathLst>
          </a:custGeom>
          <a:noFill xmlns:a="http://schemas.openxmlformats.org/drawingml/2006/main"/>
          <a:ln xmlns:a="http://schemas.openxmlformats.org/drawingml/2006/main" w="47625">
            <a:solidFill>
              <a:srgbClr val="087E8B"/>
            </a:solidFill>
          </a:ln>
        </p:spPr>
      </p:sp>
      <p:sp>
        <p:nvSpPr>
          <p:cNvPr id="16" name="">
            <a:extLst xmlns:a="http://schemas.openxmlformats.org/drawingml/2006/main">
              <a:ext uri="{FF2B5EF4-FFF2-40B4-BE49-F238E27FC236}">
                <a16:creationId xmlns:a16="http://schemas.microsoft.com/office/drawing/2014/main" id="{09B1668C-2DA9-48DE-AFFA-DAC28087DDC3}"/>
              </a:ext>
            </a:extLst>
          </p:cNvPr>
          <p:cNvSpPr>
            <a:spLocks xmlns:a="http://schemas.openxmlformats.org/drawingml/2006/main" noGrp="1"/>
          </p:cNvSpPr>
          <p:nvPr/>
        </p:nvSpPr>
        <p:spPr>
          <a:xfrm xmlns:a="http://schemas.openxmlformats.org/drawingml/2006/main">
            <a:off x="9620250" y="3850038"/>
            <a:ext cx="82198" cy="150462"/>
          </a:xfrm>
          <a:custGeom xmlns:a="http://schemas.openxmlformats.org/drawingml/2006/main">
            <a:pathLst>
              <a:path w="82198" h="150462">
                <a:moveTo>
                  <a:pt x="0" y="150462"/>
                </a:moveTo>
                <a:lnTo>
                  <a:pt x="82198" y="0"/>
                </a:lnTo>
              </a:path>
            </a:pathLst>
          </a:custGeom>
          <a:noFill xmlns:a="http://schemas.openxmlformats.org/drawingml/2006/main"/>
          <a:ln xmlns:a="http://schemas.openxmlformats.org/drawingml/2006/main" w="47625">
            <a:solidFill>
              <a:srgbClr val="087E8B"/>
            </a:solidFill>
          </a:ln>
        </p:spPr>
      </p:sp>
      <p:sp>
        <p:nvSpPr>
          <p:cNvPr id="17" name="">
            <a:extLst xmlns:a="http://schemas.openxmlformats.org/drawingml/2006/main">
              <a:ext uri="{FF2B5EF4-FFF2-40B4-BE49-F238E27FC236}">
                <a16:creationId xmlns:a16="http://schemas.microsoft.com/office/drawing/2014/main" id="{00EFEF9A-CD14-49CE-B72D-28F2E1FA6186}"/>
              </a:ext>
            </a:extLst>
          </p:cNvPr>
          <p:cNvSpPr>
            <a:spLocks xmlns:a="http://schemas.openxmlformats.org/drawingml/2006/main" noGrp="1"/>
          </p:cNvSpPr>
          <p:nvPr/>
        </p:nvSpPr>
        <p:spPr>
          <a:xfrm xmlns:a="http://schemas.openxmlformats.org/drawingml/2006/main">
            <a:off x="2238375" y="46672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876A8"/>
                </a:solidFill>
                <a:latin typeface="Yu Gothic"/>
                <a:ea typeface="Yu Gothic"/>
                <a:cs typeface="Yu Gothic"/>
              </a:defRPr>
            </a:defPPr>
            <a:lvl1pPr>
              <a:defRPr sz="2400" b="0">
                <a:solidFill>
                  <a:srgbClr val="2876A8"/>
                </a:solidFill>
                <a:latin typeface="Yu Gothic"/>
                <a:ea typeface="Yu Gothic"/>
                <a:cs typeface="Yu Gothic"/>
              </a:defRPr>
            </a:lvl1pPr>
            <a:lvl2pPr>
              <a:defRPr sz="2400" b="0">
                <a:solidFill>
                  <a:srgbClr val="2876A8"/>
                </a:solidFill>
                <a:latin typeface="Yu Gothic"/>
                <a:ea typeface="Yu Gothic"/>
                <a:cs typeface="Yu Gothic"/>
              </a:defRPr>
            </a:lvl2pPr>
            <a:lvl3pPr>
              <a:defRPr sz="2400" b="0">
                <a:solidFill>
                  <a:srgbClr val="2876A8"/>
                </a:solidFill>
                <a:latin typeface="Yu Gothic"/>
                <a:ea typeface="Yu Gothic"/>
                <a:cs typeface="Yu Gothic"/>
              </a:defRPr>
            </a:lvl3pPr>
            <a:lvl4pPr>
              <a:defRPr sz="2400" b="0">
                <a:solidFill>
                  <a:srgbClr val="2876A8"/>
                </a:solidFill>
                <a:latin typeface="Yu Gothic"/>
                <a:ea typeface="Yu Gothic"/>
                <a:cs typeface="Yu Gothic"/>
              </a:defRPr>
            </a:lvl4pPr>
            <a:lvl5pPr>
              <a:defRPr sz="2400" b="0">
                <a:solidFill>
                  <a:srgbClr val="2876A8"/>
                </a:solidFill>
                <a:latin typeface="Yu Gothic"/>
                <a:ea typeface="Yu Gothic"/>
                <a:cs typeface="Yu Gothic"/>
              </a:defRPr>
            </a:lvl5pPr>
            <a:lvl6pPr>
              <a:defRPr sz="2400" b="0">
                <a:solidFill>
                  <a:srgbClr val="2876A8"/>
                </a:solidFill>
                <a:latin typeface="Yu Gothic"/>
                <a:ea typeface="Yu Gothic"/>
                <a:cs typeface="Yu Gothic"/>
              </a:defRPr>
            </a:lvl6pPr>
            <a:lvl7pPr>
              <a:defRPr sz="2400" b="0">
                <a:solidFill>
                  <a:srgbClr val="2876A8"/>
                </a:solidFill>
                <a:latin typeface="Yu Gothic"/>
                <a:ea typeface="Yu Gothic"/>
                <a:cs typeface="Yu Gothic"/>
              </a:defRPr>
            </a:lvl7pPr>
            <a:lvl8pPr>
              <a:defRPr sz="2400" b="0">
                <a:solidFill>
                  <a:srgbClr val="2876A8"/>
                </a:solidFill>
                <a:latin typeface="Yu Gothic"/>
                <a:ea typeface="Yu Gothic"/>
                <a:cs typeface="Yu Gothic"/>
              </a:defRPr>
            </a:lvl8pPr>
            <a:lvl9pPr>
              <a:defRPr sz="2400" b="0">
                <a:solidFill>
                  <a:srgbClr val="2876A8"/>
                </a:solidFill>
                <a:latin typeface="Yu Gothic"/>
                <a:ea typeface="Yu Gothic"/>
                <a:cs typeface="Yu Gothic"/>
              </a:defRPr>
            </a:lvl9pPr>
          </a:lstStyle>
          <a:p xmlns:a="http://schemas.openxmlformats.org/drawingml/2006/main">
            <a:pPr>
              <a:defRPr sz="2400" b="0">
                <a:solidFill>
                  <a:srgbClr val="2876A8"/>
                </a:solidFill>
                <a:latin typeface="Yu Gothic"/>
                <a:ea typeface="Yu Gothic"/>
                <a:cs typeface="Yu Gothic"/>
              </a:defRPr>
            </a:pPr>
            <a:r>
              <a:rPr sz="2400" b="0">
                <a:solidFill>
                  <a:srgbClr val="2876A8"/>
                </a:solidFill>
                <a:latin typeface="Yu Gothic"/>
                <a:ea typeface="Yu Gothic"/>
                <a:cs typeface="Yu Gothic"/>
              </a:rPr>
              <a:t>木部</a:t>
            </a:r>
          </a:p>
        </p:txBody>
      </p:sp>
      <p:sp>
        <p:nvSpPr>
          <p:cNvPr id="18" name="">
            <a:extLst xmlns:a="http://schemas.openxmlformats.org/drawingml/2006/main">
              <a:ext uri="{FF2B5EF4-FFF2-40B4-BE49-F238E27FC236}">
                <a16:creationId xmlns:a16="http://schemas.microsoft.com/office/drawing/2014/main" id="{7701CC0D-9A52-46C1-9E30-02636B353D4D}"/>
              </a:ext>
            </a:extLst>
          </p:cNvPr>
          <p:cNvSpPr>
            <a:spLocks xmlns:a="http://schemas.openxmlformats.org/drawingml/2006/main" noGrp="1"/>
          </p:cNvSpPr>
          <p:nvPr/>
        </p:nvSpPr>
        <p:spPr>
          <a:xfrm xmlns:a="http://schemas.openxmlformats.org/drawingml/2006/main">
            <a:off x="8334375" y="466725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087E8B"/>
                </a:solidFill>
                <a:latin typeface="Yu Gothic"/>
                <a:ea typeface="Yu Gothic"/>
                <a:cs typeface="Yu Gothic"/>
              </a:defRPr>
            </a:defPPr>
            <a:lvl1pPr>
              <a:defRPr sz="2400" b="0">
                <a:solidFill>
                  <a:srgbClr val="087E8B"/>
                </a:solidFill>
                <a:latin typeface="Yu Gothic"/>
                <a:ea typeface="Yu Gothic"/>
                <a:cs typeface="Yu Gothic"/>
              </a:defRPr>
            </a:lvl1pPr>
            <a:lvl2pPr>
              <a:defRPr sz="2400" b="0">
                <a:solidFill>
                  <a:srgbClr val="087E8B"/>
                </a:solidFill>
                <a:latin typeface="Yu Gothic"/>
                <a:ea typeface="Yu Gothic"/>
                <a:cs typeface="Yu Gothic"/>
              </a:defRPr>
            </a:lvl2pPr>
            <a:lvl3pPr>
              <a:defRPr sz="2400" b="0">
                <a:solidFill>
                  <a:srgbClr val="087E8B"/>
                </a:solidFill>
                <a:latin typeface="Yu Gothic"/>
                <a:ea typeface="Yu Gothic"/>
                <a:cs typeface="Yu Gothic"/>
              </a:defRPr>
            </a:lvl3pPr>
            <a:lvl4pPr>
              <a:defRPr sz="2400" b="0">
                <a:solidFill>
                  <a:srgbClr val="087E8B"/>
                </a:solidFill>
                <a:latin typeface="Yu Gothic"/>
                <a:ea typeface="Yu Gothic"/>
                <a:cs typeface="Yu Gothic"/>
              </a:defRPr>
            </a:lvl4pPr>
            <a:lvl5pPr>
              <a:defRPr sz="2400" b="0">
                <a:solidFill>
                  <a:srgbClr val="087E8B"/>
                </a:solidFill>
                <a:latin typeface="Yu Gothic"/>
                <a:ea typeface="Yu Gothic"/>
                <a:cs typeface="Yu Gothic"/>
              </a:defRPr>
            </a:lvl5pPr>
            <a:lvl6pPr>
              <a:defRPr sz="2400" b="0">
                <a:solidFill>
                  <a:srgbClr val="087E8B"/>
                </a:solidFill>
                <a:latin typeface="Yu Gothic"/>
                <a:ea typeface="Yu Gothic"/>
                <a:cs typeface="Yu Gothic"/>
              </a:defRPr>
            </a:lvl6pPr>
            <a:lvl7pPr>
              <a:defRPr sz="2400" b="0">
                <a:solidFill>
                  <a:srgbClr val="087E8B"/>
                </a:solidFill>
                <a:latin typeface="Yu Gothic"/>
                <a:ea typeface="Yu Gothic"/>
                <a:cs typeface="Yu Gothic"/>
              </a:defRPr>
            </a:lvl7pPr>
            <a:lvl8pPr>
              <a:defRPr sz="2400" b="0">
                <a:solidFill>
                  <a:srgbClr val="087E8B"/>
                </a:solidFill>
                <a:latin typeface="Yu Gothic"/>
                <a:ea typeface="Yu Gothic"/>
                <a:cs typeface="Yu Gothic"/>
              </a:defRPr>
            </a:lvl8pPr>
            <a:lvl9pPr>
              <a:defRPr sz="2400" b="0">
                <a:solidFill>
                  <a:srgbClr val="087E8B"/>
                </a:solidFill>
                <a:latin typeface="Yu Gothic"/>
                <a:ea typeface="Yu Gothic"/>
                <a:cs typeface="Yu Gothic"/>
              </a:defRPr>
            </a:lvl9pPr>
          </a:lstStyle>
          <a:p xmlns:a="http://schemas.openxmlformats.org/drawingml/2006/main">
            <a:pPr>
              <a:defRPr sz="2400" b="0">
                <a:solidFill>
                  <a:srgbClr val="087E8B"/>
                </a:solidFill>
                <a:latin typeface="Yu Gothic"/>
                <a:ea typeface="Yu Gothic"/>
                <a:cs typeface="Yu Gothic"/>
              </a:defRPr>
            </a:pPr>
            <a:r>
              <a:rPr sz="2400" b="0">
                <a:solidFill>
                  <a:srgbClr val="087E8B"/>
                </a:solidFill>
                <a:latin typeface="Yu Gothic"/>
                <a:ea typeface="Yu Gothic"/>
                <a:cs typeface="Yu Gothic"/>
              </a:rPr>
              <a:t>師部</a:t>
            </a:r>
          </a:p>
        </p:txBody>
      </p:sp>
      <p:sp>
        <p:nvSpPr>
          <p:cNvPr id="19" name="">
            <a:extLst xmlns:a="http://schemas.openxmlformats.org/drawingml/2006/main">
              <a:ext uri="{FF2B5EF4-FFF2-40B4-BE49-F238E27FC236}">
                <a16:creationId xmlns:a16="http://schemas.microsoft.com/office/drawing/2014/main" id="{4C95AC22-22C6-4162-A8A4-97E9D6FFA8B0}"/>
              </a:ext>
            </a:extLst>
          </p:cNvPr>
          <p:cNvSpPr>
            <a:spLocks xmlns:a="http://schemas.openxmlformats.org/drawingml/2006/main" noGrp="1"/>
          </p:cNvSpPr>
          <p:nvPr/>
        </p:nvSpPr>
        <p:spPr>
          <a:xfrm xmlns:a="http://schemas.openxmlformats.org/drawingml/2006/main">
            <a:off x="952500" y="523875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876A8"/>
                </a:solidFill>
                <a:latin typeface="Yu Gothic"/>
                <a:ea typeface="Yu Gothic"/>
                <a:cs typeface="Yu Gothic"/>
              </a:defRPr>
            </a:defPPr>
            <a:lvl1pPr>
              <a:defRPr sz="2025" b="0">
                <a:solidFill>
                  <a:srgbClr val="2876A8"/>
                </a:solidFill>
                <a:latin typeface="Yu Gothic"/>
                <a:ea typeface="Yu Gothic"/>
                <a:cs typeface="Yu Gothic"/>
              </a:defRPr>
            </a:lvl1pPr>
            <a:lvl2pPr>
              <a:defRPr sz="2025" b="0">
                <a:solidFill>
                  <a:srgbClr val="2876A8"/>
                </a:solidFill>
                <a:latin typeface="Yu Gothic"/>
                <a:ea typeface="Yu Gothic"/>
                <a:cs typeface="Yu Gothic"/>
              </a:defRPr>
            </a:lvl2pPr>
            <a:lvl3pPr>
              <a:defRPr sz="2025" b="0">
                <a:solidFill>
                  <a:srgbClr val="2876A8"/>
                </a:solidFill>
                <a:latin typeface="Yu Gothic"/>
                <a:ea typeface="Yu Gothic"/>
                <a:cs typeface="Yu Gothic"/>
              </a:defRPr>
            </a:lvl3pPr>
            <a:lvl4pPr>
              <a:defRPr sz="2025" b="0">
                <a:solidFill>
                  <a:srgbClr val="2876A8"/>
                </a:solidFill>
                <a:latin typeface="Yu Gothic"/>
                <a:ea typeface="Yu Gothic"/>
                <a:cs typeface="Yu Gothic"/>
              </a:defRPr>
            </a:lvl4pPr>
            <a:lvl5pPr>
              <a:defRPr sz="2025" b="0">
                <a:solidFill>
                  <a:srgbClr val="2876A8"/>
                </a:solidFill>
                <a:latin typeface="Yu Gothic"/>
                <a:ea typeface="Yu Gothic"/>
                <a:cs typeface="Yu Gothic"/>
              </a:defRPr>
            </a:lvl5pPr>
            <a:lvl6pPr>
              <a:defRPr sz="2025" b="0">
                <a:solidFill>
                  <a:srgbClr val="2876A8"/>
                </a:solidFill>
                <a:latin typeface="Yu Gothic"/>
                <a:ea typeface="Yu Gothic"/>
                <a:cs typeface="Yu Gothic"/>
              </a:defRPr>
            </a:lvl6pPr>
            <a:lvl7pPr>
              <a:defRPr sz="2025" b="0">
                <a:solidFill>
                  <a:srgbClr val="2876A8"/>
                </a:solidFill>
                <a:latin typeface="Yu Gothic"/>
                <a:ea typeface="Yu Gothic"/>
                <a:cs typeface="Yu Gothic"/>
              </a:defRPr>
            </a:lvl7pPr>
            <a:lvl8pPr>
              <a:defRPr sz="2025" b="0">
                <a:solidFill>
                  <a:srgbClr val="2876A8"/>
                </a:solidFill>
                <a:latin typeface="Yu Gothic"/>
                <a:ea typeface="Yu Gothic"/>
                <a:cs typeface="Yu Gothic"/>
              </a:defRPr>
            </a:lvl8pPr>
            <a:lvl9pPr>
              <a:defRPr sz="2025" b="0">
                <a:solidFill>
                  <a:srgbClr val="2876A8"/>
                </a:solidFill>
                <a:latin typeface="Yu Gothic"/>
                <a:ea typeface="Yu Gothic"/>
                <a:cs typeface="Yu Gothic"/>
              </a:defRPr>
            </a:lvl9pPr>
          </a:lstStyle>
          <a:p xmlns:a="http://schemas.openxmlformats.org/drawingml/2006/main">
            <a:pPr>
              <a:defRPr sz="2025" b="0">
                <a:solidFill>
                  <a:srgbClr val="2876A8"/>
                </a:solidFill>
                <a:latin typeface="Yu Gothic"/>
                <a:ea typeface="Yu Gothic"/>
                <a:cs typeface="Yu Gothic"/>
              </a:defRPr>
            </a:pPr>
            <a:r>
              <a:rPr sz="2025" b="0">
                <a:solidFill>
                  <a:srgbClr val="2876A8"/>
                </a:solidFill>
                <a:latin typeface="Yu Gothic"/>
                <a:ea typeface="Yu Gothic"/>
                <a:cs typeface="Yu Gothic"/>
              </a:rPr>
              <a:t>水・無機養分</a:t>
            </a:r>
          </a:p>
        </p:txBody>
      </p:sp>
      <p:sp>
        <p:nvSpPr>
          <p:cNvPr id="20" name="">
            <a:extLst xmlns:a="http://schemas.openxmlformats.org/drawingml/2006/main">
              <a:ext uri="{FF2B5EF4-FFF2-40B4-BE49-F238E27FC236}">
                <a16:creationId xmlns:a16="http://schemas.microsoft.com/office/drawing/2014/main" id="{8212D9FD-3F98-4D3E-9C91-1B368C27061D}"/>
              </a:ext>
            </a:extLst>
          </p:cNvPr>
          <p:cNvSpPr>
            <a:spLocks xmlns:a="http://schemas.openxmlformats.org/drawingml/2006/main" noGrp="1"/>
          </p:cNvSpPr>
          <p:nvPr/>
        </p:nvSpPr>
        <p:spPr>
          <a:xfrm xmlns:a="http://schemas.openxmlformats.org/drawingml/2006/main">
            <a:off x="6191250" y="523875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087E8B"/>
                </a:solidFill>
                <a:latin typeface="Yu Gothic"/>
                <a:ea typeface="Yu Gothic"/>
                <a:cs typeface="Yu Gothic"/>
              </a:defRPr>
            </a:defPPr>
            <a:lvl1pPr>
              <a:defRPr sz="1875" b="0">
                <a:solidFill>
                  <a:srgbClr val="087E8B"/>
                </a:solidFill>
                <a:latin typeface="Yu Gothic"/>
                <a:ea typeface="Yu Gothic"/>
                <a:cs typeface="Yu Gothic"/>
              </a:defRPr>
            </a:lvl1pPr>
            <a:lvl2pPr>
              <a:defRPr sz="1875" b="0">
                <a:solidFill>
                  <a:srgbClr val="087E8B"/>
                </a:solidFill>
                <a:latin typeface="Yu Gothic"/>
                <a:ea typeface="Yu Gothic"/>
                <a:cs typeface="Yu Gothic"/>
              </a:defRPr>
            </a:lvl2pPr>
            <a:lvl3pPr>
              <a:defRPr sz="1875" b="0">
                <a:solidFill>
                  <a:srgbClr val="087E8B"/>
                </a:solidFill>
                <a:latin typeface="Yu Gothic"/>
                <a:ea typeface="Yu Gothic"/>
                <a:cs typeface="Yu Gothic"/>
              </a:defRPr>
            </a:lvl3pPr>
            <a:lvl4pPr>
              <a:defRPr sz="1875" b="0">
                <a:solidFill>
                  <a:srgbClr val="087E8B"/>
                </a:solidFill>
                <a:latin typeface="Yu Gothic"/>
                <a:ea typeface="Yu Gothic"/>
                <a:cs typeface="Yu Gothic"/>
              </a:defRPr>
            </a:lvl4pPr>
            <a:lvl5pPr>
              <a:defRPr sz="1875" b="0">
                <a:solidFill>
                  <a:srgbClr val="087E8B"/>
                </a:solidFill>
                <a:latin typeface="Yu Gothic"/>
                <a:ea typeface="Yu Gothic"/>
                <a:cs typeface="Yu Gothic"/>
              </a:defRPr>
            </a:lvl5pPr>
            <a:lvl6pPr>
              <a:defRPr sz="1875" b="0">
                <a:solidFill>
                  <a:srgbClr val="087E8B"/>
                </a:solidFill>
                <a:latin typeface="Yu Gothic"/>
                <a:ea typeface="Yu Gothic"/>
                <a:cs typeface="Yu Gothic"/>
              </a:defRPr>
            </a:lvl6pPr>
            <a:lvl7pPr>
              <a:defRPr sz="1875" b="0">
                <a:solidFill>
                  <a:srgbClr val="087E8B"/>
                </a:solidFill>
                <a:latin typeface="Yu Gothic"/>
                <a:ea typeface="Yu Gothic"/>
                <a:cs typeface="Yu Gothic"/>
              </a:defRPr>
            </a:lvl7pPr>
            <a:lvl8pPr>
              <a:defRPr sz="1875" b="0">
                <a:solidFill>
                  <a:srgbClr val="087E8B"/>
                </a:solidFill>
                <a:latin typeface="Yu Gothic"/>
                <a:ea typeface="Yu Gothic"/>
                <a:cs typeface="Yu Gothic"/>
              </a:defRPr>
            </a:lvl8pPr>
            <a:lvl9pPr>
              <a:defRPr sz="1875" b="0">
                <a:solidFill>
                  <a:srgbClr val="087E8B"/>
                </a:solidFill>
                <a:latin typeface="Yu Gothic"/>
                <a:ea typeface="Yu Gothic"/>
                <a:cs typeface="Yu Gothic"/>
              </a:defRPr>
            </a:lvl9pPr>
          </a:lstStyle>
          <a:p xmlns:a="http://schemas.openxmlformats.org/drawingml/2006/main">
            <a:pPr>
              <a:defRPr sz="1875" b="0">
                <a:solidFill>
                  <a:srgbClr val="087E8B"/>
                </a:solidFill>
                <a:latin typeface="Yu Gothic"/>
                <a:ea typeface="Yu Gothic"/>
                <a:cs typeface="Yu Gothic"/>
              </a:defRPr>
            </a:pPr>
            <a:r>
              <a:rPr sz="1875" b="0">
                <a:solidFill>
                  <a:srgbClr val="087E8B"/>
                </a:solidFill>
                <a:latin typeface="Yu Gothic"/>
                <a:ea typeface="Yu Gothic"/>
                <a:cs typeface="Yu Gothic"/>
              </a:rPr>
              <a:t>供給する部位と利用・貯蔵する部位</a:t>
            </a:r>
          </a:p>
        </p:txBody>
      </p:sp>
      <p:sp>
        <p:nvSpPr>
          <p:cNvPr id="21" name="">
            <a:extLst xmlns:a="http://schemas.openxmlformats.org/drawingml/2006/main">
              <a:ext uri="{FF2B5EF4-FFF2-40B4-BE49-F238E27FC236}">
                <a16:creationId xmlns:a16="http://schemas.microsoft.com/office/drawing/2014/main" id="{F47259B8-5E76-4868-A912-3F1F76AA530C}"/>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出典：[3]　末尾の参照資料へ</a:t>
            </a:r>
          </a:p>
        </p:txBody>
      </p:sp>
    </p:spTree>
    <p:extLst>
      <p:ext uri="{BB962C8B-B14F-4D97-AF65-F5344CB8AC3E}">
        <p14:creationId xmlns:p14="http://schemas.microsoft.com/office/powerpoint/2010/main" val="196712032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E27B3A-E3E2-46C9-AC92-EC959F6DBA8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植物の進化を一列の階段にしない</a:t>
            </a:r>
          </a:p>
        </p:txBody>
      </p:sp>
      <p:sp>
        <p:nvSpPr>
          <p:cNvPr id="2" name="">
            <a:extLst xmlns:a="http://schemas.openxmlformats.org/drawingml/2006/main">
              <a:ext uri="{FF2B5EF4-FFF2-40B4-BE49-F238E27FC236}">
                <a16:creationId xmlns:a16="http://schemas.microsoft.com/office/drawing/2014/main" id="{394870ED-4C04-4CCD-8552-412418185388}"/>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B342E7C-4C7D-4167-B0DC-3A83A03FAFD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05E97CF6-9D78-42E5-9B07-4BAA87F2DFC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11</a:t>
            </a:r>
          </a:p>
        </p:txBody>
      </p:sp>
      <p:sp>
        <p:nvSpPr>
          <p:cNvPr id="5" name="">
            <a:extLst xmlns:a="http://schemas.openxmlformats.org/drawingml/2006/main">
              <a:ext uri="{FF2B5EF4-FFF2-40B4-BE49-F238E27FC236}">
                <a16:creationId xmlns:a16="http://schemas.microsoft.com/office/drawing/2014/main" id="{9356DD3B-2D8F-4D90-A266-C133D52A33DE}"/>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現生のコケを現生のシダの直接祖先としない</a:t>
            </a:r>
          </a:p>
        </p:txBody>
      </p:sp>
      <p:sp>
        <p:nvSpPr>
          <p:cNvPr id="6" name="">
            <a:extLst xmlns:a="http://schemas.openxmlformats.org/drawingml/2006/main">
              <a:ext uri="{FF2B5EF4-FFF2-40B4-BE49-F238E27FC236}">
                <a16:creationId xmlns:a16="http://schemas.microsoft.com/office/drawing/2014/main" id="{D1C12071-7CEC-443E-B485-09EC9FEEC533}"/>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初期の陸上植物と、維管束植物の展開を区別する</a:t>
            </a:r>
          </a:p>
        </p:txBody>
      </p:sp>
      <p:sp>
        <p:nvSpPr>
          <p:cNvPr id="7" name="">
            <a:extLst xmlns:a="http://schemas.openxmlformats.org/drawingml/2006/main">
              <a:ext uri="{FF2B5EF4-FFF2-40B4-BE49-F238E27FC236}">
                <a16:creationId xmlns:a16="http://schemas.microsoft.com/office/drawing/2014/main" id="{20E61F76-915A-4452-9C11-E69ECA7730FF}"/>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木材をつくることは、すべての維管束植物に共通しない</a:t>
            </a:r>
          </a:p>
        </p:txBody>
      </p:sp>
      <p:sp>
        <p:nvSpPr>
          <p:cNvPr id="8" name="">
            <a:extLst xmlns:a="http://schemas.openxmlformats.org/drawingml/2006/main">
              <a:ext uri="{FF2B5EF4-FFF2-40B4-BE49-F238E27FC236}">
                <a16:creationId xmlns:a16="http://schemas.microsoft.com/office/drawing/2014/main" id="{5A9032C6-82BF-43C4-879F-011465914E56}"/>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出典：[3] [4]　末尾の参照資料へ</a:t>
            </a:r>
          </a:p>
        </p:txBody>
      </p:sp>
    </p:spTree>
    <p:extLst>
      <p:ext uri="{BB962C8B-B14F-4D97-AF65-F5344CB8AC3E}">
        <p14:creationId xmlns:p14="http://schemas.microsoft.com/office/powerpoint/2010/main" val="180040579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F7A065-1242-4120-8530-E1D209F8093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高くなる利点と、体を保つ制約</a:t>
            </a:r>
          </a:p>
        </p:txBody>
      </p:sp>
      <p:sp>
        <p:nvSpPr>
          <p:cNvPr id="2" name="">
            <a:extLst xmlns:a="http://schemas.openxmlformats.org/drawingml/2006/main">
              <a:ext uri="{FF2B5EF4-FFF2-40B4-BE49-F238E27FC236}">
                <a16:creationId xmlns:a16="http://schemas.microsoft.com/office/drawing/2014/main" id="{784A8A06-9A1B-44A8-B6F5-CBB47CC2184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5D7C543-5018-42EF-8550-0EE055E00D1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5C129E91-62C6-4207-8DA2-AD726F104A8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12</a:t>
            </a:r>
          </a:p>
        </p:txBody>
      </p:sp>
      <p:sp>
        <p:nvSpPr>
          <p:cNvPr id="5" name="">
            <a:extLst xmlns:a="http://schemas.openxmlformats.org/drawingml/2006/main">
              <a:ext uri="{FF2B5EF4-FFF2-40B4-BE49-F238E27FC236}">
                <a16:creationId xmlns:a16="http://schemas.microsoft.com/office/drawing/2014/main" id="{55C3BA61-0665-4CA0-9FB0-98825776A97C}"/>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葉を高い位置に置くことの利点</a:t>
            </a:r>
          </a:p>
        </p:txBody>
      </p:sp>
      <p:sp>
        <p:nvSpPr>
          <p:cNvPr id="6" name="">
            <a:extLst xmlns:a="http://schemas.openxmlformats.org/drawingml/2006/main">
              <a:ext uri="{FF2B5EF4-FFF2-40B4-BE49-F238E27FC236}">
                <a16:creationId xmlns:a16="http://schemas.microsoft.com/office/drawing/2014/main" id="{1B99A381-F111-4E16-8C88-0E9382981C85}"/>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自重と外力を支える必要</a:t>
            </a:r>
          </a:p>
        </p:txBody>
      </p:sp>
      <p:sp>
        <p:nvSpPr>
          <p:cNvPr id="7" name="">
            <a:extLst xmlns:a="http://schemas.openxmlformats.org/drawingml/2006/main">
              <a:ext uri="{FF2B5EF4-FFF2-40B4-BE49-F238E27FC236}">
                <a16:creationId xmlns:a16="http://schemas.microsoft.com/office/drawing/2014/main" id="{04A31DDE-9A1E-4B6F-9EE8-FB205EA41A3A}"/>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高い位置まで水を運ぶ必要</a:t>
            </a:r>
          </a:p>
        </p:txBody>
      </p:sp>
      <p:sp>
        <p:nvSpPr>
          <p:cNvPr id="8" name="">
            <a:extLst xmlns:a="http://schemas.openxmlformats.org/drawingml/2006/main">
              <a:ext uri="{FF2B5EF4-FFF2-40B4-BE49-F238E27FC236}">
                <a16:creationId xmlns:a16="http://schemas.microsoft.com/office/drawing/2014/main" id="{D8CC2A66-2CDE-4A4B-8A65-DA0A451B4E61}"/>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出典：[4]　末尾の参照資料へ</a:t>
            </a:r>
          </a:p>
        </p:txBody>
      </p:sp>
    </p:spTree>
    <p:extLst>
      <p:ext uri="{BB962C8B-B14F-4D97-AF65-F5344CB8AC3E}">
        <p14:creationId xmlns:p14="http://schemas.microsoft.com/office/powerpoint/2010/main" val="128884522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4FB4B08-F379-483C-8238-0F81F1DAC300}"/>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木部と木材の位置付け</a:t>
            </a:r>
          </a:p>
        </p:txBody>
      </p:sp>
      <p:sp>
        <p:nvSpPr>
          <p:cNvPr id="2" name="">
            <a:extLst xmlns:a="http://schemas.openxmlformats.org/drawingml/2006/main">
              <a:ext uri="{FF2B5EF4-FFF2-40B4-BE49-F238E27FC236}">
                <a16:creationId xmlns:a16="http://schemas.microsoft.com/office/drawing/2014/main" id="{07145F05-2A06-4EF1-B95F-A5DE981A7F1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CEF0792-369B-4C4A-A725-608E7B2A9EA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466A0F5F-893A-427D-829A-D2BD60FFA06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sp>
        <p:nvSpPr>
          <p:cNvPr id="5" name="">
            <a:extLst xmlns:a="http://schemas.openxmlformats.org/drawingml/2006/main">
              <a:ext uri="{FF2B5EF4-FFF2-40B4-BE49-F238E27FC236}">
                <a16:creationId xmlns:a16="http://schemas.microsoft.com/office/drawing/2014/main" id="{B5F28B81-CB40-4B83-B6DE-A53616C78C74}"/>
              </a:ext>
            </a:extLst>
          </p:cNvPr>
          <p:cNvSpPr>
            <a:spLocks xmlns:a="http://schemas.openxmlformats.org/drawingml/2006/main" noGrp="1"/>
          </p:cNvSpPr>
          <p:nvPr/>
        </p:nvSpPr>
        <p:spPr>
          <a:xfrm xmlns:a="http://schemas.openxmlformats.org/drawingml/2006/main">
            <a:off x="857250" y="2762250"/>
            <a:ext cx="3333750" cy="1619250"/>
          </a:xfrm>
          <a:prstGeom xmlns:a="http://schemas.openxmlformats.org/drawingml/2006/main" prst="rect">
            <a:avLst/>
          </a:prstGeom>
          <a:solidFill xmlns:a="http://schemas.openxmlformats.org/drawingml/2006/main">
            <a:srgbClr val="D7B7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0561276-4CB5-45B1-A9BF-16C116EBBF0F}"/>
              </a:ext>
            </a:extLst>
          </p:cNvPr>
          <p:cNvSpPr>
            <a:spLocks xmlns:a="http://schemas.openxmlformats.org/drawingml/2006/main" noGrp="1"/>
          </p:cNvSpPr>
          <p:nvPr/>
        </p:nvSpPr>
        <p:spPr>
          <a:xfrm xmlns:a="http://schemas.openxmlformats.org/drawingml/2006/main">
            <a:off x="952500" y="3190875"/>
            <a:ext cx="314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既存の木部</a:t>
            </a:r>
          </a:p>
        </p:txBody>
      </p:sp>
      <p:sp>
        <p:nvSpPr>
          <p:cNvPr id="7" name="">
            <a:extLst xmlns:a="http://schemas.openxmlformats.org/drawingml/2006/main">
              <a:ext uri="{FF2B5EF4-FFF2-40B4-BE49-F238E27FC236}">
                <a16:creationId xmlns:a16="http://schemas.microsoft.com/office/drawing/2014/main" id="{AE7EC75B-3486-4AFC-A96E-ADC0CF2E1E2F}"/>
              </a:ext>
            </a:extLst>
          </p:cNvPr>
          <p:cNvSpPr>
            <a:spLocks xmlns:a="http://schemas.openxmlformats.org/drawingml/2006/main" noGrp="1"/>
          </p:cNvSpPr>
          <p:nvPr/>
        </p:nvSpPr>
        <p:spPr>
          <a:xfrm xmlns:a="http://schemas.openxmlformats.org/drawingml/2006/main">
            <a:off x="4191000" y="2762250"/>
            <a:ext cx="2667000" cy="1619250"/>
          </a:xfrm>
          <a:prstGeom xmlns:a="http://schemas.openxmlformats.org/drawingml/2006/main" prst="rect">
            <a:avLst/>
          </a:prstGeom>
          <a:solidFill xmlns:a="http://schemas.openxmlformats.org/drawingml/2006/main">
            <a:srgbClr val="E9D6B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32AFEF6-3058-46F9-A8C5-8409F537A797}"/>
              </a:ext>
            </a:extLst>
          </p:cNvPr>
          <p:cNvSpPr>
            <a:spLocks xmlns:a="http://schemas.openxmlformats.org/drawingml/2006/main" noGrp="1"/>
          </p:cNvSpPr>
          <p:nvPr/>
        </p:nvSpPr>
        <p:spPr>
          <a:xfrm xmlns:a="http://schemas.openxmlformats.org/drawingml/2006/main">
            <a:off x="4286250" y="31908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新しい木部</a:t>
            </a:r>
          </a:p>
        </p:txBody>
      </p:sp>
      <p:sp>
        <p:nvSpPr>
          <p:cNvPr id="9" name="">
            <a:extLst xmlns:a="http://schemas.openxmlformats.org/drawingml/2006/main">
              <a:ext uri="{FF2B5EF4-FFF2-40B4-BE49-F238E27FC236}">
                <a16:creationId xmlns:a16="http://schemas.microsoft.com/office/drawing/2014/main" id="{ED21F8AA-1FB1-4BD5-AC75-C1C806DF3054}"/>
              </a:ext>
            </a:extLst>
          </p:cNvPr>
          <p:cNvSpPr>
            <a:spLocks xmlns:a="http://schemas.openxmlformats.org/drawingml/2006/main" noGrp="1"/>
          </p:cNvSpPr>
          <p:nvPr/>
        </p:nvSpPr>
        <p:spPr>
          <a:xfrm xmlns:a="http://schemas.openxmlformats.org/drawingml/2006/main">
            <a:off x="6858000" y="2762250"/>
            <a:ext cx="1047750" cy="1619250"/>
          </a:xfrm>
          <a:prstGeom xmlns:a="http://schemas.openxmlformats.org/drawingml/2006/main" prst="rect">
            <a:avLst/>
          </a:prstGeom>
          <a:solidFill xmlns:a="http://schemas.openxmlformats.org/drawingml/2006/main">
            <a:srgbClr val="C5E2D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2A2BEC0-22BC-4582-A2E6-3257C3A5B9DE}"/>
              </a:ext>
            </a:extLst>
          </p:cNvPr>
          <p:cNvSpPr>
            <a:spLocks xmlns:a="http://schemas.openxmlformats.org/drawingml/2006/main" noGrp="1"/>
          </p:cNvSpPr>
          <p:nvPr/>
        </p:nvSpPr>
        <p:spPr>
          <a:xfrm xmlns:a="http://schemas.openxmlformats.org/drawingml/2006/main">
            <a:off x="6953250" y="3190875"/>
            <a:ext cx="85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53C4D"/>
                </a:solidFill>
                <a:latin typeface="Yu Gothic"/>
                <a:ea typeface="Yu Gothic"/>
                <a:cs typeface="Yu Gothic"/>
              </a:defRPr>
            </a:defPPr>
            <a:lvl1pPr>
              <a:defRPr sz="1800" b="0">
                <a:solidFill>
                  <a:srgbClr val="253C4D"/>
                </a:solidFill>
                <a:latin typeface="Yu Gothic"/>
                <a:ea typeface="Yu Gothic"/>
                <a:cs typeface="Yu Gothic"/>
              </a:defRPr>
            </a:lvl1pPr>
            <a:lvl2pPr>
              <a:defRPr sz="1800" b="0">
                <a:solidFill>
                  <a:srgbClr val="253C4D"/>
                </a:solidFill>
                <a:latin typeface="Yu Gothic"/>
                <a:ea typeface="Yu Gothic"/>
                <a:cs typeface="Yu Gothic"/>
              </a:defRPr>
            </a:lvl2pPr>
            <a:lvl3pPr>
              <a:defRPr sz="1800" b="0">
                <a:solidFill>
                  <a:srgbClr val="253C4D"/>
                </a:solidFill>
                <a:latin typeface="Yu Gothic"/>
                <a:ea typeface="Yu Gothic"/>
                <a:cs typeface="Yu Gothic"/>
              </a:defRPr>
            </a:lvl3pPr>
            <a:lvl4pPr>
              <a:defRPr sz="1800" b="0">
                <a:solidFill>
                  <a:srgbClr val="253C4D"/>
                </a:solidFill>
                <a:latin typeface="Yu Gothic"/>
                <a:ea typeface="Yu Gothic"/>
                <a:cs typeface="Yu Gothic"/>
              </a:defRPr>
            </a:lvl4pPr>
            <a:lvl5pPr>
              <a:defRPr sz="1800" b="0">
                <a:solidFill>
                  <a:srgbClr val="253C4D"/>
                </a:solidFill>
                <a:latin typeface="Yu Gothic"/>
                <a:ea typeface="Yu Gothic"/>
                <a:cs typeface="Yu Gothic"/>
              </a:defRPr>
            </a:lvl5pPr>
            <a:lvl6pPr>
              <a:defRPr sz="1800" b="0">
                <a:solidFill>
                  <a:srgbClr val="253C4D"/>
                </a:solidFill>
                <a:latin typeface="Yu Gothic"/>
                <a:ea typeface="Yu Gothic"/>
                <a:cs typeface="Yu Gothic"/>
              </a:defRPr>
            </a:lvl6pPr>
            <a:lvl7pPr>
              <a:defRPr sz="1800" b="0">
                <a:solidFill>
                  <a:srgbClr val="253C4D"/>
                </a:solidFill>
                <a:latin typeface="Yu Gothic"/>
                <a:ea typeface="Yu Gothic"/>
                <a:cs typeface="Yu Gothic"/>
              </a:defRPr>
            </a:lvl7pPr>
            <a:lvl8pPr>
              <a:defRPr sz="1800" b="0">
                <a:solidFill>
                  <a:srgbClr val="253C4D"/>
                </a:solidFill>
                <a:latin typeface="Yu Gothic"/>
                <a:ea typeface="Yu Gothic"/>
                <a:cs typeface="Yu Gothic"/>
              </a:defRPr>
            </a:lvl8pPr>
            <a:lvl9pPr>
              <a:defRPr sz="1800" b="0">
                <a:solidFill>
                  <a:srgbClr val="253C4D"/>
                </a:solidFill>
                <a:latin typeface="Yu Gothic"/>
                <a:ea typeface="Yu Gothic"/>
                <a:cs typeface="Yu Gothic"/>
              </a:defRPr>
            </a:lvl9pPr>
          </a:lstStyle>
          <a:p xmlns:a="http://schemas.openxmlformats.org/drawingml/2006/main">
            <a:pPr>
              <a:defRPr sz="1800" b="0">
                <a:solidFill>
                  <a:srgbClr val="253C4D"/>
                </a:solidFill>
                <a:latin typeface="Yu Gothic"/>
                <a:ea typeface="Yu Gothic"/>
                <a:cs typeface="Yu Gothic"/>
              </a:defRPr>
            </a:pPr>
            <a:r>
              <a:rPr sz="1800" b="0">
                <a:solidFill>
                  <a:srgbClr val="253C4D"/>
                </a:solidFill>
                <a:latin typeface="Yu Gothic"/>
                <a:ea typeface="Yu Gothic"/>
                <a:cs typeface="Yu Gothic"/>
              </a:rPr>
              <a:t>形成層</a:t>
            </a:r>
          </a:p>
        </p:txBody>
      </p:sp>
      <p:sp>
        <p:nvSpPr>
          <p:cNvPr id="11" name="">
            <a:extLst xmlns:a="http://schemas.openxmlformats.org/drawingml/2006/main">
              <a:ext uri="{FF2B5EF4-FFF2-40B4-BE49-F238E27FC236}">
                <a16:creationId xmlns:a16="http://schemas.microsoft.com/office/drawing/2014/main" id="{8D66C623-6418-496F-96B8-1B8A8A6753A0}"/>
              </a:ext>
            </a:extLst>
          </p:cNvPr>
          <p:cNvSpPr>
            <a:spLocks xmlns:a="http://schemas.openxmlformats.org/drawingml/2006/main" noGrp="1"/>
          </p:cNvSpPr>
          <p:nvPr/>
        </p:nvSpPr>
        <p:spPr>
          <a:xfrm xmlns:a="http://schemas.openxmlformats.org/drawingml/2006/main">
            <a:off x="7905750" y="2762250"/>
            <a:ext cx="3048000" cy="1619250"/>
          </a:xfrm>
          <a:prstGeom xmlns:a="http://schemas.openxmlformats.org/drawingml/2006/main" prst="rect">
            <a:avLst/>
          </a:prstGeom>
          <a:solidFill xmlns:a="http://schemas.openxmlformats.org/drawingml/2006/main">
            <a:srgbClr val="DCE9F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D34EE4D-3335-486D-8C29-74901BC44A35}"/>
              </a:ext>
            </a:extLst>
          </p:cNvPr>
          <p:cNvSpPr>
            <a:spLocks xmlns:a="http://schemas.openxmlformats.org/drawingml/2006/main" noGrp="1"/>
          </p:cNvSpPr>
          <p:nvPr/>
        </p:nvSpPr>
        <p:spPr>
          <a:xfrm xmlns:a="http://schemas.openxmlformats.org/drawingml/2006/main">
            <a:off x="8001000" y="3190875"/>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師部側</a:t>
            </a:r>
          </a:p>
        </p:txBody>
      </p:sp>
      <p:sp>
        <p:nvSpPr>
          <p:cNvPr id="13" name="">
            <a:extLst xmlns:a="http://schemas.openxmlformats.org/drawingml/2006/main">
              <a:ext uri="{FF2B5EF4-FFF2-40B4-BE49-F238E27FC236}">
                <a16:creationId xmlns:a16="http://schemas.microsoft.com/office/drawing/2014/main" id="{BC539841-DC7D-448A-85BA-9D0466051192}"/>
              </a:ext>
            </a:extLst>
          </p:cNvPr>
          <p:cNvSpPr>
            <a:spLocks xmlns:a="http://schemas.openxmlformats.org/drawingml/2006/main" noGrp="1"/>
          </p:cNvSpPr>
          <p:nvPr/>
        </p:nvSpPr>
        <p:spPr>
          <a:xfrm xmlns:a="http://schemas.openxmlformats.org/drawingml/2006/main">
            <a:off x="857250" y="2047875"/>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内側</a:t>
            </a:r>
          </a:p>
        </p:txBody>
      </p:sp>
      <p:sp>
        <p:nvSpPr>
          <p:cNvPr id="14" name="">
            <a:extLst xmlns:a="http://schemas.openxmlformats.org/drawingml/2006/main">
              <a:ext uri="{FF2B5EF4-FFF2-40B4-BE49-F238E27FC236}">
                <a16:creationId xmlns:a16="http://schemas.microsoft.com/office/drawing/2014/main" id="{901941E1-BE77-4C4B-946A-5F80A525859B}"/>
              </a:ext>
            </a:extLst>
          </p:cNvPr>
          <p:cNvSpPr>
            <a:spLocks xmlns:a="http://schemas.openxmlformats.org/drawingml/2006/main" noGrp="1"/>
          </p:cNvSpPr>
          <p:nvPr/>
        </p:nvSpPr>
        <p:spPr>
          <a:xfrm xmlns:a="http://schemas.openxmlformats.org/drawingml/2006/main">
            <a:off x="9334500" y="2047875"/>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53C4D"/>
                </a:solidFill>
                <a:latin typeface="Yu Gothic"/>
                <a:ea typeface="Yu Gothic"/>
                <a:cs typeface="Yu Gothic"/>
              </a:defRPr>
            </a:defPPr>
            <a:lvl1pPr>
              <a:defRPr sz="2100" b="0">
                <a:solidFill>
                  <a:srgbClr val="253C4D"/>
                </a:solidFill>
                <a:latin typeface="Yu Gothic"/>
                <a:ea typeface="Yu Gothic"/>
                <a:cs typeface="Yu Gothic"/>
              </a:defRPr>
            </a:lvl1pPr>
            <a:lvl2pPr>
              <a:defRPr sz="2100" b="0">
                <a:solidFill>
                  <a:srgbClr val="253C4D"/>
                </a:solidFill>
                <a:latin typeface="Yu Gothic"/>
                <a:ea typeface="Yu Gothic"/>
                <a:cs typeface="Yu Gothic"/>
              </a:defRPr>
            </a:lvl2pPr>
            <a:lvl3pPr>
              <a:defRPr sz="2100" b="0">
                <a:solidFill>
                  <a:srgbClr val="253C4D"/>
                </a:solidFill>
                <a:latin typeface="Yu Gothic"/>
                <a:ea typeface="Yu Gothic"/>
                <a:cs typeface="Yu Gothic"/>
              </a:defRPr>
            </a:lvl3pPr>
            <a:lvl4pPr>
              <a:defRPr sz="2100" b="0">
                <a:solidFill>
                  <a:srgbClr val="253C4D"/>
                </a:solidFill>
                <a:latin typeface="Yu Gothic"/>
                <a:ea typeface="Yu Gothic"/>
                <a:cs typeface="Yu Gothic"/>
              </a:defRPr>
            </a:lvl4pPr>
            <a:lvl5pPr>
              <a:defRPr sz="2100" b="0">
                <a:solidFill>
                  <a:srgbClr val="253C4D"/>
                </a:solidFill>
                <a:latin typeface="Yu Gothic"/>
                <a:ea typeface="Yu Gothic"/>
                <a:cs typeface="Yu Gothic"/>
              </a:defRPr>
            </a:lvl5pPr>
            <a:lvl6pPr>
              <a:defRPr sz="2100" b="0">
                <a:solidFill>
                  <a:srgbClr val="253C4D"/>
                </a:solidFill>
                <a:latin typeface="Yu Gothic"/>
                <a:ea typeface="Yu Gothic"/>
                <a:cs typeface="Yu Gothic"/>
              </a:defRPr>
            </a:lvl6pPr>
            <a:lvl7pPr>
              <a:defRPr sz="2100" b="0">
                <a:solidFill>
                  <a:srgbClr val="253C4D"/>
                </a:solidFill>
                <a:latin typeface="Yu Gothic"/>
                <a:ea typeface="Yu Gothic"/>
                <a:cs typeface="Yu Gothic"/>
              </a:defRPr>
            </a:lvl7pPr>
            <a:lvl8pPr>
              <a:defRPr sz="2100" b="0">
                <a:solidFill>
                  <a:srgbClr val="253C4D"/>
                </a:solidFill>
                <a:latin typeface="Yu Gothic"/>
                <a:ea typeface="Yu Gothic"/>
                <a:cs typeface="Yu Gothic"/>
              </a:defRPr>
            </a:lvl8pPr>
            <a:lvl9pPr>
              <a:defRPr sz="2100" b="0">
                <a:solidFill>
                  <a:srgbClr val="253C4D"/>
                </a:solidFill>
                <a:latin typeface="Yu Gothic"/>
                <a:ea typeface="Yu Gothic"/>
                <a:cs typeface="Yu Gothic"/>
              </a:defRPr>
            </a:lvl9pPr>
          </a:lstStyle>
          <a:p xmlns:a="http://schemas.openxmlformats.org/drawingml/2006/main">
            <a:pPr>
              <a:defRPr sz="2100" b="0">
                <a:solidFill>
                  <a:srgbClr val="253C4D"/>
                </a:solidFill>
                <a:latin typeface="Yu Gothic"/>
                <a:ea typeface="Yu Gothic"/>
                <a:cs typeface="Yu Gothic"/>
              </a:defRPr>
            </a:pPr>
            <a:r>
              <a:rPr sz="2100" b="0">
                <a:solidFill>
                  <a:srgbClr val="253C4D"/>
                </a:solidFill>
                <a:latin typeface="Yu Gothic"/>
                <a:ea typeface="Yu Gothic"/>
                <a:cs typeface="Yu Gothic"/>
              </a:rPr>
              <a:t>外側</a:t>
            </a:r>
          </a:p>
        </p:txBody>
      </p:sp>
      <p:sp>
        <p:nvSpPr>
          <p:cNvPr id="15" name="">
            <a:extLst xmlns:a="http://schemas.openxmlformats.org/drawingml/2006/main">
              <a:ext uri="{FF2B5EF4-FFF2-40B4-BE49-F238E27FC236}">
                <a16:creationId xmlns:a16="http://schemas.microsoft.com/office/drawing/2014/main" id="{68BD1565-7E75-4BF4-B140-02F64257821C}"/>
              </a:ext>
            </a:extLst>
          </p:cNvPr>
          <p:cNvSpPr>
            <a:spLocks xmlns:a="http://schemas.openxmlformats.org/drawingml/2006/main" noGrp="1"/>
          </p:cNvSpPr>
          <p:nvPr/>
        </p:nvSpPr>
        <p:spPr>
          <a:xfrm xmlns:a="http://schemas.openxmlformats.org/drawingml/2006/main">
            <a:off x="838200" y="4905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53C4D"/>
                </a:solidFill>
                <a:latin typeface="Yu Gothic"/>
                <a:ea typeface="Yu Gothic"/>
                <a:cs typeface="Yu Gothic"/>
              </a:defRPr>
            </a:defPPr>
            <a:lvl1pPr>
              <a:defRPr sz="2400" b="0">
                <a:solidFill>
                  <a:srgbClr val="253C4D"/>
                </a:solidFill>
                <a:latin typeface="Yu Gothic"/>
                <a:ea typeface="Yu Gothic"/>
                <a:cs typeface="Yu Gothic"/>
              </a:defRPr>
            </a:lvl1pPr>
            <a:lvl2pPr>
              <a:defRPr sz="2400" b="0">
                <a:solidFill>
                  <a:srgbClr val="253C4D"/>
                </a:solidFill>
                <a:latin typeface="Yu Gothic"/>
                <a:ea typeface="Yu Gothic"/>
                <a:cs typeface="Yu Gothic"/>
              </a:defRPr>
            </a:lvl2pPr>
            <a:lvl3pPr>
              <a:defRPr sz="2400" b="0">
                <a:solidFill>
                  <a:srgbClr val="253C4D"/>
                </a:solidFill>
                <a:latin typeface="Yu Gothic"/>
                <a:ea typeface="Yu Gothic"/>
                <a:cs typeface="Yu Gothic"/>
              </a:defRPr>
            </a:lvl3pPr>
            <a:lvl4pPr>
              <a:defRPr sz="2400" b="0">
                <a:solidFill>
                  <a:srgbClr val="253C4D"/>
                </a:solidFill>
                <a:latin typeface="Yu Gothic"/>
                <a:ea typeface="Yu Gothic"/>
                <a:cs typeface="Yu Gothic"/>
              </a:defRPr>
            </a:lvl4pPr>
            <a:lvl5pPr>
              <a:defRPr sz="2400" b="0">
                <a:solidFill>
                  <a:srgbClr val="253C4D"/>
                </a:solidFill>
                <a:latin typeface="Yu Gothic"/>
                <a:ea typeface="Yu Gothic"/>
                <a:cs typeface="Yu Gothic"/>
              </a:defRPr>
            </a:lvl5pPr>
            <a:lvl6pPr>
              <a:defRPr sz="2400" b="0">
                <a:solidFill>
                  <a:srgbClr val="253C4D"/>
                </a:solidFill>
                <a:latin typeface="Yu Gothic"/>
                <a:ea typeface="Yu Gothic"/>
                <a:cs typeface="Yu Gothic"/>
              </a:defRPr>
            </a:lvl6pPr>
            <a:lvl7pPr>
              <a:defRPr sz="2400" b="0">
                <a:solidFill>
                  <a:srgbClr val="253C4D"/>
                </a:solidFill>
                <a:latin typeface="Yu Gothic"/>
                <a:ea typeface="Yu Gothic"/>
                <a:cs typeface="Yu Gothic"/>
              </a:defRPr>
            </a:lvl7pPr>
            <a:lvl8pPr>
              <a:defRPr sz="2400" b="0">
                <a:solidFill>
                  <a:srgbClr val="253C4D"/>
                </a:solidFill>
                <a:latin typeface="Yu Gothic"/>
                <a:ea typeface="Yu Gothic"/>
                <a:cs typeface="Yu Gothic"/>
              </a:defRPr>
            </a:lvl8pPr>
            <a:lvl9pPr>
              <a:defRPr sz="2400" b="0">
                <a:solidFill>
                  <a:srgbClr val="253C4D"/>
                </a:solidFill>
                <a:latin typeface="Yu Gothic"/>
                <a:ea typeface="Yu Gothic"/>
                <a:cs typeface="Yu Gothic"/>
              </a:defRPr>
            </a:lvl9pPr>
          </a:lstStyle>
          <a:p xmlns:a="http://schemas.openxmlformats.org/drawingml/2006/main">
            <a:pPr>
              <a:defRPr sz="2400" b="0">
                <a:solidFill>
                  <a:srgbClr val="253C4D"/>
                </a:solidFill>
                <a:latin typeface="Yu Gothic"/>
                <a:ea typeface="Yu Gothic"/>
                <a:cs typeface="Yu Gothic"/>
              </a:defRPr>
            </a:pPr>
            <a:r>
              <a:rPr sz="2400" b="0">
                <a:solidFill>
                  <a:srgbClr val="253C4D"/>
                </a:solidFill>
                <a:latin typeface="Yu Gothic"/>
                <a:ea typeface="Yu Gothic"/>
                <a:cs typeface="Yu Gothic"/>
              </a:rPr>
              <a:t>形成層の内側に二次木部が加わる</a:t>
            </a:r>
          </a:p>
        </p:txBody>
      </p:sp>
      <p:sp>
        <p:nvSpPr>
          <p:cNvPr id="16" name="">
            <a:extLst xmlns:a="http://schemas.openxmlformats.org/drawingml/2006/main">
              <a:ext uri="{FF2B5EF4-FFF2-40B4-BE49-F238E27FC236}">
                <a16:creationId xmlns:a16="http://schemas.microsoft.com/office/drawing/2014/main" id="{1935BC50-841A-4516-9CB4-84ED45F624BA}"/>
              </a:ext>
            </a:extLst>
          </p:cNvPr>
          <p:cNvSpPr>
            <a:spLocks xmlns:a="http://schemas.openxmlformats.org/drawingml/2006/main" noGrp="1"/>
          </p:cNvSpPr>
          <p:nvPr/>
        </p:nvSpPr>
        <p:spPr>
          <a:xfrm xmlns:a="http://schemas.openxmlformats.org/drawingml/2006/main">
            <a:off x="838200" y="55721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596875"/>
                </a:solidFill>
                <a:latin typeface="Yu Gothic"/>
                <a:ea typeface="Yu Gothic"/>
                <a:cs typeface="Yu Gothic"/>
              </a:defRPr>
            </a:defPPr>
            <a:lvl1pPr>
              <a:defRPr sz="1725" b="0">
                <a:solidFill>
                  <a:srgbClr val="596875"/>
                </a:solidFill>
                <a:latin typeface="Yu Gothic"/>
                <a:ea typeface="Yu Gothic"/>
                <a:cs typeface="Yu Gothic"/>
              </a:defRPr>
            </a:lvl1pPr>
            <a:lvl2pPr>
              <a:defRPr sz="1725" b="0">
                <a:solidFill>
                  <a:srgbClr val="596875"/>
                </a:solidFill>
                <a:latin typeface="Yu Gothic"/>
                <a:ea typeface="Yu Gothic"/>
                <a:cs typeface="Yu Gothic"/>
              </a:defRPr>
            </a:lvl2pPr>
            <a:lvl3pPr>
              <a:defRPr sz="1725" b="0">
                <a:solidFill>
                  <a:srgbClr val="596875"/>
                </a:solidFill>
                <a:latin typeface="Yu Gothic"/>
                <a:ea typeface="Yu Gothic"/>
                <a:cs typeface="Yu Gothic"/>
              </a:defRPr>
            </a:lvl3pPr>
            <a:lvl4pPr>
              <a:defRPr sz="1725" b="0">
                <a:solidFill>
                  <a:srgbClr val="596875"/>
                </a:solidFill>
                <a:latin typeface="Yu Gothic"/>
                <a:ea typeface="Yu Gothic"/>
                <a:cs typeface="Yu Gothic"/>
              </a:defRPr>
            </a:lvl4pPr>
            <a:lvl5pPr>
              <a:defRPr sz="1725" b="0">
                <a:solidFill>
                  <a:srgbClr val="596875"/>
                </a:solidFill>
                <a:latin typeface="Yu Gothic"/>
                <a:ea typeface="Yu Gothic"/>
                <a:cs typeface="Yu Gothic"/>
              </a:defRPr>
            </a:lvl5pPr>
            <a:lvl6pPr>
              <a:defRPr sz="1725" b="0">
                <a:solidFill>
                  <a:srgbClr val="596875"/>
                </a:solidFill>
                <a:latin typeface="Yu Gothic"/>
                <a:ea typeface="Yu Gothic"/>
                <a:cs typeface="Yu Gothic"/>
              </a:defRPr>
            </a:lvl6pPr>
            <a:lvl7pPr>
              <a:defRPr sz="1725" b="0">
                <a:solidFill>
                  <a:srgbClr val="596875"/>
                </a:solidFill>
                <a:latin typeface="Yu Gothic"/>
                <a:ea typeface="Yu Gothic"/>
                <a:cs typeface="Yu Gothic"/>
              </a:defRPr>
            </a:lvl7pPr>
            <a:lvl8pPr>
              <a:defRPr sz="1725" b="0">
                <a:solidFill>
                  <a:srgbClr val="596875"/>
                </a:solidFill>
                <a:latin typeface="Yu Gothic"/>
                <a:ea typeface="Yu Gothic"/>
                <a:cs typeface="Yu Gothic"/>
              </a:defRPr>
            </a:lvl8pPr>
            <a:lvl9pPr>
              <a:defRPr sz="1725" b="0">
                <a:solidFill>
                  <a:srgbClr val="596875"/>
                </a:solidFill>
                <a:latin typeface="Yu Gothic"/>
                <a:ea typeface="Yu Gothic"/>
                <a:cs typeface="Yu Gothic"/>
              </a:defRPr>
            </a:lvl9pPr>
          </a:lstStyle>
          <a:p xmlns:a="http://schemas.openxmlformats.org/drawingml/2006/main">
            <a:pPr>
              <a:defRPr sz="1725" b="0">
                <a:solidFill>
                  <a:srgbClr val="596875"/>
                </a:solidFill>
                <a:latin typeface="Yu Gothic"/>
                <a:ea typeface="Yu Gothic"/>
                <a:cs typeface="Yu Gothic"/>
              </a:defRPr>
            </a:pPr>
            <a:r>
              <a:rPr sz="1725" b="0">
                <a:solidFill>
                  <a:srgbClr val="596875"/>
                </a:solidFill>
                <a:latin typeface="Yu Gothic"/>
                <a:ea typeface="Yu Gothic"/>
                <a:cs typeface="Yu Gothic"/>
              </a:rPr>
              <a:t>位置関係の模式図。組織の厚さ比は実測ではない。</a:t>
            </a:r>
          </a:p>
        </p:txBody>
      </p:sp>
      <p:sp>
        <p:nvSpPr>
          <p:cNvPr id="17" name="">
            <a:extLst xmlns:a="http://schemas.openxmlformats.org/drawingml/2006/main">
              <a:ext uri="{FF2B5EF4-FFF2-40B4-BE49-F238E27FC236}">
                <a16:creationId xmlns:a16="http://schemas.microsoft.com/office/drawing/2014/main" id="{54CD06D5-6A20-4EAC-8278-7233A203F59C}"/>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出典：[4]　末尾の参照資料へ</a:t>
            </a:r>
          </a:p>
        </p:txBody>
      </p:sp>
    </p:spTree>
    <p:extLst>
      <p:ext uri="{BB962C8B-B14F-4D97-AF65-F5344CB8AC3E}">
        <p14:creationId xmlns:p14="http://schemas.microsoft.com/office/powerpoint/2010/main" val="17237001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95FAC8-1840-4B13-A962-151BA92EA47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小型植物にも初期の木材がある</a:t>
            </a:r>
          </a:p>
        </p:txBody>
      </p:sp>
      <p:sp>
        <p:nvSpPr>
          <p:cNvPr id="2" name="">
            <a:extLst xmlns:a="http://schemas.openxmlformats.org/drawingml/2006/main">
              <a:ext uri="{FF2B5EF4-FFF2-40B4-BE49-F238E27FC236}">
                <a16:creationId xmlns:a16="http://schemas.microsoft.com/office/drawing/2014/main" id="{6C740731-AF96-442F-A8C2-83F8B27665B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FB3574-20B5-4C9B-9B8D-32B84B09319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AE0B7626-E921-4795-B467-47AEDA8B97D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sp>
        <p:nvSpPr>
          <p:cNvPr id="5" name="">
            <a:extLst xmlns:a="http://schemas.openxmlformats.org/drawingml/2006/main">
              <a:ext uri="{FF2B5EF4-FFF2-40B4-BE49-F238E27FC236}">
                <a16:creationId xmlns:a16="http://schemas.microsoft.com/office/drawing/2014/main" id="{A976E9CD-3BCD-421F-96D5-1721A0AA0977}"/>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初期デボン紀の小型植物に二次木部の報告</a:t>
            </a:r>
          </a:p>
        </p:txBody>
      </p:sp>
      <p:sp>
        <p:nvSpPr>
          <p:cNvPr id="6" name="">
            <a:extLst xmlns:a="http://schemas.openxmlformats.org/drawingml/2006/main">
              <a:ext uri="{FF2B5EF4-FFF2-40B4-BE49-F238E27FC236}">
                <a16:creationId xmlns:a16="http://schemas.microsoft.com/office/drawing/2014/main" id="{4268594B-AB08-4488-804A-BF47F2E1E8A4}"/>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木材の成立を巨木の登場後だけの現象としない</a:t>
            </a:r>
          </a:p>
        </p:txBody>
      </p:sp>
      <p:sp>
        <p:nvSpPr>
          <p:cNvPr id="7" name="">
            <a:extLst xmlns:a="http://schemas.openxmlformats.org/drawingml/2006/main">
              <a:ext uri="{FF2B5EF4-FFF2-40B4-BE49-F238E27FC236}">
                <a16:creationId xmlns:a16="http://schemas.microsoft.com/office/drawing/2014/main" id="{6D55B61D-1857-4D62-BD88-FA665CF2602B}"/>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支持と水輸送の双方から構造を考える</a:t>
            </a:r>
          </a:p>
        </p:txBody>
      </p:sp>
      <p:sp>
        <p:nvSpPr>
          <p:cNvPr id="8" name="">
            <a:extLst xmlns:a="http://schemas.openxmlformats.org/drawingml/2006/main">
              <a:ext uri="{FF2B5EF4-FFF2-40B4-BE49-F238E27FC236}">
                <a16:creationId xmlns:a16="http://schemas.microsoft.com/office/drawing/2014/main" id="{CD3A7363-A5FA-4A56-A536-E8FC9E700305}"/>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出典：[4]　末尾の参照資料へ</a:t>
            </a:r>
          </a:p>
        </p:txBody>
      </p:sp>
    </p:spTree>
    <p:extLst>
      <p:ext uri="{BB962C8B-B14F-4D97-AF65-F5344CB8AC3E}">
        <p14:creationId xmlns:p14="http://schemas.microsoft.com/office/powerpoint/2010/main" val="172127827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F17227-C51A-4C02-ABC1-6CB199E2ED9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演習1　背が高くなるための条件</a:t>
            </a:r>
          </a:p>
        </p:txBody>
      </p:sp>
      <p:sp>
        <p:nvSpPr>
          <p:cNvPr id="2" name="">
            <a:extLst xmlns:a="http://schemas.openxmlformats.org/drawingml/2006/main">
              <a:ext uri="{FF2B5EF4-FFF2-40B4-BE49-F238E27FC236}">
                <a16:creationId xmlns:a16="http://schemas.microsoft.com/office/drawing/2014/main" id="{D4EB0759-E461-42C3-90A5-278168BD6F3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54A750D-5E00-48A6-A4E8-CD30DE519B0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B014E1EF-AB96-449F-8B0E-61B4530E1B1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15</a:t>
            </a:r>
          </a:p>
        </p:txBody>
      </p:sp>
      <p:sp>
        <p:nvSpPr>
          <p:cNvPr id="5" name="">
            <a:extLst xmlns:a="http://schemas.openxmlformats.org/drawingml/2006/main">
              <a:ext uri="{FF2B5EF4-FFF2-40B4-BE49-F238E27FC236}">
                <a16:creationId xmlns:a16="http://schemas.microsoft.com/office/drawing/2014/main" id="{6DD10951-A592-448C-A380-E7BE3A13FFC7}"/>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支持が強ければ、それだけで高くなれるか</a:t>
            </a:r>
          </a:p>
        </p:txBody>
      </p:sp>
      <p:sp>
        <p:nvSpPr>
          <p:cNvPr id="6" name="">
            <a:extLst xmlns:a="http://schemas.openxmlformats.org/drawingml/2006/main">
              <a:ext uri="{FF2B5EF4-FFF2-40B4-BE49-F238E27FC236}">
                <a16:creationId xmlns:a16="http://schemas.microsoft.com/office/drawing/2014/main" id="{BCE21480-734B-424F-8D21-838216EC4D1F}"/>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水輸送と葉の働きを図へ加える</a:t>
            </a:r>
          </a:p>
        </p:txBody>
      </p:sp>
      <p:sp>
        <p:nvSpPr>
          <p:cNvPr id="7" name="">
            <a:extLst xmlns:a="http://schemas.openxmlformats.org/drawingml/2006/main">
              <a:ext uri="{FF2B5EF4-FFF2-40B4-BE49-F238E27FC236}">
                <a16:creationId xmlns:a16="http://schemas.microsoft.com/office/drawing/2014/main" id="{7D47B206-CB58-42AA-8405-94F4F78716C8}"/>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利点と制約をそれぞれ説明する</a:t>
            </a:r>
          </a:p>
        </p:txBody>
      </p:sp>
    </p:spTree>
    <p:extLst>
      <p:ext uri="{BB962C8B-B14F-4D97-AF65-F5344CB8AC3E}">
        <p14:creationId xmlns:p14="http://schemas.microsoft.com/office/powerpoint/2010/main" val="208914972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AE950D-7AD5-4B57-B7D5-27D969D4DDD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長寿命を支える成長と更新</a:t>
            </a:r>
          </a:p>
        </p:txBody>
      </p:sp>
      <p:sp>
        <p:nvSpPr>
          <p:cNvPr id="2" name="">
            <a:extLst xmlns:a="http://schemas.openxmlformats.org/drawingml/2006/main">
              <a:ext uri="{FF2B5EF4-FFF2-40B4-BE49-F238E27FC236}">
                <a16:creationId xmlns:a16="http://schemas.microsoft.com/office/drawing/2014/main" id="{03832942-E628-4BA0-963F-A43EC6986D7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8F2319D-440E-4AC2-9344-28BEB43E415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947D73C2-B708-40FB-996A-0887E165E7D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16</a:t>
            </a:r>
          </a:p>
        </p:txBody>
      </p:sp>
      <p:sp>
        <p:nvSpPr>
          <p:cNvPr id="5" name="">
            <a:extLst xmlns:a="http://schemas.openxmlformats.org/drawingml/2006/main">
              <a:ext uri="{FF2B5EF4-FFF2-40B4-BE49-F238E27FC236}">
                <a16:creationId xmlns:a16="http://schemas.microsoft.com/office/drawing/2014/main" id="{613B7BB8-9BED-4CFD-9B00-3BDFE9B3656E}"/>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分裂組織が成長に関わる</a:t>
            </a:r>
          </a:p>
        </p:txBody>
      </p:sp>
      <p:sp>
        <p:nvSpPr>
          <p:cNvPr id="6" name="">
            <a:extLst xmlns:a="http://schemas.openxmlformats.org/drawingml/2006/main">
              <a:ext uri="{FF2B5EF4-FFF2-40B4-BE49-F238E27FC236}">
                <a16:creationId xmlns:a16="http://schemas.microsoft.com/office/drawing/2014/main" id="{D39F9A94-890C-44C0-92EB-86A1B3814A94}"/>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枝葉などの部分は更新される</a:t>
            </a:r>
          </a:p>
        </p:txBody>
      </p:sp>
      <p:sp>
        <p:nvSpPr>
          <p:cNvPr id="7" name="">
            <a:extLst xmlns:a="http://schemas.openxmlformats.org/drawingml/2006/main">
              <a:ext uri="{FF2B5EF4-FFF2-40B4-BE49-F238E27FC236}">
                <a16:creationId xmlns:a16="http://schemas.microsoft.com/office/drawing/2014/main" id="{E9FE3595-A8B3-423B-A196-93F1F619CF5C}"/>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個体全体と各部分の年齢を分ける</a:t>
            </a:r>
          </a:p>
        </p:txBody>
      </p:sp>
      <p:sp>
        <p:nvSpPr>
          <p:cNvPr id="8" name="">
            <a:extLst xmlns:a="http://schemas.openxmlformats.org/drawingml/2006/main">
              <a:ext uri="{FF2B5EF4-FFF2-40B4-BE49-F238E27FC236}">
                <a16:creationId xmlns:a16="http://schemas.microsoft.com/office/drawing/2014/main" id="{0217B073-E875-49C7-A49B-160AF71F28F3}"/>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出典：[5]　末尾の参照資料へ</a:t>
            </a:r>
          </a:p>
        </p:txBody>
      </p:sp>
    </p:spTree>
    <p:extLst>
      <p:ext uri="{BB962C8B-B14F-4D97-AF65-F5344CB8AC3E}">
        <p14:creationId xmlns:p14="http://schemas.microsoft.com/office/powerpoint/2010/main" val="20075728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48FD886-7F15-4B6D-8682-5435B5FD4BC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個体・細胞や器官・製品の時間</a:t>
            </a:r>
          </a:p>
        </p:txBody>
      </p:sp>
      <p:sp>
        <p:nvSpPr>
          <p:cNvPr id="2" name="">
            <a:extLst xmlns:a="http://schemas.openxmlformats.org/drawingml/2006/main">
              <a:ext uri="{FF2B5EF4-FFF2-40B4-BE49-F238E27FC236}">
                <a16:creationId xmlns:a16="http://schemas.microsoft.com/office/drawing/2014/main" id="{9DEB0344-8D98-4AB9-9660-F2436CD77DE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77682D-B790-464D-B140-4964E32B14D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74FD5767-AB02-4C75-A214-AFF3B3873D5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17</a:t>
            </a:r>
          </a:p>
        </p:txBody>
      </p:sp>
      <p:sp>
        <p:nvSpPr>
          <p:cNvPr id="5" name="">
            <a:extLst xmlns:a="http://schemas.openxmlformats.org/drawingml/2006/main">
              <a:ext uri="{FF2B5EF4-FFF2-40B4-BE49-F238E27FC236}">
                <a16:creationId xmlns:a16="http://schemas.microsoft.com/office/drawing/2014/main" id="{263D7EFD-2C99-453D-9FE9-DB4AEFED354F}"/>
              </a:ext>
            </a:extLst>
          </p:cNvPr>
          <p:cNvSpPr>
            <a:spLocks xmlns:a="http://schemas.openxmlformats.org/drawingml/2006/main" noGrp="1"/>
          </p:cNvSpPr>
          <p:nvPr/>
        </p:nvSpPr>
        <p:spPr>
          <a:xfrm xmlns:a="http://schemas.openxmlformats.org/drawingml/2006/main">
            <a:off x="838200" y="171450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樹木個体が生きる期間</a:t>
            </a:r>
          </a:p>
        </p:txBody>
      </p:sp>
      <p:sp>
        <p:nvSpPr>
          <p:cNvPr id="6" name="">
            <a:extLst xmlns:a="http://schemas.openxmlformats.org/drawingml/2006/main">
              <a:ext uri="{FF2B5EF4-FFF2-40B4-BE49-F238E27FC236}">
                <a16:creationId xmlns:a16="http://schemas.microsoft.com/office/drawing/2014/main" id="{02C712DA-450A-4DF9-BB44-5BF4B245F92C}"/>
              </a:ext>
            </a:extLst>
          </p:cNvPr>
          <p:cNvSpPr>
            <a:spLocks xmlns:a="http://schemas.openxmlformats.org/drawingml/2006/main" noGrp="1"/>
          </p:cNvSpPr>
          <p:nvPr/>
        </p:nvSpPr>
        <p:spPr>
          <a:xfrm xmlns:a="http://schemas.openxmlformats.org/drawingml/2006/main">
            <a:off x="838200" y="2428875"/>
            <a:ext cx="10001250" cy="952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C0C5B60-5EBB-4905-B781-C28ACB9DF579}"/>
              </a:ext>
            </a:extLst>
          </p:cNvPr>
          <p:cNvSpPr>
            <a:spLocks xmlns:a="http://schemas.openxmlformats.org/drawingml/2006/main" noGrp="1"/>
          </p:cNvSpPr>
          <p:nvPr/>
        </p:nvSpPr>
        <p:spPr>
          <a:xfrm xmlns:a="http://schemas.openxmlformats.org/drawingml/2006/main">
            <a:off x="838200" y="304800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細胞や器官の形成・機能・更新</a:t>
            </a:r>
          </a:p>
        </p:txBody>
      </p:sp>
      <p:sp>
        <p:nvSpPr>
          <p:cNvPr id="8" name="">
            <a:extLst xmlns:a="http://schemas.openxmlformats.org/drawingml/2006/main">
              <a:ext uri="{FF2B5EF4-FFF2-40B4-BE49-F238E27FC236}">
                <a16:creationId xmlns:a16="http://schemas.microsoft.com/office/drawing/2014/main" id="{CFA28925-B508-45F8-863D-EC57F6BCEDEC}"/>
              </a:ext>
            </a:extLst>
          </p:cNvPr>
          <p:cNvSpPr>
            <a:spLocks xmlns:a="http://schemas.openxmlformats.org/drawingml/2006/main" noGrp="1"/>
          </p:cNvSpPr>
          <p:nvPr/>
        </p:nvSpPr>
        <p:spPr>
          <a:xfrm xmlns:a="http://schemas.openxmlformats.org/drawingml/2006/main">
            <a:off x="838200" y="3762375"/>
            <a:ext cx="3810000" cy="9525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273F4B1-F04D-44AC-ADE5-6CF169EA86F0}"/>
              </a:ext>
            </a:extLst>
          </p:cNvPr>
          <p:cNvSpPr>
            <a:spLocks xmlns:a="http://schemas.openxmlformats.org/drawingml/2006/main" noGrp="1"/>
          </p:cNvSpPr>
          <p:nvPr/>
        </p:nvSpPr>
        <p:spPr>
          <a:xfrm xmlns:a="http://schemas.openxmlformats.org/drawingml/2006/main">
            <a:off x="838200" y="438150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伐採後に木材製品を使う期間</a:t>
            </a:r>
          </a:p>
        </p:txBody>
      </p:sp>
      <p:sp>
        <p:nvSpPr>
          <p:cNvPr id="10" name="">
            <a:extLst xmlns:a="http://schemas.openxmlformats.org/drawingml/2006/main">
              <a:ext uri="{FF2B5EF4-FFF2-40B4-BE49-F238E27FC236}">
                <a16:creationId xmlns:a16="http://schemas.microsoft.com/office/drawing/2014/main" id="{0223F532-14BC-4A82-AB34-A67E66FDEC3D}"/>
              </a:ext>
            </a:extLst>
          </p:cNvPr>
          <p:cNvSpPr>
            <a:spLocks xmlns:a="http://schemas.openxmlformats.org/drawingml/2006/main" noGrp="1"/>
          </p:cNvSpPr>
          <p:nvPr/>
        </p:nvSpPr>
        <p:spPr>
          <a:xfrm xmlns:a="http://schemas.openxmlformats.org/drawingml/2006/main">
            <a:off x="838200" y="5095875"/>
            <a:ext cx="7143750" cy="95250"/>
          </a:xfrm>
          <a:prstGeom xmlns:a="http://schemas.openxmlformats.org/drawingml/2006/main" prst="rect">
            <a:avLst/>
          </a:prstGeom>
          <a:solidFill xmlns:a="http://schemas.openxmlformats.org/drawingml/2006/main">
            <a:srgbClr val="D7B7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CD527A8-313A-4661-84CB-E175C0050A71}"/>
              </a:ext>
            </a:extLst>
          </p:cNvPr>
          <p:cNvSpPr>
            <a:spLocks xmlns:a="http://schemas.openxmlformats.org/drawingml/2006/main" noGrp="1"/>
          </p:cNvSpPr>
          <p:nvPr/>
        </p:nvSpPr>
        <p:spPr>
          <a:xfrm xmlns:a="http://schemas.openxmlformats.org/drawingml/2006/main">
            <a:off x="838200" y="54768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defRPr sz="1650" b="0">
                <a:solidFill>
                  <a:srgbClr val="596875"/>
                </a:solidFill>
                <a:latin typeface="Yu Gothic"/>
                <a:ea typeface="Yu Gothic"/>
                <a:cs typeface="Yu Gothic"/>
              </a:defRPr>
            </a:lvl1pPr>
            <a:lvl2pPr>
              <a:defRPr sz="1650" b="0">
                <a:solidFill>
                  <a:srgbClr val="596875"/>
                </a:solidFill>
                <a:latin typeface="Yu Gothic"/>
                <a:ea typeface="Yu Gothic"/>
                <a:cs typeface="Yu Gothic"/>
              </a:defRPr>
            </a:lvl2pPr>
            <a:lvl3pPr>
              <a:defRPr sz="1650" b="0">
                <a:solidFill>
                  <a:srgbClr val="596875"/>
                </a:solidFill>
                <a:latin typeface="Yu Gothic"/>
                <a:ea typeface="Yu Gothic"/>
                <a:cs typeface="Yu Gothic"/>
              </a:defRPr>
            </a:lvl3pPr>
            <a:lvl4pPr>
              <a:defRPr sz="1650" b="0">
                <a:solidFill>
                  <a:srgbClr val="596875"/>
                </a:solidFill>
                <a:latin typeface="Yu Gothic"/>
                <a:ea typeface="Yu Gothic"/>
                <a:cs typeface="Yu Gothic"/>
              </a:defRPr>
            </a:lvl4pPr>
            <a:lvl5pPr>
              <a:defRPr sz="1650" b="0">
                <a:solidFill>
                  <a:srgbClr val="596875"/>
                </a:solidFill>
                <a:latin typeface="Yu Gothic"/>
                <a:ea typeface="Yu Gothic"/>
                <a:cs typeface="Yu Gothic"/>
              </a:defRPr>
            </a:lvl5pPr>
            <a:lvl6pPr>
              <a:defRPr sz="1650" b="0">
                <a:solidFill>
                  <a:srgbClr val="596875"/>
                </a:solidFill>
                <a:latin typeface="Yu Gothic"/>
                <a:ea typeface="Yu Gothic"/>
                <a:cs typeface="Yu Gothic"/>
              </a:defRPr>
            </a:lvl6pPr>
            <a:lvl7pPr>
              <a:defRPr sz="1650" b="0">
                <a:solidFill>
                  <a:srgbClr val="596875"/>
                </a:solidFill>
                <a:latin typeface="Yu Gothic"/>
                <a:ea typeface="Yu Gothic"/>
                <a:cs typeface="Yu Gothic"/>
              </a:defRPr>
            </a:lvl7pPr>
            <a:lvl8pPr>
              <a:defRPr sz="1650" b="0">
                <a:solidFill>
                  <a:srgbClr val="596875"/>
                </a:solidFill>
                <a:latin typeface="Yu Gothic"/>
                <a:ea typeface="Yu Gothic"/>
                <a:cs typeface="Yu Gothic"/>
              </a:defRPr>
            </a:lvl8pPr>
            <a:lvl9pPr>
              <a:defRPr sz="1650" b="0">
                <a:solidFill>
                  <a:srgbClr val="596875"/>
                </a:solidFill>
                <a:latin typeface="Yu Gothic"/>
                <a:ea typeface="Yu Gothic"/>
                <a:cs typeface="Yu Gothic"/>
              </a:defRPr>
            </a:lvl9pPr>
          </a:lstStyle>
          <a:p xmlns:a="http://schemas.openxmlformats.org/drawingml/2006/main">
            <a:pPr>
              <a:defRPr sz="1650" b="0">
                <a:solidFill>
                  <a:srgbClr val="596875"/>
                </a:solidFill>
                <a:latin typeface="Yu Gothic"/>
                <a:ea typeface="Yu Gothic"/>
                <a:cs typeface="Yu Gothic"/>
              </a:defRPr>
            </a:pPr>
            <a:r>
              <a:rPr sz="1650" b="0">
                <a:solidFill>
                  <a:srgbClr val="596875"/>
                </a:solidFill>
                <a:latin typeface="Yu Gothic"/>
                <a:ea typeface="Yu Gothic"/>
                <a:cs typeface="Yu Gothic"/>
              </a:rPr>
              <a:t>各線は別の対象。長さは年数の比を表さない。</a:t>
            </a:r>
          </a:p>
        </p:txBody>
      </p:sp>
      <p:sp>
        <p:nvSpPr>
          <p:cNvPr id="12" name="">
            <a:extLst xmlns:a="http://schemas.openxmlformats.org/drawingml/2006/main">
              <a:ext uri="{FF2B5EF4-FFF2-40B4-BE49-F238E27FC236}">
                <a16:creationId xmlns:a16="http://schemas.microsoft.com/office/drawing/2014/main" id="{87CF2A64-AA0E-4FF0-9F32-1A4EBEEF2A02}"/>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出典：[5]　末尾の参照資料へ</a:t>
            </a:r>
          </a:p>
        </p:txBody>
      </p:sp>
    </p:spTree>
    <p:extLst>
      <p:ext uri="{BB962C8B-B14F-4D97-AF65-F5344CB8AC3E}">
        <p14:creationId xmlns:p14="http://schemas.microsoft.com/office/powerpoint/2010/main" val="103507803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5D8934-210F-4AC0-BBCF-B245EE0CA421}"/>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長寿は大きさや成長速度だけでは決まらない</a:t>
            </a:r>
          </a:p>
        </p:txBody>
      </p:sp>
      <p:sp>
        <p:nvSpPr>
          <p:cNvPr id="2" name="">
            <a:extLst xmlns:a="http://schemas.openxmlformats.org/drawingml/2006/main">
              <a:ext uri="{FF2B5EF4-FFF2-40B4-BE49-F238E27FC236}">
                <a16:creationId xmlns:a16="http://schemas.microsoft.com/office/drawing/2014/main" id="{3AF33558-9B7C-4DE5-B802-9F454B6A8CB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197A27-AB0C-446C-A4C9-4170457EEE1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A907CBB3-5459-473F-ABC1-7A70BB60C03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33CED860-4136-4289-BB6A-3D217A20EA1C}"/>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種の性質と、生育環境を区別する</a:t>
            </a:r>
          </a:p>
        </p:txBody>
      </p:sp>
      <p:sp>
        <p:nvSpPr>
          <p:cNvPr id="6" name="">
            <a:extLst xmlns:a="http://schemas.openxmlformats.org/drawingml/2006/main">
              <a:ext uri="{FF2B5EF4-FFF2-40B4-BE49-F238E27FC236}">
                <a16:creationId xmlns:a16="http://schemas.microsoft.com/office/drawing/2014/main" id="{B91DD93C-371B-4267-BC88-20A44381B8AF}"/>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損傷、病害、乾燥、撹乱なども関わる</a:t>
            </a:r>
          </a:p>
        </p:txBody>
      </p:sp>
      <p:sp>
        <p:nvSpPr>
          <p:cNvPr id="7" name="">
            <a:extLst xmlns:a="http://schemas.openxmlformats.org/drawingml/2006/main">
              <a:ext uri="{FF2B5EF4-FFF2-40B4-BE49-F238E27FC236}">
                <a16:creationId xmlns:a16="http://schemas.microsoft.com/office/drawing/2014/main" id="{A06C8E89-0592-4E6A-842E-461B59DFBD9D}"/>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最大寿命と、実際に達した年齢を区別する</a:t>
            </a:r>
          </a:p>
        </p:txBody>
      </p:sp>
      <p:sp>
        <p:nvSpPr>
          <p:cNvPr id="8" name="">
            <a:extLst xmlns:a="http://schemas.openxmlformats.org/drawingml/2006/main">
              <a:ext uri="{FF2B5EF4-FFF2-40B4-BE49-F238E27FC236}">
                <a16:creationId xmlns:a16="http://schemas.microsoft.com/office/drawing/2014/main" id="{8E6757C8-ECE2-4C30-A602-F4197D369B82}"/>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出典：[5]　末尾の参照資料へ</a:t>
            </a:r>
          </a:p>
        </p:txBody>
      </p:sp>
    </p:spTree>
    <p:extLst>
      <p:ext uri="{BB962C8B-B14F-4D97-AF65-F5344CB8AC3E}">
        <p14:creationId xmlns:p14="http://schemas.microsoft.com/office/powerpoint/2010/main" val="77364561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52179C-6934-4A42-868C-37C14472897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年輪数はどの高さの年齢を示すか</a:t>
            </a:r>
          </a:p>
        </p:txBody>
      </p:sp>
      <p:sp>
        <p:nvSpPr>
          <p:cNvPr id="2" name="">
            <a:extLst xmlns:a="http://schemas.openxmlformats.org/drawingml/2006/main">
              <a:ext uri="{FF2B5EF4-FFF2-40B4-BE49-F238E27FC236}">
                <a16:creationId xmlns:a16="http://schemas.microsoft.com/office/drawing/2014/main" id="{C46DFFD0-6A5F-4F30-84C4-02786352E8E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7B1A24D-D4A4-4D7C-BE6E-09B162D7575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8EF7C1D9-58FE-4D6C-9AC3-D793D66C4A8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sp>
        <p:nvSpPr>
          <p:cNvPr id="5" name="">
            <a:extLst xmlns:a="http://schemas.openxmlformats.org/drawingml/2006/main">
              <a:ext uri="{FF2B5EF4-FFF2-40B4-BE49-F238E27FC236}">
                <a16:creationId xmlns:a16="http://schemas.microsoft.com/office/drawing/2014/main" id="{D1A4D1E6-9C67-4406-AB2C-E21A48B1ECAD}"/>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胸高に達するまでの時間を含まない</a:t>
            </a:r>
          </a:p>
        </p:txBody>
      </p:sp>
      <p:sp>
        <p:nvSpPr>
          <p:cNvPr id="6" name="">
            <a:extLst xmlns:a="http://schemas.openxmlformats.org/drawingml/2006/main">
              <a:ext uri="{FF2B5EF4-FFF2-40B4-BE49-F238E27FC236}">
                <a16:creationId xmlns:a16="http://schemas.microsoft.com/office/drawing/2014/main" id="{0AA99F10-7164-4130-864E-940A1BBE8401}"/>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髄の欠損や腐朽がある場合もある</a:t>
            </a:r>
          </a:p>
        </p:txBody>
      </p:sp>
      <p:sp>
        <p:nvSpPr>
          <p:cNvPr id="7" name="">
            <a:extLst xmlns:a="http://schemas.openxmlformats.org/drawingml/2006/main">
              <a:ext uri="{FF2B5EF4-FFF2-40B4-BE49-F238E27FC236}">
                <a16:creationId xmlns:a16="http://schemas.microsoft.com/office/drawing/2014/main" id="{D56B73CB-9F30-4EDE-971A-B97F49979B50}"/>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個体の年齢とクローンの持続年数を分ける</a:t>
            </a:r>
          </a:p>
        </p:txBody>
      </p:sp>
      <p:sp>
        <p:nvSpPr>
          <p:cNvPr id="8" name="">
            <a:extLst xmlns:a="http://schemas.openxmlformats.org/drawingml/2006/main">
              <a:ext uri="{FF2B5EF4-FFF2-40B4-BE49-F238E27FC236}">
                <a16:creationId xmlns:a16="http://schemas.microsoft.com/office/drawing/2014/main" id="{32A5E823-7217-4BDE-AAE8-FDD80A952996}"/>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出典：[5]　末尾の参照資料へ</a:t>
            </a:r>
          </a:p>
        </p:txBody>
      </p:sp>
    </p:spTree>
    <p:extLst>
      <p:ext uri="{BB962C8B-B14F-4D97-AF65-F5344CB8AC3E}">
        <p14:creationId xmlns:p14="http://schemas.microsoft.com/office/powerpoint/2010/main" val="12633885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BCC634-BAB0-49AC-A755-2EA3821CB22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　大きさと年齢を計算で分ける</a:t>
            </a:r>
          </a:p>
        </p:txBody>
      </p:sp>
      <p:sp>
        <p:nvSpPr>
          <p:cNvPr id="2" name="">
            <a:extLst xmlns:a="http://schemas.openxmlformats.org/drawingml/2006/main">
              <a:ext uri="{FF2B5EF4-FFF2-40B4-BE49-F238E27FC236}">
                <a16:creationId xmlns:a16="http://schemas.microsoft.com/office/drawing/2014/main" id="{D5CCFEC8-FDBF-44E3-A85E-2EBB2C8F34F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64981FE-C44D-4E8F-BE4B-833BD0712D7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40714B2A-A0F9-4289-861A-9EC4FA7A9EE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B170179F-BCEF-4F04-A34E-F6E9BB53C38F}"/>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発芽年が既知の仮想個体</a:t>
            </a:r>
          </a:p>
        </p:txBody>
      </p:sp>
      <p:sp>
        <p:nvSpPr>
          <p:cNvPr id="6" name="">
            <a:extLst xmlns:a="http://schemas.openxmlformats.org/drawingml/2006/main">
              <a:ext uri="{FF2B5EF4-FFF2-40B4-BE49-F238E27FC236}">
                <a16:creationId xmlns:a16="http://schemas.microsoft.com/office/drawing/2014/main" id="{4FAE4697-4FD9-4CC6-BF2B-FD58AF502A55}"/>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A：50年、半径20 cm</a:t>
            </a:r>
          </a:p>
        </p:txBody>
      </p:sp>
      <p:sp>
        <p:nvSpPr>
          <p:cNvPr id="7" name="">
            <a:extLst xmlns:a="http://schemas.openxmlformats.org/drawingml/2006/main">
              <a:ext uri="{FF2B5EF4-FFF2-40B4-BE49-F238E27FC236}">
                <a16:creationId xmlns:a16="http://schemas.microsoft.com/office/drawing/2014/main" id="{C541A634-333F-4352-99DD-4C336FAF454B}"/>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B：200年、半径10 cm</a:t>
            </a:r>
          </a:p>
        </p:txBody>
      </p:sp>
    </p:spTree>
    <p:extLst>
      <p:ext uri="{BB962C8B-B14F-4D97-AF65-F5344CB8AC3E}">
        <p14:creationId xmlns:p14="http://schemas.microsoft.com/office/powerpoint/2010/main" val="160215831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5F4E3E-B3D5-424C-9793-1F6446E4798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演習2の解説</a:t>
            </a:r>
          </a:p>
        </p:txBody>
      </p:sp>
      <p:sp>
        <p:nvSpPr>
          <p:cNvPr id="2" name="">
            <a:extLst xmlns:a="http://schemas.openxmlformats.org/drawingml/2006/main">
              <a:ext uri="{FF2B5EF4-FFF2-40B4-BE49-F238E27FC236}">
                <a16:creationId xmlns:a16="http://schemas.microsoft.com/office/drawing/2014/main" id="{C0C7C3B3-BDD0-4555-B657-8C4BA9B1278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650CBE9-6208-4309-A0E5-812C29764D89}"/>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30E922B9-BADF-49AD-8ED3-04D463FC2E8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CD0103B5-F472-464E-8A16-0133D853B63F}"/>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A：200 mm ÷ 50年 ＝ 4 mm/年</a:t>
            </a:r>
          </a:p>
        </p:txBody>
      </p:sp>
      <p:sp>
        <p:nvSpPr>
          <p:cNvPr id="6" name="">
            <a:extLst xmlns:a="http://schemas.openxmlformats.org/drawingml/2006/main">
              <a:ext uri="{FF2B5EF4-FFF2-40B4-BE49-F238E27FC236}">
                <a16:creationId xmlns:a16="http://schemas.microsoft.com/office/drawing/2014/main" id="{8898D221-8D2E-4913-910D-DA7B82A62B02}"/>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B：100 mm ÷ 200年 ＝ 0.5 mm/年</a:t>
            </a:r>
          </a:p>
        </p:txBody>
      </p:sp>
      <p:sp>
        <p:nvSpPr>
          <p:cNvPr id="7" name="">
            <a:extLst xmlns:a="http://schemas.openxmlformats.org/drawingml/2006/main">
              <a:ext uri="{FF2B5EF4-FFF2-40B4-BE49-F238E27FC236}">
                <a16:creationId xmlns:a16="http://schemas.microsoft.com/office/drawing/2014/main" id="{F4B3D255-4EB2-4B8F-BE03-109459347DD1}"/>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この2例だけで全樹種の法則を証明できない</a:t>
            </a:r>
          </a:p>
        </p:txBody>
      </p:sp>
    </p:spTree>
    <p:extLst>
      <p:ext uri="{BB962C8B-B14F-4D97-AF65-F5344CB8AC3E}">
        <p14:creationId xmlns:p14="http://schemas.microsoft.com/office/powerpoint/2010/main" val="21329808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511F2F-E8D9-42B8-BF94-86D259E8B22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第1部のまとめ</a:t>
            </a:r>
          </a:p>
        </p:txBody>
      </p:sp>
      <p:sp>
        <p:nvSpPr>
          <p:cNvPr id="2" name="">
            <a:extLst xmlns:a="http://schemas.openxmlformats.org/drawingml/2006/main">
              <a:ext uri="{FF2B5EF4-FFF2-40B4-BE49-F238E27FC236}">
                <a16:creationId xmlns:a16="http://schemas.microsoft.com/office/drawing/2014/main" id="{07C031CD-186A-4C9C-9203-E39A2A391906}"/>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DDA251F-8571-415A-97F2-5B8F8563041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6C3F5392-9C0C-419B-8578-F02969EA7A3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sp>
        <p:nvSpPr>
          <p:cNvPr id="5" name="">
            <a:extLst xmlns:a="http://schemas.openxmlformats.org/drawingml/2006/main">
              <a:ext uri="{FF2B5EF4-FFF2-40B4-BE49-F238E27FC236}">
                <a16:creationId xmlns:a16="http://schemas.microsoft.com/office/drawing/2014/main" id="{9FB25A9D-8870-4538-B44A-20BC87AE6E12}"/>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維管束の木部と師部を区別する</a:t>
            </a:r>
          </a:p>
        </p:txBody>
      </p:sp>
      <p:sp>
        <p:nvSpPr>
          <p:cNvPr id="6" name="">
            <a:extLst xmlns:a="http://schemas.openxmlformats.org/drawingml/2006/main">
              <a:ext uri="{FF2B5EF4-FFF2-40B4-BE49-F238E27FC236}">
                <a16:creationId xmlns:a16="http://schemas.microsoft.com/office/drawing/2014/main" id="{5D0728A1-9F22-4FBF-8511-2A8EB5282C05}"/>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木材形成と大型化を一方向の順序にしない</a:t>
            </a:r>
          </a:p>
        </p:txBody>
      </p:sp>
      <p:sp>
        <p:nvSpPr>
          <p:cNvPr id="7" name="">
            <a:extLst xmlns:a="http://schemas.openxmlformats.org/drawingml/2006/main">
              <a:ext uri="{FF2B5EF4-FFF2-40B4-BE49-F238E27FC236}">
                <a16:creationId xmlns:a16="http://schemas.microsoft.com/office/drawing/2014/main" id="{7DA8D607-F951-4058-A335-BEC9E7AADFB2}"/>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個体の長寿と部分の更新を区別する</a:t>
            </a:r>
          </a:p>
        </p:txBody>
      </p:sp>
    </p:spTree>
    <p:extLst>
      <p:ext uri="{BB962C8B-B14F-4D97-AF65-F5344CB8AC3E}">
        <p14:creationId xmlns:p14="http://schemas.microsoft.com/office/powerpoint/2010/main" val="186234252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4E0993-B574-429A-BD21-D1D588FA0A1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第2部　人類史における樹木と木材</a:t>
            </a:r>
          </a:p>
        </p:txBody>
      </p:sp>
      <p:sp>
        <p:nvSpPr>
          <p:cNvPr id="2" name="">
            <a:extLst xmlns:a="http://schemas.openxmlformats.org/drawingml/2006/main">
              <a:ext uri="{FF2B5EF4-FFF2-40B4-BE49-F238E27FC236}">
                <a16:creationId xmlns:a16="http://schemas.microsoft.com/office/drawing/2014/main" id="{C0C303B9-DBA6-4EE8-B9E6-30E51864FC6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AE14C0-5056-4E41-B860-84C435E0234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12FDD873-5576-4A3B-A0CD-16DB1DC2BED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
            <a:extLst xmlns:a="http://schemas.openxmlformats.org/drawingml/2006/main">
              <a:ext uri="{FF2B5EF4-FFF2-40B4-BE49-F238E27FC236}">
                <a16:creationId xmlns:a16="http://schemas.microsoft.com/office/drawing/2014/main" id="{16EA514C-2F14-4662-A3A0-9E28B739201F}"/>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用途と材料選択を考える</a:t>
            </a:r>
          </a:p>
        </p:txBody>
      </p:sp>
      <p:sp>
        <p:nvSpPr>
          <p:cNvPr id="6" name="">
            <a:extLst xmlns:a="http://schemas.openxmlformats.org/drawingml/2006/main">
              <a:ext uri="{FF2B5EF4-FFF2-40B4-BE49-F238E27FC236}">
                <a16:creationId xmlns:a16="http://schemas.microsoft.com/office/drawing/2014/main" id="{C688302F-C32F-499E-9541-F75595A3EBB6}"/>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残った資料から、どこまでいえるか</a:t>
            </a:r>
          </a:p>
        </p:txBody>
      </p:sp>
    </p:spTree>
    <p:extLst>
      <p:ext uri="{BB962C8B-B14F-4D97-AF65-F5344CB8AC3E}">
        <p14:creationId xmlns:p14="http://schemas.microsoft.com/office/powerpoint/2010/main" val="139282800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58164A-3C5E-4B0E-B394-948C2BBAB090}"/>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用途によって求める性質が変わる</a:t>
            </a:r>
          </a:p>
        </p:txBody>
      </p:sp>
      <p:sp>
        <p:nvSpPr>
          <p:cNvPr id="2" name="">
            <a:extLst xmlns:a="http://schemas.openxmlformats.org/drawingml/2006/main">
              <a:ext uri="{FF2B5EF4-FFF2-40B4-BE49-F238E27FC236}">
                <a16:creationId xmlns:a16="http://schemas.microsoft.com/office/drawing/2014/main" id="{30AF7EA7-3725-474B-BF93-81967111133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86B71B6-EFAA-493A-8667-C6E6B8B7E4D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D4D82CF2-A4F3-4B35-915C-DD0D8B8106B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D3AD32C8-8308-4DF3-844C-82CD39E24581}"/>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道具の柄：力を伝え、手で保持する</a:t>
            </a:r>
          </a:p>
        </p:txBody>
      </p:sp>
      <p:sp>
        <p:nvSpPr>
          <p:cNvPr id="6" name="">
            <a:extLst xmlns:a="http://schemas.openxmlformats.org/drawingml/2006/main">
              <a:ext uri="{FF2B5EF4-FFF2-40B4-BE49-F238E27FC236}">
                <a16:creationId xmlns:a16="http://schemas.microsoft.com/office/drawing/2014/main" id="{4B38F4AD-FB88-48FF-B0F5-76BDB8A3C2E9}"/>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容器：形を保ち、内容物を扱う</a:t>
            </a:r>
          </a:p>
        </p:txBody>
      </p:sp>
      <p:sp>
        <p:nvSpPr>
          <p:cNvPr id="7" name="">
            <a:extLst xmlns:a="http://schemas.openxmlformats.org/drawingml/2006/main">
              <a:ext uri="{FF2B5EF4-FFF2-40B4-BE49-F238E27FC236}">
                <a16:creationId xmlns:a16="http://schemas.microsoft.com/office/drawing/2014/main" id="{3B8B09FA-D6B5-4184-9FA7-B33649E1EB1E}"/>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柱：荷重を支え、使う環境に耐える</a:t>
            </a:r>
          </a:p>
        </p:txBody>
      </p:sp>
      <p:sp>
        <p:nvSpPr>
          <p:cNvPr id="8" name="">
            <a:extLst xmlns:a="http://schemas.openxmlformats.org/drawingml/2006/main">
              <a:ext uri="{FF2B5EF4-FFF2-40B4-BE49-F238E27FC236}">
                <a16:creationId xmlns:a16="http://schemas.microsoft.com/office/drawing/2014/main" id="{4261879B-FD5F-47C7-8455-0BF1594A3997}"/>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出典：[6] [7]　末尾の参照資料へ</a:t>
            </a:r>
          </a:p>
        </p:txBody>
      </p:sp>
    </p:spTree>
    <p:extLst>
      <p:ext uri="{BB962C8B-B14F-4D97-AF65-F5344CB8AC3E}">
        <p14:creationId xmlns:p14="http://schemas.microsoft.com/office/powerpoint/2010/main" val="140043670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526C34F-DD8A-4B1B-B167-788413F33A71}"/>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出土数と利用量を区別する</a:t>
            </a:r>
          </a:p>
        </p:txBody>
      </p:sp>
      <p:sp>
        <p:nvSpPr>
          <p:cNvPr id="2" name="">
            <a:extLst xmlns:a="http://schemas.openxmlformats.org/drawingml/2006/main">
              <a:ext uri="{FF2B5EF4-FFF2-40B4-BE49-F238E27FC236}">
                <a16:creationId xmlns:a16="http://schemas.microsoft.com/office/drawing/2014/main" id="{374B763E-B91D-44F9-AB6B-3CE2093D4E0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19439BB-CF0F-40EC-8C47-D7A8938010A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A96EB07C-FFC2-47B4-89E9-9F6C9D52EAC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5333CE4C-7F65-4ED5-9182-1356A413CCA3}"/>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木製品が残る条件は環境によって異なる</a:t>
            </a:r>
          </a:p>
        </p:txBody>
      </p:sp>
      <p:sp>
        <p:nvSpPr>
          <p:cNvPr id="6" name="">
            <a:extLst xmlns:a="http://schemas.openxmlformats.org/drawingml/2006/main">
              <a:ext uri="{FF2B5EF4-FFF2-40B4-BE49-F238E27FC236}">
                <a16:creationId xmlns:a16="http://schemas.microsoft.com/office/drawing/2014/main" id="{A25D7743-32E2-4B87-8B65-8B9E2F385889}"/>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平城宮の事例では埋蔵環境の保全が重要</a:t>
            </a:r>
          </a:p>
        </p:txBody>
      </p:sp>
      <p:sp>
        <p:nvSpPr>
          <p:cNvPr id="7" name="">
            <a:extLst xmlns:a="http://schemas.openxmlformats.org/drawingml/2006/main">
              <a:ext uri="{FF2B5EF4-FFF2-40B4-BE49-F238E27FC236}">
                <a16:creationId xmlns:a16="http://schemas.microsoft.com/office/drawing/2014/main" id="{4A1FB607-6C8B-4ABF-859C-005B744EF5C6}"/>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利用・保存・発見を分けて考える</a:t>
            </a:r>
          </a:p>
        </p:txBody>
      </p:sp>
      <p:sp>
        <p:nvSpPr>
          <p:cNvPr id="8" name="">
            <a:extLst xmlns:a="http://schemas.openxmlformats.org/drawingml/2006/main">
              <a:ext uri="{FF2B5EF4-FFF2-40B4-BE49-F238E27FC236}">
                <a16:creationId xmlns:a16="http://schemas.microsoft.com/office/drawing/2014/main" id="{63A609FB-7246-4163-81D9-D7BFD76EC275}"/>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出典：[6]　末尾の参照資料へ</a:t>
            </a:r>
          </a:p>
        </p:txBody>
      </p:sp>
    </p:spTree>
    <p:extLst>
      <p:ext uri="{BB962C8B-B14F-4D97-AF65-F5344CB8AC3E}">
        <p14:creationId xmlns:p14="http://schemas.microsoft.com/office/powerpoint/2010/main" val="130640322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E82EEE-D3F1-4CC0-928D-02003091ABB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木製狩猟具から材料と加工を考える</a:t>
            </a:r>
          </a:p>
        </p:txBody>
      </p:sp>
      <p:sp>
        <p:nvSpPr>
          <p:cNvPr id="2" name="">
            <a:extLst xmlns:a="http://schemas.openxmlformats.org/drawingml/2006/main">
              <a:ext uri="{FF2B5EF4-FFF2-40B4-BE49-F238E27FC236}">
                <a16:creationId xmlns:a16="http://schemas.microsoft.com/office/drawing/2014/main" id="{FBBB88BE-E622-4833-8987-8684A586E21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E4A5743-03F4-4F87-8570-650FA1119E0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1F29B50C-64AF-4357-BE22-E01D44528BF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16F52E95-35A6-4A20-9548-AB4FDA1A1B55}"/>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シェーニンゲンの木製狩猟具</a:t>
            </a:r>
          </a:p>
        </p:txBody>
      </p:sp>
      <p:sp>
        <p:nvSpPr>
          <p:cNvPr id="6" name="">
            <a:extLst xmlns:a="http://schemas.openxmlformats.org/drawingml/2006/main">
              <a:ext uri="{FF2B5EF4-FFF2-40B4-BE49-F238E27FC236}">
                <a16:creationId xmlns:a16="http://schemas.microsoft.com/office/drawing/2014/main" id="{B3F75C22-E249-423B-8BDB-98F3EFBDF82E}"/>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観察した形と、用途の推論を分ける</a:t>
            </a:r>
          </a:p>
        </p:txBody>
      </p:sp>
      <p:sp>
        <p:nvSpPr>
          <p:cNvPr id="7" name="">
            <a:extLst xmlns:a="http://schemas.openxmlformats.org/drawingml/2006/main">
              <a:ext uri="{FF2B5EF4-FFF2-40B4-BE49-F238E27FC236}">
                <a16:creationId xmlns:a16="http://schemas.microsoft.com/office/drawing/2014/main" id="{42445B8B-59C6-4CD5-ABF1-58176134BE1C}"/>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年代の再評価を伴う研究事例</a:t>
            </a:r>
          </a:p>
        </p:txBody>
      </p:sp>
      <p:sp>
        <p:nvSpPr>
          <p:cNvPr id="8" name="">
            <a:extLst xmlns:a="http://schemas.openxmlformats.org/drawingml/2006/main">
              <a:ext uri="{FF2B5EF4-FFF2-40B4-BE49-F238E27FC236}">
                <a16:creationId xmlns:a16="http://schemas.microsoft.com/office/drawing/2014/main" id="{9B52FB42-AD6D-4611-AE1E-41829C60E4B5}"/>
              </a:ext>
            </a:extLst>
          </p:cNvPr>
          <p:cNvSpPr>
            <a:spLocks xmlns:a="http://schemas.openxmlformats.org/drawingml/2006/main" noGrp="1"/>
          </p:cNvSpPr>
          <p:nvPr/>
        </p:nvSpPr>
        <p:spPr>
          <a:xfrm xmlns:a="http://schemas.openxmlformats.org/drawingml/2006/main">
            <a:off x="838200" y="5953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出典：[7]　末尾の参照資料へ</a:t>
            </a:r>
          </a:p>
        </p:txBody>
      </p:sp>
    </p:spTree>
    <p:extLst>
      <p:ext uri="{BB962C8B-B14F-4D97-AF65-F5344CB8AC3E}">
        <p14:creationId xmlns:p14="http://schemas.microsoft.com/office/powerpoint/2010/main" val="158440358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1283A7-BB6C-41FA-BCCC-712B0DE8DD0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演習3　三つの説明を検討する</a:t>
            </a:r>
          </a:p>
        </p:txBody>
      </p:sp>
      <p:sp>
        <p:nvSpPr>
          <p:cNvPr id="2" name="">
            <a:extLst xmlns:a="http://schemas.openxmlformats.org/drawingml/2006/main">
              <a:ext uri="{FF2B5EF4-FFF2-40B4-BE49-F238E27FC236}">
                <a16:creationId xmlns:a16="http://schemas.microsoft.com/office/drawing/2014/main" id="{4504EAE9-E4D3-4837-AB3B-A679156EA5D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EB7229D-CEAE-48D4-831F-AD7DBB515FA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FF6B833A-9113-4F01-9E23-D01F0351D31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sp>
        <p:nvSpPr>
          <p:cNvPr id="5" name="">
            <a:extLst xmlns:a="http://schemas.openxmlformats.org/drawingml/2006/main">
              <a:ext uri="{FF2B5EF4-FFF2-40B4-BE49-F238E27FC236}">
                <a16:creationId xmlns:a16="http://schemas.microsoft.com/office/drawing/2014/main" id="{7FAB479C-B5C3-4E36-A01C-B0D888FCD71A}"/>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「千年生きた木の製品は千年もつ」</a:t>
            </a:r>
          </a:p>
        </p:txBody>
      </p:sp>
      <p:sp>
        <p:nvSpPr>
          <p:cNvPr id="6" name="">
            <a:extLst xmlns:a="http://schemas.openxmlformats.org/drawingml/2006/main">
              <a:ext uri="{FF2B5EF4-FFF2-40B4-BE49-F238E27FC236}">
                <a16:creationId xmlns:a16="http://schemas.microsoft.com/office/drawing/2014/main" id="{EBDE9CFC-FBE4-4314-849E-EE3228559B7C}"/>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「太い木は古い」</a:t>
            </a:r>
          </a:p>
        </p:txBody>
      </p:sp>
      <p:sp>
        <p:nvSpPr>
          <p:cNvPr id="7" name="">
            <a:extLst xmlns:a="http://schemas.openxmlformats.org/drawingml/2006/main">
              <a:ext uri="{FF2B5EF4-FFF2-40B4-BE49-F238E27FC236}">
                <a16:creationId xmlns:a16="http://schemas.microsoft.com/office/drawing/2014/main" id="{FE77E2AA-4343-4D76-987A-B4A28E1E6344}"/>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「長寿のために木材が生まれた」</a:t>
            </a:r>
          </a:p>
        </p:txBody>
      </p:sp>
    </p:spTree>
    <p:extLst>
      <p:ext uri="{BB962C8B-B14F-4D97-AF65-F5344CB8AC3E}">
        <p14:creationId xmlns:p14="http://schemas.microsoft.com/office/powerpoint/2010/main" val="105591945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FF1C5E-6A3A-4FD3-82A8-64CDB413B050}"/>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二つの部でわかったこと</a:t>
            </a:r>
          </a:p>
        </p:txBody>
      </p:sp>
      <p:sp>
        <p:nvSpPr>
          <p:cNvPr id="2" name="">
            <a:extLst xmlns:a="http://schemas.openxmlformats.org/drawingml/2006/main">
              <a:ext uri="{FF2B5EF4-FFF2-40B4-BE49-F238E27FC236}">
                <a16:creationId xmlns:a16="http://schemas.microsoft.com/office/drawing/2014/main" id="{07D43F0C-D9CB-4805-9B3F-1859DACBD5A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3541ED8-B498-4690-8963-66B6B852F3F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C4F3F3EC-1258-4552-92C4-93BD1FB6D7A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28</a:t>
            </a:r>
          </a:p>
        </p:txBody>
      </p:sp>
      <p:sp>
        <p:nvSpPr>
          <p:cNvPr id="5" name="">
            <a:extLst xmlns:a="http://schemas.openxmlformats.org/drawingml/2006/main">
              <a:ext uri="{FF2B5EF4-FFF2-40B4-BE49-F238E27FC236}">
                <a16:creationId xmlns:a16="http://schemas.microsoft.com/office/drawing/2014/main" id="{C524A2C2-0B66-4B57-AE46-F194218D6874}"/>
              </a:ext>
            </a:extLst>
          </p:cNvPr>
          <p:cNvSpPr>
            <a:spLocks xmlns:a="http://schemas.openxmlformats.org/drawingml/2006/main" noGrp="1"/>
          </p:cNvSpPr>
          <p:nvPr/>
        </p:nvSpPr>
        <p:spPr>
          <a:xfrm xmlns:a="http://schemas.openxmlformats.org/drawingml/2006/main">
            <a:off x="838200" y="1666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18364F"/>
                </a:solidFill>
                <a:latin typeface="Yu Gothic"/>
                <a:ea typeface="Yu Gothic"/>
                <a:cs typeface="Yu Gothic"/>
              </a:defRPr>
            </a:defPPr>
            <a:lvl1pPr>
              <a:defRPr sz="2325" b="0">
                <a:solidFill>
                  <a:srgbClr val="18364F"/>
                </a:solidFill>
                <a:latin typeface="Yu Gothic"/>
                <a:ea typeface="Yu Gothic"/>
                <a:cs typeface="Yu Gothic"/>
              </a:defRPr>
            </a:lvl1pPr>
            <a:lvl2pPr>
              <a:defRPr sz="2325" b="0">
                <a:solidFill>
                  <a:srgbClr val="18364F"/>
                </a:solidFill>
                <a:latin typeface="Yu Gothic"/>
                <a:ea typeface="Yu Gothic"/>
                <a:cs typeface="Yu Gothic"/>
              </a:defRPr>
            </a:lvl2pPr>
            <a:lvl3pPr>
              <a:defRPr sz="2325" b="0">
                <a:solidFill>
                  <a:srgbClr val="18364F"/>
                </a:solidFill>
                <a:latin typeface="Yu Gothic"/>
                <a:ea typeface="Yu Gothic"/>
                <a:cs typeface="Yu Gothic"/>
              </a:defRPr>
            </a:lvl3pPr>
            <a:lvl4pPr>
              <a:defRPr sz="2325" b="0">
                <a:solidFill>
                  <a:srgbClr val="18364F"/>
                </a:solidFill>
                <a:latin typeface="Yu Gothic"/>
                <a:ea typeface="Yu Gothic"/>
                <a:cs typeface="Yu Gothic"/>
              </a:defRPr>
            </a:lvl4pPr>
            <a:lvl5pPr>
              <a:defRPr sz="2325" b="0">
                <a:solidFill>
                  <a:srgbClr val="18364F"/>
                </a:solidFill>
                <a:latin typeface="Yu Gothic"/>
                <a:ea typeface="Yu Gothic"/>
                <a:cs typeface="Yu Gothic"/>
              </a:defRPr>
            </a:lvl5pPr>
            <a:lvl6pPr>
              <a:defRPr sz="2325" b="0">
                <a:solidFill>
                  <a:srgbClr val="18364F"/>
                </a:solidFill>
                <a:latin typeface="Yu Gothic"/>
                <a:ea typeface="Yu Gothic"/>
                <a:cs typeface="Yu Gothic"/>
              </a:defRPr>
            </a:lvl6pPr>
            <a:lvl7pPr>
              <a:defRPr sz="2325" b="0">
                <a:solidFill>
                  <a:srgbClr val="18364F"/>
                </a:solidFill>
                <a:latin typeface="Yu Gothic"/>
                <a:ea typeface="Yu Gothic"/>
                <a:cs typeface="Yu Gothic"/>
              </a:defRPr>
            </a:lvl7pPr>
            <a:lvl8pPr>
              <a:defRPr sz="2325" b="0">
                <a:solidFill>
                  <a:srgbClr val="18364F"/>
                </a:solidFill>
                <a:latin typeface="Yu Gothic"/>
                <a:ea typeface="Yu Gothic"/>
                <a:cs typeface="Yu Gothic"/>
              </a:defRPr>
            </a:lvl8pPr>
            <a:lvl9pPr>
              <a:defRPr sz="2325" b="0">
                <a:solidFill>
                  <a:srgbClr val="18364F"/>
                </a:solidFill>
                <a:latin typeface="Yu Gothic"/>
                <a:ea typeface="Yu Gothic"/>
                <a:cs typeface="Yu Gothic"/>
              </a:defRPr>
            </a:lvl9pPr>
          </a:lstStyle>
          <a:p xmlns:a="http://schemas.openxmlformats.org/drawingml/2006/main">
            <a:pPr>
              <a:defRPr sz="2325" b="0">
                <a:solidFill>
                  <a:srgbClr val="18364F"/>
                </a:solidFill>
                <a:latin typeface="Yu Gothic"/>
                <a:ea typeface="Yu Gothic"/>
                <a:cs typeface="Yu Gothic"/>
              </a:defRPr>
            </a:pPr>
            <a:r>
              <a:rPr sz="2325" b="0">
                <a:solidFill>
                  <a:srgbClr val="18364F"/>
                </a:solidFill>
                <a:latin typeface="Yu Gothic"/>
                <a:ea typeface="Yu Gothic"/>
                <a:cs typeface="Yu Gothic"/>
              </a:rPr>
              <a:t>第1部：維管束の働きと長寿の説明</a:t>
            </a:r>
          </a:p>
        </p:txBody>
      </p:sp>
      <p:sp>
        <p:nvSpPr>
          <p:cNvPr id="6" name="">
            <a:extLst xmlns:a="http://schemas.openxmlformats.org/drawingml/2006/main">
              <a:ext uri="{FF2B5EF4-FFF2-40B4-BE49-F238E27FC236}">
                <a16:creationId xmlns:a16="http://schemas.microsoft.com/office/drawing/2014/main" id="{AE89DF75-1142-4C6D-8F5F-755CE01C27E7}"/>
              </a:ext>
            </a:extLst>
          </p:cNvPr>
          <p:cNvSpPr>
            <a:spLocks xmlns:a="http://schemas.openxmlformats.org/drawingml/2006/main" noGrp="1"/>
          </p:cNvSpPr>
          <p:nvPr/>
        </p:nvSpPr>
        <p:spPr>
          <a:xfrm xmlns:a="http://schemas.openxmlformats.org/drawingml/2006/main">
            <a:off x="838200" y="2857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第2部：資料の保存条件と用途の説明</a:t>
            </a:r>
          </a:p>
        </p:txBody>
      </p:sp>
      <p:sp>
        <p:nvSpPr>
          <p:cNvPr id="7" name="">
            <a:extLst xmlns:a="http://schemas.openxmlformats.org/drawingml/2006/main">
              <a:ext uri="{FF2B5EF4-FFF2-40B4-BE49-F238E27FC236}">
                <a16:creationId xmlns:a16="http://schemas.microsoft.com/office/drawing/2014/main" id="{31410D7C-433C-4475-B3AC-B1433D40EEF0}"/>
              </a:ext>
            </a:extLst>
          </p:cNvPr>
          <p:cNvSpPr>
            <a:spLocks xmlns:a="http://schemas.openxmlformats.org/drawingml/2006/main" noGrp="1"/>
          </p:cNvSpPr>
          <p:nvPr/>
        </p:nvSpPr>
        <p:spPr>
          <a:xfrm xmlns:a="http://schemas.openxmlformats.org/drawingml/2006/main">
            <a:off x="838200" y="40481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53C4D"/>
                </a:solidFill>
                <a:latin typeface="Yu Gothic"/>
                <a:ea typeface="Yu Gothic"/>
                <a:cs typeface="Yu Gothic"/>
              </a:defRPr>
            </a:defPPr>
            <a:lvl1pPr>
              <a:defRPr sz="2325" b="0">
                <a:solidFill>
                  <a:srgbClr val="253C4D"/>
                </a:solidFill>
                <a:latin typeface="Yu Gothic"/>
                <a:ea typeface="Yu Gothic"/>
                <a:cs typeface="Yu Gothic"/>
              </a:defRPr>
            </a:lvl1pPr>
            <a:lvl2pPr>
              <a:defRPr sz="2325" b="0">
                <a:solidFill>
                  <a:srgbClr val="253C4D"/>
                </a:solidFill>
                <a:latin typeface="Yu Gothic"/>
                <a:ea typeface="Yu Gothic"/>
                <a:cs typeface="Yu Gothic"/>
              </a:defRPr>
            </a:lvl2pPr>
            <a:lvl3pPr>
              <a:defRPr sz="2325" b="0">
                <a:solidFill>
                  <a:srgbClr val="253C4D"/>
                </a:solidFill>
                <a:latin typeface="Yu Gothic"/>
                <a:ea typeface="Yu Gothic"/>
                <a:cs typeface="Yu Gothic"/>
              </a:defRPr>
            </a:lvl3pPr>
            <a:lvl4pPr>
              <a:defRPr sz="2325" b="0">
                <a:solidFill>
                  <a:srgbClr val="253C4D"/>
                </a:solidFill>
                <a:latin typeface="Yu Gothic"/>
                <a:ea typeface="Yu Gothic"/>
                <a:cs typeface="Yu Gothic"/>
              </a:defRPr>
            </a:lvl4pPr>
            <a:lvl5pPr>
              <a:defRPr sz="2325" b="0">
                <a:solidFill>
                  <a:srgbClr val="253C4D"/>
                </a:solidFill>
                <a:latin typeface="Yu Gothic"/>
                <a:ea typeface="Yu Gothic"/>
                <a:cs typeface="Yu Gothic"/>
              </a:defRPr>
            </a:lvl5pPr>
            <a:lvl6pPr>
              <a:defRPr sz="2325" b="0">
                <a:solidFill>
                  <a:srgbClr val="253C4D"/>
                </a:solidFill>
                <a:latin typeface="Yu Gothic"/>
                <a:ea typeface="Yu Gothic"/>
                <a:cs typeface="Yu Gothic"/>
              </a:defRPr>
            </a:lvl6pPr>
            <a:lvl7pPr>
              <a:defRPr sz="2325" b="0">
                <a:solidFill>
                  <a:srgbClr val="253C4D"/>
                </a:solidFill>
                <a:latin typeface="Yu Gothic"/>
                <a:ea typeface="Yu Gothic"/>
                <a:cs typeface="Yu Gothic"/>
              </a:defRPr>
            </a:lvl7pPr>
            <a:lvl8pPr>
              <a:defRPr sz="2325" b="0">
                <a:solidFill>
                  <a:srgbClr val="253C4D"/>
                </a:solidFill>
                <a:latin typeface="Yu Gothic"/>
                <a:ea typeface="Yu Gothic"/>
                <a:cs typeface="Yu Gothic"/>
              </a:defRPr>
            </a:lvl8pPr>
            <a:lvl9pPr>
              <a:defRPr sz="2325" b="0">
                <a:solidFill>
                  <a:srgbClr val="253C4D"/>
                </a:solidFill>
                <a:latin typeface="Yu Gothic"/>
                <a:ea typeface="Yu Gothic"/>
                <a:cs typeface="Yu Gothic"/>
              </a:defRPr>
            </a:lvl9pPr>
          </a:lstStyle>
          <a:p xmlns:a="http://schemas.openxmlformats.org/drawingml/2006/main">
            <a:pPr>
              <a:defRPr sz="2325" b="0">
                <a:solidFill>
                  <a:srgbClr val="253C4D"/>
                </a:solidFill>
                <a:latin typeface="Yu Gothic"/>
                <a:ea typeface="Yu Gothic"/>
                <a:cs typeface="Yu Gothic"/>
              </a:defRPr>
            </a:pPr>
            <a:r>
              <a:rPr sz="2325" b="0">
                <a:solidFill>
                  <a:srgbClr val="253C4D"/>
                </a:solidFill>
                <a:latin typeface="Yu Gothic"/>
                <a:ea typeface="Yu Gothic"/>
                <a:cs typeface="Yu Gothic"/>
              </a:rPr>
              <a:t>次回：地域の木の文化と技術の継承</a:t>
            </a:r>
          </a:p>
        </p:txBody>
      </p:sp>
    </p:spTree>
    <p:extLst>
      <p:ext uri="{BB962C8B-B14F-4D97-AF65-F5344CB8AC3E}">
        <p14:creationId xmlns:p14="http://schemas.microsoft.com/office/powerpoint/2010/main" val="178250984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6E9378-8E12-4D5E-BA9F-0CAEC9F71D3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参照資料</a:t>
            </a:r>
          </a:p>
        </p:txBody>
      </p:sp>
      <p:sp>
        <p:nvSpPr>
          <p:cNvPr id="2" name="">
            <a:extLst xmlns:a="http://schemas.openxmlformats.org/drawingml/2006/main">
              <a:ext uri="{FF2B5EF4-FFF2-40B4-BE49-F238E27FC236}">
                <a16:creationId xmlns:a16="http://schemas.microsoft.com/office/drawing/2014/main" id="{BD5D0857-3A64-42E3-ACEF-D2098DA25D5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78C4208-B7C7-492C-933E-3C83D6511A8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335CBA07-980E-423C-B6CC-A226350E6F9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29</a:t>
            </a:r>
          </a:p>
        </p:txBody>
      </p:sp>
      <p:sp>
        <p:nvSpPr>
          <p:cNvPr id="5" name="">
            <a:extLst xmlns:a="http://schemas.openxmlformats.org/drawingml/2006/main">
              <a:ext uri="{FF2B5EF4-FFF2-40B4-BE49-F238E27FC236}">
                <a16:creationId xmlns:a16="http://schemas.microsoft.com/office/drawing/2014/main" id="{E8B0E770-4366-4190-A76B-1342EBD3846A}"/>
              </a:ext>
            </a:extLst>
          </p:cNvPr>
          <p:cNvSpPr>
            <a:spLocks xmlns:a="http://schemas.openxmlformats.org/drawingml/2006/main" noGrp="1"/>
          </p:cNvSpPr>
          <p:nvPr/>
        </p:nvSpPr>
        <p:spPr>
          <a:xfrm xmlns:a="http://schemas.openxmlformats.org/drawingml/2006/main">
            <a:off x="838200" y="15716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876A8"/>
                </a:solidFill>
                <a:latin typeface="Yu Gothic"/>
                <a:ea typeface="Yu Gothic"/>
                <a:cs typeface="Yu Gothic"/>
              </a:defRPr>
            </a:defPPr>
            <a:lvl1pPr>
              <a:defRPr sz="1875" b="0">
                <a:solidFill>
                  <a:srgbClr val="2876A8"/>
                </a:solidFill>
                <a:latin typeface="Yu Gothic"/>
                <a:ea typeface="Yu Gothic"/>
                <a:cs typeface="Yu Gothic"/>
              </a:defRPr>
            </a:lvl1pPr>
            <a:lvl2pPr>
              <a:defRPr sz="1875" b="0">
                <a:solidFill>
                  <a:srgbClr val="2876A8"/>
                </a:solidFill>
                <a:latin typeface="Yu Gothic"/>
                <a:ea typeface="Yu Gothic"/>
                <a:cs typeface="Yu Gothic"/>
              </a:defRPr>
            </a:lvl2pPr>
            <a:lvl3pPr>
              <a:defRPr sz="1875" b="0">
                <a:solidFill>
                  <a:srgbClr val="2876A8"/>
                </a:solidFill>
                <a:latin typeface="Yu Gothic"/>
                <a:ea typeface="Yu Gothic"/>
                <a:cs typeface="Yu Gothic"/>
              </a:defRPr>
            </a:lvl3pPr>
            <a:lvl4pPr>
              <a:defRPr sz="1875" b="0">
                <a:solidFill>
                  <a:srgbClr val="2876A8"/>
                </a:solidFill>
                <a:latin typeface="Yu Gothic"/>
                <a:ea typeface="Yu Gothic"/>
                <a:cs typeface="Yu Gothic"/>
              </a:defRPr>
            </a:lvl4pPr>
            <a:lvl5pPr>
              <a:defRPr sz="1875" b="0">
                <a:solidFill>
                  <a:srgbClr val="2876A8"/>
                </a:solidFill>
                <a:latin typeface="Yu Gothic"/>
                <a:ea typeface="Yu Gothic"/>
                <a:cs typeface="Yu Gothic"/>
              </a:defRPr>
            </a:lvl5pPr>
            <a:lvl6pPr>
              <a:defRPr sz="1875" b="0">
                <a:solidFill>
                  <a:srgbClr val="2876A8"/>
                </a:solidFill>
                <a:latin typeface="Yu Gothic"/>
                <a:ea typeface="Yu Gothic"/>
                <a:cs typeface="Yu Gothic"/>
              </a:defRPr>
            </a:lvl6pPr>
            <a:lvl7pPr>
              <a:defRPr sz="1875" b="0">
                <a:solidFill>
                  <a:srgbClr val="2876A8"/>
                </a:solidFill>
                <a:latin typeface="Yu Gothic"/>
                <a:ea typeface="Yu Gothic"/>
                <a:cs typeface="Yu Gothic"/>
              </a:defRPr>
            </a:lvl7pPr>
            <a:lvl8pPr>
              <a:defRPr sz="1875" b="0">
                <a:solidFill>
                  <a:srgbClr val="2876A8"/>
                </a:solidFill>
                <a:latin typeface="Yu Gothic"/>
                <a:ea typeface="Yu Gothic"/>
                <a:cs typeface="Yu Gothic"/>
              </a:defRPr>
            </a:lvl8pPr>
            <a:lvl9pPr>
              <a:defRPr sz="1875" b="0">
                <a:solidFill>
                  <a:srgbClr val="2876A8"/>
                </a:solidFill>
                <a:latin typeface="Yu Gothic"/>
                <a:ea typeface="Yu Gothic"/>
                <a:cs typeface="Yu Gothic"/>
              </a:defRPr>
            </a:lvl9pPr>
          </a:lstStyle>
          <a:p xmlns:a="http://schemas.openxmlformats.org/drawingml/2006/main">
            <a:pPr>
              <a:defRPr sz="1875" b="0">
                <a:solidFill>
                  <a:srgbClr val="2876A8"/>
                </a:solidFill>
                <a:latin typeface="Yu Gothic"/>
                <a:ea typeface="Yu Gothic"/>
                <a:cs typeface="Yu Gothic"/>
              </a:defRPr>
            </a:pPr>
            <a:r>
              <a:rPr sz="1875" b="0">
                <a:solidFill>
                  <a:srgbClr val="2876A8"/>
                </a:solidFill>
                <a:latin typeface="Yu Gothic"/>
                <a:ea typeface="Yu Gothic"/>
                <a:cs typeface="Yu Gothic"/>
                <a:hlinkClick xmlns:r="http://schemas.openxmlformats.org/officeDocument/2006/relationships" r:id="Rdc009d00512e4d3d"/>
              </a:rPr>
              <a:t>Woganほか（2022）大酸化イベント</a:t>
            </a:r>
          </a:p>
        </p:txBody>
      </p:sp>
      <p:sp>
        <p:nvSpPr>
          <p:cNvPr id="6" name="">
            <a:extLst xmlns:a="http://schemas.openxmlformats.org/drawingml/2006/main">
              <a:ext uri="{FF2B5EF4-FFF2-40B4-BE49-F238E27FC236}">
                <a16:creationId xmlns:a16="http://schemas.microsoft.com/office/drawing/2014/main" id="{95094CED-6ED3-449F-A115-3B9D8A7A84CF}"/>
              </a:ext>
            </a:extLst>
          </p:cNvPr>
          <p:cNvSpPr>
            <a:spLocks xmlns:a="http://schemas.openxmlformats.org/drawingml/2006/main" noGrp="1"/>
          </p:cNvSpPr>
          <p:nvPr/>
        </p:nvSpPr>
        <p:spPr>
          <a:xfrm xmlns:a="http://schemas.openxmlformats.org/drawingml/2006/main">
            <a:off x="838200" y="257175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876A8"/>
                </a:solidFill>
                <a:latin typeface="Yu Gothic"/>
                <a:ea typeface="Yu Gothic"/>
                <a:cs typeface="Yu Gothic"/>
              </a:defRPr>
            </a:defPPr>
            <a:lvl1pPr>
              <a:defRPr sz="1875" b="0">
                <a:solidFill>
                  <a:srgbClr val="2876A8"/>
                </a:solidFill>
                <a:latin typeface="Yu Gothic"/>
                <a:ea typeface="Yu Gothic"/>
                <a:cs typeface="Yu Gothic"/>
              </a:defRPr>
            </a:lvl1pPr>
            <a:lvl2pPr>
              <a:defRPr sz="1875" b="0">
                <a:solidFill>
                  <a:srgbClr val="2876A8"/>
                </a:solidFill>
                <a:latin typeface="Yu Gothic"/>
                <a:ea typeface="Yu Gothic"/>
                <a:cs typeface="Yu Gothic"/>
              </a:defRPr>
            </a:lvl2pPr>
            <a:lvl3pPr>
              <a:defRPr sz="1875" b="0">
                <a:solidFill>
                  <a:srgbClr val="2876A8"/>
                </a:solidFill>
                <a:latin typeface="Yu Gothic"/>
                <a:ea typeface="Yu Gothic"/>
                <a:cs typeface="Yu Gothic"/>
              </a:defRPr>
            </a:lvl3pPr>
            <a:lvl4pPr>
              <a:defRPr sz="1875" b="0">
                <a:solidFill>
                  <a:srgbClr val="2876A8"/>
                </a:solidFill>
                <a:latin typeface="Yu Gothic"/>
                <a:ea typeface="Yu Gothic"/>
                <a:cs typeface="Yu Gothic"/>
              </a:defRPr>
            </a:lvl4pPr>
            <a:lvl5pPr>
              <a:defRPr sz="1875" b="0">
                <a:solidFill>
                  <a:srgbClr val="2876A8"/>
                </a:solidFill>
                <a:latin typeface="Yu Gothic"/>
                <a:ea typeface="Yu Gothic"/>
                <a:cs typeface="Yu Gothic"/>
              </a:defRPr>
            </a:lvl5pPr>
            <a:lvl6pPr>
              <a:defRPr sz="1875" b="0">
                <a:solidFill>
                  <a:srgbClr val="2876A8"/>
                </a:solidFill>
                <a:latin typeface="Yu Gothic"/>
                <a:ea typeface="Yu Gothic"/>
                <a:cs typeface="Yu Gothic"/>
              </a:defRPr>
            </a:lvl6pPr>
            <a:lvl7pPr>
              <a:defRPr sz="1875" b="0">
                <a:solidFill>
                  <a:srgbClr val="2876A8"/>
                </a:solidFill>
                <a:latin typeface="Yu Gothic"/>
                <a:ea typeface="Yu Gothic"/>
                <a:cs typeface="Yu Gothic"/>
              </a:defRPr>
            </a:lvl7pPr>
            <a:lvl8pPr>
              <a:defRPr sz="1875" b="0">
                <a:solidFill>
                  <a:srgbClr val="2876A8"/>
                </a:solidFill>
                <a:latin typeface="Yu Gothic"/>
                <a:ea typeface="Yu Gothic"/>
                <a:cs typeface="Yu Gothic"/>
              </a:defRPr>
            </a:lvl8pPr>
            <a:lvl9pPr>
              <a:defRPr sz="1875" b="0">
                <a:solidFill>
                  <a:srgbClr val="2876A8"/>
                </a:solidFill>
                <a:latin typeface="Yu Gothic"/>
                <a:ea typeface="Yu Gothic"/>
                <a:cs typeface="Yu Gothic"/>
              </a:defRPr>
            </a:lvl9pPr>
          </a:lstStyle>
          <a:p xmlns:a="http://schemas.openxmlformats.org/drawingml/2006/main">
            <a:pPr>
              <a:defRPr sz="1875" b="0">
                <a:solidFill>
                  <a:srgbClr val="2876A8"/>
                </a:solidFill>
                <a:latin typeface="Yu Gothic"/>
                <a:ea typeface="Yu Gothic"/>
                <a:cs typeface="Yu Gothic"/>
              </a:defRPr>
            </a:pPr>
            <a:r>
              <a:rPr sz="1875" b="0">
                <a:solidFill>
                  <a:srgbClr val="2876A8"/>
                </a:solidFill>
                <a:latin typeface="Yu Gothic"/>
                <a:ea typeface="Yu Gothic"/>
                <a:cs typeface="Yu Gothic"/>
                <a:hlinkClick xmlns:r="http://schemas.openxmlformats.org/officeDocument/2006/relationships" r:id="Rebb38bd1cce643b2"/>
              </a:rPr>
              <a:t>Cookeほか（2022）酸素とオゾンのモデル</a:t>
            </a:r>
          </a:p>
        </p:txBody>
      </p:sp>
      <p:sp>
        <p:nvSpPr>
          <p:cNvPr id="7" name="">
            <a:extLst xmlns:a="http://schemas.openxmlformats.org/drawingml/2006/main">
              <a:ext uri="{FF2B5EF4-FFF2-40B4-BE49-F238E27FC236}">
                <a16:creationId xmlns:a16="http://schemas.microsoft.com/office/drawing/2014/main" id="{6343E34E-3AFF-4A01-AD0A-6257C9C90487}"/>
              </a:ext>
            </a:extLst>
          </p:cNvPr>
          <p:cNvSpPr>
            <a:spLocks xmlns:a="http://schemas.openxmlformats.org/drawingml/2006/main" noGrp="1"/>
          </p:cNvSpPr>
          <p:nvPr/>
        </p:nvSpPr>
        <p:spPr>
          <a:xfrm xmlns:a="http://schemas.openxmlformats.org/drawingml/2006/main">
            <a:off x="838200" y="357187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876A8"/>
                </a:solidFill>
                <a:latin typeface="Yu Gothic"/>
                <a:ea typeface="Yu Gothic"/>
                <a:cs typeface="Yu Gothic"/>
              </a:defRPr>
            </a:defPPr>
            <a:lvl1pPr>
              <a:defRPr sz="1875" b="0">
                <a:solidFill>
                  <a:srgbClr val="2876A8"/>
                </a:solidFill>
                <a:latin typeface="Yu Gothic"/>
                <a:ea typeface="Yu Gothic"/>
                <a:cs typeface="Yu Gothic"/>
              </a:defRPr>
            </a:lvl1pPr>
            <a:lvl2pPr>
              <a:defRPr sz="1875" b="0">
                <a:solidFill>
                  <a:srgbClr val="2876A8"/>
                </a:solidFill>
                <a:latin typeface="Yu Gothic"/>
                <a:ea typeface="Yu Gothic"/>
                <a:cs typeface="Yu Gothic"/>
              </a:defRPr>
            </a:lvl2pPr>
            <a:lvl3pPr>
              <a:defRPr sz="1875" b="0">
                <a:solidFill>
                  <a:srgbClr val="2876A8"/>
                </a:solidFill>
                <a:latin typeface="Yu Gothic"/>
                <a:ea typeface="Yu Gothic"/>
                <a:cs typeface="Yu Gothic"/>
              </a:defRPr>
            </a:lvl3pPr>
            <a:lvl4pPr>
              <a:defRPr sz="1875" b="0">
                <a:solidFill>
                  <a:srgbClr val="2876A8"/>
                </a:solidFill>
                <a:latin typeface="Yu Gothic"/>
                <a:ea typeface="Yu Gothic"/>
                <a:cs typeface="Yu Gothic"/>
              </a:defRPr>
            </a:lvl4pPr>
            <a:lvl5pPr>
              <a:defRPr sz="1875" b="0">
                <a:solidFill>
                  <a:srgbClr val="2876A8"/>
                </a:solidFill>
                <a:latin typeface="Yu Gothic"/>
                <a:ea typeface="Yu Gothic"/>
                <a:cs typeface="Yu Gothic"/>
              </a:defRPr>
            </a:lvl5pPr>
            <a:lvl6pPr>
              <a:defRPr sz="1875" b="0">
                <a:solidFill>
                  <a:srgbClr val="2876A8"/>
                </a:solidFill>
                <a:latin typeface="Yu Gothic"/>
                <a:ea typeface="Yu Gothic"/>
                <a:cs typeface="Yu Gothic"/>
              </a:defRPr>
            </a:lvl6pPr>
            <a:lvl7pPr>
              <a:defRPr sz="1875" b="0">
                <a:solidFill>
                  <a:srgbClr val="2876A8"/>
                </a:solidFill>
                <a:latin typeface="Yu Gothic"/>
                <a:ea typeface="Yu Gothic"/>
                <a:cs typeface="Yu Gothic"/>
              </a:defRPr>
            </a:lvl7pPr>
            <a:lvl8pPr>
              <a:defRPr sz="1875" b="0">
                <a:solidFill>
                  <a:srgbClr val="2876A8"/>
                </a:solidFill>
                <a:latin typeface="Yu Gothic"/>
                <a:ea typeface="Yu Gothic"/>
                <a:cs typeface="Yu Gothic"/>
              </a:defRPr>
            </a:lvl8pPr>
            <a:lvl9pPr>
              <a:defRPr sz="1875" b="0">
                <a:solidFill>
                  <a:srgbClr val="2876A8"/>
                </a:solidFill>
                <a:latin typeface="Yu Gothic"/>
                <a:ea typeface="Yu Gothic"/>
                <a:cs typeface="Yu Gothic"/>
              </a:defRPr>
            </a:lvl9pPr>
          </a:lstStyle>
          <a:p xmlns:a="http://schemas.openxmlformats.org/drawingml/2006/main">
            <a:pPr>
              <a:defRPr sz="1875" b="0">
                <a:solidFill>
                  <a:srgbClr val="2876A8"/>
                </a:solidFill>
                <a:latin typeface="Yu Gothic"/>
                <a:ea typeface="Yu Gothic"/>
                <a:cs typeface="Yu Gothic"/>
              </a:defRPr>
            </a:pPr>
            <a:r>
              <a:rPr sz="1875" b="0">
                <a:solidFill>
                  <a:srgbClr val="2876A8"/>
                </a:solidFill>
                <a:latin typeface="Yu Gothic"/>
                <a:ea typeface="Yu Gothic"/>
                <a:cs typeface="Yu Gothic"/>
                <a:hlinkClick xmlns:r="http://schemas.openxmlformats.org/officeDocument/2006/relationships" r:id="R7eab6763c53345ba"/>
              </a:rPr>
              <a:t>Lentonほか（2016）初期陸上植物と酸素</a:t>
            </a:r>
          </a:p>
        </p:txBody>
      </p:sp>
      <p:sp>
        <p:nvSpPr>
          <p:cNvPr id="8" name="">
            <a:extLst xmlns:a="http://schemas.openxmlformats.org/drawingml/2006/main">
              <a:ext uri="{FF2B5EF4-FFF2-40B4-BE49-F238E27FC236}">
                <a16:creationId xmlns:a16="http://schemas.microsoft.com/office/drawing/2014/main" id="{40E1BF42-8B2F-40DE-89CB-5C5B4E3BBA54}"/>
              </a:ext>
            </a:extLst>
          </p:cNvPr>
          <p:cNvSpPr>
            <a:spLocks xmlns:a="http://schemas.openxmlformats.org/drawingml/2006/main" noGrp="1"/>
          </p:cNvSpPr>
          <p:nvPr/>
        </p:nvSpPr>
        <p:spPr>
          <a:xfrm xmlns:a="http://schemas.openxmlformats.org/drawingml/2006/main">
            <a:off x="838200" y="45720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876A8"/>
                </a:solidFill>
                <a:latin typeface="Yu Gothic"/>
                <a:ea typeface="Yu Gothic"/>
                <a:cs typeface="Yu Gothic"/>
              </a:defRPr>
            </a:defPPr>
            <a:lvl1pPr>
              <a:defRPr sz="1875" b="0">
                <a:solidFill>
                  <a:srgbClr val="2876A8"/>
                </a:solidFill>
                <a:latin typeface="Yu Gothic"/>
                <a:ea typeface="Yu Gothic"/>
                <a:cs typeface="Yu Gothic"/>
              </a:defRPr>
            </a:lvl1pPr>
            <a:lvl2pPr>
              <a:defRPr sz="1875" b="0">
                <a:solidFill>
                  <a:srgbClr val="2876A8"/>
                </a:solidFill>
                <a:latin typeface="Yu Gothic"/>
                <a:ea typeface="Yu Gothic"/>
                <a:cs typeface="Yu Gothic"/>
              </a:defRPr>
            </a:lvl2pPr>
            <a:lvl3pPr>
              <a:defRPr sz="1875" b="0">
                <a:solidFill>
                  <a:srgbClr val="2876A8"/>
                </a:solidFill>
                <a:latin typeface="Yu Gothic"/>
                <a:ea typeface="Yu Gothic"/>
                <a:cs typeface="Yu Gothic"/>
              </a:defRPr>
            </a:lvl3pPr>
            <a:lvl4pPr>
              <a:defRPr sz="1875" b="0">
                <a:solidFill>
                  <a:srgbClr val="2876A8"/>
                </a:solidFill>
                <a:latin typeface="Yu Gothic"/>
                <a:ea typeface="Yu Gothic"/>
                <a:cs typeface="Yu Gothic"/>
              </a:defRPr>
            </a:lvl4pPr>
            <a:lvl5pPr>
              <a:defRPr sz="1875" b="0">
                <a:solidFill>
                  <a:srgbClr val="2876A8"/>
                </a:solidFill>
                <a:latin typeface="Yu Gothic"/>
                <a:ea typeface="Yu Gothic"/>
                <a:cs typeface="Yu Gothic"/>
              </a:defRPr>
            </a:lvl5pPr>
            <a:lvl6pPr>
              <a:defRPr sz="1875" b="0">
                <a:solidFill>
                  <a:srgbClr val="2876A8"/>
                </a:solidFill>
                <a:latin typeface="Yu Gothic"/>
                <a:ea typeface="Yu Gothic"/>
                <a:cs typeface="Yu Gothic"/>
              </a:defRPr>
            </a:lvl6pPr>
            <a:lvl7pPr>
              <a:defRPr sz="1875" b="0">
                <a:solidFill>
                  <a:srgbClr val="2876A8"/>
                </a:solidFill>
                <a:latin typeface="Yu Gothic"/>
                <a:ea typeface="Yu Gothic"/>
                <a:cs typeface="Yu Gothic"/>
              </a:defRPr>
            </a:lvl7pPr>
            <a:lvl8pPr>
              <a:defRPr sz="1875" b="0">
                <a:solidFill>
                  <a:srgbClr val="2876A8"/>
                </a:solidFill>
                <a:latin typeface="Yu Gothic"/>
                <a:ea typeface="Yu Gothic"/>
                <a:cs typeface="Yu Gothic"/>
              </a:defRPr>
            </a:lvl8pPr>
            <a:lvl9pPr>
              <a:defRPr sz="1875" b="0">
                <a:solidFill>
                  <a:srgbClr val="2876A8"/>
                </a:solidFill>
                <a:latin typeface="Yu Gothic"/>
                <a:ea typeface="Yu Gothic"/>
                <a:cs typeface="Yu Gothic"/>
              </a:defRPr>
            </a:lvl9pPr>
          </a:lstStyle>
          <a:p xmlns:a="http://schemas.openxmlformats.org/drawingml/2006/main">
            <a:pPr>
              <a:defRPr sz="1875" b="0">
                <a:solidFill>
                  <a:srgbClr val="2876A8"/>
                </a:solidFill>
                <a:latin typeface="Yu Gothic"/>
                <a:ea typeface="Yu Gothic"/>
                <a:cs typeface="Yu Gothic"/>
              </a:defRPr>
            </a:pPr>
            <a:r>
              <a:rPr sz="1875" b="0">
                <a:solidFill>
                  <a:srgbClr val="2876A8"/>
                </a:solidFill>
                <a:latin typeface="Yu Gothic"/>
                <a:ea typeface="Yu Gothic"/>
                <a:cs typeface="Yu Gothic"/>
                <a:hlinkClick xmlns:r="http://schemas.openxmlformats.org/officeDocument/2006/relationships" r:id="R484552110f5c4ab6"/>
              </a:rPr>
              <a:t>Gerrienneほか（2011）小型植物の初期木材</a:t>
            </a:r>
          </a:p>
        </p:txBody>
      </p:sp>
    </p:spTree>
    <p:extLst>
      <p:ext uri="{BB962C8B-B14F-4D97-AF65-F5344CB8AC3E}">
        <p14:creationId xmlns:p14="http://schemas.microsoft.com/office/powerpoint/2010/main" val="41397800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4B8971-125D-468D-90BC-AD829ADCE45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参照資料</a:t>
            </a:r>
          </a:p>
        </p:txBody>
      </p:sp>
      <p:sp>
        <p:nvSpPr>
          <p:cNvPr id="2" name="">
            <a:extLst xmlns:a="http://schemas.openxmlformats.org/drawingml/2006/main">
              <a:ext uri="{FF2B5EF4-FFF2-40B4-BE49-F238E27FC236}">
                <a16:creationId xmlns:a16="http://schemas.microsoft.com/office/drawing/2014/main" id="{22FAC037-1933-4B64-9E78-D462A315DE8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0B0F7CB-CE16-4677-B2BE-1D772E11A31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新第11回　2026年10月31日</a:t>
            </a:r>
          </a:p>
        </p:txBody>
      </p:sp>
      <p:sp>
        <p:nvSpPr>
          <p:cNvPr id="4" name="">
            <a:extLst xmlns:a="http://schemas.openxmlformats.org/drawingml/2006/main">
              <a:ext uri="{FF2B5EF4-FFF2-40B4-BE49-F238E27FC236}">
                <a16:creationId xmlns:a16="http://schemas.microsoft.com/office/drawing/2014/main" id="{6EB3926B-B111-4111-BC94-DE1BDD85E7E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30</a:t>
            </a:r>
          </a:p>
        </p:txBody>
      </p:sp>
      <p:sp>
        <p:nvSpPr>
          <p:cNvPr id="5" name="">
            <a:extLst xmlns:a="http://schemas.openxmlformats.org/drawingml/2006/main">
              <a:ext uri="{FF2B5EF4-FFF2-40B4-BE49-F238E27FC236}">
                <a16:creationId xmlns:a16="http://schemas.microsoft.com/office/drawing/2014/main" id="{65F29257-BA05-4F47-B255-CF6606ADA2E2}"/>
              </a:ext>
            </a:extLst>
          </p:cNvPr>
          <p:cNvSpPr>
            <a:spLocks xmlns:a="http://schemas.openxmlformats.org/drawingml/2006/main" noGrp="1"/>
          </p:cNvSpPr>
          <p:nvPr/>
        </p:nvSpPr>
        <p:spPr>
          <a:xfrm xmlns:a="http://schemas.openxmlformats.org/drawingml/2006/main">
            <a:off x="838200" y="15716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876A8"/>
                </a:solidFill>
                <a:latin typeface="Yu Gothic"/>
                <a:ea typeface="Yu Gothic"/>
                <a:cs typeface="Yu Gothic"/>
              </a:defRPr>
            </a:defPPr>
            <a:lvl1pPr>
              <a:defRPr sz="1875" b="0">
                <a:solidFill>
                  <a:srgbClr val="2876A8"/>
                </a:solidFill>
                <a:latin typeface="Yu Gothic"/>
                <a:ea typeface="Yu Gothic"/>
                <a:cs typeface="Yu Gothic"/>
              </a:defRPr>
            </a:lvl1pPr>
            <a:lvl2pPr>
              <a:defRPr sz="1875" b="0">
                <a:solidFill>
                  <a:srgbClr val="2876A8"/>
                </a:solidFill>
                <a:latin typeface="Yu Gothic"/>
                <a:ea typeface="Yu Gothic"/>
                <a:cs typeface="Yu Gothic"/>
              </a:defRPr>
            </a:lvl2pPr>
            <a:lvl3pPr>
              <a:defRPr sz="1875" b="0">
                <a:solidFill>
                  <a:srgbClr val="2876A8"/>
                </a:solidFill>
                <a:latin typeface="Yu Gothic"/>
                <a:ea typeface="Yu Gothic"/>
                <a:cs typeface="Yu Gothic"/>
              </a:defRPr>
            </a:lvl3pPr>
            <a:lvl4pPr>
              <a:defRPr sz="1875" b="0">
                <a:solidFill>
                  <a:srgbClr val="2876A8"/>
                </a:solidFill>
                <a:latin typeface="Yu Gothic"/>
                <a:ea typeface="Yu Gothic"/>
                <a:cs typeface="Yu Gothic"/>
              </a:defRPr>
            </a:lvl4pPr>
            <a:lvl5pPr>
              <a:defRPr sz="1875" b="0">
                <a:solidFill>
                  <a:srgbClr val="2876A8"/>
                </a:solidFill>
                <a:latin typeface="Yu Gothic"/>
                <a:ea typeface="Yu Gothic"/>
                <a:cs typeface="Yu Gothic"/>
              </a:defRPr>
            </a:lvl5pPr>
            <a:lvl6pPr>
              <a:defRPr sz="1875" b="0">
                <a:solidFill>
                  <a:srgbClr val="2876A8"/>
                </a:solidFill>
                <a:latin typeface="Yu Gothic"/>
                <a:ea typeface="Yu Gothic"/>
                <a:cs typeface="Yu Gothic"/>
              </a:defRPr>
            </a:lvl6pPr>
            <a:lvl7pPr>
              <a:defRPr sz="1875" b="0">
                <a:solidFill>
                  <a:srgbClr val="2876A8"/>
                </a:solidFill>
                <a:latin typeface="Yu Gothic"/>
                <a:ea typeface="Yu Gothic"/>
                <a:cs typeface="Yu Gothic"/>
              </a:defRPr>
            </a:lvl7pPr>
            <a:lvl8pPr>
              <a:defRPr sz="1875" b="0">
                <a:solidFill>
                  <a:srgbClr val="2876A8"/>
                </a:solidFill>
                <a:latin typeface="Yu Gothic"/>
                <a:ea typeface="Yu Gothic"/>
                <a:cs typeface="Yu Gothic"/>
              </a:defRPr>
            </a:lvl8pPr>
            <a:lvl9pPr>
              <a:defRPr sz="1875" b="0">
                <a:solidFill>
                  <a:srgbClr val="2876A8"/>
                </a:solidFill>
                <a:latin typeface="Yu Gothic"/>
                <a:ea typeface="Yu Gothic"/>
                <a:cs typeface="Yu Gothic"/>
              </a:defRPr>
            </a:lvl9pPr>
          </a:lstStyle>
          <a:p xmlns:a="http://schemas.openxmlformats.org/drawingml/2006/main">
            <a:pPr>
              <a:defRPr sz="1875" b="0">
                <a:solidFill>
                  <a:srgbClr val="2876A8"/>
                </a:solidFill>
                <a:latin typeface="Yu Gothic"/>
                <a:ea typeface="Yu Gothic"/>
                <a:cs typeface="Yu Gothic"/>
              </a:defRPr>
            </a:pPr>
            <a:r>
              <a:rPr sz="1875" b="0">
                <a:solidFill>
                  <a:srgbClr val="2876A8"/>
                </a:solidFill>
                <a:latin typeface="Yu Gothic"/>
                <a:ea typeface="Yu Gothic"/>
                <a:cs typeface="Yu Gothic"/>
                <a:hlinkClick xmlns:r="http://schemas.openxmlformats.org/officeDocument/2006/relationships" r:id="R37ef38ee28174504"/>
              </a:rPr>
              <a:t>Piovesan・Biondi（2021）On tree longevity</a:t>
            </a:r>
          </a:p>
        </p:txBody>
      </p:sp>
      <p:sp>
        <p:nvSpPr>
          <p:cNvPr id="6" name="">
            <a:extLst xmlns:a="http://schemas.openxmlformats.org/drawingml/2006/main">
              <a:ext uri="{FF2B5EF4-FFF2-40B4-BE49-F238E27FC236}">
                <a16:creationId xmlns:a16="http://schemas.microsoft.com/office/drawing/2014/main" id="{B5C36892-9C7E-442E-9865-F7A24BCA51C3}"/>
              </a:ext>
            </a:extLst>
          </p:cNvPr>
          <p:cNvSpPr>
            <a:spLocks xmlns:a="http://schemas.openxmlformats.org/drawingml/2006/main" noGrp="1"/>
          </p:cNvSpPr>
          <p:nvPr/>
        </p:nvSpPr>
        <p:spPr>
          <a:xfrm xmlns:a="http://schemas.openxmlformats.org/drawingml/2006/main">
            <a:off x="838200" y="257175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876A8"/>
                </a:solidFill>
                <a:latin typeface="Yu Gothic"/>
                <a:ea typeface="Yu Gothic"/>
                <a:cs typeface="Yu Gothic"/>
              </a:defRPr>
            </a:defPPr>
            <a:lvl1pPr>
              <a:defRPr sz="1875" b="0">
                <a:solidFill>
                  <a:srgbClr val="2876A8"/>
                </a:solidFill>
                <a:latin typeface="Yu Gothic"/>
                <a:ea typeface="Yu Gothic"/>
                <a:cs typeface="Yu Gothic"/>
              </a:defRPr>
            </a:lvl1pPr>
            <a:lvl2pPr>
              <a:defRPr sz="1875" b="0">
                <a:solidFill>
                  <a:srgbClr val="2876A8"/>
                </a:solidFill>
                <a:latin typeface="Yu Gothic"/>
                <a:ea typeface="Yu Gothic"/>
                <a:cs typeface="Yu Gothic"/>
              </a:defRPr>
            </a:lvl2pPr>
            <a:lvl3pPr>
              <a:defRPr sz="1875" b="0">
                <a:solidFill>
                  <a:srgbClr val="2876A8"/>
                </a:solidFill>
                <a:latin typeface="Yu Gothic"/>
                <a:ea typeface="Yu Gothic"/>
                <a:cs typeface="Yu Gothic"/>
              </a:defRPr>
            </a:lvl3pPr>
            <a:lvl4pPr>
              <a:defRPr sz="1875" b="0">
                <a:solidFill>
                  <a:srgbClr val="2876A8"/>
                </a:solidFill>
                <a:latin typeface="Yu Gothic"/>
                <a:ea typeface="Yu Gothic"/>
                <a:cs typeface="Yu Gothic"/>
              </a:defRPr>
            </a:lvl4pPr>
            <a:lvl5pPr>
              <a:defRPr sz="1875" b="0">
                <a:solidFill>
                  <a:srgbClr val="2876A8"/>
                </a:solidFill>
                <a:latin typeface="Yu Gothic"/>
                <a:ea typeface="Yu Gothic"/>
                <a:cs typeface="Yu Gothic"/>
              </a:defRPr>
            </a:lvl5pPr>
            <a:lvl6pPr>
              <a:defRPr sz="1875" b="0">
                <a:solidFill>
                  <a:srgbClr val="2876A8"/>
                </a:solidFill>
                <a:latin typeface="Yu Gothic"/>
                <a:ea typeface="Yu Gothic"/>
                <a:cs typeface="Yu Gothic"/>
              </a:defRPr>
            </a:lvl6pPr>
            <a:lvl7pPr>
              <a:defRPr sz="1875" b="0">
                <a:solidFill>
                  <a:srgbClr val="2876A8"/>
                </a:solidFill>
                <a:latin typeface="Yu Gothic"/>
                <a:ea typeface="Yu Gothic"/>
                <a:cs typeface="Yu Gothic"/>
              </a:defRPr>
            </a:lvl7pPr>
            <a:lvl8pPr>
              <a:defRPr sz="1875" b="0">
                <a:solidFill>
                  <a:srgbClr val="2876A8"/>
                </a:solidFill>
                <a:latin typeface="Yu Gothic"/>
                <a:ea typeface="Yu Gothic"/>
                <a:cs typeface="Yu Gothic"/>
              </a:defRPr>
            </a:lvl8pPr>
            <a:lvl9pPr>
              <a:defRPr sz="1875" b="0">
                <a:solidFill>
                  <a:srgbClr val="2876A8"/>
                </a:solidFill>
                <a:latin typeface="Yu Gothic"/>
                <a:ea typeface="Yu Gothic"/>
                <a:cs typeface="Yu Gothic"/>
              </a:defRPr>
            </a:lvl9pPr>
          </a:lstStyle>
          <a:p xmlns:a="http://schemas.openxmlformats.org/drawingml/2006/main">
            <a:pPr>
              <a:defRPr sz="1875" b="0">
                <a:solidFill>
                  <a:srgbClr val="2876A8"/>
                </a:solidFill>
                <a:latin typeface="Yu Gothic"/>
                <a:ea typeface="Yu Gothic"/>
                <a:cs typeface="Yu Gothic"/>
              </a:defRPr>
            </a:pPr>
            <a:r>
              <a:rPr sz="1875" b="0">
                <a:solidFill>
                  <a:srgbClr val="2876A8"/>
                </a:solidFill>
                <a:latin typeface="Yu Gothic"/>
                <a:ea typeface="Yu Gothic"/>
                <a:cs typeface="Yu Gothic"/>
                <a:hlinkClick xmlns:r="http://schemas.openxmlformats.org/officeDocument/2006/relationships" r:id="R439e8c83ed524d82"/>
              </a:rPr>
              <a:t>奈良文化財研究所（2018）埋蔵文化財の保存</a:t>
            </a:r>
          </a:p>
        </p:txBody>
      </p:sp>
      <p:sp>
        <p:nvSpPr>
          <p:cNvPr id="7" name="">
            <a:extLst xmlns:a="http://schemas.openxmlformats.org/drawingml/2006/main">
              <a:ext uri="{FF2B5EF4-FFF2-40B4-BE49-F238E27FC236}">
                <a16:creationId xmlns:a16="http://schemas.microsoft.com/office/drawing/2014/main" id="{2EA8A674-C1D6-493D-8626-682E0A581D3A}"/>
              </a:ext>
            </a:extLst>
          </p:cNvPr>
          <p:cNvSpPr>
            <a:spLocks xmlns:a="http://schemas.openxmlformats.org/drawingml/2006/main" noGrp="1"/>
          </p:cNvSpPr>
          <p:nvPr/>
        </p:nvSpPr>
        <p:spPr>
          <a:xfrm xmlns:a="http://schemas.openxmlformats.org/drawingml/2006/main">
            <a:off x="838200" y="357187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876A8"/>
                </a:solidFill>
                <a:latin typeface="Yu Gothic"/>
                <a:ea typeface="Yu Gothic"/>
                <a:cs typeface="Yu Gothic"/>
              </a:defRPr>
            </a:defPPr>
            <a:lvl1pPr>
              <a:defRPr sz="1875" b="0">
                <a:solidFill>
                  <a:srgbClr val="2876A8"/>
                </a:solidFill>
                <a:latin typeface="Yu Gothic"/>
                <a:ea typeface="Yu Gothic"/>
                <a:cs typeface="Yu Gothic"/>
              </a:defRPr>
            </a:lvl1pPr>
            <a:lvl2pPr>
              <a:defRPr sz="1875" b="0">
                <a:solidFill>
                  <a:srgbClr val="2876A8"/>
                </a:solidFill>
                <a:latin typeface="Yu Gothic"/>
                <a:ea typeface="Yu Gothic"/>
                <a:cs typeface="Yu Gothic"/>
              </a:defRPr>
            </a:lvl2pPr>
            <a:lvl3pPr>
              <a:defRPr sz="1875" b="0">
                <a:solidFill>
                  <a:srgbClr val="2876A8"/>
                </a:solidFill>
                <a:latin typeface="Yu Gothic"/>
                <a:ea typeface="Yu Gothic"/>
                <a:cs typeface="Yu Gothic"/>
              </a:defRPr>
            </a:lvl3pPr>
            <a:lvl4pPr>
              <a:defRPr sz="1875" b="0">
                <a:solidFill>
                  <a:srgbClr val="2876A8"/>
                </a:solidFill>
                <a:latin typeface="Yu Gothic"/>
                <a:ea typeface="Yu Gothic"/>
                <a:cs typeface="Yu Gothic"/>
              </a:defRPr>
            </a:lvl4pPr>
            <a:lvl5pPr>
              <a:defRPr sz="1875" b="0">
                <a:solidFill>
                  <a:srgbClr val="2876A8"/>
                </a:solidFill>
                <a:latin typeface="Yu Gothic"/>
                <a:ea typeface="Yu Gothic"/>
                <a:cs typeface="Yu Gothic"/>
              </a:defRPr>
            </a:lvl5pPr>
            <a:lvl6pPr>
              <a:defRPr sz="1875" b="0">
                <a:solidFill>
                  <a:srgbClr val="2876A8"/>
                </a:solidFill>
                <a:latin typeface="Yu Gothic"/>
                <a:ea typeface="Yu Gothic"/>
                <a:cs typeface="Yu Gothic"/>
              </a:defRPr>
            </a:lvl6pPr>
            <a:lvl7pPr>
              <a:defRPr sz="1875" b="0">
                <a:solidFill>
                  <a:srgbClr val="2876A8"/>
                </a:solidFill>
                <a:latin typeface="Yu Gothic"/>
                <a:ea typeface="Yu Gothic"/>
                <a:cs typeface="Yu Gothic"/>
              </a:defRPr>
            </a:lvl7pPr>
            <a:lvl8pPr>
              <a:defRPr sz="1875" b="0">
                <a:solidFill>
                  <a:srgbClr val="2876A8"/>
                </a:solidFill>
                <a:latin typeface="Yu Gothic"/>
                <a:ea typeface="Yu Gothic"/>
                <a:cs typeface="Yu Gothic"/>
              </a:defRPr>
            </a:lvl8pPr>
            <a:lvl9pPr>
              <a:defRPr sz="1875" b="0">
                <a:solidFill>
                  <a:srgbClr val="2876A8"/>
                </a:solidFill>
                <a:latin typeface="Yu Gothic"/>
                <a:ea typeface="Yu Gothic"/>
                <a:cs typeface="Yu Gothic"/>
              </a:defRPr>
            </a:lvl9pPr>
          </a:lstStyle>
          <a:p xmlns:a="http://schemas.openxmlformats.org/drawingml/2006/main">
            <a:pPr>
              <a:defRPr sz="1875" b="0">
                <a:solidFill>
                  <a:srgbClr val="2876A8"/>
                </a:solidFill>
                <a:latin typeface="Yu Gothic"/>
                <a:ea typeface="Yu Gothic"/>
                <a:cs typeface="Yu Gothic"/>
              </a:defRPr>
            </a:pPr>
            <a:r>
              <a:rPr sz="1875" b="0">
                <a:solidFill>
                  <a:srgbClr val="2876A8"/>
                </a:solidFill>
                <a:latin typeface="Yu Gothic"/>
                <a:ea typeface="Yu Gothic"/>
                <a:cs typeface="Yu Gothic"/>
                <a:hlinkClick xmlns:r="http://schemas.openxmlformats.org/officeDocument/2006/relationships" r:id="Rc190c2c671604af9"/>
              </a:rPr>
              <a:t>Hutsonほか（2025）木製狩猟具の年代再評価</a:t>
            </a:r>
          </a:p>
        </p:txBody>
      </p:sp>
    </p:spTree>
    <p:extLst>
      <p:ext uri="{BB962C8B-B14F-4D97-AF65-F5344CB8AC3E}">
        <p14:creationId xmlns:p14="http://schemas.microsoft.com/office/powerpoint/2010/main" val="2316083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2026-10-31T04:42:20.5810000Z</dcterms:created>
  <dcterms:modified xsi:type="dcterms:W3CDTF">2026-10-31T04:42:20.5810000Z</dcterms:modified>
</coreProperties>
</file>