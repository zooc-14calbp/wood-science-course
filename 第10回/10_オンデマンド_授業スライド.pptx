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203f404f894783" /><Relationship Type="http://schemas.openxmlformats.org/officeDocument/2006/relationships/extended-properties" Target="/docProps/app.xml" Id="Rbbeb509d83bc4142" /><Relationship Type="http://schemas.openxmlformats.org/officeDocument/2006/relationships/officeDocument" Target="/ppt/presentation.xml" Id="R7663b0436c4248ba" /></Relationships>
</file>

<file path=ppt/presentation.xml><?xml version="1.0" encoding="utf-8"?>
<p:presentation xmlns:p="http://schemas.openxmlformats.org/presentationml/2006/main">
  <p:sldMasterIdLst>
    <p:sldMasterId xmlns:r="http://schemas.openxmlformats.org/officeDocument/2006/relationships" id="2147483648" r:id="R28bd490371f1420a"/>
    <p:sldMasterId xmlns:r="http://schemas.openxmlformats.org/officeDocument/2006/relationships" id="2147483655" r:id="R78a1f2cdffd44f9b"/>
  </p:sldMasterIdLst>
  <p:notesMasterIdLst>
    <p:notesMasterId xmlns:r="http://schemas.openxmlformats.org/officeDocument/2006/relationships" r:id="Rb70c969e771945f7"/>
  </p:notesMasterIdLst>
  <p:sldIdLst>
    <p:sldId xmlns:r="http://schemas.openxmlformats.org/officeDocument/2006/relationships" id="256" r:id="Rf7f54b0e4a174e2e"/>
    <p:sldId xmlns:r="http://schemas.openxmlformats.org/officeDocument/2006/relationships" id="257" r:id="R219438541e6a4d4f"/>
    <p:sldId xmlns:r="http://schemas.openxmlformats.org/officeDocument/2006/relationships" id="258" r:id="Rf65e683a42d5472b"/>
    <p:sldId xmlns:r="http://schemas.openxmlformats.org/officeDocument/2006/relationships" id="259" r:id="R1df9c827d4e84be9"/>
    <p:sldId xmlns:r="http://schemas.openxmlformats.org/officeDocument/2006/relationships" id="260" r:id="R4943b91d3fe84b9a"/>
    <p:sldId xmlns:r="http://schemas.openxmlformats.org/officeDocument/2006/relationships" id="261" r:id="R67c492450bac4a4b"/>
    <p:sldId xmlns:r="http://schemas.openxmlformats.org/officeDocument/2006/relationships" id="262" r:id="Rd90743d9d75c4ef8"/>
    <p:sldId xmlns:r="http://schemas.openxmlformats.org/officeDocument/2006/relationships" id="263" r:id="Rf8c383d237114cae"/>
    <p:sldId xmlns:r="http://schemas.openxmlformats.org/officeDocument/2006/relationships" id="264" r:id="R8de79226cf0f4581"/>
    <p:sldId xmlns:r="http://schemas.openxmlformats.org/officeDocument/2006/relationships" id="265" r:id="R892355d92b3e4b21"/>
    <p:sldId xmlns:r="http://schemas.openxmlformats.org/officeDocument/2006/relationships" id="266" r:id="Rf89600bb0f1b443c"/>
    <p:sldId xmlns:r="http://schemas.openxmlformats.org/officeDocument/2006/relationships" id="267" r:id="R323e8b5a66b64bae"/>
    <p:sldId xmlns:r="http://schemas.openxmlformats.org/officeDocument/2006/relationships" id="268" r:id="Rf938dcdb6a334bdf"/>
    <p:sldId xmlns:r="http://schemas.openxmlformats.org/officeDocument/2006/relationships" id="269" r:id="Rf962241e2b5c452c"/>
    <p:sldId xmlns:r="http://schemas.openxmlformats.org/officeDocument/2006/relationships" id="270" r:id="R439c3292e71847b9"/>
    <p:sldId xmlns:r="http://schemas.openxmlformats.org/officeDocument/2006/relationships" id="271" r:id="Rc520437414bd40c6"/>
    <p:sldId xmlns:r="http://schemas.openxmlformats.org/officeDocument/2006/relationships" id="272" r:id="Rd299347cae50402a"/>
    <p:sldId xmlns:r="http://schemas.openxmlformats.org/officeDocument/2006/relationships" id="273" r:id="R47a81121238b4724"/>
    <p:sldId xmlns:r="http://schemas.openxmlformats.org/officeDocument/2006/relationships" id="274" r:id="R727f3d582a4248c7"/>
    <p:sldId xmlns:r="http://schemas.openxmlformats.org/officeDocument/2006/relationships" id="275" r:id="Rb8f618a9bbc04b01"/>
    <p:sldId xmlns:r="http://schemas.openxmlformats.org/officeDocument/2006/relationships" id="276" r:id="R77248acdf8bd4c74"/>
    <p:sldId xmlns:r="http://schemas.openxmlformats.org/officeDocument/2006/relationships" id="277" r:id="R32e76152ce8e49bf"/>
    <p:sldId xmlns:r="http://schemas.openxmlformats.org/officeDocument/2006/relationships" id="278" r:id="Reac7319788ac46f5"/>
    <p:sldId xmlns:r="http://schemas.openxmlformats.org/officeDocument/2006/relationships" id="279" r:id="Rc336a5d711e34308"/>
    <p:sldId xmlns:r="http://schemas.openxmlformats.org/officeDocument/2006/relationships" id="280" r:id="R4b3fe28be7ed4924"/>
    <p:sldId xmlns:r="http://schemas.openxmlformats.org/officeDocument/2006/relationships" id="281" r:id="R699b6ab3ebd445cc"/>
    <p:sldId xmlns:r="http://schemas.openxmlformats.org/officeDocument/2006/relationships" id="282" r:id="R9004a2a1ce37426d"/>
    <p:sldId xmlns:r="http://schemas.openxmlformats.org/officeDocument/2006/relationships" id="283" r:id="R2a609986eb8141ae"/>
    <p:sldId xmlns:r="http://schemas.openxmlformats.org/officeDocument/2006/relationships" id="284" r:id="R94600f237dda4e70"/>
    <p:sldId xmlns:r="http://schemas.openxmlformats.org/officeDocument/2006/relationships" id="285" r:id="R1f78ec7bb09b4b82"/>
    <p:sldId xmlns:r="http://schemas.openxmlformats.org/officeDocument/2006/relationships" id="286" r:id="Rb21d717bc62e4080"/>
    <p:sldId xmlns:r="http://schemas.openxmlformats.org/officeDocument/2006/relationships" id="287" r:id="R7a4f4c2abfbf456d"/>
    <p:sldId xmlns:r="http://schemas.openxmlformats.org/officeDocument/2006/relationships" id="288" r:id="Rb68dad41685d400b"/>
    <p:sldId xmlns:r="http://schemas.openxmlformats.org/officeDocument/2006/relationships" id="289" r:id="R0c9baf99671544ea"/>
    <p:sldId xmlns:r="http://schemas.openxmlformats.org/officeDocument/2006/relationships" id="290" r:id="R0b8b2491e8664339"/>
    <p:sldId xmlns:r="http://schemas.openxmlformats.org/officeDocument/2006/relationships" id="291" r:id="Rf685cd67f87040c1"/>
    <p:sldId xmlns:r="http://schemas.openxmlformats.org/officeDocument/2006/relationships" id="292" r:id="Rc831594031fd4930"/>
    <p:sldId xmlns:r="http://schemas.openxmlformats.org/officeDocument/2006/relationships" id="293" r:id="R0c21ee0405ac4c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7605901eac4ec9" /><Relationship Type="http://schemas.openxmlformats.org/officeDocument/2006/relationships/slideMaster" Target="/ppt/slideMasters/slideMaster1.xml" Id="R28bd490371f1420a" /><Relationship Type="http://schemas.openxmlformats.org/officeDocument/2006/relationships/slideMaster" Target="/ppt/slideMasters/slideMaster2.xml" Id="R78a1f2cdffd44f9b" /><Relationship Type="http://schemas.openxmlformats.org/officeDocument/2006/relationships/notesMaster" Target="/ppt/notesMasters/notesMaster1.xml" Id="Rb70c969e771945f7" /><Relationship Type="http://schemas.openxmlformats.org/officeDocument/2006/relationships/presProps" Target="/ppt/presProps.xml" Id="R2d09cd2e79dc470a" /><Relationship Type="http://schemas.openxmlformats.org/officeDocument/2006/relationships/tableStyles" Target="/ppt/tableStyles.xml" Id="R39911f7453cd4624" /><Relationship Type="http://schemas.openxmlformats.org/officeDocument/2006/relationships/slide" Target="/ppt/slides/slide1.xml" Id="Rf7f54b0e4a174e2e" /><Relationship Type="http://schemas.openxmlformats.org/officeDocument/2006/relationships/slide" Target="/ppt/slides/slide2.xml" Id="R219438541e6a4d4f" /><Relationship Type="http://schemas.openxmlformats.org/officeDocument/2006/relationships/slide" Target="/ppt/slides/slide3.xml" Id="Rf65e683a42d5472b" /><Relationship Type="http://schemas.openxmlformats.org/officeDocument/2006/relationships/slide" Target="/ppt/slides/slide4.xml" Id="R1df9c827d4e84be9" /><Relationship Type="http://schemas.openxmlformats.org/officeDocument/2006/relationships/slide" Target="/ppt/slides/slide5.xml" Id="R4943b91d3fe84b9a" /><Relationship Type="http://schemas.openxmlformats.org/officeDocument/2006/relationships/slide" Target="/ppt/slides/slide6.xml" Id="R67c492450bac4a4b" /><Relationship Type="http://schemas.openxmlformats.org/officeDocument/2006/relationships/slide" Target="/ppt/slides/slide7.xml" Id="Rd90743d9d75c4ef8" /><Relationship Type="http://schemas.openxmlformats.org/officeDocument/2006/relationships/slide" Target="/ppt/slides/slide8.xml" Id="Rf8c383d237114cae" /><Relationship Type="http://schemas.openxmlformats.org/officeDocument/2006/relationships/slide" Target="/ppt/slides/slide9.xml" Id="R8de79226cf0f4581" /><Relationship Type="http://schemas.openxmlformats.org/officeDocument/2006/relationships/slide" Target="/ppt/slides/slide10.xml" Id="R892355d92b3e4b21" /><Relationship Type="http://schemas.openxmlformats.org/officeDocument/2006/relationships/slide" Target="/ppt/slides/slide11.xml" Id="Rf89600bb0f1b443c" /><Relationship Type="http://schemas.openxmlformats.org/officeDocument/2006/relationships/slide" Target="/ppt/slides/slide12.xml" Id="R323e8b5a66b64bae" /><Relationship Type="http://schemas.openxmlformats.org/officeDocument/2006/relationships/slide" Target="/ppt/slides/slide13.xml" Id="Rf938dcdb6a334bdf" /><Relationship Type="http://schemas.openxmlformats.org/officeDocument/2006/relationships/slide" Target="/ppt/slides/slide14.xml" Id="Rf962241e2b5c452c" /><Relationship Type="http://schemas.openxmlformats.org/officeDocument/2006/relationships/slide" Target="/ppt/slides/slide15.xml" Id="R439c3292e71847b9" /><Relationship Type="http://schemas.openxmlformats.org/officeDocument/2006/relationships/slide" Target="/ppt/slides/slide16.xml" Id="Rc520437414bd40c6" /><Relationship Type="http://schemas.openxmlformats.org/officeDocument/2006/relationships/slide" Target="/ppt/slides/slide17.xml" Id="Rd299347cae50402a" /><Relationship Type="http://schemas.openxmlformats.org/officeDocument/2006/relationships/slide" Target="/ppt/slides/slide18.xml" Id="R47a81121238b4724" /><Relationship Type="http://schemas.openxmlformats.org/officeDocument/2006/relationships/slide" Target="/ppt/slides/slide19.xml" Id="R727f3d582a4248c7" /><Relationship Type="http://schemas.openxmlformats.org/officeDocument/2006/relationships/slide" Target="/ppt/slides/slide20.xml" Id="Rb8f618a9bbc04b01" /><Relationship Type="http://schemas.openxmlformats.org/officeDocument/2006/relationships/slide" Target="/ppt/slides/slide21.xml" Id="R77248acdf8bd4c74" /><Relationship Type="http://schemas.openxmlformats.org/officeDocument/2006/relationships/slide" Target="/ppt/slides/slide22.xml" Id="R32e76152ce8e49bf" /><Relationship Type="http://schemas.openxmlformats.org/officeDocument/2006/relationships/slide" Target="/ppt/slides/slide23.xml" Id="Reac7319788ac46f5" /><Relationship Type="http://schemas.openxmlformats.org/officeDocument/2006/relationships/slide" Target="/ppt/slides/slide24.xml" Id="Rc336a5d711e34308" /><Relationship Type="http://schemas.openxmlformats.org/officeDocument/2006/relationships/slide" Target="/ppt/slides/slide25.xml" Id="R4b3fe28be7ed4924" /><Relationship Type="http://schemas.openxmlformats.org/officeDocument/2006/relationships/slide" Target="/ppt/slides/slide26.xml" Id="R699b6ab3ebd445cc" /><Relationship Type="http://schemas.openxmlformats.org/officeDocument/2006/relationships/slide" Target="/ppt/slides/slide27.xml" Id="R9004a2a1ce37426d" /><Relationship Type="http://schemas.openxmlformats.org/officeDocument/2006/relationships/slide" Target="/ppt/slides/slide28.xml" Id="R2a609986eb8141ae" /><Relationship Type="http://schemas.openxmlformats.org/officeDocument/2006/relationships/slide" Target="/ppt/slides/slide29.xml" Id="R94600f237dda4e70" /><Relationship Type="http://schemas.openxmlformats.org/officeDocument/2006/relationships/slide" Target="/ppt/slides/slide30.xml" Id="R1f78ec7bb09b4b82" /><Relationship Type="http://schemas.openxmlformats.org/officeDocument/2006/relationships/slide" Target="/ppt/slides/slide31.xml" Id="Rb21d717bc62e4080" /><Relationship Type="http://schemas.openxmlformats.org/officeDocument/2006/relationships/slide" Target="/ppt/slides/slide32.xml" Id="R7a4f4c2abfbf456d" /><Relationship Type="http://schemas.openxmlformats.org/officeDocument/2006/relationships/slide" Target="/ppt/slides/slide33.xml" Id="Rb68dad41685d400b" /><Relationship Type="http://schemas.openxmlformats.org/officeDocument/2006/relationships/slide" Target="/ppt/slides/slide34.xml" Id="R0c9baf99671544ea" /><Relationship Type="http://schemas.openxmlformats.org/officeDocument/2006/relationships/slide" Target="/ppt/slides/slide35.xml" Id="R0b8b2491e8664339" /><Relationship Type="http://schemas.openxmlformats.org/officeDocument/2006/relationships/slide" Target="/ppt/slides/slide36.xml" Id="Rf685cd67f87040c1" /><Relationship Type="http://schemas.openxmlformats.org/officeDocument/2006/relationships/slide" Target="/ppt/slides/slide37.xml" Id="Rc831594031fd4930" /><Relationship Type="http://schemas.openxmlformats.org/officeDocument/2006/relationships/slide" Target="/ppt/slides/slide38.xml" Id="R0c21ee0405ac4c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fddf00e32f440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4009105fa24439" /><Relationship Type="http://schemas.openxmlformats.org/officeDocument/2006/relationships/notesMaster" Target="/ppt/notesMasters/notesMaster1.xml" Id="R09c04eee4fba41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8f3b33499c4153" /><Relationship Type="http://schemas.openxmlformats.org/officeDocument/2006/relationships/notesMaster" Target="/ppt/notesMasters/notesMaster1.xml" Id="Rc91beb0b79ba42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06035985864d63" /><Relationship Type="http://schemas.openxmlformats.org/officeDocument/2006/relationships/notesMaster" Target="/ppt/notesMasters/notesMaster1.xml" Id="R671dc3051cb149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329257f5034e97" /><Relationship Type="http://schemas.openxmlformats.org/officeDocument/2006/relationships/notesMaster" Target="/ppt/notesMasters/notesMaster1.xml" Id="R3f4f1b8facaa40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40da0bf50f4f73" /><Relationship Type="http://schemas.openxmlformats.org/officeDocument/2006/relationships/notesMaster" Target="/ppt/notesMasters/notesMaster1.xml" Id="Rce73497704094c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ac43b939e94dbc" /><Relationship Type="http://schemas.openxmlformats.org/officeDocument/2006/relationships/notesMaster" Target="/ppt/notesMasters/notesMaster1.xml" Id="R7fee434671e043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8f0a00e6f74cda" /><Relationship Type="http://schemas.openxmlformats.org/officeDocument/2006/relationships/notesMaster" Target="/ppt/notesMasters/notesMaster1.xml" Id="Rdc458415943041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2e7b5bb85f410c" /><Relationship Type="http://schemas.openxmlformats.org/officeDocument/2006/relationships/notesMaster" Target="/ppt/notesMasters/notesMaster1.xml" Id="R67846f47964d42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f16d6586c24b37" /><Relationship Type="http://schemas.openxmlformats.org/officeDocument/2006/relationships/notesMaster" Target="/ppt/notesMasters/notesMaster1.xml" Id="Rc19ac9b9c38a4a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7f3456b3784bea" /><Relationship Type="http://schemas.openxmlformats.org/officeDocument/2006/relationships/notesMaster" Target="/ppt/notesMasters/notesMaster1.xml" Id="R22b4ee25d89840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166edb8d2b4fca" /><Relationship Type="http://schemas.openxmlformats.org/officeDocument/2006/relationships/notesMaster" Target="/ppt/notesMasters/notesMaster1.xml" Id="Rcdfe1840afa241e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e279e2f7864567" /><Relationship Type="http://schemas.openxmlformats.org/officeDocument/2006/relationships/notesMaster" Target="/ppt/notesMasters/notesMaster1.xml" Id="Rfeaef49bae8d47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62fde8e3db49f7" /><Relationship Type="http://schemas.openxmlformats.org/officeDocument/2006/relationships/notesMaster" Target="/ppt/notesMasters/notesMaster1.xml" Id="Rbdbf5aa0f7c24c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5d2823eed0436c" /><Relationship Type="http://schemas.openxmlformats.org/officeDocument/2006/relationships/notesMaster" Target="/ppt/notesMasters/notesMaster1.xml" Id="R0c884548bcd84a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7eed442e954368" /><Relationship Type="http://schemas.openxmlformats.org/officeDocument/2006/relationships/notesMaster" Target="/ppt/notesMasters/notesMaster1.xml" Id="R307a65315ed741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8b9954569a47cd" /><Relationship Type="http://schemas.openxmlformats.org/officeDocument/2006/relationships/notesMaster" Target="/ppt/notesMasters/notesMaster1.xml" Id="R2499f293a42449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b76206ec124873" /><Relationship Type="http://schemas.openxmlformats.org/officeDocument/2006/relationships/notesMaster" Target="/ppt/notesMasters/notesMaster1.xml" Id="R9bc6888222f044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fa236b762b469b" /><Relationship Type="http://schemas.openxmlformats.org/officeDocument/2006/relationships/notesMaster" Target="/ppt/notesMasters/notesMaster1.xml" Id="R429183cbfee14c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65f8daeab0468a" /><Relationship Type="http://schemas.openxmlformats.org/officeDocument/2006/relationships/notesMaster" Target="/ppt/notesMasters/notesMaster1.xml" Id="R0b549598b3824e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31ff5e1a7847d1" /><Relationship Type="http://schemas.openxmlformats.org/officeDocument/2006/relationships/notesMaster" Target="/ppt/notesMasters/notesMaster1.xml" Id="R8875cb89e56440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40e6311d174cac" /><Relationship Type="http://schemas.openxmlformats.org/officeDocument/2006/relationships/notesMaster" Target="/ppt/notesMasters/notesMaster1.xml" Id="R2f2e67908d8741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b2ac14678f74b68" /><Relationship Type="http://schemas.openxmlformats.org/officeDocument/2006/relationships/notesMaster" Target="/ppt/notesMasters/notesMaster1.xml" Id="Rf41afdc0333d4c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47a304f5a248f4" /><Relationship Type="http://schemas.openxmlformats.org/officeDocument/2006/relationships/notesMaster" Target="/ppt/notesMasters/notesMaster1.xml" Id="R8ef212c41bd644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a5b7c2ec304caa" /><Relationship Type="http://schemas.openxmlformats.org/officeDocument/2006/relationships/notesMaster" Target="/ppt/notesMasters/notesMaster1.xml" Id="R1e75eff4a71b414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0853dcfa0fa437a" /><Relationship Type="http://schemas.openxmlformats.org/officeDocument/2006/relationships/notesMaster" Target="/ppt/notesMasters/notesMaster1.xml" Id="R026d3f956d704c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bc8a760f53c4276" /><Relationship Type="http://schemas.openxmlformats.org/officeDocument/2006/relationships/notesMaster" Target="/ppt/notesMasters/notesMaster1.xml" Id="R1d971fe0c2e4474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03dac86b7cc47ec" /><Relationship Type="http://schemas.openxmlformats.org/officeDocument/2006/relationships/notesMaster" Target="/ppt/notesMasters/notesMaster1.xml" Id="R8851cd0703b347f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43fda9bae043e1" /><Relationship Type="http://schemas.openxmlformats.org/officeDocument/2006/relationships/notesMaster" Target="/ppt/notesMasters/notesMaster1.xml" Id="R18ef086768644a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907c9bc4c1b4a27" /><Relationship Type="http://schemas.openxmlformats.org/officeDocument/2006/relationships/notesMaster" Target="/ppt/notesMasters/notesMaster1.xml" Id="Rbb5d01b16f7944e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b06cb06437a4a64" /><Relationship Type="http://schemas.openxmlformats.org/officeDocument/2006/relationships/notesMaster" Target="/ppt/notesMasters/notesMaster1.xml" Id="R4c3786b2c716495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00490c74f164b7f" /><Relationship Type="http://schemas.openxmlformats.org/officeDocument/2006/relationships/notesMaster" Target="/ppt/notesMasters/notesMaster1.xml" Id="Redb97942faff464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1048259bad445ea" /><Relationship Type="http://schemas.openxmlformats.org/officeDocument/2006/relationships/notesMaster" Target="/ppt/notesMasters/notesMaster1.xml" Id="R30363fda44d642f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5bedd57eed04c1a" /><Relationship Type="http://schemas.openxmlformats.org/officeDocument/2006/relationships/notesMaster" Target="/ppt/notesMasters/notesMaster1.xml" Id="R9c97866030fd489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3ab30dd8f004243" /><Relationship Type="http://schemas.openxmlformats.org/officeDocument/2006/relationships/notesMaster" Target="/ppt/notesMasters/notesMaster1.xml" Id="R512fc0462e2a4e4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6e1964672394505" /><Relationship Type="http://schemas.openxmlformats.org/officeDocument/2006/relationships/notesMaster" Target="/ppt/notesMasters/notesMaster1.xml" Id="Ra989067bb66f440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078a9c97e774b58" /><Relationship Type="http://schemas.openxmlformats.org/officeDocument/2006/relationships/notesMaster" Target="/ppt/notesMasters/notesMaster1.xml" Id="Rd525af656568469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7838326a7544ca8" /><Relationship Type="http://schemas.openxmlformats.org/officeDocument/2006/relationships/notesMaster" Target="/ppt/notesMasters/notesMaster1.xml" Id="Re1f1a2b01d65419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573af6edb844286" /><Relationship Type="http://schemas.openxmlformats.org/officeDocument/2006/relationships/notesMaster" Target="/ppt/notesMasters/notesMaster1.xml" Id="R571e7d716a2e47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十回です。今回は生物劣化を学びます。前回までに学んだ木材の構造、成分、水分、寸法変化を、木製品の使用環境と保守へ結び付けます。腐朽と、カビや変色、虫による食害は、それぞれ何が違うのでしょうか。学校の屋外教材台を例に、観察した事実、原因の候補、追加して確かめる情報、対策の順で考えます。ノートと電卓を用意してください。演習と三回の短い休憩を含む九十分です。音声が流れない思考時間には、画面の上部に残り時間を表示します。最後に、第七回から第十回をまとめる課題エースリーの取り組み方を案内します。正式な課題の作業時間は、この動画の九十分とは別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は、生物が作った多孔質で異方性のある材料でした。細胞壁の成分は、材料の強度を支える一方で、ある生物にとって利用できる物質でもあります。木材が自然界で分解されることは、炭素や養分の循環を支える働きです。しかし、使用中の机や教材台で同じ分解が進むと、必要な機能が失われる場合があります。そこで、木は腐るから使わない、と一括りにするのでなく、どんな生物が、どの場所で、どんな条件に置かれたときに活動するかを考えます。今日の目標は、外観の変化をすぐ一つの病名に結び付けず、調べる順序と、条件に対応した予防策を説明できること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第十一回からは木質材料へ進みます。木材を薄くしたり、小片にしたり、接着して組み直したりしても、水分や生物との関係が全て消えるわけではありません。今回の考え方は、合板や集成材などを選び、使用条件を判断するための前提にもなり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提を整理しましょう。第四回で学んだ主要成分は、セルロース、ヘミセルロース、リグニンでした。第五回と第六回では、その構造や繊維方向と、力を受ける性質を結び付けました。第七回からは、密度、含水率、水の所在、方向別の寸法変化を扱いました。水を含んで重くなることと、細胞壁の成分が分解されることは別の現象です。また、乾燥で割れたり反ったりした材と、生物の働きで壁が分解された材では、原因も対応も同じとは限りません。実物では両方が重なり、割れや接合部の隙間が、水の入り方に関わることもあります。変化を一つずつ分けてから、そのつながりを考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同じ樹種であっても、室内の棚と、雨ざらしの教材台では、受ける水や乾く経路が違います。材料名の一覧だけで耐久性を決めず、材料、形、置かれる環境、使用中の点検を一組として記述します。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心となる関係は三つです。第一に、腐朽菌は細胞壁の成分を分解し、材質や強度を変えます。第二に、その活動には、水分だけでなく、温度、酸素、利用できる養分、時間などが関わります。第三に、こうした条件を、製作品の形や置き方、保守によって変えることができます。例えば、地面から離す、水が流れる形にする、空気の通り道を確保する、といった工夫です。ただし、ある一つの対策を行えば、どの生物による劣化も完全に防げるとは限りません。演習では、何を観察したかと、どの条件へ働き掛けるかを対応させてください。数字を扱う場合も、その数字が何を測ったかを先に確かめ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腐朽菌の種類を全て暗記することよりも、壁が分解されるという材料の変化と、それを進める環境条件をつなぐことを優先します。教師としては、生徒が見た色や穴を根拠に、どこまで説明できるかを支えることが大切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菌類と昆虫による変化を分けます。腐朽では、菌が細胞壁の成分を分解して、材料を支える構造へ影響します。一方、カビや変色菌では、表面の生育や材色の変化が目立つ例があります。外観の変化が中心の現象と、壁の分解を区別します。シロアリは木材を食害する昆虫で、種類によって生活様式や水分条件が異なります。ヒラタキクイムシ類は、乾燥した広葉樹の辺材などを加害する例として扱います。色、穴、粉、軟化という観察語を、それぞれ候補と結び付けましょう。ただし、一枚の写真で種まで決定したり、穴があるだけで現在も活動中と判断したりすることはでき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劣化の分類と、生物の分類は同じ表ではありません。同じ外観の変化へ複数の原因が関わる場合も、一つの材で複数の生物や物理的な変化が重なる場合もあります。観察から候補を挙げ、追加情報で絞る順序を保ち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物写真を確認します。アメリカ農務省のウッドハンドブックに掲載された四つの例です。写真のエーはカビによる変色、ビーは褐色腐朽したマツ材、シーは白色腐朽したカエデ材、ディーは軟腐朽した保存処理済みのマツの電柱です。これは出典の説明に基づく名称であり、皆さんが写真の色だけで同定した結果ではありません。ビーでは木材が小さい塊のように割れた様子、シーでは白っぽく見える様子を観察できます。ディーの例は、保存処理済みという言葉だけでも、あらゆる部位や条件で劣化が起こらないと保証できないことを考える手掛かりです。まず、色、割れ方、表面の様子という見える事実を二つ書いてください。九十秒の観察時間です。</a:t>
            </a:r>
          </a:p>
          <a:p xmlns:a="http://schemas.openxmlformats.org/drawingml/2006/main">
            <a:r>
              <a:t/>
            </a:r>
          </a:p>
          <a:p xmlns:a="http://schemas.openxmlformats.org/drawingml/2006/main">
            <a:r>
              <a:t>例えば、ビーには繊維を横切る割れがあり、小さい角ばった塊のように見える、シーは周囲と比べて明るく見える、と書けます。見える形の記述と、出典が示した腐朽の種類を分けて記録します。写真の見え方は、照明や撮影の条件にも左右されるため、同じ色が全て同じ原因を意味するとは考えません。</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a:p xmlns:a="http://schemas.openxmlformats.org/drawingml/2006/main">
            <a:r>
              <a:t>Fig.14–5, p.14–4: (a) mold discoloration; (b) brown-rotted pine; (c) white-rotted maple; (d) soft-rotted preservative-treated pine utility pole.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写真は、変色菌による青変の例です。丸太の木口に、外側から内側へくさび形に見える暗い部分があります。出典では、青変が放射組織などに沿って材の内部へ広がる例として説明されています。第二回の組織を思い出し、年輪に沿う向きと、年輪を横切る放射方向を見分けてください。表面が粉のように見えるカビの例と、内部にも色が見える変色の例を同じ一語で済ませないことが大切です。一般に、カビや青変は外観への影響が目立ちますが、衝撃に耐える性質などへの影響や、腐朽との併存も考える必要があります。色が付いたから強度が全て失われた、とも、色だけだから何も調べなくてよい、とも言え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の写真にある暗いくさび形の部分を、年輪そのものの幅や密度の分布と混同しないでください。組織の配列を学ぶことで、何が変色した部分か、どの方向へ広がるかという観察の問いを増やせます。写真で見える範囲と、実際に確かめる必要がある範囲を区別します。</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a:p xmlns:a="http://schemas.openxmlformats.org/drawingml/2006/main">
            <a:r>
              <a:t>Fig.14–2, p.14–2: blue stain; internal wedge-shaped discoloration spreading along wood rays.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三つの輪に、具体的な言葉を入れます。生物の輪には、腐朽菌や昆虫など、対象の生物を入れます。環境の輪には、水分、温度、酸素、木材の状態などを入れます。時間の輪には、その条件がどれくらい続くかを入れます。木材が一度雨で濡れたという事実と、接合部の内部が長く湿ったままであるという事実は、区別して扱います。また、材料の表面と内部で条件が同じとは限りません。図は腐朽速度を計算する数式ではなく、調べる項目を落とさないための枠組みです。三つの輪を一つずつ読み、今日の教材台の例にどんな情報が不足しているかを考え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生物がいることだけでも、雨が当たることだけでも、進み方の全てを決められません。材料の成分や処理、形状も環境と生物の関係へ影響します。原因の説明には、生物の名前に加え、その場所で活動しやすい条件があったかを書き添え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腐朽菌の活動を抑えるうえで、乾燥は有効な考え方です。ただし、何パーセントより下なら全ての劣化が起きない、という一つの数値を覚える形にはしません。表面の濡れ、内部の含水率、周囲の相対湿度は、同じ指標ではありません。前回までに学んだ繊維飽和点も、全ての生物に共通の発生限界ではありません。木口、接地部、水平な接合面は、水が入り、残る場所として点検します。雨の量だけでなく、その後に水が流れるか、空気が通るか、次に濡れる前に乾くかを考えましょう。また、乾いた木材を加害できる昆虫もいるため、乾燥と、対象生物に応じた点検を組み合わせ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測った平均含水率が低くても、接合面など一部だけが湿っている可能性は別に調べます。逆に、周囲の空気が湿っているという記録から、材の全ての位置が同じ含水率になったと直ちに決めることもできません。場所、時間、測定方法を明記する習慣が役立ち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均の値と局所の状態を区別する演習です。屋外教材台の板について、雨から数日後、測った場所の含水率は十五パーセントだったとします。一方、重なった接合面には、雨の翌日も水が残るという記録があります。学生は、含水率が十五パーセントだから、この台は全ての場所で腐朽の心配がない、と説明しました。この説明には、測った場所と時刻から、測っていない場所と過去の全ての時間への飛躍があります。二分間、測定記録へ追加したい項目を四つ挙げ、どの情報があれば接合部の状態を判断しやすくなるかを書いてください。今回の十五パーセントは仮想の観察値で、木材の全てに共通する安全の境界ではありません。前回までの気乾含水率や平衡含水率も、特定の時刻の全ての部分へ自動的に適用される値ではなかったことを思い出しましょう。</a:t>
            </a:r>
          </a:p>
          <a:p xmlns:a="http://schemas.openxmlformats.org/drawingml/2006/main">
            <a:r>
              <a:t/>
            </a:r>
          </a:p>
          <a:p xmlns:a="http://schemas.openxmlformats.org/drawingml/2006/main">
            <a:r>
              <a:t>追加する項目は、測定位置と深さ、測定日時と降雨後の経過、測定方法、接合面や木口など場所別の湿り方、といった情報です。同じ位置を時間を変えて測る記録も役立ちます。一か所の値から台の全体を代表させず、特に水が残る接合面を別に確かめます。また、今乾いていることから、過去にも長く湿った期間がなかったとまでは言えません。記録した値を否定するのでなく、その値が表す場所と時間の範囲を明示することが、この演習の答え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物ごとの見方を表で整理します。腐朽では、細胞壁の分解と、その活動を支える水分などの条件を調べます。カビや変色では、見える生育や色の範囲と、湿り方を記録します。虫害では、穴や粉、食べられた経路だけでなく、対象の昆虫と現在の活動状況を調べます。どの場合も、写真一枚や一回の測定だけで、内部全体の状態を決めるのは難しいことがあります。ここで二分、表の各行に、追加して確かめたい情報を一つずつ書き込んでください。全ての行に同じ含水率の数字を書くのではなく、目的に合う情報を選びましょう。</a:t>
            </a:r>
          </a:p>
          <a:p xmlns:a="http://schemas.openxmlformats.org/drawingml/2006/main">
            <a:r>
              <a:t/>
            </a:r>
          </a:p>
          <a:p xmlns:a="http://schemas.openxmlformats.org/drawingml/2006/main">
            <a:r>
              <a:t>腐朽なら、軟化の範囲や接合部の内部の状態、湿りが続く時間などが候補です。カビや変色なら、変色が表面に限られるか、内部にもあるか、他の変化を伴うかを確かめます。虫害なら、新たな粉や穴が増えるか、どんな昆虫か、どの部位が加害されているかを調べます。対象によって必要な情報が異なることを、表の行ごとに説明できれば十分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濡れの記録を読む演習です。四回の降雨について、雨が止んでから、ある接合部で水が見えなくなるまでの時間を記録したとします。次の雨までに観察は終わっていて、時間は重複しません。対策前は十八、十二、二十、十時間、対策後の比較例は六、四、八、二時間です。これは学習用の仮想記録で、腐朽試験の実測値ではありません。それぞれの合計時間と、対策前を基準にした減少率を求めてください。最後に、時間が三分の一になれば強度低下も必ず三分の一と言えるかを説明します。三分間、記録された量と、まだ測っていない量を分けて考えましょう。</a:t>
            </a:r>
          </a:p>
          <a:p xmlns:a="http://schemas.openxmlformats.org/drawingml/2006/main">
            <a:r>
              <a:t/>
            </a:r>
          </a:p>
          <a:p xmlns:a="http://schemas.openxmlformats.org/drawingml/2006/main">
            <a:r>
              <a:t>合計は対策前が六十時間、対策後が二十時間です。差の四十を、対策前の六十で割るため、減少率は約六十六・七パーセントです。表面に水が見えた時間は三分の一ですが、腐朽量や強度の低下が同じ比になるとは言えません。内部の含水状態、温度、生物、濡れている期間の連続性なども必要です。また、二つの記録で降雨や他の条件をそろえていなければ、その差を対策だけの効果と断定できません。</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それでは、再開します。比較するデータと条件へ進みます。</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察と原因候補を対応させる表を読みます。表面の色変化には、カビや変色菌のほか、別の汚れや化学的な変色も候補になります。軟化や崩れでは、腐朽などを疑い、範囲と支持部の状態を確かめます。穴や食痕では、虫害などを候補にし、種類と活動状況を調べます。割れは、乾燥や荷重などでも生じるため、割れだけで菌による劣化と判断しません。表の左から右へ、見た事実、候補、追加の調査という順で読み進めてください。候補と調査内容の対応が大切です。原因がまだ一つに絞れなくても、次に何を調べればよいかを書ければ、判断は一歩進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記録に、腐っている、とだけ書くと、観察した色や形と、推測した原因が混ざってしまいます。まず、端部の一部分が周囲より暗い、接合面に翌日も水が残る、というように場所と事実を記述し、その後で腐朽などの候補を挙げ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屋外の教材台について考えます。端部に水がたまり、表面に変色があり、一部に軟らかい場所があるという設定です。これは提示された観察記録を読む紙上の演習です。実際に傷んだ台を触って調べる活動を指示するものではありません。この情報から、木材は屋外で使えない、と全ての木製品へ一般化してよいでしょうか。ノートを四つの欄に分け、観察した事実、原因の候補、追加して確かめること、対策を書いてください。原因を一つに決められないときは、候補を複数挙げて構いません。三分間、対策がどの観察に対応するかを線で結んで整理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察の事実は、水がたまる場所、変色した範囲、軟化した場所です。腐朽などを疑う根拠はありますが、生物の種や内部全体の状態まで確定したとは言えません。追加の調査には、雨の後の乾き方、木口や接合部の状態、軟化の広がり、支持部への影響などがあります。対策では、水を流す形、乾く経路、点検しやすい接合、必要に応じた部材交換を対応させます。支持する部分の劣化が疑われる場合は、使用を続ける前に状態を確認します。屋外の木材全てを不適切とするのでなく、使用条件と必要な機能を示して判断することが、この演習の要点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対策欄に、塗装する、と一語だけ書いた場合は、水がたまる形を変えられるか、塗装後もどこを点検するかを加えてください。目の前の色を隠すことと、木材が長く湿る条件を変えることは、それぞれ検討する必要があり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褐色腐朽と白色腐朽を、第四回の化学とつなぎます。褐色腐朽では、主にセルロースとヘミセルロースが分解されます。リグニンが相対的に残り、褐色に見えたり、繊維を横切る割れで角ばった塊状に崩れたりする例があります。白色腐朽では、リグニンを含む細胞壁成分の分解が進み、白っぽく見える例があります。ただし、色や割れ方は手掛かりであり、色だけで菌種を確定するものではありません。壁の成分の分解は、荷重を支える構造へ影響します。初期に外観や質量の変化が小さく見えても、強度の変化が同じ割合で小さいとは限らないことを、次の資料で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写真にあった軟腐朽は、細胞壁へ特有の分解の様式を示す別の型です。今回はその微細な分類の暗記を求めません。褐色と白色という二つの見出しだけで、自然界の全ての腐朽を分類し尽くしたわけではないことを確認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量減少と材料の性能を分けて読みます。ウッドハンドブック第十四章では、実験室での腐朽試験において、木材の質量減少が一パーセントに達した時点で、靱性の低下が六パーセントから五十パーセントを超える範囲だったと紹介されています。靱性は、ここでは衝撃に耐える性質に関するものです。この幅を、全ての強度値に共通する換算係数にはしません。演習用に、腐朽前の全乾質量五十グラムが、四十九・五グラムになったとします。質量減少率を求め、そこから曲げ強度も一パーセントだけ下がったと結論できるかを説明してください。二分間、測った量、資料が述べる性能、言えないことを分けます。</a:t>
            </a:r>
          </a:p>
          <a:p xmlns:a="http://schemas.openxmlformats.org/drawingml/2006/main">
            <a:r>
              <a:t/>
            </a:r>
          </a:p>
          <a:p xmlns:a="http://schemas.openxmlformats.org/drawingml/2006/main">
            <a:r>
              <a:t>質量差は〇・五グラムです。これを腐朽前の五十グラムで割って百倍すると、一パーセントです。しかし、質量の減少率から、曲げ強度や靱性の低下率を同じ一パーセントと決めることはできません。資料の六から五十パーセント超は、靱性についての実験報告の範囲であり、この仮想試料の曲げ強度を予測する値でもありません。測定対象と条件を確かめ、必要な性能を別に評価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a:p xmlns:a="http://schemas.openxmlformats.org/drawingml/2006/main">
            <a:r>
              <a:t>p.14–6, Effect of Decay on Strength of Wood: toughness loss 6% to &gt;50% at 1% weight loss in laboratory tests; not a general strength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の耐久性について、密度だけで順位を付けないことも確認します。多くの樹種では、心材と辺材で腐朽への抵抗性が異なります。心材の抽出成分などが関わりますが、樹種、同じ樹種内の個体差、生物、使用環境によって変わります。心材が腐朽しにくいと言われる樹種でも、その辺材まで同じ性質とみなすことはできません。また、心材なら絶対に腐らないという意味でもありません。材料を選ぶときには、樹種名に加え、どの部位か、どのような処理か、どの環境に使うかを確かめます。密度や強度は第七回までの重要な指標でしたが、生物への抵抗性を密度一つから完全に決めることはでき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資料の耐久性の表を使う場合も、心材を対象にした表なのか、どの試験や使用記録に基づくかを読みます。屋外で地面から離して使った結果を、接地した条件へ同じ寿命として適用することは避けます。値や等級と、比較した条件を一緒に残しましょう。</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虫害では、木材を加害する昆虫を一括りにしないことが重要です。ヒラタキクイムシ類には、乾燥した広葉樹の辺材などを加害するものがあります。産卵できる導管や、利用できる養分など、材料の構造や部位も関わります。シロアリにも、地中から水分を得るものと、乾いた材の中で生活できるものなど、生活様式の違いがあります。したがって、乾燥が腐朽の抑制に有効だから、乾燥すれば全ての虫害も防げる、と広げることはできません。穴や粉は手掛かりですが、穴が古いものか、今も粉が増えているかなどの記録が必要です。具体的な生物の確認と、材料の由来や保管、使用条件の点検を合わせて考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ウッドハンドブックにはアメリカの分布や対策の記述もあります。その地域の分布図を、そのまま日本の学校の発生頻度に置き換えることはできません。今回利用するのは、昆虫ごとに生活様式や材料の条件が異なるという原理です。地域での種や活動の判断には、地域に適した資料が必要です。</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の経路を、教材台の模式図で考えます。青い矢印は濡れる経路、緑の矢印は水が流れたり乾いたりする経路の考え方です。図の矢印の長さは流量の実測値ではありません。上面に雨が当たり、木口や接合部へ水が入り、水平な合わせ面などに残るという順を想像してください。入口を減らすだけでなく、入った水を流す出口と、乾く経路を確保することも検討します。さらに、どこを見れば状態が分かるか、傷んだときにどの部材を交換できるかを書き加えます。ここで二分間、ノートへ簡単な台の図を描き、水の入口、たまり場、出口、点検箇所をそれぞれ示してください。</a:t>
            </a:r>
          </a:p>
          <a:p xmlns:a="http://schemas.openxmlformats.org/drawingml/2006/main">
            <a:r>
              <a:t/>
            </a:r>
          </a:p>
          <a:p xmlns:a="http://schemas.openxmlformats.org/drawingml/2006/main">
            <a:r>
              <a:t>上面や木口へ入る矢印、接合面に残る印、外へ流れる矢印、空気が通る位置を分けて描けます。点検箇所には、木口、接合部、地面に近い脚部などを挙げ、その理由を湿りが続く可能性と結び付けます。矢印を描くだけでなく、その経路を変える具体的な形や置き方を一つ示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予防と保守を組み合わせます。形や納まりでは、水をためない、地面から離す、通風と排水を確保する、といった工夫があります。表面保護や保存処理は、製品と使用条件に合うものを選びます。表面の塗装と、木材内部へ薬剤を浸透させる保存処理は、同じ処理ではありません。処理したという名前だけで、全ての部位や生物に対する効果を決めないことが大切です。設計では、点検できる接合と、交換できる部材も考えます。自然界の分解は循環に役立つ一方、使用中は必要な機能を保つことを目標にします。長く使う工夫と、使用後の再利用や適切な処理まで含めて、材料の利用を考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今回の原理から、特定の薬剤の使い方や施工量を決めることはできません。実際に製品を選ぶときは、対象生物、使用場所、処理された範囲、製品の資料を確認します。材料の選択、濡れにくい構造、点検を組み合わせるという考え方を持ち帰ってください。</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守計画を、作業の名前だけでなく、確認したい変化と組にします。例えば、雨の後に接合部へ水が残るなら、どこで水が止まるかを記録し、排水や接合形状を検討します。塗膜の割れや剥がれがあれば、その下の状態と水の入り方も確かめます。穴や粉では、以前の記録と比べて増えたかを見ることができます。定期的な記録では、同じ位置、同じ向きの写真と、日時、降雨との関係を残すと比較しやすくなります。ここで三分、屋外教材台の点検表を三行作り、見る場所、記録する事実、変化があったときの対応を書いてください。一律に毎週何回という数字を決めるのでなく、使用条件に応じた計画にします。</a:t>
            </a:r>
          </a:p>
          <a:p xmlns:a="http://schemas.openxmlformats.org/drawingml/2006/main">
            <a:r>
              <a:t/>
            </a:r>
          </a:p>
          <a:p xmlns:a="http://schemas.openxmlformats.org/drawingml/2006/main">
            <a:r>
              <a:t>一行目は木口や接合部で、雨の後の水の残り方を記録し、排水と乾く経路を見直す、とできます。二行目は脚の付け根で、変色や形の変化、接合状態を以前と比べ、支持機能へ影響があれば使用継続前に確認します。三行目は穴や粉がある場所で、新たな変化を記録し、対象生物や活動状況の調査につなげます。観察、判断、対応が一行でつながっているかを点検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それでは、再開します。演習2　水の経路と予防策へ進みます。</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室内の棚と、屋外教材台を比べます。棚は通常は雨が直接当たりませんが、水をこぼしたり、壁際で乾きにくかったりする場合も考えられます。屋外教材台には、降雨、木口、水平な接合面、地面との距離などの条件があります。それぞれに、水が入る、たまる、乾く経路を描き、予防と点検を一つずつ提案してください。最後に、乾いていれば全ての虫害を防げる、という文を修正します。ここで三分、室内か屋外かという二択にせず、具体的な使用条件を図の中へ書き込みます。必要な情報が不明なときは、仮定として記入して構い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室内の棚なら、こぼした水が残る部分や壁際の空気の通り道を示し、水を拭き取れることや点検できることを提案できます。屋外の台なら、雨が入る場所と排水先を示し、木口や接合部、接地に近い場所の湿りを確認します。生物ごとの必要条件は同じでないため、乾燥は腐朽の抑制に有効だが、乾燥だけで全ての虫害を保証できない、と修正できます。材料の性質、形や納まり、保守を組み合わせることが共通の考え方です。室内だから全て安心、屋外だから全て不適切、という結論では、具体的な改善点を見付けにく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比較の図には、どこが濡れると仮定したかを残しましょう。別の条件を仮定した学生と対策が違っていても、条件と対策の対応が説明できれば議論できます。授業では、結論が同じかどうかに加え、根拠となる条件が共有されているかを確かめ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改善案を確かめる観察計画を考えます。接合部へ水が残りにくい形に変えると、濡れが続く時間は短くなるだろうか、という問いを設定します。形を変える前後だけを、別々の天気で一回ずつ比べると、雨や温度の差も結果へ関わります。比較用の同じ材料、寸法、表面状態の試料を用意し、形の条件を変えて、同じ降雨や乾く環境で観察するという考え方があります。ここで二分間、変える条件を一つ、そろえる条件を三つ、記録する量を一つ、まだ結論できないことを一つ書いてください。腐朽菌を培養する試験ではなく、写真や濡れの記録から水の経路を比べる計画です。測定回数や、観察間隔も決めると、いつ水が見えなくなったかを、どの細かさで判断したかが分かります。</a:t>
            </a:r>
          </a:p>
          <a:p xmlns:a="http://schemas.openxmlformats.org/drawingml/2006/main">
            <a:r>
              <a:t/>
            </a:r>
          </a:p>
          <a:p xmlns:a="http://schemas.openxmlformats.org/drawingml/2006/main">
            <a:r>
              <a:t>変える条件は接合面の形、そろえる条件は材料や寸法、表面状態、濡らす条件、置き方などが考えられます。記録する量は、雨の後に水が見える時間や、決めた位置の状態です。複数回の記録を残せば、たまたまの一回だけかを検討しやすくなります。ただし、その結果だけで腐朽速度や製品の寿命、残存強度を決定することはできません。調べた水の経路に関する問いと、まだ調べていない材料性能の問いを分けましょう。生徒にも、どの条件を変えたから、どの結果を比べるのかを説明させ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調べ学習で、出典と自分の判断を分ける練習をします。例えば、資料に乾燥が腐朽の抑制に有効と書いてある場合、その記述だけで、学校の全ての木製品は乾燥させれば点検不要、と結論することはできません。まず、著者や機関、資料名、年、ページや図番号、リンクを残します。次に、その資料がどの対象と条件について述べているかを自分の言葉で要約します。最後に、今回の製品の条件へ、どこまで適用できるかを書きます。二分間、今日の写真か、靱性の資料を一つ選び、出典が述べたことと、自分が判断したことを二つの文へ分けてください。</a:t>
            </a:r>
          </a:p>
          <a:p xmlns:a="http://schemas.openxmlformats.org/drawingml/2006/main">
            <a:r>
              <a:t/>
            </a:r>
          </a:p>
          <a:p xmlns:a="http://schemas.openxmlformats.org/drawingml/2006/main">
            <a:r>
              <a:t>写真なら、ウッドハンドブックの図十四の五では褐色腐朽したマツ材の例が示されている、という文が出典の説明です。それを参考に、教材台にある割れの候補として腐朽も調べたいが、写真だけで同じ原因とは確定できない、と書けば自分の判断と限界が分かれます。靱性の記述でも、実験報告の範囲と、個別の曲げ強度を予測できるかを分け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技術科の授業へ結びます。写真に、水が入る場所、たまる場所、乾く経路を重ね、排水、接合、点検や交換について考える活動にできます。材料の性質を知り、それを構想や使用中の保守へ反映する学習です。指導要領解説の、材料と加工の技術を理解する内容と、技術を評価し改善する内容への接点として扱います。教科書での耐久性や屋外利用の話題にもつながります。ただし、今回、購入やスキャンを進めている教科書本文の全てを照合したわけではありません。特定教科書の本文に同じ図や記述があると断定せず、教材としてどの理解を促すかを明確に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生物育成で木を扱うときには、生きている樹木の生長と、製材後の材料の利用を区別しつつ、分解と資源循環を関連付けられます。生物を全て取り除けばよいという説明ではなく、使用中に保つ機能と、自然界での役割を場面に応じて考え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生向けの十分間の授業案を作ります。二枚の教材台の写真を提示したと仮定してください。最初の二分で見える事実、次の二分で水の入口と残る場所を記録します。次の三分で改善案を考え、二分で根拠を交流し、最後の一分で説明を修正します。見える事実と原因候補を区別し、水の経路と対策を対応させることを学習目標にします。ここで三分、発問を一つ、学生が提出する図か短文を一つ、理解を確認する基準を一つ作ってください。劣化した材を採取したり培養したりする活動を設定する必要はありません。写真と記録で考える授業として設計します。</a:t>
            </a:r>
          </a:p>
          <a:p xmlns:a="http://schemas.openxmlformats.org/drawingml/2006/main">
            <a:r>
              <a:t/>
            </a:r>
          </a:p>
          <a:p xmlns:a="http://schemas.openxmlformats.org/drawingml/2006/main">
            <a:r>
              <a:t>発問は、同じ木材でも接合の形や置き方で湿りが続く場所はどう変わるか、とできます。提出物は、水の入口、たまり場、出口を示し、一つの改善案に理由を添えた図です。確認基準は、単に塗装や交換という語を書いたかではなく、示した対策が観察した場所と水の経路に対応しているか、とします。生徒の最初の説明と修正後を比較すれば、理解の変化も確認でき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人の生徒の説明を見直す演習です。一人目は、カビの色があるので木材全体の強度はもうない、と書きました。二人目は、一度塗装すれば、どんな屋外でも保守はいらない、と書きました。三人目は、十分に乾かせば全ての虫害は起きない、と書きました。それぞれについて、観察から飛躍しているところと、追加する条件を示し、短い声掛けを作ってください。三分間、単に間違いと伝えるのでなく、何を確かめれば説明をよくできるかを返す練習です。早く終わった人は、どの資料や記録を調べるとよいかも加えましょう。</a:t>
            </a:r>
          </a:p>
          <a:p xmlns:a="http://schemas.openxmlformats.org/drawingml/2006/main">
            <a:r>
              <a:t/>
            </a:r>
          </a:p>
          <a:p xmlns:a="http://schemas.openxmlformats.org/drawingml/2006/main">
            <a:r>
              <a:t>一人目には、色だけで全体の強度を決めず、腐朽の併存や内部、支持部などを調べよう、と返せます。二人目には、塗装の状態、水がたまる形、使用中の点検も考えよう、と返せます。三人目には、乾いた材を加害する昆虫もいるので、対象生物と材料の部位、活動状況を確認しよう、と返せます。共通するのは、一つの観察や対策を、条件のない絶対的な規則へ広げないこと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密度・水・寸法・生物を結び付けるへ進みます。</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七回からの学習を一つの説明へまとめます。密度は、質量と体積の基準状態を確認する量でした。含水率では、全体の質量から全乾木材の質量を引いて水を取り出し、乾量基準か湿量基準かで分母を選びました。水の所在では、自由水と壁内の水を分けました。寸法変化では、方向、含水率の区間、拘束を考えました。今回の生物劣化では、それらの性質を持つ材が、どんな生物と環境に、どれくらい置かれるかを加えます。ここで三分、屋外教材台を例に、水、寸法、接合、生物、保守の五語を含む説明図を作ってください。全てを一直線に並べる必要はなく、原因と条件の関係が伝われば構いません。</a:t>
            </a:r>
          </a:p>
          <a:p xmlns:a="http://schemas.openxmlformats.org/drawingml/2006/main">
            <a:r>
              <a:t/>
            </a:r>
          </a:p>
          <a:p xmlns:a="http://schemas.openxmlformats.org/drawingml/2006/main">
            <a:r>
              <a:t>例えば、水分変化が方向別の寸法変化を生み、接合部の状態へ関わることがあります。一方、接合の形が水を残しやすいと、場所ごとの湿りが続き、生物の活動条件へ関わります。そこへ、排水や通風、点検、部材交換という保守を対応させられます。全ての接合が必ず隙間を生じ、全ての濡れが必ず腐朽になると決めるのでなく、起こり得る関係と必要な条件を付け加えて説明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確認問題です。第一に、カビの色だけで強度低下の大きさが分かるでしょうか。第二に、水がたまる接合部では、どんな改善を考えられるでしょうか。第三に、使用中の生物劣化と、自然界の木材の分解は、どんな関係にあるでしょうか。九十秒、答えに理由を一つずつ添えてください。専門語の数を増やすよりも、観察と判断、原因と対策のつながりが伝わることを優先します。</a:t>
            </a:r>
          </a:p>
          <a:p xmlns:a="http://schemas.openxmlformats.org/drawingml/2006/main">
            <a:r>
              <a:t/>
            </a:r>
          </a:p>
          <a:p xmlns:a="http://schemas.openxmlformats.org/drawingml/2006/main">
            <a:r>
              <a:t>第一は、色だけでは決められません。腐朽との区別や併存、内部の状態、必要な性能を確認します。第二は、排水、乾く経路、接合形状、点検や交換のしやすさなどを、たまる場所へ対応させます。第三は、同じ分解の働きが、使用中は機能の低下につながる場合があり、自然界では炭素や養分の循環を支えるという関係です。場面と目的を示して説明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七回から第十回のまとめとして、既存の課題エースリー、密度と水と劣化を結び付ける、に取り組みます。動画内の演習は自己確認で、正式な課題の設問や配点は変更していません。基本七十点、発展三十点で、回答欄ごとの必要な要素を確認します。基本の欄十二個を十分に満たせば六十点となる構成です。何かを書けば自動的に六十点という意味ではありません。途中式、単位、基準状態、観察と根拠を残してください。調べ学習では、出典の該当ページと、自分の判断を区別します。課題の作業目安九十から百二十分は、この動画の九十分とは別です。提出方法や期限、生成エーアイの利用は、授業での案内に従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正確に計算できた部分から、回答アイディーに対応させて記入していくと、確認しやすくなります。資料の文章を貼り付けるだけでなく、問いで指定された条件へ適用した説明を加えます。分からないところも、どこまで計算や観察ができて、何の情報が不足しているかを残してください。</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題の見直し方を案内します。密度と比重では、質量と体積がどの状態かを確認します。含水率では、まず水の質量を取り出し、分母を式に書きます。寸法変化では、方向、基準寸法、同じ含水率区間かを確認します。劣化の説明では、観察、候補、追加情報、対策を区別します。教育の提案では、生徒に何を観察させ、どんな図や言葉で理解を確認するかを具体化します。最後の二分間で、正式な回答フォームを開いたと仮定して、どの回の資料を見直すかのメモを作ってください。この時間は課題全体を解き終える時間ではありません。取り組む順序と、調べる資料を整理する時間です。</a:t>
            </a:r>
          </a:p>
          <a:p xmlns:a="http://schemas.openxmlformats.org/drawingml/2006/main">
            <a:r>
              <a:t/>
            </a:r>
          </a:p>
          <a:p xmlns:a="http://schemas.openxmlformats.org/drawingml/2006/main">
            <a:r>
              <a:t>計算に使う定義や基準は第七回と第八回、収縮と使用条件は第九回、劣化と保守、出典の扱いは今回の資料へ戻れます。各回答欄の要求を一つずつ確認し、単位、途中式、根拠がそろっているかを点検しましょう。正式な設問、回答フォーム、教員からの提出案内をセットで利用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要点です。腐朽は細胞壁の成分の分解と関わり、カビや変色、虫害は、対象と現象を分けて考えます。外観だけで内部全体の状態や強度を確定せず、観察した事実から原因候補と追加情報へ進みます。腐朽の条件では、生物、環境、時間を組み合わせ、水の入口、たまり場、乾く経路を考えます。予防は、材料、形や納まり、必要に応じた処理、保守を組み合わせます。乾燥や塗装の効果を、条件のない絶対的な規則にはしません。次回からは、木材の性質を踏まえて材料を組み直す木質材料へ進みます。密度と水と劣化を結び付けた課題の説明も、次の材料選択の学習につなが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資料を案内します。ウッドハンドブック二〇二一年版、第十四章は、生物劣化の分類、カビと変色、腐朽と強度、昆虫の生活様式を確認する資料です。写真は図十四の二と図十四の五、質量と靱性の関係は十四の六ページを参照しました。第十五章は、保存処理の効果を、処理の浸透や使用条件と合わせて考えるために参照しました。アメリカの分布や施工の記述を、日本の学校へそのまま適用するのではなく、今回扱った原理と個別の条件を区別してください。学習指導要領解説と教科書関連の参照先は画面の通りです。資料名、年、ページや図番号を残し、出典の説明と自分の判断を分けることを、課題でも続けましょう。第十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第14章 https://research.fs.usda.gov/treesearch/62262</a:t>
            </a:r>
          </a:p>
          <a:p xmlns:a="http://schemas.openxmlformats.org/drawingml/2006/main">
            <a:r>
              <a:t>Wood Handbook 2021 第15章 https://research.fs.usda.gov/treesearch/62259</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USDA Wood Handbook 2021 第14章 https://research.fs.usda.gov/treesearch/62262</a:t>
            </a:r>
          </a:p>
          <a:p xmlns:a="http://schemas.openxmlformats.org/drawingml/2006/main">
            <a:r>
              <a:t>USDA Wood Handbook 2021 第15章 https://research.fs.usda.gov/treesearch/62259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baf4dc13d94e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2b280403ea48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9635bb351d44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80a10afcd246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47dd05003240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460e32cf494de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72fc64daddc94af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47eaf432bd6847c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1be82bdba80b4c4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f761a1f63cc8413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6e364356e7d449e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a21874869dc04f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806C40-359F-46D9-B0F0-9488D121F5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46160A-B5BF-4E79-88F2-AB751E6838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FA839E-C3F8-42D9-8F78-1A37547F42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581555-0FBA-4D03-8F3C-6A36560E4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EF43EA-48CE-4022-8527-8A2C94C1ED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68971F1-403B-4D00-BA96-6D20D88B2F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856239-97CB-4739-A2C1-1F02292C41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F892A9-54BB-4361-8D84-48EB6A0879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112895-1C76-4883-B739-4410FF892C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1A5AD6-BB10-4FE8-9491-1871366195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7a42c2885e460f" /><Relationship Type="http://schemas.openxmlformats.org/officeDocument/2006/relationships/slideLayout" Target="/ppt/slideLayouts/slideLayout1.xml" Id="R4a1e9d9439f94312" /><Relationship Type="http://schemas.openxmlformats.org/officeDocument/2006/relationships/slideLayout" Target="/ppt/slideLayouts/slideLayout2.xml" Id="R8d99e8ad5a634e38" /><Relationship Type="http://schemas.openxmlformats.org/officeDocument/2006/relationships/slideLayout" Target="/ppt/slideLayouts/slideLayout3.xml" Id="R455f0c74179746e8" /><Relationship Type="http://schemas.openxmlformats.org/officeDocument/2006/relationships/slideLayout" Target="/ppt/slideLayouts/slideLayout4.xml" Id="R5e538a6413054a63" /><Relationship Type="http://schemas.openxmlformats.org/officeDocument/2006/relationships/slideLayout" Target="/ppt/slideLayouts/slideLayout5.xml" Id="Rac62a66cbfc54bad" /><Relationship Type="http://schemas.openxmlformats.org/officeDocument/2006/relationships/slideLayout" Target="/ppt/slideLayouts/slideLayout6.xml" Id="R803a62d74a6a4b3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4f4f293c32a4a36" /><Relationship Type="http://schemas.openxmlformats.org/officeDocument/2006/relationships/slideLayout" Target="/ppt/slideLayouts/slideLayout7.xml" Id="Ra45b7a0cc3d44772" /><Relationship Type="http://schemas.openxmlformats.org/officeDocument/2006/relationships/slideLayout" Target="/ppt/slideLayouts/slideLayout8.xml" Id="Rac33eb3be1dc4c75" /><Relationship Type="http://schemas.openxmlformats.org/officeDocument/2006/relationships/slideLayout" Target="/ppt/slideLayouts/slideLayout9.xml" Id="R8dd0386682704e0d" /><Relationship Type="http://schemas.openxmlformats.org/officeDocument/2006/relationships/slideLayout" Target="/ppt/slideLayouts/slideLayout10.xml" Id="R67a5ec4debea46a3" /><Relationship Type="http://schemas.openxmlformats.org/officeDocument/2006/relationships/slideLayout" Target="/ppt/slideLayouts/slideLayout11.xml" Id="Rbb652c2e907b4339" /><Relationship Type="http://schemas.openxmlformats.org/officeDocument/2006/relationships/slideLayout" Target="/ppt/slideLayouts/slideLayout12.xml" Id="R268a05d09bfe4b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1e9d9439f94312"/>
    <p:sldLayoutId xmlns:r="http://schemas.openxmlformats.org/officeDocument/2006/relationships" id="2147483650" r:id="R8d99e8ad5a634e38"/>
    <p:sldLayoutId xmlns:r="http://schemas.openxmlformats.org/officeDocument/2006/relationships" id="2147483651" r:id="R455f0c74179746e8"/>
    <p:sldLayoutId xmlns:r="http://schemas.openxmlformats.org/officeDocument/2006/relationships" id="2147483652" r:id="R5e538a6413054a63"/>
    <p:sldLayoutId xmlns:r="http://schemas.openxmlformats.org/officeDocument/2006/relationships" id="2147483653" r:id="Rac62a66cbfc54bad"/>
    <p:sldLayoutId xmlns:r="http://schemas.openxmlformats.org/officeDocument/2006/relationships" id="2147483654" r:id="R803a62d74a6a4b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a45b7a0cc3d44772"/>
    <p:sldLayoutId xmlns:r="http://schemas.openxmlformats.org/officeDocument/2006/relationships" id="2147483657" r:id="Rac33eb3be1dc4c75"/>
    <p:sldLayoutId xmlns:r="http://schemas.openxmlformats.org/officeDocument/2006/relationships" id="2147483658" r:id="R8dd0386682704e0d"/>
    <p:sldLayoutId xmlns:r="http://schemas.openxmlformats.org/officeDocument/2006/relationships" id="2147483659" r:id="R67a5ec4debea46a3"/>
    <p:sldLayoutId xmlns:r="http://schemas.openxmlformats.org/officeDocument/2006/relationships" id="2147483660" r:id="Rbb652c2e907b4339"/>
    <p:sldLayoutId xmlns:r="http://schemas.openxmlformats.org/officeDocument/2006/relationships" id="2147483661" r:id="R268a05d09bfe4b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b409276f7e4b4c" /><Relationship Type="http://schemas.openxmlformats.org/officeDocument/2006/relationships/hyperlink" Target="https://lc-nue.naruto-u.ac.jp/lcu-web/SC_06001B00_22" TargetMode="External" Id="Rd4f1133412b246e6" /><Relationship Type="http://schemas.openxmlformats.org/officeDocument/2006/relationships/notesSlide" Target="/ppt/notesSlides/notesSlide1.xml" Id="Rff0abf2921124e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b66405ed094948" /><Relationship Type="http://schemas.openxmlformats.org/officeDocument/2006/relationships/notesSlide" Target="/ppt/notesSlides/notesSlide2.xml" Id="R5ed624ee2a8743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74f50fae794eb0" /><Relationship Type="http://schemas.openxmlformats.org/officeDocument/2006/relationships/notesSlide" Target="/ppt/notesSlides/notesSlide3.xml" Id="R0fb14db4215645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c5d07343e4184a43" /><Relationship Type="http://schemas.openxmlformats.org/officeDocument/2006/relationships/notesSlide" Target="/ppt/notesSlides/notesSlide4.xml" Id="R758633a508ea45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daa2d150c7e24d03" /><Relationship Type="http://schemas.openxmlformats.org/officeDocument/2006/relationships/notesSlide" Target="/ppt/notesSlides/notesSlide5.xml" Id="R9d76dcee09aa45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28e5901a864488" /><Relationship Type="http://schemas.openxmlformats.org/officeDocument/2006/relationships/image" Target="/ppt/media/image.jpeg" Id="R1fbb2ee94aca459e" /><Relationship Type="http://schemas.openxmlformats.org/officeDocument/2006/relationships/notesSlide" Target="/ppt/notesSlides/notesSlide6.xml" Id="R7f31609a9b7847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0e0bc985754482" /><Relationship Type="http://schemas.openxmlformats.org/officeDocument/2006/relationships/image" Target="/ppt/media/image2.jpeg" Id="R4a5e1eee83df4271" /><Relationship Type="http://schemas.openxmlformats.org/officeDocument/2006/relationships/notesSlide" Target="/ppt/notesSlides/notesSlide7.xml" Id="Ra6eff31303a147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4d1db4bfe34775" /><Relationship Type="http://schemas.openxmlformats.org/officeDocument/2006/relationships/notesSlide" Target="/ppt/notesSlides/notesSlide8.xml" Id="R78ed675255fb43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368bfbaf648b4d0b" /><Relationship Type="http://schemas.openxmlformats.org/officeDocument/2006/relationships/notesSlide" Target="/ppt/notesSlides/notesSlide9.xml" Id="R6c3216f2093f4e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4e5516a89e4e86" /><Relationship Type="http://schemas.openxmlformats.org/officeDocument/2006/relationships/notesSlide" Target="/ppt/notesSlides/notesSlide10.xml" Id="R12040f36e6b640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3fbacf8d243456d" /><Relationship Type="http://schemas.openxmlformats.org/officeDocument/2006/relationships/notesSlide" Target="/ppt/notesSlides/notesSlide11.xml" Id="R74ae26d31b404f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f8238e6e0c345fb" /><Relationship Type="http://schemas.openxmlformats.org/officeDocument/2006/relationships/notesSlide" Target="/ppt/notesSlides/notesSlide12.xml" Id="Rc3134420407d43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3233d869b64b0c" /><Relationship Type="http://schemas.openxmlformats.org/officeDocument/2006/relationships/notesSlide" Target="/ppt/notesSlides/notesSlide13.xml" Id="Re2c82041315b4c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330c86674bd406e" /><Relationship Type="http://schemas.openxmlformats.org/officeDocument/2006/relationships/notesSlide" Target="/ppt/notesSlides/notesSlide14.xml" Id="R895e4d77578a47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71f98cff3a74c39" /><Relationship Type="http://schemas.openxmlformats.org/officeDocument/2006/relationships/notesSlide" Target="/ppt/notesSlides/notesSlide15.xml" Id="R9484170dc4df490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e139e71b4ec4295" /><Relationship Type="http://schemas.openxmlformats.org/officeDocument/2006/relationships/notesSlide" Target="/ppt/notesSlides/notesSlide16.xml" Id="Rfcd59465cd5448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xml" Id="Rc9645cc78f44413d" /><Relationship Type="http://schemas.openxmlformats.org/officeDocument/2006/relationships/notesSlide" Target="/ppt/notesSlides/notesSlide17.xml" Id="R2da5705dca5c437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3c3ff9b7a73426d" /><Relationship Type="http://schemas.openxmlformats.org/officeDocument/2006/relationships/notesSlide" Target="/ppt/notesSlides/notesSlide18.xml" Id="R05daad65ab8f44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463618848fe4b98" /><Relationship Type="http://schemas.openxmlformats.org/officeDocument/2006/relationships/notesSlide" Target="/ppt/notesSlides/notesSlide19.xml" Id="Rbbc45ee5623548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5a89d1cd8584535" /><Relationship Type="http://schemas.openxmlformats.org/officeDocument/2006/relationships/notesSlide" Target="/ppt/notesSlides/notesSlide20.xml" Id="R5a7f71cc59184d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bd80be81f984a34" /><Relationship Type="http://schemas.openxmlformats.org/officeDocument/2006/relationships/notesSlide" Target="/ppt/notesSlides/notesSlide21.xml" Id="R008d4dcd2f5448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7481184fa15541af" /><Relationship Type="http://schemas.openxmlformats.org/officeDocument/2006/relationships/notesSlide" Target="/ppt/notesSlides/notesSlide22.xml" Id="Rfd82a6fd103c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b0b6a8834594180" /><Relationship Type="http://schemas.openxmlformats.org/officeDocument/2006/relationships/notesSlide" Target="/ppt/notesSlides/notesSlide23.xml" Id="R74b7e0baf6d349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cb0bd60e510405b" /><Relationship Type="http://schemas.openxmlformats.org/officeDocument/2006/relationships/notesSlide" Target="/ppt/notesSlides/notesSlide24.xml" Id="R5b82221007aa46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87df944516b4b81" /><Relationship Type="http://schemas.openxmlformats.org/officeDocument/2006/relationships/notesSlide" Target="/ppt/notesSlides/notesSlide25.xml" Id="R402ebe7343a342f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7386db48f1544c5" /><Relationship Type="http://schemas.openxmlformats.org/officeDocument/2006/relationships/notesSlide" Target="/ppt/notesSlides/notesSlide26.xml" Id="R95784ea3ba9a470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c29ed85712545dd" /><Relationship Type="http://schemas.openxmlformats.org/officeDocument/2006/relationships/notesSlide" Target="/ppt/notesSlides/notesSlide27.xml" Id="Raccbd62863f545c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648ceee52774c3b" /><Relationship Type="http://schemas.openxmlformats.org/officeDocument/2006/relationships/notesSlide" Target="/ppt/notesSlides/notesSlide28.xml" Id="R2c624f34a0294a9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2.xml" Id="R13dc1f5a5e284c7c" /><Relationship Type="http://schemas.openxmlformats.org/officeDocument/2006/relationships/notesSlide" Target="/ppt/notesSlides/notesSlide29.xml" Id="Rcb3d5972c8b8481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756bc671aa64aaa" /><Relationship Type="http://schemas.openxmlformats.org/officeDocument/2006/relationships/notesSlide" Target="/ppt/notesSlides/notesSlide30.xml" Id="Re7fdba72d48b4a4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a7d7b5a366642eb" /><Relationship Type="http://schemas.openxmlformats.org/officeDocument/2006/relationships/notesSlide" Target="/ppt/notesSlides/notesSlide31.xml" Id="R7e14eaa4034c414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bb13cf058bc4557" /><Relationship Type="http://schemas.openxmlformats.org/officeDocument/2006/relationships/notesSlide" Target="/ppt/notesSlides/notesSlide32.xml" Id="R0128e24e1ee741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ac79c6ccd034361" /><Relationship Type="http://schemas.openxmlformats.org/officeDocument/2006/relationships/notesSlide" Target="/ppt/notesSlides/notesSlide33.xml" Id="R8ccc01318c8e4f8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157853d0e0746e5" /><Relationship Type="http://schemas.openxmlformats.org/officeDocument/2006/relationships/notesSlide" Target="/ppt/notesSlides/notesSlide34.xml" Id="R3ff57939ca0b44e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47cd1dcca8204501" /><Relationship Type="http://schemas.openxmlformats.org/officeDocument/2006/relationships/notesSlide" Target="/ppt/notesSlides/notesSlide35.xml" Id="R0f99dcc5d6a94d8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a5c8616f219477e" /><Relationship Type="http://schemas.openxmlformats.org/officeDocument/2006/relationships/notesSlide" Target="/ppt/notesSlides/notesSlide36.xml" Id="R8657c36ee4f747a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4c35f25fcc24732" /><Relationship Type="http://schemas.openxmlformats.org/officeDocument/2006/relationships/notesSlide" Target="/ppt/notesSlides/notesSlide37.xml" Id="Rac47e0e678534e6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2.xml" Id="Rd9b584776d544cf1" /><Relationship Type="http://schemas.openxmlformats.org/officeDocument/2006/relationships/notesSlide" Target="/ppt/notesSlides/notesSlide38.xml" Id="R04e5ed250ba2484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8C030D-4FE9-497F-9C93-80262EDEDD28}"/>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3ED6BC80-9F06-4D4D-8219-ECF580C3F63E}"/>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第10回　生物劣化</a:t>
            </a:r>
          </a:p>
        </p:txBody>
      </p:sp>
      <p:sp>
        <p:nvSpPr>
          <p:cNvPr id="3" name="">
            <a:extLst xmlns:a="http://schemas.openxmlformats.org/drawingml/2006/main">
              <a:ext uri="{FF2B5EF4-FFF2-40B4-BE49-F238E27FC236}">
                <a16:creationId xmlns:a16="http://schemas.microsoft.com/office/drawing/2014/main" id="{C3E42855-D5CC-4947-8C9A-93EB7784A2C3}"/>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819DB1-CE8F-482F-A049-7D29A5D95216}"/>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8A19D0EE-EE4B-4985-AC15-4D400F2C366A}"/>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5C3A19A1-95CB-4F0D-8228-D3057C9361B1}"/>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A16BF8C1-5BB5-4A88-ABCF-7A0CB842FE20}"/>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673017E0-C1DA-4E56-9219-78C629C5D5D1}"/>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d4f1133412b246e6"/>
              </a:rPr>
              <a:t>https://lc-nue.naruto-u.ac.jp/lcu-web/SC_06001B00_22</a:t>
            </a:r>
          </a:p>
        </p:txBody>
      </p:sp>
      <p:sp>
        <p:nvSpPr>
          <p:cNvPr id="9" name="">
            <a:extLst xmlns:a="http://schemas.openxmlformats.org/drawingml/2006/main">
              <a:ext uri="{FF2B5EF4-FFF2-40B4-BE49-F238E27FC236}">
                <a16:creationId xmlns:a16="http://schemas.microsoft.com/office/drawing/2014/main" id="{A2636DE8-ADA2-4CA6-97ED-AAB0615FEC31}"/>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2940187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BFD82A-836E-4F18-B5BD-2B5E9E37F4B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第10回　生物劣化</a:t>
            </a:r>
          </a:p>
        </p:txBody>
      </p:sp>
      <p:cxnSp>
        <p:nvCxnSpPr>
          <p:cNvPr id="2" name="">
            <a:extLst xmlns:a="http://schemas.openxmlformats.org/drawingml/2006/main">
              <a:ext uri="{FF2B5EF4-FFF2-40B4-BE49-F238E27FC236}">
                <a16:creationId xmlns:a16="http://schemas.microsoft.com/office/drawing/2014/main" id="{8E17635C-DEE8-4C9E-9931-F3F627E9460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96745DB-1D4E-4B91-8EC2-4311DD26E22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CD4EE64F-7624-4FAC-B7B3-5885C5139C1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F4CDB9E4-83CC-4088-A9CA-F3FC974FA55F}"/>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木材生物学：生物劣化と利用環境</a:t>
            </a:r>
          </a:p>
        </p:txBody>
      </p:sp>
      <p:sp>
        <p:nvSpPr>
          <p:cNvPr id="6" name="">
            <a:extLst xmlns:a="http://schemas.openxmlformats.org/drawingml/2006/main">
              <a:ext uri="{FF2B5EF4-FFF2-40B4-BE49-F238E27FC236}">
                <a16:creationId xmlns:a16="http://schemas.microsoft.com/office/drawing/2014/main" id="{1524C540-5DC0-4D4F-86C5-0D2886876BE8}"/>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腐朽・カビ・変色・虫害を区別し、生物と水分・温度等の条件から劣化防止を考える。</a:t>
            </a:r>
          </a:p>
        </p:txBody>
      </p:sp>
    </p:spTree>
    <p:extLst>
      <p:ext uri="{BB962C8B-B14F-4D97-AF65-F5344CB8AC3E}">
        <p14:creationId xmlns:p14="http://schemas.microsoft.com/office/powerpoint/2010/main" val="19945200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54EB8A-FC9E-4994-8DD7-551CBE8BEFE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7F7E711E-6B9F-4680-A3DA-ED6C30190C1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A776517-B780-416E-BA06-8E741EC6CF8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AB5401A0-B921-48E7-94B0-32FAD4C8841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81A31A00-0684-4126-B996-9CB4131A44F3}"/>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壁の成分と、水の所在を学んだ</a:t>
            </a:r>
          </a:p>
        </p:txBody>
      </p:sp>
      <p:sp>
        <p:nvSpPr>
          <p:cNvPr id="6" name="">
            <a:extLst xmlns:a="http://schemas.openxmlformats.org/drawingml/2006/main">
              <a:ext uri="{FF2B5EF4-FFF2-40B4-BE49-F238E27FC236}">
                <a16:creationId xmlns:a16="http://schemas.microsoft.com/office/drawing/2014/main" id="{9F27C63B-ABB4-489F-AF08-80043BC95E0F}"/>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使用環境で、濡れ方・乾き方は異なる</a:t>
            </a:r>
          </a:p>
        </p:txBody>
      </p:sp>
      <p:sp>
        <p:nvSpPr>
          <p:cNvPr id="7" name="">
            <a:extLst xmlns:a="http://schemas.openxmlformats.org/drawingml/2006/main">
              <a:ext uri="{FF2B5EF4-FFF2-40B4-BE49-F238E27FC236}">
                <a16:creationId xmlns:a16="http://schemas.microsoft.com/office/drawing/2014/main" id="{7EBAFEF9-B611-4A5D-BCC7-D7AC16DBA815}"/>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今日は、生物の働きと劣化条件を分ける</a:t>
            </a:r>
          </a:p>
        </p:txBody>
      </p:sp>
    </p:spTree>
    <p:extLst>
      <p:ext uri="{BB962C8B-B14F-4D97-AF65-F5344CB8AC3E}">
        <p14:creationId xmlns:p14="http://schemas.microsoft.com/office/powerpoint/2010/main" val="6458967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1556B5-B691-45DB-A852-EAE9B1DBEC3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5BED7B94-4F1C-49E8-8517-CCF09797560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A16B90F-4FC0-47B7-B662-C29C273789A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BD0B9F27-5380-479F-8903-9A32C9145D5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26C29AA4-EE2F-422D-BABD-07F17873D9DA}"/>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腐朽菌：細胞壁の成分を分解し、材質や強度を変える</a:t>
            </a:r>
          </a:p>
        </p:txBody>
      </p:sp>
      <p:sp>
        <p:nvSpPr>
          <p:cNvPr id="6" name="">
            <a:extLst xmlns:a="http://schemas.openxmlformats.org/drawingml/2006/main">
              <a:ext uri="{FF2B5EF4-FFF2-40B4-BE49-F238E27FC236}">
                <a16:creationId xmlns:a16="http://schemas.microsoft.com/office/drawing/2014/main" id="{736874DC-5035-4272-A7BA-F1B71AAF0169}"/>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腐朽菌の活動には、水分・温度・酸素・養分と時間が関わる</a:t>
            </a:r>
          </a:p>
        </p:txBody>
      </p:sp>
      <p:sp>
        <p:nvSpPr>
          <p:cNvPr id="7" name="">
            <a:extLst xmlns:a="http://schemas.openxmlformats.org/drawingml/2006/main">
              <a:ext uri="{FF2B5EF4-FFF2-40B4-BE49-F238E27FC236}">
                <a16:creationId xmlns:a16="http://schemas.microsoft.com/office/drawing/2014/main" id="{BD8B8FAA-27BB-4AFA-B487-D5A5AEE475BF}"/>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水をためない形、地面から離す納まり、排水と通風を考える</a:t>
            </a:r>
          </a:p>
        </p:txBody>
      </p:sp>
      <p:sp>
        <p:nvSpPr>
          <p:cNvPr id="8" name="">
            <a:extLst xmlns:a="http://schemas.openxmlformats.org/drawingml/2006/main">
              <a:ext uri="{FF2B5EF4-FFF2-40B4-BE49-F238E27FC236}">
                <a16:creationId xmlns:a16="http://schemas.microsoft.com/office/drawing/2014/main" id="{E3D5E2EC-C06A-47DE-AFF4-A6F128FAD584}"/>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20205733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4043D0-4CFD-4289-84A6-9EBCBB385AA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菌類と昆虫による生物劣化</a:t>
            </a:r>
          </a:p>
        </p:txBody>
      </p:sp>
      <p:cxnSp>
        <p:nvCxnSpPr>
          <p:cNvPr id="2" name="">
            <a:extLst xmlns:a="http://schemas.openxmlformats.org/drawingml/2006/main">
              <a:ext uri="{FF2B5EF4-FFF2-40B4-BE49-F238E27FC236}">
                <a16:creationId xmlns:a16="http://schemas.microsoft.com/office/drawing/2014/main" id="{FBC36C36-AFF9-4435-8A2F-74324C7B867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D823CD9-FBAA-4A00-BD27-DCCF5B59E8B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923D8722-D646-4A10-9D5D-1058BF8C170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605CD1E6-0E14-4AF5-890A-264DF84FADB8}"/>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腐朽菌：細胞壁の成分を分解し、材質や強度を変える</a:t>
            </a:r>
          </a:p>
        </p:txBody>
      </p:sp>
      <p:sp>
        <p:nvSpPr>
          <p:cNvPr id="6" name="">
            <a:extLst xmlns:a="http://schemas.openxmlformats.org/drawingml/2006/main">
              <a:ext uri="{FF2B5EF4-FFF2-40B4-BE49-F238E27FC236}">
                <a16:creationId xmlns:a16="http://schemas.microsoft.com/office/drawing/2014/main" id="{E4635FC6-9010-437D-8220-A94E1E3AE22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カビ・変色菌：表面や材色への影響が目立ち、腐朽と区別する</a:t>
            </a:r>
          </a:p>
        </p:txBody>
      </p:sp>
      <p:sp>
        <p:nvSpPr>
          <p:cNvPr id="7" name="">
            <a:extLst xmlns:a="http://schemas.openxmlformats.org/drawingml/2006/main">
              <a:ext uri="{FF2B5EF4-FFF2-40B4-BE49-F238E27FC236}">
                <a16:creationId xmlns:a16="http://schemas.microsoft.com/office/drawing/2014/main" id="{5CD4380C-834A-45EC-A2FE-53AF4BD886F1}"/>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シロアリ：木材を食害する昆虫。種類で生活様式や必要条件が異なる</a:t>
            </a:r>
          </a:p>
        </p:txBody>
      </p:sp>
      <p:sp>
        <p:nvSpPr>
          <p:cNvPr id="8" name="">
            <a:extLst xmlns:a="http://schemas.openxmlformats.org/drawingml/2006/main">
              <a:ext uri="{FF2B5EF4-FFF2-40B4-BE49-F238E27FC236}">
                <a16:creationId xmlns:a16="http://schemas.microsoft.com/office/drawing/2014/main" id="{D5C76B8B-E6AF-4384-82DF-0524AC18C4E6}"/>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ヒラタキクイムシなど：広葉樹辺材等を加害する例がある</a:t>
            </a:r>
          </a:p>
        </p:txBody>
      </p:sp>
      <p:sp>
        <p:nvSpPr>
          <p:cNvPr id="9" name="">
            <a:extLst xmlns:a="http://schemas.openxmlformats.org/drawingml/2006/main">
              <a:ext uri="{FF2B5EF4-FFF2-40B4-BE49-F238E27FC236}">
                <a16:creationId xmlns:a16="http://schemas.microsoft.com/office/drawing/2014/main" id="{82E6E99B-4C42-4A45-AE3A-187F79FAD68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色、孔、粉、軟化などの観察を、原因候補と対応させる</a:t>
            </a:r>
          </a:p>
        </p:txBody>
      </p:sp>
    </p:spTree>
    <p:extLst>
      <p:ext uri="{BB962C8B-B14F-4D97-AF65-F5344CB8AC3E}">
        <p14:creationId xmlns:p14="http://schemas.microsoft.com/office/powerpoint/2010/main" val="658072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626B6C-02D2-4A2D-8945-38FC49DD1A9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実物写真で見る、外観の変化</a:t>
            </a:r>
          </a:p>
        </p:txBody>
      </p:sp>
      <p:sp>
        <p:nvSpPr>
          <p:cNvPr id="2" name="">
            <a:extLst xmlns:a="http://schemas.openxmlformats.org/drawingml/2006/main">
              <a:ext uri="{FF2B5EF4-FFF2-40B4-BE49-F238E27FC236}">
                <a16:creationId xmlns:a16="http://schemas.microsoft.com/office/drawing/2014/main" id="{63704277-C977-46D8-833A-5B8F1D31B5D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3895A4-E023-4A97-9050-5D18FDF89D6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3FAEF276-67BF-4F30-A250-20DA95F114C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pic>
        <p:nvPicPr>
          <p:cNvPr id="5" name="">
            <a:extLst xmlns:a="http://schemas.openxmlformats.org/drawingml/2006/main">
              <a:ext uri="{FF2B5EF4-FFF2-40B4-BE49-F238E27FC236}">
                <a16:creationId xmlns:a16="http://schemas.microsoft.com/office/drawing/2014/main" id="{B87249EF-F2B1-407C-ABA5-746DD3D3F23C}"/>
              </a:ext>
            </a:extLst>
          </p:cNvPr>
          <p:cNvPicPr>
            <a:picLocks xmlns:a="http://schemas.openxmlformats.org/drawingml/2006/main" noChangeAspect="1"/>
          </p:cNvPicPr>
          <p:nvPr/>
        </p:nvPicPr>
        <p:blipFill>
          <a:blip xmlns:r="http://schemas.openxmlformats.org/officeDocument/2006/relationships" xmlns:a="http://schemas.openxmlformats.org/drawingml/2006/main" r:embed="R1fbb2ee94aca459e"/>
          <a:stretch xmlns:a="http://schemas.openxmlformats.org/drawingml/2006/main"/>
        </p:blipFill>
        <p:spPr>
          <a:xfrm xmlns:a="http://schemas.openxmlformats.org/drawingml/2006/main">
            <a:off x="939589" y="1495425"/>
            <a:ext cx="316907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64FB85-0B84-416D-816A-091F48D3A3B1}"/>
              </a:ext>
            </a:extLst>
          </p:cNvPr>
          <p:cNvSpPr>
            <a:spLocks xmlns:a="http://schemas.openxmlformats.org/drawingml/2006/main" noGrp="1"/>
          </p:cNvSpPr>
          <p:nvPr/>
        </p:nvSpPr>
        <p:spPr>
          <a:xfrm xmlns:a="http://schemas.openxmlformats.org/drawingml/2006/main">
            <a:off x="4762500" y="1809750"/>
            <a:ext cx="657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(a) カビによる変色</a:t>
            </a:r>
          </a:p>
        </p:txBody>
      </p:sp>
      <p:sp>
        <p:nvSpPr>
          <p:cNvPr id="7" name="">
            <a:extLst xmlns:a="http://schemas.openxmlformats.org/drawingml/2006/main">
              <a:ext uri="{FF2B5EF4-FFF2-40B4-BE49-F238E27FC236}">
                <a16:creationId xmlns:a16="http://schemas.microsoft.com/office/drawing/2014/main" id="{16FB47AC-7272-4194-9434-F79372BD6196}"/>
              </a:ext>
            </a:extLst>
          </p:cNvPr>
          <p:cNvSpPr>
            <a:spLocks xmlns:a="http://schemas.openxmlformats.org/drawingml/2006/main" noGrp="1"/>
          </p:cNvSpPr>
          <p:nvPr/>
        </p:nvSpPr>
        <p:spPr>
          <a:xfrm xmlns:a="http://schemas.openxmlformats.org/drawingml/2006/main">
            <a:off x="4762500" y="2705100"/>
            <a:ext cx="657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(b) 褐色腐朽したマツ材</a:t>
            </a:r>
          </a:p>
        </p:txBody>
      </p:sp>
      <p:sp>
        <p:nvSpPr>
          <p:cNvPr id="8" name="">
            <a:extLst xmlns:a="http://schemas.openxmlformats.org/drawingml/2006/main">
              <a:ext uri="{FF2B5EF4-FFF2-40B4-BE49-F238E27FC236}">
                <a16:creationId xmlns:a16="http://schemas.microsoft.com/office/drawing/2014/main" id="{26146436-5733-41EC-B9E7-0866EACB93C1}"/>
              </a:ext>
            </a:extLst>
          </p:cNvPr>
          <p:cNvSpPr>
            <a:spLocks xmlns:a="http://schemas.openxmlformats.org/drawingml/2006/main" noGrp="1"/>
          </p:cNvSpPr>
          <p:nvPr/>
        </p:nvSpPr>
        <p:spPr>
          <a:xfrm xmlns:a="http://schemas.openxmlformats.org/drawingml/2006/main">
            <a:off x="4762500" y="3600450"/>
            <a:ext cx="657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(c) 白色腐朽したカエデ材</a:t>
            </a:r>
          </a:p>
        </p:txBody>
      </p:sp>
      <p:sp>
        <p:nvSpPr>
          <p:cNvPr id="9" name="">
            <a:extLst xmlns:a="http://schemas.openxmlformats.org/drawingml/2006/main">
              <a:ext uri="{FF2B5EF4-FFF2-40B4-BE49-F238E27FC236}">
                <a16:creationId xmlns:a16="http://schemas.microsoft.com/office/drawing/2014/main" id="{68EBD6A0-420B-4A88-8020-AA54171E8E8E}"/>
              </a:ext>
            </a:extLst>
          </p:cNvPr>
          <p:cNvSpPr>
            <a:spLocks xmlns:a="http://schemas.openxmlformats.org/drawingml/2006/main" noGrp="1"/>
          </p:cNvSpPr>
          <p:nvPr/>
        </p:nvSpPr>
        <p:spPr>
          <a:xfrm xmlns:a="http://schemas.openxmlformats.org/drawingml/2006/main">
            <a:off x="4762500" y="4495800"/>
            <a:ext cx="657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(d) 軟腐朽したマツの電柱</a:t>
            </a:r>
          </a:p>
        </p:txBody>
      </p:sp>
      <p:sp>
        <p:nvSpPr>
          <p:cNvPr id="10" name="">
            <a:extLst xmlns:a="http://schemas.openxmlformats.org/drawingml/2006/main">
              <a:ext uri="{FF2B5EF4-FFF2-40B4-BE49-F238E27FC236}">
                <a16:creationId xmlns:a16="http://schemas.microsoft.com/office/drawing/2014/main" id="{3DA65C08-2C07-4C74-A6FC-DC9E374013B9}"/>
              </a:ext>
            </a:extLst>
          </p:cNvPr>
          <p:cNvSpPr>
            <a:spLocks xmlns:a="http://schemas.openxmlformats.org/drawingml/2006/main" noGrp="1"/>
          </p:cNvSpPr>
          <p:nvPr/>
        </p:nvSpPr>
        <p:spPr>
          <a:xfrm xmlns:a="http://schemas.openxmlformats.org/drawingml/2006/main">
            <a:off x="8382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出典：USDA Wood Handbook 2021, Fig.14–5（14–4頁）</a:t>
            </a:r>
          </a:p>
        </p:txBody>
      </p:sp>
    </p:spTree>
    <p:extLst>
      <p:ext uri="{BB962C8B-B14F-4D97-AF65-F5344CB8AC3E}">
        <p14:creationId xmlns:p14="http://schemas.microsoft.com/office/powerpoint/2010/main" val="89261638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41FD5B-2A42-4E11-B9B3-7D9D4718C39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変色と木材組織：青変の例</a:t>
            </a:r>
          </a:p>
        </p:txBody>
      </p:sp>
      <p:sp>
        <p:nvSpPr>
          <p:cNvPr id="2" name="">
            <a:extLst xmlns:a="http://schemas.openxmlformats.org/drawingml/2006/main">
              <a:ext uri="{FF2B5EF4-FFF2-40B4-BE49-F238E27FC236}">
                <a16:creationId xmlns:a16="http://schemas.microsoft.com/office/drawing/2014/main" id="{2EEB7CF5-9F01-449D-8C7D-945EBFB0F45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69B82F4-830F-4286-A479-8D3B4D887FE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C1112811-EBD7-455D-BDAB-A3049E1631F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pic>
        <p:nvPicPr>
          <p:cNvPr id="5" name="">
            <a:extLst xmlns:a="http://schemas.openxmlformats.org/drawingml/2006/main">
              <a:ext uri="{FF2B5EF4-FFF2-40B4-BE49-F238E27FC236}">
                <a16:creationId xmlns:a16="http://schemas.microsoft.com/office/drawing/2014/main" id="{851F3777-06D4-4171-B200-67D42C9096CA}"/>
              </a:ext>
            </a:extLst>
          </p:cNvPr>
          <p:cNvPicPr>
            <a:picLocks xmlns:a="http://schemas.openxmlformats.org/drawingml/2006/main" noChangeAspect="1"/>
          </p:cNvPicPr>
          <p:nvPr/>
        </p:nvPicPr>
        <p:blipFill>
          <a:blip xmlns:r="http://schemas.openxmlformats.org/officeDocument/2006/relationships" xmlns:a="http://schemas.openxmlformats.org/drawingml/2006/main" r:embed="R4a5e1eee83df4271"/>
          <a:stretch xmlns:a="http://schemas.openxmlformats.org/drawingml/2006/main"/>
        </p:blipFill>
        <p:spPr>
          <a:xfrm xmlns:a="http://schemas.openxmlformats.org/drawingml/2006/main">
            <a:off x="870421" y="1495425"/>
            <a:ext cx="424085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267DF3E-BEEA-4979-9F4E-6FD65A7A0B7D}"/>
              </a:ext>
            </a:extLst>
          </p:cNvPr>
          <p:cNvSpPr>
            <a:spLocks xmlns:a="http://schemas.openxmlformats.org/drawingml/2006/main" noGrp="1"/>
          </p:cNvSpPr>
          <p:nvPr/>
        </p:nvSpPr>
        <p:spPr>
          <a:xfrm xmlns:a="http://schemas.openxmlformats.org/drawingml/2006/main">
            <a:off x="5619750" y="1809750"/>
            <a:ext cx="581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木口の暗いくさび形の部分</a:t>
            </a:r>
          </a:p>
        </p:txBody>
      </p:sp>
      <p:sp>
        <p:nvSpPr>
          <p:cNvPr id="7" name="">
            <a:extLst xmlns:a="http://schemas.openxmlformats.org/drawingml/2006/main">
              <a:ext uri="{FF2B5EF4-FFF2-40B4-BE49-F238E27FC236}">
                <a16:creationId xmlns:a16="http://schemas.microsoft.com/office/drawing/2014/main" id="{999FDAA7-9D4D-4EA3-914C-053C33138FC0}"/>
              </a:ext>
            </a:extLst>
          </p:cNvPr>
          <p:cNvSpPr>
            <a:spLocks xmlns:a="http://schemas.openxmlformats.org/drawingml/2006/main" noGrp="1"/>
          </p:cNvSpPr>
          <p:nvPr/>
        </p:nvSpPr>
        <p:spPr>
          <a:xfrm xmlns:a="http://schemas.openxmlformats.org/drawingml/2006/main">
            <a:off x="5619750" y="2705100"/>
            <a:ext cx="581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放射組織等に沿う変色の例</a:t>
            </a:r>
          </a:p>
        </p:txBody>
      </p:sp>
      <p:sp>
        <p:nvSpPr>
          <p:cNvPr id="8" name="">
            <a:extLst xmlns:a="http://schemas.openxmlformats.org/drawingml/2006/main">
              <a:ext uri="{FF2B5EF4-FFF2-40B4-BE49-F238E27FC236}">
                <a16:creationId xmlns:a16="http://schemas.microsoft.com/office/drawing/2014/main" id="{987B93B2-FC07-4060-A9FB-BAF3101CD1B3}"/>
              </a:ext>
            </a:extLst>
          </p:cNvPr>
          <p:cNvSpPr>
            <a:spLocks xmlns:a="http://schemas.openxmlformats.org/drawingml/2006/main" noGrp="1"/>
          </p:cNvSpPr>
          <p:nvPr/>
        </p:nvSpPr>
        <p:spPr>
          <a:xfrm xmlns:a="http://schemas.openxmlformats.org/drawingml/2006/main">
            <a:off x="5619750" y="3600450"/>
            <a:ext cx="581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出典が示す「青変」を観察</a:t>
            </a:r>
          </a:p>
        </p:txBody>
      </p:sp>
      <p:sp>
        <p:nvSpPr>
          <p:cNvPr id="9" name="">
            <a:extLst xmlns:a="http://schemas.openxmlformats.org/drawingml/2006/main">
              <a:ext uri="{FF2B5EF4-FFF2-40B4-BE49-F238E27FC236}">
                <a16:creationId xmlns:a16="http://schemas.microsoft.com/office/drawing/2014/main" id="{57478617-20F6-46C1-AAA1-CB006FE3B08D}"/>
              </a:ext>
            </a:extLst>
          </p:cNvPr>
          <p:cNvSpPr>
            <a:spLocks xmlns:a="http://schemas.openxmlformats.org/drawingml/2006/main" noGrp="1"/>
          </p:cNvSpPr>
          <p:nvPr/>
        </p:nvSpPr>
        <p:spPr>
          <a:xfrm xmlns:a="http://schemas.openxmlformats.org/drawingml/2006/main">
            <a:off x="5619750" y="4495800"/>
            <a:ext cx="5810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色だけで強度・菌種は決めない</a:t>
            </a:r>
          </a:p>
        </p:txBody>
      </p:sp>
      <p:sp>
        <p:nvSpPr>
          <p:cNvPr id="10" name="">
            <a:extLst xmlns:a="http://schemas.openxmlformats.org/drawingml/2006/main">
              <a:ext uri="{FF2B5EF4-FFF2-40B4-BE49-F238E27FC236}">
                <a16:creationId xmlns:a16="http://schemas.microsoft.com/office/drawing/2014/main" id="{42CF0C3A-D66C-42D5-AFE4-47FDB0D136FE}"/>
              </a:ext>
            </a:extLst>
          </p:cNvPr>
          <p:cNvSpPr>
            <a:spLocks xmlns:a="http://schemas.openxmlformats.org/drawingml/2006/main" noGrp="1"/>
          </p:cNvSpPr>
          <p:nvPr/>
        </p:nvSpPr>
        <p:spPr>
          <a:xfrm xmlns:a="http://schemas.openxmlformats.org/drawingml/2006/main">
            <a:off x="8382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出典：USDA Wood Handbook 2021, Fig.14–2（14–2頁）</a:t>
            </a:r>
          </a:p>
        </p:txBody>
      </p:sp>
    </p:spTree>
    <p:extLst>
      <p:ext uri="{BB962C8B-B14F-4D97-AF65-F5344CB8AC3E}">
        <p14:creationId xmlns:p14="http://schemas.microsoft.com/office/powerpoint/2010/main" val="17623786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3EC1A1D-96B2-4F12-B650-6700283196F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生物劣化を考える条件</a:t>
            </a:r>
          </a:p>
        </p:txBody>
      </p:sp>
      <p:cxnSp>
        <p:nvCxnSpPr>
          <p:cNvPr id="2" name="">
            <a:extLst xmlns:a="http://schemas.openxmlformats.org/drawingml/2006/main">
              <a:ext uri="{FF2B5EF4-FFF2-40B4-BE49-F238E27FC236}">
                <a16:creationId xmlns:a16="http://schemas.microsoft.com/office/drawing/2014/main" id="{77AB82E4-4CD2-4292-A113-AD24E20FAC5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B1EC3A4-4E79-4D66-880E-48F42987802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4D72E11E-09A3-45FB-86A7-DAB6D6518E1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EDC888B5-A921-48E1-BED1-BCC177674215}"/>
              </a:ext>
            </a:extLst>
          </p:cNvPr>
          <p:cNvSpPr>
            <a:spLocks xmlns:a="http://schemas.openxmlformats.org/drawingml/2006/main" noGrp="1"/>
          </p:cNvSpPr>
          <p:nvPr/>
        </p:nvSpPr>
        <p:spPr>
          <a:xfrm xmlns:a="http://schemas.openxmlformats.org/drawingml/2006/main">
            <a:off x="1143000" y="2333625"/>
            <a:ext cx="2286000" cy="1524000"/>
          </a:xfrm>
          <a:prstGeom xmlns:a="http://schemas.openxmlformats.org/drawingml/2006/main" prst="ellipse">
            <a:avLst/>
          </a:prstGeom>
          <a:solidFill xmlns:a="http://schemas.openxmlformats.org/drawingml/2006/main">
            <a:srgbClr val="EDF2F6"/>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E04C8AE6-8D56-4AC2-A209-5E14CD8C9547}"/>
              </a:ext>
            </a:extLst>
          </p:cNvPr>
          <p:cNvSpPr>
            <a:spLocks xmlns:a="http://schemas.openxmlformats.org/drawingml/2006/main" noGrp="1"/>
          </p:cNvSpPr>
          <p:nvPr/>
        </p:nvSpPr>
        <p:spPr>
          <a:xfrm xmlns:a="http://schemas.openxmlformats.org/drawingml/2006/main">
            <a:off x="1143000" y="27622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1">
                <a:solidFill>
                  <a:srgbClr val="18364F"/>
                </a:solidFill>
                <a:latin typeface="Yu Gothic"/>
                <a:ea typeface="Yu Gothic"/>
                <a:cs typeface="Yu Gothic"/>
              </a:defRPr>
            </a:defPPr>
            <a:lvl1pPr algn="ctr">
              <a:buNone/>
              <a:defRPr sz="2700" b="1">
                <a:solidFill>
                  <a:srgbClr val="18364F"/>
                </a:solidFill>
                <a:latin typeface="Yu Gothic"/>
                <a:ea typeface="Yu Gothic"/>
                <a:cs typeface="Yu Gothic"/>
              </a:defRPr>
            </a:lvl1pPr>
            <a:lvl2pPr algn="ctr">
              <a:buNone/>
              <a:defRPr sz="2700" b="1">
                <a:solidFill>
                  <a:srgbClr val="18364F"/>
                </a:solidFill>
                <a:latin typeface="Yu Gothic"/>
                <a:ea typeface="Yu Gothic"/>
                <a:cs typeface="Yu Gothic"/>
              </a:defRPr>
            </a:lvl2pPr>
            <a:lvl3pPr algn="ctr">
              <a:buNone/>
              <a:defRPr sz="2700" b="1">
                <a:solidFill>
                  <a:srgbClr val="18364F"/>
                </a:solidFill>
                <a:latin typeface="Yu Gothic"/>
                <a:ea typeface="Yu Gothic"/>
                <a:cs typeface="Yu Gothic"/>
              </a:defRPr>
            </a:lvl3pPr>
            <a:lvl4pPr algn="ctr">
              <a:buNone/>
              <a:defRPr sz="2700" b="1">
                <a:solidFill>
                  <a:srgbClr val="18364F"/>
                </a:solidFill>
                <a:latin typeface="Yu Gothic"/>
                <a:ea typeface="Yu Gothic"/>
                <a:cs typeface="Yu Gothic"/>
              </a:defRPr>
            </a:lvl4pPr>
            <a:lvl5pPr algn="ctr">
              <a:buNone/>
              <a:defRPr sz="2700" b="1">
                <a:solidFill>
                  <a:srgbClr val="18364F"/>
                </a:solidFill>
                <a:latin typeface="Yu Gothic"/>
                <a:ea typeface="Yu Gothic"/>
                <a:cs typeface="Yu Gothic"/>
              </a:defRPr>
            </a:lvl5pPr>
            <a:lvl6pPr algn="ctr">
              <a:buNone/>
              <a:defRPr sz="2700" b="1">
                <a:solidFill>
                  <a:srgbClr val="18364F"/>
                </a:solidFill>
                <a:latin typeface="Yu Gothic"/>
                <a:ea typeface="Yu Gothic"/>
                <a:cs typeface="Yu Gothic"/>
              </a:defRPr>
            </a:lvl6pPr>
            <a:lvl7pPr algn="ctr">
              <a:buNone/>
              <a:defRPr sz="2700" b="1">
                <a:solidFill>
                  <a:srgbClr val="18364F"/>
                </a:solidFill>
                <a:latin typeface="Yu Gothic"/>
                <a:ea typeface="Yu Gothic"/>
                <a:cs typeface="Yu Gothic"/>
              </a:defRPr>
            </a:lvl7pPr>
            <a:lvl8pPr algn="ctr">
              <a:buNone/>
              <a:defRPr sz="2700" b="1">
                <a:solidFill>
                  <a:srgbClr val="18364F"/>
                </a:solidFill>
                <a:latin typeface="Yu Gothic"/>
                <a:ea typeface="Yu Gothic"/>
                <a:cs typeface="Yu Gothic"/>
              </a:defRPr>
            </a:lvl8pPr>
            <a:lvl9pPr algn="ctr">
              <a:buNone/>
              <a:defRPr sz="2700" b="1">
                <a:solidFill>
                  <a:srgbClr val="18364F"/>
                </a:solidFill>
                <a:latin typeface="Yu Gothic"/>
                <a:ea typeface="Yu Gothic"/>
                <a:cs typeface="Yu Gothic"/>
              </a:defRPr>
            </a:lvl9pPr>
          </a:lstStyle>
          <a:p xmlns:a="http://schemas.openxmlformats.org/drawingml/2006/main">
            <a:pPr algn="ctr">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生物</a:t>
            </a:r>
          </a:p>
        </p:txBody>
      </p:sp>
      <p:sp>
        <p:nvSpPr>
          <p:cNvPr id="7" name="">
            <a:extLst xmlns:a="http://schemas.openxmlformats.org/drawingml/2006/main">
              <a:ext uri="{FF2B5EF4-FFF2-40B4-BE49-F238E27FC236}">
                <a16:creationId xmlns:a16="http://schemas.microsoft.com/office/drawing/2014/main" id="{290058A9-B627-4594-B038-610DE444D48D}"/>
              </a:ext>
            </a:extLst>
          </p:cNvPr>
          <p:cNvSpPr>
            <a:spLocks xmlns:a="http://schemas.openxmlformats.org/drawingml/2006/main" noGrp="1"/>
          </p:cNvSpPr>
          <p:nvPr/>
        </p:nvSpPr>
        <p:spPr>
          <a:xfrm xmlns:a="http://schemas.openxmlformats.org/drawingml/2006/main">
            <a:off x="4048125" y="2333625"/>
            <a:ext cx="2286000" cy="1524000"/>
          </a:xfrm>
          <a:prstGeom xmlns:a="http://schemas.openxmlformats.org/drawingml/2006/main" prst="ellipse">
            <a:avLst/>
          </a:prstGeom>
          <a:solidFill xmlns:a="http://schemas.openxmlformats.org/drawingml/2006/main">
            <a:srgbClr val="EDF2F6"/>
          </a:solidFill>
          <a:ln xmlns:a="http://schemas.openxmlformats.org/drawingml/2006/main" w="19050">
            <a:solidFill>
              <a:srgbClr val="18364F"/>
            </a:solidFill>
          </a:ln>
        </p:spPr>
      </p:sp>
      <p:sp>
        <p:nvSpPr>
          <p:cNvPr id="8" name="">
            <a:extLst xmlns:a="http://schemas.openxmlformats.org/drawingml/2006/main">
              <a:ext uri="{FF2B5EF4-FFF2-40B4-BE49-F238E27FC236}">
                <a16:creationId xmlns:a16="http://schemas.microsoft.com/office/drawing/2014/main" id="{F5E9B097-58B2-4DE8-840A-1709E0E26FD0}"/>
              </a:ext>
            </a:extLst>
          </p:cNvPr>
          <p:cNvSpPr>
            <a:spLocks xmlns:a="http://schemas.openxmlformats.org/drawingml/2006/main" noGrp="1"/>
          </p:cNvSpPr>
          <p:nvPr/>
        </p:nvSpPr>
        <p:spPr>
          <a:xfrm xmlns:a="http://schemas.openxmlformats.org/drawingml/2006/main">
            <a:off x="4048125" y="27622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1">
                <a:solidFill>
                  <a:srgbClr val="18364F"/>
                </a:solidFill>
                <a:latin typeface="Yu Gothic"/>
                <a:ea typeface="Yu Gothic"/>
                <a:cs typeface="Yu Gothic"/>
              </a:defRPr>
            </a:defPPr>
            <a:lvl1pPr algn="ctr">
              <a:buNone/>
              <a:defRPr sz="2700" b="1">
                <a:solidFill>
                  <a:srgbClr val="18364F"/>
                </a:solidFill>
                <a:latin typeface="Yu Gothic"/>
                <a:ea typeface="Yu Gothic"/>
                <a:cs typeface="Yu Gothic"/>
              </a:defRPr>
            </a:lvl1pPr>
            <a:lvl2pPr algn="ctr">
              <a:buNone/>
              <a:defRPr sz="2700" b="1">
                <a:solidFill>
                  <a:srgbClr val="18364F"/>
                </a:solidFill>
                <a:latin typeface="Yu Gothic"/>
                <a:ea typeface="Yu Gothic"/>
                <a:cs typeface="Yu Gothic"/>
              </a:defRPr>
            </a:lvl2pPr>
            <a:lvl3pPr algn="ctr">
              <a:buNone/>
              <a:defRPr sz="2700" b="1">
                <a:solidFill>
                  <a:srgbClr val="18364F"/>
                </a:solidFill>
                <a:latin typeface="Yu Gothic"/>
                <a:ea typeface="Yu Gothic"/>
                <a:cs typeface="Yu Gothic"/>
              </a:defRPr>
            </a:lvl3pPr>
            <a:lvl4pPr algn="ctr">
              <a:buNone/>
              <a:defRPr sz="2700" b="1">
                <a:solidFill>
                  <a:srgbClr val="18364F"/>
                </a:solidFill>
                <a:latin typeface="Yu Gothic"/>
                <a:ea typeface="Yu Gothic"/>
                <a:cs typeface="Yu Gothic"/>
              </a:defRPr>
            </a:lvl4pPr>
            <a:lvl5pPr algn="ctr">
              <a:buNone/>
              <a:defRPr sz="2700" b="1">
                <a:solidFill>
                  <a:srgbClr val="18364F"/>
                </a:solidFill>
                <a:latin typeface="Yu Gothic"/>
                <a:ea typeface="Yu Gothic"/>
                <a:cs typeface="Yu Gothic"/>
              </a:defRPr>
            </a:lvl5pPr>
            <a:lvl6pPr algn="ctr">
              <a:buNone/>
              <a:defRPr sz="2700" b="1">
                <a:solidFill>
                  <a:srgbClr val="18364F"/>
                </a:solidFill>
                <a:latin typeface="Yu Gothic"/>
                <a:ea typeface="Yu Gothic"/>
                <a:cs typeface="Yu Gothic"/>
              </a:defRPr>
            </a:lvl6pPr>
            <a:lvl7pPr algn="ctr">
              <a:buNone/>
              <a:defRPr sz="2700" b="1">
                <a:solidFill>
                  <a:srgbClr val="18364F"/>
                </a:solidFill>
                <a:latin typeface="Yu Gothic"/>
                <a:ea typeface="Yu Gothic"/>
                <a:cs typeface="Yu Gothic"/>
              </a:defRPr>
            </a:lvl7pPr>
            <a:lvl8pPr algn="ctr">
              <a:buNone/>
              <a:defRPr sz="2700" b="1">
                <a:solidFill>
                  <a:srgbClr val="18364F"/>
                </a:solidFill>
                <a:latin typeface="Yu Gothic"/>
                <a:ea typeface="Yu Gothic"/>
                <a:cs typeface="Yu Gothic"/>
              </a:defRPr>
            </a:lvl8pPr>
            <a:lvl9pPr algn="ctr">
              <a:buNone/>
              <a:defRPr sz="2700" b="1">
                <a:solidFill>
                  <a:srgbClr val="18364F"/>
                </a:solidFill>
                <a:latin typeface="Yu Gothic"/>
                <a:ea typeface="Yu Gothic"/>
                <a:cs typeface="Yu Gothic"/>
              </a:defRPr>
            </a:lvl9pPr>
          </a:lstStyle>
          <a:p xmlns:a="http://schemas.openxmlformats.org/drawingml/2006/main">
            <a:pPr algn="ctr">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環境</a:t>
            </a:r>
          </a:p>
        </p:txBody>
      </p:sp>
      <p:sp>
        <p:nvSpPr>
          <p:cNvPr id="9" name="">
            <a:extLst xmlns:a="http://schemas.openxmlformats.org/drawingml/2006/main">
              <a:ext uri="{FF2B5EF4-FFF2-40B4-BE49-F238E27FC236}">
                <a16:creationId xmlns:a16="http://schemas.microsoft.com/office/drawing/2014/main" id="{3B6747B6-B429-4AB7-9E16-4C8EAF2AB22F}"/>
              </a:ext>
            </a:extLst>
          </p:cNvPr>
          <p:cNvSpPr>
            <a:spLocks xmlns:a="http://schemas.openxmlformats.org/drawingml/2006/main" noGrp="1"/>
          </p:cNvSpPr>
          <p:nvPr/>
        </p:nvSpPr>
        <p:spPr>
          <a:xfrm xmlns:a="http://schemas.openxmlformats.org/drawingml/2006/main">
            <a:off x="6953250" y="2333625"/>
            <a:ext cx="2286000" cy="1524000"/>
          </a:xfrm>
          <a:prstGeom xmlns:a="http://schemas.openxmlformats.org/drawingml/2006/main" prst="ellipse">
            <a:avLst/>
          </a:prstGeom>
          <a:solidFill xmlns:a="http://schemas.openxmlformats.org/drawingml/2006/main">
            <a:srgbClr val="EDF2F6"/>
          </a:solidFill>
          <a:ln xmlns:a="http://schemas.openxmlformats.org/drawingml/2006/main" w="19050">
            <a:solidFill>
              <a:srgbClr val="18364F"/>
            </a:solidFill>
          </a:ln>
        </p:spPr>
      </p:sp>
      <p:sp>
        <p:nvSpPr>
          <p:cNvPr id="10" name="">
            <a:extLst xmlns:a="http://schemas.openxmlformats.org/drawingml/2006/main">
              <a:ext uri="{FF2B5EF4-FFF2-40B4-BE49-F238E27FC236}">
                <a16:creationId xmlns:a16="http://schemas.microsoft.com/office/drawing/2014/main" id="{861A2CAA-39F9-40DF-BBF8-707D1DCF1408}"/>
              </a:ext>
            </a:extLst>
          </p:cNvPr>
          <p:cNvSpPr>
            <a:spLocks xmlns:a="http://schemas.openxmlformats.org/drawingml/2006/main" noGrp="1"/>
          </p:cNvSpPr>
          <p:nvPr/>
        </p:nvSpPr>
        <p:spPr>
          <a:xfrm xmlns:a="http://schemas.openxmlformats.org/drawingml/2006/main">
            <a:off x="6953250" y="27622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700" b="1">
                <a:solidFill>
                  <a:srgbClr val="18364F"/>
                </a:solidFill>
                <a:latin typeface="Yu Gothic"/>
                <a:ea typeface="Yu Gothic"/>
                <a:cs typeface="Yu Gothic"/>
              </a:defRPr>
            </a:defPPr>
            <a:lvl1pPr algn="ctr">
              <a:buNone/>
              <a:defRPr sz="2700" b="1">
                <a:solidFill>
                  <a:srgbClr val="18364F"/>
                </a:solidFill>
                <a:latin typeface="Yu Gothic"/>
                <a:ea typeface="Yu Gothic"/>
                <a:cs typeface="Yu Gothic"/>
              </a:defRPr>
            </a:lvl1pPr>
            <a:lvl2pPr algn="ctr">
              <a:buNone/>
              <a:defRPr sz="2700" b="1">
                <a:solidFill>
                  <a:srgbClr val="18364F"/>
                </a:solidFill>
                <a:latin typeface="Yu Gothic"/>
                <a:ea typeface="Yu Gothic"/>
                <a:cs typeface="Yu Gothic"/>
              </a:defRPr>
            </a:lvl2pPr>
            <a:lvl3pPr algn="ctr">
              <a:buNone/>
              <a:defRPr sz="2700" b="1">
                <a:solidFill>
                  <a:srgbClr val="18364F"/>
                </a:solidFill>
                <a:latin typeface="Yu Gothic"/>
                <a:ea typeface="Yu Gothic"/>
                <a:cs typeface="Yu Gothic"/>
              </a:defRPr>
            </a:lvl3pPr>
            <a:lvl4pPr algn="ctr">
              <a:buNone/>
              <a:defRPr sz="2700" b="1">
                <a:solidFill>
                  <a:srgbClr val="18364F"/>
                </a:solidFill>
                <a:latin typeface="Yu Gothic"/>
                <a:ea typeface="Yu Gothic"/>
                <a:cs typeface="Yu Gothic"/>
              </a:defRPr>
            </a:lvl4pPr>
            <a:lvl5pPr algn="ctr">
              <a:buNone/>
              <a:defRPr sz="2700" b="1">
                <a:solidFill>
                  <a:srgbClr val="18364F"/>
                </a:solidFill>
                <a:latin typeface="Yu Gothic"/>
                <a:ea typeface="Yu Gothic"/>
                <a:cs typeface="Yu Gothic"/>
              </a:defRPr>
            </a:lvl5pPr>
            <a:lvl6pPr algn="ctr">
              <a:buNone/>
              <a:defRPr sz="2700" b="1">
                <a:solidFill>
                  <a:srgbClr val="18364F"/>
                </a:solidFill>
                <a:latin typeface="Yu Gothic"/>
                <a:ea typeface="Yu Gothic"/>
                <a:cs typeface="Yu Gothic"/>
              </a:defRPr>
            </a:lvl6pPr>
            <a:lvl7pPr algn="ctr">
              <a:buNone/>
              <a:defRPr sz="2700" b="1">
                <a:solidFill>
                  <a:srgbClr val="18364F"/>
                </a:solidFill>
                <a:latin typeface="Yu Gothic"/>
                <a:ea typeface="Yu Gothic"/>
                <a:cs typeface="Yu Gothic"/>
              </a:defRPr>
            </a:lvl7pPr>
            <a:lvl8pPr algn="ctr">
              <a:buNone/>
              <a:defRPr sz="2700" b="1">
                <a:solidFill>
                  <a:srgbClr val="18364F"/>
                </a:solidFill>
                <a:latin typeface="Yu Gothic"/>
                <a:ea typeface="Yu Gothic"/>
                <a:cs typeface="Yu Gothic"/>
              </a:defRPr>
            </a:lvl8pPr>
            <a:lvl9pPr algn="ctr">
              <a:buNone/>
              <a:defRPr sz="2700" b="1">
                <a:solidFill>
                  <a:srgbClr val="18364F"/>
                </a:solidFill>
                <a:latin typeface="Yu Gothic"/>
                <a:ea typeface="Yu Gothic"/>
                <a:cs typeface="Yu Gothic"/>
              </a:defRPr>
            </a:lvl9pPr>
          </a:lstStyle>
          <a:p xmlns:a="http://schemas.openxmlformats.org/drawingml/2006/main">
            <a:pPr algn="ctr">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時間</a:t>
            </a:r>
          </a:p>
        </p:txBody>
      </p:sp>
      <p:sp>
        <p:nvSpPr>
          <p:cNvPr id="11" name="">
            <a:extLst xmlns:a="http://schemas.openxmlformats.org/drawingml/2006/main">
              <a:ext uri="{FF2B5EF4-FFF2-40B4-BE49-F238E27FC236}">
                <a16:creationId xmlns:a16="http://schemas.microsoft.com/office/drawing/2014/main" id="{E5B05AA3-33C2-4462-9772-03F708F84E7B}"/>
              </a:ext>
            </a:extLst>
          </p:cNvPr>
          <p:cNvSpPr>
            <a:spLocks xmlns:a="http://schemas.openxmlformats.org/drawingml/2006/main" noGrp="1"/>
          </p:cNvSpPr>
          <p:nvPr/>
        </p:nvSpPr>
        <p:spPr>
          <a:xfrm xmlns:a="http://schemas.openxmlformats.org/drawingml/2006/main">
            <a:off x="685800" y="46958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700" b="1">
                <a:solidFill>
                  <a:srgbClr val="18364F"/>
                </a:solidFill>
                <a:latin typeface="Yu Gothic"/>
                <a:ea typeface="Yu Gothic"/>
                <a:cs typeface="Yu Gothic"/>
              </a:defRPr>
            </a:defPPr>
            <a:lvl1pPr algn="l">
              <a:buNone/>
              <a:defRPr sz="2700" b="1">
                <a:solidFill>
                  <a:srgbClr val="18364F"/>
                </a:solidFill>
                <a:latin typeface="Yu Gothic"/>
                <a:ea typeface="Yu Gothic"/>
                <a:cs typeface="Yu Gothic"/>
              </a:defRPr>
            </a:lvl1pPr>
            <a:lvl2pPr algn="l">
              <a:buNone/>
              <a:defRPr sz="2700" b="1">
                <a:solidFill>
                  <a:srgbClr val="18364F"/>
                </a:solidFill>
                <a:latin typeface="Yu Gothic"/>
                <a:ea typeface="Yu Gothic"/>
                <a:cs typeface="Yu Gothic"/>
              </a:defRPr>
            </a:lvl2pPr>
            <a:lvl3pPr algn="l">
              <a:buNone/>
              <a:defRPr sz="2700" b="1">
                <a:solidFill>
                  <a:srgbClr val="18364F"/>
                </a:solidFill>
                <a:latin typeface="Yu Gothic"/>
                <a:ea typeface="Yu Gothic"/>
                <a:cs typeface="Yu Gothic"/>
              </a:defRPr>
            </a:lvl3pPr>
            <a:lvl4pPr algn="l">
              <a:buNone/>
              <a:defRPr sz="2700" b="1">
                <a:solidFill>
                  <a:srgbClr val="18364F"/>
                </a:solidFill>
                <a:latin typeface="Yu Gothic"/>
                <a:ea typeface="Yu Gothic"/>
                <a:cs typeface="Yu Gothic"/>
              </a:defRPr>
            </a:lvl4pPr>
            <a:lvl5pPr algn="l">
              <a:buNone/>
              <a:defRPr sz="2700" b="1">
                <a:solidFill>
                  <a:srgbClr val="18364F"/>
                </a:solidFill>
                <a:latin typeface="Yu Gothic"/>
                <a:ea typeface="Yu Gothic"/>
                <a:cs typeface="Yu Gothic"/>
              </a:defRPr>
            </a:lvl5pPr>
            <a:lvl6pPr algn="l">
              <a:buNone/>
              <a:defRPr sz="2700" b="1">
                <a:solidFill>
                  <a:srgbClr val="18364F"/>
                </a:solidFill>
                <a:latin typeface="Yu Gothic"/>
                <a:ea typeface="Yu Gothic"/>
                <a:cs typeface="Yu Gothic"/>
              </a:defRPr>
            </a:lvl6pPr>
            <a:lvl7pPr algn="l">
              <a:buNone/>
              <a:defRPr sz="2700" b="1">
                <a:solidFill>
                  <a:srgbClr val="18364F"/>
                </a:solidFill>
                <a:latin typeface="Yu Gothic"/>
                <a:ea typeface="Yu Gothic"/>
                <a:cs typeface="Yu Gothic"/>
              </a:defRPr>
            </a:lvl7pPr>
            <a:lvl8pPr algn="l">
              <a:buNone/>
              <a:defRPr sz="2700" b="1">
                <a:solidFill>
                  <a:srgbClr val="18364F"/>
                </a:solidFill>
                <a:latin typeface="Yu Gothic"/>
                <a:ea typeface="Yu Gothic"/>
                <a:cs typeface="Yu Gothic"/>
              </a:defRPr>
            </a:lvl8pPr>
            <a:lvl9pPr algn="l">
              <a:buNone/>
              <a:defRPr sz="2700" b="1">
                <a:solidFill>
                  <a:srgbClr val="18364F"/>
                </a:solidFill>
                <a:latin typeface="Yu Gothic"/>
                <a:ea typeface="Yu Gothic"/>
                <a:cs typeface="Yu Gothic"/>
              </a:defRPr>
            </a:lvl9pPr>
          </a:lstStyle>
          <a:p xmlns:a="http://schemas.openxmlformats.org/drawingml/2006/main">
            <a:pPr algn="l">
              <a:buNone/>
              <a:defRPr sz="2700" b="1">
                <a:solidFill>
                  <a:srgbClr val="18364F"/>
                </a:solidFill>
                <a:latin typeface="Yu Gothic"/>
                <a:ea typeface="Yu Gothic"/>
                <a:cs typeface="Yu Gothic"/>
              </a:defRPr>
            </a:pPr>
            <a:r>
              <a:rPr sz="2700" b="1">
                <a:solidFill>
                  <a:srgbClr val="18364F"/>
                </a:solidFill>
                <a:latin typeface="Yu Gothic"/>
                <a:ea typeface="Yu Gothic"/>
                <a:cs typeface="Yu Gothic"/>
              </a:rPr>
              <a:t>成分の分解・材質の変化を、条件から考える</a:t>
            </a:r>
          </a:p>
        </p:txBody>
      </p:sp>
    </p:spTree>
    <p:extLst>
      <p:ext uri="{BB962C8B-B14F-4D97-AF65-F5344CB8AC3E}">
        <p14:creationId xmlns:p14="http://schemas.microsoft.com/office/powerpoint/2010/main" val="4254096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C0483A-035D-4415-8DA2-86515B60FF6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腐朽が進む環境</a:t>
            </a:r>
          </a:p>
        </p:txBody>
      </p:sp>
      <p:cxnSp>
        <p:nvCxnSpPr>
          <p:cNvPr id="2" name="">
            <a:extLst xmlns:a="http://schemas.openxmlformats.org/drawingml/2006/main">
              <a:ext uri="{FF2B5EF4-FFF2-40B4-BE49-F238E27FC236}">
                <a16:creationId xmlns:a16="http://schemas.microsoft.com/office/drawing/2014/main" id="{32804F57-060F-41F9-B73D-BB697F0136F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140B5FA-D1F8-4890-9C6F-72ED414CAC7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F15D343E-3079-4D61-BE11-8EF08A2823C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5E0D79FC-2F85-4AC6-A9C0-901E53B50DF7}"/>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腐朽菌の活動には、水分・温度・酸素・養分と時間が関わる</a:t>
            </a:r>
          </a:p>
        </p:txBody>
      </p:sp>
      <p:sp>
        <p:nvSpPr>
          <p:cNvPr id="6" name="">
            <a:extLst xmlns:a="http://schemas.openxmlformats.org/drawingml/2006/main">
              <a:ext uri="{FF2B5EF4-FFF2-40B4-BE49-F238E27FC236}">
                <a16:creationId xmlns:a16="http://schemas.microsoft.com/office/drawing/2014/main" id="{729B681D-5D33-47D4-AB8A-643008A3897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雨が当たることだけでなく、水が残る長さと乾く経路を見る</a:t>
            </a:r>
          </a:p>
        </p:txBody>
      </p:sp>
      <p:sp>
        <p:nvSpPr>
          <p:cNvPr id="7" name="">
            <a:extLst xmlns:a="http://schemas.openxmlformats.org/drawingml/2006/main">
              <a:ext uri="{FF2B5EF4-FFF2-40B4-BE49-F238E27FC236}">
                <a16:creationId xmlns:a16="http://schemas.microsoft.com/office/drawing/2014/main" id="{BD85A322-F10D-4D1E-89EB-8FBB702B9033}"/>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木口、接地部、水平な接合面などは水が入り・残りやすい</a:t>
            </a:r>
          </a:p>
        </p:txBody>
      </p:sp>
      <p:sp>
        <p:nvSpPr>
          <p:cNvPr id="8" name="">
            <a:extLst xmlns:a="http://schemas.openxmlformats.org/drawingml/2006/main">
              <a:ext uri="{FF2B5EF4-FFF2-40B4-BE49-F238E27FC236}">
                <a16:creationId xmlns:a16="http://schemas.microsoft.com/office/drawing/2014/main" id="{E045F86D-8A7C-4079-A9E7-638C85D7814B}"/>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乾燥は腐朽の抑制に有効だが、乾材を加害する昆虫もある</a:t>
            </a:r>
          </a:p>
        </p:txBody>
      </p:sp>
      <p:sp>
        <p:nvSpPr>
          <p:cNvPr id="9" name="">
            <a:extLst xmlns:a="http://schemas.openxmlformats.org/drawingml/2006/main">
              <a:ext uri="{FF2B5EF4-FFF2-40B4-BE49-F238E27FC236}">
                <a16:creationId xmlns:a16="http://schemas.microsoft.com/office/drawing/2014/main" id="{A0B85523-13EB-481F-95A8-4F1D02105D1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対象生物と使用条件に応じて、予防と点検を組み合わせる</a:t>
            </a:r>
          </a:p>
        </p:txBody>
      </p:sp>
    </p:spTree>
    <p:extLst>
      <p:ext uri="{BB962C8B-B14F-4D97-AF65-F5344CB8AC3E}">
        <p14:creationId xmlns:p14="http://schemas.microsoft.com/office/powerpoint/2010/main" val="4831024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174DA3-3AB4-4D3C-8610-AD53CF7E553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一か所のMCから、どこまで言えるか</a:t>
            </a:r>
          </a:p>
        </p:txBody>
      </p:sp>
      <p:sp>
        <p:nvSpPr>
          <p:cNvPr id="2" name="">
            <a:extLst xmlns:a="http://schemas.openxmlformats.org/drawingml/2006/main">
              <a:ext uri="{FF2B5EF4-FFF2-40B4-BE49-F238E27FC236}">
                <a16:creationId xmlns:a16="http://schemas.microsoft.com/office/drawing/2014/main" id="{4B357269-0645-4DE5-9BE0-4DC963FE5A6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1DC3B2-5FE4-40BD-B115-19F09BC7B75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97DEE5F4-5357-4F08-9FE3-A3D6FE400C0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F8ACA6E0-B18D-4CD2-84D2-10BCED60F8F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仮想記録：雨から数日後、測定位置のMCは15%</a:t>
            </a:r>
          </a:p>
        </p:txBody>
      </p:sp>
      <p:sp>
        <p:nvSpPr>
          <p:cNvPr id="6" name="">
            <a:extLst xmlns:a="http://schemas.openxmlformats.org/drawingml/2006/main">
              <a:ext uri="{FF2B5EF4-FFF2-40B4-BE49-F238E27FC236}">
                <a16:creationId xmlns:a16="http://schemas.microsoft.com/office/drawing/2014/main" id="{7A411B80-B683-43B4-9949-18C95B52A31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別の記録：雨の翌日も、重なった接合面に水</a:t>
            </a:r>
          </a:p>
        </p:txBody>
      </p:sp>
      <p:sp>
        <p:nvSpPr>
          <p:cNvPr id="7" name="">
            <a:extLst xmlns:a="http://schemas.openxmlformats.org/drawingml/2006/main">
              <a:ext uri="{FF2B5EF4-FFF2-40B4-BE49-F238E27FC236}">
                <a16:creationId xmlns:a16="http://schemas.microsoft.com/office/drawing/2014/main" id="{C527EA54-08FB-4DA0-B119-E75ADFFCA866}"/>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「台の全ての場所で腐朽の心配なし」と言えるか</a:t>
            </a:r>
          </a:p>
        </p:txBody>
      </p:sp>
      <p:sp>
        <p:nvSpPr>
          <p:cNvPr id="8" name="">
            <a:extLst xmlns:a="http://schemas.openxmlformats.org/drawingml/2006/main">
              <a:ext uri="{FF2B5EF4-FFF2-40B4-BE49-F238E27FC236}">
                <a16:creationId xmlns:a16="http://schemas.microsoft.com/office/drawing/2014/main" id="{4D193935-C160-461D-9A6D-5B1D901FDF0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測定位置・時刻・方法など、追加情報を4つ挙げる</a:t>
            </a:r>
          </a:p>
        </p:txBody>
      </p:sp>
    </p:spTree>
    <p:extLst>
      <p:ext uri="{BB962C8B-B14F-4D97-AF65-F5344CB8AC3E}">
        <p14:creationId xmlns:p14="http://schemas.microsoft.com/office/powerpoint/2010/main" val="2042623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D15DB7-0961-4CBB-8F6A-F95B2ED0F35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対象ごとに、調べる情報を選ぶ</a:t>
            </a:r>
          </a:p>
        </p:txBody>
      </p:sp>
      <p:sp>
        <p:nvSpPr>
          <p:cNvPr id="2" name="">
            <a:extLst xmlns:a="http://schemas.openxmlformats.org/drawingml/2006/main">
              <a:ext uri="{FF2B5EF4-FFF2-40B4-BE49-F238E27FC236}">
                <a16:creationId xmlns:a16="http://schemas.microsoft.com/office/drawing/2014/main" id="{1A4E5B7B-339B-4730-B6AA-9680199B572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0E48EB-9F92-4E17-AA00-CD85231A44A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FF25FA87-97CA-44CF-9D56-1C2C407A1A0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graphicFrame>
        <p:nvGraphicFramePr>
          <p:cNvPr id="5" name="">
            <a:extLst xmlns:a="http://schemas.openxmlformats.org/drawingml/2006/main">
              <a:ext uri="{FF2B5EF4-FFF2-40B4-BE49-F238E27FC236}">
                <a16:creationId xmlns:a16="http://schemas.microsoft.com/office/drawing/2014/main" id="{968476E0-7252-49CC-9F60-A41F3A52F1DE}"/>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対象</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主に見る変化</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追加する情報</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腐朽</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細胞壁の分解・軟化</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湿りの履歴、範囲</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カビ・変色</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生育・材色の変化</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表面／内部、併存</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虫害</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穴・粉・食痕</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種類、活動状況</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17546199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A9B584-3C06-4841-A851-6A942E031F8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濡れの履歴を数量で読む</a:t>
            </a:r>
          </a:p>
        </p:txBody>
      </p:sp>
      <p:sp>
        <p:nvSpPr>
          <p:cNvPr id="2" name="">
            <a:extLst xmlns:a="http://schemas.openxmlformats.org/drawingml/2006/main">
              <a:ext uri="{FF2B5EF4-FFF2-40B4-BE49-F238E27FC236}">
                <a16:creationId xmlns:a16="http://schemas.microsoft.com/office/drawing/2014/main" id="{E8E7556E-D96D-4B90-883D-658B09CD7CF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88ADA4-24C2-41D7-8128-844205F44A8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F3852840-D16C-45D3-A9E0-BFDB991AA3B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graphicFrame>
        <p:nvGraphicFramePr>
          <p:cNvPr id="5" name="">
            <a:extLst xmlns:a="http://schemas.openxmlformats.org/drawingml/2006/main">
              <a:ext uri="{FF2B5EF4-FFF2-40B4-BE49-F238E27FC236}">
                <a16:creationId xmlns:a16="http://schemas.microsoft.com/office/drawing/2014/main" id="{31ED4538-FF6F-4E57-8281-1EA652AD53DC}"/>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降雨後の記録</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対策前／h</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対策後の例／h</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1回目・2回目</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18・12</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6・4</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3回目・4回目</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20・10</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8・2</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問い</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合計・減少率</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腐朽量も同じ比？</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57BF8E43-7B6C-4781-B2F5-BA5A3BEBC9D8}"/>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仮想記録。表面の水が見える時間であり、MCや腐朽速度ではない。</a:t>
            </a:r>
          </a:p>
        </p:txBody>
      </p:sp>
    </p:spTree>
    <p:extLst>
      <p:ext uri="{BB962C8B-B14F-4D97-AF65-F5344CB8AC3E}">
        <p14:creationId xmlns:p14="http://schemas.microsoft.com/office/powerpoint/2010/main" val="9278936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C1058C-95EA-4B05-AAA8-1F4D9FFB2BD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02FEA9F9-5719-4CF8-953D-30A62E2371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DAC40E-B6E3-411A-ACAB-A2826F9B9F8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54E33B65-59B4-4DC5-8B29-33F1EE7DBD8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15082672-717A-4A92-BC5C-340FCBE8433E}"/>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5A1C000D-FF2C-4100-9BC5-E6B0E39C732F}"/>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A9BA8012-50F7-4845-B447-D3B2371F9403}"/>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7D386B7-CC27-4497-81D6-D28C53EEC48F}"/>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再開したら：比較するデータと条件へ進みます。</a:t>
            </a:r>
          </a:p>
        </p:txBody>
      </p:sp>
    </p:spTree>
    <p:extLst>
      <p:ext uri="{BB962C8B-B14F-4D97-AF65-F5344CB8AC3E}">
        <p14:creationId xmlns:p14="http://schemas.microsoft.com/office/powerpoint/2010/main" val="4337363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57FF72-0DA2-4900-9F3F-0C0BADE232B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166EA4BE-BC94-4935-B88B-EF1B0DB0CE2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913E80A-29BC-41E6-A57B-9DA2761103C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E356EFEF-D6B8-4CA7-9406-056DA7782BF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14</a:t>
            </a:r>
          </a:p>
        </p:txBody>
      </p:sp>
      <p:graphicFrame>
        <p:nvGraphicFramePr>
          <p:cNvPr id="5" name="">
            <a:extLst xmlns:a="http://schemas.openxmlformats.org/drawingml/2006/main">
              <a:ext uri="{FF2B5EF4-FFF2-40B4-BE49-F238E27FC236}">
                <a16:creationId xmlns:a16="http://schemas.microsoft.com/office/drawing/2014/main" id="{2A93AF0C-5995-4BF9-BE97-3EB6C9023CA5}"/>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695325">
                <a:tc>
                  <a:txBody>
                    <a:bodyPr lIns="95250" tIns="95250" rIns="95250" bIns="95250"/>
                    <a:lstStyle/>
                    <a:p>
                      <a:r>
                        <a:rPr sz="1800" b="1">
                          <a:solidFill>
                            <a:srgbClr val="FFFFFF"/>
                          </a:solidFill>
                          <a:latin typeface="Yu Gothic"/>
                          <a:ea typeface="Yu Gothic"/>
                          <a:cs typeface="Yu Gothic"/>
                        </a:rPr>
                        <a:t>観察</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原因の候補</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追加で確かめること</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695325">
                <a:tc>
                  <a:txBody>
                    <a:bodyPr lIns="95250" tIns="95250" rIns="95250" bIns="95250"/>
                    <a:lstStyle/>
                    <a:p>
                      <a:r>
                        <a:rPr sz="1800" b="0">
                          <a:solidFill>
                            <a:srgbClr val="253C4D"/>
                          </a:solidFill>
                          <a:latin typeface="Yu Gothic"/>
                          <a:ea typeface="Yu Gothic"/>
                          <a:cs typeface="Yu Gothic"/>
                        </a:rPr>
                        <a:t>表面の色変化</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カビ・変色・別の汚れ等</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湿り・内部の状態</a:t>
                      </a:r>
                    </a:p>
                  </a:txBody>
                  <a:tcPr marL="91440" marR="91440" marT="45720" marB="45720" anchor="ctr">
                    <a:lnR w="9525">
                      <a:solidFill>
                        <a:srgbClr val="C8D3DD"/>
                      </a:solidFill>
                    </a:lnR>
                    <a:lnB w="9525">
                      <a:solidFill>
                        <a:srgbClr val="C8D3DD"/>
                      </a:solidFill>
                    </a:lnB>
                    <a:solidFill>
                      <a:srgbClr val="EDF2F6"/>
                    </a:solidFill>
                  </a:tcPr>
                </a:tc>
              </a:tr>
              <a:tr h="695325">
                <a:tc>
                  <a:txBody>
                    <a:bodyPr lIns="95250" tIns="95250" rIns="95250" bIns="95250"/>
                    <a:lstStyle/>
                    <a:p>
                      <a:r>
                        <a:rPr sz="1800" b="0">
                          <a:solidFill>
                            <a:srgbClr val="253C4D"/>
                          </a:solidFill>
                          <a:latin typeface="Yu Gothic"/>
                          <a:ea typeface="Yu Gothic"/>
                          <a:cs typeface="Yu Gothic"/>
                        </a:rPr>
                        <a:t>軟化・崩れ</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腐朽等</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範囲と支持部の状態</a:t>
                      </a:r>
                    </a:p>
                  </a:txBody>
                  <a:tcPr marL="91440" marR="91440" marT="45720" marB="45720" anchor="ctr">
                    <a:lnR w="9525">
                      <a:solidFill>
                        <a:srgbClr val="C8D3DD"/>
                      </a:solidFill>
                    </a:lnR>
                    <a:lnB w="9525">
                      <a:solidFill>
                        <a:srgbClr val="C8D3DD"/>
                      </a:solidFill>
                    </a:lnB>
                    <a:solidFill>
                      <a:srgbClr val="FFFFFF"/>
                    </a:solidFill>
                  </a:tcPr>
                </a:tc>
              </a:tr>
              <a:tr h="695325">
                <a:tc>
                  <a:txBody>
                    <a:bodyPr lIns="95250" tIns="95250" rIns="95250" bIns="95250"/>
                    <a:lstStyle/>
                    <a:p>
                      <a:r>
                        <a:rPr sz="1800" b="0">
                          <a:solidFill>
                            <a:srgbClr val="253C4D"/>
                          </a:solidFill>
                          <a:latin typeface="Yu Gothic"/>
                          <a:ea typeface="Yu Gothic"/>
                          <a:cs typeface="Yu Gothic"/>
                        </a:rPr>
                        <a:t>孔・食痕</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虫害等</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虫の種類・活動状況</a:t>
                      </a:r>
                    </a:p>
                  </a:txBody>
                  <a:tcPr marL="91440" marR="91440" marT="45720" marB="45720" anchor="ctr">
                    <a:lnR w="9525">
                      <a:solidFill>
                        <a:srgbClr val="C8D3DD"/>
                      </a:solidFill>
                    </a:lnR>
                    <a:lnB w="9525">
                      <a:solidFill>
                        <a:srgbClr val="C8D3DD"/>
                      </a:solidFill>
                    </a:lnB>
                    <a:solidFill>
                      <a:srgbClr val="EDF2F6"/>
                    </a:solidFill>
                  </a:tcPr>
                </a:tc>
              </a:tr>
              <a:tr h="695325">
                <a:tc>
                  <a:txBody>
                    <a:bodyPr lIns="95250" tIns="95250" rIns="95250" bIns="95250"/>
                    <a:lstStyle/>
                    <a:p>
                      <a:r>
                        <a:rPr sz="1800" b="0">
                          <a:solidFill>
                            <a:srgbClr val="253C4D"/>
                          </a:solidFill>
                          <a:latin typeface="Yu Gothic"/>
                          <a:ea typeface="Yu Gothic"/>
                          <a:cs typeface="Yu Gothic"/>
                        </a:rPr>
                        <a:t>割れ</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乾燥・荷重等も</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方向・深さ・使用履歴</a:t>
                      </a:r>
                    </a:p>
                  </a:txBody>
                  <a:tcPr marL="91440" marR="91440" marT="45720" marB="45720" anchor="ctr">
                    <a:lnR w="9525">
                      <a:solidFill>
                        <a:srgbClr val="C8D3DD"/>
                      </a:solidFill>
                    </a:lnR>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9808786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7BB6AD-B56F-406A-87E2-6AE764EF8D4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屋外教材台の劣化</a:t>
            </a:r>
          </a:p>
        </p:txBody>
      </p:sp>
      <p:cxnSp>
        <p:nvCxnSpPr>
          <p:cNvPr id="2" name="">
            <a:extLst xmlns:a="http://schemas.openxmlformats.org/drawingml/2006/main">
              <a:ext uri="{FF2B5EF4-FFF2-40B4-BE49-F238E27FC236}">
                <a16:creationId xmlns:a16="http://schemas.microsoft.com/office/drawing/2014/main" id="{6F960A64-B33D-4121-BCCB-C3EF8422934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63FA1982-0EB1-40CA-B7A6-5C229D936B9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4C87C174-F7E7-4EBD-AC60-8B3991FD64E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ED66966F-CDA0-43A5-B145-306EC8BD6BBD}"/>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屋外の教材台で、端部に水がたまっている</a:t>
            </a:r>
          </a:p>
        </p:txBody>
      </p:sp>
      <p:sp>
        <p:nvSpPr>
          <p:cNvPr id="6" name="">
            <a:extLst xmlns:a="http://schemas.openxmlformats.org/drawingml/2006/main">
              <a:ext uri="{FF2B5EF4-FFF2-40B4-BE49-F238E27FC236}">
                <a16:creationId xmlns:a16="http://schemas.microsoft.com/office/drawing/2014/main" id="{3BE6F059-01B8-4E17-9E5B-E9F1162F876F}"/>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表面に変色。一部は触ると軟らかい</a:t>
            </a:r>
          </a:p>
        </p:txBody>
      </p:sp>
      <p:sp>
        <p:nvSpPr>
          <p:cNvPr id="7" name="">
            <a:extLst xmlns:a="http://schemas.openxmlformats.org/drawingml/2006/main">
              <a:ext uri="{FF2B5EF4-FFF2-40B4-BE49-F238E27FC236}">
                <a16:creationId xmlns:a16="http://schemas.microsoft.com/office/drawing/2014/main" id="{6638828C-EED4-4C59-81CE-B21F910BBEA2}"/>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「木材は屋外で使えない」と結論してよいか？</a:t>
            </a:r>
          </a:p>
        </p:txBody>
      </p:sp>
      <p:sp>
        <p:nvSpPr>
          <p:cNvPr id="8" name="">
            <a:extLst xmlns:a="http://schemas.openxmlformats.org/drawingml/2006/main">
              <a:ext uri="{FF2B5EF4-FFF2-40B4-BE49-F238E27FC236}">
                <a16:creationId xmlns:a16="http://schemas.microsoft.com/office/drawing/2014/main" id="{6CC660E5-4964-4EE3-BB27-8A0381A12A69}"/>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観察・原因候補・追加調査・対策に分ける</a:t>
            </a:r>
          </a:p>
        </p:txBody>
      </p:sp>
    </p:spTree>
    <p:extLst>
      <p:ext uri="{BB962C8B-B14F-4D97-AF65-F5344CB8AC3E}">
        <p14:creationId xmlns:p14="http://schemas.microsoft.com/office/powerpoint/2010/main" val="13293101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D921A1-EBC6-46EC-BBA0-B1D0B09D1AC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屋外教材台の劣化</a:t>
            </a:r>
          </a:p>
        </p:txBody>
      </p:sp>
      <p:cxnSp>
        <p:nvCxnSpPr>
          <p:cNvPr id="2" name="">
            <a:extLst xmlns:a="http://schemas.openxmlformats.org/drawingml/2006/main">
              <a:ext uri="{FF2B5EF4-FFF2-40B4-BE49-F238E27FC236}">
                <a16:creationId xmlns:a16="http://schemas.microsoft.com/office/drawing/2014/main" id="{9C2992FE-AA81-4C58-BC23-43BDEC152AF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9EBC3B0-1DA0-464A-A63B-967BCF9DC44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973668AB-8826-4DA8-854F-69E034952B8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B2D54D11-554B-44F9-B4CB-282CA5D9DEAB}"/>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使用条件と劣化箇所を、まず記録する</a:t>
            </a:r>
          </a:p>
        </p:txBody>
      </p:sp>
      <p:sp>
        <p:nvSpPr>
          <p:cNvPr id="6" name="">
            <a:extLst xmlns:a="http://schemas.openxmlformats.org/drawingml/2006/main">
              <a:ext uri="{FF2B5EF4-FFF2-40B4-BE49-F238E27FC236}">
                <a16:creationId xmlns:a16="http://schemas.microsoft.com/office/drawing/2014/main" id="{C031F30E-6FA5-46F6-8AF1-9F0C904DB871}"/>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腐朽等を疑うが、生物種や内部状態は断定しない</a:t>
            </a:r>
          </a:p>
        </p:txBody>
      </p:sp>
      <p:sp>
        <p:nvSpPr>
          <p:cNvPr id="7" name="">
            <a:extLst xmlns:a="http://schemas.openxmlformats.org/drawingml/2006/main">
              <a:ext uri="{FF2B5EF4-FFF2-40B4-BE49-F238E27FC236}">
                <a16:creationId xmlns:a16="http://schemas.microsoft.com/office/drawing/2014/main" id="{000E81CA-641E-4E59-BDBB-AF929934769F}"/>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水の排出、乾燥、点検、部材交換等を検討</a:t>
            </a:r>
          </a:p>
        </p:txBody>
      </p:sp>
      <p:sp>
        <p:nvSpPr>
          <p:cNvPr id="8" name="">
            <a:extLst xmlns:a="http://schemas.openxmlformats.org/drawingml/2006/main">
              <a:ext uri="{FF2B5EF4-FFF2-40B4-BE49-F238E27FC236}">
                <a16:creationId xmlns:a16="http://schemas.microsoft.com/office/drawing/2014/main" id="{132ACCB2-3BA4-4954-9ABF-4F3FD84FBD7F}"/>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支持部の劣化は、使用継続の前に確認する</a:t>
            </a:r>
          </a:p>
        </p:txBody>
      </p:sp>
    </p:spTree>
    <p:extLst>
      <p:ext uri="{BB962C8B-B14F-4D97-AF65-F5344CB8AC3E}">
        <p14:creationId xmlns:p14="http://schemas.microsoft.com/office/powerpoint/2010/main" val="13856853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34BF5E-AF1C-4DE2-B2FA-74774C8647A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褐色腐朽と白色腐朽</a:t>
            </a:r>
          </a:p>
        </p:txBody>
      </p:sp>
      <p:cxnSp>
        <p:nvCxnSpPr>
          <p:cNvPr id="2" name="">
            <a:extLst xmlns:a="http://schemas.openxmlformats.org/drawingml/2006/main">
              <a:ext uri="{FF2B5EF4-FFF2-40B4-BE49-F238E27FC236}">
                <a16:creationId xmlns:a16="http://schemas.microsoft.com/office/drawing/2014/main" id="{29D830F0-EDC7-4AB2-A6F7-60C5D7ED30A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1D776C3-1431-4646-B4BF-361CC57F976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C8A119E3-0B85-49AA-BA56-63EE360A11C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4C830A52-E930-40BF-8CEA-CF22DA83B1F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褐色腐朽では、主にセルロース・ヘミセルロースが分解される</a:t>
            </a:r>
          </a:p>
        </p:txBody>
      </p:sp>
      <p:sp>
        <p:nvSpPr>
          <p:cNvPr id="6" name="">
            <a:extLst xmlns:a="http://schemas.openxmlformats.org/drawingml/2006/main">
              <a:ext uri="{FF2B5EF4-FFF2-40B4-BE49-F238E27FC236}">
                <a16:creationId xmlns:a16="http://schemas.microsoft.com/office/drawing/2014/main" id="{3638786F-EE39-4BB2-8A15-CC1DC0ECB37A}"/>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白色腐朽では、リグニンを含む細胞壁成分の分解が進む</a:t>
            </a:r>
          </a:p>
        </p:txBody>
      </p:sp>
      <p:sp>
        <p:nvSpPr>
          <p:cNvPr id="7" name="">
            <a:extLst xmlns:a="http://schemas.openxmlformats.org/drawingml/2006/main">
              <a:ext uri="{FF2B5EF4-FFF2-40B4-BE49-F238E27FC236}">
                <a16:creationId xmlns:a16="http://schemas.microsoft.com/office/drawing/2014/main" id="{99EF52BE-3055-4935-9EA7-E6895DC1C4C8}"/>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褐色化や白色化は手掛かりだが、色だけで菌種を確定しない</a:t>
            </a:r>
          </a:p>
        </p:txBody>
      </p:sp>
      <p:sp>
        <p:nvSpPr>
          <p:cNvPr id="8" name="">
            <a:extLst xmlns:a="http://schemas.openxmlformats.org/drawingml/2006/main">
              <a:ext uri="{FF2B5EF4-FFF2-40B4-BE49-F238E27FC236}">
                <a16:creationId xmlns:a16="http://schemas.microsoft.com/office/drawing/2014/main" id="{AD38C16F-0891-4C9C-9B6E-BDA8B6F88B5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初期の劣化でも強度が変わることがあり、質量減少と単純比例しない</a:t>
            </a:r>
          </a:p>
        </p:txBody>
      </p:sp>
      <p:sp>
        <p:nvSpPr>
          <p:cNvPr id="9" name="">
            <a:extLst xmlns:a="http://schemas.openxmlformats.org/drawingml/2006/main">
              <a:ext uri="{FF2B5EF4-FFF2-40B4-BE49-F238E27FC236}">
                <a16:creationId xmlns:a16="http://schemas.microsoft.com/office/drawing/2014/main" id="{60D38DF0-9773-492E-B922-441A4B7CBF77}"/>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外観、内部の損傷範囲、支持・接合部の状態を併せて調べる</a:t>
            </a:r>
          </a:p>
        </p:txBody>
      </p:sp>
    </p:spTree>
    <p:extLst>
      <p:ext uri="{BB962C8B-B14F-4D97-AF65-F5344CB8AC3E}">
        <p14:creationId xmlns:p14="http://schemas.microsoft.com/office/powerpoint/2010/main" val="9084662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0D5D3F-3460-4FA0-ADB0-1252D91876B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質量減少率と、性能の変化</a:t>
            </a:r>
          </a:p>
        </p:txBody>
      </p:sp>
      <p:sp>
        <p:nvSpPr>
          <p:cNvPr id="2" name="">
            <a:extLst xmlns:a="http://schemas.openxmlformats.org/drawingml/2006/main">
              <a:ext uri="{FF2B5EF4-FFF2-40B4-BE49-F238E27FC236}">
                <a16:creationId xmlns:a16="http://schemas.microsoft.com/office/drawing/2014/main" id="{0F294678-2CFF-4CBA-9F4A-96AAF21F127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1B7CA3-0198-4D01-9490-5F96D41B588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D2892CE4-6EA3-44E6-BE7F-A1F2B660ACD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76E07B76-B770-4489-A73D-E5A7E887D3A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仮想試料：腐朽前の全乾50.0 g、腐朽後49.5 g</a:t>
            </a:r>
          </a:p>
        </p:txBody>
      </p:sp>
      <p:sp>
        <p:nvSpPr>
          <p:cNvPr id="6" name="">
            <a:extLst xmlns:a="http://schemas.openxmlformats.org/drawingml/2006/main">
              <a:ext uri="{FF2B5EF4-FFF2-40B4-BE49-F238E27FC236}">
                <a16:creationId xmlns:a16="http://schemas.microsoft.com/office/drawing/2014/main" id="{0FBC1FF7-8229-42C0-AB3E-27ED073507E0}"/>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質量減少率を求める</a:t>
            </a:r>
          </a:p>
        </p:txBody>
      </p:sp>
      <p:sp>
        <p:nvSpPr>
          <p:cNvPr id="7" name="">
            <a:extLst xmlns:a="http://schemas.openxmlformats.org/drawingml/2006/main">
              <a:ext uri="{FF2B5EF4-FFF2-40B4-BE49-F238E27FC236}">
                <a16:creationId xmlns:a16="http://schemas.microsoft.com/office/drawing/2014/main" id="{E19B8557-4A50-4D6A-BE13-2534F6727545}"/>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曲げ強度も同じ割合の低下と判断できるか</a:t>
            </a:r>
          </a:p>
        </p:txBody>
      </p:sp>
      <p:sp>
        <p:nvSpPr>
          <p:cNvPr id="8" name="">
            <a:extLst xmlns:a="http://schemas.openxmlformats.org/drawingml/2006/main">
              <a:ext uri="{FF2B5EF4-FFF2-40B4-BE49-F238E27FC236}">
                <a16:creationId xmlns:a16="http://schemas.microsoft.com/office/drawing/2014/main" id="{1FF159DE-4257-49D7-91CD-9EEFE23BC30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原典の実験報告：質量減少1%時、靱性低下6～50%超</a:t>
            </a:r>
          </a:p>
        </p:txBody>
      </p:sp>
      <p:sp>
        <p:nvSpPr>
          <p:cNvPr id="9" name="">
            <a:extLst xmlns:a="http://schemas.openxmlformats.org/drawingml/2006/main">
              <a:ext uri="{FF2B5EF4-FFF2-40B4-BE49-F238E27FC236}">
                <a16:creationId xmlns:a16="http://schemas.microsoft.com/office/drawing/2014/main" id="{56967E6C-4A40-4CD2-A209-47AB57434440}"/>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靱性の報告範囲。全ての強度の換算式・個別試料の予測値ではない。</a:t>
            </a:r>
          </a:p>
        </p:txBody>
      </p:sp>
    </p:spTree>
    <p:extLst>
      <p:ext uri="{BB962C8B-B14F-4D97-AF65-F5344CB8AC3E}">
        <p14:creationId xmlns:p14="http://schemas.microsoft.com/office/powerpoint/2010/main" val="2506898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8938E3-9229-42A6-88B3-AF83363AB19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心材・辺材と、腐朽への抵抗性</a:t>
            </a:r>
          </a:p>
        </p:txBody>
      </p:sp>
      <p:sp>
        <p:nvSpPr>
          <p:cNvPr id="2" name="">
            <a:extLst xmlns:a="http://schemas.openxmlformats.org/drawingml/2006/main">
              <a:ext uri="{FF2B5EF4-FFF2-40B4-BE49-F238E27FC236}">
                <a16:creationId xmlns:a16="http://schemas.microsoft.com/office/drawing/2014/main" id="{EE385904-8CA9-44E4-A995-4D64BCC24F2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5B703FD-CF21-4729-B573-87E0A73B732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A710F2AA-9937-4B02-9B6D-035C2FADE8C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7DF9B3EF-8D44-4A4F-8D07-AFCD9F2657B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樹種、部位、抽出成分、生物、使用環境が関わる</a:t>
            </a:r>
          </a:p>
        </p:txBody>
      </p:sp>
      <p:sp>
        <p:nvSpPr>
          <p:cNvPr id="6" name="">
            <a:extLst xmlns:a="http://schemas.openxmlformats.org/drawingml/2006/main">
              <a:ext uri="{FF2B5EF4-FFF2-40B4-BE49-F238E27FC236}">
                <a16:creationId xmlns:a16="http://schemas.microsoft.com/office/drawing/2014/main" id="{1647968F-8DF8-4F8D-9B5C-CB655FFA37A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心材の性質を、辺材へそのまま広げない</a:t>
            </a:r>
          </a:p>
        </p:txBody>
      </p:sp>
      <p:sp>
        <p:nvSpPr>
          <p:cNvPr id="7" name="">
            <a:extLst xmlns:a="http://schemas.openxmlformats.org/drawingml/2006/main">
              <a:ext uri="{FF2B5EF4-FFF2-40B4-BE49-F238E27FC236}">
                <a16:creationId xmlns:a16="http://schemas.microsoft.com/office/drawing/2014/main" id="{EC4A436F-2B58-49F0-BF8D-29AB85DE1F47}"/>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密度・強度だけで耐久性を決定しない</a:t>
            </a:r>
          </a:p>
        </p:txBody>
      </p:sp>
      <p:sp>
        <p:nvSpPr>
          <p:cNvPr id="8" name="">
            <a:extLst xmlns:a="http://schemas.openxmlformats.org/drawingml/2006/main">
              <a:ext uri="{FF2B5EF4-FFF2-40B4-BE49-F238E27FC236}">
                <a16:creationId xmlns:a16="http://schemas.microsoft.com/office/drawing/2014/main" id="{7308999F-340E-4C0A-9B4B-BD62BB9283E7}"/>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資料の対象部位と試験・使用条件を確認する</a:t>
            </a:r>
          </a:p>
        </p:txBody>
      </p:sp>
    </p:spTree>
    <p:extLst>
      <p:ext uri="{BB962C8B-B14F-4D97-AF65-F5344CB8AC3E}">
        <p14:creationId xmlns:p14="http://schemas.microsoft.com/office/powerpoint/2010/main" val="2111672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F6CF7D-5084-472A-9726-F28EBB96939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虫害：乾燥材でも、対象生物を確認する</a:t>
            </a:r>
          </a:p>
        </p:txBody>
      </p:sp>
      <p:sp>
        <p:nvSpPr>
          <p:cNvPr id="2" name="">
            <a:extLst xmlns:a="http://schemas.openxmlformats.org/drawingml/2006/main">
              <a:ext uri="{FF2B5EF4-FFF2-40B4-BE49-F238E27FC236}">
                <a16:creationId xmlns:a16="http://schemas.microsoft.com/office/drawing/2014/main" id="{2D0DF4CA-85FF-4D9D-85D6-09D7F17BEFC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69CAD9-56BC-46F9-887C-8A60276932C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CA131E36-DF8F-4666-A89A-EA974B5376F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C439057D-5533-4519-9E72-F178F9B4365A}"/>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ヒラタキクイムシ類：広葉樹辺材などの加害例</a:t>
            </a:r>
          </a:p>
        </p:txBody>
      </p:sp>
      <p:sp>
        <p:nvSpPr>
          <p:cNvPr id="6" name="">
            <a:extLst xmlns:a="http://schemas.openxmlformats.org/drawingml/2006/main">
              <a:ext uri="{FF2B5EF4-FFF2-40B4-BE49-F238E27FC236}">
                <a16:creationId xmlns:a16="http://schemas.microsoft.com/office/drawing/2014/main" id="{0D6482C3-0129-412F-AB60-DC78DDED212B}"/>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シロアリ：種類で生活様式・水分条件が異なる</a:t>
            </a:r>
          </a:p>
        </p:txBody>
      </p:sp>
      <p:sp>
        <p:nvSpPr>
          <p:cNvPr id="7" name="">
            <a:extLst xmlns:a="http://schemas.openxmlformats.org/drawingml/2006/main">
              <a:ext uri="{FF2B5EF4-FFF2-40B4-BE49-F238E27FC236}">
                <a16:creationId xmlns:a16="http://schemas.microsoft.com/office/drawing/2014/main" id="{163E4047-22AF-48D0-97B0-E40959EACAD9}"/>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穴・粉の記録に、現在の活動と材の部位を加える</a:t>
            </a:r>
          </a:p>
        </p:txBody>
      </p:sp>
      <p:sp>
        <p:nvSpPr>
          <p:cNvPr id="8" name="">
            <a:extLst xmlns:a="http://schemas.openxmlformats.org/drawingml/2006/main">
              <a:ext uri="{FF2B5EF4-FFF2-40B4-BE49-F238E27FC236}">
                <a16:creationId xmlns:a16="http://schemas.microsoft.com/office/drawing/2014/main" id="{C4F267C9-7045-41D4-9FAA-90D47AA5063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乾燥による腐朽抑制と、全虫害の予防を分ける</a:t>
            </a:r>
          </a:p>
        </p:txBody>
      </p:sp>
    </p:spTree>
    <p:extLst>
      <p:ext uri="{BB962C8B-B14F-4D97-AF65-F5344CB8AC3E}">
        <p14:creationId xmlns:p14="http://schemas.microsoft.com/office/powerpoint/2010/main" val="168195501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9CD7581-A83B-4754-96AF-E7BF71D5E3E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水の経路と保守</a:t>
            </a:r>
          </a:p>
        </p:txBody>
      </p:sp>
      <p:cxnSp>
        <p:nvCxnSpPr>
          <p:cNvPr id="2" name="">
            <a:extLst xmlns:a="http://schemas.openxmlformats.org/drawingml/2006/main">
              <a:ext uri="{FF2B5EF4-FFF2-40B4-BE49-F238E27FC236}">
                <a16:creationId xmlns:a16="http://schemas.microsoft.com/office/drawing/2014/main" id="{3798E34E-065D-4E3B-8808-FE59E798CF0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E616DE7-C7D1-4A5F-82E7-F4EBBDA69CD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308ECAFB-AA41-4FCC-82C4-C479538F7DD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ED1F8D81-641F-4502-AC07-EF5FD9E631CE}"/>
              </a:ext>
            </a:extLst>
          </p:cNvPr>
          <p:cNvSpPr>
            <a:spLocks xmlns:a="http://schemas.openxmlformats.org/drawingml/2006/main" noGrp="1"/>
          </p:cNvSpPr>
          <p:nvPr/>
        </p:nvSpPr>
        <p:spPr>
          <a:xfrm xmlns:a="http://schemas.openxmlformats.org/drawingml/2006/main" rot="0">
            <a:off x="1428750" y="2619375"/>
            <a:ext cx="4476750" cy="26670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6" name="">
            <a:extLst xmlns:a="http://schemas.openxmlformats.org/drawingml/2006/main">
              <a:ext uri="{FF2B5EF4-FFF2-40B4-BE49-F238E27FC236}">
                <a16:creationId xmlns:a16="http://schemas.microsoft.com/office/drawing/2014/main" id="{ED8CD71B-64E2-46CE-A287-02D16450E137}"/>
              </a:ext>
            </a:extLst>
          </p:cNvPr>
          <p:cNvSpPr>
            <a:spLocks xmlns:a="http://schemas.openxmlformats.org/drawingml/2006/main" noGrp="1"/>
          </p:cNvSpPr>
          <p:nvPr/>
        </p:nvSpPr>
        <p:spPr>
          <a:xfrm xmlns:a="http://schemas.openxmlformats.org/drawingml/2006/main" rot="0">
            <a:off x="1666875" y="2886075"/>
            <a:ext cx="381000" cy="200025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7" name="">
            <a:extLst xmlns:a="http://schemas.openxmlformats.org/drawingml/2006/main">
              <a:ext uri="{FF2B5EF4-FFF2-40B4-BE49-F238E27FC236}">
                <a16:creationId xmlns:a16="http://schemas.microsoft.com/office/drawing/2014/main" id="{B8751123-1FDC-4278-8619-7CF70B6E2828}"/>
              </a:ext>
            </a:extLst>
          </p:cNvPr>
          <p:cNvSpPr>
            <a:spLocks xmlns:a="http://schemas.openxmlformats.org/drawingml/2006/main" noGrp="1"/>
          </p:cNvSpPr>
          <p:nvPr/>
        </p:nvSpPr>
        <p:spPr>
          <a:xfrm xmlns:a="http://schemas.openxmlformats.org/drawingml/2006/main" rot="0">
            <a:off x="5257800" y="2886075"/>
            <a:ext cx="381000" cy="200025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cxnSp>
        <p:nvCxnSpPr>
          <p:cNvPr id="8" name="">
            <a:extLst xmlns:a="http://schemas.openxmlformats.org/drawingml/2006/main">
              <a:ext uri="{FF2B5EF4-FFF2-40B4-BE49-F238E27FC236}">
                <a16:creationId xmlns:a16="http://schemas.microsoft.com/office/drawing/2014/main" id="{40CB30FC-DAA8-4856-A6E6-3A790D5DD48E}"/>
              </a:ext>
            </a:extLst>
          </p:cNvPr>
          <p:cNvCxnSpPr/>
          <p:nvPr/>
        </p:nvCxnSpPr>
        <p:spPr>
          <a:xfrm xmlns:a="http://schemas.openxmlformats.org/drawingml/2006/main" flipH="0" flipV="0">
            <a:off x="3667125" y="1619250"/>
            <a:ext cx="0" cy="933450"/>
          </a:xfrm>
          <a:prstGeom xmlns:a="http://schemas.openxmlformats.org/drawingml/2006/main" prst="straightConnector1">
            <a:avLst/>
          </a:prstGeom>
          <a:ln xmlns:a="http://schemas.openxmlformats.org/drawingml/2006/main" w="47625">
            <a:solidFill>
              <a:srgbClr val="245C98"/>
            </a:solidFill>
            <a:tailEnd type="triangle" w="med" len="med"/>
          </a:ln>
        </p:spPr>
      </p:cxnSp>
      <p:sp>
        <p:nvSpPr>
          <p:cNvPr id="9" name="">
            <a:extLst xmlns:a="http://schemas.openxmlformats.org/drawingml/2006/main">
              <a:ext uri="{FF2B5EF4-FFF2-40B4-BE49-F238E27FC236}">
                <a16:creationId xmlns:a16="http://schemas.microsoft.com/office/drawing/2014/main" id="{78B3D63E-8D37-4397-962A-0235309CCEF7}"/>
              </a:ext>
            </a:extLst>
          </p:cNvPr>
          <p:cNvSpPr>
            <a:spLocks xmlns:a="http://schemas.openxmlformats.org/drawingml/2006/main" noGrp="1"/>
          </p:cNvSpPr>
          <p:nvPr/>
        </p:nvSpPr>
        <p:spPr>
          <a:xfrm xmlns:a="http://schemas.openxmlformats.org/drawingml/2006/main">
            <a:off x="2667000" y="12382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245C98"/>
                </a:solidFill>
                <a:latin typeface="Yu Gothic"/>
                <a:ea typeface="Yu Gothic"/>
                <a:cs typeface="Yu Gothic"/>
              </a:defRPr>
            </a:defPPr>
            <a:lvl1pPr algn="l">
              <a:buNone/>
              <a:defRPr sz="2250" b="1">
                <a:solidFill>
                  <a:srgbClr val="245C98"/>
                </a:solidFill>
                <a:latin typeface="Yu Gothic"/>
                <a:ea typeface="Yu Gothic"/>
                <a:cs typeface="Yu Gothic"/>
              </a:defRPr>
            </a:lvl1pPr>
            <a:lvl2pPr algn="l">
              <a:buNone/>
              <a:defRPr sz="2250" b="1">
                <a:solidFill>
                  <a:srgbClr val="245C98"/>
                </a:solidFill>
                <a:latin typeface="Yu Gothic"/>
                <a:ea typeface="Yu Gothic"/>
                <a:cs typeface="Yu Gothic"/>
              </a:defRPr>
            </a:lvl2pPr>
            <a:lvl3pPr algn="l">
              <a:buNone/>
              <a:defRPr sz="2250" b="1">
                <a:solidFill>
                  <a:srgbClr val="245C98"/>
                </a:solidFill>
                <a:latin typeface="Yu Gothic"/>
                <a:ea typeface="Yu Gothic"/>
                <a:cs typeface="Yu Gothic"/>
              </a:defRPr>
            </a:lvl3pPr>
            <a:lvl4pPr algn="l">
              <a:buNone/>
              <a:defRPr sz="2250" b="1">
                <a:solidFill>
                  <a:srgbClr val="245C98"/>
                </a:solidFill>
                <a:latin typeface="Yu Gothic"/>
                <a:ea typeface="Yu Gothic"/>
                <a:cs typeface="Yu Gothic"/>
              </a:defRPr>
            </a:lvl4pPr>
            <a:lvl5pPr algn="l">
              <a:buNone/>
              <a:defRPr sz="2250" b="1">
                <a:solidFill>
                  <a:srgbClr val="245C98"/>
                </a:solidFill>
                <a:latin typeface="Yu Gothic"/>
                <a:ea typeface="Yu Gothic"/>
                <a:cs typeface="Yu Gothic"/>
              </a:defRPr>
            </a:lvl5pPr>
            <a:lvl6pPr algn="l">
              <a:buNone/>
              <a:defRPr sz="2250" b="1">
                <a:solidFill>
                  <a:srgbClr val="245C98"/>
                </a:solidFill>
                <a:latin typeface="Yu Gothic"/>
                <a:ea typeface="Yu Gothic"/>
                <a:cs typeface="Yu Gothic"/>
              </a:defRPr>
            </a:lvl6pPr>
            <a:lvl7pPr algn="l">
              <a:buNone/>
              <a:defRPr sz="2250" b="1">
                <a:solidFill>
                  <a:srgbClr val="245C98"/>
                </a:solidFill>
                <a:latin typeface="Yu Gothic"/>
                <a:ea typeface="Yu Gothic"/>
                <a:cs typeface="Yu Gothic"/>
              </a:defRPr>
            </a:lvl7pPr>
            <a:lvl8pPr algn="l">
              <a:buNone/>
              <a:defRPr sz="2250" b="1">
                <a:solidFill>
                  <a:srgbClr val="245C98"/>
                </a:solidFill>
                <a:latin typeface="Yu Gothic"/>
                <a:ea typeface="Yu Gothic"/>
                <a:cs typeface="Yu Gothic"/>
              </a:defRPr>
            </a:lvl8pPr>
            <a:lvl9pPr algn="l">
              <a:buNone/>
              <a:defRPr sz="2250" b="1">
                <a:solidFill>
                  <a:srgbClr val="245C98"/>
                </a:solidFill>
                <a:latin typeface="Yu Gothic"/>
                <a:ea typeface="Yu Gothic"/>
                <a:cs typeface="Yu Gothic"/>
              </a:defRPr>
            </a:lvl9pPr>
          </a:lstStyle>
          <a:p xmlns:a="http://schemas.openxmlformats.org/drawingml/2006/main">
            <a:pPr algn="l">
              <a:buNone/>
              <a:defRPr sz="2250" b="1">
                <a:solidFill>
                  <a:srgbClr val="245C98"/>
                </a:solidFill>
                <a:latin typeface="Yu Gothic"/>
                <a:ea typeface="Yu Gothic"/>
                <a:cs typeface="Yu Gothic"/>
              </a:defRPr>
            </a:pPr>
            <a:r>
              <a:rPr sz="2250" b="1">
                <a:solidFill>
                  <a:srgbClr val="245C98"/>
                </a:solidFill>
                <a:latin typeface="Yu Gothic"/>
                <a:ea typeface="Yu Gothic"/>
                <a:cs typeface="Yu Gothic"/>
              </a:rPr>
              <a:t>濡れる</a:t>
            </a:r>
          </a:p>
        </p:txBody>
      </p:sp>
      <p:cxnSp>
        <p:nvCxnSpPr>
          <p:cNvPr id="10" name="">
            <a:extLst xmlns:a="http://schemas.openxmlformats.org/drawingml/2006/main">
              <a:ext uri="{FF2B5EF4-FFF2-40B4-BE49-F238E27FC236}">
                <a16:creationId xmlns:a16="http://schemas.microsoft.com/office/drawing/2014/main" id="{C3C8EA22-A3F2-477D-B511-C0824D6B187A}"/>
              </a:ext>
            </a:extLst>
          </p:cNvPr>
          <p:cNvCxnSpPr/>
          <p:nvPr/>
        </p:nvCxnSpPr>
        <p:spPr>
          <a:xfrm xmlns:a="http://schemas.openxmlformats.org/drawingml/2006/main" flipH="0" flipV="1">
            <a:off x="4000500" y="2095500"/>
            <a:ext cx="1905000" cy="381000"/>
          </a:xfrm>
          <a:prstGeom xmlns:a="http://schemas.openxmlformats.org/drawingml/2006/main" prst="straightConnector1">
            <a:avLst/>
          </a:prstGeom>
          <a:ln xmlns:a="http://schemas.openxmlformats.org/drawingml/2006/main" w="38100">
            <a:solidFill>
              <a:srgbClr val="087E8B"/>
            </a:solidFill>
            <a:tailEnd type="triangle" w="med" len="med"/>
          </a:ln>
        </p:spPr>
      </p:cxnSp>
      <p:sp>
        <p:nvSpPr>
          <p:cNvPr id="11" name="">
            <a:extLst xmlns:a="http://schemas.openxmlformats.org/drawingml/2006/main">
              <a:ext uri="{FF2B5EF4-FFF2-40B4-BE49-F238E27FC236}">
                <a16:creationId xmlns:a16="http://schemas.microsoft.com/office/drawing/2014/main" id="{C1729F95-84D6-4137-8166-C918989AFD31}"/>
              </a:ext>
            </a:extLst>
          </p:cNvPr>
          <p:cNvSpPr>
            <a:spLocks xmlns:a="http://schemas.openxmlformats.org/drawingml/2006/main" noGrp="1"/>
          </p:cNvSpPr>
          <p:nvPr/>
        </p:nvSpPr>
        <p:spPr>
          <a:xfrm xmlns:a="http://schemas.openxmlformats.org/drawingml/2006/main">
            <a:off x="4953000" y="16192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087E8B"/>
                </a:solidFill>
                <a:latin typeface="Yu Gothic"/>
                <a:ea typeface="Yu Gothic"/>
                <a:cs typeface="Yu Gothic"/>
              </a:defRPr>
            </a:defPPr>
            <a:lvl1pPr algn="l">
              <a:buNone/>
              <a:defRPr sz="2175" b="1">
                <a:solidFill>
                  <a:srgbClr val="087E8B"/>
                </a:solidFill>
                <a:latin typeface="Yu Gothic"/>
                <a:ea typeface="Yu Gothic"/>
                <a:cs typeface="Yu Gothic"/>
              </a:defRPr>
            </a:lvl1pPr>
            <a:lvl2pPr algn="l">
              <a:buNone/>
              <a:defRPr sz="2175" b="1">
                <a:solidFill>
                  <a:srgbClr val="087E8B"/>
                </a:solidFill>
                <a:latin typeface="Yu Gothic"/>
                <a:ea typeface="Yu Gothic"/>
                <a:cs typeface="Yu Gothic"/>
              </a:defRPr>
            </a:lvl2pPr>
            <a:lvl3pPr algn="l">
              <a:buNone/>
              <a:defRPr sz="2175" b="1">
                <a:solidFill>
                  <a:srgbClr val="087E8B"/>
                </a:solidFill>
                <a:latin typeface="Yu Gothic"/>
                <a:ea typeface="Yu Gothic"/>
                <a:cs typeface="Yu Gothic"/>
              </a:defRPr>
            </a:lvl3pPr>
            <a:lvl4pPr algn="l">
              <a:buNone/>
              <a:defRPr sz="2175" b="1">
                <a:solidFill>
                  <a:srgbClr val="087E8B"/>
                </a:solidFill>
                <a:latin typeface="Yu Gothic"/>
                <a:ea typeface="Yu Gothic"/>
                <a:cs typeface="Yu Gothic"/>
              </a:defRPr>
            </a:lvl4pPr>
            <a:lvl5pPr algn="l">
              <a:buNone/>
              <a:defRPr sz="2175" b="1">
                <a:solidFill>
                  <a:srgbClr val="087E8B"/>
                </a:solidFill>
                <a:latin typeface="Yu Gothic"/>
                <a:ea typeface="Yu Gothic"/>
                <a:cs typeface="Yu Gothic"/>
              </a:defRPr>
            </a:lvl5pPr>
            <a:lvl6pPr algn="l">
              <a:buNone/>
              <a:defRPr sz="2175" b="1">
                <a:solidFill>
                  <a:srgbClr val="087E8B"/>
                </a:solidFill>
                <a:latin typeface="Yu Gothic"/>
                <a:ea typeface="Yu Gothic"/>
                <a:cs typeface="Yu Gothic"/>
              </a:defRPr>
            </a:lvl6pPr>
            <a:lvl7pPr algn="l">
              <a:buNone/>
              <a:defRPr sz="2175" b="1">
                <a:solidFill>
                  <a:srgbClr val="087E8B"/>
                </a:solidFill>
                <a:latin typeface="Yu Gothic"/>
                <a:ea typeface="Yu Gothic"/>
                <a:cs typeface="Yu Gothic"/>
              </a:defRPr>
            </a:lvl7pPr>
            <a:lvl8pPr algn="l">
              <a:buNone/>
              <a:defRPr sz="2175" b="1">
                <a:solidFill>
                  <a:srgbClr val="087E8B"/>
                </a:solidFill>
                <a:latin typeface="Yu Gothic"/>
                <a:ea typeface="Yu Gothic"/>
                <a:cs typeface="Yu Gothic"/>
              </a:defRPr>
            </a:lvl8pPr>
            <a:lvl9pPr algn="l">
              <a:buNone/>
              <a:defRPr sz="2175" b="1">
                <a:solidFill>
                  <a:srgbClr val="087E8B"/>
                </a:solidFill>
                <a:latin typeface="Yu Gothic"/>
                <a:ea typeface="Yu Gothic"/>
                <a:cs typeface="Yu Gothic"/>
              </a:defRPr>
            </a:lvl9pPr>
          </a:lstStyle>
          <a:p xmlns:a="http://schemas.openxmlformats.org/drawingml/2006/main">
            <a:pPr algn="l">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乾く・流す</a:t>
            </a:r>
          </a:p>
        </p:txBody>
      </p:sp>
      <p:sp>
        <p:nvSpPr>
          <p:cNvPr id="12" name="">
            <a:extLst xmlns:a="http://schemas.openxmlformats.org/drawingml/2006/main">
              <a:ext uri="{FF2B5EF4-FFF2-40B4-BE49-F238E27FC236}">
                <a16:creationId xmlns:a16="http://schemas.microsoft.com/office/drawing/2014/main" id="{CF2701E7-F5E0-4600-B2F7-F5553C384882}"/>
              </a:ext>
            </a:extLst>
          </p:cNvPr>
          <p:cNvSpPr>
            <a:spLocks xmlns:a="http://schemas.openxmlformats.org/drawingml/2006/main" noGrp="1"/>
          </p:cNvSpPr>
          <p:nvPr/>
        </p:nvSpPr>
        <p:spPr>
          <a:xfrm xmlns:a="http://schemas.openxmlformats.org/drawingml/2006/main">
            <a:off x="7524750"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水の入口</a:t>
            </a:r>
          </a:p>
        </p:txBody>
      </p:sp>
      <p:sp>
        <p:nvSpPr>
          <p:cNvPr id="13" name="">
            <a:extLst xmlns:a="http://schemas.openxmlformats.org/drawingml/2006/main">
              <a:ext uri="{FF2B5EF4-FFF2-40B4-BE49-F238E27FC236}">
                <a16:creationId xmlns:a16="http://schemas.microsoft.com/office/drawing/2014/main" id="{8911C84A-FFFC-40A0-B06C-CADE362BC76E}"/>
              </a:ext>
            </a:extLst>
          </p:cNvPr>
          <p:cNvSpPr>
            <a:spLocks xmlns:a="http://schemas.openxmlformats.org/drawingml/2006/main" noGrp="1"/>
          </p:cNvSpPr>
          <p:nvPr/>
        </p:nvSpPr>
        <p:spPr>
          <a:xfrm xmlns:a="http://schemas.openxmlformats.org/drawingml/2006/main">
            <a:off x="7524750"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たまりやすい接合部</a:t>
            </a:r>
          </a:p>
        </p:txBody>
      </p:sp>
      <p:sp>
        <p:nvSpPr>
          <p:cNvPr id="14" name="">
            <a:extLst xmlns:a="http://schemas.openxmlformats.org/drawingml/2006/main">
              <a:ext uri="{FF2B5EF4-FFF2-40B4-BE49-F238E27FC236}">
                <a16:creationId xmlns:a16="http://schemas.microsoft.com/office/drawing/2014/main" id="{25A1B4D9-9419-40EA-9761-7F9D007E51F2}"/>
              </a:ext>
            </a:extLst>
          </p:cNvPr>
          <p:cNvSpPr>
            <a:spLocks xmlns:a="http://schemas.openxmlformats.org/drawingml/2006/main" noGrp="1"/>
          </p:cNvSpPr>
          <p:nvPr/>
        </p:nvSpPr>
        <p:spPr>
          <a:xfrm xmlns:a="http://schemas.openxmlformats.org/drawingml/2006/main">
            <a:off x="7524750"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乾く経路</a:t>
            </a:r>
          </a:p>
        </p:txBody>
      </p:sp>
      <p:sp>
        <p:nvSpPr>
          <p:cNvPr id="15" name="">
            <a:extLst xmlns:a="http://schemas.openxmlformats.org/drawingml/2006/main">
              <a:ext uri="{FF2B5EF4-FFF2-40B4-BE49-F238E27FC236}">
                <a16:creationId xmlns:a16="http://schemas.microsoft.com/office/drawing/2014/main" id="{1529E434-AB3F-463C-B29C-DEE29B336D02}"/>
              </a:ext>
            </a:extLst>
          </p:cNvPr>
          <p:cNvSpPr>
            <a:spLocks xmlns:a="http://schemas.openxmlformats.org/drawingml/2006/main" noGrp="1"/>
          </p:cNvSpPr>
          <p:nvPr/>
        </p:nvSpPr>
        <p:spPr>
          <a:xfrm xmlns:a="http://schemas.openxmlformats.org/drawingml/2006/main">
            <a:off x="7524750"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点検と部材交換</a:t>
            </a:r>
          </a:p>
        </p:txBody>
      </p:sp>
    </p:spTree>
    <p:extLst>
      <p:ext uri="{BB962C8B-B14F-4D97-AF65-F5344CB8AC3E}">
        <p14:creationId xmlns:p14="http://schemas.microsoft.com/office/powerpoint/2010/main" val="4857529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153DD1-C437-47EA-BA61-6B96705D374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予防と保守と資源循環</a:t>
            </a:r>
          </a:p>
        </p:txBody>
      </p:sp>
      <p:cxnSp>
        <p:nvCxnSpPr>
          <p:cNvPr id="2" name="">
            <a:extLst xmlns:a="http://schemas.openxmlformats.org/drawingml/2006/main">
              <a:ext uri="{FF2B5EF4-FFF2-40B4-BE49-F238E27FC236}">
                <a16:creationId xmlns:a16="http://schemas.microsoft.com/office/drawing/2014/main" id="{973BD838-095B-4EC1-81AF-7A7AFD7828B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EF4ECEC-AEE0-4114-BF89-A965D3272A6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1A07599E-2480-4A69-90E1-405241847CF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6F4791F4-1090-4AD0-8060-C16468640AD7}"/>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水をためない形、地面から離す納まり、排水と通風を考える</a:t>
            </a:r>
          </a:p>
        </p:txBody>
      </p:sp>
      <p:sp>
        <p:nvSpPr>
          <p:cNvPr id="6" name="">
            <a:extLst xmlns:a="http://schemas.openxmlformats.org/drawingml/2006/main">
              <a:ext uri="{FF2B5EF4-FFF2-40B4-BE49-F238E27FC236}">
                <a16:creationId xmlns:a16="http://schemas.microsoft.com/office/drawing/2014/main" id="{09ED38AF-19E2-4CBD-894E-F85CD195176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適切な表面保護や保存処理は、製品と使用条件に合わせて選ぶ</a:t>
            </a:r>
          </a:p>
        </p:txBody>
      </p:sp>
      <p:sp>
        <p:nvSpPr>
          <p:cNvPr id="7" name="">
            <a:extLst xmlns:a="http://schemas.openxmlformats.org/drawingml/2006/main">
              <a:ext uri="{FF2B5EF4-FFF2-40B4-BE49-F238E27FC236}">
                <a16:creationId xmlns:a16="http://schemas.microsoft.com/office/drawing/2014/main" id="{7658B665-FE97-44CE-8400-B6AA454C9355}"/>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点検できる接合、交換できる部材は、長く使う工夫になる</a:t>
            </a:r>
          </a:p>
        </p:txBody>
      </p:sp>
      <p:sp>
        <p:nvSpPr>
          <p:cNvPr id="8" name="">
            <a:extLst xmlns:a="http://schemas.openxmlformats.org/drawingml/2006/main">
              <a:ext uri="{FF2B5EF4-FFF2-40B4-BE49-F238E27FC236}">
                <a16:creationId xmlns:a16="http://schemas.microsoft.com/office/drawing/2014/main" id="{84342C28-6614-4971-806D-09C8BC84C815}"/>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自然界での木材の分解は、炭素や養分の循環を支える</a:t>
            </a:r>
          </a:p>
        </p:txBody>
      </p:sp>
      <p:sp>
        <p:nvSpPr>
          <p:cNvPr id="9" name="">
            <a:extLst xmlns:a="http://schemas.openxmlformats.org/drawingml/2006/main">
              <a:ext uri="{FF2B5EF4-FFF2-40B4-BE49-F238E27FC236}">
                <a16:creationId xmlns:a16="http://schemas.microsoft.com/office/drawing/2014/main" id="{E34D3A76-1EFA-421F-BE00-BD260B2D0C9A}"/>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使用中の劣化を抑えることと、使用後の資源循環を両方考える</a:t>
            </a:r>
          </a:p>
        </p:txBody>
      </p:sp>
    </p:spTree>
    <p:extLst>
      <p:ext uri="{BB962C8B-B14F-4D97-AF65-F5344CB8AC3E}">
        <p14:creationId xmlns:p14="http://schemas.microsoft.com/office/powerpoint/2010/main" val="203223543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87ED6B-211E-4547-A97F-151E96BAE76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変化を比較できる点検表</a:t>
            </a:r>
          </a:p>
        </p:txBody>
      </p:sp>
      <p:sp>
        <p:nvSpPr>
          <p:cNvPr id="2" name="">
            <a:extLst xmlns:a="http://schemas.openxmlformats.org/drawingml/2006/main">
              <a:ext uri="{FF2B5EF4-FFF2-40B4-BE49-F238E27FC236}">
                <a16:creationId xmlns:a16="http://schemas.microsoft.com/office/drawing/2014/main" id="{30AEE4A6-4B32-4D93-8FFA-28622D68399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3B146F-DA12-434D-9B69-C91E5C23044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BFC8421F-58EA-422D-BF9F-F2556368B14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graphicFrame>
        <p:nvGraphicFramePr>
          <p:cNvPr id="5" name="">
            <a:extLst xmlns:a="http://schemas.openxmlformats.org/drawingml/2006/main">
              <a:ext uri="{FF2B5EF4-FFF2-40B4-BE49-F238E27FC236}">
                <a16:creationId xmlns:a16="http://schemas.microsoft.com/office/drawing/2014/main" id="{EBC756F0-453A-4E76-B60B-A2AC3BEC644E}"/>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見る場所</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記録する事実</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変化時の対応</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木口・接合面</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雨後の水の残り方</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排水・乾く経路</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脚の付け根</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外観と接合状態</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支持機能の確認</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穴・粉のある所</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新たな変化の有無</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生物・活動を調査</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5496FAC0-9514-44AD-A647-F9F6118DF357}"/>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表は記入例。自分の点検表を3行作り、条件との対応を説明する。</a:t>
            </a:r>
          </a:p>
        </p:txBody>
      </p:sp>
    </p:spTree>
    <p:extLst>
      <p:ext uri="{BB962C8B-B14F-4D97-AF65-F5344CB8AC3E}">
        <p14:creationId xmlns:p14="http://schemas.microsoft.com/office/powerpoint/2010/main" val="213352785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AE75B8-627E-49F8-82E8-E575534D850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F670641B-51E6-431F-A113-0E97C942CC4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D42609-4DDC-42F4-9EF8-B2A514484F6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0A9A6DD0-01A7-42AE-9142-DD2D38247A0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59FAA49E-2562-4480-AC89-764F0887A5D8}"/>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D351A488-5BA7-4C25-AF30-84C8E4C8BB9D}"/>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968CAE3A-5154-4DC7-AAAB-92AB43F7A06C}"/>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190328A4-E5B4-4908-9DC6-0C08FDFB5A60}"/>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再開したら：演習2　水の経路と予防策へ進みます。</a:t>
            </a:r>
          </a:p>
        </p:txBody>
      </p:sp>
    </p:spTree>
    <p:extLst>
      <p:ext uri="{BB962C8B-B14F-4D97-AF65-F5344CB8AC3E}">
        <p14:creationId xmlns:p14="http://schemas.microsoft.com/office/powerpoint/2010/main" val="130799479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6428E0-9967-487E-A4D1-52FE8C56117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　水の経路と予防策</a:t>
            </a:r>
          </a:p>
        </p:txBody>
      </p:sp>
      <p:cxnSp>
        <p:nvCxnSpPr>
          <p:cNvPr id="2" name="">
            <a:extLst xmlns:a="http://schemas.openxmlformats.org/drawingml/2006/main">
              <a:ext uri="{FF2B5EF4-FFF2-40B4-BE49-F238E27FC236}">
                <a16:creationId xmlns:a16="http://schemas.microsoft.com/office/drawing/2014/main" id="{94960C63-4EAF-43B2-A8D0-986518313EE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57B2BDD-F891-4A26-9087-C82559D6498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8D772897-04F0-4F81-8754-F98F474079D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B510A8FF-D4D6-48F5-9E4D-8DA0BB037D65}"/>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教室内の棚と、屋外教材を比較する</a:t>
            </a:r>
          </a:p>
        </p:txBody>
      </p:sp>
      <p:sp>
        <p:nvSpPr>
          <p:cNvPr id="6" name="">
            <a:extLst xmlns:a="http://schemas.openxmlformats.org/drawingml/2006/main">
              <a:ext uri="{FF2B5EF4-FFF2-40B4-BE49-F238E27FC236}">
                <a16:creationId xmlns:a16="http://schemas.microsoft.com/office/drawing/2014/main" id="{23F6FFDE-4959-4025-85E3-34094B566D46}"/>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水が入る・たまる・乾く経路を図示する</a:t>
            </a:r>
          </a:p>
        </p:txBody>
      </p:sp>
      <p:sp>
        <p:nvSpPr>
          <p:cNvPr id="7" name="">
            <a:extLst xmlns:a="http://schemas.openxmlformats.org/drawingml/2006/main">
              <a:ext uri="{FF2B5EF4-FFF2-40B4-BE49-F238E27FC236}">
                <a16:creationId xmlns:a16="http://schemas.microsoft.com/office/drawing/2014/main" id="{4B566E20-C343-4CD6-B7AC-D354FC1D17BB}"/>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使用条件に合わせた予防と点検を提案する</a:t>
            </a:r>
          </a:p>
        </p:txBody>
      </p:sp>
      <p:sp>
        <p:nvSpPr>
          <p:cNvPr id="8" name="">
            <a:extLst xmlns:a="http://schemas.openxmlformats.org/drawingml/2006/main">
              <a:ext uri="{FF2B5EF4-FFF2-40B4-BE49-F238E27FC236}">
                <a16:creationId xmlns:a16="http://schemas.microsoft.com/office/drawing/2014/main" id="{9F381C38-942A-457D-ACC7-993EB2F2F3D9}"/>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「乾いていれば全ての虫害を防げる」も検討</a:t>
            </a:r>
          </a:p>
        </p:txBody>
      </p:sp>
    </p:spTree>
    <p:extLst>
      <p:ext uri="{BB962C8B-B14F-4D97-AF65-F5344CB8AC3E}">
        <p14:creationId xmlns:p14="http://schemas.microsoft.com/office/powerpoint/2010/main" val="98318757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9F86FA-FDCE-4BE4-98C6-E996D11330B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演習2の解説　水の経路と予防策</a:t>
            </a:r>
          </a:p>
        </p:txBody>
      </p:sp>
      <p:cxnSp>
        <p:nvCxnSpPr>
          <p:cNvPr id="2" name="">
            <a:extLst xmlns:a="http://schemas.openxmlformats.org/drawingml/2006/main">
              <a:ext uri="{FF2B5EF4-FFF2-40B4-BE49-F238E27FC236}">
                <a16:creationId xmlns:a16="http://schemas.microsoft.com/office/drawing/2014/main" id="{3457F3FA-E2AC-4236-B85D-0694DE74099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937DC8F-9D52-4EB0-9EB1-D3148E6833C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E2BBCA3D-BB06-4B94-A47C-3AFA6720E07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05D01508-2F3C-4416-940C-F6DB16E6F1C7}"/>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生物の種類で、必要条件は異なる</a:t>
            </a:r>
          </a:p>
        </p:txBody>
      </p:sp>
      <p:sp>
        <p:nvSpPr>
          <p:cNvPr id="6" name="">
            <a:extLst xmlns:a="http://schemas.openxmlformats.org/drawingml/2006/main">
              <a:ext uri="{FF2B5EF4-FFF2-40B4-BE49-F238E27FC236}">
                <a16:creationId xmlns:a16="http://schemas.microsoft.com/office/drawing/2014/main" id="{AC7AB099-9030-4A2C-B61B-1742E88A463D}"/>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乾燥だけで、全ての虫害を保証できない</a:t>
            </a:r>
          </a:p>
        </p:txBody>
      </p:sp>
      <p:sp>
        <p:nvSpPr>
          <p:cNvPr id="7" name="">
            <a:extLst xmlns:a="http://schemas.openxmlformats.org/drawingml/2006/main">
              <a:ext uri="{FF2B5EF4-FFF2-40B4-BE49-F238E27FC236}">
                <a16:creationId xmlns:a16="http://schemas.microsoft.com/office/drawing/2014/main" id="{3F6B1B7D-8D7D-41D1-A63A-F0B805812C9F}"/>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材料、納まり、保守を組み合わせる</a:t>
            </a:r>
          </a:p>
        </p:txBody>
      </p:sp>
    </p:spTree>
    <p:extLst>
      <p:ext uri="{BB962C8B-B14F-4D97-AF65-F5344CB8AC3E}">
        <p14:creationId xmlns:p14="http://schemas.microsoft.com/office/powerpoint/2010/main" val="163601063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EF406D-E370-4ACA-96F3-C13380693A6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改善案を確かめる観察計画</a:t>
            </a:r>
          </a:p>
        </p:txBody>
      </p:sp>
      <p:sp>
        <p:nvSpPr>
          <p:cNvPr id="2" name="">
            <a:extLst xmlns:a="http://schemas.openxmlformats.org/drawingml/2006/main">
              <a:ext uri="{FF2B5EF4-FFF2-40B4-BE49-F238E27FC236}">
                <a16:creationId xmlns:a16="http://schemas.microsoft.com/office/drawing/2014/main" id="{28A554E1-A2CB-43EA-8DDA-109A1A2A60E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39AB6B2-645E-41DF-9DA9-C39E16D6655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FA766CE0-EE84-40D2-989C-9D629F9577D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EE5AE59E-1D8D-4B1B-A73D-C223D302376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問い：接合の形を変えると、水が残る時間は変わるか</a:t>
            </a:r>
          </a:p>
        </p:txBody>
      </p:sp>
      <p:sp>
        <p:nvSpPr>
          <p:cNvPr id="6" name="">
            <a:extLst xmlns:a="http://schemas.openxmlformats.org/drawingml/2006/main">
              <a:ext uri="{FF2B5EF4-FFF2-40B4-BE49-F238E27FC236}">
                <a16:creationId xmlns:a16="http://schemas.microsoft.com/office/drawing/2014/main" id="{EE878A99-D40E-4398-9B58-785156D90352}"/>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変える条件1つ、そろえる条件3つ</a:t>
            </a:r>
          </a:p>
        </p:txBody>
      </p:sp>
      <p:sp>
        <p:nvSpPr>
          <p:cNvPr id="7" name="">
            <a:extLst xmlns:a="http://schemas.openxmlformats.org/drawingml/2006/main">
              <a:ext uri="{FF2B5EF4-FFF2-40B4-BE49-F238E27FC236}">
                <a16:creationId xmlns:a16="http://schemas.microsoft.com/office/drawing/2014/main" id="{AB678A31-8D89-444F-8358-BC60BBE0E9A4}"/>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記録する量と観察間隔・回数</a:t>
            </a:r>
          </a:p>
        </p:txBody>
      </p:sp>
      <p:sp>
        <p:nvSpPr>
          <p:cNvPr id="8" name="">
            <a:extLst xmlns:a="http://schemas.openxmlformats.org/drawingml/2006/main">
              <a:ext uri="{FF2B5EF4-FFF2-40B4-BE49-F238E27FC236}">
                <a16:creationId xmlns:a16="http://schemas.microsoft.com/office/drawing/2014/main" id="{86E38696-D1F2-4D2F-BA83-C50150E1618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この結果だけでは結論できないこと1つ</a:t>
            </a:r>
          </a:p>
        </p:txBody>
      </p:sp>
    </p:spTree>
    <p:extLst>
      <p:ext uri="{BB962C8B-B14F-4D97-AF65-F5344CB8AC3E}">
        <p14:creationId xmlns:p14="http://schemas.microsoft.com/office/powerpoint/2010/main" val="65059818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272900-A278-4AFF-8F36-E756F4AA137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資料の記述と、自分の判断</a:t>
            </a:r>
          </a:p>
        </p:txBody>
      </p:sp>
      <p:sp>
        <p:nvSpPr>
          <p:cNvPr id="2" name="">
            <a:extLst xmlns:a="http://schemas.openxmlformats.org/drawingml/2006/main">
              <a:ext uri="{FF2B5EF4-FFF2-40B4-BE49-F238E27FC236}">
                <a16:creationId xmlns:a16="http://schemas.microsoft.com/office/drawing/2014/main" id="{13739C55-29A6-481E-BEB7-9499384C687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4B407E-825D-44B8-B14D-8A3F25F4CBD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E5EB1413-5A2C-46AB-BED4-2DD8D9F34D7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ECEA3CA6-EB8D-421D-8EB6-5ABC4AEA2F65}"/>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出典：機関・資料名・年・ページ／図・リンク</a:t>
            </a:r>
          </a:p>
        </p:txBody>
      </p:sp>
      <p:sp>
        <p:nvSpPr>
          <p:cNvPr id="6" name="">
            <a:extLst xmlns:a="http://schemas.openxmlformats.org/drawingml/2006/main">
              <a:ext uri="{FF2B5EF4-FFF2-40B4-BE49-F238E27FC236}">
                <a16:creationId xmlns:a16="http://schemas.microsoft.com/office/drawing/2014/main" id="{8D10381A-F96D-4CAE-B525-791652BA18B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資料が示す対象と条件を、短く要約する</a:t>
            </a:r>
          </a:p>
        </p:txBody>
      </p:sp>
      <p:sp>
        <p:nvSpPr>
          <p:cNvPr id="7" name="">
            <a:extLst xmlns:a="http://schemas.openxmlformats.org/drawingml/2006/main">
              <a:ext uri="{FF2B5EF4-FFF2-40B4-BE49-F238E27FC236}">
                <a16:creationId xmlns:a16="http://schemas.microsoft.com/office/drawing/2014/main" id="{BBFFFD38-E449-4B77-95E6-B8F090F944A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今回の製品へ適用できる範囲を説明する</a:t>
            </a:r>
          </a:p>
        </p:txBody>
      </p:sp>
      <p:sp>
        <p:nvSpPr>
          <p:cNvPr id="8" name="">
            <a:extLst xmlns:a="http://schemas.openxmlformats.org/drawingml/2006/main">
              <a:ext uri="{FF2B5EF4-FFF2-40B4-BE49-F238E27FC236}">
                <a16:creationId xmlns:a16="http://schemas.microsoft.com/office/drawing/2014/main" id="{663F9273-BAF1-4B6F-8857-37CE8530A7C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写真か靱性の例で「出典の記述／自分の判断」を書く</a:t>
            </a:r>
          </a:p>
        </p:txBody>
      </p:sp>
    </p:spTree>
    <p:extLst>
      <p:ext uri="{BB962C8B-B14F-4D97-AF65-F5344CB8AC3E}">
        <p14:creationId xmlns:p14="http://schemas.microsoft.com/office/powerpoint/2010/main" val="22216621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D3D51D-A2B2-4196-A9B6-63DD24B3E26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屋外教材台の改善案</a:t>
            </a:r>
          </a:p>
        </p:txBody>
      </p:sp>
      <p:cxnSp>
        <p:nvCxnSpPr>
          <p:cNvPr id="2" name="">
            <a:extLst xmlns:a="http://schemas.openxmlformats.org/drawingml/2006/main">
              <a:ext uri="{FF2B5EF4-FFF2-40B4-BE49-F238E27FC236}">
                <a16:creationId xmlns:a16="http://schemas.microsoft.com/office/drawing/2014/main" id="{1B2D6056-9B08-407E-87BC-7F113975AB8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24A5C4D7-F3DF-4064-ABBD-A3D1E92AAEF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EA619C48-3F0B-422F-B1EE-885A4B53249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D85672A1-1E19-4507-8CC0-A09024077BE4}"/>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写真で、水の入口・たまり場・乾く経路を示す</a:t>
            </a:r>
          </a:p>
        </p:txBody>
      </p:sp>
      <p:sp>
        <p:nvSpPr>
          <p:cNvPr id="6" name="">
            <a:extLst xmlns:a="http://schemas.openxmlformats.org/drawingml/2006/main">
              <a:ext uri="{FF2B5EF4-FFF2-40B4-BE49-F238E27FC236}">
                <a16:creationId xmlns:a16="http://schemas.microsoft.com/office/drawing/2014/main" id="{FE5DEA14-AA0A-470F-8E5B-170803989045}"/>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腐朽・カビ・虫害の候補を、観察記録と対応させる</a:t>
            </a:r>
          </a:p>
        </p:txBody>
      </p:sp>
      <p:sp>
        <p:nvSpPr>
          <p:cNvPr id="7" name="">
            <a:extLst xmlns:a="http://schemas.openxmlformats.org/drawingml/2006/main">
              <a:ext uri="{FF2B5EF4-FFF2-40B4-BE49-F238E27FC236}">
                <a16:creationId xmlns:a16="http://schemas.microsoft.com/office/drawing/2014/main" id="{5F76853A-FC0C-472E-B017-A1B7700D2715}"/>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排水や接合形状の変更、点検・交換の箇所を提案する</a:t>
            </a:r>
          </a:p>
        </p:txBody>
      </p:sp>
      <p:sp>
        <p:nvSpPr>
          <p:cNvPr id="8" name="">
            <a:extLst xmlns:a="http://schemas.openxmlformats.org/drawingml/2006/main">
              <a:ext uri="{FF2B5EF4-FFF2-40B4-BE49-F238E27FC236}">
                <a16:creationId xmlns:a16="http://schemas.microsoft.com/office/drawing/2014/main" id="{29D29ECD-682E-4792-89BB-15D3AC03EEB9}"/>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発問：同じ木材でも、置き方で劣化の進み方が変わるのはなぜか</a:t>
            </a:r>
          </a:p>
        </p:txBody>
      </p:sp>
      <p:sp>
        <p:nvSpPr>
          <p:cNvPr id="9" name="">
            <a:extLst xmlns:a="http://schemas.openxmlformats.org/drawingml/2006/main">
              <a:ext uri="{FF2B5EF4-FFF2-40B4-BE49-F238E27FC236}">
                <a16:creationId xmlns:a16="http://schemas.microsoft.com/office/drawing/2014/main" id="{4BD881EA-9424-458B-AFBB-BCFCB81F73DA}"/>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教科書の接点：耐久性・保守・屋外利用／A(1)ア／A(3)ア・イ</a:t>
            </a:r>
          </a:p>
        </p:txBody>
      </p:sp>
    </p:spTree>
    <p:extLst>
      <p:ext uri="{BB962C8B-B14F-4D97-AF65-F5344CB8AC3E}">
        <p14:creationId xmlns:p14="http://schemas.microsoft.com/office/powerpoint/2010/main" val="85886232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052997-C4AB-454A-A7ED-2D536759A71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中学生へ伝える10分間</a:t>
            </a:r>
          </a:p>
        </p:txBody>
      </p:sp>
      <p:sp>
        <p:nvSpPr>
          <p:cNvPr id="2" name="">
            <a:extLst xmlns:a="http://schemas.openxmlformats.org/drawingml/2006/main">
              <a:ext uri="{FF2B5EF4-FFF2-40B4-BE49-F238E27FC236}">
                <a16:creationId xmlns:a16="http://schemas.microsoft.com/office/drawing/2014/main" id="{186A80D2-9E6B-4C0E-8098-C5BCD83AA57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C69985-795F-4CF1-B469-7B9A08B2323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E614B6CA-57C7-4B84-9CB7-1A7646F148A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graphicFrame>
        <p:nvGraphicFramePr>
          <p:cNvPr id="5" name="">
            <a:extLst xmlns:a="http://schemas.openxmlformats.org/drawingml/2006/main">
              <a:ext uri="{FF2B5EF4-FFF2-40B4-BE49-F238E27FC236}">
                <a16:creationId xmlns:a16="http://schemas.microsoft.com/office/drawing/2014/main" id="{505FDD69-0975-4F06-A421-9B6BFF986C84}"/>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時間配分</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学習活動</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残すもの</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2分＋2分</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観察、水の経路</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事実の記録と図</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3分＋2分</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改善案、根拠の交流</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対策と理由</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1分</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説明の修正</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最初との違い</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4E27B849-A0EE-49C6-8A9E-2705D7FC4FF4}"/>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自分の発問・提出物・確認基準を一つずつ作る。</a:t>
            </a:r>
          </a:p>
        </p:txBody>
      </p:sp>
    </p:spTree>
    <p:extLst>
      <p:ext uri="{BB962C8B-B14F-4D97-AF65-F5344CB8AC3E}">
        <p14:creationId xmlns:p14="http://schemas.microsoft.com/office/powerpoint/2010/main" val="70609971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92E827-0C4E-4789-A79B-D6510A43A83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生徒の説明へ、次の問いを返す</a:t>
            </a:r>
          </a:p>
        </p:txBody>
      </p:sp>
      <p:sp>
        <p:nvSpPr>
          <p:cNvPr id="2" name="">
            <a:extLst xmlns:a="http://schemas.openxmlformats.org/drawingml/2006/main">
              <a:ext uri="{FF2B5EF4-FFF2-40B4-BE49-F238E27FC236}">
                <a16:creationId xmlns:a16="http://schemas.microsoft.com/office/drawing/2014/main" id="{A980977F-2A4F-4C8C-BC71-DAC52C48662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85E615A-5A96-459C-8576-8403474B1F4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000EA1B9-0440-4243-A2DE-AAF0D2F6FDA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4B7CFC17-D972-44B0-8091-E232E47102A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「カビの色があるから、全体の強度はもうない」</a:t>
            </a:r>
          </a:p>
        </p:txBody>
      </p:sp>
      <p:sp>
        <p:nvSpPr>
          <p:cNvPr id="6" name="">
            <a:extLst xmlns:a="http://schemas.openxmlformats.org/drawingml/2006/main">
              <a:ext uri="{FF2B5EF4-FFF2-40B4-BE49-F238E27FC236}">
                <a16:creationId xmlns:a16="http://schemas.microsoft.com/office/drawing/2014/main" id="{D24EF9F2-45EB-4666-B5AF-EB9B4391C56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「一度塗装すれば、どんな屋外でも保守はいらない」</a:t>
            </a:r>
          </a:p>
        </p:txBody>
      </p:sp>
      <p:sp>
        <p:nvSpPr>
          <p:cNvPr id="7" name="">
            <a:extLst xmlns:a="http://schemas.openxmlformats.org/drawingml/2006/main">
              <a:ext uri="{FF2B5EF4-FFF2-40B4-BE49-F238E27FC236}">
                <a16:creationId xmlns:a16="http://schemas.microsoft.com/office/drawing/2014/main" id="{23ADC9A8-4DFE-4219-8FE4-D5882E77C8F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「十分に乾かせば、全ての虫害は起きない」</a:t>
            </a:r>
          </a:p>
        </p:txBody>
      </p:sp>
      <p:sp>
        <p:nvSpPr>
          <p:cNvPr id="8" name="">
            <a:extLst xmlns:a="http://schemas.openxmlformats.org/drawingml/2006/main">
              <a:ext uri="{FF2B5EF4-FFF2-40B4-BE49-F238E27FC236}">
                <a16:creationId xmlns:a16="http://schemas.microsoft.com/office/drawing/2014/main" id="{2077F0CA-8418-41FF-AAC2-2EE50C0943B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各文の飛躍を示し、確かめる条件を添えて修正する</a:t>
            </a:r>
          </a:p>
        </p:txBody>
      </p:sp>
    </p:spTree>
    <p:extLst>
      <p:ext uri="{BB962C8B-B14F-4D97-AF65-F5344CB8AC3E}">
        <p14:creationId xmlns:p14="http://schemas.microsoft.com/office/powerpoint/2010/main" val="16478083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76A505-0DF1-4B7E-B0CE-0D37D3CD3BF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725AC404-3527-4C31-884F-64CEBFD1A44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BA79EC-577C-4AFF-AA91-F4236FF1676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3D5F6D3C-6817-43AD-A51D-DB050A151D5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73ABE5A2-466A-4AD6-81A3-AE6BF2E26FA9}"/>
              </a:ext>
            </a:extLst>
          </p:cNvPr>
          <p:cNvSpPr>
            <a:spLocks xmlns:a="http://schemas.openxmlformats.org/drawingml/2006/main" noGrp="1"/>
          </p:cNvSpPr>
          <p:nvPr/>
        </p:nvSpPr>
        <p:spPr>
          <a:xfrm xmlns:a="http://schemas.openxmlformats.org/drawingml/2006/main">
            <a:off x="838200" y="16764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81DCC00D-4748-411B-869A-20D2C300385B}"/>
              </a:ext>
            </a:extLst>
          </p:cNvPr>
          <p:cNvSpPr>
            <a:spLocks xmlns:a="http://schemas.openxmlformats.org/drawingml/2006/main" noGrp="1"/>
          </p:cNvSpPr>
          <p:nvPr/>
        </p:nvSpPr>
        <p:spPr>
          <a:xfrm xmlns:a="http://schemas.openxmlformats.org/drawingml/2006/main">
            <a:off x="838200" y="2686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23801B0F-121B-458E-86A8-4D457437AF3B}"/>
              </a:ext>
            </a:extLst>
          </p:cNvPr>
          <p:cNvSpPr>
            <a:spLocks xmlns:a="http://schemas.openxmlformats.org/drawingml/2006/main" noGrp="1"/>
          </p:cNvSpPr>
          <p:nvPr/>
        </p:nvSpPr>
        <p:spPr>
          <a:xfrm xmlns:a="http://schemas.openxmlformats.org/drawingml/2006/main">
            <a:off x="838200" y="36957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BD9B6FFF-0BE3-4F3B-AF0B-5C74CF41F21A}"/>
              </a:ext>
            </a:extLst>
          </p:cNvPr>
          <p:cNvSpPr>
            <a:spLocks xmlns:a="http://schemas.openxmlformats.org/drawingml/2006/main" noGrp="1"/>
          </p:cNvSpPr>
          <p:nvPr/>
        </p:nvSpPr>
        <p:spPr>
          <a:xfrm xmlns:a="http://schemas.openxmlformats.org/drawingml/2006/main">
            <a:off x="838200" y="4705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密度・水・寸法・生物を結び付けるへ進みます。</a:t>
            </a:r>
          </a:p>
        </p:txBody>
      </p:sp>
    </p:spTree>
    <p:extLst>
      <p:ext uri="{BB962C8B-B14F-4D97-AF65-F5344CB8AC3E}">
        <p14:creationId xmlns:p14="http://schemas.microsoft.com/office/powerpoint/2010/main" val="1816172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5E5D2C-FEC8-4AB8-B2B0-DEBDA769C6E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密度・水・寸法・生物を結び付ける</a:t>
            </a:r>
          </a:p>
        </p:txBody>
      </p:sp>
      <p:sp>
        <p:nvSpPr>
          <p:cNvPr id="2" name="">
            <a:extLst xmlns:a="http://schemas.openxmlformats.org/drawingml/2006/main">
              <a:ext uri="{FF2B5EF4-FFF2-40B4-BE49-F238E27FC236}">
                <a16:creationId xmlns:a16="http://schemas.microsoft.com/office/drawing/2014/main" id="{D0D448D4-508E-4050-BECB-11AE432EBEE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4F5EDC-D533-4A27-AD9C-FD5844BD80B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52E8DEF6-8E6C-4A95-942F-A2A23F0F149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D7ECCE83-A84C-4809-987A-8382D29D87B4}"/>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第7回：密度・比重の基準状態</a:t>
            </a:r>
          </a:p>
        </p:txBody>
      </p:sp>
      <p:sp>
        <p:nvSpPr>
          <p:cNvPr id="6" name="">
            <a:extLst xmlns:a="http://schemas.openxmlformats.org/drawingml/2006/main">
              <a:ext uri="{FF2B5EF4-FFF2-40B4-BE49-F238E27FC236}">
                <a16:creationId xmlns:a16="http://schemas.microsoft.com/office/drawing/2014/main" id="{BA0E8010-27A6-4178-B10F-12917CAA2A58}"/>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第8回：水の質量、含水率の分母、水の所在</a:t>
            </a:r>
          </a:p>
        </p:txBody>
      </p:sp>
      <p:sp>
        <p:nvSpPr>
          <p:cNvPr id="7" name="">
            <a:extLst xmlns:a="http://schemas.openxmlformats.org/drawingml/2006/main">
              <a:ext uri="{FF2B5EF4-FFF2-40B4-BE49-F238E27FC236}">
                <a16:creationId xmlns:a16="http://schemas.microsoft.com/office/drawing/2014/main" id="{12F42331-C111-4D62-93DF-BD328E5182AC}"/>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第9回：方向別の寸法変化、拘束と接合</a:t>
            </a:r>
          </a:p>
        </p:txBody>
      </p:sp>
      <p:sp>
        <p:nvSpPr>
          <p:cNvPr id="8" name="">
            <a:extLst xmlns:a="http://schemas.openxmlformats.org/drawingml/2006/main">
              <a:ext uri="{FF2B5EF4-FFF2-40B4-BE49-F238E27FC236}">
                <a16:creationId xmlns:a16="http://schemas.microsoft.com/office/drawing/2014/main" id="{09E4E7A7-8132-410B-A1AB-AEBD4E099C2E}"/>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第10回：生物・環境・時間、予防と保守</a:t>
            </a:r>
          </a:p>
        </p:txBody>
      </p:sp>
    </p:spTree>
    <p:extLst>
      <p:ext uri="{BB962C8B-B14F-4D97-AF65-F5344CB8AC3E}">
        <p14:creationId xmlns:p14="http://schemas.microsoft.com/office/powerpoint/2010/main" val="5692002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816AF4-7B23-4650-A2A3-779C0B248F5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C36ACFA0-F4F9-4594-A5AA-7FA40C6D06B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A1350558-9BCF-4A8E-B319-E9761B4C4F5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CB6F2BF1-7512-4276-9DF3-F12FBDFBE1E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B1649173-CF73-4F17-8CD9-B92BD41AAD8B}"/>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カビの色だけで、強度低下が分かるか</a:t>
            </a:r>
          </a:p>
        </p:txBody>
      </p:sp>
      <p:sp>
        <p:nvSpPr>
          <p:cNvPr id="6" name="">
            <a:extLst xmlns:a="http://schemas.openxmlformats.org/drawingml/2006/main">
              <a:ext uri="{FF2B5EF4-FFF2-40B4-BE49-F238E27FC236}">
                <a16:creationId xmlns:a16="http://schemas.microsoft.com/office/drawing/2014/main" id="{E98AB158-7277-4F0B-A28C-5620735FCA77}"/>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水がたまる接合部で、改善できることは？</a:t>
            </a:r>
          </a:p>
        </p:txBody>
      </p:sp>
      <p:sp>
        <p:nvSpPr>
          <p:cNvPr id="7" name="">
            <a:extLst xmlns:a="http://schemas.openxmlformats.org/drawingml/2006/main">
              <a:ext uri="{FF2B5EF4-FFF2-40B4-BE49-F238E27FC236}">
                <a16:creationId xmlns:a16="http://schemas.microsoft.com/office/drawing/2014/main" id="{A0B49660-0800-4CB2-BD05-0C5568EDACAA}"/>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生物劣化と、自然界の分解の関係は？</a:t>
            </a:r>
          </a:p>
        </p:txBody>
      </p:sp>
    </p:spTree>
    <p:extLst>
      <p:ext uri="{BB962C8B-B14F-4D97-AF65-F5344CB8AC3E}">
        <p14:creationId xmlns:p14="http://schemas.microsoft.com/office/powerpoint/2010/main" val="35856952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21662A-BF91-4CD2-A7D2-8E36C5A9E22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課題A3と復習の整理</a:t>
            </a:r>
          </a:p>
        </p:txBody>
      </p:sp>
      <p:cxnSp>
        <p:nvCxnSpPr>
          <p:cNvPr id="2" name="">
            <a:extLst xmlns:a="http://schemas.openxmlformats.org/drawingml/2006/main">
              <a:ext uri="{FF2B5EF4-FFF2-40B4-BE49-F238E27FC236}">
                <a16:creationId xmlns:a16="http://schemas.microsoft.com/office/drawing/2014/main" id="{6B85AD02-64DF-4C67-A5A1-273853DCB66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8F149F3-E934-4D87-BA66-A6A0D079933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0368252D-3C27-41F1-85AD-985A7977255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
        <p:nvSpPr>
          <p:cNvPr id="5" name="">
            <a:extLst xmlns:a="http://schemas.openxmlformats.org/drawingml/2006/main">
              <a:ext uri="{FF2B5EF4-FFF2-40B4-BE49-F238E27FC236}">
                <a16:creationId xmlns:a16="http://schemas.microsoft.com/office/drawing/2014/main" id="{D7FCC3DA-825A-4BA3-9853-6902EEAE0ED9}"/>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今回までのまとまりを、課題A3「密度と水と劣化」で整理する</a:t>
            </a:r>
          </a:p>
        </p:txBody>
      </p:sp>
      <p:sp>
        <p:nvSpPr>
          <p:cNvPr id="6" name="">
            <a:extLst xmlns:a="http://schemas.openxmlformats.org/drawingml/2006/main">
              <a:ext uri="{FF2B5EF4-FFF2-40B4-BE49-F238E27FC236}">
                <a16:creationId xmlns:a16="http://schemas.microsoft.com/office/drawing/2014/main" id="{A7E16AA0-DC56-406C-812E-FDAAD920CD67}"/>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講義資料と文献を参照し、回答IDごとに記入する</a:t>
            </a:r>
          </a:p>
        </p:txBody>
      </p:sp>
      <p:sp>
        <p:nvSpPr>
          <p:cNvPr id="7" name="">
            <a:extLst xmlns:a="http://schemas.openxmlformats.org/drawingml/2006/main">
              <a:ext uri="{FF2B5EF4-FFF2-40B4-BE49-F238E27FC236}">
                <a16:creationId xmlns:a16="http://schemas.microsoft.com/office/drawing/2014/main" id="{E9E74122-1205-4603-ACE6-EE3A3A7D1B9D}"/>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基本70点・発展30点。途中式、単位、根拠を残す</a:t>
            </a:r>
          </a:p>
        </p:txBody>
      </p:sp>
      <p:sp>
        <p:nvSpPr>
          <p:cNvPr id="8" name="">
            <a:extLst xmlns:a="http://schemas.openxmlformats.org/drawingml/2006/main">
              <a:ext uri="{FF2B5EF4-FFF2-40B4-BE49-F238E27FC236}">
                <a16:creationId xmlns:a16="http://schemas.microsoft.com/office/drawing/2014/main" id="{C1E967A8-D764-4D06-B0F7-BA07EB1DDA5A}"/>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調べ学習では、出典の該当箇所と自分の判断を分けて記す</a:t>
            </a:r>
          </a:p>
        </p:txBody>
      </p:sp>
    </p:spTree>
    <p:extLst>
      <p:ext uri="{BB962C8B-B14F-4D97-AF65-F5344CB8AC3E}">
        <p14:creationId xmlns:p14="http://schemas.microsoft.com/office/powerpoint/2010/main" val="109589147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5DDFD8-5C3A-4FBC-A144-EF0CA17AC68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課題A3：資料を見直す順序</a:t>
            </a:r>
          </a:p>
        </p:txBody>
      </p:sp>
      <p:sp>
        <p:nvSpPr>
          <p:cNvPr id="2" name="">
            <a:extLst xmlns:a="http://schemas.openxmlformats.org/drawingml/2006/main">
              <a:ext uri="{FF2B5EF4-FFF2-40B4-BE49-F238E27FC236}">
                <a16:creationId xmlns:a16="http://schemas.microsoft.com/office/drawing/2014/main" id="{5C0BF8B3-C2EB-4CF8-8CDF-8731C4A34AC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C1B47D-2479-4CF8-9E7C-B269987BDA8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F1FA073B-72CA-4F4D-AC38-5588E4C6FB0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36</a:t>
            </a:r>
          </a:p>
        </p:txBody>
      </p:sp>
      <p:sp>
        <p:nvSpPr>
          <p:cNvPr id="5" name="">
            <a:extLst xmlns:a="http://schemas.openxmlformats.org/drawingml/2006/main">
              <a:ext uri="{FF2B5EF4-FFF2-40B4-BE49-F238E27FC236}">
                <a16:creationId xmlns:a16="http://schemas.microsoft.com/office/drawing/2014/main" id="{9792FA40-CD10-482E-89A5-4601BD10FC8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密度・比重：質量／体積の基準状態</a:t>
            </a:r>
          </a:p>
        </p:txBody>
      </p:sp>
      <p:sp>
        <p:nvSpPr>
          <p:cNvPr id="6" name="">
            <a:extLst xmlns:a="http://schemas.openxmlformats.org/drawingml/2006/main">
              <a:ext uri="{FF2B5EF4-FFF2-40B4-BE49-F238E27FC236}">
                <a16:creationId xmlns:a16="http://schemas.microsoft.com/office/drawing/2014/main" id="{5293E944-F359-4A77-AC4E-34B6A51D1F4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含水率：水の質量を取り出し、分母を明示</a:t>
            </a:r>
          </a:p>
        </p:txBody>
      </p:sp>
      <p:sp>
        <p:nvSpPr>
          <p:cNvPr id="7" name="">
            <a:extLst xmlns:a="http://schemas.openxmlformats.org/drawingml/2006/main">
              <a:ext uri="{FF2B5EF4-FFF2-40B4-BE49-F238E27FC236}">
                <a16:creationId xmlns:a16="http://schemas.microsoft.com/office/drawing/2014/main" id="{557FC532-AAA2-44BF-820F-DBF71CB4668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寸法・劣化：方向・条件・観察・根拠を対応させる</a:t>
            </a:r>
          </a:p>
        </p:txBody>
      </p:sp>
      <p:sp>
        <p:nvSpPr>
          <p:cNvPr id="8" name="">
            <a:extLst xmlns:a="http://schemas.openxmlformats.org/drawingml/2006/main">
              <a:ext uri="{FF2B5EF4-FFF2-40B4-BE49-F238E27FC236}">
                <a16:creationId xmlns:a16="http://schemas.microsoft.com/office/drawing/2014/main" id="{268D5598-ED73-4C13-B247-23B90C769502}"/>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教育の提案：生徒の活動と、理解の確認方法を具体化</a:t>
            </a:r>
          </a:p>
        </p:txBody>
      </p:sp>
    </p:spTree>
    <p:extLst>
      <p:ext uri="{BB962C8B-B14F-4D97-AF65-F5344CB8AC3E}">
        <p14:creationId xmlns:p14="http://schemas.microsoft.com/office/powerpoint/2010/main" val="107817691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4F9D47-E273-4AF7-8285-169D4F18E1B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8227EA94-FDD7-4303-A614-E0C9BBE7C5E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8F29967-229A-4FAA-9114-BAD0053705F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第10回</a:t>
            </a:r>
          </a:p>
        </p:txBody>
      </p:sp>
      <p:sp>
        <p:nvSpPr>
          <p:cNvPr id="4" name="">
            <a:extLst xmlns:a="http://schemas.openxmlformats.org/drawingml/2006/main">
              <a:ext uri="{FF2B5EF4-FFF2-40B4-BE49-F238E27FC236}">
                <a16:creationId xmlns:a16="http://schemas.microsoft.com/office/drawing/2014/main" id="{44A73544-BE6A-47F9-A331-9E76E0C53FC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37</a:t>
            </a:r>
          </a:p>
        </p:txBody>
      </p:sp>
      <p:sp>
        <p:nvSpPr>
          <p:cNvPr id="5" name="">
            <a:extLst xmlns:a="http://schemas.openxmlformats.org/drawingml/2006/main">
              <a:ext uri="{FF2B5EF4-FFF2-40B4-BE49-F238E27FC236}">
                <a16:creationId xmlns:a16="http://schemas.microsoft.com/office/drawing/2014/main" id="{CFE2A31F-4AC8-49CD-A8A2-6EDF5E2B65BF}"/>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生物・環境・時間をそろえて劣化を考える</a:t>
            </a:r>
          </a:p>
        </p:txBody>
      </p:sp>
      <p:sp>
        <p:nvSpPr>
          <p:cNvPr id="6" name="">
            <a:extLst xmlns:a="http://schemas.openxmlformats.org/drawingml/2006/main">
              <a:ext uri="{FF2B5EF4-FFF2-40B4-BE49-F238E27FC236}">
                <a16:creationId xmlns:a16="http://schemas.microsoft.com/office/drawing/2014/main" id="{944A4AB9-A399-4C7E-B561-6BBD35957F75}"/>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水の経路と点検が、利用条件の検討につながる</a:t>
            </a:r>
          </a:p>
        </p:txBody>
      </p:sp>
      <p:sp>
        <p:nvSpPr>
          <p:cNvPr id="7" name="">
            <a:extLst xmlns:a="http://schemas.openxmlformats.org/drawingml/2006/main">
              <a:ext uri="{FF2B5EF4-FFF2-40B4-BE49-F238E27FC236}">
                <a16:creationId xmlns:a16="http://schemas.microsoft.com/office/drawing/2014/main" id="{AEE6A0F5-07E2-4D0F-ABBC-2C98F12DB76A}"/>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次は、木材を組み直す木質材料へ進む</a:t>
            </a:r>
          </a:p>
        </p:txBody>
      </p:sp>
    </p:spTree>
    <p:extLst>
      <p:ext uri="{BB962C8B-B14F-4D97-AF65-F5344CB8AC3E}">
        <p14:creationId xmlns:p14="http://schemas.microsoft.com/office/powerpoint/2010/main" val="168416825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0C5EC6C-A58B-443F-ACB9-7BE8EC06F5D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97D827E6-2E29-4974-9709-7E595B6E455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BC14647-AC71-40B2-ABF8-7A25D5E8C72C}"/>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第14章 </a:t>
            </a:r>
          </a:p>
        </p:txBody>
      </p:sp>
      <p:sp>
        <p:nvSpPr>
          <p:cNvPr id="4" name="">
            <a:extLst xmlns:a="http://schemas.openxmlformats.org/drawingml/2006/main">
              <a:ext uri="{FF2B5EF4-FFF2-40B4-BE49-F238E27FC236}">
                <a16:creationId xmlns:a16="http://schemas.microsoft.com/office/drawing/2014/main" id="{A08016A9-ED26-46A0-B42C-A4514308E1EA}"/>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https://research.fs.usda.gov/treesearch/62262</a:t>
            </a:r>
          </a:p>
        </p:txBody>
      </p:sp>
      <p:sp>
        <p:nvSpPr>
          <p:cNvPr id="5" name="">
            <a:extLst xmlns:a="http://schemas.openxmlformats.org/drawingml/2006/main">
              <a:ext uri="{FF2B5EF4-FFF2-40B4-BE49-F238E27FC236}">
                <a16:creationId xmlns:a16="http://schemas.microsoft.com/office/drawing/2014/main" id="{C0A3CA38-F757-4C39-8A00-0A562A2A49EA}"/>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第15章 </a:t>
            </a:r>
          </a:p>
        </p:txBody>
      </p:sp>
      <p:sp>
        <p:nvSpPr>
          <p:cNvPr id="6" name="">
            <a:extLst xmlns:a="http://schemas.openxmlformats.org/drawingml/2006/main">
              <a:ext uri="{FF2B5EF4-FFF2-40B4-BE49-F238E27FC236}">
                <a16:creationId xmlns:a16="http://schemas.microsoft.com/office/drawing/2014/main" id="{BC60106D-D50F-4F1B-96D8-A992391CFC18}"/>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https://research.fs.usda.gov/treesearch/62259</a:t>
            </a:r>
          </a:p>
        </p:txBody>
      </p:sp>
      <p:sp>
        <p:nvSpPr>
          <p:cNvPr id="7" name="">
            <a:extLst xmlns:a="http://schemas.openxmlformats.org/drawingml/2006/main">
              <a:ext uri="{FF2B5EF4-FFF2-40B4-BE49-F238E27FC236}">
                <a16:creationId xmlns:a16="http://schemas.microsoft.com/office/drawing/2014/main" id="{96165EB5-688E-45AE-B01D-645DB80B3315}"/>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8" name="">
            <a:extLst xmlns:a="http://schemas.openxmlformats.org/drawingml/2006/main">
              <a:ext uri="{FF2B5EF4-FFF2-40B4-BE49-F238E27FC236}">
                <a16:creationId xmlns:a16="http://schemas.microsoft.com/office/drawing/2014/main" id="{1B0F47BA-A7F5-4C97-9749-AB576C8039A0}"/>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9" name="">
            <a:extLst xmlns:a="http://schemas.openxmlformats.org/drawingml/2006/main">
              <a:ext uri="{FF2B5EF4-FFF2-40B4-BE49-F238E27FC236}">
                <a16:creationId xmlns:a16="http://schemas.microsoft.com/office/drawing/2014/main" id="{EC375DC4-4162-48FF-8BFC-743CC7D49CE6}"/>
              </a:ext>
            </a:extLst>
          </p:cNvPr>
          <p:cNvSpPr>
            <a:spLocks xmlns:a="http://schemas.openxmlformats.org/drawingml/2006/main" noGrp="1"/>
          </p:cNvSpPr>
          <p:nvPr/>
        </p:nvSpPr>
        <p:spPr>
          <a:xfrm xmlns:a="http://schemas.openxmlformats.org/drawingml/2006/main">
            <a:off x="685800" y="4591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開隆堂 R7評価規準例 PDF1頁</a:t>
            </a:r>
          </a:p>
        </p:txBody>
      </p:sp>
      <p:sp>
        <p:nvSpPr>
          <p:cNvPr id="10" name="">
            <a:extLst xmlns:a="http://schemas.openxmlformats.org/drawingml/2006/main">
              <a:ext uri="{FF2B5EF4-FFF2-40B4-BE49-F238E27FC236}">
                <a16:creationId xmlns:a16="http://schemas.microsoft.com/office/drawing/2014/main" id="{D2AA58D1-A8DD-45AB-B634-33950D5C5675}"/>
              </a:ext>
            </a:extLst>
          </p:cNvPr>
          <p:cNvSpPr>
            <a:spLocks xmlns:a="http://schemas.openxmlformats.org/drawingml/2006/main" noGrp="1"/>
          </p:cNvSpPr>
          <p:nvPr/>
        </p:nvSpPr>
        <p:spPr>
          <a:xfrm xmlns:a="http://schemas.openxmlformats.org/drawingml/2006/main">
            <a:off x="685800" y="50006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https://www.kairyudo.co.jp/contents/04_shiryo/nenkei/chu/data/r7chu-gi_hyokakijun.pdf</a:t>
            </a:r>
          </a:p>
        </p:txBody>
      </p:sp>
      <p:sp>
        <p:nvSpPr>
          <p:cNvPr id="11" name="">
            <a:extLst xmlns:a="http://schemas.openxmlformats.org/drawingml/2006/main">
              <a:ext uri="{FF2B5EF4-FFF2-40B4-BE49-F238E27FC236}">
                <a16:creationId xmlns:a16="http://schemas.microsoft.com/office/drawing/2014/main" id="{0DDD2341-542C-4473-B33D-ABA81E1088A9}"/>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2" name="">
            <a:extLst xmlns:a="http://schemas.openxmlformats.org/drawingml/2006/main">
              <a:ext uri="{FF2B5EF4-FFF2-40B4-BE49-F238E27FC236}">
                <a16:creationId xmlns:a16="http://schemas.microsoft.com/office/drawing/2014/main" id="{3BC5BCD1-ED4A-4A13-9B87-A524870CF1D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第10回</a:t>
            </a:r>
          </a:p>
        </p:txBody>
      </p:sp>
      <p:sp>
        <p:nvSpPr>
          <p:cNvPr id="13" name="">
            <a:extLst xmlns:a="http://schemas.openxmlformats.org/drawingml/2006/main">
              <a:ext uri="{FF2B5EF4-FFF2-40B4-BE49-F238E27FC236}">
                <a16:creationId xmlns:a16="http://schemas.microsoft.com/office/drawing/2014/main" id="{C0EC14B5-52B8-4FD3-B9D8-1FCFF6E7889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38</a:t>
            </a:r>
          </a:p>
        </p:txBody>
      </p:sp>
    </p:spTree>
    <p:extLst>
      <p:ext uri="{BB962C8B-B14F-4D97-AF65-F5344CB8AC3E}">
        <p14:creationId xmlns:p14="http://schemas.microsoft.com/office/powerpoint/2010/main" val="46816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2026-10-27T22:55:07.2880000Z</dcterms:created>
  <dcterms:modified xsi:type="dcterms:W3CDTF">2026-10-27T22:55:07.2880000Z</dcterms:modified>
</coreProperties>
</file>