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1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06213d33d4460d" /><Relationship Type="http://schemas.openxmlformats.org/officeDocument/2006/relationships/extended-properties" Target="/docProps/app.xml" Id="R36badf262e764b5a" /><Relationship Type="http://schemas.openxmlformats.org/officeDocument/2006/relationships/officeDocument" Target="/ppt/presentation.xml" Id="Rb173d2b2a7af42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427e601dc746bd"/>
    <p:sldMasterId xmlns:r="http://schemas.openxmlformats.org/officeDocument/2006/relationships" id="2147483655" r:id="R69f77bfb30374d61"/>
  </p:sldMasterIdLst>
  <p:notesMasterIdLst>
    <p:notesMasterId xmlns:r="http://schemas.openxmlformats.org/officeDocument/2006/relationships" r:id="R4139ba17455d4556"/>
  </p:notesMasterIdLst>
  <p:sldIdLst>
    <p:sldId xmlns:r="http://schemas.openxmlformats.org/officeDocument/2006/relationships" id="256" r:id="Rc34f2b3d84824ae6"/>
    <p:sldId xmlns:r="http://schemas.openxmlformats.org/officeDocument/2006/relationships" id="257" r:id="R1de56f08f77745e4"/>
    <p:sldId xmlns:r="http://schemas.openxmlformats.org/officeDocument/2006/relationships" id="258" r:id="R429dc4e76bc6493c"/>
    <p:sldId xmlns:r="http://schemas.openxmlformats.org/officeDocument/2006/relationships" id="259" r:id="R8f64ccb3f45e4701"/>
    <p:sldId xmlns:r="http://schemas.openxmlformats.org/officeDocument/2006/relationships" id="260" r:id="R17665d4e155b4466"/>
    <p:sldId xmlns:r="http://schemas.openxmlformats.org/officeDocument/2006/relationships" id="261" r:id="R6bd7d9a6c4ca496a"/>
    <p:sldId xmlns:r="http://schemas.openxmlformats.org/officeDocument/2006/relationships" id="262" r:id="R927a6c1ba30848b0"/>
    <p:sldId xmlns:r="http://schemas.openxmlformats.org/officeDocument/2006/relationships" id="263" r:id="R35b6280df83a4a3e"/>
    <p:sldId xmlns:r="http://schemas.openxmlformats.org/officeDocument/2006/relationships" id="264" r:id="R298eb790b8224c1f"/>
    <p:sldId xmlns:r="http://schemas.openxmlformats.org/officeDocument/2006/relationships" id="265" r:id="R95b233c789084c3a"/>
    <p:sldId xmlns:r="http://schemas.openxmlformats.org/officeDocument/2006/relationships" id="266" r:id="Raca961ed423d4a15"/>
    <p:sldId xmlns:r="http://schemas.openxmlformats.org/officeDocument/2006/relationships" id="267" r:id="R594c80f9313a4d57"/>
    <p:sldId xmlns:r="http://schemas.openxmlformats.org/officeDocument/2006/relationships" id="268" r:id="Rb38e8fac23074e86"/>
    <p:sldId xmlns:r="http://schemas.openxmlformats.org/officeDocument/2006/relationships" id="269" r:id="R2f55ece6ce7b49c6"/>
    <p:sldId xmlns:r="http://schemas.openxmlformats.org/officeDocument/2006/relationships" id="270" r:id="Rc6c1ce5473ba4795"/>
    <p:sldId xmlns:r="http://schemas.openxmlformats.org/officeDocument/2006/relationships" id="271" r:id="R97a1d5c9caa746fe"/>
    <p:sldId xmlns:r="http://schemas.openxmlformats.org/officeDocument/2006/relationships" id="272" r:id="R46207cce02b24731"/>
    <p:sldId xmlns:r="http://schemas.openxmlformats.org/officeDocument/2006/relationships" id="273" r:id="R51c4ac577c864384"/>
    <p:sldId xmlns:r="http://schemas.openxmlformats.org/officeDocument/2006/relationships" id="274" r:id="R79c33817afd9409d"/>
    <p:sldId xmlns:r="http://schemas.openxmlformats.org/officeDocument/2006/relationships" id="275" r:id="R9dc8399f47ea458a"/>
    <p:sldId xmlns:r="http://schemas.openxmlformats.org/officeDocument/2006/relationships" id="276" r:id="R2df49f9c8f594ba3"/>
    <p:sldId xmlns:r="http://schemas.openxmlformats.org/officeDocument/2006/relationships" id="277" r:id="Ra786dfb738514f16"/>
    <p:sldId xmlns:r="http://schemas.openxmlformats.org/officeDocument/2006/relationships" id="278" r:id="R5c660ab920be4978"/>
    <p:sldId xmlns:r="http://schemas.openxmlformats.org/officeDocument/2006/relationships" id="279" r:id="R64a2c903757e407b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7cd7b4609743f1" /><Relationship Type="http://schemas.openxmlformats.org/officeDocument/2006/relationships/slideMaster" Target="/ppt/slideMasters/slideMaster1.xml" Id="Rb9427e601dc746bd" /><Relationship Type="http://schemas.openxmlformats.org/officeDocument/2006/relationships/slideMaster" Target="/ppt/slideMasters/slideMaster2.xml" Id="R69f77bfb30374d61" /><Relationship Type="http://schemas.openxmlformats.org/officeDocument/2006/relationships/notesMaster" Target="/ppt/notesMasters/notesMaster1.xml" Id="R4139ba17455d4556" /><Relationship Type="http://schemas.openxmlformats.org/officeDocument/2006/relationships/presProps" Target="/ppt/presProps.xml" Id="R34003d098bb94333" /><Relationship Type="http://schemas.openxmlformats.org/officeDocument/2006/relationships/viewProps" Target="/ppt/viewProps.xml" Id="R132b8722a42d4701" /><Relationship Type="http://schemas.openxmlformats.org/officeDocument/2006/relationships/tableStyles" Target="/ppt/tableStyles.xml" Id="R4461284af9644b2a" /><Relationship Type="http://schemas.openxmlformats.org/officeDocument/2006/relationships/slide" Target="/ppt/slides/slide1.xml" Id="Rc34f2b3d84824ae6" /><Relationship Type="http://schemas.openxmlformats.org/officeDocument/2006/relationships/slide" Target="/ppt/slides/slide2.xml" Id="R1de56f08f77745e4" /><Relationship Type="http://schemas.openxmlformats.org/officeDocument/2006/relationships/slide" Target="/ppt/slides/slide3.xml" Id="R429dc4e76bc6493c" /><Relationship Type="http://schemas.openxmlformats.org/officeDocument/2006/relationships/slide" Target="/ppt/slides/slide4.xml" Id="R8f64ccb3f45e4701" /><Relationship Type="http://schemas.openxmlformats.org/officeDocument/2006/relationships/slide" Target="/ppt/slides/slide5.xml" Id="R17665d4e155b4466" /><Relationship Type="http://schemas.openxmlformats.org/officeDocument/2006/relationships/slide" Target="/ppt/slides/slide6.xml" Id="R6bd7d9a6c4ca496a" /><Relationship Type="http://schemas.openxmlformats.org/officeDocument/2006/relationships/slide" Target="/ppt/slides/slide7.xml" Id="R927a6c1ba30848b0" /><Relationship Type="http://schemas.openxmlformats.org/officeDocument/2006/relationships/slide" Target="/ppt/slides/slide8.xml" Id="R35b6280df83a4a3e" /><Relationship Type="http://schemas.openxmlformats.org/officeDocument/2006/relationships/slide" Target="/ppt/slides/slide9.xml" Id="R298eb790b8224c1f" /><Relationship Type="http://schemas.openxmlformats.org/officeDocument/2006/relationships/slide" Target="/ppt/slides/slide10.xml" Id="R95b233c789084c3a" /><Relationship Type="http://schemas.openxmlformats.org/officeDocument/2006/relationships/slide" Target="/ppt/slides/slide11.xml" Id="Raca961ed423d4a15" /><Relationship Type="http://schemas.openxmlformats.org/officeDocument/2006/relationships/slide" Target="/ppt/slides/slide12.xml" Id="R594c80f9313a4d57" /><Relationship Type="http://schemas.openxmlformats.org/officeDocument/2006/relationships/slide" Target="/ppt/slides/slide13.xml" Id="Rb38e8fac23074e86" /><Relationship Type="http://schemas.openxmlformats.org/officeDocument/2006/relationships/slide" Target="/ppt/slides/slide14.xml" Id="R2f55ece6ce7b49c6" /><Relationship Type="http://schemas.openxmlformats.org/officeDocument/2006/relationships/slide" Target="/ppt/slides/slide15.xml" Id="Rc6c1ce5473ba4795" /><Relationship Type="http://schemas.openxmlformats.org/officeDocument/2006/relationships/slide" Target="/ppt/slides/slide16.xml" Id="R97a1d5c9caa746fe" /><Relationship Type="http://schemas.openxmlformats.org/officeDocument/2006/relationships/slide" Target="/ppt/slides/slide17.xml" Id="R46207cce02b24731" /><Relationship Type="http://schemas.openxmlformats.org/officeDocument/2006/relationships/slide" Target="/ppt/slides/slide18.xml" Id="R51c4ac577c864384" /><Relationship Type="http://schemas.openxmlformats.org/officeDocument/2006/relationships/slide" Target="/ppt/slides/slide19.xml" Id="R79c33817afd9409d" /><Relationship Type="http://schemas.openxmlformats.org/officeDocument/2006/relationships/slide" Target="/ppt/slides/slide20.xml" Id="R9dc8399f47ea458a" /><Relationship Type="http://schemas.openxmlformats.org/officeDocument/2006/relationships/slide" Target="/ppt/slides/slide21.xml" Id="R2df49f9c8f594ba3" /><Relationship Type="http://schemas.openxmlformats.org/officeDocument/2006/relationships/slide" Target="/ppt/slides/slide22.xml" Id="Ra786dfb738514f16" /><Relationship Type="http://schemas.openxmlformats.org/officeDocument/2006/relationships/slide" Target="/ppt/slides/slide23.xml" Id="R5c660ab920be4978" /><Relationship Type="http://schemas.openxmlformats.org/officeDocument/2006/relationships/slide" Target="/ppt/slides/slide24.xml" Id="R64a2c903757e40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3c7441b76cf546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29fffd57e146e6" /><Relationship Type="http://schemas.openxmlformats.org/officeDocument/2006/relationships/notesMaster" Target="/ppt/notesMasters/notesMaster1.xml" Id="Rbbdc0f53372049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ae3e367cc24102" /><Relationship Type="http://schemas.openxmlformats.org/officeDocument/2006/relationships/notesMaster" Target="/ppt/notesMasters/notesMaster1.xml" Id="R5e01ad23e5a541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7640d882924121" /><Relationship Type="http://schemas.openxmlformats.org/officeDocument/2006/relationships/notesMaster" Target="/ppt/notesMasters/notesMaster1.xml" Id="R663d154bba2a4f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d1d8416ce74e0d" /><Relationship Type="http://schemas.openxmlformats.org/officeDocument/2006/relationships/notesMaster" Target="/ppt/notesMasters/notesMaster1.xml" Id="R12fc0af3e3354b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52299e8eff48e1" /><Relationship Type="http://schemas.openxmlformats.org/officeDocument/2006/relationships/notesMaster" Target="/ppt/notesMasters/notesMaster1.xml" Id="Rc5a495498a1645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e1756d524d4b2e" /><Relationship Type="http://schemas.openxmlformats.org/officeDocument/2006/relationships/notesMaster" Target="/ppt/notesMasters/notesMaster1.xml" Id="Rdab2471e1f3749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948018620e4d7b" /><Relationship Type="http://schemas.openxmlformats.org/officeDocument/2006/relationships/notesMaster" Target="/ppt/notesMasters/notesMaster1.xml" Id="R82bcda9f6bf244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037f568874462f" /><Relationship Type="http://schemas.openxmlformats.org/officeDocument/2006/relationships/notesMaster" Target="/ppt/notesMasters/notesMaster1.xml" Id="R22eb6d556ef749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1d5e0c217a4851" /><Relationship Type="http://schemas.openxmlformats.org/officeDocument/2006/relationships/notesMaster" Target="/ppt/notesMasters/notesMaster1.xml" Id="R58563fee752f48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58b48a582af447f" /><Relationship Type="http://schemas.openxmlformats.org/officeDocument/2006/relationships/notesMaster" Target="/ppt/notesMasters/notesMaster1.xml" Id="Re1dec07870054d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c6937d3b4094bf3" /><Relationship Type="http://schemas.openxmlformats.org/officeDocument/2006/relationships/notesMaster" Target="/ppt/notesMasters/notesMaster1.xml" Id="Red591fb569c541e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e5bd262e71a4670" /><Relationship Type="http://schemas.openxmlformats.org/officeDocument/2006/relationships/notesMaster" Target="/ppt/notesMasters/notesMaster1.xml" Id="Rdcc6adcb582841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8655a495ae6412f" /><Relationship Type="http://schemas.openxmlformats.org/officeDocument/2006/relationships/notesMaster" Target="/ppt/notesMasters/notesMaster1.xml" Id="R08dcfd893de447d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1e5bd5a1d1d4bac" /><Relationship Type="http://schemas.openxmlformats.org/officeDocument/2006/relationships/notesMaster" Target="/ppt/notesMasters/notesMaster1.xml" Id="Rce1bcb405185472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cc1220561994db2" /><Relationship Type="http://schemas.openxmlformats.org/officeDocument/2006/relationships/notesMaster" Target="/ppt/notesMasters/notesMaster1.xml" Id="R069b1ec656664a6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92ecbb1ba0840c7" /><Relationship Type="http://schemas.openxmlformats.org/officeDocument/2006/relationships/notesMaster" Target="/ppt/notesMasters/notesMaster1.xml" Id="Rbe178e127d8548f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a51e5b138b34559" /><Relationship Type="http://schemas.openxmlformats.org/officeDocument/2006/relationships/notesMaster" Target="/ppt/notesMasters/notesMaster1.xml" Id="R96882d527af54cd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9aa2bf8ea2142f5" /><Relationship Type="http://schemas.openxmlformats.org/officeDocument/2006/relationships/notesMaster" Target="/ppt/notesMasters/notesMaster1.xml" Id="Rab709bba96344ec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4bd86f26495437b" /><Relationship Type="http://schemas.openxmlformats.org/officeDocument/2006/relationships/notesMaster" Target="/ppt/notesMasters/notesMaster1.xml" Id="R5561517b95f342d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d51483c406e4542" /><Relationship Type="http://schemas.openxmlformats.org/officeDocument/2006/relationships/notesMaster" Target="/ppt/notesMasters/notesMaster1.xml" Id="R08499f5bcb22493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df8e6e73d534e66" /><Relationship Type="http://schemas.openxmlformats.org/officeDocument/2006/relationships/notesMaster" Target="/ppt/notesMasters/notesMaster1.xml" Id="Rfb8856b127424f4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9b0dac5f61849f4" /><Relationship Type="http://schemas.openxmlformats.org/officeDocument/2006/relationships/notesMaster" Target="/ppt/notesMasters/notesMaster1.xml" Id="Rada8d5901d31449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9a736f7cb274f7b" /><Relationship Type="http://schemas.openxmlformats.org/officeDocument/2006/relationships/notesMaster" Target="/ppt/notesMasters/notesMaster1.xml" Id="R584d4c6072df44a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7fca0698ad54ebf" /><Relationship Type="http://schemas.openxmlformats.org/officeDocument/2006/relationships/notesMaster" Target="/ppt/notesMasters/notesMaster1.xml" Id="Ra45c9875534647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第7回コメントへの対応。第7回で密度の基準状態と水の所在を結び、第8回で含水率・FSP・EMC、第9回で寸法変化を詳述する。FSP以上の全物性不変という一般化はしない。</a:t>
            </a:r>
          </a:p>
          <a:p xmlns:a="http://schemas.openxmlformats.org/drawingml/2006/main">
            <a:r>
              <a:t>Wood Handbook 2021第4章4–2～4–4頁 https://research.fs.usda.gov/treesearch/62243</a:t>
            </a:r>
          </a:p>
          <a:p xmlns:a="http://schemas.openxmlformats.org/drawingml/2006/main">
            <a:r>
              <a:t>齋藤周逸・信田聡(2016) 日本の気候値平衡含水率 https://doi.org/10.2488/jwrs.62.182</a:t>
            </a:r>
          </a:p>
          <a:p xmlns:a="http://schemas.openxmlformats.org/drawingml/2006/main">
            <a:r>
              <a:t>気象庁月別平年値1991–2020年：札幌・東京・徳島。温湿度から式4–5で計算。https://www.data.jma.go.jp/stats/etrn/index.php</a:t>
            </a:r>
          </a:p>
          <a:p xmlns:a="http://schemas.openxmlformats.org/drawingml/2006/main">
            <a:r>
              <a:t>データと全URL・計算条件は教員用の再編集用データに保存。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第7回コメントへの対応。第7回で密度の基準状態と水の所在を結び、第8回で含水率・FSP・EMC、第9回で寸法変化を詳述する。FSP以上の全物性不変という一般化はしない。</a:t>
            </a:r>
          </a:p>
          <a:p xmlns:a="http://schemas.openxmlformats.org/drawingml/2006/main">
            <a:r>
              <a:t>Wood Handbook 2021第4章4–2～4–4頁 https://research.fs.usda.gov/treesearch/62243</a:t>
            </a:r>
          </a:p>
          <a:p xmlns:a="http://schemas.openxmlformats.org/drawingml/2006/main">
            <a:r>
              <a:t>齋藤周逸・信田聡(2016) 日本の気候値平衡含水率 https://doi.org/10.2488/jwrs.62.182</a:t>
            </a:r>
          </a:p>
          <a:p xmlns:a="http://schemas.openxmlformats.org/drawingml/2006/main">
            <a:r>
              <a:t>気象庁月別平年値1991–2020年：札幌・東京・徳島。温湿度から式4–5で計算。https://www.data.jma.go.jp/stats/etrn/index.php</a:t>
            </a:r>
          </a:p>
          <a:p xmlns:a="http://schemas.openxmlformats.org/drawingml/2006/main">
            <a:r>
              <a:t>データと全URL・計算条件は教員用の再編集用データに保存。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第7回コメントへの対応。第7回で密度の基準状態と水の所在を結び、第8回で含水率・FSP・EMC、第9回で寸法変化を詳述する。FSP以上の全物性不変という一般化はしない。</a:t>
            </a:r>
          </a:p>
          <a:p xmlns:a="http://schemas.openxmlformats.org/drawingml/2006/main">
            <a:r>
              <a:t>Wood Handbook 2021第4章4–2～4–4頁 https://research.fs.usda.gov/treesearch/62243</a:t>
            </a:r>
          </a:p>
          <a:p xmlns:a="http://schemas.openxmlformats.org/drawingml/2006/main">
            <a:r>
              <a:t>齋藤周逸・信田聡(2016) 日本の気候値平衡含水率 https://doi.org/10.2488/jwrs.62.182</a:t>
            </a:r>
          </a:p>
          <a:p xmlns:a="http://schemas.openxmlformats.org/drawingml/2006/main">
            <a:r>
              <a:t>気象庁月別平年値1991–2020年：札幌・東京・徳島。温湿度から式4–5で計算。https://www.data.jma.go.jp/stats/etrn/index.php</a:t>
            </a:r>
          </a:p>
          <a:p xmlns:a="http://schemas.openxmlformats.org/drawingml/2006/main">
            <a:r>
              <a:t>データと全URL・計算条件は教員用の再編集用データに保存。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第7回コメントへの対応。第7回で密度の基準状態と水の所在を結び、第8回で含水率・FSP・EMC、第9回で寸法変化を詳述する。FSP以上の全物性不変という一般化はしない。</a:t>
            </a:r>
          </a:p>
          <a:p xmlns:a="http://schemas.openxmlformats.org/drawingml/2006/main">
            <a:r>
              <a:t>Wood Handbook 2021第4章4–2～4–4頁 https://research.fs.usda.gov/treesearch/62243</a:t>
            </a:r>
          </a:p>
          <a:p xmlns:a="http://schemas.openxmlformats.org/drawingml/2006/main">
            <a:r>
              <a:t>齋藤周逸・信田聡(2016) 日本の気候値平衡含水率 https://doi.org/10.2488/jwrs.62.182</a:t>
            </a:r>
          </a:p>
          <a:p xmlns:a="http://schemas.openxmlformats.org/drawingml/2006/main">
            <a:r>
              <a:t>気象庁月別平年値1991–2020年：札幌・東京・徳島。温湿度から式4–5で計算。https://www.data.jma.go.jp/stats/etrn/index.php</a:t>
            </a:r>
          </a:p>
          <a:p xmlns:a="http://schemas.openxmlformats.org/drawingml/2006/main">
            <a:r>
              <a:t>データと全URL・計算条件は教員用の再編集用データに保存。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第7回コメントへの対応。第7回で密度の基準状態と水の所在を結び、第8回で含水率・FSP・EMC、第9回で寸法変化を詳述する。FSP以上の全物性不変という一般化はしない。</a:t>
            </a:r>
          </a:p>
          <a:p xmlns:a="http://schemas.openxmlformats.org/drawingml/2006/main">
            <a:r>
              <a:t>Wood Handbook 2021第4章4–2～4–4頁 https://research.fs.usda.gov/treesearch/62243</a:t>
            </a:r>
          </a:p>
          <a:p xmlns:a="http://schemas.openxmlformats.org/drawingml/2006/main">
            <a:r>
              <a:t>齋藤周逸・信田聡(2016) 日本の気候値平衡含水率 https://doi.org/10.2488/jwrs.62.182</a:t>
            </a:r>
          </a:p>
          <a:p xmlns:a="http://schemas.openxmlformats.org/drawingml/2006/main">
            <a:r>
              <a:t>気象庁月別平年値1991–2020年：札幌・東京・徳島。温湿度から式4–5で計算。https://www.data.jma.go.jp/stats/etrn/index.php</a:t>
            </a:r>
          </a:p>
          <a:p xmlns:a="http://schemas.openxmlformats.org/drawingml/2006/main">
            <a:r>
              <a:t>データと全URL・計算条件は教員用の再編集用データに保存。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参考資料</a:t>
            </a:r>
          </a:p>
          <a:p xmlns:a="http://schemas.openxmlformats.org/drawingml/2006/main">
            <a:r>
              <a:t>Wood Handbook 2021 第4章 https://research.fs.usda.gov/treesearch/62243</a:t>
            </a:r>
          </a:p>
          <a:p xmlns:a="http://schemas.openxmlformats.org/drawingml/2006/main">
            <a:r>
              <a:t>https://www.mext.go.jp/component/a_menu/education/micro_detail/__icsFiles/afieldfile/2019/03/18/1387018_009.pdf</a:t>
            </a:r>
          </a:p>
          <a:p xmlns:a="http://schemas.openxmlformats.org/drawingml/2006/main">
            <a:r>
              <a:t>https://www.kairyudo.co.jp/contents/04_shiryo/nenkei/chu/data/r7chu-gi_hyokakijun.pdf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66b0c1621a42a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84e888a63548e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a2fb0c33b740a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950dabbc7b4e2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ef42ed8d9a453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49e4732cb843b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80d10fbb7fa448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067cdb6793b4c2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ca36f5f4a714a3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0a3f614fb0a47e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715220a65214fa4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8cc13fc41794b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1C7C26-445A-4D2B-B3C7-396867FB0B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B5D4EA-C627-40D7-9758-804A643458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1CE61B8-28BB-4702-9732-28A9987ACF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E7F6E55-8690-47ED-864F-706BBEC8A7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7069715-EF7B-4A71-8465-B50E0902B8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E716BFF-F3DE-4802-9F20-2B36975A44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4A92231-EE06-4908-81FE-DF5B092187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9D9F0F-98C8-41E8-B65D-12F25AED7F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15E71F-154A-4B4C-BE61-9E87652713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3A76AE-530B-471B-A6D0-E3B5D8D7BB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7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67DBE4E-C527-46FF-B55C-CBDD56B6EE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0F28A3F-0FA9-44A1-96C9-777BA1700D0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CEF710-3869-45A4-9C2E-6A6CFCD92D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0D05F31-6411-4EF6-8330-EA4227F946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11C5F5C-5F37-46AA-9236-A5A2C30679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B44F765-17D5-4E5F-AD9B-9A3CF454F5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437CDAE-ECE4-49D6-BF26-05BEB657AE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9CDF059-8B25-4873-BC42-098EB9F454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6B3522-8253-4AD8-A7C1-6150AB3D56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2743825-E50A-4562-A740-D93D935049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cc94105a904a9d" /><Relationship Type="http://schemas.openxmlformats.org/officeDocument/2006/relationships/slideLayout" Target="/ppt/slideLayouts/slideLayout1.xml" Id="Rfaa70f14966044ed" /><Relationship Type="http://schemas.openxmlformats.org/officeDocument/2006/relationships/slideLayout" Target="/ppt/slideLayouts/slideLayout2.xml" Id="Reda42e7cb4e449cb" /><Relationship Type="http://schemas.openxmlformats.org/officeDocument/2006/relationships/slideLayout" Target="/ppt/slideLayouts/slideLayout3.xml" Id="R80ae7d16523c456e" /><Relationship Type="http://schemas.openxmlformats.org/officeDocument/2006/relationships/slideLayout" Target="/ppt/slideLayouts/slideLayout4.xml" Id="R776cb40682ce47f5" /><Relationship Type="http://schemas.openxmlformats.org/officeDocument/2006/relationships/slideLayout" Target="/ppt/slideLayouts/slideLayout5.xml" Id="Rc2f723aa5dad44d5" /><Relationship Type="http://schemas.openxmlformats.org/officeDocument/2006/relationships/slideLayout" Target="/ppt/slideLayouts/slideLayout6.xml" Id="Rf99fe0f4be0141d0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7fe7c5fae085471e" /><Relationship Type="http://schemas.openxmlformats.org/officeDocument/2006/relationships/slideLayout" Target="/ppt/slideLayouts/slideLayout7.xml" Id="R06bd8b2fc10e4f52" /><Relationship Type="http://schemas.openxmlformats.org/officeDocument/2006/relationships/slideLayout" Target="/ppt/slideLayouts/slideLayout8.xml" Id="R7de7acbaa5934c14" /><Relationship Type="http://schemas.openxmlformats.org/officeDocument/2006/relationships/slideLayout" Target="/ppt/slideLayouts/slideLayout9.xml" Id="R07028b3a5df74871" /><Relationship Type="http://schemas.openxmlformats.org/officeDocument/2006/relationships/slideLayout" Target="/ppt/slideLayouts/slideLayout10.xml" Id="Rdce6998720064ed6" /><Relationship Type="http://schemas.openxmlformats.org/officeDocument/2006/relationships/slideLayout" Target="/ppt/slideLayouts/slideLayout11.xml" Id="Rc087331923964047" /><Relationship Type="http://schemas.openxmlformats.org/officeDocument/2006/relationships/slideLayout" Target="/ppt/slideLayouts/slideLayout12.xml" Id="Rc1328f76e85840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a70f14966044ed"/>
    <p:sldLayoutId xmlns:r="http://schemas.openxmlformats.org/officeDocument/2006/relationships" id="2147483650" r:id="Reda42e7cb4e449cb"/>
    <p:sldLayoutId xmlns:r="http://schemas.openxmlformats.org/officeDocument/2006/relationships" id="2147483651" r:id="R80ae7d16523c456e"/>
    <p:sldLayoutId xmlns:r="http://schemas.openxmlformats.org/officeDocument/2006/relationships" id="2147483652" r:id="R776cb40682ce47f5"/>
    <p:sldLayoutId xmlns:r="http://schemas.openxmlformats.org/officeDocument/2006/relationships" id="2147483653" r:id="Rc2f723aa5dad44d5"/>
    <p:sldLayoutId xmlns:r="http://schemas.openxmlformats.org/officeDocument/2006/relationships" id="2147483654" r:id="Rf99fe0f4be0141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06bd8b2fc10e4f52"/>
    <p:sldLayoutId xmlns:r="http://schemas.openxmlformats.org/officeDocument/2006/relationships" id="2147483657" r:id="R7de7acbaa5934c14"/>
    <p:sldLayoutId xmlns:r="http://schemas.openxmlformats.org/officeDocument/2006/relationships" id="2147483658" r:id="R07028b3a5df74871"/>
    <p:sldLayoutId xmlns:r="http://schemas.openxmlformats.org/officeDocument/2006/relationships" id="2147483659" r:id="Rdce6998720064ed6"/>
    <p:sldLayoutId xmlns:r="http://schemas.openxmlformats.org/officeDocument/2006/relationships" id="2147483660" r:id="Rc087331923964047"/>
    <p:sldLayoutId xmlns:r="http://schemas.openxmlformats.org/officeDocument/2006/relationships" id="2147483661" r:id="Rc1328f76e85840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72b543ea2d4424" /><Relationship Type="http://schemas.openxmlformats.org/officeDocument/2006/relationships/notesSlide" Target="/ppt/notesSlides/notesSlide1.xml" Id="Rb653587b45ea49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bc4b40c3d143d5" /><Relationship Type="http://schemas.openxmlformats.org/officeDocument/2006/relationships/notesSlide" Target="/ppt/notesSlides/notesSlide2.xml" Id="R2892e38f588b47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179e5bd692d34977" /><Relationship Type="http://schemas.openxmlformats.org/officeDocument/2006/relationships/notesSlide" Target="/ppt/notesSlides/notesSlide3.xml" Id="Re0fcbf663e4649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bb8fbe6ae84fcd" /><Relationship Type="http://schemas.openxmlformats.org/officeDocument/2006/relationships/notesSlide" Target="/ppt/notesSlides/notesSlide4.xml" Id="R5d573f8ec97149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d9ee7d17204c7c" /><Relationship Type="http://schemas.openxmlformats.org/officeDocument/2006/relationships/notesSlide" Target="/ppt/notesSlides/notesSlide5.xml" Id="R90ca77b68a004c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d7f6ab2f8a438b" /><Relationship Type="http://schemas.openxmlformats.org/officeDocument/2006/relationships/notesSlide" Target="/ppt/notesSlides/notesSlide6.xml" Id="R1ba55f368dd34c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238bd25a3f243d3" /><Relationship Type="http://schemas.openxmlformats.org/officeDocument/2006/relationships/notesSlide" Target="/ppt/notesSlides/notesSlide7.xml" Id="Rea661f8f3fa54f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d5899301294126" /><Relationship Type="http://schemas.openxmlformats.org/officeDocument/2006/relationships/notesSlide" Target="/ppt/notesSlides/notesSlide8.xml" Id="Re96d05dff29c47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217261b6bd0049f5" /><Relationship Type="http://schemas.openxmlformats.org/officeDocument/2006/relationships/notesSlide" Target="/ppt/notesSlides/notesSlide9.xml" Id="R5afa997cead84b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55c067b15c4d5d" /><Relationship Type="http://schemas.openxmlformats.org/officeDocument/2006/relationships/notesSlide" Target="/ppt/notesSlides/notesSlide10.xml" Id="R9c886edcec014b8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c303bf3e8954427" /><Relationship Type="http://schemas.openxmlformats.org/officeDocument/2006/relationships/notesSlide" Target="/ppt/notesSlides/notesSlide11.xml" Id="R6910ef02651749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b7f5c40f81486a" /><Relationship Type="http://schemas.openxmlformats.org/officeDocument/2006/relationships/notesSlide" Target="/ppt/notesSlides/notesSlide12.xml" Id="R1dbb634b706349f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d7a824f0a74a59" /><Relationship Type="http://schemas.openxmlformats.org/officeDocument/2006/relationships/notesSlide" Target="/ppt/notesSlides/notesSlide13.xml" Id="Reabd999d0f844e0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922098ada54178" /><Relationship Type="http://schemas.openxmlformats.org/officeDocument/2006/relationships/notesSlide" Target="/ppt/notesSlides/notesSlide14.xml" Id="R858c46ad82614e1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6becf239f254c80" /><Relationship Type="http://schemas.openxmlformats.org/officeDocument/2006/relationships/notesSlide" Target="/ppt/notesSlides/notesSlide15.xml" Id="R128aeef9efe644a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545388494ac94883" /><Relationship Type="http://schemas.openxmlformats.org/officeDocument/2006/relationships/notesSlide" Target="/ppt/notesSlides/notesSlide16.xml" Id="R1f965df9a3854a8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937606e488054e00" /><Relationship Type="http://schemas.openxmlformats.org/officeDocument/2006/relationships/notesSlide" Target="/ppt/notesSlides/notesSlide17.xml" Id="Ra5aa19031dd0470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f4118be3c2a457e" /><Relationship Type="http://schemas.openxmlformats.org/officeDocument/2006/relationships/notesSlide" Target="/ppt/notesSlides/notesSlide18.xml" Id="R661ad785972b44d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66c4154d91466e" /><Relationship Type="http://schemas.openxmlformats.org/officeDocument/2006/relationships/notesSlide" Target="/ppt/notesSlides/notesSlide19.xml" Id="R6c8c9c66e8cb43d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711217c82741cc" /><Relationship Type="http://schemas.openxmlformats.org/officeDocument/2006/relationships/notesSlide" Target="/ppt/notesSlides/notesSlide20.xml" Id="R0b8e53efec52465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b850a0f4d94bfa" /><Relationship Type="http://schemas.openxmlformats.org/officeDocument/2006/relationships/chart" Target="/ppt/slides/charts/chart1.xml" Id="R201a0e62472145da" /><Relationship Type="http://schemas.openxmlformats.org/officeDocument/2006/relationships/notesSlide" Target="/ppt/notesSlides/notesSlide21.xml" Id="Rcba091a13b1846a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7be6194d1043b3" /><Relationship Type="http://schemas.openxmlformats.org/officeDocument/2006/relationships/notesSlide" Target="/ppt/notesSlides/notesSlide22.xml" Id="R38dee9ed4d81406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55681db8b44bf2" /><Relationship Type="http://schemas.openxmlformats.org/officeDocument/2006/relationships/notesSlide" Target="/ppt/notesSlides/notesSlide23.xml" Id="R706937c2e03f407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501864c9cd74618" /><Relationship Type="http://schemas.openxmlformats.org/officeDocument/2006/relationships/notesSlide" Target="/ppt/notesSlides/notesSlide24.xml" Id="R46ed79637e014f1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札幌</c:v>
          </c:tx>
          <c:spPr>
            <a:ln xmlns:a="http://schemas.openxmlformats.org/drawingml/2006/main" w="28575">
              <a:solidFill>
                <a:srgbClr val="2876A8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2876A8"/>
              </a:solidFill>
            </c:spPr>
          </c:marker>
          <c:cat>
            <c:numRef>
              <c:f>'Chart Data'!$A$2:$A$13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13.301</c:v>
                </c:pt>
                <c:pt idx="1">
                  <c:v>13.062</c:v>
                </c:pt>
                <c:pt idx="2">
                  <c:v>12.377</c:v>
                </c:pt>
                <c:pt idx="3">
                  <c:v>11.487</c:v>
                </c:pt>
                <c:pt idx="4">
                  <c:v>12.206</c:v>
                </c:pt>
                <c:pt idx="5">
                  <c:v>13.746</c:v>
                </c:pt>
                <c:pt idx="6">
                  <c:v>14.414</c:v>
                </c:pt>
                <c:pt idx="7">
                  <c:v>14.363</c:v>
                </c:pt>
                <c:pt idx="8">
                  <c:v>13.434</c:v>
                </c:pt>
                <c:pt idx="9">
                  <c:v>12.671</c:v>
                </c:pt>
                <c:pt idx="10">
                  <c:v>12.796</c:v>
                </c:pt>
                <c:pt idx="11">
                  <c:v>13.067</c:v>
                </c:pt>
              </c:numCache>
            </c:numRef>
          </c:val>
        </c:ser>
        <c:ser>
          <c:idx val="1"/>
          <c:order val="1"/>
          <c:tx>
            <c:v>東京</c:v>
          </c:tx>
          <c:spPr>
            <a:ln xmlns:a="http://schemas.openxmlformats.org/drawingml/2006/main" w="28575">
              <a:solidFill>
                <a:srgbClr val="C4483C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C4483C"/>
              </a:solidFill>
            </c:spPr>
          </c:marker>
          <c:cat>
            <c:numRef>
              <c:f>'Chart Data'!$C$2:$C$13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9.683</c:v>
                </c:pt>
                <c:pt idx="1">
                  <c:v>9.848</c:v>
                </c:pt>
                <c:pt idx="2">
                  <c:v>10.694</c:v>
                </c:pt>
                <c:pt idx="3">
                  <c:v>11.552</c:v>
                </c:pt>
                <c:pt idx="4">
                  <c:v>12.704</c:v>
                </c:pt>
                <c:pt idx="5">
                  <c:v>14.38</c:v>
                </c:pt>
                <c:pt idx="6">
                  <c:v>14.501</c:v>
                </c:pt>
                <c:pt idx="7">
                  <c:v>13.877</c:v>
                </c:pt>
                <c:pt idx="8">
                  <c:v>14.32</c:v>
                </c:pt>
                <c:pt idx="9">
                  <c:v>13.455</c:v>
                </c:pt>
                <c:pt idx="10">
                  <c:v>12.005</c:v>
                </c:pt>
                <c:pt idx="11">
                  <c:v>10.535</c:v>
                </c:pt>
              </c:numCache>
            </c:numRef>
          </c:val>
        </c:ser>
        <c:ser>
          <c:idx val="2"/>
          <c:order val="2"/>
          <c:tx>
            <c:v>徳島</c:v>
          </c:tx>
          <c:spPr>
            <a:ln xmlns:a="http://schemas.openxmlformats.org/drawingml/2006/main" w="28575">
              <a:solidFill>
                <a:srgbClr val="087E8B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087E8B"/>
              </a:solidFill>
            </c:spPr>
          </c:marker>
          <c:cat>
            <c:numRef>
              <c:f>'Chart Data'!$E$2:$E$13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11.5</c:v>
                </c:pt>
                <c:pt idx="1">
                  <c:v>11.494</c:v>
                </c:pt>
                <c:pt idx="2">
                  <c:v>11.447</c:v>
                </c:pt>
                <c:pt idx="3">
                  <c:v>11.535</c:v>
                </c:pt>
                <c:pt idx="4">
                  <c:v>12.45</c:v>
                </c:pt>
                <c:pt idx="5">
                  <c:v>14.333</c:v>
                </c:pt>
                <c:pt idx="6">
                  <c:v>14.749</c:v>
                </c:pt>
                <c:pt idx="7">
                  <c:v>13.551</c:v>
                </c:pt>
                <c:pt idx="8">
                  <c:v>13.442</c:v>
                </c:pt>
                <c:pt idx="9">
                  <c:v>12.921</c:v>
                </c:pt>
                <c:pt idx="10">
                  <c:v>12.404</c:v>
                </c:pt>
                <c:pt idx="11">
                  <c:v>11.872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Yu Gothic"/>
                    <a:ea typeface="Yu Gothic"/>
                    <a:cs typeface="Yu Gothic"/>
                  </a:rPr>
                  <a:t>月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Yu Gothic"/>
                    <a:ea typeface="Yu Gothic"/>
                    <a:cs typeface="Yu Gothic"/>
                  </a:rPr>
                  <a:t>推定EMC（乾量基準 %）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latin typeface="Yu Gothic"/>
              <a:ea typeface="Yu Gothic"/>
              <a:cs typeface="Yu Gothi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914F9EE5-7D09-472F-98A2-4679EF65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第7回　密度と比重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7F8C9C84-C8D2-4F89-A831-140956D5CC82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0B810CBF-95F7-43EC-9EBC-FF2B8188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AC564AEE-0CCF-4FCC-BC54-896D4DBF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CAE19312-9293-4AA2-BD2E-424CF0F6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木材の物理：密度と比重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6AD6CC9C-A7B0-4464-9BF4-DE96BB7B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08204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密度と比重を単位と定義で区別し、質量・体積の含水状態を指定して比較する</a:t>
            </a:r>
            <a:r>
              <a: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6F1FBB31-0461-6FED-A983-C00C00D2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/>
            </a:r>
            <a:endParaRPr sz="2550" b="0">
              <a:solidFill>
                <a:srgbClr val="253C4D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86471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303F1855-4497-41A2-BB72-31C2133A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今回の前提を確かめる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6531B06A-5B80-4914-8BE8-A4D9E9FC0414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15C6C847-00B0-4042-9D5B-37C9F4A2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58B54ED9-6170-49AA-A33E-E793CC3F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FD6750E9-2B0F-40FD-AF9F-8D0727C6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木材には、細胞壁と空隙がある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3A1C58DC-FF2A-44C9-83D3-F2D34424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水の量で質量が変わり、体積も変わりうる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E0B486E5-6BCE-40DB-A6B6-9DA960F4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密度を比較するには、状態を決める</a:t>
            </a:r>
          </a:p>
        </p:txBody>
      </p:sp>
    </p:spTree>
    <p:extLst>
      <p:ext uri="{BB962C8B-B14F-4D97-AF65-F5344CB8AC3E}">
        <p14:creationId xmlns:p14="http://schemas.microsoft.com/office/powerpoint/2010/main" val="2192688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C818CA4C-9778-45DD-8E9A-EE05E764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今回考える三つの関係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F80BA5B0-DCC3-433E-A5EC-4F69C3D2B116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A3073533-C388-4A3B-892F-20BFFF58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B9664D1D-964D-4C49-B46B-664A08C8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6FC8A85C-DC33-4D4B-8759-F4554EB3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密度ρ＝質量m/体積V。木材の外形体積には細胞内腔などの空隙も含む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410011DF-D060-48C8-A68C-72E42349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比重G＝ρ/ρ水。同じ単位の密度同士を割るので無次元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53E7BE0D-E7A2-43A9-BC9C-C52B6560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細胞壁物質の密度は、空隙を含む木材全体の密度より高い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7BD991D3-A50B-471B-B599-2BF5EEBB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演習では、式・単位・観察の根拠を残して説明する</a:t>
            </a:r>
          </a:p>
        </p:txBody>
      </p:sp>
    </p:spTree>
    <p:extLst>
      <p:ext uri="{BB962C8B-B14F-4D97-AF65-F5344CB8AC3E}">
        <p14:creationId xmlns:p14="http://schemas.microsoft.com/office/powerpoint/2010/main" val="16095296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3CEA6E-73C3-4508-AA5D-A6C6A64C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水の所在から、第7～9回を見通す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078D39-E14B-4401-803F-06746EEB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0BF78-CB4B-49B7-8A4B-1EB30F35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7627E8-F8B8-422A-8E60-40098A99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CA253-6491-4C10-8FE6-B598DA587DFA}"/>
              </a:ext>
            </a:extLst>
          </p:cNvPr>
          <p:cNvGraphicFramePr/>
          <p:nvPr/>
        </p:nvGraphicFramePr>
        <p:xfrm>
          <a:off xmlns:a="http://schemas.openxmlformats.org/drawingml/2006/main" x="838200" y="1952625"/>
          <a:ext xmlns:a="http://schemas.openxmlformats.org/drawingml/2006/main" cx="104775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3762375"/>
                <a:gridCol w="3571875"/>
              </a:tblGrid>
              <a:tr h="809625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乾量基準の含水率MC</a:t>
                      </a:r>
                    </a:p>
                  </a:txBody>
                  <a:tcPr marL="91440" marR="91440" marT="45720" marB="45720"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水の主な状態（単純化）</a:t>
                      </a:r>
                    </a:p>
                  </a:txBody>
                  <a:tcPr marL="91440" marR="91440" marT="45720" marB="45720"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寸法・力学的性質</a:t>
                      </a:r>
                    </a:p>
                  </a:txBody>
                  <a:tcPr marL="91440" marR="91440" marT="45720" marB="45720">
                    <a:solidFill>
                      <a:srgbClr val="18364F"/>
                    </a:solidFill>
                  </a:tcPr>
                </a:tc>
              </a:tr>
              <a:tr h="809625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FSPより高い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壁内の水＋内腔等の自由水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変化は一般に小さい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</a:tr>
              <a:tr h="809625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FSP付近（約30%が目安）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自由水がほぼ失われ、壁は湿潤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樹種・材・測定法で異なる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FSPより低い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壁内の水（結合水）が増減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収縮・膨潤、多くの強度の変化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585FD3-60E4-44AE-863F-5E98C918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材の各部が同時に切り替わる図ではない。水の総量と所在を分ける。</a:t>
            </a:r>
          </a:p>
        </p:txBody>
      </p:sp>
    </p:spTree>
    <p:extLst>
      <p:ext uri="{BB962C8B-B14F-4D97-AF65-F5344CB8AC3E}">
        <p14:creationId xmlns:p14="http://schemas.microsoft.com/office/powerpoint/2010/main" val="10842115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940E1B-CEB7-4FC7-BB5E-29E14981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FSPとEMCは、何を表すか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E5E49-D659-45A2-A3E3-EC9ABFB6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4F0C4-7BAD-4EB2-BE64-76237561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C17B8C-1CE9-47F6-A2A4-54C7112D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5A741-6A5A-4D93-BFC7-FB505E40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FSP：繊維飽和点／Fiber Saturation Point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0213A-16E3-47CF-ACF4-6989A40F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6222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水の所在と、寸法・強度の変化を考える目安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D3B2C-7238-4636-B0C8-C7C3FE76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575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EMC：平衡含水率／Equilibrium Moisture Content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9222E-8390-4AC9-A603-41E2DC9E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5292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周囲の温湿度との平衡で定まる含水率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D34CFC-88F0-4275-BE29-26DD6398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2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通常の使用域はFSPより低く、環境によってMCが変わる</a:t>
            </a:r>
          </a:p>
        </p:txBody>
      </p:sp>
    </p:spTree>
    <p:extLst>
      <p:ext uri="{BB962C8B-B14F-4D97-AF65-F5344CB8AC3E}">
        <p14:creationId xmlns:p14="http://schemas.microsoft.com/office/powerpoint/2010/main" val="15997117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9B892-0B31-4187-BFBE-97F58229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乾燥すると、何が変わるか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83437-E4FF-4768-AF3D-0C22046A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9AFE6-2B27-450C-A29D-92FF9791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CB20A4-B039-4DCF-83DE-AD8F8F3A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534D09-9FA6-4D52-93A4-551F49A05CC0}"/>
              </a:ext>
            </a:extLst>
          </p:cNvPr>
          <p:cNvGraphicFramePr/>
          <p:nvPr/>
        </p:nvGraphicFramePr>
        <p:xfrm>
          <a:off xmlns:a="http://schemas.openxmlformats.org/drawingml/2006/main" x="838200" y="1952625"/>
          <a:ext xmlns:a="http://schemas.openxmlformats.org/drawingml/2006/main" cx="104775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3952875"/>
                <a:gridCol w="3952875"/>
              </a:tblGrid>
              <a:tr h="809625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同じ木材を乾かす</a:t>
                      </a:r>
                    </a:p>
                  </a:txBody>
                  <a:tcPr marL="91440" marR="91440" marT="45720" marB="45720"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FSPより高い範囲</a:t>
                      </a:r>
                    </a:p>
                  </a:txBody>
                  <a:tcPr marL="91440" marR="91440" marT="45720" marB="45720"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FSPより低い範囲</a:t>
                      </a:r>
                    </a:p>
                  </a:txBody>
                  <a:tcPr marL="91440" marR="91440" marT="45720" marB="45720">
                    <a:solidFill>
                      <a:srgbClr val="18364F"/>
                    </a:solidFill>
                  </a:tcPr>
                </a:tc>
              </a:tr>
              <a:tr h="809625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自由水が減り、質量は減る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壁内の水が減り、質量は減る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</a:tr>
              <a:tr h="809625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寸法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自由水の減少だけなら変化は小さい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収縮が顕著になる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多くの強度・剛性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含水率による変化は一般に小さい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乾燥で増す傾向（性質による）</a:t>
                      </a:r>
                    </a:p>
                  </a:txBody>
                  <a:tcPr marL="91440" marR="91440" marT="45720" marB="45720">
                    <a:solidFill>
                      <a:srgbClr val="F1F5F7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C03B71-7090-47C3-8B4B-C96963B3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「すべての物性が不変」ではない。密度は質量・体積の両方で考える。</a:t>
            </a:r>
          </a:p>
        </p:txBody>
      </p:sp>
    </p:spTree>
    <p:extLst>
      <p:ext uri="{BB962C8B-B14F-4D97-AF65-F5344CB8AC3E}">
        <p14:creationId xmlns:p14="http://schemas.microsoft.com/office/powerpoint/2010/main" val="15280948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正方形/長方形 9">
            <a:extLst xmlns:a="http://schemas.openxmlformats.org/drawingml/2006/main">
              <a:ext uri="{FF2B5EF4-FFF2-40B4-BE49-F238E27FC236}">
                <a16:creationId xmlns:a16="http://schemas.microsoft.com/office/drawing/2014/main" id="{315BC214-A780-4CFC-BCD9-382A2021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密度と単位換算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FCA77850-FFB7-400E-AA81-4C0D0E865EDA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C93E55BA-66EE-4BBC-8BE1-5D0A7105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30D0CFFB-AC1A-47CE-BB7A-FA2B78BF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346A0B49-3FD9-426D-B677-E9F6613D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密度ρ＝質量m/体積V。木材の外形体積には細胞内腔などの空隙も含む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D599F146-B611-42A9-871E-F8046157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1 g＝10⁻³ kg、1 cm³＝10⁻⁶ m³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AC7C29D4-2209-4598-9EBC-9B8B1B1C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したがって1 g/cm³＝1,000 kg/m³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96B963D1-3139-4C4A-8BDE-E631895D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同じ体積を比べると、密度の高い方が重い</a:t>
            </a:r>
          </a:p>
        </p:txBody>
      </p:sp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A27595FD-D044-4780-B777-5FC1F625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樹種だけでなく、水の量と体積の基準状態も指定する</a:t>
            </a:r>
          </a:p>
        </p:txBody>
      </p:sp>
    </p:spTree>
    <p:extLst>
      <p:ext uri="{BB962C8B-B14F-4D97-AF65-F5344CB8AC3E}">
        <p14:creationId xmlns:p14="http://schemas.microsoft.com/office/powerpoint/2010/main" val="15827532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正方形/長方形 65">
            <a:extLst xmlns:a="http://schemas.openxmlformats.org/drawingml/2006/main">
              <a:ext uri="{FF2B5EF4-FFF2-40B4-BE49-F238E27FC236}">
                <a16:creationId xmlns:a16="http://schemas.microsoft.com/office/drawing/2014/main" id="{9DF257C5-3357-4172-8BC4-591513EE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壁物質と空隙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A0AB44CF-E8DF-4200-A21F-DABFF436D56C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70D30D9C-69E1-4B03-854E-BA35F8B4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02B3AFCA-A11A-41A8-BB6E-28AF72EC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575B2B22-33F8-43AD-9EE0-A88BEFA9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51781AC1-43C6-4240-A00E-E95C310B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01930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A875EA1F-E02A-46EC-A98D-2F6C3762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195262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3CB9A4D2-1971-4AF7-B018-744C27D7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201930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4C817249-8374-434B-AC27-E4F0DA37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195262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正方形/長方形 9">
            <a:extLst xmlns:a="http://schemas.openxmlformats.org/drawingml/2006/main">
              <a:ext uri="{FF2B5EF4-FFF2-40B4-BE49-F238E27FC236}">
                <a16:creationId xmlns:a16="http://schemas.microsoft.com/office/drawing/2014/main" id="{F93FFD57-CFFC-4553-9C97-76E353B6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01930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正方形/長方形 10">
            <a:extLst xmlns:a="http://schemas.openxmlformats.org/drawingml/2006/main">
              <a:ext uri="{FF2B5EF4-FFF2-40B4-BE49-F238E27FC236}">
                <a16:creationId xmlns:a16="http://schemas.microsoft.com/office/drawing/2014/main" id="{4B3C01F3-2AA1-416F-9731-125C0A6E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95262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正方形/長方形 11">
            <a:extLst xmlns:a="http://schemas.openxmlformats.org/drawingml/2006/main">
              <a:ext uri="{FF2B5EF4-FFF2-40B4-BE49-F238E27FC236}">
                <a16:creationId xmlns:a16="http://schemas.microsoft.com/office/drawing/2014/main" id="{D2B0A7AA-99BF-450E-889E-55E434A8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1930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正方形/長方形 12">
            <a:extLst xmlns:a="http://schemas.openxmlformats.org/drawingml/2006/main">
              <a:ext uri="{FF2B5EF4-FFF2-40B4-BE49-F238E27FC236}">
                <a16:creationId xmlns:a16="http://schemas.microsoft.com/office/drawing/2014/main" id="{3F2CE5CE-2B99-4E03-8790-F5537C67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95262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正方形/長方形 13">
            <a:extLst xmlns:a="http://schemas.openxmlformats.org/drawingml/2006/main">
              <a:ext uri="{FF2B5EF4-FFF2-40B4-BE49-F238E27FC236}">
                <a16:creationId xmlns:a16="http://schemas.microsoft.com/office/drawing/2014/main" id="{9A8F73CE-8D4F-49C6-B041-FAD674D6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01930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正方形/長方形 14">
            <a:extLst xmlns:a="http://schemas.openxmlformats.org/drawingml/2006/main">
              <a:ext uri="{FF2B5EF4-FFF2-40B4-BE49-F238E27FC236}">
                <a16:creationId xmlns:a16="http://schemas.microsoft.com/office/drawing/2014/main" id="{38F3A4E5-5E35-4C7A-A24F-3DCF5455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95262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正方形/長方形 15">
            <a:extLst xmlns:a="http://schemas.openxmlformats.org/drawingml/2006/main">
              <a:ext uri="{FF2B5EF4-FFF2-40B4-BE49-F238E27FC236}">
                <a16:creationId xmlns:a16="http://schemas.microsoft.com/office/drawing/2014/main" id="{4B7935E6-F9F6-40DD-BC58-1C83948D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01930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正方形/長方形 16">
            <a:extLst xmlns:a="http://schemas.openxmlformats.org/drawingml/2006/main">
              <a:ext uri="{FF2B5EF4-FFF2-40B4-BE49-F238E27FC236}">
                <a16:creationId xmlns:a16="http://schemas.microsoft.com/office/drawing/2014/main" id="{B44A7620-4495-48DD-BC19-3A459938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95262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正方形/長方形 17">
            <a:extLst xmlns:a="http://schemas.openxmlformats.org/drawingml/2006/main">
              <a:ext uri="{FF2B5EF4-FFF2-40B4-BE49-F238E27FC236}">
                <a16:creationId xmlns:a16="http://schemas.microsoft.com/office/drawing/2014/main" id="{120C222A-1741-44F0-8A8E-B141D6EE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01930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正方形/長方形 18">
            <a:extLst xmlns:a="http://schemas.openxmlformats.org/drawingml/2006/main">
              <a:ext uri="{FF2B5EF4-FFF2-40B4-BE49-F238E27FC236}">
                <a16:creationId xmlns:a16="http://schemas.microsoft.com/office/drawing/2014/main" id="{364F4EC6-F3D5-40F1-A731-F47C11BA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6700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正方形/長方形 19">
            <a:extLst xmlns:a="http://schemas.openxmlformats.org/drawingml/2006/main">
              <a:ext uri="{FF2B5EF4-FFF2-40B4-BE49-F238E27FC236}">
                <a16:creationId xmlns:a16="http://schemas.microsoft.com/office/drawing/2014/main" id="{AE1D39F6-1E1C-49AC-B84E-191D583B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73367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正方形/長方形 20">
            <a:extLst xmlns:a="http://schemas.openxmlformats.org/drawingml/2006/main">
              <a:ext uri="{FF2B5EF4-FFF2-40B4-BE49-F238E27FC236}">
                <a16:creationId xmlns:a16="http://schemas.microsoft.com/office/drawing/2014/main" id="{DBB4D00E-5BF6-47E3-82FA-9BE46D93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66700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正方形/長方形 21">
            <a:extLst xmlns:a="http://schemas.openxmlformats.org/drawingml/2006/main">
              <a:ext uri="{FF2B5EF4-FFF2-40B4-BE49-F238E27FC236}">
                <a16:creationId xmlns:a16="http://schemas.microsoft.com/office/drawing/2014/main" id="{E76FE94E-728A-4078-8B71-F68BFB01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273367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正方形/長方形 22">
            <a:extLst xmlns:a="http://schemas.openxmlformats.org/drawingml/2006/main">
              <a:ext uri="{FF2B5EF4-FFF2-40B4-BE49-F238E27FC236}">
                <a16:creationId xmlns:a16="http://schemas.microsoft.com/office/drawing/2014/main" id="{0E86F6D7-078C-405D-A22C-BD50A8DA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66700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正方形/長方形 23">
            <a:extLst xmlns:a="http://schemas.openxmlformats.org/drawingml/2006/main">
              <a:ext uri="{FF2B5EF4-FFF2-40B4-BE49-F238E27FC236}">
                <a16:creationId xmlns:a16="http://schemas.microsoft.com/office/drawing/2014/main" id="{D683FCBB-FEF3-43CA-ACF0-F2AA9536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73367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正方形/長方形 24">
            <a:extLst xmlns:a="http://schemas.openxmlformats.org/drawingml/2006/main">
              <a:ext uri="{FF2B5EF4-FFF2-40B4-BE49-F238E27FC236}">
                <a16:creationId xmlns:a16="http://schemas.microsoft.com/office/drawing/2014/main" id="{092BCC64-2B91-4246-85C6-A0E98EC3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6700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正方形/長方形 25">
            <a:extLst xmlns:a="http://schemas.openxmlformats.org/drawingml/2006/main">
              <a:ext uri="{FF2B5EF4-FFF2-40B4-BE49-F238E27FC236}">
                <a16:creationId xmlns:a16="http://schemas.microsoft.com/office/drawing/2014/main" id="{4BBB1F60-F614-4430-B578-5A3B1823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3367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正方形/長方形 26">
            <a:extLst xmlns:a="http://schemas.openxmlformats.org/drawingml/2006/main">
              <a:ext uri="{FF2B5EF4-FFF2-40B4-BE49-F238E27FC236}">
                <a16:creationId xmlns:a16="http://schemas.microsoft.com/office/drawing/2014/main" id="{B78EDC2E-201E-4043-85B6-89EC97C2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6700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正方形/長方形 27">
            <a:extLst xmlns:a="http://schemas.openxmlformats.org/drawingml/2006/main">
              <a:ext uri="{FF2B5EF4-FFF2-40B4-BE49-F238E27FC236}">
                <a16:creationId xmlns:a16="http://schemas.microsoft.com/office/drawing/2014/main" id="{8B73E12D-5D13-4452-9878-95D00233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73367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正方形/長方形 28">
            <a:extLst xmlns:a="http://schemas.openxmlformats.org/drawingml/2006/main">
              <a:ext uri="{FF2B5EF4-FFF2-40B4-BE49-F238E27FC236}">
                <a16:creationId xmlns:a16="http://schemas.microsoft.com/office/drawing/2014/main" id="{532AD5B2-DCE7-469F-A209-A74EBBF9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6700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正方形/長方形 29">
            <a:extLst xmlns:a="http://schemas.openxmlformats.org/drawingml/2006/main">
              <a:ext uri="{FF2B5EF4-FFF2-40B4-BE49-F238E27FC236}">
                <a16:creationId xmlns:a16="http://schemas.microsoft.com/office/drawing/2014/main" id="{B82FEB92-E6A7-445E-993B-0A65E0F7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73367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正方形/長方形 30">
            <a:extLst xmlns:a="http://schemas.openxmlformats.org/drawingml/2006/main">
              <a:ext uri="{FF2B5EF4-FFF2-40B4-BE49-F238E27FC236}">
                <a16:creationId xmlns:a16="http://schemas.microsoft.com/office/drawing/2014/main" id="{09AD8EE4-CD93-4ECC-9D59-CDFF0C24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66700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正方形/長方形 31">
            <a:extLst xmlns:a="http://schemas.openxmlformats.org/drawingml/2006/main">
              <a:ext uri="{FF2B5EF4-FFF2-40B4-BE49-F238E27FC236}">
                <a16:creationId xmlns:a16="http://schemas.microsoft.com/office/drawing/2014/main" id="{8B90739D-496E-4271-B59C-8E89FADE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73367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正方形/長方形 32">
            <a:extLst xmlns:a="http://schemas.openxmlformats.org/drawingml/2006/main">
              <a:ext uri="{FF2B5EF4-FFF2-40B4-BE49-F238E27FC236}">
                <a16:creationId xmlns:a16="http://schemas.microsoft.com/office/drawing/2014/main" id="{88D2DF77-AFB1-45E5-AD39-CA119260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38137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正方形/長方形 33">
            <a:extLst xmlns:a="http://schemas.openxmlformats.org/drawingml/2006/main">
              <a:ext uri="{FF2B5EF4-FFF2-40B4-BE49-F238E27FC236}">
                <a16:creationId xmlns:a16="http://schemas.microsoft.com/office/drawing/2014/main" id="{E2EF9F58-E852-42F2-9EFC-7FE73197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44805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正方形/長方形 34">
            <a:extLst xmlns:a="http://schemas.openxmlformats.org/drawingml/2006/main">
              <a:ext uri="{FF2B5EF4-FFF2-40B4-BE49-F238E27FC236}">
                <a16:creationId xmlns:a16="http://schemas.microsoft.com/office/drawing/2014/main" id="{CB73E3D1-B5A8-4B61-AB6E-8EDD2B93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38137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" name="正方形/長方形 35">
            <a:extLst xmlns:a="http://schemas.openxmlformats.org/drawingml/2006/main">
              <a:ext uri="{FF2B5EF4-FFF2-40B4-BE49-F238E27FC236}">
                <a16:creationId xmlns:a16="http://schemas.microsoft.com/office/drawing/2014/main" id="{43F3E171-58B9-40B7-8301-7281A416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344805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正方形/長方形 36">
            <a:extLst xmlns:a="http://schemas.openxmlformats.org/drawingml/2006/main">
              <a:ext uri="{FF2B5EF4-FFF2-40B4-BE49-F238E27FC236}">
                <a16:creationId xmlns:a16="http://schemas.microsoft.com/office/drawing/2014/main" id="{A675DF06-ED99-47F8-8A05-8DB48C4C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38137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正方形/長方形 37">
            <a:extLst xmlns:a="http://schemas.openxmlformats.org/drawingml/2006/main">
              <a:ext uri="{FF2B5EF4-FFF2-40B4-BE49-F238E27FC236}">
                <a16:creationId xmlns:a16="http://schemas.microsoft.com/office/drawing/2014/main" id="{675B9089-4BBD-4515-95D1-811A13FC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44805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正方形/長方形 38">
            <a:extLst xmlns:a="http://schemas.openxmlformats.org/drawingml/2006/main">
              <a:ext uri="{FF2B5EF4-FFF2-40B4-BE49-F238E27FC236}">
                <a16:creationId xmlns:a16="http://schemas.microsoft.com/office/drawing/2014/main" id="{CFA84399-5653-4989-8D37-433E310C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38137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正方形/長方形 39">
            <a:extLst xmlns:a="http://schemas.openxmlformats.org/drawingml/2006/main">
              <a:ext uri="{FF2B5EF4-FFF2-40B4-BE49-F238E27FC236}">
                <a16:creationId xmlns:a16="http://schemas.microsoft.com/office/drawing/2014/main" id="{F40D82AC-E880-4896-85AC-3D27A782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4805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正方形/長方形 40">
            <a:extLst xmlns:a="http://schemas.openxmlformats.org/drawingml/2006/main">
              <a:ext uri="{FF2B5EF4-FFF2-40B4-BE49-F238E27FC236}">
                <a16:creationId xmlns:a16="http://schemas.microsoft.com/office/drawing/2014/main" id="{59C3C901-7428-4584-9F57-12EF10BC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38137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正方形/長方形 41">
            <a:extLst xmlns:a="http://schemas.openxmlformats.org/drawingml/2006/main">
              <a:ext uri="{FF2B5EF4-FFF2-40B4-BE49-F238E27FC236}">
                <a16:creationId xmlns:a16="http://schemas.microsoft.com/office/drawing/2014/main" id="{CB83F059-C318-487A-B12D-44A64FE7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44805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正方形/長方形 42">
            <a:extLst xmlns:a="http://schemas.openxmlformats.org/drawingml/2006/main">
              <a:ext uri="{FF2B5EF4-FFF2-40B4-BE49-F238E27FC236}">
                <a16:creationId xmlns:a16="http://schemas.microsoft.com/office/drawing/2014/main" id="{4060D80F-9268-4DCC-A8E2-83BFE2EC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38137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正方形/長方形 43">
            <a:extLst xmlns:a="http://schemas.openxmlformats.org/drawingml/2006/main">
              <a:ext uri="{FF2B5EF4-FFF2-40B4-BE49-F238E27FC236}">
                <a16:creationId xmlns:a16="http://schemas.microsoft.com/office/drawing/2014/main" id="{005EC980-57CB-49E1-BA12-99A00C04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44805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正方形/長方形 44">
            <a:extLst xmlns:a="http://schemas.openxmlformats.org/drawingml/2006/main">
              <a:ext uri="{FF2B5EF4-FFF2-40B4-BE49-F238E27FC236}">
                <a16:creationId xmlns:a16="http://schemas.microsoft.com/office/drawing/2014/main" id="{9F667D37-A0BF-4615-8E1B-DE1F7AF8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381375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" name="正方形/長方形 45">
            <a:extLst xmlns:a="http://schemas.openxmlformats.org/drawingml/2006/main">
              <a:ext uri="{FF2B5EF4-FFF2-40B4-BE49-F238E27FC236}">
                <a16:creationId xmlns:a16="http://schemas.microsoft.com/office/drawing/2014/main" id="{C5061AA2-EDEF-4EC7-A47D-A5D38266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3448050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正方形/長方形 46">
            <a:extLst xmlns:a="http://schemas.openxmlformats.org/drawingml/2006/main">
              <a:ext uri="{FF2B5EF4-FFF2-40B4-BE49-F238E27FC236}">
                <a16:creationId xmlns:a16="http://schemas.microsoft.com/office/drawing/2014/main" id="{43F19193-3E7C-4935-9C68-C6FD8E50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" name="正方形/長方形 47">
            <a:extLst xmlns:a="http://schemas.openxmlformats.org/drawingml/2006/main">
              <a:ext uri="{FF2B5EF4-FFF2-40B4-BE49-F238E27FC236}">
                <a16:creationId xmlns:a16="http://schemas.microsoft.com/office/drawing/2014/main" id="{30A1115B-217B-402E-9B67-42E4D94F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16242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正方形/長方形 48">
            <a:extLst xmlns:a="http://schemas.openxmlformats.org/drawingml/2006/main">
              <a:ext uri="{FF2B5EF4-FFF2-40B4-BE49-F238E27FC236}">
                <a16:creationId xmlns:a16="http://schemas.microsoft.com/office/drawing/2014/main" id="{740E622B-D384-4735-A914-F172B2F2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09575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正方形/長方形 49">
            <a:extLst xmlns:a="http://schemas.openxmlformats.org/drawingml/2006/main">
              <a:ext uri="{FF2B5EF4-FFF2-40B4-BE49-F238E27FC236}">
                <a16:creationId xmlns:a16="http://schemas.microsoft.com/office/drawing/2014/main" id="{E01A5A52-4561-49F2-9323-14A5A3D8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16242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正方形/長方形 50">
            <a:extLst xmlns:a="http://schemas.openxmlformats.org/drawingml/2006/main">
              <a:ext uri="{FF2B5EF4-FFF2-40B4-BE49-F238E27FC236}">
                <a16:creationId xmlns:a16="http://schemas.microsoft.com/office/drawing/2014/main" id="{B0B0B4B2-A81C-4806-B5FF-DE4A85E1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09575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" name="正方形/長方形 51">
            <a:extLst xmlns:a="http://schemas.openxmlformats.org/drawingml/2006/main">
              <a:ext uri="{FF2B5EF4-FFF2-40B4-BE49-F238E27FC236}">
                <a16:creationId xmlns:a16="http://schemas.microsoft.com/office/drawing/2014/main" id="{3FE1113F-2520-4B71-9FD7-35A9B5CB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16242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" name="正方形/長方形 52">
            <a:extLst xmlns:a="http://schemas.openxmlformats.org/drawingml/2006/main">
              <a:ext uri="{FF2B5EF4-FFF2-40B4-BE49-F238E27FC236}">
                <a16:creationId xmlns:a16="http://schemas.microsoft.com/office/drawing/2014/main" id="{315835ED-36A6-4E67-A6C0-8951BF88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09575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正方形/長方形 53">
            <a:extLst xmlns:a="http://schemas.openxmlformats.org/drawingml/2006/main">
              <a:ext uri="{FF2B5EF4-FFF2-40B4-BE49-F238E27FC236}">
                <a16:creationId xmlns:a16="http://schemas.microsoft.com/office/drawing/2014/main" id="{03523B1B-E8EF-4BB6-9AC1-A6BBE38E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6242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5" name="正方形/長方形 54">
            <a:extLst xmlns:a="http://schemas.openxmlformats.org/drawingml/2006/main">
              <a:ext uri="{FF2B5EF4-FFF2-40B4-BE49-F238E27FC236}">
                <a16:creationId xmlns:a16="http://schemas.microsoft.com/office/drawing/2014/main" id="{AAC9EB1E-A854-4D8B-AB1E-891A6E57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9575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6" name="正方形/長方形 55">
            <a:extLst xmlns:a="http://schemas.openxmlformats.org/drawingml/2006/main">
              <a:ext uri="{FF2B5EF4-FFF2-40B4-BE49-F238E27FC236}">
                <a16:creationId xmlns:a16="http://schemas.microsoft.com/office/drawing/2014/main" id="{50016722-ADC8-40E2-B1EF-C282DDD9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6242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7" name="正方形/長方形 56">
            <a:extLst xmlns:a="http://schemas.openxmlformats.org/drawingml/2006/main">
              <a:ext uri="{FF2B5EF4-FFF2-40B4-BE49-F238E27FC236}">
                <a16:creationId xmlns:a16="http://schemas.microsoft.com/office/drawing/2014/main" id="{B012D5D6-5425-4D5F-8E9E-164E68E1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09575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正方形/長方形 57">
            <a:extLst xmlns:a="http://schemas.openxmlformats.org/drawingml/2006/main">
              <a:ext uri="{FF2B5EF4-FFF2-40B4-BE49-F238E27FC236}">
                <a16:creationId xmlns:a16="http://schemas.microsoft.com/office/drawing/2014/main" id="{6069E7A6-E2B8-4758-BACC-F43FC745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16242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正方形/長方形 58">
            <a:extLst xmlns:a="http://schemas.openxmlformats.org/drawingml/2006/main">
              <a:ext uri="{FF2B5EF4-FFF2-40B4-BE49-F238E27FC236}">
                <a16:creationId xmlns:a16="http://schemas.microsoft.com/office/drawing/2014/main" id="{3ABB9CFC-1A7C-4D7F-9FFC-169308AD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095750"/>
            <a:ext cx="714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6BD"/>
          </a:solidFill>
          <a:ln xmlns:a="http://schemas.openxmlformats.org/drawingml/2006/main" w="14288">
            <a:solidFill>
              <a:srgbClr val="A58A6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正方形/長方形 59">
            <a:extLst xmlns:a="http://schemas.openxmlformats.org/drawingml/2006/main">
              <a:ext uri="{FF2B5EF4-FFF2-40B4-BE49-F238E27FC236}">
                <a16:creationId xmlns:a16="http://schemas.microsoft.com/office/drawing/2014/main" id="{22F5AA2B-A4B3-4914-B758-4BB4C2F0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162425"/>
            <a:ext cx="5619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1" name="正方形/長方形 60">
            <a:extLst xmlns:a="http://schemas.openxmlformats.org/drawingml/2006/main">
              <a:ext uri="{FF2B5EF4-FFF2-40B4-BE49-F238E27FC236}">
                <a16:creationId xmlns:a16="http://schemas.microsoft.com/office/drawing/2014/main" id="{5F6ED2D1-C422-40CD-9156-D03C1823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9335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壁物質と空隙を区別</a:t>
            </a:r>
          </a:p>
        </p:txBody>
      </p:sp>
      <p:sp>
        <p:nvSpPr>
          <p:cNvPr id="62" name="正方形/長方形 61">
            <a:extLst xmlns:a="http://schemas.openxmlformats.org/drawingml/2006/main">
              <a:ext uri="{FF2B5EF4-FFF2-40B4-BE49-F238E27FC236}">
                <a16:creationId xmlns:a16="http://schemas.microsoft.com/office/drawing/2014/main" id="{2FC49CCD-95D0-4BE7-B943-70962EA6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098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空隙を含む見掛け密度</a:t>
            </a:r>
          </a:p>
        </p:txBody>
      </p:sp>
      <p:sp>
        <p:nvSpPr>
          <p:cNvPr id="63" name="正方形/長方形 62">
            <a:extLst xmlns:a="http://schemas.openxmlformats.org/drawingml/2006/main">
              <a:ext uri="{FF2B5EF4-FFF2-40B4-BE49-F238E27FC236}">
                <a16:creationId xmlns:a16="http://schemas.microsoft.com/office/drawing/2014/main" id="{E87B4B77-0F14-4F6B-9799-5C83C268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861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水の量と状態を確認</a:t>
            </a:r>
          </a:p>
        </p:txBody>
      </p:sp>
      <p:sp>
        <p:nvSpPr>
          <p:cNvPr id="64" name="正方形/長方形 63">
            <a:extLst xmlns:a="http://schemas.openxmlformats.org/drawingml/2006/main">
              <a:ext uri="{FF2B5EF4-FFF2-40B4-BE49-F238E27FC236}">
                <a16:creationId xmlns:a16="http://schemas.microsoft.com/office/drawing/2014/main" id="{47D8EDEE-9C19-4E84-98D8-A5E55C74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5624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密度を強度値と同一視しない</a:t>
            </a:r>
          </a:p>
        </p:txBody>
      </p:sp>
    </p:spTree>
    <p:extLst>
      <p:ext uri="{BB962C8B-B14F-4D97-AF65-F5344CB8AC3E}">
        <p14:creationId xmlns:p14="http://schemas.microsoft.com/office/powerpoint/2010/main" val="4050536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正方形/長方形 9">
            <a:extLst xmlns:a="http://schemas.openxmlformats.org/drawingml/2006/main">
              <a:ext uri="{FF2B5EF4-FFF2-40B4-BE49-F238E27FC236}">
                <a16:creationId xmlns:a16="http://schemas.microsoft.com/office/drawing/2014/main" id="{0A627600-01F1-4ACA-AF53-D34955BB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比重は基準密度との比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ACF54903-A002-4C45-9370-0D6BC95F6595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C1DAF6FE-1627-44A7-A552-AC421202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684ABBAC-EFE6-4290-B538-2C4BD624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260136E6-CEE0-4B22-ACB0-088FEF5A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比重G＝ρ/ρ水。同じ単位の密度同士を割るので無次元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BCB4B1EB-B27F-4A90-BB01-DFCEBBB9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基準水の密度を1.00 g/cm³とすると、g/cm³の密度と比重の数値が一致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E506AEE5-AF3C-40D9-B3A3-3544F227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0.50 g/cm³＝500 kg/m³の木材は、この基準では比重0.50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7EB388D9-0FE1-46EA-BD0A-C25B4DE4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木材では、全乾・気乾・基本などの質量と体積の組合せも区別する</a:t>
            </a:r>
          </a:p>
        </p:txBody>
      </p:sp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A87F58BB-1CC8-4702-9C5A-AC09E4B9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英語資料のspecific gravityは、分子と分母の状態を確かめて読む</a:t>
            </a:r>
          </a:p>
        </p:txBody>
      </p:sp>
    </p:spTree>
    <p:extLst>
      <p:ext uri="{BB962C8B-B14F-4D97-AF65-F5344CB8AC3E}">
        <p14:creationId xmlns:p14="http://schemas.microsoft.com/office/powerpoint/2010/main" val="11573082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0A913B93-C1F6-45A4-9052-F8FAE17F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比較するデータと条件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CB22EB00-F4A6-46DB-BA3D-F680F03CEBAE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4772589F-DD35-4AC4-BD69-0944DDCC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0B626908-82F7-4F7D-8646-1725DE63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5" name="表 4">
            <a:extLst xmlns:a="http://schemas.openxmlformats.org/drawingml/2006/main">
              <a:ext uri="{FF2B5EF4-FFF2-40B4-BE49-F238E27FC236}">
                <a16:creationId xmlns:a16="http://schemas.microsoft.com/office/drawing/2014/main" id="{302DC1A6-D7E2-481D-ACC4-BF301131ACC4}"/>
              </a:ext>
            </a:extLst>
          </p:cNvPr>
          <p:cNvGraphicFramePr/>
          <p:nvPr/>
        </p:nvGraphicFramePr>
        <p:xfrm>
          <a:off xmlns:a="http://schemas.openxmlformats.org/drawingml/2006/main" x="685800" y="1733550"/>
          <a:ext xmlns:a="http://schemas.openxmlformats.org/drawingml/2006/main" cx="108204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測定量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試料Aのモデル値</a:t>
                      </a:r>
                    </a:p>
                  </a:txBody>
                  <a:tcPr marL="91440" marR="91440" marT="45720" marB="45720" anchor="ctr">
                    <a:lnL w="9525" cmpd="sng">
                      <a:solidFill>
                        <a:srgbClr val="C8D3DD"/>
                      </a:solidFill>
                      <a:prstDash val="solid"/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91440" marR="91440" marT="45720" marB="45720" anchor="ctr">
                    <a:lnL w="9525" cmpd="sng">
                      <a:solidFill>
                        <a:srgbClr val="C8D3DD"/>
                      </a:solidFill>
                      <a:prstDash val="solid"/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50 g</a:t>
                      </a:r>
                    </a:p>
                  </a:txBody>
                  <a:tcPr marL="91440" marR="91440" marT="45720" marB="45720" anchor="ctr">
                    <a:lnL w="9525" cmpd="sng">
                      <a:solidFill>
                        <a:srgbClr val="C8D3DD"/>
                      </a:solidFill>
                      <a:prstDash val="solid"/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絶乾</a:t>
                      </a:r>
                    </a:p>
                  </a:txBody>
                  <a:tcPr marL="91440" marR="91440" marT="45720" marB="45720" anchor="ctr">
                    <a:lnL w="9525" cmpd="sng">
                      <a:solidFill>
                        <a:srgbClr val="C8D3DD"/>
                      </a:solidFill>
                      <a:prstDash val="solid"/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体積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100 cm³</a:t>
                      </a:r>
                    </a:p>
                  </a:txBody>
                  <a:tcPr marL="91440" marR="91440" marT="45720" marB="45720" anchor="ctr">
                    <a:lnL w="9525" cmpd="sng">
                      <a:solidFill>
                        <a:srgbClr val="C8D3DD"/>
                      </a:solidFill>
                      <a:prstDash val="solid"/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絶乾</a:t>
                      </a:r>
                    </a:p>
                  </a:txBody>
                  <a:tcPr marL="91440" marR="91440" marT="45720" marB="45720" anchor="ctr">
                    <a:lnL w="9525" cmpd="sng">
                      <a:solidFill>
                        <a:srgbClr val="C8D3DD"/>
                      </a:solidFill>
                      <a:prstDash val="solid"/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体積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110 cm³</a:t>
                      </a:r>
                    </a:p>
                  </a:txBody>
                  <a:tcPr marL="91440" marR="91440" marT="45720" marB="45720" anchor="ctr">
                    <a:lnL w="9525" cmpd="sng">
                      <a:solidFill>
                        <a:srgbClr val="C8D3DD"/>
                      </a:solidFill>
                      <a:prstDash val="solid"/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飽水</a:t>
                      </a:r>
                    </a:p>
                  </a:txBody>
                  <a:tcPr marL="91440" marR="91440" marT="45720" marB="45720" anchor="ctr">
                    <a:lnL w="9525" cmpd="sng">
                      <a:solidFill>
                        <a:srgbClr val="C8D3DD"/>
                      </a:solidFill>
                      <a:prstDash val="solid"/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基準水密度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1.00 g/cm³</a:t>
                      </a:r>
                    </a:p>
                  </a:txBody>
                  <a:tcPr marL="91440" marR="91440" marT="45720" marB="45720" anchor="ctr">
                    <a:lnL w="9525" cmpd="sng">
                      <a:solidFill>
                        <a:srgbClr val="C8D3DD"/>
                      </a:solidFill>
                      <a:prstDash val="solid"/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本演習の指定値</a:t>
                      </a:r>
                    </a:p>
                  </a:txBody>
                  <a:tcPr marL="91440" marR="91440" marT="45720" marB="45720" anchor="ctr">
                    <a:lnL w="9525" cmpd="sng">
                      <a:solidFill>
                        <a:srgbClr val="C8D3DD"/>
                      </a:solidFill>
                      <a:prstDash val="solid"/>
                    </a:lnL>
                    <a:lnR w="9525">
                      <a:solidFill>
                        <a:srgbClr val="C8D3DD"/>
                      </a:solidFill>
                    </a:lnR>
                    <a:lnT w="9525" cmpd="sng">
                      <a:solidFill>
                        <a:srgbClr val="C8D3DD"/>
                      </a:solidFill>
                      <a:prstDash val="soli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3838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正方形/長方形 9">
            <a:extLst xmlns:a="http://schemas.openxmlformats.org/drawingml/2006/main">
              <a:ext uri="{FF2B5EF4-FFF2-40B4-BE49-F238E27FC236}">
                <a16:creationId xmlns:a16="http://schemas.microsoft.com/office/drawing/2014/main" id="{340CDD18-A691-411A-B8B2-BCB4F203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全乾密度と気乾密度と基本密度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9379C2B3-1F35-4C7C-9C0A-61D8056410A2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9BA8B540-9873-48DE-92B8-0EFEAD0C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971F546C-B449-47BD-BE70-C6BE1FFE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95625925-220D-4383-A977-849BBA4B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全乾密度ρ₀＝全乾質量m₀/全乾体積V₀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39C0508B-8F9A-41A0-A0CD-494AFA8D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気乾密度ρu＝その含水率の質量mu/そのときの体積Vu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4AB9AE0D-1A8C-4235-95A5-C22D5322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基本密度ρb＝全乾質量m₀/飽水時体積V飽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ECDCFC56-A7C9-4115-9E80-75AF62E5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水が加わると質量だけでなく、細胞壁の膨潤により体積も変わる</a:t>
            </a:r>
          </a:p>
        </p:txBody>
      </p:sp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5B8A9769-09BE-4608-972B-91875FAF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比較表には数値だけでなく、質量・体積の状態を併記する</a:t>
            </a:r>
          </a:p>
        </p:txBody>
      </p:sp>
    </p:spTree>
    <p:extLst>
      <p:ext uri="{BB962C8B-B14F-4D97-AF65-F5344CB8AC3E}">
        <p14:creationId xmlns:p14="http://schemas.microsoft.com/office/powerpoint/2010/main" val="16740346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B10BB083-175D-49D2-A992-D268CDBE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演習1　全乾密度と基本密度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28493718-8AB0-48B5-A259-A8EF0B155B5A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5AFF0F44-78F9-4B88-97BE-D6AF8DCF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60D1AD5B-B870-49D9-9F40-03124A40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B5455738-D69E-42A8-9E8B-9C08A7EC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表から全乾密度と基本密度を求める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3E14D3D9-4D84-4DEB-B71A-F045011E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860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それぞれkg/m³へ換算する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2F0D3F6E-B923-48A9-A052-56D92D99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対応する比重を求める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425A94BC-BC0D-42D1-ABB2-A4A180AB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二つの値が違う理由を、分母から説明する</a:t>
            </a:r>
          </a:p>
        </p:txBody>
      </p:sp>
    </p:spTree>
    <p:extLst>
      <p:ext uri="{BB962C8B-B14F-4D97-AF65-F5344CB8AC3E}">
        <p14:creationId xmlns:p14="http://schemas.microsoft.com/office/powerpoint/2010/main" val="16264197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32CBDA73-07FF-4FA3-9010-F412CC2C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演習1の解説　全乾密度と基本密度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69C8830E-42F7-4415-A09F-4AA8E09F22ED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82E26B2D-2363-42F6-AC8B-D099518F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E0E5DC26-D849-4186-B751-3A72F7D6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99D4D20E-2CC7-4DB0-BC45-16ECE131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全乾密度 = 50/100 = 0.500 g/cm³ = 500 kg/m³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6D385B68-904A-4154-97C7-8C9B3B96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860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基本密度 = 50/110 ≈ 0.455 g/cm³ = 455 kg/m³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C45BEAFA-CD7D-4673-8FD2-33ACE6EC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対応する比重は0.500、約0.455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B94B533B-D93B-468F-88AD-90B296ED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分母の体積の状態が違うため</a:t>
            </a:r>
          </a:p>
        </p:txBody>
      </p:sp>
    </p:spTree>
    <p:extLst>
      <p:ext uri="{BB962C8B-B14F-4D97-AF65-F5344CB8AC3E}">
        <p14:creationId xmlns:p14="http://schemas.microsoft.com/office/powerpoint/2010/main" val="19343698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正方形/長方形 13">
            <a:extLst xmlns:a="http://schemas.openxmlformats.org/drawingml/2006/main">
              <a:ext uri="{FF2B5EF4-FFF2-40B4-BE49-F238E27FC236}">
                <a16:creationId xmlns:a16="http://schemas.microsoft.com/office/drawing/2014/main" id="{8F696A32-94C0-44C2-95BE-53561847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質量と体積の基準状態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D37603C6-DC02-4C15-B18E-105E104DCADB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4F0B2016-E05A-4FCD-9D8D-D4ECA5F8E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747CF14D-1351-4CF6-A350-73AC85F3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85A87B7F-FC94-41B1-A973-8D646A3C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90750"/>
            <a:ext cx="233362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4288">
            <a:solidFill>
              <a:srgbClr val="B55D0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2AC6F237-D057-4531-82F9-6EDB2777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95500"/>
            <a:ext cx="251460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CEF"/>
          </a:solidFill>
          <a:ln xmlns:a="http://schemas.openxmlformats.org/drawingml/2006/main" w="14288">
            <a:solidFill>
              <a:srgbClr val="245C9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247B2212-B083-4904-9B85-5A6C979C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7148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defPPr>
            <a:lvl1pPr algn="ctr">
              <a:buNone/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1pPr>
            <a:lvl2pPr algn="ctr">
              <a:buNone/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2pPr>
            <a:lvl3pPr algn="ctr">
              <a:buNone/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3pPr>
            <a:lvl4pPr algn="ctr">
              <a:buNone/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4pPr>
            <a:lvl5pPr algn="ctr">
              <a:buNone/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5pPr>
            <a:lvl6pPr algn="ctr">
              <a:buNone/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6pPr>
            <a:lvl7pPr algn="ctr">
              <a:buNone/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7pPr>
            <a:lvl8pPr algn="ctr">
              <a:buNone/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8pPr>
            <a:lvl9pPr algn="ctr">
              <a:buNone/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buNone/>
              <a:def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B55D09"/>
                </a:solidFill>
                <a:latin typeface="Yu Gothic"/>
                <a:ea typeface="Yu Gothic"/>
                <a:cs typeface="Yu Gothic"/>
              </a:rPr>
              <a:t>絶乾体積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59308E23-1281-4579-B7D1-03BCA51D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1487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defPPr>
            <a:lvl1pPr algn="ctr">
              <a:buNone/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1pPr>
            <a:lvl2pPr algn="ctr">
              <a:buNone/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2pPr>
            <a:lvl3pPr algn="ctr">
              <a:buNone/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3pPr>
            <a:lvl4pPr algn="ctr">
              <a:buNone/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4pPr>
            <a:lvl5pPr algn="ctr">
              <a:buNone/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5pPr>
            <a:lvl6pPr algn="ctr">
              <a:buNone/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6pPr>
            <a:lvl7pPr algn="ctr">
              <a:buNone/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7pPr>
            <a:lvl8pPr algn="ctr">
              <a:buNone/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8pPr>
            <a:lvl9pPr algn="ctr">
              <a:buNone/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buNone/>
              <a:def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245C98"/>
                </a:solidFill>
                <a:latin typeface="Yu Gothic"/>
                <a:ea typeface="Yu Gothic"/>
                <a:cs typeface="Yu Gothic"/>
              </a:rPr>
              <a:t>飽水時体積</a:t>
            </a:r>
          </a:p>
        </p:txBody>
      </p:sp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537DBFEB-C448-455D-900C-4A6B7681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9335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分子：絶乾質量 m₀</a:t>
            </a:r>
          </a:p>
        </p:txBody>
      </p:sp>
      <p:sp>
        <p:nvSpPr>
          <p:cNvPr id="10" name="正方形/長方形 9">
            <a:extLst xmlns:a="http://schemas.openxmlformats.org/drawingml/2006/main">
              <a:ext uri="{FF2B5EF4-FFF2-40B4-BE49-F238E27FC236}">
                <a16:creationId xmlns:a16="http://schemas.microsoft.com/office/drawing/2014/main" id="{E2873FAE-9814-476C-B130-97AD8B18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098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分母：指定した体積</a:t>
            </a:r>
          </a:p>
        </p:txBody>
      </p:sp>
      <p:sp>
        <p:nvSpPr>
          <p:cNvPr id="11" name="正方形/長方形 10">
            <a:extLst xmlns:a="http://schemas.openxmlformats.org/drawingml/2006/main">
              <a:ext uri="{FF2B5EF4-FFF2-40B4-BE49-F238E27FC236}">
                <a16:creationId xmlns:a16="http://schemas.microsoft.com/office/drawing/2014/main" id="{D60FC19B-0EA1-4DED-B9AA-3B678F5C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861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体積の状態を混ぜない</a:t>
            </a:r>
          </a:p>
        </p:txBody>
      </p:sp>
      <p:sp>
        <p:nvSpPr>
          <p:cNvPr id="12" name="正方形/長方形 11">
            <a:extLst xmlns:a="http://schemas.openxmlformats.org/drawingml/2006/main">
              <a:ext uri="{FF2B5EF4-FFF2-40B4-BE49-F238E27FC236}">
                <a16:creationId xmlns:a16="http://schemas.microsoft.com/office/drawing/2014/main" id="{7C7A7E6C-3766-41AB-8901-C009F4A2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5624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寸法比は模式的</a:t>
            </a:r>
          </a:p>
        </p:txBody>
      </p:sp>
    </p:spTree>
    <p:extLst>
      <p:ext uri="{BB962C8B-B14F-4D97-AF65-F5344CB8AC3E}">
        <p14:creationId xmlns:p14="http://schemas.microsoft.com/office/powerpoint/2010/main" val="27805853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正方形/長方形 9">
            <a:extLst xmlns:a="http://schemas.openxmlformats.org/drawingml/2006/main">
              <a:ext uri="{FF2B5EF4-FFF2-40B4-BE49-F238E27FC236}">
                <a16:creationId xmlns:a16="http://schemas.microsoft.com/office/drawing/2014/main" id="{AD9B5460-831A-45CB-8721-FECEB5E8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木材の密度と空隙率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A66603AB-B450-47DE-B1BB-C606A37A5D83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BAFEE7EB-5583-408C-8E1C-0C920712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59242A96-E483-4C7F-9D6D-C931B423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72F81DFF-DBC5-4E9D-91C2-B3CD67E5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細胞壁物質の密度は、空隙を含む木材全体の密度より高い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0E2422DE-5566-464D-8F6E-6E3F863D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全乾モデルで壁物質密度を1.50 g/cm³とすると、ρ₀＝(1−P)ρ壁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6D24FF1B-8EE9-45BE-A0F7-C87B7836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Pは全乾外形体積に対する空隙体積の割合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1C5539C7-4A30-41BC-A8CC-8ED65A8A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ρ₀＝0.50 g/cm³なら、P＝1−0.50/1.50＝約0.667</a:t>
            </a:r>
          </a:p>
        </p:txBody>
      </p:sp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1E13E3BB-F30A-42BD-A15E-A106FF1A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空隙は水や薬液の移動、軽さ、断熱などを考える手掛かりになる</a:t>
            </a:r>
          </a:p>
        </p:txBody>
      </p:sp>
    </p:spTree>
    <p:extLst>
      <p:ext uri="{BB962C8B-B14F-4D97-AF65-F5344CB8AC3E}">
        <p14:creationId xmlns:p14="http://schemas.microsoft.com/office/powerpoint/2010/main" val="20428105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B422C6B1-5BA5-4395-AD3B-B279B613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演習2　気乾状態の密度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0C9AE13F-38F8-4FFD-B73B-33A07C035486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E1F44FC3-3D33-47B7-B8EB-A45970E6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D2CBEC69-988B-4F37-97D6-432CC995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6027CD66-F80C-46E7-AE4A-7604F086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同じ試料Aが、気乾状態では質量60 g・体積105 cm³だった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AAECD1CB-D8A0-4CA1-B22B-435359D3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気乾密度を求め、全乾密度との違いを説明する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D6C40D5D-3784-4AD0-8555-DBB5AC40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含水率＝100×(その時の質量−全乾質量)/全乾質量として計算する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58030430-E3D7-4011-8254-7529AF13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この試料の履歴が分からず、気乾密度の値だけがあれば、含水率を特定できるか</a:t>
            </a:r>
          </a:p>
        </p:txBody>
      </p:sp>
    </p:spTree>
    <p:extLst>
      <p:ext uri="{BB962C8B-B14F-4D97-AF65-F5344CB8AC3E}">
        <p14:creationId xmlns:p14="http://schemas.microsoft.com/office/powerpoint/2010/main" val="20302496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52047E8E-B90E-4255-9E1A-A530FBD2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演習2の解説　質量と体積の変化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5A61B59F-3845-4EA9-AE0C-D678F7881CD6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80BCB296-477B-4A6A-A957-67A84F75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AD1088F2-088D-490D-8FA0-7D57F2F6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CB46B7B6-2CCC-488F-B12D-33A973B8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気乾密度＝60/105＝約0.571 g/cm³＝571 kg/m³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0CA3586E-D730-4C98-AC0A-6CFAECAC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全乾状態50 g・100 cm³に比べ、質量も体積も増えている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938271CC-0F3F-49B9-BFA7-37AECC06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この同じ試料の全乾質量が分かるので、含水率は100×(60−50)/50＝20％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E6F6FB4F-04AE-4680-BE68-FBE12B71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密度の数値だけからは、水の質量と壁・空隙の割合を分離できない</a:t>
            </a:r>
          </a:p>
        </p:txBody>
      </p:sp>
    </p:spTree>
    <p:extLst>
      <p:ext uri="{BB962C8B-B14F-4D97-AF65-F5344CB8AC3E}">
        <p14:creationId xmlns:p14="http://schemas.microsoft.com/office/powerpoint/2010/main" val="73848943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正方形/長方形 9">
            <a:extLst xmlns:a="http://schemas.openxmlformats.org/drawingml/2006/main">
              <a:ext uri="{FF2B5EF4-FFF2-40B4-BE49-F238E27FC236}">
                <a16:creationId xmlns:a16="http://schemas.microsoft.com/office/drawing/2014/main" id="{6D932CC0-8AAD-41DB-8132-2D0952AD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同じ大きさの木片を比べる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AFC495B8-BE2E-4CD3-B856-21B5664F3734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98F8C053-B041-4108-A24B-05B15216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C52173CC-DD98-457B-845A-FEBB4CFD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1719119B-1AEE-478C-97B0-E9F69CC9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同じ外形寸法の木片を持ち比べ、質量を測定する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BB89B1A5-6B9A-4585-8E97-4D17A991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密度へ換算し、体感した重さの違いを説明する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E3233829-53A8-4E3D-B832-E04BB3CC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記録欄：寸法、質量、樹種、保管環境や含水状態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DDF0CF55-A6E5-4A29-BF96-357D614D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発問：重い試料は、水が多いのか、壁の割合が高いのか</a:t>
            </a:r>
          </a:p>
        </p:txBody>
      </p:sp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2E66936E-9DCD-432A-A6B1-9D30CEC7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教科書の接点：同じ大きさの材料の重さ／A(1)ア</a:t>
            </a:r>
          </a:p>
        </p:txBody>
      </p:sp>
    </p:spTree>
    <p:extLst>
      <p:ext uri="{BB962C8B-B14F-4D97-AF65-F5344CB8AC3E}">
        <p14:creationId xmlns:p14="http://schemas.microsoft.com/office/powerpoint/2010/main" val="4154387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600C10FF-C763-4733-913E-9CA1015D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確認問題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CC82DD95-0F6E-43A8-8F03-63E9AFD5BAC5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2C500634-3826-4AF3-8299-05D510AE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BDC7CA55-A5AC-4611-ADDA-894980C2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58BDC31D-26C0-497B-B2C1-18C34A6E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比重にkg/m³を付けるか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B5A65FA1-9214-4299-9C22-5CF71E1C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基本密度の分子は何か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041D1532-F66D-4952-B545-1B6163EE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測定状態不明の密度を比較してよいか</a:t>
            </a:r>
          </a:p>
        </p:txBody>
      </p:sp>
    </p:spTree>
    <p:extLst>
      <p:ext uri="{BB962C8B-B14F-4D97-AF65-F5344CB8AC3E}">
        <p14:creationId xmlns:p14="http://schemas.microsoft.com/office/powerpoint/2010/main" val="92557330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9BB5A-1A61-485A-9174-A0F86751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気乾含水率「約15%」の意味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EA9FF-1C14-4374-82F3-6392F55F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8CA133-62EE-4950-B9E1-A929E35B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7552B-82A7-4A6B-B132-1A964FC3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3CBC64-9145-48D5-B168-534E067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全国842地点：気候値EMCの平均 約15%、範囲 約12～19%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EDC60F-7C3E-4533-8FC2-55190D42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6222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齋藤・信田（2016）：1981～1995年の気象データから推定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F0D90-0EF7-473F-8798-CBD60B88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575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地域・季節で変化し、都市部と寒冷地等でも差がある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B04BF5-E715-4743-A992-5614C999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5292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全国平均を、全地点・全季節・室内の固定値にしない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0686E-50AA-4C82-B858-C6A5207A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2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第8回で月別の変化と、使用場所の温湿度を詳しく考える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4843BD-95F6-4297-B2EC-7028EC58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出典：木材学会誌62(5), 182–189. DOI:10.2488/jwrs.62.182</a:t>
            </a:r>
          </a:p>
        </p:txBody>
      </p:sp>
    </p:spTree>
    <p:extLst>
      <p:ext uri="{BB962C8B-B14F-4D97-AF65-F5344CB8AC3E}">
        <p14:creationId xmlns:p14="http://schemas.microsoft.com/office/powerpoint/2010/main" val="169277075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81F8EB-5CEB-4A27-898C-1138272E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月々の温湿度で、EMCの目標も動く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E9A622-80F8-413F-8B73-E9AB375E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38FC7-4B1F-4CA9-8043-B6513F6A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27162-5EE5-44AE-88FB-2EE1DA72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C843ECF0-017C-4336-AB06-73E479BB94F4}"/>
              </a:ext>
            </a:extLst>
          </p:cNvPr>
          <p:cNvGraphicFramePr/>
          <p:nvPr/>
        </p:nvGraphicFramePr>
        <p:xfrm>
          <a:off xmlns:a="http://schemas.openxmlformats.org/drawingml/2006/main" x="857250" y="1619250"/>
          <a:ext xmlns:a="http://schemas.openxmlformats.org/drawingml/2006/main" cx="10477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1a0e62472145da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7C0FD-0023-47E9-BB22-DD19BB82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67350"/>
            <a:ext cx="1047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気象庁1991–2020年の月平均温湿度 → Wood Handbook式(4–5)で計算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BD372-ED10-4730-8F67-7330A5FDE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95975"/>
            <a:ext cx="1047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木材含水率の実測ではない。室内・降雨・応答の遅れは含めない。</a:t>
            </a:r>
          </a:p>
        </p:txBody>
      </p:sp>
    </p:spTree>
    <p:extLst>
      <p:ext uri="{BB962C8B-B14F-4D97-AF65-F5344CB8AC3E}">
        <p14:creationId xmlns:p14="http://schemas.microsoft.com/office/powerpoint/2010/main" val="18796251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C2055A36-ECCC-4318-BE4B-46D26324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要点の整理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612C068D-2C67-4341-AFBA-38BF150B89F5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22C670D5-017F-4EA2-8537-92DFCDD4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3350B6F6-24DF-46DE-9405-2325805A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3DBA0092-302A-48E9-A6EA-554037BC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密度は単位付き、比重は基準との比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FCED2A43-3520-43FB-9813-C8CC7D8F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全乾・気乾・基本の定義を分ける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8BD17E32-A209-4956-84B3-D6321DA9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次は、含水率から水の量を扱う</a:t>
            </a:r>
          </a:p>
        </p:txBody>
      </p:sp>
    </p:spTree>
    <p:extLst>
      <p:ext uri="{BB962C8B-B14F-4D97-AF65-F5344CB8AC3E}">
        <p14:creationId xmlns:p14="http://schemas.microsoft.com/office/powerpoint/2010/main" val="121409956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0FEC764A-F475-4B47-B880-695115B6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復習と次の学習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20AF424A-8E0D-4F7C-BB46-8672449CF063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12BB6561-413C-4707-9B24-A9CF52A3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F57AB482-BC13-4BE2-977C-E28F5800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8A14DB24-65E6-41C4-ABC9-3151AB34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絶乾質量80 g、全乾体積160 cm³、飽水体積180 cm³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30BCFE66-D7E4-4E71-8987-2EF14EC8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全乾密度・基本密度・基本比重を求める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69AD9A44-E8B0-4A4F-A338-2B87CD1F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発展：壁物質の比重1.50のモデルで空隙を考える</a:t>
            </a:r>
          </a:p>
        </p:txBody>
      </p:sp>
    </p:spTree>
    <p:extLst>
      <p:ext uri="{BB962C8B-B14F-4D97-AF65-F5344CB8AC3E}">
        <p14:creationId xmlns:p14="http://schemas.microsoft.com/office/powerpoint/2010/main" val="19056279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正方形/長方形 11">
            <a:extLst xmlns:a="http://schemas.openxmlformats.org/drawingml/2006/main">
              <a:ext uri="{FF2B5EF4-FFF2-40B4-BE49-F238E27FC236}">
                <a16:creationId xmlns:a16="http://schemas.microsoft.com/office/drawing/2014/main" id="{DCD1AEA8-B877-4803-8A40-463479CC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参考資料と読み進め方</a:t>
            </a:r>
          </a:p>
        </p:txBody>
      </p:sp>
      <p:cxnSp>
        <p:nvCxnSpPr>
          <p:cNvPr id="2" name="直線矢印コネクタ 1">
            <a:extLst xmlns:a="http://schemas.openxmlformats.org/drawingml/2006/main">
              <a:ext uri="{FF2B5EF4-FFF2-40B4-BE49-F238E27FC236}">
                <a16:creationId xmlns:a16="http://schemas.microsoft.com/office/drawing/2014/main" id="{9A87E11E-8646-42E8-BF5F-823B5246699B}"/>
              </a:ext>
            </a:extLst>
          </p:cNvPr>
          <p:cNvCxnSpPr/>
          <p:nvPr/>
        </p:nvCxnSpPr>
        <p:spPr>
          <a:xfrm xmlns:a="http://schemas.openxmlformats.org/drawingml/2006/main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9B630A7E-B172-43CA-AE25-D7C2C32B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906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Wood Handbook 2021 第4章 </a:t>
            </a:r>
          </a:p>
        </p:txBody>
      </p:sp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FDB9443E-6C58-4B72-B542-4F8A5A65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https://research.fs.usda.gov/treesearch/62243</a:t>
            </a:r>
          </a:p>
        </p:txBody>
      </p:sp>
      <p:sp>
        <p:nvSpPr>
          <p:cNvPr id="5" name="正方形/長方形 4">
            <a:extLst xmlns:a="http://schemas.openxmlformats.org/drawingml/2006/main">
              <a:ext uri="{FF2B5EF4-FFF2-40B4-BE49-F238E27FC236}">
                <a16:creationId xmlns:a16="http://schemas.microsoft.com/office/drawing/2014/main" id="{E60DE9BE-B637-40FA-B24F-35E5EDF5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学習指導要領解説 A 材料と加工の技術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94CD32EA-8EDA-46B2-B11A-57BEAA6B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https://www.mext.go.jp/component/a_menu/education/micro_detail/__icsFiles/afieldfile/2019/03/18/1387018_009.pdf</a:t>
            </a:r>
          </a:p>
        </p:txBody>
      </p:sp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3F87937B-D868-4A96-8BD4-AA27442E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909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開隆堂 R7評価規準例 PDF1頁</a:t>
            </a:r>
          </a:p>
        </p:txBody>
      </p:sp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C40F1301-56DC-4350-9BD4-E0B8846E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https://www.kairyudo.co.jp/contents/04_shiryo/nenkei/chu/data/r7chu-gi_hyokakijun.pdf</a:t>
            </a:r>
          </a:p>
        </p:txBody>
      </p:sp>
      <p:sp>
        <p:nvSpPr>
          <p:cNvPr id="9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63A3D24A-F389-49FF-8234-88F22E1A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講義で扱った図・式・用語に該当する節を参照し、出典箇所を記録する</a:t>
            </a:r>
          </a:p>
        </p:txBody>
      </p:sp>
      <p:sp>
        <p:nvSpPr>
          <p:cNvPr id="10" name="正方形/長方形 9">
            <a:extLst xmlns:a="http://schemas.openxmlformats.org/drawingml/2006/main">
              <a:ext uri="{FF2B5EF4-FFF2-40B4-BE49-F238E27FC236}">
                <a16:creationId xmlns:a16="http://schemas.microsoft.com/office/drawing/2014/main" id="{29949CCD-8461-42AC-8026-FEDCBEEA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第7回</a:t>
            </a:r>
          </a:p>
        </p:txBody>
      </p:sp>
      <p:sp>
        <p:nvSpPr>
          <p:cNvPr id="11" name="正方形/長方形 10">
            <a:extLst xmlns:a="http://schemas.openxmlformats.org/drawingml/2006/main">
              <a:ext uri="{FF2B5EF4-FFF2-40B4-BE49-F238E27FC236}">
                <a16:creationId xmlns:a16="http://schemas.microsoft.com/office/drawing/2014/main" id="{FE64F556-03D2-4740-89EC-4FD186D8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253620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2026-10-27T05:42:21.7340000Z</dcterms:created>
  <dcterms:modified xsi:type="dcterms:W3CDTF">2026-10-27T05:42:21.7340000Z</dcterms:modified>
</coreProperties>
</file>