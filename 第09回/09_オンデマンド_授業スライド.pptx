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949169b31a460a" /><Relationship Type="http://schemas.openxmlformats.org/officeDocument/2006/relationships/extended-properties" Target="/docProps/app.xml" Id="R72917b2fd49e4915" /><Relationship Type="http://schemas.openxmlformats.org/officeDocument/2006/relationships/officeDocument" Target="/ppt/presentation.xml" Id="Rfc1f4338cdb344b3" /></Relationships>
</file>

<file path=ppt/presentation.xml><?xml version="1.0" encoding="utf-8"?>
<p:presentation xmlns:p="http://schemas.openxmlformats.org/presentationml/2006/main">
  <p:sldMasterIdLst>
    <p:sldMasterId xmlns:r="http://schemas.openxmlformats.org/officeDocument/2006/relationships" id="2147483648" r:id="Rb9264067a6ee4d1a"/>
    <p:sldMasterId xmlns:r="http://schemas.openxmlformats.org/officeDocument/2006/relationships" id="2147483655" r:id="R52b4e607c92e4fd8"/>
  </p:sldMasterIdLst>
  <p:notesMasterIdLst>
    <p:notesMasterId xmlns:r="http://schemas.openxmlformats.org/officeDocument/2006/relationships" r:id="R9896c8797df74d49"/>
  </p:notesMasterIdLst>
  <p:sldIdLst>
    <p:sldId xmlns:r="http://schemas.openxmlformats.org/officeDocument/2006/relationships" id="256" r:id="R4ff94a0bdcab4e6a"/>
    <p:sldId xmlns:r="http://schemas.openxmlformats.org/officeDocument/2006/relationships" id="257" r:id="Rd4d3958831a641cc"/>
    <p:sldId xmlns:r="http://schemas.openxmlformats.org/officeDocument/2006/relationships" id="258" r:id="R19e5102d67f54e9c"/>
    <p:sldId xmlns:r="http://schemas.openxmlformats.org/officeDocument/2006/relationships" id="259" r:id="Raab409cadc9c4e20"/>
    <p:sldId xmlns:r="http://schemas.openxmlformats.org/officeDocument/2006/relationships" id="260" r:id="R04e701824e0441ca"/>
    <p:sldId xmlns:r="http://schemas.openxmlformats.org/officeDocument/2006/relationships" id="261" r:id="R9c3a9033eded45fd"/>
    <p:sldId xmlns:r="http://schemas.openxmlformats.org/officeDocument/2006/relationships" id="262" r:id="R32cc3dcd93644293"/>
    <p:sldId xmlns:r="http://schemas.openxmlformats.org/officeDocument/2006/relationships" id="263" r:id="R5688edd73a2345aa"/>
    <p:sldId xmlns:r="http://schemas.openxmlformats.org/officeDocument/2006/relationships" id="264" r:id="Rb2cec8e3ef384154"/>
    <p:sldId xmlns:r="http://schemas.openxmlformats.org/officeDocument/2006/relationships" id="265" r:id="R926c5be5a3f94166"/>
    <p:sldId xmlns:r="http://schemas.openxmlformats.org/officeDocument/2006/relationships" id="266" r:id="Rdcb8668174e9481c"/>
    <p:sldId xmlns:r="http://schemas.openxmlformats.org/officeDocument/2006/relationships" id="267" r:id="Rac02f67ef79f469d"/>
    <p:sldId xmlns:r="http://schemas.openxmlformats.org/officeDocument/2006/relationships" id="268" r:id="Rdaa1fcf5e4e94df5"/>
    <p:sldId xmlns:r="http://schemas.openxmlformats.org/officeDocument/2006/relationships" id="269" r:id="R484b8502a7d74335"/>
    <p:sldId xmlns:r="http://schemas.openxmlformats.org/officeDocument/2006/relationships" id="270" r:id="R6b2551c17bf34f91"/>
    <p:sldId xmlns:r="http://schemas.openxmlformats.org/officeDocument/2006/relationships" id="271" r:id="Rb08108e740bf4ab7"/>
    <p:sldId xmlns:r="http://schemas.openxmlformats.org/officeDocument/2006/relationships" id="272" r:id="R43c5b2bc4ac8400a"/>
    <p:sldId xmlns:r="http://schemas.openxmlformats.org/officeDocument/2006/relationships" id="273" r:id="R4ad16d1d36d14ca3"/>
    <p:sldId xmlns:r="http://schemas.openxmlformats.org/officeDocument/2006/relationships" id="274" r:id="R15bd7799c4994491"/>
    <p:sldId xmlns:r="http://schemas.openxmlformats.org/officeDocument/2006/relationships" id="275" r:id="R8bf6b3cba13e4ad4"/>
    <p:sldId xmlns:r="http://schemas.openxmlformats.org/officeDocument/2006/relationships" id="276" r:id="R8b77636527fc4896"/>
    <p:sldId xmlns:r="http://schemas.openxmlformats.org/officeDocument/2006/relationships" id="277" r:id="R2c754665343f491f"/>
    <p:sldId xmlns:r="http://schemas.openxmlformats.org/officeDocument/2006/relationships" id="278" r:id="R4a9b36a5ac6b4d4c"/>
    <p:sldId xmlns:r="http://schemas.openxmlformats.org/officeDocument/2006/relationships" id="279" r:id="Ra27403da7c88462a"/>
    <p:sldId xmlns:r="http://schemas.openxmlformats.org/officeDocument/2006/relationships" id="280" r:id="Rfef9c0f14d5e4e4b"/>
    <p:sldId xmlns:r="http://schemas.openxmlformats.org/officeDocument/2006/relationships" id="281" r:id="R30de31fdee4d4432"/>
    <p:sldId xmlns:r="http://schemas.openxmlformats.org/officeDocument/2006/relationships" id="282" r:id="Ra464c9215dca4572"/>
    <p:sldId xmlns:r="http://schemas.openxmlformats.org/officeDocument/2006/relationships" id="283" r:id="R0f12d5da32804048"/>
    <p:sldId xmlns:r="http://schemas.openxmlformats.org/officeDocument/2006/relationships" id="284" r:id="R0fbbf92a683a44bc"/>
    <p:sldId xmlns:r="http://schemas.openxmlformats.org/officeDocument/2006/relationships" id="285" r:id="R076315b058bf457b"/>
    <p:sldId xmlns:r="http://schemas.openxmlformats.org/officeDocument/2006/relationships" id="286" r:id="R121cbdf738c64c96"/>
    <p:sldId xmlns:r="http://schemas.openxmlformats.org/officeDocument/2006/relationships" id="287" r:id="R23dbc9028a544720"/>
    <p:sldId xmlns:r="http://schemas.openxmlformats.org/officeDocument/2006/relationships" id="288" r:id="Rf5fa7c216ae045fc"/>
    <p:sldId xmlns:r="http://schemas.openxmlformats.org/officeDocument/2006/relationships" id="289" r:id="Rc971beb6640049b7"/>
    <p:sldId xmlns:r="http://schemas.openxmlformats.org/officeDocument/2006/relationships" id="290" r:id="Rb17ac8d171c346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7d7cf729224f92" /><Relationship Type="http://schemas.openxmlformats.org/officeDocument/2006/relationships/slideMaster" Target="/ppt/slideMasters/slideMaster1.xml" Id="Rb9264067a6ee4d1a" /><Relationship Type="http://schemas.openxmlformats.org/officeDocument/2006/relationships/slideMaster" Target="/ppt/slideMasters/slideMaster2.xml" Id="R52b4e607c92e4fd8" /><Relationship Type="http://schemas.openxmlformats.org/officeDocument/2006/relationships/notesMaster" Target="/ppt/notesMasters/notesMaster1.xml" Id="R9896c8797df74d49" /><Relationship Type="http://schemas.openxmlformats.org/officeDocument/2006/relationships/presProps" Target="/ppt/presProps.xml" Id="Rd8cccb7449e94fed" /><Relationship Type="http://schemas.openxmlformats.org/officeDocument/2006/relationships/tableStyles" Target="/ppt/tableStyles.xml" Id="R53176e9440f74066" /><Relationship Type="http://schemas.openxmlformats.org/officeDocument/2006/relationships/slide" Target="/ppt/slides/slide1.xml" Id="R4ff94a0bdcab4e6a" /><Relationship Type="http://schemas.openxmlformats.org/officeDocument/2006/relationships/slide" Target="/ppt/slides/slide2.xml" Id="Rd4d3958831a641cc" /><Relationship Type="http://schemas.openxmlformats.org/officeDocument/2006/relationships/slide" Target="/ppt/slides/slide3.xml" Id="R19e5102d67f54e9c" /><Relationship Type="http://schemas.openxmlformats.org/officeDocument/2006/relationships/slide" Target="/ppt/slides/slide4.xml" Id="Raab409cadc9c4e20" /><Relationship Type="http://schemas.openxmlformats.org/officeDocument/2006/relationships/slide" Target="/ppt/slides/slide5.xml" Id="R04e701824e0441ca" /><Relationship Type="http://schemas.openxmlformats.org/officeDocument/2006/relationships/slide" Target="/ppt/slides/slide6.xml" Id="R9c3a9033eded45fd" /><Relationship Type="http://schemas.openxmlformats.org/officeDocument/2006/relationships/slide" Target="/ppt/slides/slide7.xml" Id="R32cc3dcd93644293" /><Relationship Type="http://schemas.openxmlformats.org/officeDocument/2006/relationships/slide" Target="/ppt/slides/slide8.xml" Id="R5688edd73a2345aa" /><Relationship Type="http://schemas.openxmlformats.org/officeDocument/2006/relationships/slide" Target="/ppt/slides/slide9.xml" Id="Rb2cec8e3ef384154" /><Relationship Type="http://schemas.openxmlformats.org/officeDocument/2006/relationships/slide" Target="/ppt/slides/slide10.xml" Id="R926c5be5a3f94166" /><Relationship Type="http://schemas.openxmlformats.org/officeDocument/2006/relationships/slide" Target="/ppt/slides/slide11.xml" Id="Rdcb8668174e9481c" /><Relationship Type="http://schemas.openxmlformats.org/officeDocument/2006/relationships/slide" Target="/ppt/slides/slide12.xml" Id="Rac02f67ef79f469d" /><Relationship Type="http://schemas.openxmlformats.org/officeDocument/2006/relationships/slide" Target="/ppt/slides/slide13.xml" Id="Rdaa1fcf5e4e94df5" /><Relationship Type="http://schemas.openxmlformats.org/officeDocument/2006/relationships/slide" Target="/ppt/slides/slide14.xml" Id="R484b8502a7d74335" /><Relationship Type="http://schemas.openxmlformats.org/officeDocument/2006/relationships/slide" Target="/ppt/slides/slide15.xml" Id="R6b2551c17bf34f91" /><Relationship Type="http://schemas.openxmlformats.org/officeDocument/2006/relationships/slide" Target="/ppt/slides/slide16.xml" Id="Rb08108e740bf4ab7" /><Relationship Type="http://schemas.openxmlformats.org/officeDocument/2006/relationships/slide" Target="/ppt/slides/slide17.xml" Id="R43c5b2bc4ac8400a" /><Relationship Type="http://schemas.openxmlformats.org/officeDocument/2006/relationships/slide" Target="/ppt/slides/slide18.xml" Id="R4ad16d1d36d14ca3" /><Relationship Type="http://schemas.openxmlformats.org/officeDocument/2006/relationships/slide" Target="/ppt/slides/slide19.xml" Id="R15bd7799c4994491" /><Relationship Type="http://schemas.openxmlformats.org/officeDocument/2006/relationships/slide" Target="/ppt/slides/slide20.xml" Id="R8bf6b3cba13e4ad4" /><Relationship Type="http://schemas.openxmlformats.org/officeDocument/2006/relationships/slide" Target="/ppt/slides/slide21.xml" Id="R8b77636527fc4896" /><Relationship Type="http://schemas.openxmlformats.org/officeDocument/2006/relationships/slide" Target="/ppt/slides/slide22.xml" Id="R2c754665343f491f" /><Relationship Type="http://schemas.openxmlformats.org/officeDocument/2006/relationships/slide" Target="/ppt/slides/slide23.xml" Id="R4a9b36a5ac6b4d4c" /><Relationship Type="http://schemas.openxmlformats.org/officeDocument/2006/relationships/slide" Target="/ppt/slides/slide24.xml" Id="Ra27403da7c88462a" /><Relationship Type="http://schemas.openxmlformats.org/officeDocument/2006/relationships/slide" Target="/ppt/slides/slide25.xml" Id="Rfef9c0f14d5e4e4b" /><Relationship Type="http://schemas.openxmlformats.org/officeDocument/2006/relationships/slide" Target="/ppt/slides/slide26.xml" Id="R30de31fdee4d4432" /><Relationship Type="http://schemas.openxmlformats.org/officeDocument/2006/relationships/slide" Target="/ppt/slides/slide27.xml" Id="Ra464c9215dca4572" /><Relationship Type="http://schemas.openxmlformats.org/officeDocument/2006/relationships/slide" Target="/ppt/slides/slide28.xml" Id="R0f12d5da32804048" /><Relationship Type="http://schemas.openxmlformats.org/officeDocument/2006/relationships/slide" Target="/ppt/slides/slide29.xml" Id="R0fbbf92a683a44bc" /><Relationship Type="http://schemas.openxmlformats.org/officeDocument/2006/relationships/slide" Target="/ppt/slides/slide30.xml" Id="R076315b058bf457b" /><Relationship Type="http://schemas.openxmlformats.org/officeDocument/2006/relationships/slide" Target="/ppt/slides/slide31.xml" Id="R121cbdf738c64c96" /><Relationship Type="http://schemas.openxmlformats.org/officeDocument/2006/relationships/slide" Target="/ppt/slides/slide32.xml" Id="R23dbc9028a544720" /><Relationship Type="http://schemas.openxmlformats.org/officeDocument/2006/relationships/slide" Target="/ppt/slides/slide33.xml" Id="Rf5fa7c216ae045fc" /><Relationship Type="http://schemas.openxmlformats.org/officeDocument/2006/relationships/slide" Target="/ppt/slides/slide34.xml" Id="Rc971beb6640049b7" /><Relationship Type="http://schemas.openxmlformats.org/officeDocument/2006/relationships/slide" Target="/ppt/slides/slide35.xml" Id="Rb17ac8d171c346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855df2ee7884e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0250f9317d4cd3" /><Relationship Type="http://schemas.openxmlformats.org/officeDocument/2006/relationships/notesMaster" Target="/ppt/notesMasters/notesMaster1.xml" Id="R8d9a54905aaf46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c91a3a77f943b3" /><Relationship Type="http://schemas.openxmlformats.org/officeDocument/2006/relationships/notesMaster" Target="/ppt/notesMasters/notesMaster1.xml" Id="Re5e8a7d75ce444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4bf1ccb41d4f86" /><Relationship Type="http://schemas.openxmlformats.org/officeDocument/2006/relationships/notesMaster" Target="/ppt/notesMasters/notesMaster1.xml" Id="Rfc5eacb7cfbe49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ee4db0474a400e" /><Relationship Type="http://schemas.openxmlformats.org/officeDocument/2006/relationships/notesMaster" Target="/ppt/notesMasters/notesMaster1.xml" Id="R6bb06c3d2c324b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561a166b6f4b37" /><Relationship Type="http://schemas.openxmlformats.org/officeDocument/2006/relationships/notesMaster" Target="/ppt/notesMasters/notesMaster1.xml" Id="R3e7c87c5f8b944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2bcaf5bcd2409f" /><Relationship Type="http://schemas.openxmlformats.org/officeDocument/2006/relationships/notesMaster" Target="/ppt/notesMasters/notesMaster1.xml" Id="R70fff0c120c44e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97a36cee814a4e" /><Relationship Type="http://schemas.openxmlformats.org/officeDocument/2006/relationships/notesMaster" Target="/ppt/notesMasters/notesMaster1.xml" Id="R916cf91ee4a642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142513ee334fa3" /><Relationship Type="http://schemas.openxmlformats.org/officeDocument/2006/relationships/notesMaster" Target="/ppt/notesMasters/notesMaster1.xml" Id="Rd1f7f642388c46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905df7de66430e" /><Relationship Type="http://schemas.openxmlformats.org/officeDocument/2006/relationships/notesMaster" Target="/ppt/notesMasters/notesMaster1.xml" Id="R930992f654ee4e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949e1d01af43d8" /><Relationship Type="http://schemas.openxmlformats.org/officeDocument/2006/relationships/notesMaster" Target="/ppt/notesMasters/notesMaster1.xml" Id="R4ccd301a0b464e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a8e78f10444b90" /><Relationship Type="http://schemas.openxmlformats.org/officeDocument/2006/relationships/notesMaster" Target="/ppt/notesMasters/notesMaster1.xml" Id="R7ffd1d971c484b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414f2b857246db" /><Relationship Type="http://schemas.openxmlformats.org/officeDocument/2006/relationships/notesMaster" Target="/ppt/notesMasters/notesMaster1.xml" Id="Ra439d2e021ca49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658c693ec94758" /><Relationship Type="http://schemas.openxmlformats.org/officeDocument/2006/relationships/notesMaster" Target="/ppt/notesMasters/notesMaster1.xml" Id="Rb2fbf66c6e504f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dd1bfcb196468f" /><Relationship Type="http://schemas.openxmlformats.org/officeDocument/2006/relationships/notesMaster" Target="/ppt/notesMasters/notesMaster1.xml" Id="R7796896183a44e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b791ee9c934863" /><Relationship Type="http://schemas.openxmlformats.org/officeDocument/2006/relationships/notesMaster" Target="/ppt/notesMasters/notesMaster1.xml" Id="Re8600467d94e4d8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ad679a781a413d" /><Relationship Type="http://schemas.openxmlformats.org/officeDocument/2006/relationships/notesMaster" Target="/ppt/notesMasters/notesMaster1.xml" Id="R554c5d7637ba47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8270d0c56244bf" /><Relationship Type="http://schemas.openxmlformats.org/officeDocument/2006/relationships/notesMaster" Target="/ppt/notesMasters/notesMaster1.xml" Id="R64688beb17bc46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75532d9d5e47f4" /><Relationship Type="http://schemas.openxmlformats.org/officeDocument/2006/relationships/notesMaster" Target="/ppt/notesMasters/notesMaster1.xml" Id="R214951f3eb11405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87a130a4df14cf5" /><Relationship Type="http://schemas.openxmlformats.org/officeDocument/2006/relationships/notesMaster" Target="/ppt/notesMasters/notesMaster1.xml" Id="R9bf04f608eb148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cf519228b7493d" /><Relationship Type="http://schemas.openxmlformats.org/officeDocument/2006/relationships/notesMaster" Target="/ppt/notesMasters/notesMaster1.xml" Id="R29d2d182943f41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fb1969eda149d7" /><Relationship Type="http://schemas.openxmlformats.org/officeDocument/2006/relationships/notesMaster" Target="/ppt/notesMasters/notesMaster1.xml" Id="Rf2b64726c5434a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b6b77e9a0a4534" /><Relationship Type="http://schemas.openxmlformats.org/officeDocument/2006/relationships/notesMaster" Target="/ppt/notesMasters/notesMaster1.xml" Id="Rf7d5dd09ab70450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55f518da414f47" /><Relationship Type="http://schemas.openxmlformats.org/officeDocument/2006/relationships/notesMaster" Target="/ppt/notesMasters/notesMaster1.xml" Id="R3bce80b55b62424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6cff12e274740b9" /><Relationship Type="http://schemas.openxmlformats.org/officeDocument/2006/relationships/notesMaster" Target="/ppt/notesMasters/notesMaster1.xml" Id="R69413dc27f4d4df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89ec80507274f41" /><Relationship Type="http://schemas.openxmlformats.org/officeDocument/2006/relationships/notesMaster" Target="/ppt/notesMasters/notesMaster1.xml" Id="R395e7dba88274c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649500643a84c7e" /><Relationship Type="http://schemas.openxmlformats.org/officeDocument/2006/relationships/notesMaster" Target="/ppt/notesMasters/notesMaster1.xml" Id="R356772093c924c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0139781d9244da2" /><Relationship Type="http://schemas.openxmlformats.org/officeDocument/2006/relationships/notesMaster" Target="/ppt/notesMasters/notesMaster1.xml" Id="R2173f0ee52f7494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f86f42f6ad845ae" /><Relationship Type="http://schemas.openxmlformats.org/officeDocument/2006/relationships/notesMaster" Target="/ppt/notesMasters/notesMaster1.xml" Id="R5f72fcb7df9e4b8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2943b5b32a54423" /><Relationship Type="http://schemas.openxmlformats.org/officeDocument/2006/relationships/notesMaster" Target="/ppt/notesMasters/notesMaster1.xml" Id="R602466a7b69f40e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dd11340e7bf49c7" /><Relationship Type="http://schemas.openxmlformats.org/officeDocument/2006/relationships/notesMaster" Target="/ppt/notesMasters/notesMaster1.xml" Id="R458aca63e2bb476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7812db3e6804699" /><Relationship Type="http://schemas.openxmlformats.org/officeDocument/2006/relationships/notesMaster" Target="/ppt/notesMasters/notesMaster1.xml" Id="R99f15b2236da47e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70ba8abf8d94f4b" /><Relationship Type="http://schemas.openxmlformats.org/officeDocument/2006/relationships/notesMaster" Target="/ppt/notesMasters/notesMaster1.xml" Id="R03f79773e9ab497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6281949cef47ae" /><Relationship Type="http://schemas.openxmlformats.org/officeDocument/2006/relationships/notesMaster" Target="/ppt/notesMasters/notesMaster1.xml" Id="R8bd8d72d4e364b0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fcb6a1238544ed6" /><Relationship Type="http://schemas.openxmlformats.org/officeDocument/2006/relationships/notesMaster" Target="/ppt/notesMasters/notesMaster1.xml" Id="Rc8f5276bfe0b419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a8e2f2f511e4479" /><Relationship Type="http://schemas.openxmlformats.org/officeDocument/2006/relationships/notesMaster" Target="/ppt/notesMasters/notesMaster1.xml" Id="Rb0a2622295f042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九回です。今回は、水分と寸法変化です。前回は、含水率の分母と、水の所在を分けて考えました。今日は、壁内の水が変わるとき、なぜ木材が方向別に違って縮み、板が反ったり、接合部に問題が出たりするかを学びます。割合の式を計算するだけでなく、どの方向を、どの含水率区間で比べたのかを説明しましょう。後半には、木製の扉を使う場面と、教師としての観察計画を考える演習があります。電卓とノートを用意してください。演習と三回の短い休憩を含む九十分です。音声が流れない思考時間には、残り時間を画面上部に表示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雨の多い時期に木製の扉が動きにくくなったり、乾いた季節に隙間が目立ったりすることがあります。その理由を、木が水を吸うから、という一言で済ませず、どこに水が入り、どの方向の寸法が変わり、何に拘束されたかへ分けて説明します。同じ一本の木から取った板でも、年輪と板の幅の向きが違えば、幅の動き方が違う場合があります。木取りと異方性を学んだ内容を、水分へつなぐ回です。数値を扱うときは、乾燥前の長さを基準とする収縮率と、乾燥後から戻る膨潤率の分母を区別します。さらに、全乾までの大きな変化を、そのまま教室の一日の変化へ当てはめないことを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製作品の寸法を測るときには、完成した瞬間だけを考えるのでなく、どこで使い続けるかを想定します。製作した部屋と使用する場所で温湿度が違うなら、材料の水分の目標も変わり得ます。材料の性質を理解することが、設計や加工の工夫へどうつながるかを意識して進めましょう。</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細胞壁は、セルロースのミクロフィブリルと、その周囲の成分などからなる構造でした。向きや成分の配置を持つため、均一な固まりとして水を取り込むとは考えません。前回は、内腔にある自由水と、壁の内部の水を区別しました。今回の収縮や膨潤では、主に壁内の水の変化へ注目します。内腔の水が少なくなって質量が減っても、壁の寸法が同じ割合で縮むとは限りません。繊維飽和点を目安に、どの範囲の水が減っているかを考えます。実際の材では、表面と内部が同じ含水率であるとは限らないため、全体の平均だけで各部の変形を判断しないことも思い出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水分の総量、細胞のどこにあるか、材のどの部分に多いかは、別の情報です。前回の量と場所に、今回は分布という視点を加えます。同じ平均含水率でも、表面と内部の差が違えば、乾燥中に生じる応力の状態は同じとは限りません。</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中心となる関係は三つです。第一は、壁の成分と水との相互作用が、壁の構造の変化へつながることです。第二は、通常の木材では、収縮が接線方向、半径方向、繊維方向で異なることです。代表的には、ティーがアールより大きく、エルはずっと小さい傾向を示します。第三は、収縮率の分母を明示することです。乾燥前の寸法から乾燥後の寸法を引き、その差を乾燥前の寸法で割ります。この三つを、細胞壁の話、板の年輪配置、数値の計算として別々に覚えず、一つの現象の説明へつなげます。最後に、変形を自由に起こせる場合と、内部や接合で動きを妨げられる場合の違いも考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方向の記号は、紙面の縦や横ではなく、木材の構造に付けた軸です。板を回しただけで、もとの繊維方向が半径方向に変わるわけではありません。図には、年輪と繊維の向きを先に示してから、測る寸法の矢印を重ねると整理しやすくなり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細胞壁の成分にある水と相互作用しやすい部分と、水分子の関係を考えます。水が壁の内部へ入ると、成分の周囲の状態が変わり、壁が膨らむことにつながります。水が減れば、その逆に収縮する方向の変化を考えます。ただし、壁の構成やミクロフィブリルの配向があるため、どの方向にも同じように変わるとは限りません。実際の木材全体では、細胞の形や並び、放射組織、早材と晩材などの違いも関わります。単に大きな穴に入った水が抜けて、穴がその体積分だけ潰れるという説明では、こうした構造の影響を表せません。壁の中の変化を、まず見通しの中心に置き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第4回の水素結合の模式図は、この相互作用を理解する一つの足場でした。ただし、図の点線一本ができたから何ミリメートル膨らむ、と直接換算することはできません。分子の相互作用、細胞壁の構造、材の寸法という尺度ごとの関係を分け、必要なところで測定やモデルを使い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の所在の図をもう一度確認します。大きい内腔等の自由水と、壁内の水が区別されています。水分変化と寸法の関係を説明する際、どちらの青い部分を指しているかを言葉にしてください。壁の水が増える場合に壁が膨らむことと、内腔が液体で満たされることは、同じ図の操作ではありません。水が増えて重くなるという質量の話と、寸法がどれくらい動くかという話も同じ割合ではありません。次の方向別の収縮率は、壁内の水が大きく減る乾燥区間を指定した例として読み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模式図の厚さや水の面積は、実測値ではありません。図だけを見て、含水率が何パーセントか、収縮率が何パーセントかを読み取ることはできません。所在の理解を助ける図と、数量を与える表の役割を区別して使いましょう。</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通常の材では、全乾までの収縮の大きさは、おおむねティー、アール、エルの順になります。ティーは年輪に沿う接線方向、アールは年輪を横切る半径方向です。エルは主な繊維に沿う方向です。エル方向の収縮が一般に小さいことは、セルロースミクロフィブリルが細胞の長軸に近い方向へ配向していることなどと関係します。ただし、アールとティーの差を、ミクロフィブリルの角度一つだけで全て説明することはできません。組織の構成や年輪内の違い、細胞同士の拘束なども関わります。また、未成熟材やあて材ではエル方向の収縮が大きい場合があります。方向の順序は一般的な傾向として学び、全ての材が同じ数値になる規則だとは扱い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板目板の幅が主に接線方向に近い場合と、柾目板の幅が主に半径方向に近い場合を比べると、幅の動き方が異なる理由を予想できます。実際の板では年輪が曲がっているため、一枚の中で方向も連続的に変わります。板を切り出した位置と、使う部材の幅方向を一緒に見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用の表は、三方向とも乾燥前の長さを百ミリメートルにそろえ、繊維飽和付近から全乾まで乾燥させたと仮定しています。全乾後は、ティーが九十四、アールが九十七、エルが九十九・八ミリメートルです。特定の樹種を実測したデータではなく、方向差と計算の基準を理解するためのモデル値です。全て同じ百から始めているため、差のミリメートルと百分率の数値が対応しやすくなっています。しかし、初めの長さが変われば、同じ割合でも変化するミリメートルは違います。どの含水率区間かという最後の行も、数値と一緒にノートへ写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同じ樹種名でも、乾燥前の含水率が違う資料を比べると、収縮率の範囲が同じとは限りません。全乾収縮率、ある含水率までの収縮、日常の小さい変動を区別します。表の見出しと注記を読む習慣が、物性値の単純な順位付けを防ぎ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を用いて、三方向の収縮率を求めてください。式は、乾燥前から乾燥後を引き、乾燥前で割り、百倍します。次に、ティー方向の乾燥前の幅が二百ミリメートルなら、同じモデルの同じ乾燥区間で、幅は何ミリメートル減るかを求めます。最後に、その全乾までの割合を、教室で湿度が少し変わった一日の寸法変化へ、そのまま使ってよいか説明してください。ここで三分、方向、乾燥区間、基準寸法を明記して計算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ティーは百引く九十四を百で割り、六パーセントです。アールは三パーセント、エルは〇・二パーセントです。同じ六パーセントが適用できるモデルなら、幅二百ミリメートルの減少は、二百かける〇・〇六で十二ミリメートルとなります。エルの〇・二パーセントを、〇・二という比として掛けないことも確認します。百分率を百で割った比は〇・〇〇二です。最後の問いは、そのまま使えない、です。表は繊維飽和付近から全乾までの大きい変化を仮定しており、教室の一日の水分変化は通常それとは違う範囲です。どの区間の値かを確認せず、六パーセントという数だけを使うと過大な予測をしてしま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木材の寸法変化を生徒に説明する場合も、全乾まで乾燥させる実験の結果を、雨の日の扉の変化と同じ量で示さないようにします。原理のつながりはありますが、適用する含水率の区間が違います。現象の説明と数値予測を分け、必要な係数や条件を追加する姿勢が大切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小さい使用域の変化を、仮定した直線モデルで考えます。繊維飽和点を三十パーセント、そのときのティー方向寸法を百ミリメートル、全乾寸法を九十四ミリメートルと置きます。三十からゼロの範囲では、含水率と寸法が直線関係にあると仮定します。含水率二十パーセントと十パーセントでの寸法は、それぞれ何ミリメートルでしょうか。次に、二十から十まで乾いたときの収縮率を、その二十パーセント時の寸法を基準にして求めます。ここで三分、全乾までの六パーセントと、途中の変化の百分率を分けて計算してください。</a:t>
            </a:r>
          </a:p>
          <a:p xmlns:a="http://schemas.openxmlformats.org/drawingml/2006/main">
            <a:r>
              <a:t/>
            </a:r>
          </a:p>
          <a:p xmlns:a="http://schemas.openxmlformats.org/drawingml/2006/main">
            <a:r>
              <a:t>三十パーセントからゼロまでの含水率三十ポイントで、寸法は六ミリメートル変わるモデルです。十ポイント当たり二ミリメートルなので、二十パーセントでは九十八、十パーセントでは九十六ミリメートルです。この二点間の収縮率は、九十八引く九十六を九十八で割るため、約二・〇四パーセントです。六ミリメートル全体ではなく、今回の区間で変化した二ミリメートルを使います。直線関係と繊維飽和点三十は説明用の仮定で、実際の樹種や材にそのまま保証される関係ではありません。どの基準寸法で割ったかも、答えと一緒に示し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のモデルをグラフで確認します。横軸が乾量基準の含水率、縦軸が方向別の寸法です。三方向とも、繊維飽和点三十パーセントで百ミリメートルと仮定しました。高い側では自由水が変わっても寸法がほぼ変わらないという見通しを水平線で示し、低い側をそれぞれ直線で結んでいます。ティーの傾きが大きく、エルは小さいことが見えます。乾燥は、高い含水率から低い方へ、横軸を左へたどる操作です。横軸の右へ行くほど時間が進むグラフではありません。また、縦軸を九十から百二ミリメートルへ拡大しているため、線の差が見やすくなっています。線の傾きや水平な境界は、教えるための単純化であり、実材の厳密な測定曲線ではないことを確かめ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この図から、水が六十から四十パーセントへ減る場合と、二十からゼロへ減る場合を比較できます。両方とも二十ポイントの水分低下でも、寸法の変化は同じになりません。水の量の差だけでなく、どの含水率の範囲を通ったかが必要だという、前回の結論をグラフで確かめてい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乾燥中の材では、表面が先に乾き、内部が湿ったままという水分勾配が生じます。表面は先に縮もうとしますが、湿った内部とつながっているため、自由には縮めません。その拘束が、木材の中の応力を生む理由です。板の外から力を加えたときだけでなく、場所によって自由に変形したい量が違うときにも、内部に力が生じ得ます。また、板目と柾目の違い、年輪の曲がり、繊維の傾き、乾かし方や接合による拘束が、反りや割れに関わります。水分を一様に減らせば必ず同じ形で小さくなる、と単純には扱えません。使用環境へ近い状態に調整し、乾き方も管理す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塗装をしたから、水のやり取りが完全にゼロになる、と考えないことも重要です。塗膜や仕上げは、条件によって水分移動の速度を抑えることがありますが、長い時間の変化を常に完全に止めるものではありません。形、木取り、調湿、接合、保守を組み合わせて考え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縮もうとする動きと拘束へ進みます。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拘束と応力の意味を、紙上の二つの状況で比べます。同じ板が、幅方向に二ミリメートル縮もうとすると仮定します。状況エーでは、その動きを許す余地があります。状況ビーでは、幅の両端を動かない部材に強く固定しています。どちらで内部や接合部の力が問題になりやすいでしょうか。次に、一枚の板でも表面だけが乾いた場合、外側から固定していなくても、似た拘束が生まれ得る理由を考えます。ここで三分、自由に変形したい向きと、それを妨げる位置を別の矢印で描き、応力を計算するために足りない情報も書いてください。</a:t>
            </a:r>
          </a:p>
          <a:p xmlns:a="http://schemas.openxmlformats.org/drawingml/2006/main">
            <a:r>
              <a:t/>
            </a:r>
          </a:p>
          <a:p xmlns:a="http://schemas.openxmlformats.org/drawingml/2006/main">
            <a:r>
              <a:t>動きを強く妨げるビーでは、自由に縮む場合と違って、内部や接合部へ力が生じることを考えます。一枚の板でも、乾いた表面と湿った内部がつながっていれば、各部が別々に自由な寸法へ変化できず、内部の拘束が生じます。ただし、今の情報だけで応力の数値や、割れが必ず起きることまでは決められません。方向別の材料の応答、拘束の程度、時間、水分分布、接合部の形などが必要です。変形が小さく見えるから問題がない、と言い切れないことも分かります。動けないために、変形が表に見えず力として現れる場合があるから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乾燥の目的を、単に水をできるだけなくすことと考えないようにします。製作品に使う木材では、使用環境と目的に応じた含水状態へ調整し、その間に生じる割れや変形も抑えることが重要です。全乾質量は含水率の分母を求めるための基準ですが、全乾状態を全ての製品の使用状態の目標にするわけではありません。乾かす速さだけを上げると、表面と内部の水分差が大きくなり、先に縮む部分と、まだ湿っている部分の拘束が問題になる場合があります。桟積みは、板の間へ空気の通る経路を作り、支え方や間隔も管理するための工夫です。木口と板面では水分移動の経路が違い、端部が乾きやすいことも、割れの検討へ関わります。また、目標の平均含水率へ達したとしても、内部まで一様であるかは別に確認する必要があります。材料が使用場所へ移った後も、周囲の温湿度に応じて水分は変わり得ます。乾燥、保管、加工、使用を一続きの管理として考えてください。実際の乾燥条件は、樹種、厚さ、初期状態、目的によって変わるため、今日のモデルから、温度や時間の一律の処方を決めることはでき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特に、屋外で保管した材料を空調した室内へ移すときは、完成後の使用環境を確認し、その水分の変化を製作前の条件へさかのぼって考えましょう。</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板の変形の概念図を見ます。乾燥前の直線的な板が、曲がった形になっています。これは、反りが生じ得るという関係を示す図で、反りの量や向きを実測したものではありません。年輪の配置と方向別の収縮、板の場所ごとの水分、支え方や接合による拘束を合わせて考える必要があります。第1回では、丸太の外周から板を取る位置が変わると、板の幅が主に接線方向から半径方向へ近付くことを学びました。同じ板の幅を全て紙面の横方向というだけで覚えず、年輪に対してどちらを向くかを確かめます。その方向と、今回の収縮の大小を対応させ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板目板だから必ずこの向きにこの量だけ反る、と図一つから断定することは避けます。含水分布が片面だけ違う場合など、別の要因も加わります。一般的な傾向を学ぶことと、個別の板を予測するために追加情報を集めることを分けて考えましょう。</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縮率と膨潤率の分母を比べます。百ミリメートルから九十四ミリメートルへ縮んだとき、差の六を、初めの百で割るため収縮率は六パーセントです。逆に、九十四から百へ戻ったときの膨潤率は、初めの九十四を分母にして、六割る九十四の百倍、約六・三八パーセントになります。変化した長さは同じ六ミリメートルでも、分母が違うため百分率は同じではありません。収縮率六パーセントの逆だから、膨潤率も六パーセントとしないようにします。長さの変化を先に計算し、それをどの基準長さと比べるかを確認する順序は、含水率の二つの基準で学んだ考え方と共通し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実際の木材では、吸湿と放湿の履歴や不可逆的な変形が加わる場合もあります。ここでは、同じ二つの寸法の間を行き来する場合について、分母の違いだけを説明しています。百分率の計算の原理と、材が本当に同じ寸法へ戻るかという測定上の問題を区別してください。</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百分率を文字でつなぐ練習です。初めの長さをエル、収縮率の数値をエーとしたとき、乾燥後の長さを文字で表してください。次に、そこから元へ戻すときの膨潤率を、エーだけで表します。初めの長さを百と置いても構いません。さらに、二百ミリメートルが百九十ミリメートルへ変化し、元へ戻った場合の二つの百分率を求めて確かめましょう。ここで三分、共通の変化量と、それぞれの分母を示します。</a:t>
            </a:r>
          </a:p>
          <a:p xmlns:a="http://schemas.openxmlformats.org/drawingml/2006/main">
            <a:r>
              <a:t/>
            </a:r>
          </a:p>
          <a:p xmlns:a="http://schemas.openxmlformats.org/drawingml/2006/main">
            <a:r>
              <a:t>乾燥後の長さは、エルに、一引くエー割る百を掛けた値です。変化量は、エルかけるエー割る百なので、戻す膨潤率は、百エーを百引くエーで割る形になります。エーが六なら、六百割る九十四で約六・三八です。二百から百九十では、減少十を二百で割るため五パーセント、逆は十を百九十で割るため約五・二六パーセントです。公式を暗記するより、同じ変化量に対して基準が替わったことを図で確認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製扉の改善を考えます。板目と柾目の木取りを描き、幅方向が年輪に対してどちらを向くかを示してください。次に、扉の幅が少し変わるとき、接合部が動きを許すか、強く妨げるかを検討します。さらに、片側だけが濡れる場合も考えましょう。木取りを替える、使用する場所の温湿度へ調整する、幅の動きを許す構造にする、という異なる方法から、二つ以上を選び、その理由を書きます。ここで三分、対策の名前を並べるだけでなく、どの変化へ対応する工夫かを図と文章で結び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幅が主に半径方向になる柾目板では、同じ条件の板目板に比べ、幅の動きを抑えやすい傾向を考えられます。ただし、木取りだけで変化をゼロにはできません。使用環境に近い温湿度へ材料を調整してから加工や設置をすることは、後から大きく水分が変わる量を減らす工夫です。接合では、例えば鏡板を溝で受け、幅の動きの余地を持たせる方法があります。動きたい量を全て強く固定すれば、反りを防ぐだけでなく、割れや接合部の負担を生む可能性もあります。片面だけ濡れる場合は、水分むらも検討します。塗装は水分移動を遅らせることがありますが、長期の変化を完全に止めるという説明にはし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対策を一つ選んだら、その対策の限界も一つ書いてみてください。柾目板でも水分変化は残る、調整しても使用環境が後で変わる場合がある、動きを許す接合にも必要な保持や剛性がある、といった点です。単一の性質を良くするだけでなく、必要な機能を保つ設計として考え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取りと幅の変化を、数値を指定した仮想例で比べます。同じ樹種、同じ使用条件、同じ最初の幅二百五十ミリメートルで、板エーの幅方向の収縮率を二パーセント、板ビーを一パーセントとします。どちらも今回の使用域に対して与えた係数です。まず各板の幅の変化を求めます。次に、エーを幅百二十五ミリメートルの二枚へ分け、同じ方向で並べたとき、それだけで幅の変化の合計が半分になるかを検討します。ここで三分、板を分けることと、方向や接合を変えることを区別して説明してください。</a:t>
            </a:r>
          </a:p>
          <a:p xmlns:a="http://schemas.openxmlformats.org/drawingml/2006/main">
            <a:r>
              <a:t/>
            </a:r>
          </a:p>
          <a:p xmlns:a="http://schemas.openxmlformats.org/drawingml/2006/main">
            <a:r>
              <a:t>エーは二百五十かける〇・〇二で五ミリメートル、ビーは二・五ミリメートルの変化です。エーを同じ方向の幅百二十五ミリメートル二枚に分けると、各板は二・五ミリメートルずつ変化するので、単純な合計は五ミリメートルです。分割しただけで、材料固有の収縮の割合が消えるわけではありません。隙間を設ける、動きを分散して受ける、配向や構成を替えるといった設計なら、別の効果を検討できます。板を細かくすれば全て同じ寸法で安定する、とは言い切れないことが、次の木質材料の学習にもつながり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幅の動きを、どこへ逃がすかへ進みます。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動きの量を、接合の考え方へ結びます。小さな製作品の板が、乾いたときの幅二百ミリメートルから、使用域の仮定した膨潤率一・五パーセントだけ増えるとします。まず増える幅を求めます。次に、板の中央を基準にして左右へ同じ量ずつ動かす場合と、左端を基準にして右へだけ動かす場合で、各側に必要な幾何学上の移動量を比べてください。最後に、その移動量を許す構造と、脱落せず保持する構造を両方考えます。ここで三分、固定の基準位置を明示した図を作りましょう。これは移動量だけを考える紙上の仮想例で、実際の製作での公差や必要な余裕まで決定した寸法ではありません。</a:t>
            </a:r>
          </a:p>
          <a:p xmlns:a="http://schemas.openxmlformats.org/drawingml/2006/main">
            <a:r>
              <a:t/>
            </a:r>
          </a:p>
          <a:p xmlns:a="http://schemas.openxmlformats.org/drawingml/2006/main">
            <a:r>
              <a:t>増える幅は、二百に〇・〇一五を掛けた三ミリメートルです。中央を基準として左右へ等しく動くモデルなら、片側一・五ミリメートルずつ、左端だけを基準とすれば右側が三ミリメートル動くことになります。全体の変化量が同じでも、どこを基準に保持するかで、必要な動きの位置が違います。実際の納まりでは、保持する機能と、移動を妨げ過ぎない機能を同時に検討します。動きの量を計算しただけで、あらゆる製品にその数値の隙間を採用できるという意味ではありません。材料のばらつき、製作精度、使用条件も確認する必要があり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雨の多い時期に扉が動きにくくなった事例を、教師の説明へまとめます。確認するのは、木取り、板の幅方向、使用する場所、どの部分が当たり、どこで動きを妨げられているかです。原因候補は、壁内の水分の増加に伴う膨潤と、その方向差や水分むらです。ただし、扉が動かないという事実だけで、全てを吸湿のせいと断定せず、金物や枠の状態なども確かめます。改善案では、材料の状態、形や接合、使用後の保守を結びます。材料の特性を知り、設計や加工の工夫へ反映するという指導要領の学習へつながる例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生徒の説明を評価するなら、専門語が何個入っているかより、観察した場所と、想定した水分の変化、動く向き、改善案が対応しているかを見ます。図の矢印と文章が違う向きを説明していないかも点検します。理由と工夫の対応が見える説明を目指しましょう。</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小さな木製扉の設計メモを作ります。使う場所は、湿度が季節で変わる教室です。まず板の木取りと幅方向を図示し、幅の動きをどこへ逃がすかを書いてください。次に、製作前の材料の保管や調整、製作後の点検を、それぞれ一つ以上示します。最後に、生徒が、動かないように強く固定すれば全て解決する、と書いたときの声掛けを作ってください。ここで三分、材料、製作、使用の三段階をつないだ説明にします。具体的な住宅部材の設計計算を行う課題ではありません。</a:t>
            </a:r>
          </a:p>
          <a:p xmlns:a="http://schemas.openxmlformats.org/drawingml/2006/main">
            <a:r>
              <a:t/>
            </a:r>
          </a:p>
          <a:p xmlns:a="http://schemas.openxmlformats.org/drawingml/2006/main">
            <a:r>
              <a:t>図には、年輪と主な繊維の向き、幅の寸法矢印、固定する部分と、動きの余地を持たせる部分を区別して示します。製作前には使用環境に近い場所で材料を調整し、製作後には当たりや隙間、割れや接合部を確認する、といった提案ができます。声掛けの例は、変形を妨げると、その分が内部や接合部の力になることもあるので、必要な保持をしながら動きを許す場所も考えよう、です。水分変化を完全に消す方法を一つ探すのでなく、起こる変化を見込んで工夫を組み合わせることが大切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観察した寸法変化から、どこまで説明できるかを考えます。教室の棚の板幅を一回目に二百ミリメートル、二回目に百九十九・六ミリメートルと測ったとします。測定時の温湿度や含水率、年輪方向はまだ記録されていません。まず、二回の幅の差と、一回目を基準にした減少率を求めます。次に、その値だけで、樹種の全乾収縮率や、板目か柾目かを決定できるかを説明してください。最後に、次の観察で追加する記録を五つ挙げます。ここで三分、計算できる事実と、まだ確定できない原因を分けて整理しましょう。</a:t>
            </a:r>
          </a:p>
          <a:p xmlns:a="http://schemas.openxmlformats.org/drawingml/2006/main">
            <a:r>
              <a:t/>
            </a:r>
          </a:p>
          <a:p xmlns:a="http://schemas.openxmlformats.org/drawingml/2006/main">
            <a:r>
              <a:t>幅の差は〇・四ミリメートル、減少率は〇・四を二百で割って百倍し、〇・二パーセントです。ただし、どの水分区間で変化したかや方向が不明なので、これを樹種の全乾収縮率と同じに扱うことはできません。板目か柾目かも、この数値だけでは確定しません。追加の記録には、測定日時、温度、相対湿度、同じ位置での寸法、年輪と繊維の向き、含水率の情報、固定や荷重、測定器や繰り返しなどが考えられます。小さい変化では、測る位置や測定のばらつきも点検します。計算した百分率と、それを生じた理由の説明を別々に検討することが大切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徒の説明を点検します。第一に、板を横に置いたので横方向は常にティー方向である。第二に、繊維方向の収縮は小さいので絶対にゼロである。第三に、塗装したのでどんな環境でも寸法は全く変わらない。この三つの文の問題点を、図か具体例を添えて修正してください。正しい語へ置き換えるだけでなく、何を基準に方向を決めるか、小さいとゼロの違い、速度を抑えることと完全に変化を止めることの違いを説明します。ここで三分、三人の生徒へ、それぞれ短い声掛けを作りましょう。</a:t>
            </a:r>
          </a:p>
          <a:p xmlns:a="http://schemas.openxmlformats.org/drawingml/2006/main">
            <a:r>
              <a:t/>
            </a:r>
          </a:p>
          <a:p xmlns:a="http://schemas.openxmlformats.org/drawingml/2006/main">
            <a:r>
              <a:t>ティー方向は紙面の横ではなく、年輪に接する方向です。板を切り出した位置によって、板幅が主にアール方向になることもあります。繊維方向の収縮は、通常の材で他方向より小さい傾向ですが、ゼロではなく、未成熟材やあて材のような例外も考えます。塗装は条件によって水分の移動の速度を抑えますが、長期の水分変化を常に完全に止めるとまでは言えません。どの文も、一般的な傾向や工夫の効果を、条件のない絶対的な規則へ広げ過ぎています。生徒には、向きの基準と、どんな条件で言えるかを図や例と一緒に確認させ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問題です。水の減少量と収縮量は、いつでも比例するでしょうか。次に、百から九十四ミリメートルの収縮率と、九十四から百へ戻る膨潤率を求めます。最後に、収縮しようとする木材を拘束すると、何が問題になり得るかを説明してください。ここで九十秒、式の分母と、水の所在、自由に動けるかという三点を意識して答えます。</a:t>
            </a:r>
          </a:p>
          <a:p xmlns:a="http://schemas.openxmlformats.org/drawingml/2006/main">
            <a:r>
              <a:t/>
            </a:r>
          </a:p>
          <a:p xmlns:a="http://schemas.openxmlformats.org/drawingml/2006/main">
            <a:r>
              <a:t>いつでも同じ比例とは言えません。繊維飽和点を目安に、水がどの場所から減るかを考え、方向や乾燥区間も確認します。二つの百分率は六パーセントと約六・三八パーセントです。拘束があると、自由に変形したい量が妨げられて、内部や接合部の力、場合によっては割れなどの問題へつながります。数値の答えだけでなく、なぜその分母を用いたかを一文で説明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復習の総合図を作ります。木製扉について、木取り、乾燥、保管、接合から二つ以上を選び、水分変化への対策を図示してください。幅方向へ動きを許す箇所と、保持する箇所を区別します。さらに、もしも片面だけ濡れることがあるなら、その条件を図へ書き加えましょう。ここで三分、対策の名前を並べるだけでなく、どの構造や水分の状態へ対応するかを説明します。早く終わった人は、この方法でも残る変化や、確認すべき条件を一つ追加してください。</a:t>
            </a:r>
          </a:p>
          <a:p xmlns:a="http://schemas.openxmlformats.org/drawingml/2006/main">
            <a:r>
              <a:t/>
            </a:r>
          </a:p>
          <a:p xmlns:a="http://schemas.openxmlformats.org/drawingml/2006/main">
            <a:r>
              <a:t>例えば、木取りから幅の動きが比較的小さい方向を選ぶ、使用場所に近い条件へ材料を調整する、幅の動きを受ける隙間や溝を設ける、といった方法を組み合わせられます。片面だけ濡れる条件では水分むらも関わるので、両面の使用環境や仕上げ、乾く経路を考えます。どの方法にも条件があり、完全に水分の影響がなくなったと断定しないことが大切です。図の固定位置と、文章で説明した動きの方向が対応しているかを点検し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それでは、再開します。発展　最大含水率のモデルへ進みます。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展として、最大含水率の単純モデルを見ます。基準は飽水時の全体体積です。全乾質量をエムゼロ、基準水の密度をローミズ、基本比重をジービーとすると、飽水体積は、エムゼロをローミズかけるジービーで割った値になります。壁物質の比重をジーエスと置けば、乾いた壁物質の体積は、エムゼロをローミズかけるジーエスで割ります。残りを全て水が満たすという体積の単純化を用い、水の質量を全乾質量で割ると、最大含水率は、百に、一割るジービー、引く一割るジーエスを掛けた式です。今回の指定値〇・四〇と一・五〇なら、約百八十三パーセントです。実際の木に必ずその含水率が実現するという意味ではなく、基準体積をそろえたモデルの計算です。</a:t>
            </a:r>
          </a:p>
          <a:p xmlns:a="http://schemas.openxmlformats.org/drawingml/2006/main">
            <a:r>
              <a:t/>
            </a:r>
          </a:p>
          <a:p xmlns:a="http://schemas.openxmlformats.org/drawingml/2006/main">
            <a:r>
              <a:t>指定値では、一割る〇・四が二・五、一割る一・五が約〇・六六七、その差の百倍が約百八十三です。基本比重が小さいほど、同じ全乾質量に対する飽水体積が大きく、モデルでは水を入れられる空間が多くなる関係です。ただし、壁物質体積と水の体積の加算などを単純化しており、個別の材の吸水速度や到達時間、全ての空間が実際に水で満たされることを保証した式ではありません。</a:t>
            </a:r>
          </a:p>
          <a:p xmlns:a="http://schemas.openxmlformats.org/drawingml/2006/main">
            <a:r>
              <a:t/>
            </a:r>
          </a:p>
          <a:p xmlns:a="http://schemas.openxmlformats.org/drawingml/2006/main">
            <a:r>
              <a:t>補足</a:t>
            </a:r>
          </a:p>
          <a:p xmlns:a="http://schemas.openxmlformats.org/drawingml/2006/main">
            <a:r>
              <a:t>ウッドハンドブックの同種の式では、壁物質比重として一・五四が用いられています。今回の一・五〇は、前回から用いる計算用の指定値です。値を混ぜず、何を仮定したモデルかを記録します。また、分母の体積が飽水基準なので、全乾比重を基本比重と取り違えて代入しないようにしてください。</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大含水率の式を、体積の表から確かめます。飽水時の全体体積百立方センチメートル、全乾質量四十グラム、壁物質密度一・五〇グラム毎立方センチメートル、水の密度一・〇〇とするモデルです。まず壁物質の体積を求め、残りの空間を水が全て満たすとしたときの水の質量を求めます。その値から乾量基準の最大含水率を計算してください。最後に、基本比重を求めて先ほどの式へ入れ、同じ答えになるかを確認します。ここで三分、文字式と数値の二通りを照合します。</a:t>
            </a:r>
          </a:p>
          <a:p xmlns:a="http://schemas.openxmlformats.org/drawingml/2006/main">
            <a:r>
              <a:t/>
            </a:r>
          </a:p>
          <a:p xmlns:a="http://schemas.openxmlformats.org/drawingml/2006/main">
            <a:r>
              <a:t>壁物質の体積は、四十割る一・五で約二十六・七立方センチメートルです。残りは約七十三・三立方センチメートル、水の密度一・〇〇を掛けると水七十三・三グラムです。乾量基準では、七十三・三を全乾四十で割って百倍し、約百八十三パーセントです。基本比重は、全乾四十を、水の密度一に飽水体積百を掛けた値で割り、〇・四です。これを式へ入れても同じ結果になります。計算途中で丸めると末尾に小さい違いが出るので、できるだけ丸め前の値で照合し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Wood Handbook 2021 第13章 https://research.fs.usda.gov/treesearch/62261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要点です。水分と寸法の変化では、壁内の水に注目します。方向差には、ミクロフィブリルの配向だけでなく、組織や年輪の構成も関わります。収縮率と膨潤率は分母が違い、同じ長さの差でも百分率は異なります。数値を使う前に、樹種、方向、乾燥区間、基準寸法を確かめます。実際の材では水分分布と拘束が、反りや割れ、接合部の問題へつながることも学びました。木取り、調整、形や接合、保守を組み合わせると、材料の変化を見込んだ製作につながります。次回は、水がたまりやすい場所や乾きにくい環境が、生物劣化とどう関わるかを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照資料を案内します。ウッドハンドブック第4章では、含水率と寸法変化、方向別の収縮、密度と比重を確認できます。第13章では、乾燥と水分管理を、製作や使用条件と結び付けて読みます。今回の収縮率の六、三、〇・二パーセントは演習用のモデル値であり、どの樹種にもそのまま当てはまる測定表ではありません。新しいモデルグラフにも、繊維飽和点三十パーセントと直線近似という仮定を付けました。資料を引用するときには、値だけでなく、どの状態からどの状態までを比較したかを残しましょう。指導要領や教科書との関係では、材料の性質を知り、構想や加工の工夫へ反映する活動として考えてください。第九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Wood Handbook 2021 第13章 https://research.fs.usda.gov/treesearch/62261</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1a9b6a116c4c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66124338bc4e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345126e0bf42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05e2cb696a4d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3289a2040540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641499e8b6462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bfd23e2a77774b9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dfcd0fd1323d48e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b7f59b3c04334f7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0fb88a57397743f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0f497a20b44d4d4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a67d283645454f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0FED82-B6A8-49C3-91E5-1E45F50562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41B9FFC-1B93-4EAB-BC0C-9556A03747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5061BF-F5DF-4200-93EA-87A1A0023B4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724DA0-3291-43C8-949E-1122386F76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2A565D-1815-421E-AD26-996C6F28A0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83C2DD-1D0F-4767-9366-AFA192EF8F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A58AB8-41B3-4778-93DA-67B002521A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80320C-3757-4211-9351-5FDD887791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BA297B-E582-4F5B-9BC9-B2FFC0C948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778A22-6F84-4FB2-B10E-B5AD6B12E8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1717eca8524dec" /><Relationship Type="http://schemas.openxmlformats.org/officeDocument/2006/relationships/slideLayout" Target="/ppt/slideLayouts/slideLayout1.xml" Id="R3b644455cad04a38" /><Relationship Type="http://schemas.openxmlformats.org/officeDocument/2006/relationships/slideLayout" Target="/ppt/slideLayouts/slideLayout2.xml" Id="R68abceb65e02493c" /><Relationship Type="http://schemas.openxmlformats.org/officeDocument/2006/relationships/slideLayout" Target="/ppt/slideLayouts/slideLayout3.xml" Id="Rb831d0ae38bd47eb" /><Relationship Type="http://schemas.openxmlformats.org/officeDocument/2006/relationships/slideLayout" Target="/ppt/slideLayouts/slideLayout4.xml" Id="R735e9eca1ec746b4" /><Relationship Type="http://schemas.openxmlformats.org/officeDocument/2006/relationships/slideLayout" Target="/ppt/slideLayouts/slideLayout5.xml" Id="R68f37ba370da4e6e" /><Relationship Type="http://schemas.openxmlformats.org/officeDocument/2006/relationships/slideLayout" Target="/ppt/slideLayouts/slideLayout6.xml" Id="Rd2381ed1782e42c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e9be9ff409ad42bd" /><Relationship Type="http://schemas.openxmlformats.org/officeDocument/2006/relationships/slideLayout" Target="/ppt/slideLayouts/slideLayout7.xml" Id="R6af9f550d6df434a" /><Relationship Type="http://schemas.openxmlformats.org/officeDocument/2006/relationships/slideLayout" Target="/ppt/slideLayouts/slideLayout8.xml" Id="Rf05f75e2709a46e9" /><Relationship Type="http://schemas.openxmlformats.org/officeDocument/2006/relationships/slideLayout" Target="/ppt/slideLayouts/slideLayout9.xml" Id="R76d196610fff4cfe" /><Relationship Type="http://schemas.openxmlformats.org/officeDocument/2006/relationships/slideLayout" Target="/ppt/slideLayouts/slideLayout10.xml" Id="R97257bcb79b84d50" /><Relationship Type="http://schemas.openxmlformats.org/officeDocument/2006/relationships/slideLayout" Target="/ppt/slideLayouts/slideLayout11.xml" Id="R28eab95be9914b6a" /><Relationship Type="http://schemas.openxmlformats.org/officeDocument/2006/relationships/slideLayout" Target="/ppt/slideLayouts/slideLayout12.xml" Id="R7ab5dcf8c19c45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644455cad04a38"/>
    <p:sldLayoutId xmlns:r="http://schemas.openxmlformats.org/officeDocument/2006/relationships" id="2147483650" r:id="R68abceb65e02493c"/>
    <p:sldLayoutId xmlns:r="http://schemas.openxmlformats.org/officeDocument/2006/relationships" id="2147483651" r:id="Rb831d0ae38bd47eb"/>
    <p:sldLayoutId xmlns:r="http://schemas.openxmlformats.org/officeDocument/2006/relationships" id="2147483652" r:id="R735e9eca1ec746b4"/>
    <p:sldLayoutId xmlns:r="http://schemas.openxmlformats.org/officeDocument/2006/relationships" id="2147483653" r:id="R68f37ba370da4e6e"/>
    <p:sldLayoutId xmlns:r="http://schemas.openxmlformats.org/officeDocument/2006/relationships" id="2147483654" r:id="Rd2381ed1782e42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6af9f550d6df434a"/>
    <p:sldLayoutId xmlns:r="http://schemas.openxmlformats.org/officeDocument/2006/relationships" id="2147483657" r:id="Rf05f75e2709a46e9"/>
    <p:sldLayoutId xmlns:r="http://schemas.openxmlformats.org/officeDocument/2006/relationships" id="2147483658" r:id="R76d196610fff4cfe"/>
    <p:sldLayoutId xmlns:r="http://schemas.openxmlformats.org/officeDocument/2006/relationships" id="2147483659" r:id="R97257bcb79b84d50"/>
    <p:sldLayoutId xmlns:r="http://schemas.openxmlformats.org/officeDocument/2006/relationships" id="2147483660" r:id="R28eab95be9914b6a"/>
    <p:sldLayoutId xmlns:r="http://schemas.openxmlformats.org/officeDocument/2006/relationships" id="2147483661" r:id="R7ab5dcf8c19c45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1f43d2a221433d" /><Relationship Type="http://schemas.openxmlformats.org/officeDocument/2006/relationships/hyperlink" Target="https://lc-nue.naruto-u.ac.jp/lcu-web/SC_06001B00_22" TargetMode="External" Id="Ree0b92f014244ad3" /><Relationship Type="http://schemas.openxmlformats.org/officeDocument/2006/relationships/notesSlide" Target="/ppt/notesSlides/notesSlide1.xml" Id="R42c8d3c1713246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1cc0e5b3ee4b61" /><Relationship Type="http://schemas.openxmlformats.org/officeDocument/2006/relationships/notesSlide" Target="/ppt/notesSlides/notesSlide2.xml" Id="Rd3d5c716b9d040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d1f57bd858b452d" /><Relationship Type="http://schemas.openxmlformats.org/officeDocument/2006/relationships/notesSlide" Target="/ppt/notesSlides/notesSlide3.xml" Id="R458cf3ec90d447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99e25fe520634381" /><Relationship Type="http://schemas.openxmlformats.org/officeDocument/2006/relationships/notesSlide" Target="/ppt/notesSlides/notesSlide4.xml" Id="R31ffe6a26e4d45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ebb5de143291456a" /><Relationship Type="http://schemas.openxmlformats.org/officeDocument/2006/relationships/notesSlide" Target="/ppt/notesSlides/notesSlide5.xml" Id="R6735fb6d95d74a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df3cc53aef43f2" /><Relationship Type="http://schemas.openxmlformats.org/officeDocument/2006/relationships/notesSlide" Target="/ppt/notesSlides/notesSlide6.xml" Id="R748c927cd6114c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00994794b0a8467f" /><Relationship Type="http://schemas.openxmlformats.org/officeDocument/2006/relationships/notesSlide" Target="/ppt/notesSlides/notesSlide7.xml" Id="R7960fcd56bd945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1692c49f1f804a63" /><Relationship Type="http://schemas.openxmlformats.org/officeDocument/2006/relationships/notesSlide" Target="/ppt/notesSlides/notesSlide8.xml" Id="R7fb3740adca24f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f9ad1f29f24b01" /><Relationship Type="http://schemas.openxmlformats.org/officeDocument/2006/relationships/notesSlide" Target="/ppt/notesSlides/notesSlide9.xml" Id="Rb94debdafa7b47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3b78cfeb964d27" /><Relationship Type="http://schemas.openxmlformats.org/officeDocument/2006/relationships/notesSlide" Target="/ppt/notesSlides/notesSlide10.xml" Id="R696f1be5352841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40e56d43284579" /><Relationship Type="http://schemas.openxmlformats.org/officeDocument/2006/relationships/notesSlide" Target="/ppt/notesSlides/notesSlide11.xml" Id="R3443c9c237aa40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e76d975bcc4a29" /><Relationship Type="http://schemas.openxmlformats.org/officeDocument/2006/relationships/chart" Target="/ppt/slides/charts/chart1.xml" Id="Rb337b051fdb24aca" /><Relationship Type="http://schemas.openxmlformats.org/officeDocument/2006/relationships/notesSlide" Target="/ppt/notesSlides/notesSlide12.xml" Id="Rc81ea96d32bf46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43122fb28b724b0f" /><Relationship Type="http://schemas.openxmlformats.org/officeDocument/2006/relationships/notesSlide" Target="/ppt/notesSlides/notesSlide13.xml" Id="R918bba89021746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ce7116d751e4767" /><Relationship Type="http://schemas.openxmlformats.org/officeDocument/2006/relationships/notesSlide" Target="/ppt/notesSlides/notesSlide14.xml" Id="Ra449b83a5e064a1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88921c7a68b4c65" /><Relationship Type="http://schemas.openxmlformats.org/officeDocument/2006/relationships/notesSlide" Target="/ppt/notesSlides/notesSlide15.xml" Id="R1a67ed138b0e48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15aafa119c44492" /><Relationship Type="http://schemas.openxmlformats.org/officeDocument/2006/relationships/notesSlide" Target="/ppt/notesSlides/notesSlide16.xml" Id="Rd80478cad7ab44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6563d48fe284826" /><Relationship Type="http://schemas.openxmlformats.org/officeDocument/2006/relationships/notesSlide" Target="/ppt/notesSlides/notesSlide17.xml" Id="R34466da109c943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xml" Id="R58addd4fd04d46cc" /><Relationship Type="http://schemas.openxmlformats.org/officeDocument/2006/relationships/notesSlide" Target="/ppt/notesSlides/notesSlide18.xml" Id="Ra12338c437c2421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ebb33002f25457b" /><Relationship Type="http://schemas.openxmlformats.org/officeDocument/2006/relationships/notesSlide" Target="/ppt/notesSlides/notesSlide19.xml" Id="R0ccdd352757945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18486ef3b3e4f10" /><Relationship Type="http://schemas.openxmlformats.org/officeDocument/2006/relationships/notesSlide" Target="/ppt/notesSlides/notesSlide20.xml" Id="Re9f233708fab4b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2.xml" Id="R0ebf207ba0f9402e" /><Relationship Type="http://schemas.openxmlformats.org/officeDocument/2006/relationships/notesSlide" Target="/ppt/notesSlides/notesSlide21.xml" Id="Rc83b30d07d034d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854c04398be4acb" /><Relationship Type="http://schemas.openxmlformats.org/officeDocument/2006/relationships/notesSlide" Target="/ppt/notesSlides/notesSlide22.xml" Id="R4ea513cbb62245d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f365f75bb924bff" /><Relationship Type="http://schemas.openxmlformats.org/officeDocument/2006/relationships/notesSlide" Target="/ppt/notesSlides/notesSlide23.xml" Id="R9d5f711a7a6c43a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ea9f242fa014732" /><Relationship Type="http://schemas.openxmlformats.org/officeDocument/2006/relationships/notesSlide" Target="/ppt/notesSlides/notesSlide24.xml" Id="R9f31e2197073412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47f644417ad5427b" /><Relationship Type="http://schemas.openxmlformats.org/officeDocument/2006/relationships/notesSlide" Target="/ppt/notesSlides/notesSlide25.xml" Id="R7847f0ad4dfb457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3b1c49306e7485e" /><Relationship Type="http://schemas.openxmlformats.org/officeDocument/2006/relationships/notesSlide" Target="/ppt/notesSlides/notesSlide26.xml" Id="R57bb3c1fbd84499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bd8f75708a845c6" /><Relationship Type="http://schemas.openxmlformats.org/officeDocument/2006/relationships/notesSlide" Target="/ppt/notesSlides/notesSlide27.xml" Id="R55e46b82236646c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1377833698e40a1" /><Relationship Type="http://schemas.openxmlformats.org/officeDocument/2006/relationships/notesSlide" Target="/ppt/notesSlides/notesSlide28.xml" Id="R9e9f12ae57b14b1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81779815b5b489d" /><Relationship Type="http://schemas.openxmlformats.org/officeDocument/2006/relationships/notesSlide" Target="/ppt/notesSlides/notesSlide29.xml" Id="R2503ad5dd8994a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2.xml" Id="Rad7cf22b76404bb1" /><Relationship Type="http://schemas.openxmlformats.org/officeDocument/2006/relationships/notesSlide" Target="/ppt/notesSlides/notesSlide30.xml" Id="R1167c117bdab4c0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d7f7b40a2684a14" /><Relationship Type="http://schemas.openxmlformats.org/officeDocument/2006/relationships/notesSlide" Target="/ppt/notesSlides/notesSlide31.xml" Id="R5d1890051ab844e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2.xml" Id="Rf102860bf2164e65" /><Relationship Type="http://schemas.openxmlformats.org/officeDocument/2006/relationships/notesSlide" Target="/ppt/notesSlides/notesSlide32.xml" Id="R6df3ca5ab26e415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ebefd4ef3ee43c4" /><Relationship Type="http://schemas.openxmlformats.org/officeDocument/2006/relationships/notesSlide" Target="/ppt/notesSlides/notesSlide33.xml" Id="Re5c2bd83575649c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d52da4fd99348ee" /><Relationship Type="http://schemas.openxmlformats.org/officeDocument/2006/relationships/notesSlide" Target="/ppt/notesSlides/notesSlide34.xml" Id="R2c7d4c02497c4bc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2.xml" Id="R76f2212839ed4af4" /><Relationship Type="http://schemas.openxmlformats.org/officeDocument/2006/relationships/notesSlide" Target="/ppt/notesSlides/notesSlide35.xml" Id="Rcf7fd7169f584d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c:v>
          </c:tx>
          <c:spPr>
            <a:ln xmlns:a="http://schemas.openxmlformats.org/drawingml/2006/main" w="28575">
              <a:solidFill>
                <a:srgbClr val="C4483C"/>
              </a:solidFill>
            </a:ln>
          </c:spPr>
          <c:marker>
            <c:symbol val="circle"/>
            <c:size val="5"/>
            <c:spPr>
              <a:solidFill xmlns:a="http://schemas.openxmlformats.org/drawingml/2006/main">
                <a:srgbClr val="C4483C"/>
              </a:solidFill>
            </c:spPr>
          </c:marker>
          <c:cat>
            <c:numRef>
              <c:f>'Chart Data'!$A$2:$A$8</c:f>
              <c:numCache>
                <c:formatCode>General</c:formatCode>
                <c:ptCount val="7"/>
                <c:pt idx="0">
                  <c:v>0</c:v>
                </c:pt>
                <c:pt idx="1">
                  <c:v>10</c:v>
                </c:pt>
                <c:pt idx="2">
                  <c:v>20</c:v>
                </c:pt>
                <c:pt idx="3">
                  <c:v>30</c:v>
                </c:pt>
                <c:pt idx="4">
                  <c:v>40</c:v>
                </c:pt>
                <c:pt idx="5">
                  <c:v>50</c:v>
                </c:pt>
                <c:pt idx="6">
                  <c:v>60</c:v>
                </c:pt>
              </c:numCache>
            </c:numRef>
          </c:cat>
          <c:val>
            <c:numRef>
              <c:f>'Chart Data'!$B$2:$B$8</c:f>
              <c:numCache>
                <c:formatCode>General</c:formatCode>
                <c:ptCount val="7"/>
                <c:pt idx="0">
                  <c:v>94</c:v>
                </c:pt>
                <c:pt idx="1">
                  <c:v>96</c:v>
                </c:pt>
                <c:pt idx="2">
                  <c:v>98</c:v>
                </c:pt>
                <c:pt idx="3">
                  <c:v>100</c:v>
                </c:pt>
                <c:pt idx="4">
                  <c:v>100</c:v>
                </c:pt>
                <c:pt idx="5">
                  <c:v>100</c:v>
                </c:pt>
                <c:pt idx="6">
                  <c:v>100</c:v>
                </c:pt>
              </c:numCache>
            </c:numRef>
          </c:val>
          <c:smooth val="0"/>
        </c:ser>
        <c:ser>
          <c:idx val="1"/>
          <c:order val="1"/>
          <c:tx>
            <c:v>R</c:v>
          </c:tx>
          <c:spPr>
            <a:ln xmlns:a="http://schemas.openxmlformats.org/drawingml/2006/main" w="28575">
              <a:solidFill>
                <a:srgbClr val="2876A8"/>
              </a:solidFill>
            </a:ln>
          </c:spPr>
          <c:marker>
            <c:symbol val="circle"/>
            <c:size val="5"/>
            <c:spPr>
              <a:solidFill xmlns:a="http://schemas.openxmlformats.org/drawingml/2006/main">
                <a:srgbClr val="2876A8"/>
              </a:solidFill>
            </c:spPr>
          </c:marker>
          <c:cat>
            <c:numRef>
              <c:f>'Chart Data'!$C$2:$C$8</c:f>
              <c:numCache>
                <c:formatCode>General</c:formatCode>
                <c:ptCount val="7"/>
                <c:pt idx="0">
                  <c:v>0</c:v>
                </c:pt>
                <c:pt idx="1">
                  <c:v>10</c:v>
                </c:pt>
                <c:pt idx="2">
                  <c:v>20</c:v>
                </c:pt>
                <c:pt idx="3">
                  <c:v>30</c:v>
                </c:pt>
                <c:pt idx="4">
                  <c:v>40</c:v>
                </c:pt>
                <c:pt idx="5">
                  <c:v>50</c:v>
                </c:pt>
                <c:pt idx="6">
                  <c:v>60</c:v>
                </c:pt>
              </c:numCache>
            </c:numRef>
          </c:cat>
          <c:val>
            <c:numRef>
              <c:f>'Chart Data'!$D$2:$D$8</c:f>
              <c:numCache>
                <c:formatCode>General</c:formatCode>
                <c:ptCount val="7"/>
                <c:pt idx="0">
                  <c:v>97</c:v>
                </c:pt>
                <c:pt idx="1">
                  <c:v>98</c:v>
                </c:pt>
                <c:pt idx="2">
                  <c:v>99</c:v>
                </c:pt>
                <c:pt idx="3">
                  <c:v>100</c:v>
                </c:pt>
                <c:pt idx="4">
                  <c:v>100</c:v>
                </c:pt>
                <c:pt idx="5">
                  <c:v>100</c:v>
                </c:pt>
                <c:pt idx="6">
                  <c:v>100</c:v>
                </c:pt>
              </c:numCache>
            </c:numRef>
          </c:val>
          <c:smooth val="0"/>
        </c:ser>
        <c:ser>
          <c:idx val="2"/>
          <c:order val="2"/>
          <c:tx>
            <c:v>L</c:v>
          </c:tx>
          <c:spPr>
            <a:ln xmlns:a="http://schemas.openxmlformats.org/drawingml/2006/main" w="28575">
              <a:solidFill>
                <a:srgbClr val="087E8B"/>
              </a:solidFill>
            </a:ln>
          </c:spPr>
          <c:marker>
            <c:symbol val="circle"/>
            <c:size val="5"/>
            <c:spPr>
              <a:solidFill xmlns:a="http://schemas.openxmlformats.org/drawingml/2006/main">
                <a:srgbClr val="087E8B"/>
              </a:solidFill>
            </c:spPr>
          </c:marker>
          <c:cat>
            <c:numRef>
              <c:f>'Chart Data'!$E$2:$E$8</c:f>
              <c:numCache>
                <c:formatCode>General</c:formatCode>
                <c:ptCount val="7"/>
                <c:pt idx="0">
                  <c:v>0</c:v>
                </c:pt>
                <c:pt idx="1">
                  <c:v>10</c:v>
                </c:pt>
                <c:pt idx="2">
                  <c:v>20</c:v>
                </c:pt>
                <c:pt idx="3">
                  <c:v>30</c:v>
                </c:pt>
                <c:pt idx="4">
                  <c:v>40</c:v>
                </c:pt>
                <c:pt idx="5">
                  <c:v>50</c:v>
                </c:pt>
                <c:pt idx="6">
                  <c:v>60</c:v>
                </c:pt>
              </c:numCache>
            </c:numRef>
          </c:cat>
          <c:val>
            <c:numRef>
              <c:f>'Chart Data'!$F$2:$F$8</c:f>
              <c:numCache>
                <c:formatCode>General</c:formatCode>
                <c:ptCount val="7"/>
                <c:pt idx="0">
                  <c:v>99.8</c:v>
                </c:pt>
                <c:pt idx="1">
                  <c:v>99.8667</c:v>
                </c:pt>
                <c:pt idx="2">
                  <c:v>99.9333</c:v>
                </c:pt>
                <c:pt idx="3">
                  <c:v>100</c:v>
                </c:pt>
                <c:pt idx="4">
                  <c:v>100</c:v>
                </c:pt>
                <c:pt idx="5">
                  <c:v>100</c:v>
                </c:pt>
                <c:pt idx="6">
                  <c:v>100</c:v>
                </c:pt>
              </c:numCache>
            </c:numRef>
          </c: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乾量基準MC（%）</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Yu Gothic"/>
                    <a:ea typeface="Yu Gothic"/>
                    <a:cs typeface="Yu Gothic"/>
                  </a:rPr>
                  <a:t>寸法（mm）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Yu Gothic"/>
              <a:ea typeface="Yu Gothic"/>
              <a:cs typeface="Yu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DAB291-5D87-4097-B2B4-335B0F968F4B}"/>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defRPr sz="4050" b="1">
                <a:solidFill>
                  <a:srgbClr val="18364F"/>
                </a:solidFill>
                <a:latin typeface="Yu Gothic"/>
                <a:ea typeface="Yu Gothic"/>
                <a:cs typeface="Yu Gothic"/>
              </a:defRPr>
            </a:lvl1pPr>
            <a:lvl2pPr>
              <a:defRPr sz="4050" b="1">
                <a:solidFill>
                  <a:srgbClr val="18364F"/>
                </a:solidFill>
                <a:latin typeface="Yu Gothic"/>
                <a:ea typeface="Yu Gothic"/>
                <a:cs typeface="Yu Gothic"/>
              </a:defRPr>
            </a:lvl2pPr>
            <a:lvl3pPr>
              <a:defRPr sz="4050" b="1">
                <a:solidFill>
                  <a:srgbClr val="18364F"/>
                </a:solidFill>
                <a:latin typeface="Yu Gothic"/>
                <a:ea typeface="Yu Gothic"/>
                <a:cs typeface="Yu Gothic"/>
              </a:defRPr>
            </a:lvl3pPr>
            <a:lvl4pPr>
              <a:defRPr sz="4050" b="1">
                <a:solidFill>
                  <a:srgbClr val="18364F"/>
                </a:solidFill>
                <a:latin typeface="Yu Gothic"/>
                <a:ea typeface="Yu Gothic"/>
                <a:cs typeface="Yu Gothic"/>
              </a:defRPr>
            </a:lvl4pPr>
            <a:lvl5pPr>
              <a:defRPr sz="4050" b="1">
                <a:solidFill>
                  <a:srgbClr val="18364F"/>
                </a:solidFill>
                <a:latin typeface="Yu Gothic"/>
                <a:ea typeface="Yu Gothic"/>
                <a:cs typeface="Yu Gothic"/>
              </a:defRPr>
            </a:lvl5pPr>
            <a:lvl6pPr>
              <a:defRPr sz="4050" b="1">
                <a:solidFill>
                  <a:srgbClr val="18364F"/>
                </a:solidFill>
                <a:latin typeface="Yu Gothic"/>
                <a:ea typeface="Yu Gothic"/>
                <a:cs typeface="Yu Gothic"/>
              </a:defRPr>
            </a:lvl6pPr>
            <a:lvl7pPr>
              <a:defRPr sz="4050" b="1">
                <a:solidFill>
                  <a:srgbClr val="18364F"/>
                </a:solidFill>
                <a:latin typeface="Yu Gothic"/>
                <a:ea typeface="Yu Gothic"/>
                <a:cs typeface="Yu Gothic"/>
              </a:defRPr>
            </a:lvl7pPr>
            <a:lvl8pPr>
              <a:defRPr sz="4050" b="1">
                <a:solidFill>
                  <a:srgbClr val="18364F"/>
                </a:solidFill>
                <a:latin typeface="Yu Gothic"/>
                <a:ea typeface="Yu Gothic"/>
                <a:cs typeface="Yu Gothic"/>
              </a:defRPr>
            </a:lvl8pPr>
            <a:lvl9pPr>
              <a:defRPr sz="4050" b="1">
                <a:solidFill>
                  <a:srgbClr val="18364F"/>
                </a:solidFill>
                <a:latin typeface="Yu Gothic"/>
                <a:ea typeface="Yu Gothic"/>
                <a:cs typeface="Yu Gothic"/>
              </a:defRPr>
            </a:lvl9pPr>
          </a:lstStyle>
          <a:p xmlns:a="http://schemas.openxmlformats.org/drawingml/2006/main">
            <a:pPr>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7677F628-9212-4BE8-87FF-FDFA409C9C14}"/>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defRPr sz="2925" b="1">
                <a:solidFill>
                  <a:srgbClr val="087E8B"/>
                </a:solidFill>
                <a:latin typeface="Yu Gothic"/>
                <a:ea typeface="Yu Gothic"/>
                <a:cs typeface="Yu Gothic"/>
              </a:defRPr>
            </a:lvl1pPr>
            <a:lvl2pPr>
              <a:defRPr sz="2925" b="1">
                <a:solidFill>
                  <a:srgbClr val="087E8B"/>
                </a:solidFill>
                <a:latin typeface="Yu Gothic"/>
                <a:ea typeface="Yu Gothic"/>
                <a:cs typeface="Yu Gothic"/>
              </a:defRPr>
            </a:lvl2pPr>
            <a:lvl3pPr>
              <a:defRPr sz="2925" b="1">
                <a:solidFill>
                  <a:srgbClr val="087E8B"/>
                </a:solidFill>
                <a:latin typeface="Yu Gothic"/>
                <a:ea typeface="Yu Gothic"/>
                <a:cs typeface="Yu Gothic"/>
              </a:defRPr>
            </a:lvl3pPr>
            <a:lvl4pPr>
              <a:defRPr sz="2925" b="1">
                <a:solidFill>
                  <a:srgbClr val="087E8B"/>
                </a:solidFill>
                <a:latin typeface="Yu Gothic"/>
                <a:ea typeface="Yu Gothic"/>
                <a:cs typeface="Yu Gothic"/>
              </a:defRPr>
            </a:lvl4pPr>
            <a:lvl5pPr>
              <a:defRPr sz="2925" b="1">
                <a:solidFill>
                  <a:srgbClr val="087E8B"/>
                </a:solidFill>
                <a:latin typeface="Yu Gothic"/>
                <a:ea typeface="Yu Gothic"/>
                <a:cs typeface="Yu Gothic"/>
              </a:defRPr>
            </a:lvl5pPr>
            <a:lvl6pPr>
              <a:defRPr sz="2925" b="1">
                <a:solidFill>
                  <a:srgbClr val="087E8B"/>
                </a:solidFill>
                <a:latin typeface="Yu Gothic"/>
                <a:ea typeface="Yu Gothic"/>
                <a:cs typeface="Yu Gothic"/>
              </a:defRPr>
            </a:lvl6pPr>
            <a:lvl7pPr>
              <a:defRPr sz="2925" b="1">
                <a:solidFill>
                  <a:srgbClr val="087E8B"/>
                </a:solidFill>
                <a:latin typeface="Yu Gothic"/>
                <a:ea typeface="Yu Gothic"/>
                <a:cs typeface="Yu Gothic"/>
              </a:defRPr>
            </a:lvl7pPr>
            <a:lvl8pPr>
              <a:defRPr sz="2925" b="1">
                <a:solidFill>
                  <a:srgbClr val="087E8B"/>
                </a:solidFill>
                <a:latin typeface="Yu Gothic"/>
                <a:ea typeface="Yu Gothic"/>
                <a:cs typeface="Yu Gothic"/>
              </a:defRPr>
            </a:lvl8pPr>
            <a:lvl9pPr>
              <a:defRPr sz="2925" b="1">
                <a:solidFill>
                  <a:srgbClr val="087E8B"/>
                </a:solidFill>
                <a:latin typeface="Yu Gothic"/>
                <a:ea typeface="Yu Gothic"/>
                <a:cs typeface="Yu Gothic"/>
              </a:defRPr>
            </a:lvl9pPr>
          </a:lstStyle>
          <a:p xmlns:a="http://schemas.openxmlformats.org/drawingml/2006/main">
            <a:pPr>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第9回　水分と寸法変化</a:t>
            </a:r>
          </a:p>
        </p:txBody>
      </p:sp>
      <p:sp>
        <p:nvSpPr>
          <p:cNvPr id="3" name="">
            <a:extLst xmlns:a="http://schemas.openxmlformats.org/drawingml/2006/main">
              <a:ext uri="{FF2B5EF4-FFF2-40B4-BE49-F238E27FC236}">
                <a16:creationId xmlns:a16="http://schemas.microsoft.com/office/drawing/2014/main" id="{037190E8-B4E5-4B72-9E12-98C1E7C31476}"/>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5B4AC8-2C4C-43C0-8C98-A2D6791ED69B}"/>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F0DE420F-EC78-4527-8D64-45C24750BB72}"/>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56981F14-5EB6-4973-A897-0E96E14FC170}"/>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A2D07D44-B369-46C9-B26F-39421869DFC5}"/>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B2C42D4F-502B-4F8B-998B-9558565E9286}"/>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ee0b92f014244ad3"/>
              </a:rPr>
              <a:t>https://lc-nue.naruto-u.ac.jp/lcu-web/SC_06001B00_22</a:t>
            </a:r>
          </a:p>
        </p:txBody>
      </p:sp>
      <p:sp>
        <p:nvSpPr>
          <p:cNvPr id="9" name="">
            <a:extLst xmlns:a="http://schemas.openxmlformats.org/drawingml/2006/main">
              <a:ext uri="{FF2B5EF4-FFF2-40B4-BE49-F238E27FC236}">
                <a16:creationId xmlns:a16="http://schemas.microsoft.com/office/drawing/2014/main" id="{06B6A1C7-3587-4A84-A9DF-6865CA779FD9}"/>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973499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07EDBA-9E5D-4EED-83CD-6CC7773C650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第9回　水分と寸法変化</a:t>
            </a:r>
          </a:p>
        </p:txBody>
      </p:sp>
      <p:cxnSp>
        <p:nvCxnSpPr>
          <p:cNvPr id="2" name="">
            <a:extLst xmlns:a="http://schemas.openxmlformats.org/drawingml/2006/main">
              <a:ext uri="{FF2B5EF4-FFF2-40B4-BE49-F238E27FC236}">
                <a16:creationId xmlns:a16="http://schemas.microsoft.com/office/drawing/2014/main" id="{2B3401C5-05AC-4A91-B1F5-127373B4A6D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5190026-4DBF-4633-948C-5E07D2D0055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7E0D2C53-2D7A-4B2E-A643-D93A1B480FE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74CCF995-AC60-440E-AAE6-52132D384AAD}"/>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超微細構造と水分・寸法変化</a:t>
            </a:r>
          </a:p>
        </p:txBody>
      </p:sp>
      <p:sp>
        <p:nvSpPr>
          <p:cNvPr id="6" name="">
            <a:extLst xmlns:a="http://schemas.openxmlformats.org/drawingml/2006/main">
              <a:ext uri="{FF2B5EF4-FFF2-40B4-BE49-F238E27FC236}">
                <a16:creationId xmlns:a16="http://schemas.microsoft.com/office/drawing/2014/main" id="{94D6CFDC-6965-4AB3-920F-6CE7225DD9C2}"/>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細胞壁内の水分変化を膨潤・収縮と結び付け、配向と組織から寸法変化の異方性を説明する。</a:t>
            </a:r>
          </a:p>
        </p:txBody>
      </p:sp>
    </p:spTree>
    <p:extLst>
      <p:ext uri="{BB962C8B-B14F-4D97-AF65-F5344CB8AC3E}">
        <p14:creationId xmlns:p14="http://schemas.microsoft.com/office/powerpoint/2010/main" val="18491917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8BC1A9-6356-4971-B648-234929DC4E3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176CFEC2-0DB5-4A07-8586-AF3127771D0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DDDBCF96-87E0-48CA-ADB5-1E9FD2FCD25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317F457C-41CB-455C-AFD5-BA562F5D278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851C552F-B0F8-44F3-A2A9-5989CE1516D5}"/>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細胞壁は、成分と配向をもつ複合体</a:t>
            </a:r>
          </a:p>
        </p:txBody>
      </p:sp>
      <p:sp>
        <p:nvSpPr>
          <p:cNvPr id="6" name="">
            <a:extLst xmlns:a="http://schemas.openxmlformats.org/drawingml/2006/main">
              <a:ext uri="{FF2B5EF4-FFF2-40B4-BE49-F238E27FC236}">
                <a16:creationId xmlns:a16="http://schemas.microsoft.com/office/drawing/2014/main" id="{EFE9D3FA-A551-4E71-9880-7150A48E4F39}"/>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内腔の水と、壁内部の水を区別した</a:t>
            </a:r>
          </a:p>
        </p:txBody>
      </p:sp>
      <p:sp>
        <p:nvSpPr>
          <p:cNvPr id="7" name="">
            <a:extLst xmlns:a="http://schemas.openxmlformats.org/drawingml/2006/main">
              <a:ext uri="{FF2B5EF4-FFF2-40B4-BE49-F238E27FC236}">
                <a16:creationId xmlns:a16="http://schemas.microsoft.com/office/drawing/2014/main" id="{A3B1EDC2-6DEB-455F-B8D2-CE75EDB689BE}"/>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今日は、壁の水と寸法・乾燥を結び付ける</a:t>
            </a:r>
          </a:p>
        </p:txBody>
      </p:sp>
    </p:spTree>
    <p:extLst>
      <p:ext uri="{BB962C8B-B14F-4D97-AF65-F5344CB8AC3E}">
        <p14:creationId xmlns:p14="http://schemas.microsoft.com/office/powerpoint/2010/main" val="2117819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A970E3-70CD-4D62-950F-983DE5116A9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
            <a:extLst xmlns:a="http://schemas.openxmlformats.org/drawingml/2006/main">
              <a:ext uri="{FF2B5EF4-FFF2-40B4-BE49-F238E27FC236}">
                <a16:creationId xmlns:a16="http://schemas.microsoft.com/office/drawing/2014/main" id="{C514BFB0-334D-44A2-A0D7-B4A2FC99C71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11D2DBC-53E2-45E1-8CE2-D3E45BB5019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60D2920F-D682-4293-A6E1-FB43CF5CA36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F16CBEBE-ABFE-4542-94E1-185541FC4AFD}"/>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壁成分のOH基などと水が相互作用し、壁内部の構造が変わる</a:t>
            </a:r>
          </a:p>
        </p:txBody>
      </p:sp>
      <p:sp>
        <p:nvSpPr>
          <p:cNvPr id="6" name="">
            <a:extLst xmlns:a="http://schemas.openxmlformats.org/drawingml/2006/main">
              <a:ext uri="{FF2B5EF4-FFF2-40B4-BE49-F238E27FC236}">
                <a16:creationId xmlns:a16="http://schemas.microsoft.com/office/drawing/2014/main" id="{04178CA4-16A4-4B34-8CA7-0C3DE2FE196F}"/>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通常の材では、収縮はおおむねT＞R≫L</a:t>
            </a:r>
          </a:p>
        </p:txBody>
      </p:sp>
      <p:sp>
        <p:nvSpPr>
          <p:cNvPr id="7" name="">
            <a:extLst xmlns:a="http://schemas.openxmlformats.org/drawingml/2006/main">
              <a:ext uri="{FF2B5EF4-FFF2-40B4-BE49-F238E27FC236}">
                <a16:creationId xmlns:a16="http://schemas.microsoft.com/office/drawing/2014/main" id="{49291254-C707-461E-A5BA-70323A9A8137}"/>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収縮率＝100×(乾燥前寸法−乾燥後寸法)/乾燥前寸法</a:t>
            </a:r>
          </a:p>
        </p:txBody>
      </p:sp>
      <p:sp>
        <p:nvSpPr>
          <p:cNvPr id="8" name="">
            <a:extLst xmlns:a="http://schemas.openxmlformats.org/drawingml/2006/main">
              <a:ext uri="{FF2B5EF4-FFF2-40B4-BE49-F238E27FC236}">
                <a16:creationId xmlns:a16="http://schemas.microsoft.com/office/drawing/2014/main" id="{176EB54F-6D6C-4BE5-B354-CAD31BEB9C2A}"/>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1119678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573E61-A138-4B9F-94C5-F1CD40DFE70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細胞壁の吸湿と膨潤</a:t>
            </a:r>
          </a:p>
        </p:txBody>
      </p:sp>
      <p:cxnSp>
        <p:nvCxnSpPr>
          <p:cNvPr id="2" name="">
            <a:extLst xmlns:a="http://schemas.openxmlformats.org/drawingml/2006/main">
              <a:ext uri="{FF2B5EF4-FFF2-40B4-BE49-F238E27FC236}">
                <a16:creationId xmlns:a16="http://schemas.microsoft.com/office/drawing/2014/main" id="{7A367B7D-B772-419A-8EE4-0F7A4B7BB7A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8F469CF-DAA2-4946-A127-8E1EFFB1CD2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7BD6E95B-235F-4773-B424-E11311099ED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61D9EEFD-85F6-4509-937F-636AC78C517F}"/>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壁成分のOH基などと水が相互作用し、壁内部の構造が変わる</a:t>
            </a:r>
          </a:p>
        </p:txBody>
      </p:sp>
      <p:sp>
        <p:nvSpPr>
          <p:cNvPr id="6" name="">
            <a:extLst xmlns:a="http://schemas.openxmlformats.org/drawingml/2006/main">
              <a:ext uri="{FF2B5EF4-FFF2-40B4-BE49-F238E27FC236}">
                <a16:creationId xmlns:a16="http://schemas.microsoft.com/office/drawing/2014/main" id="{E6AC0F51-210F-4E1F-A41B-594CBDC8063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細胞壁中の水が増えると膨潤し、減ると収縮する</a:t>
            </a:r>
          </a:p>
        </p:txBody>
      </p:sp>
      <p:sp>
        <p:nvSpPr>
          <p:cNvPr id="7" name="">
            <a:extLst xmlns:a="http://schemas.openxmlformats.org/drawingml/2006/main">
              <a:ext uri="{FF2B5EF4-FFF2-40B4-BE49-F238E27FC236}">
                <a16:creationId xmlns:a16="http://schemas.microsoft.com/office/drawing/2014/main" id="{B276D052-832F-4FEF-8981-21539461B419}"/>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ミクロフィブリルの配向と、細胞の形・配列が方向差に関わる</a:t>
            </a:r>
          </a:p>
        </p:txBody>
      </p:sp>
      <p:sp>
        <p:nvSpPr>
          <p:cNvPr id="8" name="">
            <a:extLst xmlns:a="http://schemas.openxmlformats.org/drawingml/2006/main">
              <a:ext uri="{FF2B5EF4-FFF2-40B4-BE49-F238E27FC236}">
                <a16:creationId xmlns:a16="http://schemas.microsoft.com/office/drawing/2014/main" id="{4B092D1C-360C-48FC-BE6F-CDFB8C11B0F4}"/>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内腔に水を満たすことと、細胞壁へ水が入ることを区別する</a:t>
            </a:r>
          </a:p>
        </p:txBody>
      </p:sp>
      <p:sp>
        <p:nvSpPr>
          <p:cNvPr id="9" name="">
            <a:extLst xmlns:a="http://schemas.openxmlformats.org/drawingml/2006/main">
              <a:ext uri="{FF2B5EF4-FFF2-40B4-BE49-F238E27FC236}">
                <a16:creationId xmlns:a16="http://schemas.microsoft.com/office/drawing/2014/main" id="{F36EE0B3-95A0-448A-8B5B-A55DA788E3AD}"/>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木材の水分変化を、単に穴の水が増減するだけの現象と考えない</a:t>
            </a:r>
          </a:p>
        </p:txBody>
      </p:sp>
    </p:spTree>
    <p:extLst>
      <p:ext uri="{BB962C8B-B14F-4D97-AF65-F5344CB8AC3E}">
        <p14:creationId xmlns:p14="http://schemas.microsoft.com/office/powerpoint/2010/main" val="15879627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1D6F634-0D1D-42FC-9C35-EF66144EFD9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細胞壁内の水と自由水</a:t>
            </a:r>
          </a:p>
        </p:txBody>
      </p:sp>
      <p:cxnSp>
        <p:nvCxnSpPr>
          <p:cNvPr id="2" name="">
            <a:extLst xmlns:a="http://schemas.openxmlformats.org/drawingml/2006/main">
              <a:ext uri="{FF2B5EF4-FFF2-40B4-BE49-F238E27FC236}">
                <a16:creationId xmlns:a16="http://schemas.microsoft.com/office/drawing/2014/main" id="{E805EBBA-C695-4EFB-9559-BE47831181A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7845A52-BE54-491C-9065-0BB2FDB8B1A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FBAD7926-FE06-49F7-9DB6-08240582375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FC0BCFD8-2CEA-41A0-9683-A74E6AADCAA0}"/>
              </a:ext>
            </a:extLst>
          </p:cNvPr>
          <p:cNvSpPr>
            <a:spLocks xmlns:a="http://schemas.openxmlformats.org/drawingml/2006/main" noGrp="1"/>
          </p:cNvSpPr>
          <p:nvPr/>
        </p:nvSpPr>
        <p:spPr>
          <a:xfrm xmlns:a="http://schemas.openxmlformats.org/drawingml/2006/main">
            <a:off x="1143000" y="1905000"/>
            <a:ext cx="4667250" cy="3333750"/>
          </a:xfrm>
          <a:prstGeom xmlns:a="http://schemas.openxmlformats.org/drawingml/2006/main" prst="rect">
            <a:avLst/>
          </a:prstGeom>
          <a:solidFill xmlns:a="http://schemas.openxmlformats.org/drawingml/2006/main">
            <a:srgbClr val="D8E9E6"/>
          </a:solidFill>
          <a:ln xmlns:a="http://schemas.openxmlformats.org/drawingml/2006/main" w="14288">
            <a:solidFill>
              <a:srgbClr val="087E8B"/>
            </a:solidFill>
          </a:ln>
        </p:spPr>
      </p:sp>
      <p:sp>
        <p:nvSpPr>
          <p:cNvPr id="6" name="">
            <a:extLst xmlns:a="http://schemas.openxmlformats.org/drawingml/2006/main">
              <a:ext uri="{FF2B5EF4-FFF2-40B4-BE49-F238E27FC236}">
                <a16:creationId xmlns:a16="http://schemas.microsoft.com/office/drawing/2014/main" id="{C8F0AD06-38E4-4E5D-99F9-EA0297BEF59D}"/>
              </a:ext>
            </a:extLst>
          </p:cNvPr>
          <p:cNvSpPr>
            <a:spLocks xmlns:a="http://schemas.openxmlformats.org/drawingml/2006/main" noGrp="1"/>
          </p:cNvSpPr>
          <p:nvPr/>
        </p:nvSpPr>
        <p:spPr>
          <a:xfrm xmlns:a="http://schemas.openxmlformats.org/drawingml/2006/main">
            <a:off x="1666875" y="2428875"/>
            <a:ext cx="3619500" cy="2286000"/>
          </a:xfrm>
          <a:prstGeom xmlns:a="http://schemas.openxmlformats.org/drawingml/2006/main" prst="rect">
            <a:avLst/>
          </a:prstGeom>
          <a:solidFill xmlns:a="http://schemas.openxmlformats.org/drawingml/2006/main">
            <a:srgbClr val="FFFFFF"/>
          </a:solidFill>
          <a:ln xmlns:a="http://schemas.openxmlformats.org/drawingml/2006/main" w="14288">
            <a:solidFill>
              <a:srgbClr val="C8D3DD"/>
            </a:solidFill>
          </a:ln>
        </p:spPr>
      </p:sp>
      <p:sp>
        <p:nvSpPr>
          <p:cNvPr id="7" name="">
            <a:extLst xmlns:a="http://schemas.openxmlformats.org/drawingml/2006/main">
              <a:ext uri="{FF2B5EF4-FFF2-40B4-BE49-F238E27FC236}">
                <a16:creationId xmlns:a16="http://schemas.microsoft.com/office/drawing/2014/main" id="{75BE55F7-A853-4C2E-967C-559911AC381D}"/>
              </a:ext>
            </a:extLst>
          </p:cNvPr>
          <p:cNvSpPr>
            <a:spLocks xmlns:a="http://schemas.openxmlformats.org/drawingml/2006/main" noGrp="1"/>
          </p:cNvSpPr>
          <p:nvPr/>
        </p:nvSpPr>
        <p:spPr>
          <a:xfrm xmlns:a="http://schemas.openxmlformats.org/drawingml/2006/main">
            <a:off x="1666875" y="3714750"/>
            <a:ext cx="3619500" cy="1000125"/>
          </a:xfrm>
          <a:prstGeom xmlns:a="http://schemas.openxmlformats.org/drawingml/2006/main" prst="rect">
            <a:avLst/>
          </a:prstGeom>
          <a:solidFill xmlns:a="http://schemas.openxmlformats.org/drawingml/2006/main">
            <a:srgbClr val="C7DDED"/>
          </a:solidFill>
          <a:ln xmlns:a="http://schemas.openxmlformats.org/drawingml/2006/main" w="14288">
            <a:solidFill>
              <a:srgbClr val="245C98"/>
            </a:solidFill>
          </a:ln>
        </p:spPr>
      </p:sp>
      <p:sp>
        <p:nvSpPr>
          <p:cNvPr id="8" name="">
            <a:extLst xmlns:a="http://schemas.openxmlformats.org/drawingml/2006/main">
              <a:ext uri="{FF2B5EF4-FFF2-40B4-BE49-F238E27FC236}">
                <a16:creationId xmlns:a16="http://schemas.microsoft.com/office/drawing/2014/main" id="{6717AFAC-10CB-49B2-943A-2C8CAAD58949}"/>
              </a:ext>
            </a:extLst>
          </p:cNvPr>
          <p:cNvSpPr>
            <a:spLocks xmlns:a="http://schemas.openxmlformats.org/drawingml/2006/main" noGrp="1"/>
          </p:cNvSpPr>
          <p:nvPr/>
        </p:nvSpPr>
        <p:spPr>
          <a:xfrm xmlns:a="http://schemas.openxmlformats.org/drawingml/2006/main">
            <a:off x="1143000" y="19335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75" b="1">
                <a:solidFill>
                  <a:srgbClr val="087E8B"/>
                </a:solidFill>
                <a:latin typeface="Yu Gothic"/>
                <a:ea typeface="Yu Gothic"/>
                <a:cs typeface="Yu Gothic"/>
              </a:defRPr>
            </a:defPPr>
            <a:lvl1pPr algn="ctr">
              <a:buNone/>
              <a:defRPr sz="2175" b="1">
                <a:solidFill>
                  <a:srgbClr val="087E8B"/>
                </a:solidFill>
                <a:latin typeface="Yu Gothic"/>
                <a:ea typeface="Yu Gothic"/>
                <a:cs typeface="Yu Gothic"/>
              </a:defRPr>
            </a:lvl1pPr>
            <a:lvl2pPr algn="ctr">
              <a:buNone/>
              <a:defRPr sz="2175" b="1">
                <a:solidFill>
                  <a:srgbClr val="087E8B"/>
                </a:solidFill>
                <a:latin typeface="Yu Gothic"/>
                <a:ea typeface="Yu Gothic"/>
                <a:cs typeface="Yu Gothic"/>
              </a:defRPr>
            </a:lvl2pPr>
            <a:lvl3pPr algn="ctr">
              <a:buNone/>
              <a:defRPr sz="2175" b="1">
                <a:solidFill>
                  <a:srgbClr val="087E8B"/>
                </a:solidFill>
                <a:latin typeface="Yu Gothic"/>
                <a:ea typeface="Yu Gothic"/>
                <a:cs typeface="Yu Gothic"/>
              </a:defRPr>
            </a:lvl3pPr>
            <a:lvl4pPr algn="ctr">
              <a:buNone/>
              <a:defRPr sz="2175" b="1">
                <a:solidFill>
                  <a:srgbClr val="087E8B"/>
                </a:solidFill>
                <a:latin typeface="Yu Gothic"/>
                <a:ea typeface="Yu Gothic"/>
                <a:cs typeface="Yu Gothic"/>
              </a:defRPr>
            </a:lvl4pPr>
            <a:lvl5pPr algn="ctr">
              <a:buNone/>
              <a:defRPr sz="2175" b="1">
                <a:solidFill>
                  <a:srgbClr val="087E8B"/>
                </a:solidFill>
                <a:latin typeface="Yu Gothic"/>
                <a:ea typeface="Yu Gothic"/>
                <a:cs typeface="Yu Gothic"/>
              </a:defRPr>
            </a:lvl5pPr>
            <a:lvl6pPr algn="ctr">
              <a:buNone/>
              <a:defRPr sz="2175" b="1">
                <a:solidFill>
                  <a:srgbClr val="087E8B"/>
                </a:solidFill>
                <a:latin typeface="Yu Gothic"/>
                <a:ea typeface="Yu Gothic"/>
                <a:cs typeface="Yu Gothic"/>
              </a:defRPr>
            </a:lvl6pPr>
            <a:lvl7pPr algn="ctr">
              <a:buNone/>
              <a:defRPr sz="2175" b="1">
                <a:solidFill>
                  <a:srgbClr val="087E8B"/>
                </a:solidFill>
                <a:latin typeface="Yu Gothic"/>
                <a:ea typeface="Yu Gothic"/>
                <a:cs typeface="Yu Gothic"/>
              </a:defRPr>
            </a:lvl7pPr>
            <a:lvl8pPr algn="ctr">
              <a:buNone/>
              <a:defRPr sz="2175" b="1">
                <a:solidFill>
                  <a:srgbClr val="087E8B"/>
                </a:solidFill>
                <a:latin typeface="Yu Gothic"/>
                <a:ea typeface="Yu Gothic"/>
                <a:cs typeface="Yu Gothic"/>
              </a:defRPr>
            </a:lvl8pPr>
            <a:lvl9pPr algn="ctr">
              <a:buNone/>
              <a:defRPr sz="2175" b="1">
                <a:solidFill>
                  <a:srgbClr val="087E8B"/>
                </a:solidFill>
                <a:latin typeface="Yu Gothic"/>
                <a:ea typeface="Yu Gothic"/>
                <a:cs typeface="Yu Gothic"/>
              </a:defRPr>
            </a:lvl9pPr>
          </a:lstStyle>
          <a:p xmlns:a="http://schemas.openxmlformats.org/drawingml/2006/main">
            <a:pPr algn="ct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壁内の水</a:t>
            </a:r>
          </a:p>
        </p:txBody>
      </p:sp>
      <p:sp>
        <p:nvSpPr>
          <p:cNvPr id="9" name="">
            <a:extLst xmlns:a="http://schemas.openxmlformats.org/drawingml/2006/main">
              <a:ext uri="{FF2B5EF4-FFF2-40B4-BE49-F238E27FC236}">
                <a16:creationId xmlns:a16="http://schemas.microsoft.com/office/drawing/2014/main" id="{929EA23D-BF7B-4430-A800-BC70C7BB5902}"/>
              </a:ext>
            </a:extLst>
          </p:cNvPr>
          <p:cNvSpPr>
            <a:spLocks xmlns:a="http://schemas.openxmlformats.org/drawingml/2006/main" noGrp="1"/>
          </p:cNvSpPr>
          <p:nvPr/>
        </p:nvSpPr>
        <p:spPr>
          <a:xfrm xmlns:a="http://schemas.openxmlformats.org/drawingml/2006/main">
            <a:off x="1676400" y="3952875"/>
            <a:ext cx="3600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75" b="1">
                <a:solidFill>
                  <a:srgbClr val="245C98"/>
                </a:solidFill>
                <a:latin typeface="Yu Gothic"/>
                <a:ea typeface="Yu Gothic"/>
                <a:cs typeface="Yu Gothic"/>
              </a:defRPr>
            </a:defPPr>
            <a:lvl1pPr algn="ctr">
              <a:buNone/>
              <a:defRPr sz="2175" b="1">
                <a:solidFill>
                  <a:srgbClr val="245C98"/>
                </a:solidFill>
                <a:latin typeface="Yu Gothic"/>
                <a:ea typeface="Yu Gothic"/>
                <a:cs typeface="Yu Gothic"/>
              </a:defRPr>
            </a:lvl1pPr>
            <a:lvl2pPr algn="ctr">
              <a:buNone/>
              <a:defRPr sz="2175" b="1">
                <a:solidFill>
                  <a:srgbClr val="245C98"/>
                </a:solidFill>
                <a:latin typeface="Yu Gothic"/>
                <a:ea typeface="Yu Gothic"/>
                <a:cs typeface="Yu Gothic"/>
              </a:defRPr>
            </a:lvl2pPr>
            <a:lvl3pPr algn="ctr">
              <a:buNone/>
              <a:defRPr sz="2175" b="1">
                <a:solidFill>
                  <a:srgbClr val="245C98"/>
                </a:solidFill>
                <a:latin typeface="Yu Gothic"/>
                <a:ea typeface="Yu Gothic"/>
                <a:cs typeface="Yu Gothic"/>
              </a:defRPr>
            </a:lvl3pPr>
            <a:lvl4pPr algn="ctr">
              <a:buNone/>
              <a:defRPr sz="2175" b="1">
                <a:solidFill>
                  <a:srgbClr val="245C98"/>
                </a:solidFill>
                <a:latin typeface="Yu Gothic"/>
                <a:ea typeface="Yu Gothic"/>
                <a:cs typeface="Yu Gothic"/>
              </a:defRPr>
            </a:lvl4pPr>
            <a:lvl5pPr algn="ctr">
              <a:buNone/>
              <a:defRPr sz="2175" b="1">
                <a:solidFill>
                  <a:srgbClr val="245C98"/>
                </a:solidFill>
                <a:latin typeface="Yu Gothic"/>
                <a:ea typeface="Yu Gothic"/>
                <a:cs typeface="Yu Gothic"/>
              </a:defRPr>
            </a:lvl5pPr>
            <a:lvl6pPr algn="ctr">
              <a:buNone/>
              <a:defRPr sz="2175" b="1">
                <a:solidFill>
                  <a:srgbClr val="245C98"/>
                </a:solidFill>
                <a:latin typeface="Yu Gothic"/>
                <a:ea typeface="Yu Gothic"/>
                <a:cs typeface="Yu Gothic"/>
              </a:defRPr>
            </a:lvl6pPr>
            <a:lvl7pPr algn="ctr">
              <a:buNone/>
              <a:defRPr sz="2175" b="1">
                <a:solidFill>
                  <a:srgbClr val="245C98"/>
                </a:solidFill>
                <a:latin typeface="Yu Gothic"/>
                <a:ea typeface="Yu Gothic"/>
                <a:cs typeface="Yu Gothic"/>
              </a:defRPr>
            </a:lvl7pPr>
            <a:lvl8pPr algn="ctr">
              <a:buNone/>
              <a:defRPr sz="2175" b="1">
                <a:solidFill>
                  <a:srgbClr val="245C98"/>
                </a:solidFill>
                <a:latin typeface="Yu Gothic"/>
                <a:ea typeface="Yu Gothic"/>
                <a:cs typeface="Yu Gothic"/>
              </a:defRPr>
            </a:lvl8pPr>
            <a:lvl9pPr algn="ctr">
              <a:buNone/>
              <a:defRPr sz="2175" b="1">
                <a:solidFill>
                  <a:srgbClr val="245C98"/>
                </a:solidFill>
                <a:latin typeface="Yu Gothic"/>
                <a:ea typeface="Yu Gothic"/>
                <a:cs typeface="Yu Gothic"/>
              </a:defRPr>
            </a:lvl9pPr>
          </a:lstStyle>
          <a:p xmlns:a="http://schemas.openxmlformats.org/drawingml/2006/main">
            <a:pPr algn="ctr">
              <a:buNone/>
              <a:defRPr sz="2175" b="1">
                <a:solidFill>
                  <a:srgbClr val="245C98"/>
                </a:solidFill>
                <a:latin typeface="Yu Gothic"/>
                <a:ea typeface="Yu Gothic"/>
                <a:cs typeface="Yu Gothic"/>
              </a:defRPr>
            </a:pPr>
            <a:r>
              <a:rPr sz="2175" b="1">
                <a:solidFill>
                  <a:srgbClr val="245C98"/>
                </a:solidFill>
                <a:latin typeface="Yu Gothic"/>
                <a:ea typeface="Yu Gothic"/>
                <a:cs typeface="Yu Gothic"/>
              </a:rPr>
              <a:t>内腔等の自由水</a:t>
            </a:r>
          </a:p>
        </p:txBody>
      </p:sp>
      <p:sp>
        <p:nvSpPr>
          <p:cNvPr id="10" name="">
            <a:extLst xmlns:a="http://schemas.openxmlformats.org/drawingml/2006/main">
              <a:ext uri="{FF2B5EF4-FFF2-40B4-BE49-F238E27FC236}">
                <a16:creationId xmlns:a16="http://schemas.microsoft.com/office/drawing/2014/main" id="{356A0EE0-DD6E-4A75-B02B-513530C3A7A3}"/>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水の所在を分ける</a:t>
            </a:r>
          </a:p>
        </p:txBody>
      </p:sp>
      <p:sp>
        <p:nvSpPr>
          <p:cNvPr id="11" name="">
            <a:extLst xmlns:a="http://schemas.openxmlformats.org/drawingml/2006/main">
              <a:ext uri="{FF2B5EF4-FFF2-40B4-BE49-F238E27FC236}">
                <a16:creationId xmlns:a16="http://schemas.microsoft.com/office/drawing/2014/main" id="{08BD9BD1-C8C8-4892-8CB8-58F43F766D33}"/>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壁の成分との相互作用</a:t>
            </a:r>
          </a:p>
        </p:txBody>
      </p:sp>
      <p:sp>
        <p:nvSpPr>
          <p:cNvPr id="12" name="">
            <a:extLst xmlns:a="http://schemas.openxmlformats.org/drawingml/2006/main">
              <a:ext uri="{FF2B5EF4-FFF2-40B4-BE49-F238E27FC236}">
                <a16:creationId xmlns:a16="http://schemas.microsoft.com/office/drawing/2014/main" id="{53F4685E-0F64-442D-968E-FFA61CB3FBD6}"/>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水分変化と寸法を結ぶ</a:t>
            </a:r>
          </a:p>
        </p:txBody>
      </p:sp>
      <p:sp>
        <p:nvSpPr>
          <p:cNvPr id="13" name="">
            <a:extLst xmlns:a="http://schemas.openxmlformats.org/drawingml/2006/main">
              <a:ext uri="{FF2B5EF4-FFF2-40B4-BE49-F238E27FC236}">
                <a16:creationId xmlns:a16="http://schemas.microsoft.com/office/drawing/2014/main" id="{DBBBE074-30AE-4AA6-8373-1E8EAA581D98}"/>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水量と寸法比は模式的</a:t>
            </a:r>
          </a:p>
        </p:txBody>
      </p:sp>
    </p:spTree>
    <p:extLst>
      <p:ext uri="{BB962C8B-B14F-4D97-AF65-F5344CB8AC3E}">
        <p14:creationId xmlns:p14="http://schemas.microsoft.com/office/powerpoint/2010/main" val="575316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93EBA5-53E2-48E3-908D-2142F2A3235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LとRとTの収縮</a:t>
            </a:r>
          </a:p>
        </p:txBody>
      </p:sp>
      <p:cxnSp>
        <p:nvCxnSpPr>
          <p:cNvPr id="2" name="">
            <a:extLst xmlns:a="http://schemas.openxmlformats.org/drawingml/2006/main">
              <a:ext uri="{FF2B5EF4-FFF2-40B4-BE49-F238E27FC236}">
                <a16:creationId xmlns:a16="http://schemas.microsoft.com/office/drawing/2014/main" id="{F2625EE2-6948-437A-A256-51574F2DECE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50AB993-A17F-4045-9EF0-E43697B43BD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70305198-31C6-445E-87A1-E07CA7EBF77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CC2B18D8-F66F-4FA4-A8D9-60B4367A45DF}"/>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通常の材では、収縮はおおむねT＞R≫L</a:t>
            </a:r>
          </a:p>
        </p:txBody>
      </p:sp>
      <p:sp>
        <p:nvSpPr>
          <p:cNvPr id="6" name="">
            <a:extLst xmlns:a="http://schemas.openxmlformats.org/drawingml/2006/main">
              <a:ext uri="{FF2B5EF4-FFF2-40B4-BE49-F238E27FC236}">
                <a16:creationId xmlns:a16="http://schemas.microsoft.com/office/drawing/2014/main" id="{0A9C1CA6-F1E0-4DD0-B6A8-26D8742311C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Tは年輪に沿う方向、Rは年輪を横切る方向</a:t>
            </a:r>
          </a:p>
        </p:txBody>
      </p:sp>
      <p:sp>
        <p:nvSpPr>
          <p:cNvPr id="7" name="">
            <a:extLst xmlns:a="http://schemas.openxmlformats.org/drawingml/2006/main">
              <a:ext uri="{FF2B5EF4-FFF2-40B4-BE49-F238E27FC236}">
                <a16:creationId xmlns:a16="http://schemas.microsoft.com/office/drawing/2014/main" id="{D71A9A3F-0073-4921-AD22-2CCFB2FFF2E8}"/>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RとTの差は細胞壁の配向だけでなく、組織構成や年輪内の違いにも関わる</a:t>
            </a:r>
          </a:p>
        </p:txBody>
      </p:sp>
      <p:sp>
        <p:nvSpPr>
          <p:cNvPr id="8" name="">
            <a:extLst xmlns:a="http://schemas.openxmlformats.org/drawingml/2006/main">
              <a:ext uri="{FF2B5EF4-FFF2-40B4-BE49-F238E27FC236}">
                <a16:creationId xmlns:a16="http://schemas.microsoft.com/office/drawing/2014/main" id="{40F1EACE-826F-4C3D-8884-3C67A547B2C0}"/>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未成熟材・あて材では、L方向の収縮が大きい場合がある</a:t>
            </a:r>
          </a:p>
        </p:txBody>
      </p:sp>
      <p:sp>
        <p:nvSpPr>
          <p:cNvPr id="9" name="">
            <a:extLst xmlns:a="http://schemas.openxmlformats.org/drawingml/2006/main">
              <a:ext uri="{FF2B5EF4-FFF2-40B4-BE49-F238E27FC236}">
                <a16:creationId xmlns:a16="http://schemas.microsoft.com/office/drawing/2014/main" id="{D0BFC2F9-B898-4CE5-8119-C56466F02508}"/>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木取りと年輪配置を読むことが、幅の動きや反りの予想につながる</a:t>
            </a:r>
          </a:p>
        </p:txBody>
      </p:sp>
    </p:spTree>
    <p:extLst>
      <p:ext uri="{BB962C8B-B14F-4D97-AF65-F5344CB8AC3E}">
        <p14:creationId xmlns:p14="http://schemas.microsoft.com/office/powerpoint/2010/main" val="7839142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7094CB-6BD8-4BAD-B5B2-1E6F25055F9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比較するデータと条件</a:t>
            </a:r>
          </a:p>
        </p:txBody>
      </p:sp>
      <p:cxnSp>
        <p:nvCxnSpPr>
          <p:cNvPr id="2" name="">
            <a:extLst xmlns:a="http://schemas.openxmlformats.org/drawingml/2006/main">
              <a:ext uri="{FF2B5EF4-FFF2-40B4-BE49-F238E27FC236}">
                <a16:creationId xmlns:a16="http://schemas.microsoft.com/office/drawing/2014/main" id="{8AC8E1A0-3103-4B54-A904-8DF1C888F1C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ADF28B7-43D1-4E7C-9CDD-74A39F57A37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DA3625DC-F8E2-4D5F-94E6-D76F696D80E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graphicFrame>
        <p:nvGraphicFramePr>
          <p:cNvPr id="5" name="">
            <a:extLst xmlns:a="http://schemas.openxmlformats.org/drawingml/2006/main">
              <a:ext uri="{FF2B5EF4-FFF2-40B4-BE49-F238E27FC236}">
                <a16:creationId xmlns:a16="http://schemas.microsoft.com/office/drawing/2014/main" id="{FAA5A931-196D-49D5-B007-C89198BCBFC6}"/>
              </a:ext>
            </a:extLst>
          </p:cNvPr>
          <p:cNvGraphicFramePr/>
          <p:nvPr/>
        </p:nvGraphicFramePr>
        <p:xfrm>
          <a:off xmlns:a="http://schemas.openxmlformats.org/drawingml/2006/main" x="685800" y="1657350"/>
          <a:ext xmlns:a="http://schemas.openxmlformats.org/drawingml/2006/main" cx="10820400" cy="4000500"/>
        </p:xfrm>
        <a:graphic xmlns:a="http://schemas.openxmlformats.org/drawingml/2006/main">
          <a:graphicData uri="http://schemas.openxmlformats.org/drawingml/2006/table">
            <a:tbl>
              <a:tblPr/>
              <a:tblGrid>
                <a:gridCol w="2524125"/>
                <a:gridCol w="3905250"/>
                <a:gridCol w="4391025"/>
              </a:tblGrid>
              <a:tr h="800100">
                <a:tc>
                  <a:txBody>
                    <a:bodyPr lIns="95250" tIns="95250" rIns="95250" bIns="95250"/>
                    <a:lstStyle/>
                    <a:p>
                      <a:r>
                        <a:rPr sz="1875" b="1">
                          <a:solidFill>
                            <a:srgbClr val="FFFFFF"/>
                          </a:solidFill>
                          <a:latin typeface="Yu Gothic"/>
                          <a:ea typeface="Yu Gothic"/>
                          <a:cs typeface="Yu Gothic"/>
                        </a:rPr>
                        <a:t>方向</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75" b="1">
                          <a:solidFill>
                            <a:srgbClr val="FFFFFF"/>
                          </a:solidFill>
                          <a:latin typeface="Yu Gothic"/>
                          <a:ea typeface="Yu Gothic"/>
                          <a:cs typeface="Yu Gothic"/>
                        </a:rPr>
                        <a:t>乾燥前の寸法 mm</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75" b="1">
                          <a:solidFill>
                            <a:srgbClr val="FFFFFF"/>
                          </a:solidFill>
                          <a:latin typeface="Yu Gothic"/>
                          <a:ea typeface="Yu Gothic"/>
                          <a:cs typeface="Yu Gothic"/>
                        </a:rPr>
                        <a:t>全乾後の寸法 mm</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800100">
                <a:tc>
                  <a:txBody>
                    <a:bodyPr lIns="95250" tIns="95250" rIns="95250" bIns="95250"/>
                    <a:lstStyle/>
                    <a:p>
                      <a:r>
                        <a:rPr sz="1875" b="0">
                          <a:solidFill>
                            <a:srgbClr val="253C4D"/>
                          </a:solidFill>
                          <a:latin typeface="Yu Gothic"/>
                          <a:ea typeface="Yu Gothic"/>
                          <a:cs typeface="Yu Gothic"/>
                        </a:rPr>
                        <a:t>T</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75" b="0">
                          <a:solidFill>
                            <a:srgbClr val="253C4D"/>
                          </a:solidFill>
                          <a:latin typeface="Yu Gothic"/>
                          <a:ea typeface="Yu Gothic"/>
                          <a:cs typeface="Yu Gothic"/>
                        </a:rPr>
                        <a:t>100.0</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75" b="0">
                          <a:solidFill>
                            <a:srgbClr val="253C4D"/>
                          </a:solidFill>
                          <a:latin typeface="Yu Gothic"/>
                          <a:ea typeface="Yu Gothic"/>
                          <a:cs typeface="Yu Gothic"/>
                        </a:rPr>
                        <a:t>94.0</a:t>
                      </a:r>
                    </a:p>
                  </a:txBody>
                  <a:tcPr marL="91440" marR="91440" marT="45720" marB="45720" anchor="ctr">
                    <a:lnR w="9525">
                      <a:solidFill>
                        <a:srgbClr val="C8D3DD"/>
                      </a:solidFill>
                    </a:lnR>
                    <a:lnB w="9525">
                      <a:solidFill>
                        <a:srgbClr val="C8D3DD"/>
                      </a:solidFill>
                    </a:lnB>
                    <a:solidFill>
                      <a:srgbClr val="EDF2F6"/>
                    </a:solidFill>
                  </a:tcPr>
                </a:tc>
              </a:tr>
              <a:tr h="800100">
                <a:tc>
                  <a:txBody>
                    <a:bodyPr lIns="95250" tIns="95250" rIns="95250" bIns="95250"/>
                    <a:lstStyle/>
                    <a:p>
                      <a:r>
                        <a:rPr sz="1875" b="0">
                          <a:solidFill>
                            <a:srgbClr val="253C4D"/>
                          </a:solidFill>
                          <a:latin typeface="Yu Gothic"/>
                          <a:ea typeface="Yu Gothic"/>
                          <a:cs typeface="Yu Gothic"/>
                        </a:rPr>
                        <a:t>R</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75" b="0">
                          <a:solidFill>
                            <a:srgbClr val="253C4D"/>
                          </a:solidFill>
                          <a:latin typeface="Yu Gothic"/>
                          <a:ea typeface="Yu Gothic"/>
                          <a:cs typeface="Yu Gothic"/>
                        </a:rPr>
                        <a:t>100.0</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75" b="0">
                          <a:solidFill>
                            <a:srgbClr val="253C4D"/>
                          </a:solidFill>
                          <a:latin typeface="Yu Gothic"/>
                          <a:ea typeface="Yu Gothic"/>
                          <a:cs typeface="Yu Gothic"/>
                        </a:rPr>
                        <a:t>97.0</a:t>
                      </a:r>
                    </a:p>
                  </a:txBody>
                  <a:tcPr marL="91440" marR="91440" marT="45720" marB="45720" anchor="ctr">
                    <a:lnR w="9525">
                      <a:solidFill>
                        <a:srgbClr val="C8D3DD"/>
                      </a:solidFill>
                    </a:lnR>
                    <a:lnB w="9525">
                      <a:solidFill>
                        <a:srgbClr val="C8D3DD"/>
                      </a:solidFill>
                    </a:lnB>
                    <a:solidFill>
                      <a:srgbClr val="FFFFFF"/>
                    </a:solidFill>
                  </a:tcPr>
                </a:tc>
              </a:tr>
              <a:tr h="800100">
                <a:tc>
                  <a:txBody>
                    <a:bodyPr lIns="95250" tIns="95250" rIns="95250" bIns="95250"/>
                    <a:lstStyle/>
                    <a:p>
                      <a:r>
                        <a:rPr sz="1875" b="0">
                          <a:solidFill>
                            <a:srgbClr val="253C4D"/>
                          </a:solidFill>
                          <a:latin typeface="Yu Gothic"/>
                          <a:ea typeface="Yu Gothic"/>
                          <a:cs typeface="Yu Gothic"/>
                        </a:rPr>
                        <a:t>L</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75" b="0">
                          <a:solidFill>
                            <a:srgbClr val="253C4D"/>
                          </a:solidFill>
                          <a:latin typeface="Yu Gothic"/>
                          <a:ea typeface="Yu Gothic"/>
                          <a:cs typeface="Yu Gothic"/>
                        </a:rPr>
                        <a:t>100.0</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75" b="0">
                          <a:solidFill>
                            <a:srgbClr val="253C4D"/>
                          </a:solidFill>
                          <a:latin typeface="Yu Gothic"/>
                          <a:ea typeface="Yu Gothic"/>
                          <a:cs typeface="Yu Gothic"/>
                        </a:rPr>
                        <a:t>99.8</a:t>
                      </a:r>
                    </a:p>
                  </a:txBody>
                  <a:tcPr marL="91440" marR="91440" marT="45720" marB="45720" anchor="ctr">
                    <a:lnR w="9525">
                      <a:solidFill>
                        <a:srgbClr val="C8D3DD"/>
                      </a:solidFill>
                    </a:lnR>
                    <a:lnB w="9525">
                      <a:solidFill>
                        <a:srgbClr val="C8D3DD"/>
                      </a:solidFill>
                    </a:lnB>
                    <a:solidFill>
                      <a:srgbClr val="EDF2F6"/>
                    </a:solidFill>
                  </a:tcPr>
                </a:tc>
              </a:tr>
              <a:tr h="800100">
                <a:tc>
                  <a:txBody>
                    <a:bodyPr lIns="95250" tIns="95250" rIns="95250" bIns="95250"/>
                    <a:lstStyle/>
                    <a:p>
                      <a:r>
                        <a:rPr sz="1875" b="0">
                          <a:solidFill>
                            <a:srgbClr val="253C4D"/>
                          </a:solidFill>
                          <a:latin typeface="Yu Gothic"/>
                          <a:ea typeface="Yu Gothic"/>
                          <a:cs typeface="Yu Gothic"/>
                        </a:rPr>
                        <a:t>乾燥区間</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75" b="0">
                          <a:solidFill>
                            <a:srgbClr val="253C4D"/>
                          </a:solidFill>
                          <a:latin typeface="Yu Gothic"/>
                          <a:ea typeface="Yu Gothic"/>
                          <a:cs typeface="Yu Gothic"/>
                        </a:rPr>
                        <a:t>繊維飽和付近から全乾まで</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75" b="0">
                          <a:solidFill>
                            <a:srgbClr val="253C4D"/>
                          </a:solidFill>
                          <a:latin typeface="Yu Gothic"/>
                          <a:ea typeface="Yu Gothic"/>
                          <a:cs typeface="Yu Gothic"/>
                        </a:rPr>
                        <a:t>演習用のモデル値</a:t>
                      </a:r>
                    </a:p>
                  </a:txBody>
                  <a:tcPr marL="91440" marR="91440" marT="45720" marB="45720" anchor="ctr">
                    <a:lnR w="9525">
                      <a:solidFill>
                        <a:srgbClr val="C8D3DD"/>
                      </a:solidFill>
                    </a:lnR>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5398826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DBD441-1A52-4ABC-ADE5-5456227EAD6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三方向の収縮率</a:t>
            </a:r>
          </a:p>
        </p:txBody>
      </p:sp>
      <p:cxnSp>
        <p:nvCxnSpPr>
          <p:cNvPr id="2" name="">
            <a:extLst xmlns:a="http://schemas.openxmlformats.org/drawingml/2006/main">
              <a:ext uri="{FF2B5EF4-FFF2-40B4-BE49-F238E27FC236}">
                <a16:creationId xmlns:a16="http://schemas.microsoft.com/office/drawing/2014/main" id="{866565CF-8DE3-4C51-84A2-BCA6A6DD46C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C5497F3-E47E-4F90-8754-48A2C3B1EBB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42F63211-63DC-4C32-A94C-E935A2D5D8A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6B17F36E-8FEF-423A-A495-9965F41E6EDC}"/>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方向別の収縮率を求める</a:t>
            </a:r>
          </a:p>
        </p:txBody>
      </p:sp>
      <p:sp>
        <p:nvSpPr>
          <p:cNvPr id="6" name="">
            <a:extLst xmlns:a="http://schemas.openxmlformats.org/drawingml/2006/main">
              <a:ext uri="{FF2B5EF4-FFF2-40B4-BE49-F238E27FC236}">
                <a16:creationId xmlns:a16="http://schemas.microsoft.com/office/drawing/2014/main" id="{C3B7EAFA-A511-488A-99D9-9DED52722CDC}"/>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T方向に幅200 mmなら、同区間で何mm縮む？</a:t>
            </a:r>
          </a:p>
        </p:txBody>
      </p:sp>
      <p:sp>
        <p:nvSpPr>
          <p:cNvPr id="7" name="">
            <a:extLst xmlns:a="http://schemas.openxmlformats.org/drawingml/2006/main">
              <a:ext uri="{FF2B5EF4-FFF2-40B4-BE49-F238E27FC236}">
                <a16:creationId xmlns:a16="http://schemas.microsoft.com/office/drawing/2014/main" id="{773A96AF-5342-4690-AF5E-330A68AEC459}"/>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初めの値を基準にする</a:t>
            </a:r>
          </a:p>
        </p:txBody>
      </p:sp>
      <p:sp>
        <p:nvSpPr>
          <p:cNvPr id="8" name="">
            <a:extLst xmlns:a="http://schemas.openxmlformats.org/drawingml/2006/main">
              <a:ext uri="{FF2B5EF4-FFF2-40B4-BE49-F238E27FC236}">
                <a16:creationId xmlns:a16="http://schemas.microsoft.com/office/drawing/2014/main" id="{C58AF22B-7552-4399-BFB8-E2138566EA3A}"/>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湿度が少し変わる日常環境へ、そのまま適用するか？</a:t>
            </a:r>
          </a:p>
        </p:txBody>
      </p:sp>
    </p:spTree>
    <p:extLst>
      <p:ext uri="{BB962C8B-B14F-4D97-AF65-F5344CB8AC3E}">
        <p14:creationId xmlns:p14="http://schemas.microsoft.com/office/powerpoint/2010/main" val="1872211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A41C75-D845-4277-8047-BCE567F8E66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三方向の収縮率</a:t>
            </a:r>
          </a:p>
        </p:txBody>
      </p:sp>
      <p:cxnSp>
        <p:nvCxnSpPr>
          <p:cNvPr id="2" name="">
            <a:extLst xmlns:a="http://schemas.openxmlformats.org/drawingml/2006/main">
              <a:ext uri="{FF2B5EF4-FFF2-40B4-BE49-F238E27FC236}">
                <a16:creationId xmlns:a16="http://schemas.microsoft.com/office/drawing/2014/main" id="{210C3210-E9DE-4DB9-B0D0-C8326A49C84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DF952CD1-81A2-4975-A158-493D0E71780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7DD2C71D-9F13-4B93-A4BD-0B4EF07B605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4386D97A-E88E-46E3-B451-1AB88AC88590}"/>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T：6.0％、R：3.0％、L：0.2％</a:t>
            </a:r>
          </a:p>
        </p:txBody>
      </p:sp>
      <p:sp>
        <p:nvSpPr>
          <p:cNvPr id="6" name="">
            <a:extLst xmlns:a="http://schemas.openxmlformats.org/drawingml/2006/main">
              <a:ext uri="{FF2B5EF4-FFF2-40B4-BE49-F238E27FC236}">
                <a16:creationId xmlns:a16="http://schemas.microsoft.com/office/drawing/2014/main" id="{ECA2486B-2173-48C2-8A75-16F73A3E3357}"/>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同じ仮定なら200×0.06 = 12 mm</a:t>
            </a:r>
          </a:p>
        </p:txBody>
      </p:sp>
      <p:sp>
        <p:nvSpPr>
          <p:cNvPr id="7" name="">
            <a:extLst xmlns:a="http://schemas.openxmlformats.org/drawingml/2006/main">
              <a:ext uri="{FF2B5EF4-FFF2-40B4-BE49-F238E27FC236}">
                <a16:creationId xmlns:a16="http://schemas.microsoft.com/office/drawing/2014/main" id="{146518B2-386D-405F-B86C-55AAAA47F782}"/>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乾燥区間・樹種・方向をそろえる必要がある</a:t>
            </a:r>
          </a:p>
        </p:txBody>
      </p:sp>
      <p:sp>
        <p:nvSpPr>
          <p:cNvPr id="8" name="">
            <a:extLst xmlns:a="http://schemas.openxmlformats.org/drawingml/2006/main">
              <a:ext uri="{FF2B5EF4-FFF2-40B4-BE49-F238E27FC236}">
                <a16:creationId xmlns:a16="http://schemas.microsoft.com/office/drawing/2014/main" id="{5A6EBFBC-34C0-439E-A2E9-CD58D513B30A}"/>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全乾までの収縮率を、日常の変化へ直結しない</a:t>
            </a:r>
          </a:p>
        </p:txBody>
      </p:sp>
    </p:spTree>
    <p:extLst>
      <p:ext uri="{BB962C8B-B14F-4D97-AF65-F5344CB8AC3E}">
        <p14:creationId xmlns:p14="http://schemas.microsoft.com/office/powerpoint/2010/main" val="18728703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A6DB26-B1A5-4603-B1D5-D110AA1552B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全乾までの値と、使用域の変化</a:t>
            </a:r>
          </a:p>
        </p:txBody>
      </p:sp>
      <p:sp>
        <p:nvSpPr>
          <p:cNvPr id="2" name="">
            <a:extLst xmlns:a="http://schemas.openxmlformats.org/drawingml/2006/main">
              <a:ext uri="{FF2B5EF4-FFF2-40B4-BE49-F238E27FC236}">
                <a16:creationId xmlns:a16="http://schemas.microsoft.com/office/drawing/2014/main" id="{7DCEBE0C-B383-4ED8-90FC-DBFAF176142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092A95-59C0-45F6-A625-64077809820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7D3A9943-4EEC-4C39-B459-63858CAEA53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6B5211AD-D4EB-4973-9676-6CB5BCB4CB88}"/>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説明モデル：FSP30%で100 mm、全乾で94 mm</a:t>
            </a:r>
          </a:p>
        </p:txBody>
      </p:sp>
      <p:sp>
        <p:nvSpPr>
          <p:cNvPr id="6" name="">
            <a:extLst xmlns:a="http://schemas.openxmlformats.org/drawingml/2006/main">
              <a:ext uri="{FF2B5EF4-FFF2-40B4-BE49-F238E27FC236}">
                <a16:creationId xmlns:a16="http://schemas.microsoft.com/office/drawing/2014/main" id="{42B1837F-CCAE-436C-B5A6-2A06CB94007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0～30%ではMCと寸法を直線で近似する</a:t>
            </a:r>
          </a:p>
        </p:txBody>
      </p:sp>
      <p:sp>
        <p:nvSpPr>
          <p:cNvPr id="7" name="">
            <a:extLst xmlns:a="http://schemas.openxmlformats.org/drawingml/2006/main">
              <a:ext uri="{FF2B5EF4-FFF2-40B4-BE49-F238E27FC236}">
                <a16:creationId xmlns:a16="http://schemas.microsoft.com/office/drawing/2014/main" id="{35A30E10-3721-4C6E-A7EF-70CE15811D8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MC20%、10%での寸法を求める</a:t>
            </a:r>
          </a:p>
        </p:txBody>
      </p:sp>
      <p:sp>
        <p:nvSpPr>
          <p:cNvPr id="8" name="">
            <a:extLst xmlns:a="http://schemas.openxmlformats.org/drawingml/2006/main">
              <a:ext uri="{FF2B5EF4-FFF2-40B4-BE49-F238E27FC236}">
                <a16:creationId xmlns:a16="http://schemas.microsoft.com/office/drawing/2014/main" id="{899F5FB6-AF5D-4AAD-924F-D9771829809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MC20→10%の収縮率を、その時点の寸法から求める</a:t>
            </a:r>
          </a:p>
        </p:txBody>
      </p:sp>
    </p:spTree>
    <p:extLst>
      <p:ext uri="{BB962C8B-B14F-4D97-AF65-F5344CB8AC3E}">
        <p14:creationId xmlns:p14="http://schemas.microsoft.com/office/powerpoint/2010/main" val="17465381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D121C2-7D4A-47A1-B13D-0689291074F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含水率と寸法：FSPを境に考えるモデル</a:t>
            </a:r>
          </a:p>
        </p:txBody>
      </p:sp>
      <p:sp>
        <p:nvSpPr>
          <p:cNvPr id="2" name="">
            <a:extLst xmlns:a="http://schemas.openxmlformats.org/drawingml/2006/main">
              <a:ext uri="{FF2B5EF4-FFF2-40B4-BE49-F238E27FC236}">
                <a16:creationId xmlns:a16="http://schemas.microsoft.com/office/drawing/2014/main" id="{4A9B8DEA-26AB-4BA9-B469-08A2A71C954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6FD4AE-9D19-449D-BEB3-76E80C67029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5EC19AB1-5531-4490-8E15-09F5AEAE67D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graphicFrame>
        <p:nvGraphicFramePr>
          <p:cNvPr id="5" name="Chart">
            <a:extLst xmlns:a="http://schemas.openxmlformats.org/drawingml/2006/main">
              <a:ext uri="{FF2B5EF4-FFF2-40B4-BE49-F238E27FC236}">
                <a16:creationId xmlns:a16="http://schemas.microsoft.com/office/drawing/2014/main" id="{E2D7992E-52DD-4CED-87A7-428D538E5AEC}"/>
              </a:ext>
            </a:extLst>
          </p:cNvPr>
          <p:cNvGraphicFramePr/>
          <p:nvPr/>
        </p:nvGraphicFramePr>
        <p:xfrm>
          <a:off xmlns:a="http://schemas.openxmlformats.org/drawingml/2006/main" x="857250" y="1619250"/>
          <a:ext xmlns:a="http://schemas.openxmlformats.org/drawingml/2006/main" cx="10477500" cy="3714750"/>
        </p:xfrm>
        <a:graphic xmlns:a="http://schemas.openxmlformats.org/drawingml/2006/main">
          <a:graphicData uri="http://schemas.openxmlformats.org/drawingml/2006/chart">
            <c:chart xmlns:r="http://schemas.openxmlformats.org/officeDocument/2006/relationships" xmlns:c="http://schemas.openxmlformats.org/drawingml/2006/chart" r:id="Rb337b051fdb24aca"/>
          </a:graphicData>
        </a:graphic>
      </p:graphicFrame>
      <p:sp>
        <p:nvSpPr>
          <p:cNvPr id="6" name="">
            <a:extLst xmlns:a="http://schemas.openxmlformats.org/drawingml/2006/main">
              <a:ext uri="{FF2B5EF4-FFF2-40B4-BE49-F238E27FC236}">
                <a16:creationId xmlns:a16="http://schemas.microsoft.com/office/drawing/2014/main" id="{1592A9E2-D87B-4A8F-B2F3-3AA43C4889E4}"/>
              </a:ext>
            </a:extLst>
          </p:cNvPr>
          <p:cNvSpPr>
            <a:spLocks xmlns:a="http://schemas.openxmlformats.org/drawingml/2006/main" noGrp="1"/>
          </p:cNvSpPr>
          <p:nvPr/>
        </p:nvSpPr>
        <p:spPr>
          <a:xfrm xmlns:a="http://schemas.openxmlformats.org/drawingml/2006/main">
            <a:off x="838200" y="5467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FSP30%で各方向100 mm。全乾でT94、R97、L99.8 mmと仮定。</a:t>
            </a:r>
          </a:p>
        </p:txBody>
      </p:sp>
      <p:sp>
        <p:nvSpPr>
          <p:cNvPr id="7" name="">
            <a:extLst xmlns:a="http://schemas.openxmlformats.org/drawingml/2006/main">
              <a:ext uri="{FF2B5EF4-FFF2-40B4-BE49-F238E27FC236}">
                <a16:creationId xmlns:a16="http://schemas.microsoft.com/office/drawing/2014/main" id="{09A36E7E-C244-4CC4-8E67-961761CBDBBA}"/>
              </a:ext>
            </a:extLst>
          </p:cNvPr>
          <p:cNvSpPr>
            <a:spLocks xmlns:a="http://schemas.openxmlformats.org/drawingml/2006/main" noGrp="1"/>
          </p:cNvSpPr>
          <p:nvPr/>
        </p:nvSpPr>
        <p:spPr>
          <a:xfrm xmlns:a="http://schemas.openxmlformats.org/drawingml/2006/main">
            <a:off x="838200" y="58959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縦軸90–102 mm。直線近似の説明モデルであり、実測曲線ではない。</a:t>
            </a:r>
          </a:p>
        </p:txBody>
      </p:sp>
    </p:spTree>
    <p:extLst>
      <p:ext uri="{BB962C8B-B14F-4D97-AF65-F5344CB8AC3E}">
        <p14:creationId xmlns:p14="http://schemas.microsoft.com/office/powerpoint/2010/main" val="20276516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67A081-5F9C-4877-9D47-5DD82004EFF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乾燥中の応力と変形</a:t>
            </a:r>
          </a:p>
        </p:txBody>
      </p:sp>
      <p:cxnSp>
        <p:nvCxnSpPr>
          <p:cNvPr id="2" name="">
            <a:extLst xmlns:a="http://schemas.openxmlformats.org/drawingml/2006/main">
              <a:ext uri="{FF2B5EF4-FFF2-40B4-BE49-F238E27FC236}">
                <a16:creationId xmlns:a16="http://schemas.microsoft.com/office/drawing/2014/main" id="{E96E6073-CE05-4B05-90BC-B2B04FF6DFF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1A48FED-51FF-438E-B903-BE7B04E56C4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C7CD3E76-4442-43BB-92D4-525F774EBE3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7CF46052-4830-457A-B620-CB81F5DCCFA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表面が先に乾くと、内部より先に収縮しようとする</a:t>
            </a:r>
          </a:p>
        </p:txBody>
      </p:sp>
      <p:sp>
        <p:nvSpPr>
          <p:cNvPr id="6" name="">
            <a:extLst xmlns:a="http://schemas.openxmlformats.org/drawingml/2006/main">
              <a:ext uri="{FF2B5EF4-FFF2-40B4-BE49-F238E27FC236}">
                <a16:creationId xmlns:a16="http://schemas.microsoft.com/office/drawing/2014/main" id="{A86BAFFF-2EE9-4F43-AF76-4BD7635BF282}"/>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内部や接合部が収縮を拘束すると、木材の中に応力が生じる</a:t>
            </a:r>
          </a:p>
        </p:txBody>
      </p:sp>
      <p:sp>
        <p:nvSpPr>
          <p:cNvPr id="7" name="">
            <a:extLst xmlns:a="http://schemas.openxmlformats.org/drawingml/2006/main">
              <a:ext uri="{FF2B5EF4-FFF2-40B4-BE49-F238E27FC236}">
                <a16:creationId xmlns:a16="http://schemas.microsoft.com/office/drawing/2014/main" id="{1F3CE72F-41BE-4272-BAA4-97880E108B05}"/>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木取り、TとRの差、水分勾配、繊維の傾きが反りや割れに関わる</a:t>
            </a:r>
          </a:p>
        </p:txBody>
      </p:sp>
      <p:sp>
        <p:nvSpPr>
          <p:cNvPr id="8" name="">
            <a:extLst xmlns:a="http://schemas.openxmlformats.org/drawingml/2006/main">
              <a:ext uri="{FF2B5EF4-FFF2-40B4-BE49-F238E27FC236}">
                <a16:creationId xmlns:a16="http://schemas.microsoft.com/office/drawing/2014/main" id="{6E305F56-366E-4C53-9B28-1127A46B9E01}"/>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使用環境に近い状態へ調整し、桟積みなどで乾き方も管理する</a:t>
            </a:r>
          </a:p>
        </p:txBody>
      </p:sp>
      <p:sp>
        <p:nvSpPr>
          <p:cNvPr id="9" name="">
            <a:extLst xmlns:a="http://schemas.openxmlformats.org/drawingml/2006/main">
              <a:ext uri="{FF2B5EF4-FFF2-40B4-BE49-F238E27FC236}">
                <a16:creationId xmlns:a16="http://schemas.microsoft.com/office/drawing/2014/main" id="{B2C0F56A-35B6-449F-9AB8-C8FDA8057E8F}"/>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塗装は吸放湿の速度を抑えうるが、水分変化を完全には止めない</a:t>
            </a:r>
          </a:p>
        </p:txBody>
      </p:sp>
    </p:spTree>
    <p:extLst>
      <p:ext uri="{BB962C8B-B14F-4D97-AF65-F5344CB8AC3E}">
        <p14:creationId xmlns:p14="http://schemas.microsoft.com/office/powerpoint/2010/main" val="15935663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0F4A07-7741-41D1-B104-7FCFC085995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073F707C-ABC9-4A8E-87FE-96F658E71E2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05CD2A-2D9C-4DBE-AFED-5B62E396091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CAE6C38E-9DAF-484B-896A-DA5C9B6D7A0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04966006-B422-4607-80A3-9B23D980F7A6}"/>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7F3F9EE7-AE45-47EB-8453-B2FE49B1EF5F}"/>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FBA02228-1561-45F6-A5E5-9BA806714016}"/>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AA395695-3976-4BE9-AB13-C42DC6531451}"/>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縮もうとする動きと拘束へ進みます。</a:t>
            </a:r>
          </a:p>
        </p:txBody>
      </p:sp>
    </p:spTree>
    <p:extLst>
      <p:ext uri="{BB962C8B-B14F-4D97-AF65-F5344CB8AC3E}">
        <p14:creationId xmlns:p14="http://schemas.microsoft.com/office/powerpoint/2010/main" val="2859307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A9C971-8DC3-4751-9058-D15E8E38BEB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縮もうとする動きと拘束</a:t>
            </a:r>
          </a:p>
        </p:txBody>
      </p:sp>
      <p:sp>
        <p:nvSpPr>
          <p:cNvPr id="2" name="">
            <a:extLst xmlns:a="http://schemas.openxmlformats.org/drawingml/2006/main">
              <a:ext uri="{FF2B5EF4-FFF2-40B4-BE49-F238E27FC236}">
                <a16:creationId xmlns:a16="http://schemas.microsoft.com/office/drawing/2014/main" id="{03FE8124-19CE-4759-9F3A-77BA90FCBE6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F30AD1-9833-4758-8EB7-6F65A6F54EB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FC886C4A-882C-4B53-BEF8-2297C7D0C14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818DF393-8A6C-40E0-827D-D60955EDF87E}"/>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同じ板が幅方向に2 mm縮もうとする仮想例</a:t>
            </a:r>
          </a:p>
        </p:txBody>
      </p:sp>
      <p:sp>
        <p:nvSpPr>
          <p:cNvPr id="6" name="">
            <a:extLst xmlns:a="http://schemas.openxmlformats.org/drawingml/2006/main">
              <a:ext uri="{FF2B5EF4-FFF2-40B4-BE49-F238E27FC236}">
                <a16:creationId xmlns:a16="http://schemas.microsoft.com/office/drawing/2014/main" id="{0E6199BE-8090-4E42-99F9-F6DBB5EB757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A：動きを許す ／ B：両端を強く固定</a:t>
            </a:r>
          </a:p>
        </p:txBody>
      </p:sp>
      <p:sp>
        <p:nvSpPr>
          <p:cNvPr id="7" name="">
            <a:extLst xmlns:a="http://schemas.openxmlformats.org/drawingml/2006/main">
              <a:ext uri="{FF2B5EF4-FFF2-40B4-BE49-F238E27FC236}">
                <a16:creationId xmlns:a16="http://schemas.microsoft.com/office/drawing/2014/main" id="{B844A504-293E-4C7E-875D-F64CC6B8305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自由変形と、それを妨げる位置を図示する</a:t>
            </a:r>
          </a:p>
        </p:txBody>
      </p:sp>
      <p:sp>
        <p:nvSpPr>
          <p:cNvPr id="8" name="">
            <a:extLst xmlns:a="http://schemas.openxmlformats.org/drawingml/2006/main">
              <a:ext uri="{FF2B5EF4-FFF2-40B4-BE49-F238E27FC236}">
                <a16:creationId xmlns:a16="http://schemas.microsoft.com/office/drawing/2014/main" id="{10A30D08-0B1B-4DF0-B4D8-886F9938587B}"/>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表面と内部の水分差、応力計算に足りない情報を書く</a:t>
            </a:r>
          </a:p>
        </p:txBody>
      </p:sp>
    </p:spTree>
    <p:extLst>
      <p:ext uri="{BB962C8B-B14F-4D97-AF65-F5344CB8AC3E}">
        <p14:creationId xmlns:p14="http://schemas.microsoft.com/office/powerpoint/2010/main" val="9747718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FD0FAD-2E45-40D2-8052-B93ABFF345D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乾燥・保管・使用を、一続きで考える</a:t>
            </a:r>
          </a:p>
        </p:txBody>
      </p:sp>
      <p:sp>
        <p:nvSpPr>
          <p:cNvPr id="2" name="">
            <a:extLst xmlns:a="http://schemas.openxmlformats.org/drawingml/2006/main">
              <a:ext uri="{FF2B5EF4-FFF2-40B4-BE49-F238E27FC236}">
                <a16:creationId xmlns:a16="http://schemas.microsoft.com/office/drawing/2014/main" id="{64667FF5-F52F-4C1D-A768-4F775D033C7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7A980E-7B50-408C-928F-AE2BEC0F924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99166FFD-3420-4BA1-8C44-823FA43FA3A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C2E0CF34-BF38-4778-87D9-D0DE001D9FA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目標：使用環境に応じた水分状態と、材質の確保</a:t>
            </a:r>
          </a:p>
        </p:txBody>
      </p:sp>
      <p:sp>
        <p:nvSpPr>
          <p:cNvPr id="6" name="">
            <a:extLst xmlns:a="http://schemas.openxmlformats.org/drawingml/2006/main">
              <a:ext uri="{FF2B5EF4-FFF2-40B4-BE49-F238E27FC236}">
                <a16:creationId xmlns:a16="http://schemas.microsoft.com/office/drawing/2014/main" id="{E759D7E6-0D9F-455F-8EDC-CF8FA8D5E54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全乾は計算の基準。全製品の使用目標ではない</a:t>
            </a:r>
          </a:p>
        </p:txBody>
      </p:sp>
      <p:sp>
        <p:nvSpPr>
          <p:cNvPr id="7" name="">
            <a:extLst xmlns:a="http://schemas.openxmlformats.org/drawingml/2006/main">
              <a:ext uri="{FF2B5EF4-FFF2-40B4-BE49-F238E27FC236}">
                <a16:creationId xmlns:a16="http://schemas.microsoft.com/office/drawing/2014/main" id="{8FFC9B66-7B64-4975-954F-18F97C5AA5D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平均MCだけでなく、水分分布と乾き方も確認</a:t>
            </a:r>
          </a:p>
        </p:txBody>
      </p:sp>
      <p:sp>
        <p:nvSpPr>
          <p:cNvPr id="8" name="">
            <a:extLst xmlns:a="http://schemas.openxmlformats.org/drawingml/2006/main">
              <a:ext uri="{FF2B5EF4-FFF2-40B4-BE49-F238E27FC236}">
                <a16:creationId xmlns:a16="http://schemas.microsoft.com/office/drawing/2014/main" id="{4A4A4658-46DD-4D67-A743-6FEAC029BDE9}"/>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樹種・厚さ・初期状態・用途で乾燥条件は変わる</a:t>
            </a:r>
          </a:p>
        </p:txBody>
      </p:sp>
    </p:spTree>
    <p:extLst>
      <p:ext uri="{BB962C8B-B14F-4D97-AF65-F5344CB8AC3E}">
        <p14:creationId xmlns:p14="http://schemas.microsoft.com/office/powerpoint/2010/main" val="17982260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7259EEA-19FF-4981-8737-4982DC93B99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方向差と寸法変化</a:t>
            </a:r>
          </a:p>
        </p:txBody>
      </p:sp>
      <p:cxnSp>
        <p:nvCxnSpPr>
          <p:cNvPr id="2" name="">
            <a:extLst xmlns:a="http://schemas.openxmlformats.org/drawingml/2006/main">
              <a:ext uri="{FF2B5EF4-FFF2-40B4-BE49-F238E27FC236}">
                <a16:creationId xmlns:a16="http://schemas.microsoft.com/office/drawing/2014/main" id="{35F9663A-DB80-4FB4-AF5D-D2ADC0507CD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E227E01-8D34-42AC-905D-F6D1E3D1ACB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43963102-0996-40C1-AA47-2734DDCD9FC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9A7AAFC2-7576-4693-8451-D60F702A1CCB}"/>
              </a:ext>
            </a:extLst>
          </p:cNvPr>
          <p:cNvSpPr>
            <a:spLocks xmlns:a="http://schemas.openxmlformats.org/drawingml/2006/main" noGrp="1"/>
          </p:cNvSpPr>
          <p:nvPr/>
        </p:nvSpPr>
        <p:spPr>
          <a:xfrm xmlns:a="http://schemas.openxmlformats.org/drawingml/2006/main">
            <a:off x="904875" y="2143125"/>
            <a:ext cx="5381625" cy="76200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cxnSp>
        <p:nvCxnSpPr>
          <p:cNvPr id="6" name="">
            <a:extLst xmlns:a="http://schemas.openxmlformats.org/drawingml/2006/main">
              <a:ext uri="{FF2B5EF4-FFF2-40B4-BE49-F238E27FC236}">
                <a16:creationId xmlns:a16="http://schemas.microsoft.com/office/drawing/2014/main" id="{C6BCF34C-3032-4A67-A315-6363E0CCD73C}"/>
              </a:ext>
            </a:extLst>
          </p:cNvPr>
          <p:cNvCxnSpPr/>
          <p:nvPr/>
        </p:nvCxnSpPr>
        <p:spPr>
          <a:xfrm xmlns:a="http://schemas.openxmlformats.org/drawingml/2006/main" flipH="0" flipV="0">
            <a:off x="904875" y="4048125"/>
            <a:ext cx="1285875" cy="257175"/>
          </a:xfrm>
          <a:prstGeom xmlns:a="http://schemas.openxmlformats.org/drawingml/2006/main" prst="straightConnector1">
            <a:avLst/>
          </a:prstGeom>
          <a:ln xmlns:a="http://schemas.openxmlformats.org/drawingml/2006/main" w="47625">
            <a:solidFill>
              <a:srgbClr val="245C98"/>
            </a:solidFill>
          </a:ln>
        </p:spPr>
      </p:cxnSp>
      <p:cxnSp>
        <p:nvCxnSpPr>
          <p:cNvPr id="7" name="">
            <a:extLst xmlns:a="http://schemas.openxmlformats.org/drawingml/2006/main">
              <a:ext uri="{FF2B5EF4-FFF2-40B4-BE49-F238E27FC236}">
                <a16:creationId xmlns:a16="http://schemas.microsoft.com/office/drawing/2014/main" id="{4BDD031B-8612-484C-9C6B-0F6389082DBA}"/>
              </a:ext>
            </a:extLst>
          </p:cNvPr>
          <p:cNvCxnSpPr/>
          <p:nvPr/>
        </p:nvCxnSpPr>
        <p:spPr>
          <a:xfrm xmlns:a="http://schemas.openxmlformats.org/drawingml/2006/main" flipH="0" flipV="0">
            <a:off x="2190750" y="4305300"/>
            <a:ext cx="1428750" cy="123825"/>
          </a:xfrm>
          <a:prstGeom xmlns:a="http://schemas.openxmlformats.org/drawingml/2006/main" prst="straightConnector1">
            <a:avLst/>
          </a:prstGeom>
          <a:ln xmlns:a="http://schemas.openxmlformats.org/drawingml/2006/main" w="47625">
            <a:solidFill>
              <a:srgbClr val="245C98"/>
            </a:solidFill>
          </a:ln>
        </p:spPr>
      </p:cxnSp>
      <p:cxnSp>
        <p:nvCxnSpPr>
          <p:cNvPr id="8" name="">
            <a:extLst xmlns:a="http://schemas.openxmlformats.org/drawingml/2006/main">
              <a:ext uri="{FF2B5EF4-FFF2-40B4-BE49-F238E27FC236}">
                <a16:creationId xmlns:a16="http://schemas.microsoft.com/office/drawing/2014/main" id="{24EB3EA4-3AB2-4FDF-9828-632CA329D306}"/>
              </a:ext>
            </a:extLst>
          </p:cNvPr>
          <p:cNvCxnSpPr/>
          <p:nvPr/>
        </p:nvCxnSpPr>
        <p:spPr>
          <a:xfrm xmlns:a="http://schemas.openxmlformats.org/drawingml/2006/main" flipH="0" flipV="1">
            <a:off x="3619500" y="4305300"/>
            <a:ext cx="1381125" cy="123825"/>
          </a:xfrm>
          <a:prstGeom xmlns:a="http://schemas.openxmlformats.org/drawingml/2006/main" prst="straightConnector1">
            <a:avLst/>
          </a:prstGeom>
          <a:ln xmlns:a="http://schemas.openxmlformats.org/drawingml/2006/main" w="47625">
            <a:solidFill>
              <a:srgbClr val="245C98"/>
            </a:solidFill>
          </a:ln>
        </p:spPr>
      </p:cxnSp>
      <p:cxnSp>
        <p:nvCxnSpPr>
          <p:cNvPr id="9" name="">
            <a:extLst xmlns:a="http://schemas.openxmlformats.org/drawingml/2006/main">
              <a:ext uri="{FF2B5EF4-FFF2-40B4-BE49-F238E27FC236}">
                <a16:creationId xmlns:a16="http://schemas.microsoft.com/office/drawing/2014/main" id="{605151D2-FF9D-40E2-899C-4311CE704850}"/>
              </a:ext>
            </a:extLst>
          </p:cNvPr>
          <p:cNvCxnSpPr/>
          <p:nvPr/>
        </p:nvCxnSpPr>
        <p:spPr>
          <a:xfrm xmlns:a="http://schemas.openxmlformats.org/drawingml/2006/main" flipH="0" flipV="1">
            <a:off x="5000625" y="4048125"/>
            <a:ext cx="1285875" cy="257175"/>
          </a:xfrm>
          <a:prstGeom xmlns:a="http://schemas.openxmlformats.org/drawingml/2006/main" prst="straightConnector1">
            <a:avLst/>
          </a:prstGeom>
          <a:ln xmlns:a="http://schemas.openxmlformats.org/drawingml/2006/main" w="47625">
            <a:solidFill>
              <a:srgbClr val="245C98"/>
            </a:solidFill>
          </a:ln>
        </p:spPr>
      </p:cxnSp>
      <p:cxnSp>
        <p:nvCxnSpPr>
          <p:cNvPr id="10" name="">
            <a:extLst xmlns:a="http://schemas.openxmlformats.org/drawingml/2006/main">
              <a:ext uri="{FF2B5EF4-FFF2-40B4-BE49-F238E27FC236}">
                <a16:creationId xmlns:a16="http://schemas.microsoft.com/office/drawing/2014/main" id="{B4BC5B89-50EF-4C8B-A88C-2A435A9277F8}"/>
              </a:ext>
            </a:extLst>
          </p:cNvPr>
          <p:cNvCxnSpPr/>
          <p:nvPr/>
        </p:nvCxnSpPr>
        <p:spPr>
          <a:xfrm xmlns:a="http://schemas.openxmlformats.org/drawingml/2006/main" flipH="0" flipV="0">
            <a:off x="904875" y="4238625"/>
            <a:ext cx="1285875" cy="257175"/>
          </a:xfrm>
          <a:prstGeom xmlns:a="http://schemas.openxmlformats.org/drawingml/2006/main" prst="straightConnector1">
            <a:avLst/>
          </a:prstGeom>
          <a:ln xmlns:a="http://schemas.openxmlformats.org/drawingml/2006/main" w="28575">
            <a:solidFill>
              <a:srgbClr val="245C98"/>
            </a:solidFill>
          </a:ln>
        </p:spPr>
      </p:cxnSp>
      <p:cxnSp>
        <p:nvCxnSpPr>
          <p:cNvPr id="11" name="">
            <a:extLst xmlns:a="http://schemas.openxmlformats.org/drawingml/2006/main">
              <a:ext uri="{FF2B5EF4-FFF2-40B4-BE49-F238E27FC236}">
                <a16:creationId xmlns:a16="http://schemas.microsoft.com/office/drawing/2014/main" id="{0DC90F5D-B586-464F-96E3-C12457115FF3}"/>
              </a:ext>
            </a:extLst>
          </p:cNvPr>
          <p:cNvCxnSpPr/>
          <p:nvPr/>
        </p:nvCxnSpPr>
        <p:spPr>
          <a:xfrm xmlns:a="http://schemas.openxmlformats.org/drawingml/2006/main" flipH="0" flipV="0">
            <a:off x="2190750" y="4495800"/>
            <a:ext cx="1428750" cy="123825"/>
          </a:xfrm>
          <a:prstGeom xmlns:a="http://schemas.openxmlformats.org/drawingml/2006/main" prst="straightConnector1">
            <a:avLst/>
          </a:prstGeom>
          <a:ln xmlns:a="http://schemas.openxmlformats.org/drawingml/2006/main" w="28575">
            <a:solidFill>
              <a:srgbClr val="245C98"/>
            </a:solidFill>
          </a:ln>
        </p:spPr>
      </p:cxnSp>
      <p:cxnSp>
        <p:nvCxnSpPr>
          <p:cNvPr id="12" name="">
            <a:extLst xmlns:a="http://schemas.openxmlformats.org/drawingml/2006/main">
              <a:ext uri="{FF2B5EF4-FFF2-40B4-BE49-F238E27FC236}">
                <a16:creationId xmlns:a16="http://schemas.microsoft.com/office/drawing/2014/main" id="{65C18793-AE77-4A58-9D39-BF1D17039034}"/>
              </a:ext>
            </a:extLst>
          </p:cNvPr>
          <p:cNvCxnSpPr/>
          <p:nvPr/>
        </p:nvCxnSpPr>
        <p:spPr>
          <a:xfrm xmlns:a="http://schemas.openxmlformats.org/drawingml/2006/main" flipH="0" flipV="1">
            <a:off x="3619500" y="4495800"/>
            <a:ext cx="1381125" cy="123825"/>
          </a:xfrm>
          <a:prstGeom xmlns:a="http://schemas.openxmlformats.org/drawingml/2006/main" prst="straightConnector1">
            <a:avLst/>
          </a:prstGeom>
          <a:ln xmlns:a="http://schemas.openxmlformats.org/drawingml/2006/main" w="28575">
            <a:solidFill>
              <a:srgbClr val="245C98"/>
            </a:solidFill>
          </a:ln>
        </p:spPr>
      </p:cxnSp>
      <p:cxnSp>
        <p:nvCxnSpPr>
          <p:cNvPr id="13" name="">
            <a:extLst xmlns:a="http://schemas.openxmlformats.org/drawingml/2006/main">
              <a:ext uri="{FF2B5EF4-FFF2-40B4-BE49-F238E27FC236}">
                <a16:creationId xmlns:a16="http://schemas.microsoft.com/office/drawing/2014/main" id="{3301BD26-6F72-449D-BE20-B8C43C25211F}"/>
              </a:ext>
            </a:extLst>
          </p:cNvPr>
          <p:cNvCxnSpPr/>
          <p:nvPr/>
        </p:nvCxnSpPr>
        <p:spPr>
          <a:xfrm xmlns:a="http://schemas.openxmlformats.org/drawingml/2006/main" flipH="0" flipV="1">
            <a:off x="5000625" y="4238625"/>
            <a:ext cx="1285875" cy="257175"/>
          </a:xfrm>
          <a:prstGeom xmlns:a="http://schemas.openxmlformats.org/drawingml/2006/main" prst="straightConnector1">
            <a:avLst/>
          </a:prstGeom>
          <a:ln xmlns:a="http://schemas.openxmlformats.org/drawingml/2006/main" w="28575">
            <a:solidFill>
              <a:srgbClr val="245C98"/>
            </a:solidFill>
          </a:ln>
        </p:spPr>
      </p:cxnSp>
      <p:sp>
        <p:nvSpPr>
          <p:cNvPr id="14" name="">
            <a:extLst xmlns:a="http://schemas.openxmlformats.org/drawingml/2006/main">
              <a:ext uri="{FF2B5EF4-FFF2-40B4-BE49-F238E27FC236}">
                <a16:creationId xmlns:a16="http://schemas.microsoft.com/office/drawing/2014/main" id="{18E0868D-50B0-4AD7-A635-E3BCB490F219}"/>
              </a:ext>
            </a:extLst>
          </p:cNvPr>
          <p:cNvSpPr>
            <a:spLocks xmlns:a="http://schemas.openxmlformats.org/drawingml/2006/main" noGrp="1"/>
          </p:cNvSpPr>
          <p:nvPr/>
        </p:nvSpPr>
        <p:spPr>
          <a:xfrm xmlns:a="http://schemas.openxmlformats.org/drawingml/2006/main">
            <a:off x="904875" y="16668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B55D09"/>
                </a:solidFill>
                <a:latin typeface="Yu Gothic"/>
                <a:ea typeface="Yu Gothic"/>
                <a:cs typeface="Yu Gothic"/>
              </a:defRPr>
            </a:defPPr>
            <a:lvl1pPr algn="l">
              <a:buNone/>
              <a:defRPr sz="2250" b="1">
                <a:solidFill>
                  <a:srgbClr val="B55D09"/>
                </a:solidFill>
                <a:latin typeface="Yu Gothic"/>
                <a:ea typeface="Yu Gothic"/>
                <a:cs typeface="Yu Gothic"/>
              </a:defRPr>
            </a:lvl1pPr>
            <a:lvl2pPr algn="l">
              <a:buNone/>
              <a:defRPr sz="2250" b="1">
                <a:solidFill>
                  <a:srgbClr val="B55D09"/>
                </a:solidFill>
                <a:latin typeface="Yu Gothic"/>
                <a:ea typeface="Yu Gothic"/>
                <a:cs typeface="Yu Gothic"/>
              </a:defRPr>
            </a:lvl2pPr>
            <a:lvl3pPr algn="l">
              <a:buNone/>
              <a:defRPr sz="2250" b="1">
                <a:solidFill>
                  <a:srgbClr val="B55D09"/>
                </a:solidFill>
                <a:latin typeface="Yu Gothic"/>
                <a:ea typeface="Yu Gothic"/>
                <a:cs typeface="Yu Gothic"/>
              </a:defRPr>
            </a:lvl3pPr>
            <a:lvl4pPr algn="l">
              <a:buNone/>
              <a:defRPr sz="2250" b="1">
                <a:solidFill>
                  <a:srgbClr val="B55D09"/>
                </a:solidFill>
                <a:latin typeface="Yu Gothic"/>
                <a:ea typeface="Yu Gothic"/>
                <a:cs typeface="Yu Gothic"/>
              </a:defRPr>
            </a:lvl4pPr>
            <a:lvl5pPr algn="l">
              <a:buNone/>
              <a:defRPr sz="2250" b="1">
                <a:solidFill>
                  <a:srgbClr val="B55D09"/>
                </a:solidFill>
                <a:latin typeface="Yu Gothic"/>
                <a:ea typeface="Yu Gothic"/>
                <a:cs typeface="Yu Gothic"/>
              </a:defRPr>
            </a:lvl5pPr>
            <a:lvl6pPr algn="l">
              <a:buNone/>
              <a:defRPr sz="2250" b="1">
                <a:solidFill>
                  <a:srgbClr val="B55D09"/>
                </a:solidFill>
                <a:latin typeface="Yu Gothic"/>
                <a:ea typeface="Yu Gothic"/>
                <a:cs typeface="Yu Gothic"/>
              </a:defRPr>
            </a:lvl6pPr>
            <a:lvl7pPr algn="l">
              <a:buNone/>
              <a:defRPr sz="2250" b="1">
                <a:solidFill>
                  <a:srgbClr val="B55D09"/>
                </a:solidFill>
                <a:latin typeface="Yu Gothic"/>
                <a:ea typeface="Yu Gothic"/>
                <a:cs typeface="Yu Gothic"/>
              </a:defRPr>
            </a:lvl7pPr>
            <a:lvl8pPr algn="l">
              <a:buNone/>
              <a:defRPr sz="2250" b="1">
                <a:solidFill>
                  <a:srgbClr val="B55D09"/>
                </a:solidFill>
                <a:latin typeface="Yu Gothic"/>
                <a:ea typeface="Yu Gothic"/>
                <a:cs typeface="Yu Gothic"/>
              </a:defRPr>
            </a:lvl8pPr>
            <a:lvl9pPr algn="l">
              <a:buNone/>
              <a:defRPr sz="2250" b="1">
                <a:solidFill>
                  <a:srgbClr val="B55D09"/>
                </a:solidFill>
                <a:latin typeface="Yu Gothic"/>
                <a:ea typeface="Yu Gothic"/>
                <a:cs typeface="Yu Gothic"/>
              </a:defRPr>
            </a:lvl9pPr>
          </a:lstStyle>
          <a:p xmlns:a="http://schemas.openxmlformats.org/drawingml/2006/main">
            <a:pPr algn="l">
              <a:buNone/>
              <a:defRPr sz="2250" b="1">
                <a:solidFill>
                  <a:srgbClr val="B55D09"/>
                </a:solidFill>
                <a:latin typeface="Yu Gothic"/>
                <a:ea typeface="Yu Gothic"/>
                <a:cs typeface="Yu Gothic"/>
              </a:defRPr>
            </a:pPr>
            <a:r>
              <a:rPr sz="2250" b="1">
                <a:solidFill>
                  <a:srgbClr val="B55D09"/>
                </a:solidFill>
                <a:latin typeface="Yu Gothic"/>
                <a:ea typeface="Yu Gothic"/>
                <a:cs typeface="Yu Gothic"/>
              </a:rPr>
              <a:t>乾燥前の例</a:t>
            </a:r>
          </a:p>
        </p:txBody>
      </p:sp>
      <p:sp>
        <p:nvSpPr>
          <p:cNvPr id="15" name="">
            <a:extLst xmlns:a="http://schemas.openxmlformats.org/drawingml/2006/main">
              <a:ext uri="{FF2B5EF4-FFF2-40B4-BE49-F238E27FC236}">
                <a16:creationId xmlns:a16="http://schemas.microsoft.com/office/drawing/2014/main" id="{D01E54C4-AD46-4D62-9DB2-FCB69A77C3C1}"/>
              </a:ext>
            </a:extLst>
          </p:cNvPr>
          <p:cNvSpPr>
            <a:spLocks xmlns:a="http://schemas.openxmlformats.org/drawingml/2006/main" noGrp="1"/>
          </p:cNvSpPr>
          <p:nvPr/>
        </p:nvSpPr>
        <p:spPr>
          <a:xfrm xmlns:a="http://schemas.openxmlformats.org/drawingml/2006/main">
            <a:off x="904875" y="50673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245C98"/>
                </a:solidFill>
                <a:latin typeface="Yu Gothic"/>
                <a:ea typeface="Yu Gothic"/>
                <a:cs typeface="Yu Gothic"/>
              </a:defRPr>
            </a:defPPr>
            <a:lvl1pPr algn="l">
              <a:buNone/>
              <a:defRPr sz="2250" b="1">
                <a:solidFill>
                  <a:srgbClr val="245C98"/>
                </a:solidFill>
                <a:latin typeface="Yu Gothic"/>
                <a:ea typeface="Yu Gothic"/>
                <a:cs typeface="Yu Gothic"/>
              </a:defRPr>
            </a:lvl1pPr>
            <a:lvl2pPr algn="l">
              <a:buNone/>
              <a:defRPr sz="2250" b="1">
                <a:solidFill>
                  <a:srgbClr val="245C98"/>
                </a:solidFill>
                <a:latin typeface="Yu Gothic"/>
                <a:ea typeface="Yu Gothic"/>
                <a:cs typeface="Yu Gothic"/>
              </a:defRPr>
            </a:lvl2pPr>
            <a:lvl3pPr algn="l">
              <a:buNone/>
              <a:defRPr sz="2250" b="1">
                <a:solidFill>
                  <a:srgbClr val="245C98"/>
                </a:solidFill>
                <a:latin typeface="Yu Gothic"/>
                <a:ea typeface="Yu Gothic"/>
                <a:cs typeface="Yu Gothic"/>
              </a:defRPr>
            </a:lvl3pPr>
            <a:lvl4pPr algn="l">
              <a:buNone/>
              <a:defRPr sz="2250" b="1">
                <a:solidFill>
                  <a:srgbClr val="245C98"/>
                </a:solidFill>
                <a:latin typeface="Yu Gothic"/>
                <a:ea typeface="Yu Gothic"/>
                <a:cs typeface="Yu Gothic"/>
              </a:defRPr>
            </a:lvl4pPr>
            <a:lvl5pPr algn="l">
              <a:buNone/>
              <a:defRPr sz="2250" b="1">
                <a:solidFill>
                  <a:srgbClr val="245C98"/>
                </a:solidFill>
                <a:latin typeface="Yu Gothic"/>
                <a:ea typeface="Yu Gothic"/>
                <a:cs typeface="Yu Gothic"/>
              </a:defRPr>
            </a:lvl5pPr>
            <a:lvl6pPr algn="l">
              <a:buNone/>
              <a:defRPr sz="2250" b="1">
                <a:solidFill>
                  <a:srgbClr val="245C98"/>
                </a:solidFill>
                <a:latin typeface="Yu Gothic"/>
                <a:ea typeface="Yu Gothic"/>
                <a:cs typeface="Yu Gothic"/>
              </a:defRPr>
            </a:lvl6pPr>
            <a:lvl7pPr algn="l">
              <a:buNone/>
              <a:defRPr sz="2250" b="1">
                <a:solidFill>
                  <a:srgbClr val="245C98"/>
                </a:solidFill>
                <a:latin typeface="Yu Gothic"/>
                <a:ea typeface="Yu Gothic"/>
                <a:cs typeface="Yu Gothic"/>
              </a:defRPr>
            </a:lvl7pPr>
            <a:lvl8pPr algn="l">
              <a:buNone/>
              <a:defRPr sz="2250" b="1">
                <a:solidFill>
                  <a:srgbClr val="245C98"/>
                </a:solidFill>
                <a:latin typeface="Yu Gothic"/>
                <a:ea typeface="Yu Gothic"/>
                <a:cs typeface="Yu Gothic"/>
              </a:defRPr>
            </a:lvl8pPr>
            <a:lvl9pPr algn="l">
              <a:buNone/>
              <a:defRPr sz="2250" b="1">
                <a:solidFill>
                  <a:srgbClr val="245C98"/>
                </a:solidFill>
                <a:latin typeface="Yu Gothic"/>
                <a:ea typeface="Yu Gothic"/>
                <a:cs typeface="Yu Gothic"/>
              </a:defRPr>
            </a:lvl9pPr>
          </a:lstStyle>
          <a:p xmlns:a="http://schemas.openxmlformats.org/drawingml/2006/main">
            <a:pPr algn="l">
              <a:buNone/>
              <a:defRPr sz="2250" b="1">
                <a:solidFill>
                  <a:srgbClr val="245C98"/>
                </a:solidFill>
                <a:latin typeface="Yu Gothic"/>
                <a:ea typeface="Yu Gothic"/>
                <a:cs typeface="Yu Gothic"/>
              </a:defRPr>
            </a:pPr>
            <a:r>
              <a:rPr sz="2250" b="1">
                <a:solidFill>
                  <a:srgbClr val="245C98"/>
                </a:solidFill>
                <a:latin typeface="Yu Gothic"/>
                <a:ea typeface="Yu Gothic"/>
                <a:cs typeface="Yu Gothic"/>
              </a:rPr>
              <a:t>変形の概念図</a:t>
            </a:r>
          </a:p>
        </p:txBody>
      </p:sp>
      <p:sp>
        <p:nvSpPr>
          <p:cNvPr id="16" name="">
            <a:extLst xmlns:a="http://schemas.openxmlformats.org/drawingml/2006/main">
              <a:ext uri="{FF2B5EF4-FFF2-40B4-BE49-F238E27FC236}">
                <a16:creationId xmlns:a16="http://schemas.microsoft.com/office/drawing/2014/main" id="{8A194B5F-AE10-4C1A-8779-98F822B99C9E}"/>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方向別の収縮</a:t>
            </a:r>
          </a:p>
        </p:txBody>
      </p:sp>
      <p:sp>
        <p:nvSpPr>
          <p:cNvPr id="17" name="">
            <a:extLst xmlns:a="http://schemas.openxmlformats.org/drawingml/2006/main">
              <a:ext uri="{FF2B5EF4-FFF2-40B4-BE49-F238E27FC236}">
                <a16:creationId xmlns:a16="http://schemas.microsoft.com/office/drawing/2014/main" id="{3D7B09F1-3447-4F3F-B0F0-2C5CAFC9898F}"/>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木取りと年輪の位置</a:t>
            </a:r>
          </a:p>
        </p:txBody>
      </p:sp>
      <p:sp>
        <p:nvSpPr>
          <p:cNvPr id="18" name="">
            <a:extLst xmlns:a="http://schemas.openxmlformats.org/drawingml/2006/main">
              <a:ext uri="{FF2B5EF4-FFF2-40B4-BE49-F238E27FC236}">
                <a16:creationId xmlns:a16="http://schemas.microsoft.com/office/drawing/2014/main" id="{C20A971F-E039-4BF2-9C3F-DB106F827315}"/>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水分分布と拘束</a:t>
            </a:r>
          </a:p>
        </p:txBody>
      </p:sp>
      <p:sp>
        <p:nvSpPr>
          <p:cNvPr id="19" name="">
            <a:extLst xmlns:a="http://schemas.openxmlformats.org/drawingml/2006/main">
              <a:ext uri="{FF2B5EF4-FFF2-40B4-BE49-F238E27FC236}">
                <a16:creationId xmlns:a16="http://schemas.microsoft.com/office/drawing/2014/main" id="{B47DD601-F191-4F68-BBE0-7C1D3B093D0B}"/>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反りの量・向きは条件による</a:t>
            </a:r>
          </a:p>
        </p:txBody>
      </p:sp>
    </p:spTree>
    <p:extLst>
      <p:ext uri="{BB962C8B-B14F-4D97-AF65-F5344CB8AC3E}">
        <p14:creationId xmlns:p14="http://schemas.microsoft.com/office/powerpoint/2010/main" val="9737308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5469B7-E02F-4417-9C12-6CD1D680B5A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収縮率と膨潤率の基準</a:t>
            </a:r>
          </a:p>
        </p:txBody>
      </p:sp>
      <p:cxnSp>
        <p:nvCxnSpPr>
          <p:cNvPr id="2" name="">
            <a:extLst xmlns:a="http://schemas.openxmlformats.org/drawingml/2006/main">
              <a:ext uri="{FF2B5EF4-FFF2-40B4-BE49-F238E27FC236}">
                <a16:creationId xmlns:a16="http://schemas.microsoft.com/office/drawing/2014/main" id="{EC4B925F-A3B9-44D6-A813-D40F6A7172A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29036C0-7F47-4043-B29E-03C608AC35C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2DF66B13-554D-466B-A3C6-AAC5EE2E4EC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30EC6DF5-92C3-4AD3-A610-3920A36AAEC0}"/>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収縮率＝100×(乾燥前寸法−乾燥後寸法)/乾燥前寸法</a:t>
            </a:r>
          </a:p>
        </p:txBody>
      </p:sp>
      <p:sp>
        <p:nvSpPr>
          <p:cNvPr id="6" name="">
            <a:extLst xmlns:a="http://schemas.openxmlformats.org/drawingml/2006/main">
              <a:ext uri="{FF2B5EF4-FFF2-40B4-BE49-F238E27FC236}">
                <a16:creationId xmlns:a16="http://schemas.microsoft.com/office/drawing/2014/main" id="{EE9C4391-DCE3-4843-A3E2-AEE6CA21B492}"/>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100 mmから94 mmなら、収縮率は6.00％</a:t>
            </a:r>
          </a:p>
        </p:txBody>
      </p:sp>
      <p:sp>
        <p:nvSpPr>
          <p:cNvPr id="7" name="">
            <a:extLst xmlns:a="http://schemas.openxmlformats.org/drawingml/2006/main">
              <a:ext uri="{FF2B5EF4-FFF2-40B4-BE49-F238E27FC236}">
                <a16:creationId xmlns:a16="http://schemas.microsoft.com/office/drawing/2014/main" id="{9BD0AA2A-1B0D-40D2-A9C3-A9E52B12A164}"/>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94 mmから100 mmへ戻る膨潤率は100×6/94＝約6.38％</a:t>
            </a:r>
          </a:p>
        </p:txBody>
      </p:sp>
      <p:sp>
        <p:nvSpPr>
          <p:cNvPr id="8" name="">
            <a:extLst xmlns:a="http://schemas.openxmlformats.org/drawingml/2006/main">
              <a:ext uri="{FF2B5EF4-FFF2-40B4-BE49-F238E27FC236}">
                <a16:creationId xmlns:a16="http://schemas.microsoft.com/office/drawing/2014/main" id="{A38E9DF8-633E-45AE-9D48-1683674894D9}"/>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同じ6 mmの変化でも、分母の基準寸法が違う</a:t>
            </a:r>
          </a:p>
        </p:txBody>
      </p:sp>
      <p:sp>
        <p:nvSpPr>
          <p:cNvPr id="9" name="">
            <a:extLst xmlns:a="http://schemas.openxmlformats.org/drawingml/2006/main">
              <a:ext uri="{FF2B5EF4-FFF2-40B4-BE49-F238E27FC236}">
                <a16:creationId xmlns:a16="http://schemas.microsoft.com/office/drawing/2014/main" id="{5DCC484C-8BBB-4AC6-B4B9-EFDEB6ADCFC0}"/>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全乾までの値と、教室の日々の温湿度変化の値を分けて扱う</a:t>
            </a:r>
          </a:p>
        </p:txBody>
      </p:sp>
    </p:spTree>
    <p:extLst>
      <p:ext uri="{BB962C8B-B14F-4D97-AF65-F5344CB8AC3E}">
        <p14:creationId xmlns:p14="http://schemas.microsoft.com/office/powerpoint/2010/main" val="15513242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75178C-3A87-4B9E-850A-131ADD57704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収縮率から膨潤率の式を導く</a:t>
            </a:r>
          </a:p>
        </p:txBody>
      </p:sp>
      <p:sp>
        <p:nvSpPr>
          <p:cNvPr id="2" name="">
            <a:extLst xmlns:a="http://schemas.openxmlformats.org/drawingml/2006/main">
              <a:ext uri="{FF2B5EF4-FFF2-40B4-BE49-F238E27FC236}">
                <a16:creationId xmlns:a16="http://schemas.microsoft.com/office/drawing/2014/main" id="{30EE55A5-A31A-4459-807F-C87EDA4B2B2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A1040B-795A-4CA6-9091-34EBE48164A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3E5D2A43-3225-48E5-8D14-B71DFB46DBB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3333BE0E-0AFF-4CA1-A943-A727277B869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初めの長さL、収縮率a% → 乾燥後は？</a:t>
            </a:r>
          </a:p>
        </p:txBody>
      </p:sp>
      <p:sp>
        <p:nvSpPr>
          <p:cNvPr id="6" name="">
            <a:extLst xmlns:a="http://schemas.openxmlformats.org/drawingml/2006/main">
              <a:ext uri="{FF2B5EF4-FFF2-40B4-BE49-F238E27FC236}">
                <a16:creationId xmlns:a16="http://schemas.microsoft.com/office/drawing/2014/main" id="{AA7FFCBB-1261-46B3-834A-5D8CCDC1CC2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逆に元へ戻す膨潤率をaだけで表す</a:t>
            </a:r>
          </a:p>
        </p:txBody>
      </p:sp>
      <p:sp>
        <p:nvSpPr>
          <p:cNvPr id="7" name="">
            <a:extLst xmlns:a="http://schemas.openxmlformats.org/drawingml/2006/main">
              <a:ext uri="{FF2B5EF4-FFF2-40B4-BE49-F238E27FC236}">
                <a16:creationId xmlns:a16="http://schemas.microsoft.com/office/drawing/2014/main" id="{336C1A3C-67A1-4348-9DCC-6CFDB621459E}"/>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例：200 → 190 mm → 200 mm</a:t>
            </a:r>
          </a:p>
        </p:txBody>
      </p:sp>
      <p:sp>
        <p:nvSpPr>
          <p:cNvPr id="8" name="">
            <a:extLst xmlns:a="http://schemas.openxmlformats.org/drawingml/2006/main">
              <a:ext uri="{FF2B5EF4-FFF2-40B4-BE49-F238E27FC236}">
                <a16:creationId xmlns:a16="http://schemas.microsoft.com/office/drawing/2014/main" id="{82914047-96A9-4E16-BD50-D496DC8C75D0}"/>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同じ変化量と、異なる分母を示す</a:t>
            </a:r>
          </a:p>
        </p:txBody>
      </p:sp>
    </p:spTree>
    <p:extLst>
      <p:ext uri="{BB962C8B-B14F-4D97-AF65-F5344CB8AC3E}">
        <p14:creationId xmlns:p14="http://schemas.microsoft.com/office/powerpoint/2010/main" val="103004079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ABA730-D31C-426C-985F-62E907A29DD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　扉の反りと接合の改善</a:t>
            </a:r>
          </a:p>
        </p:txBody>
      </p:sp>
      <p:cxnSp>
        <p:nvCxnSpPr>
          <p:cNvPr id="2" name="">
            <a:extLst xmlns:a="http://schemas.openxmlformats.org/drawingml/2006/main">
              <a:ext uri="{FF2B5EF4-FFF2-40B4-BE49-F238E27FC236}">
                <a16:creationId xmlns:a16="http://schemas.microsoft.com/office/drawing/2014/main" id="{15F8E59F-D64B-42F1-97F3-5C62BCCB4A1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62D38D6-B70A-49E2-AA48-83A839F8DE6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9C45F8C8-F451-4AF1-9595-4B3640A4646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35F90175-4112-47E4-9C93-2C99C4E99FBE}"/>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板目・柾目の木取りを図で比べる</a:t>
            </a:r>
          </a:p>
        </p:txBody>
      </p:sp>
      <p:sp>
        <p:nvSpPr>
          <p:cNvPr id="6" name="">
            <a:extLst xmlns:a="http://schemas.openxmlformats.org/drawingml/2006/main">
              <a:ext uri="{FF2B5EF4-FFF2-40B4-BE49-F238E27FC236}">
                <a16:creationId xmlns:a16="http://schemas.microsoft.com/office/drawing/2014/main" id="{90EA510A-8BD9-43A3-8501-E5CB8DB9F7A7}"/>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部材を幅方向へ自由に動かせるか検討する</a:t>
            </a:r>
          </a:p>
        </p:txBody>
      </p:sp>
      <p:sp>
        <p:nvSpPr>
          <p:cNvPr id="7" name="">
            <a:extLst xmlns:a="http://schemas.openxmlformats.org/drawingml/2006/main">
              <a:ext uri="{FF2B5EF4-FFF2-40B4-BE49-F238E27FC236}">
                <a16:creationId xmlns:a16="http://schemas.microsoft.com/office/drawing/2014/main" id="{11235E12-2714-4DCC-9DEA-1FC404657BDF}"/>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濡れる側が片側だけの板も考える</a:t>
            </a:r>
          </a:p>
        </p:txBody>
      </p:sp>
      <p:sp>
        <p:nvSpPr>
          <p:cNvPr id="8" name="">
            <a:extLst xmlns:a="http://schemas.openxmlformats.org/drawingml/2006/main">
              <a:ext uri="{FF2B5EF4-FFF2-40B4-BE49-F238E27FC236}">
                <a16:creationId xmlns:a16="http://schemas.microsoft.com/office/drawing/2014/main" id="{9170B9E9-4EE7-4045-9780-7E63F6CBBBDA}"/>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反り・割れ対策を、構造と水分から説明</a:t>
            </a:r>
          </a:p>
        </p:txBody>
      </p:sp>
    </p:spTree>
    <p:extLst>
      <p:ext uri="{BB962C8B-B14F-4D97-AF65-F5344CB8AC3E}">
        <p14:creationId xmlns:p14="http://schemas.microsoft.com/office/powerpoint/2010/main" val="142085975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EBC8E2-B7BF-485F-97E3-77A280BC572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　扉の反りと接合</a:t>
            </a:r>
          </a:p>
        </p:txBody>
      </p:sp>
      <p:cxnSp>
        <p:nvCxnSpPr>
          <p:cNvPr id="2" name="">
            <a:extLst xmlns:a="http://schemas.openxmlformats.org/drawingml/2006/main">
              <a:ext uri="{FF2B5EF4-FFF2-40B4-BE49-F238E27FC236}">
                <a16:creationId xmlns:a16="http://schemas.microsoft.com/office/drawing/2014/main" id="{2649CABF-5B27-400D-9FCA-7449F7A926C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DC9CC06-9A79-4DD6-8712-1923FA77BFB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97C52531-BB25-4B5E-A809-AA1556BD6AE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B16BCD69-4562-41ED-A2EE-458C2C360AB5}"/>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木取り：幅が主にR方向になる柾目板は、板目板より幅の動きを抑えやすい</a:t>
            </a:r>
          </a:p>
        </p:txBody>
      </p:sp>
      <p:sp>
        <p:nvSpPr>
          <p:cNvPr id="6" name="">
            <a:extLst xmlns:a="http://schemas.openxmlformats.org/drawingml/2006/main">
              <a:ext uri="{FF2B5EF4-FFF2-40B4-BE49-F238E27FC236}">
                <a16:creationId xmlns:a16="http://schemas.microsoft.com/office/drawing/2014/main" id="{F5261019-C9B7-41AB-8D3C-7CD796DF347B}"/>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調湿：使用場所の温湿度に近付けてから製作・設置する</a:t>
            </a:r>
          </a:p>
        </p:txBody>
      </p:sp>
      <p:sp>
        <p:nvSpPr>
          <p:cNvPr id="7" name="">
            <a:extLst xmlns:a="http://schemas.openxmlformats.org/drawingml/2006/main">
              <a:ext uri="{FF2B5EF4-FFF2-40B4-BE49-F238E27FC236}">
                <a16:creationId xmlns:a16="http://schemas.microsoft.com/office/drawing/2014/main" id="{977B64DC-5F7D-4D42-80A0-0CA0AB04D7D7}"/>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接合：鏡板を溝で受けるなど、幅の動きを許す余地をつくる</a:t>
            </a:r>
          </a:p>
        </p:txBody>
      </p:sp>
      <p:sp>
        <p:nvSpPr>
          <p:cNvPr id="8" name="">
            <a:extLst xmlns:a="http://schemas.openxmlformats.org/drawingml/2006/main">
              <a:ext uri="{FF2B5EF4-FFF2-40B4-BE49-F238E27FC236}">
                <a16:creationId xmlns:a16="http://schemas.microsoft.com/office/drawing/2014/main" id="{9DD99349-CD9C-4AFB-A80C-4AC655832189}"/>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片面だけ濡れると水分むらが生じる。両面の使用環境や仕上げも検討する</a:t>
            </a:r>
          </a:p>
        </p:txBody>
      </p:sp>
      <p:sp>
        <p:nvSpPr>
          <p:cNvPr id="9" name="">
            <a:extLst xmlns:a="http://schemas.openxmlformats.org/drawingml/2006/main">
              <a:ext uri="{FF2B5EF4-FFF2-40B4-BE49-F238E27FC236}">
                <a16:creationId xmlns:a16="http://schemas.microsoft.com/office/drawing/2014/main" id="{B9D448DA-73A6-44E6-9DC4-B84D464F209B}"/>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塗装は吸放湿の速度を抑えうるが、長期の水分変化を完全には止めない</a:t>
            </a:r>
          </a:p>
        </p:txBody>
      </p:sp>
    </p:spTree>
    <p:extLst>
      <p:ext uri="{BB962C8B-B14F-4D97-AF65-F5344CB8AC3E}">
        <p14:creationId xmlns:p14="http://schemas.microsoft.com/office/powerpoint/2010/main" val="12908745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021BB6-6A2E-4128-BFF7-ADD20D20F42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幅の変化と、板の分割</a:t>
            </a:r>
          </a:p>
        </p:txBody>
      </p:sp>
      <p:sp>
        <p:nvSpPr>
          <p:cNvPr id="2" name="">
            <a:extLst xmlns:a="http://schemas.openxmlformats.org/drawingml/2006/main">
              <a:ext uri="{FF2B5EF4-FFF2-40B4-BE49-F238E27FC236}">
                <a16:creationId xmlns:a16="http://schemas.microsoft.com/office/drawing/2014/main" id="{12F90D9B-AE7A-4B42-B3AA-DAE572A124D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C436CA-BE3A-4751-8A30-ACAD56B91AF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F26BA8D6-642F-4953-A1DE-B222224277B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B440B001-A273-478B-A3C6-7B7FF58C0368}"/>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同じ使用域の仮想値：幅250 mm、Aは2%、Bは1%収縮</a:t>
            </a:r>
          </a:p>
        </p:txBody>
      </p:sp>
      <p:sp>
        <p:nvSpPr>
          <p:cNvPr id="6" name="">
            <a:extLst xmlns:a="http://schemas.openxmlformats.org/drawingml/2006/main">
              <a:ext uri="{FF2B5EF4-FFF2-40B4-BE49-F238E27FC236}">
                <a16:creationId xmlns:a16="http://schemas.microsoft.com/office/drawing/2014/main" id="{F4ED67CD-3C85-4D71-8CFE-0E677227869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各板の幅の変化を求める</a:t>
            </a:r>
          </a:p>
        </p:txBody>
      </p:sp>
      <p:sp>
        <p:nvSpPr>
          <p:cNvPr id="7" name="">
            <a:extLst xmlns:a="http://schemas.openxmlformats.org/drawingml/2006/main">
              <a:ext uri="{FF2B5EF4-FFF2-40B4-BE49-F238E27FC236}">
                <a16:creationId xmlns:a16="http://schemas.microsoft.com/office/drawing/2014/main" id="{83AA4323-6E65-4F57-AAFC-01197368B73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Aを同じ方向の125 mm幅×2枚に分けると？</a:t>
            </a:r>
          </a:p>
        </p:txBody>
      </p:sp>
      <p:sp>
        <p:nvSpPr>
          <p:cNvPr id="8" name="">
            <a:extLst xmlns:a="http://schemas.openxmlformats.org/drawingml/2006/main">
              <a:ext uri="{FF2B5EF4-FFF2-40B4-BE49-F238E27FC236}">
                <a16:creationId xmlns:a16="http://schemas.microsoft.com/office/drawing/2014/main" id="{B5A6E3BE-A464-419B-ACCB-B832843C0BE7}"/>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分割・配向・接合の効果を区別する</a:t>
            </a:r>
          </a:p>
        </p:txBody>
      </p:sp>
    </p:spTree>
    <p:extLst>
      <p:ext uri="{BB962C8B-B14F-4D97-AF65-F5344CB8AC3E}">
        <p14:creationId xmlns:p14="http://schemas.microsoft.com/office/powerpoint/2010/main" val="153258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5E48C9-5413-4918-9B2B-80F8AFBA3B9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9C1EFFD8-B576-4CBE-BB1A-7085923A8FE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5222A6-F00A-4224-8846-E2DD3EE30A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0CC680F8-17C8-4000-97B0-CA680CB399A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0C43CA08-4DBE-4531-B500-4F58AC3FB37E}"/>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24E35E15-12AA-4193-B6EF-1CF67E7A95CC}"/>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C7A9D37C-E3B9-4D8E-9B2C-BE00540D509D}"/>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08DD8859-7C01-45A5-9D45-B117FC54248D}"/>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幅の動きを、どこへ逃がすかへ進みます。</a:t>
            </a:r>
          </a:p>
        </p:txBody>
      </p:sp>
    </p:spTree>
    <p:extLst>
      <p:ext uri="{BB962C8B-B14F-4D97-AF65-F5344CB8AC3E}">
        <p14:creationId xmlns:p14="http://schemas.microsoft.com/office/powerpoint/2010/main" val="180906820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0A9C8E-3D22-4355-BDAF-DF36420A67F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幅の動きを、どこへ逃がすか</a:t>
            </a:r>
          </a:p>
        </p:txBody>
      </p:sp>
      <p:sp>
        <p:nvSpPr>
          <p:cNvPr id="2" name="">
            <a:extLst xmlns:a="http://schemas.openxmlformats.org/drawingml/2006/main">
              <a:ext uri="{FF2B5EF4-FFF2-40B4-BE49-F238E27FC236}">
                <a16:creationId xmlns:a16="http://schemas.microsoft.com/office/drawing/2014/main" id="{8A524FBC-826B-41CF-BCC0-9FAB7BC79F0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B226568-B2BB-4C5C-8CAF-6D62CF5DE4A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32CAF093-4A24-4551-8952-25335765E6C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36E4421B-FC9F-482C-BB60-E80A3173069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幅200 mm、使用域の膨潤率1.5%という仮想例</a:t>
            </a:r>
          </a:p>
        </p:txBody>
      </p:sp>
      <p:sp>
        <p:nvSpPr>
          <p:cNvPr id="6" name="">
            <a:extLst xmlns:a="http://schemas.openxmlformats.org/drawingml/2006/main">
              <a:ext uri="{FF2B5EF4-FFF2-40B4-BE49-F238E27FC236}">
                <a16:creationId xmlns:a16="http://schemas.microsoft.com/office/drawing/2014/main" id="{6EF2A0E4-CB2C-49E5-B35A-3E8C30A3E7F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増える幅を求める</a:t>
            </a:r>
          </a:p>
        </p:txBody>
      </p:sp>
      <p:sp>
        <p:nvSpPr>
          <p:cNvPr id="7" name="">
            <a:extLst xmlns:a="http://schemas.openxmlformats.org/drawingml/2006/main">
              <a:ext uri="{FF2B5EF4-FFF2-40B4-BE49-F238E27FC236}">
                <a16:creationId xmlns:a16="http://schemas.microsoft.com/office/drawing/2014/main" id="{010ABF67-3943-4E49-AA37-2D15472A132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中央基準／左端基準で、各側の移動量を示す</a:t>
            </a:r>
          </a:p>
        </p:txBody>
      </p:sp>
      <p:sp>
        <p:nvSpPr>
          <p:cNvPr id="8" name="">
            <a:extLst xmlns:a="http://schemas.openxmlformats.org/drawingml/2006/main">
              <a:ext uri="{FF2B5EF4-FFF2-40B4-BE49-F238E27FC236}">
                <a16:creationId xmlns:a16="http://schemas.microsoft.com/office/drawing/2014/main" id="{640C52D2-9A39-4FF2-96B2-353018B96D27}"/>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保持する機能と、動きを許す機能を両立させる</a:t>
            </a:r>
          </a:p>
        </p:txBody>
      </p:sp>
    </p:spTree>
    <p:extLst>
      <p:ext uri="{BB962C8B-B14F-4D97-AF65-F5344CB8AC3E}">
        <p14:creationId xmlns:p14="http://schemas.microsoft.com/office/powerpoint/2010/main" val="21300913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3A89C3-9B67-4524-BDD3-CE35174E617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木製扉の季節変化を説明する</a:t>
            </a:r>
          </a:p>
        </p:txBody>
      </p:sp>
      <p:cxnSp>
        <p:nvCxnSpPr>
          <p:cNvPr id="2" name="">
            <a:extLst xmlns:a="http://schemas.openxmlformats.org/drawingml/2006/main">
              <a:ext uri="{FF2B5EF4-FFF2-40B4-BE49-F238E27FC236}">
                <a16:creationId xmlns:a16="http://schemas.microsoft.com/office/drawing/2014/main" id="{03083244-6829-4538-ADD6-E0166C5AF35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7A6A7C5-CF8B-4FFE-BECA-863629A5E4F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5ABEDF0D-135B-4D75-98BB-6D898FEF1B6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929BB78B-5FF5-45D0-AB57-2CBFF180217F}"/>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事例：雨の多い時期に木製扉が動きにくくなった</a:t>
            </a:r>
          </a:p>
        </p:txBody>
      </p:sp>
      <p:sp>
        <p:nvSpPr>
          <p:cNvPr id="6" name="">
            <a:extLst xmlns:a="http://schemas.openxmlformats.org/drawingml/2006/main">
              <a:ext uri="{FF2B5EF4-FFF2-40B4-BE49-F238E27FC236}">
                <a16:creationId xmlns:a16="http://schemas.microsoft.com/office/drawing/2014/main" id="{42C37752-2D1C-41F1-9353-AABF8A63BE2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確認：木取り、幅方向、保管・使用環境、接合部の拘束</a:t>
            </a:r>
          </a:p>
        </p:txBody>
      </p:sp>
      <p:sp>
        <p:nvSpPr>
          <p:cNvPr id="7" name="">
            <a:extLst xmlns:a="http://schemas.openxmlformats.org/drawingml/2006/main">
              <a:ext uri="{FF2B5EF4-FFF2-40B4-BE49-F238E27FC236}">
                <a16:creationId xmlns:a16="http://schemas.microsoft.com/office/drawing/2014/main" id="{C2F7E93C-5F22-4E8B-BA33-8705D48663E4}"/>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説明：細胞壁中の水の増減が寸法を変え、方向差が現れる</a:t>
            </a:r>
          </a:p>
        </p:txBody>
      </p:sp>
      <p:sp>
        <p:nvSpPr>
          <p:cNvPr id="8" name="">
            <a:extLst xmlns:a="http://schemas.openxmlformats.org/drawingml/2006/main">
              <a:ext uri="{FF2B5EF4-FFF2-40B4-BE49-F238E27FC236}">
                <a16:creationId xmlns:a16="http://schemas.microsoft.com/office/drawing/2014/main" id="{AC339DC3-20B8-48A5-856D-049CD078DC5A}"/>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改善案：使用環境への調整、動きを許す納まり、保守の方法</a:t>
            </a:r>
          </a:p>
        </p:txBody>
      </p:sp>
      <p:sp>
        <p:nvSpPr>
          <p:cNvPr id="9" name="">
            <a:extLst xmlns:a="http://schemas.openxmlformats.org/drawingml/2006/main">
              <a:ext uri="{FF2B5EF4-FFF2-40B4-BE49-F238E27FC236}">
                <a16:creationId xmlns:a16="http://schemas.microsoft.com/office/drawing/2014/main" id="{86C6CED0-4AA8-4091-B64C-50CF0749AD0F}"/>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教科書の接点：乾燥・収縮・反りと組立／A(1)ア／A(2)ア・イ</a:t>
            </a:r>
          </a:p>
        </p:txBody>
      </p:sp>
    </p:spTree>
    <p:extLst>
      <p:ext uri="{BB962C8B-B14F-4D97-AF65-F5344CB8AC3E}">
        <p14:creationId xmlns:p14="http://schemas.microsoft.com/office/powerpoint/2010/main" val="4553552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53FE90-954C-42DA-8730-92085506E98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材料・製作・使用をつなぐ扉の設計</a:t>
            </a:r>
          </a:p>
        </p:txBody>
      </p:sp>
      <p:sp>
        <p:nvSpPr>
          <p:cNvPr id="2" name="">
            <a:extLst xmlns:a="http://schemas.openxmlformats.org/drawingml/2006/main">
              <a:ext uri="{FF2B5EF4-FFF2-40B4-BE49-F238E27FC236}">
                <a16:creationId xmlns:a16="http://schemas.microsoft.com/office/drawing/2014/main" id="{83A45013-9565-4B05-85AC-90A4BAB2DED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D36842-C204-4262-ACED-800B995C0E0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D5DCB2EE-E021-4854-9674-F53DF1409C4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22DACA98-FB19-492D-AF15-7A854148A41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湿度が季節で変わる教室の小さな木製扉</a:t>
            </a:r>
          </a:p>
        </p:txBody>
      </p:sp>
      <p:sp>
        <p:nvSpPr>
          <p:cNvPr id="6" name="">
            <a:extLst xmlns:a="http://schemas.openxmlformats.org/drawingml/2006/main">
              <a:ext uri="{FF2B5EF4-FFF2-40B4-BE49-F238E27FC236}">
                <a16:creationId xmlns:a16="http://schemas.microsoft.com/office/drawing/2014/main" id="{A8E1E4F7-8618-422C-A977-6DB9C919532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木取り、幅方向、固定と動きの余地を描く</a:t>
            </a:r>
          </a:p>
        </p:txBody>
      </p:sp>
      <p:sp>
        <p:nvSpPr>
          <p:cNvPr id="7" name="">
            <a:extLst xmlns:a="http://schemas.openxmlformats.org/drawingml/2006/main">
              <a:ext uri="{FF2B5EF4-FFF2-40B4-BE49-F238E27FC236}">
                <a16:creationId xmlns:a16="http://schemas.microsoft.com/office/drawing/2014/main" id="{3B96874E-0FBB-4273-B309-00FA60372F44}"/>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製作前の調整、使用後の点検を提案する</a:t>
            </a:r>
          </a:p>
        </p:txBody>
      </p:sp>
      <p:sp>
        <p:nvSpPr>
          <p:cNvPr id="8" name="">
            <a:extLst xmlns:a="http://schemas.openxmlformats.org/drawingml/2006/main">
              <a:ext uri="{FF2B5EF4-FFF2-40B4-BE49-F238E27FC236}">
                <a16:creationId xmlns:a16="http://schemas.microsoft.com/office/drawing/2014/main" id="{2FCB92DC-A776-4AF0-9B38-C1E5BB393E8D}"/>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「強く固定すれば解決」への声掛けを書く</a:t>
            </a:r>
          </a:p>
        </p:txBody>
      </p:sp>
    </p:spTree>
    <p:extLst>
      <p:ext uri="{BB962C8B-B14F-4D97-AF65-F5344CB8AC3E}">
        <p14:creationId xmlns:p14="http://schemas.microsoft.com/office/powerpoint/2010/main" val="58606705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D270B5-879F-4643-98E8-C2A27CA26C6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観察値から言える範囲を定める</a:t>
            </a:r>
          </a:p>
        </p:txBody>
      </p:sp>
      <p:sp>
        <p:nvSpPr>
          <p:cNvPr id="2" name="">
            <a:extLst xmlns:a="http://schemas.openxmlformats.org/drawingml/2006/main">
              <a:ext uri="{FF2B5EF4-FFF2-40B4-BE49-F238E27FC236}">
                <a16:creationId xmlns:a16="http://schemas.microsoft.com/office/drawing/2014/main" id="{D0723765-0A67-4490-B084-290E37F81D2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4FF0FC-446D-4318-AC90-E36E23CD40D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C7DECB0B-6450-4898-A2F0-865BAB14FCA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808468F5-4C85-4070-9908-C26C99FB561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板幅200.0 → 199.6 mmという仮想記録</a:t>
            </a:r>
          </a:p>
        </p:txBody>
      </p:sp>
      <p:sp>
        <p:nvSpPr>
          <p:cNvPr id="6" name="">
            <a:extLst xmlns:a="http://schemas.openxmlformats.org/drawingml/2006/main">
              <a:ext uri="{FF2B5EF4-FFF2-40B4-BE49-F238E27FC236}">
                <a16:creationId xmlns:a16="http://schemas.microsoft.com/office/drawing/2014/main" id="{7DC37C37-6918-4D72-B0CC-97DD2F0A5F3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温湿度・MC・年輪方向は記録されていない</a:t>
            </a:r>
          </a:p>
        </p:txBody>
      </p:sp>
      <p:sp>
        <p:nvSpPr>
          <p:cNvPr id="7" name="">
            <a:extLst xmlns:a="http://schemas.openxmlformats.org/drawingml/2006/main">
              <a:ext uri="{FF2B5EF4-FFF2-40B4-BE49-F238E27FC236}">
                <a16:creationId xmlns:a16="http://schemas.microsoft.com/office/drawing/2014/main" id="{7103DCB0-025E-4AB8-BEFD-429187ECCF49}"/>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差と、一回目基準の減少率を求める</a:t>
            </a:r>
          </a:p>
        </p:txBody>
      </p:sp>
      <p:sp>
        <p:nvSpPr>
          <p:cNvPr id="8" name="">
            <a:extLst xmlns:a="http://schemas.openxmlformats.org/drawingml/2006/main">
              <a:ext uri="{FF2B5EF4-FFF2-40B4-BE49-F238E27FC236}">
                <a16:creationId xmlns:a16="http://schemas.microsoft.com/office/drawing/2014/main" id="{6F9A9B79-3DD6-4DBB-AC6D-2BE9807D1824}"/>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原因を確定できるか。追加記録を5つ挙げる</a:t>
            </a:r>
          </a:p>
        </p:txBody>
      </p:sp>
    </p:spTree>
    <p:extLst>
      <p:ext uri="{BB962C8B-B14F-4D97-AF65-F5344CB8AC3E}">
        <p14:creationId xmlns:p14="http://schemas.microsoft.com/office/powerpoint/2010/main" val="124123217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3547B7-C663-41F5-813A-24292577515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方向・小さい変化・塗装を説明し直す</a:t>
            </a:r>
          </a:p>
        </p:txBody>
      </p:sp>
      <p:sp>
        <p:nvSpPr>
          <p:cNvPr id="2" name="">
            <a:extLst xmlns:a="http://schemas.openxmlformats.org/drawingml/2006/main">
              <a:ext uri="{FF2B5EF4-FFF2-40B4-BE49-F238E27FC236}">
                <a16:creationId xmlns:a16="http://schemas.microsoft.com/office/drawing/2014/main" id="{883E99F2-AB32-4940-9464-776A5FAB3DF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512ED9-E966-46E6-83E7-597D548A21A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00536F44-65B9-4BF7-A73A-8C72A0E62DF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B860D99E-C0A0-42AB-91D4-9B479C22FB0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「横に置けば、幅はいつでもT方向」</a:t>
            </a:r>
          </a:p>
        </p:txBody>
      </p:sp>
      <p:sp>
        <p:nvSpPr>
          <p:cNvPr id="6" name="">
            <a:extLst xmlns:a="http://schemas.openxmlformats.org/drawingml/2006/main">
              <a:ext uri="{FF2B5EF4-FFF2-40B4-BE49-F238E27FC236}">
                <a16:creationId xmlns:a16="http://schemas.microsoft.com/office/drawing/2014/main" id="{D8D1E3DF-34C0-4EA4-BD82-86662BF39DD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「L方向は収縮が小さいから、変化はゼロ」</a:t>
            </a:r>
          </a:p>
        </p:txBody>
      </p:sp>
      <p:sp>
        <p:nvSpPr>
          <p:cNvPr id="7" name="">
            <a:extLst xmlns:a="http://schemas.openxmlformats.org/drawingml/2006/main">
              <a:ext uri="{FF2B5EF4-FFF2-40B4-BE49-F238E27FC236}">
                <a16:creationId xmlns:a16="http://schemas.microsoft.com/office/drawing/2014/main" id="{0272C523-D5CE-4321-A7A7-1C152A1B5169}"/>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「塗装すれば、寸法変化は全くなくなる」</a:t>
            </a:r>
          </a:p>
        </p:txBody>
      </p:sp>
      <p:sp>
        <p:nvSpPr>
          <p:cNvPr id="8" name="">
            <a:extLst xmlns:a="http://schemas.openxmlformats.org/drawingml/2006/main">
              <a:ext uri="{FF2B5EF4-FFF2-40B4-BE49-F238E27FC236}">
                <a16:creationId xmlns:a16="http://schemas.microsoft.com/office/drawing/2014/main" id="{58BE477D-4E1A-40C3-B747-417F9AFEEB84}"/>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3つを、図や具体例を添えて修正する</a:t>
            </a:r>
          </a:p>
        </p:txBody>
      </p:sp>
    </p:spTree>
    <p:extLst>
      <p:ext uri="{BB962C8B-B14F-4D97-AF65-F5344CB8AC3E}">
        <p14:creationId xmlns:p14="http://schemas.microsoft.com/office/powerpoint/2010/main" val="6708788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244415-825E-4B69-BDFB-74D70DE46A6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9F7B2562-68C5-463F-80E2-0F9C9A4A55D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755C8D3-A9D6-4690-A0E2-407406F9F6B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2EACC36A-44DA-4B3B-9DB1-886C5F8C582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80AF7DDE-902B-417D-8FB7-7A5C894A0634}"/>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水の減少量と収縮量は、常に比例するか</a:t>
            </a:r>
          </a:p>
        </p:txBody>
      </p:sp>
      <p:sp>
        <p:nvSpPr>
          <p:cNvPr id="6" name="">
            <a:extLst xmlns:a="http://schemas.openxmlformats.org/drawingml/2006/main">
              <a:ext uri="{FF2B5EF4-FFF2-40B4-BE49-F238E27FC236}">
                <a16:creationId xmlns:a16="http://schemas.microsoft.com/office/drawing/2014/main" id="{D2050F9A-2D27-48D2-B737-BDD4230B6CF6}"/>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100→94 mmの収縮率と、94→100 mmの膨潤率</a:t>
            </a:r>
          </a:p>
        </p:txBody>
      </p:sp>
      <p:sp>
        <p:nvSpPr>
          <p:cNvPr id="7" name="">
            <a:extLst xmlns:a="http://schemas.openxmlformats.org/drawingml/2006/main">
              <a:ext uri="{FF2B5EF4-FFF2-40B4-BE49-F238E27FC236}">
                <a16:creationId xmlns:a16="http://schemas.microsoft.com/office/drawing/2014/main" id="{01404FEE-50D6-4B63-8591-30B5A532DF8B}"/>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収縮を拘束すると、何が問題になるか</a:t>
            </a:r>
          </a:p>
        </p:txBody>
      </p:sp>
    </p:spTree>
    <p:extLst>
      <p:ext uri="{BB962C8B-B14F-4D97-AF65-F5344CB8AC3E}">
        <p14:creationId xmlns:p14="http://schemas.microsoft.com/office/powerpoint/2010/main" val="26887622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645FCE-F8C9-4B9B-9104-FB12437730E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復習　水分変化に対応する木製扉</a:t>
            </a:r>
          </a:p>
        </p:txBody>
      </p:sp>
      <p:cxnSp>
        <p:nvCxnSpPr>
          <p:cNvPr id="2" name="">
            <a:extLst xmlns:a="http://schemas.openxmlformats.org/drawingml/2006/main">
              <a:ext uri="{FF2B5EF4-FFF2-40B4-BE49-F238E27FC236}">
                <a16:creationId xmlns:a16="http://schemas.microsoft.com/office/drawing/2014/main" id="{107850A6-965D-4B3C-809F-DEFC9839EEF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D7BE114-3A59-4457-B3C3-D3464D57E5E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85061535-7627-426C-84F2-73426FE7288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961EB088-2BF7-4F4E-8111-B90D5AE6D255}"/>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木取り・乾燥・保管・接合のうち二つ以上から、変形対策を図で示す</a:t>
            </a:r>
          </a:p>
        </p:txBody>
      </p:sp>
      <p:sp>
        <p:nvSpPr>
          <p:cNvPr id="6" name="">
            <a:extLst xmlns:a="http://schemas.openxmlformats.org/drawingml/2006/main">
              <a:ext uri="{FF2B5EF4-FFF2-40B4-BE49-F238E27FC236}">
                <a16:creationId xmlns:a16="http://schemas.microsoft.com/office/drawing/2014/main" id="{E932692B-3D4F-40C4-8C74-8F818BEF169E}"/>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幅の動きを拘束する箇所と、動きを許す箇所を示す</a:t>
            </a:r>
          </a:p>
        </p:txBody>
      </p:sp>
      <p:sp>
        <p:nvSpPr>
          <p:cNvPr id="7" name="">
            <a:extLst xmlns:a="http://schemas.openxmlformats.org/drawingml/2006/main">
              <a:ext uri="{FF2B5EF4-FFF2-40B4-BE49-F238E27FC236}">
                <a16:creationId xmlns:a16="http://schemas.microsoft.com/office/drawing/2014/main" id="{412EDDFC-930F-4E2F-9941-83890F3AF97D}"/>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発展：全乾比重と基本比重の違いを確認し、最大含水率のモデルへ進む</a:t>
            </a:r>
          </a:p>
        </p:txBody>
      </p:sp>
      <p:sp>
        <p:nvSpPr>
          <p:cNvPr id="8" name="">
            <a:extLst xmlns:a="http://schemas.openxmlformats.org/drawingml/2006/main">
              <a:ext uri="{FF2B5EF4-FFF2-40B4-BE49-F238E27FC236}">
                <a16:creationId xmlns:a16="http://schemas.microsoft.com/office/drawing/2014/main" id="{D817DDCE-5377-47D4-9190-BCCD79DB2CA5}"/>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次回は、水分が生物劣化に与える条件を扱う</a:t>
            </a:r>
          </a:p>
        </p:txBody>
      </p:sp>
    </p:spTree>
    <p:extLst>
      <p:ext uri="{BB962C8B-B14F-4D97-AF65-F5344CB8AC3E}">
        <p14:creationId xmlns:p14="http://schemas.microsoft.com/office/powerpoint/2010/main" val="67759124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20E633-50FB-4281-A0FD-656E5BD837D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EBAA70CC-E168-4C6B-BA10-85E9F618533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FFC3DA-6A01-41EA-BD51-14E2FDE0E34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900DBBC3-A029-4A5E-8301-1B9CDBD65A2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0DD2B3AF-49A0-4F13-9C96-B91026CCDD8D}"/>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56FFAF35-A53D-4BCC-96A7-DFAC8E806096}"/>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321914B0-45CB-4CB3-9732-156189D9C357}"/>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3AC6D7DC-5C56-4D84-81D5-7F4FD0780F6C}"/>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再開したら：発展　最大含水率のモデルへ進みます。</a:t>
            </a:r>
          </a:p>
        </p:txBody>
      </p:sp>
    </p:spTree>
    <p:extLst>
      <p:ext uri="{BB962C8B-B14F-4D97-AF65-F5344CB8AC3E}">
        <p14:creationId xmlns:p14="http://schemas.microsoft.com/office/powerpoint/2010/main" val="169971432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9CA434-AF2F-4EE6-89ED-A32372729D5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発展　最大含水率のモデル</a:t>
            </a:r>
          </a:p>
        </p:txBody>
      </p:sp>
      <p:cxnSp>
        <p:nvCxnSpPr>
          <p:cNvPr id="2" name="">
            <a:extLst xmlns:a="http://schemas.openxmlformats.org/drawingml/2006/main">
              <a:ext uri="{FF2B5EF4-FFF2-40B4-BE49-F238E27FC236}">
                <a16:creationId xmlns:a16="http://schemas.microsoft.com/office/drawing/2014/main" id="{2C50B820-697C-4935-A5D3-3660420FFF8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C56B2CBC-6DC2-4A62-A18E-EFCE202498D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F0FBFF66-4ABB-47B9-A096-4E65CEFB1C2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FDB90662-EA15-499F-AAC7-54C5DD982CB1}"/>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飽水体積V、全乾質量m₀、壁物質比重Gs、基本比重Gbを使う</a:t>
            </a:r>
          </a:p>
        </p:txBody>
      </p:sp>
      <p:sp>
        <p:nvSpPr>
          <p:cNvPr id="6" name="">
            <a:extLst xmlns:a="http://schemas.openxmlformats.org/drawingml/2006/main">
              <a:ext uri="{FF2B5EF4-FFF2-40B4-BE49-F238E27FC236}">
                <a16:creationId xmlns:a16="http://schemas.microsoft.com/office/drawing/2014/main" id="{8028E96A-26E0-489B-B320-93C2D0177B4C}"/>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Gb＝m₀/(ρ水V)より、全体体積V＝m₀/(ρ水Gb)</a:t>
            </a:r>
          </a:p>
        </p:txBody>
      </p:sp>
      <p:sp>
        <p:nvSpPr>
          <p:cNvPr id="7" name="">
            <a:extLst xmlns:a="http://schemas.openxmlformats.org/drawingml/2006/main">
              <a:ext uri="{FF2B5EF4-FFF2-40B4-BE49-F238E27FC236}">
                <a16:creationId xmlns:a16="http://schemas.microsoft.com/office/drawing/2014/main" id="{3D6ED6A2-ECDB-4EB0-AE3F-1E15E7E202C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壁体積はm₀/(ρ水Gs)。残りの空隙がすべて水で満たされるとする</a:t>
            </a:r>
          </a:p>
        </p:txBody>
      </p:sp>
      <p:sp>
        <p:nvSpPr>
          <p:cNvPr id="8" name="">
            <a:extLst xmlns:a="http://schemas.openxmlformats.org/drawingml/2006/main">
              <a:ext uri="{FF2B5EF4-FFF2-40B4-BE49-F238E27FC236}">
                <a16:creationId xmlns:a16="http://schemas.microsoft.com/office/drawing/2014/main" id="{D150C1D1-8F41-4B0F-8D58-9FF93BA13575}"/>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最大含水率u最大＝100(1/Gb−1/Gs)</a:t>
            </a:r>
          </a:p>
        </p:txBody>
      </p:sp>
      <p:sp>
        <p:nvSpPr>
          <p:cNvPr id="9" name="">
            <a:extLst xmlns:a="http://schemas.openxmlformats.org/drawingml/2006/main">
              <a:ext uri="{FF2B5EF4-FFF2-40B4-BE49-F238E27FC236}">
                <a16:creationId xmlns:a16="http://schemas.microsoft.com/office/drawing/2014/main" id="{31CE8BAC-1B30-4A11-87E3-56CF67E974A0}"/>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例：Gb＝0.40、Gs＝1.50なら約183％。体積基準は飽水体積にそろえる</a:t>
            </a:r>
          </a:p>
        </p:txBody>
      </p:sp>
    </p:spTree>
    <p:extLst>
      <p:ext uri="{BB962C8B-B14F-4D97-AF65-F5344CB8AC3E}">
        <p14:creationId xmlns:p14="http://schemas.microsoft.com/office/powerpoint/2010/main" val="11011541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E9F749-D5FC-4382-B0D2-C57437B89F7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最大含水率を体積から導く</a:t>
            </a:r>
          </a:p>
        </p:txBody>
      </p:sp>
      <p:sp>
        <p:nvSpPr>
          <p:cNvPr id="2" name="">
            <a:extLst xmlns:a="http://schemas.openxmlformats.org/drawingml/2006/main">
              <a:ext uri="{FF2B5EF4-FFF2-40B4-BE49-F238E27FC236}">
                <a16:creationId xmlns:a16="http://schemas.microsoft.com/office/drawing/2014/main" id="{67E967C4-9C26-4E70-A649-E05D5C8DB31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9F1604-8C6C-439F-AC51-2B4FFC6B41F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77DCA276-00EB-43F9-9485-5C840D07C56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F6EA7675-02F6-4806-935F-5A40942BCA55}"/>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飽水体積100 cm³、全乾質量40 gのモデル</a:t>
            </a:r>
          </a:p>
        </p:txBody>
      </p:sp>
      <p:sp>
        <p:nvSpPr>
          <p:cNvPr id="6" name="">
            <a:extLst xmlns:a="http://schemas.openxmlformats.org/drawingml/2006/main">
              <a:ext uri="{FF2B5EF4-FFF2-40B4-BE49-F238E27FC236}">
                <a16:creationId xmlns:a16="http://schemas.microsoft.com/office/drawing/2014/main" id="{C4D23343-3820-43BA-95E5-9D163A76693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壁物質密度1.50、水密度1.00 g/cm³</a:t>
            </a:r>
          </a:p>
        </p:txBody>
      </p:sp>
      <p:sp>
        <p:nvSpPr>
          <p:cNvPr id="7" name="">
            <a:extLst xmlns:a="http://schemas.openxmlformats.org/drawingml/2006/main">
              <a:ext uri="{FF2B5EF4-FFF2-40B4-BE49-F238E27FC236}">
                <a16:creationId xmlns:a16="http://schemas.microsoft.com/office/drawing/2014/main" id="{CB4E4D73-DB9B-47A9-AF3E-E8558E2455DC}"/>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壁体積、残りを満たす水の質量を求める</a:t>
            </a:r>
          </a:p>
        </p:txBody>
      </p:sp>
      <p:sp>
        <p:nvSpPr>
          <p:cNvPr id="8" name="">
            <a:extLst xmlns:a="http://schemas.openxmlformats.org/drawingml/2006/main">
              <a:ext uri="{FF2B5EF4-FFF2-40B4-BE49-F238E27FC236}">
                <a16:creationId xmlns:a16="http://schemas.microsoft.com/office/drawing/2014/main" id="{B3929E35-BA83-4251-AF9D-798E6608379A}"/>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含水率を計算し、基本比重を使う式と照合</a:t>
            </a:r>
          </a:p>
        </p:txBody>
      </p:sp>
    </p:spTree>
    <p:extLst>
      <p:ext uri="{BB962C8B-B14F-4D97-AF65-F5344CB8AC3E}">
        <p14:creationId xmlns:p14="http://schemas.microsoft.com/office/powerpoint/2010/main" val="195339940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65F141-6B6E-41D0-AC13-5871023B743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CD67ED8F-BF6D-4648-B94D-7D50965C218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A1F5E654-FC72-4EE2-B4B4-EDA85DB4474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第9回</a:t>
            </a:r>
          </a:p>
        </p:txBody>
      </p:sp>
      <p:sp>
        <p:nvSpPr>
          <p:cNvPr id="4" name="">
            <a:extLst xmlns:a="http://schemas.openxmlformats.org/drawingml/2006/main">
              <a:ext uri="{FF2B5EF4-FFF2-40B4-BE49-F238E27FC236}">
                <a16:creationId xmlns:a16="http://schemas.microsoft.com/office/drawing/2014/main" id="{8C31158A-F84A-4F9D-B2CC-90E3C5B2652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3E84E90F-375F-4AB9-82C2-26765D84767A}"/>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壁の構造・成分・水分を、寸法変化へ結ぶ</a:t>
            </a:r>
          </a:p>
        </p:txBody>
      </p:sp>
      <p:sp>
        <p:nvSpPr>
          <p:cNvPr id="6" name="">
            <a:extLst xmlns:a="http://schemas.openxmlformats.org/drawingml/2006/main">
              <a:ext uri="{FF2B5EF4-FFF2-40B4-BE49-F238E27FC236}">
                <a16:creationId xmlns:a16="http://schemas.microsoft.com/office/drawing/2014/main" id="{2803FED4-C101-4B1F-922D-41E839261B3A}"/>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方向差と水分分布から、変形を説明する</a:t>
            </a:r>
          </a:p>
        </p:txBody>
      </p:sp>
      <p:sp>
        <p:nvSpPr>
          <p:cNvPr id="7" name="">
            <a:extLst xmlns:a="http://schemas.openxmlformats.org/drawingml/2006/main">
              <a:ext uri="{FF2B5EF4-FFF2-40B4-BE49-F238E27FC236}">
                <a16:creationId xmlns:a16="http://schemas.microsoft.com/office/drawing/2014/main" id="{0DD163DE-64FF-423A-A7D1-3FC572703DCE}"/>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次は、水分と生物劣化の条件を考える</a:t>
            </a:r>
          </a:p>
        </p:txBody>
      </p:sp>
    </p:spTree>
    <p:extLst>
      <p:ext uri="{BB962C8B-B14F-4D97-AF65-F5344CB8AC3E}">
        <p14:creationId xmlns:p14="http://schemas.microsoft.com/office/powerpoint/2010/main" val="73917850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4AFD7F8-A334-44F5-B85C-EFEFD003C98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ACCCDB72-DCF3-4372-86E1-4E240D741E8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DB36F7D-5956-4599-93F2-3C5C9F7A8DDC}"/>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第4章 </a:t>
            </a:r>
          </a:p>
        </p:txBody>
      </p:sp>
      <p:sp>
        <p:nvSpPr>
          <p:cNvPr id="4" name="">
            <a:extLst xmlns:a="http://schemas.openxmlformats.org/drawingml/2006/main">
              <a:ext uri="{FF2B5EF4-FFF2-40B4-BE49-F238E27FC236}">
                <a16:creationId xmlns:a16="http://schemas.microsoft.com/office/drawing/2014/main" id="{8F4E7048-BC96-455E-96F0-E19967C1DB96}"/>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https://research.fs.usda.gov/treesearch/62243</a:t>
            </a:r>
          </a:p>
        </p:txBody>
      </p:sp>
      <p:sp>
        <p:nvSpPr>
          <p:cNvPr id="5" name="">
            <a:extLst xmlns:a="http://schemas.openxmlformats.org/drawingml/2006/main">
              <a:ext uri="{FF2B5EF4-FFF2-40B4-BE49-F238E27FC236}">
                <a16:creationId xmlns:a16="http://schemas.microsoft.com/office/drawing/2014/main" id="{EC7B9DD0-25D8-4223-A85E-5AF74674CFD5}"/>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第13章 </a:t>
            </a:r>
          </a:p>
        </p:txBody>
      </p:sp>
      <p:sp>
        <p:nvSpPr>
          <p:cNvPr id="6" name="">
            <a:extLst xmlns:a="http://schemas.openxmlformats.org/drawingml/2006/main">
              <a:ext uri="{FF2B5EF4-FFF2-40B4-BE49-F238E27FC236}">
                <a16:creationId xmlns:a16="http://schemas.microsoft.com/office/drawing/2014/main" id="{59AEE141-279A-497C-AF0A-C412C5401E8D}"/>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https://research.fs.usda.gov/treesearch/62261</a:t>
            </a:r>
          </a:p>
        </p:txBody>
      </p:sp>
      <p:sp>
        <p:nvSpPr>
          <p:cNvPr id="7" name="">
            <a:extLst xmlns:a="http://schemas.openxmlformats.org/drawingml/2006/main">
              <a:ext uri="{FF2B5EF4-FFF2-40B4-BE49-F238E27FC236}">
                <a16:creationId xmlns:a16="http://schemas.microsoft.com/office/drawing/2014/main" id="{F57DE4FF-10F1-45D8-923D-86FCE09CB33F}"/>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8" name="">
            <a:extLst xmlns:a="http://schemas.openxmlformats.org/drawingml/2006/main">
              <a:ext uri="{FF2B5EF4-FFF2-40B4-BE49-F238E27FC236}">
                <a16:creationId xmlns:a16="http://schemas.microsoft.com/office/drawing/2014/main" id="{B281C0D5-2982-4E59-9045-7148B0F9241F}"/>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9" name="">
            <a:extLst xmlns:a="http://schemas.openxmlformats.org/drawingml/2006/main">
              <a:ext uri="{FF2B5EF4-FFF2-40B4-BE49-F238E27FC236}">
                <a16:creationId xmlns:a16="http://schemas.microsoft.com/office/drawing/2014/main" id="{9A7E6EC4-65EA-43E6-876F-E061F48880C0}"/>
              </a:ext>
            </a:extLst>
          </p:cNvPr>
          <p:cNvSpPr>
            <a:spLocks xmlns:a="http://schemas.openxmlformats.org/drawingml/2006/main" noGrp="1"/>
          </p:cNvSpPr>
          <p:nvPr/>
        </p:nvSpPr>
        <p:spPr>
          <a:xfrm xmlns:a="http://schemas.openxmlformats.org/drawingml/2006/main">
            <a:off x="685800" y="4591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開隆堂 R7評価規準例 PDF1頁</a:t>
            </a:r>
          </a:p>
        </p:txBody>
      </p:sp>
      <p:sp>
        <p:nvSpPr>
          <p:cNvPr id="10" name="">
            <a:extLst xmlns:a="http://schemas.openxmlformats.org/drawingml/2006/main">
              <a:ext uri="{FF2B5EF4-FFF2-40B4-BE49-F238E27FC236}">
                <a16:creationId xmlns:a16="http://schemas.microsoft.com/office/drawing/2014/main" id="{346CA5A6-F8C4-4137-8E6E-EFC1366A6C55}"/>
              </a:ext>
            </a:extLst>
          </p:cNvPr>
          <p:cNvSpPr>
            <a:spLocks xmlns:a="http://schemas.openxmlformats.org/drawingml/2006/main" noGrp="1"/>
          </p:cNvSpPr>
          <p:nvPr/>
        </p:nvSpPr>
        <p:spPr>
          <a:xfrm xmlns:a="http://schemas.openxmlformats.org/drawingml/2006/main">
            <a:off x="685800" y="50006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https://www.kairyudo.co.jp/contents/04_shiryo/nenkei/chu/data/r7chu-gi_hyokakijun.pdf</a:t>
            </a:r>
          </a:p>
        </p:txBody>
      </p:sp>
      <p:sp>
        <p:nvSpPr>
          <p:cNvPr id="11" name="">
            <a:extLst xmlns:a="http://schemas.openxmlformats.org/drawingml/2006/main">
              <a:ext uri="{FF2B5EF4-FFF2-40B4-BE49-F238E27FC236}">
                <a16:creationId xmlns:a16="http://schemas.microsoft.com/office/drawing/2014/main" id="{F50C833A-0BF9-44A7-AF37-0CEFADF3BE51}"/>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2" name="">
            <a:extLst xmlns:a="http://schemas.openxmlformats.org/drawingml/2006/main">
              <a:ext uri="{FF2B5EF4-FFF2-40B4-BE49-F238E27FC236}">
                <a16:creationId xmlns:a16="http://schemas.microsoft.com/office/drawing/2014/main" id="{D6DE3749-8A76-4120-8869-6D1B270AFEF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第9回</a:t>
            </a:r>
          </a:p>
        </p:txBody>
      </p:sp>
      <p:sp>
        <p:nvSpPr>
          <p:cNvPr id="13" name="">
            <a:extLst xmlns:a="http://schemas.openxmlformats.org/drawingml/2006/main">
              <a:ext uri="{FF2B5EF4-FFF2-40B4-BE49-F238E27FC236}">
                <a16:creationId xmlns:a16="http://schemas.microsoft.com/office/drawing/2014/main" id="{C16CF790-216E-450F-B184-C0EEA75A465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Tree>
    <p:extLst>
      <p:ext uri="{BB962C8B-B14F-4D97-AF65-F5344CB8AC3E}">
        <p14:creationId xmlns:p14="http://schemas.microsoft.com/office/powerpoint/2010/main" val="5945874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2026-10-27T06:19:47.3690000Z</dcterms:created>
  <dcterms:modified xsi:type="dcterms:W3CDTF">2026-10-27T06:19:47.3690000Z</dcterms:modified>
</coreProperties>
</file>